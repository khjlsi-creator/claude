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6 서사 · 추진배경(현황 · 한계 두 칸 + 세부 3줄) → 개선 방향 배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349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1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1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580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7 서사 · 취약요인 개선(시사점 → 사례·한계 3칸 → 개선 방안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3403" y="920348"/>
            <a:ext cx="33363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3403" y="766957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5" name="태그칩"/>
          <p:cNvSpPr/>
          <p:nvPr/>
        </p:nvSpPr>
        <p:spPr>
          <a:xfrm>
            <a:off x="51083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083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0518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06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756000" y="1106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5"/>
          </p:nvPr>
        </p:nvSpPr>
        <p:spPr>
          <a:xfrm>
            <a:off x="1249654" y="1051826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369565"/>
            <a:ext cx="6300000" cy="2196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386000"/>
            <a:ext cx="580696" cy="1188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86000"/>
            <a:ext cx="580696" cy="1188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3044087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926783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591217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9121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591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8 서사 · 실행력 강화(시사점 → 사업비 · 사업계획 · 우선순위 재조정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50332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14" name="태그칩"/>
          <p:cNvSpPr/>
          <p:nvPr/>
        </p:nvSpPr>
        <p:spPr>
          <a:xfrm>
            <a:off x="53518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518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062782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175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175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5"/>
          </p:nvPr>
        </p:nvSpPr>
        <p:spPr>
          <a:xfrm>
            <a:off x="1435915" y="1062783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380522"/>
            <a:ext cx="6300000" cy="294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396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96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41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41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41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41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41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3230348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113043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36113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113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36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171696" y="2656957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58174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58174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58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38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38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38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38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38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4410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426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9 서사 · AI 정수장 Step-up(필요성 → 그간의 성과 | 한번 더 혁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5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태그"/>
          <p:cNvSpPr/>
          <p:nvPr/>
        </p:nvSpPr>
        <p:spPr>
          <a:xfrm>
            <a:off x="756000" y="11723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2"/>
          </p:nvPr>
        </p:nvSpPr>
        <p:spPr>
          <a:xfrm>
            <a:off x="756000" y="11723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3"/>
          </p:nvPr>
        </p:nvSpPr>
        <p:spPr>
          <a:xfrm>
            <a:off x="1249654" y="1117565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24" name="머리칸"/>
          <p:cNvSpPr/>
          <p:nvPr/>
        </p:nvSpPr>
        <p:spPr>
          <a:xfrm>
            <a:off x="3985435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0 서사 · AI(정) 고도화와 기술 사업화(로드맵 → 고도화 두 패널 → 성과 → 사업화 표준선도 · 국내외 확산 →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2950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11" name="태그칩"/>
          <p:cNvSpPr/>
          <p:nvPr/>
        </p:nvSpPr>
        <p:spPr>
          <a:xfrm>
            <a:off x="46512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12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0236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0236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86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번호"/>
          <p:cNvSpPr>
            <a:spLocks noGrp="1"/>
          </p:cNvSpPr>
          <p:nvPr>
            <p:ph type="body" sz="quarter" idx="30"/>
          </p:nvPr>
        </p:nvSpPr>
        <p:spPr>
          <a:xfrm>
            <a:off x="723130" y="2043391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2" name="분야 박스"/>
          <p:cNvSpPr/>
          <p:nvPr/>
        </p:nvSpPr>
        <p:spPr>
          <a:xfrm>
            <a:off x="914248" y="207626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분야 박스"/>
          <p:cNvSpPr>
            <a:spLocks noGrp="1"/>
          </p:cNvSpPr>
          <p:nvPr>
            <p:ph type="body" sz="quarter" idx="31"/>
          </p:nvPr>
        </p:nvSpPr>
        <p:spPr>
          <a:xfrm>
            <a:off x="914248" y="207626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4" name="형광 밑줄"/>
          <p:cNvSpPr/>
          <p:nvPr/>
        </p:nvSpPr>
        <p:spPr>
          <a:xfrm>
            <a:off x="1462685" y="2196783"/>
            <a:ext cx="4566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소제목"/>
          <p:cNvSpPr>
            <a:spLocks noGrp="1"/>
          </p:cNvSpPr>
          <p:nvPr>
            <p:ph type="body" sz="quarter" idx="32"/>
          </p:nvPr>
        </p:nvSpPr>
        <p:spPr>
          <a:xfrm>
            <a:off x="1462685" y="2043391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36" name="패널 외곽"/>
          <p:cNvSpPr/>
          <p:nvPr/>
        </p:nvSpPr>
        <p:spPr>
          <a:xfrm>
            <a:off x="723130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패널 머리"/>
          <p:cNvSpPr/>
          <p:nvPr/>
        </p:nvSpPr>
        <p:spPr>
          <a:xfrm>
            <a:off x="723130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패널 머리"/>
          <p:cNvSpPr>
            <a:spLocks noGrp="1"/>
          </p:cNvSpPr>
          <p:nvPr>
            <p:ph type="body" sz="quarter" idx="33"/>
          </p:nvPr>
        </p:nvSpPr>
        <p:spPr>
          <a:xfrm>
            <a:off x="723130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34"/>
          </p:nvPr>
        </p:nvSpPr>
        <p:spPr>
          <a:xfrm>
            <a:off x="745043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40" name="요약 바"/>
          <p:cNvSpPr/>
          <p:nvPr/>
        </p:nvSpPr>
        <p:spPr>
          <a:xfrm>
            <a:off x="745043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요약 바"/>
          <p:cNvSpPr>
            <a:spLocks noGrp="1"/>
          </p:cNvSpPr>
          <p:nvPr>
            <p:ph type="body" sz="quarter" idx="35"/>
          </p:nvPr>
        </p:nvSpPr>
        <p:spPr>
          <a:xfrm>
            <a:off x="745043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3895043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3895043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3895043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3916957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46" name="요약 바"/>
          <p:cNvSpPr/>
          <p:nvPr/>
        </p:nvSpPr>
        <p:spPr>
          <a:xfrm>
            <a:off x="3916957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8"/>
          </p:nvPr>
        </p:nvSpPr>
        <p:spPr>
          <a:xfrm>
            <a:off x="3916957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723130" y="3412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429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52" name="번호"/>
          <p:cNvSpPr>
            <a:spLocks noGrp="1"/>
          </p:cNvSpPr>
          <p:nvPr>
            <p:ph type="body" sz="quarter" idx="41"/>
          </p:nvPr>
        </p:nvSpPr>
        <p:spPr>
          <a:xfrm>
            <a:off x="723130" y="384495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53" name="분야 박스"/>
          <p:cNvSpPr/>
          <p:nvPr/>
        </p:nvSpPr>
        <p:spPr>
          <a:xfrm>
            <a:off x="914248" y="3877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분야 박스"/>
          <p:cNvSpPr>
            <a:spLocks noGrp="1"/>
          </p:cNvSpPr>
          <p:nvPr>
            <p:ph type="body" sz="quarter" idx="42"/>
          </p:nvPr>
        </p:nvSpPr>
        <p:spPr>
          <a:xfrm>
            <a:off x="914248" y="3877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55" name="형광 밑줄"/>
          <p:cNvSpPr/>
          <p:nvPr/>
        </p:nvSpPr>
        <p:spPr>
          <a:xfrm>
            <a:off x="1462685" y="3998348"/>
            <a:ext cx="43819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소제목"/>
          <p:cNvSpPr>
            <a:spLocks noGrp="1"/>
          </p:cNvSpPr>
          <p:nvPr>
            <p:ph type="body" sz="quarter" idx="43"/>
          </p:nvPr>
        </p:nvSpPr>
        <p:spPr>
          <a:xfrm>
            <a:off x="1462685" y="3844957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57" name="표 외곽"/>
          <p:cNvSpPr/>
          <p:nvPr/>
        </p:nvSpPr>
        <p:spPr>
          <a:xfrm>
            <a:off x="723130" y="4129826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734087" y="4146261"/>
            <a:ext cx="580696" cy="936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414626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60" name="머리칸"/>
          <p:cNvSpPr/>
          <p:nvPr/>
        </p:nvSpPr>
        <p:spPr>
          <a:xfrm>
            <a:off x="1347652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62" name="머리칸"/>
          <p:cNvSpPr/>
          <p:nvPr/>
        </p:nvSpPr>
        <p:spPr>
          <a:xfrm>
            <a:off x="3230348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6"/>
          </p:nvPr>
        </p:nvSpPr>
        <p:spPr>
          <a:xfrm>
            <a:off x="3230348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64" name="머리칸"/>
          <p:cNvSpPr/>
          <p:nvPr/>
        </p:nvSpPr>
        <p:spPr>
          <a:xfrm>
            <a:off x="5113043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7"/>
          </p:nvPr>
        </p:nvSpPr>
        <p:spPr>
          <a:xfrm>
            <a:off x="5113043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cxnSp>
        <p:nvCxnSpPr>
          <p:cNvPr id="68" name="Connector 45"/>
          <p:cNvCxnSpPr/>
          <p:nvPr/>
        </p:nvCxnSpPr>
        <p:spPr>
          <a:xfrm>
            <a:off x="3230348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cxnSp>
        <p:nvCxnSpPr>
          <p:cNvPr id="70" name="Connector 47"/>
          <p:cNvCxnSpPr/>
          <p:nvPr/>
        </p:nvCxnSpPr>
        <p:spPr>
          <a:xfrm>
            <a:off x="5113043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09947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09947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0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머리칸"/>
          <p:cNvSpPr/>
          <p:nvPr/>
        </p:nvSpPr>
        <p:spPr>
          <a:xfrm>
            <a:off x="1347652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76" name="머리칸"/>
          <p:cNvSpPr/>
          <p:nvPr/>
        </p:nvSpPr>
        <p:spPr>
          <a:xfrm>
            <a:off x="3230348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78" name="머리칸"/>
          <p:cNvSpPr/>
          <p:nvPr/>
        </p:nvSpPr>
        <p:spPr>
          <a:xfrm>
            <a:off x="5113043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cxnSp>
        <p:nvCxnSpPr>
          <p:cNvPr id="82" name="Connector 55"/>
          <p:cNvCxnSpPr/>
          <p:nvPr/>
        </p:nvCxnSpPr>
        <p:spPr>
          <a:xfrm>
            <a:off x="3230348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cxnSp>
        <p:nvCxnSpPr>
          <p:cNvPr id="84" name="Connector 57"/>
          <p:cNvCxnSpPr/>
          <p:nvPr/>
        </p:nvCxnSpPr>
        <p:spPr>
          <a:xfrm>
            <a:off x="5113043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핵심성과 박스"/>
          <p:cNvSpPr/>
          <p:nvPr/>
        </p:nvSpPr>
        <p:spPr>
          <a:xfrm>
            <a:off x="723130" y="6140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핵심성과 라벨"/>
          <p:cNvSpPr/>
          <p:nvPr/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7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6156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1 서사 · 수도 AX 슬로건 도약(AI 전환계획: 목표·비전·공정 → 로드맵 → 주요과제 → AI 개발성과 4카드 → 특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54411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12" name="태그칩"/>
          <p:cNvSpPr/>
          <p:nvPr/>
        </p:nvSpPr>
        <p:spPr>
          <a:xfrm>
            <a:off x="6076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6076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727987" y="1161391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727987" y="1161391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40364" y="1281913"/>
            <a:ext cx="433235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40364" y="1128522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3314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699670"/>
            <a:ext cx="580696" cy="1627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9670"/>
            <a:ext cx="580696" cy="162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96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72158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9" name="단계"/>
          <p:cNvSpPr/>
          <p:nvPr/>
        </p:nvSpPr>
        <p:spPr>
          <a:xfrm>
            <a:off x="2291009" y="172158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291009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31" name="단계"/>
          <p:cNvSpPr/>
          <p:nvPr/>
        </p:nvSpPr>
        <p:spPr>
          <a:xfrm>
            <a:off x="3420626" y="172158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420626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33" name="단계"/>
          <p:cNvSpPr/>
          <p:nvPr/>
        </p:nvSpPr>
        <p:spPr>
          <a:xfrm>
            <a:off x="4550243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550243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35" name="단계"/>
          <p:cNvSpPr/>
          <p:nvPr/>
        </p:nvSpPr>
        <p:spPr>
          <a:xfrm>
            <a:off x="5679861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67986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291008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3420626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550243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5679860" y="17215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 txBox="1"/>
          <p:nvPr/>
        </p:nvSpPr>
        <p:spPr>
          <a:xfrm>
            <a:off x="1172348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2" name="칸 본문"/>
          <p:cNvSpPr txBox="1"/>
          <p:nvPr/>
        </p:nvSpPr>
        <p:spPr>
          <a:xfrm>
            <a:off x="2301965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3" name="Connector 29"/>
          <p:cNvCxnSpPr/>
          <p:nvPr/>
        </p:nvCxnSpPr>
        <p:spPr>
          <a:xfrm flipV="1">
            <a:off x="2291009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 txBox="1"/>
          <p:nvPr/>
        </p:nvSpPr>
        <p:spPr>
          <a:xfrm>
            <a:off x="3431583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31"/>
          <p:cNvCxnSpPr/>
          <p:nvPr/>
        </p:nvCxnSpPr>
        <p:spPr>
          <a:xfrm flipV="1">
            <a:off x="3420626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4561200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3"/>
          <p:cNvCxnSpPr/>
          <p:nvPr/>
        </p:nvCxnSpPr>
        <p:spPr>
          <a:xfrm flipV="1">
            <a:off x="4550243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 txBox="1"/>
          <p:nvPr/>
        </p:nvSpPr>
        <p:spPr>
          <a:xfrm>
            <a:off x="5690817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9" name="Connector 35"/>
          <p:cNvCxnSpPr/>
          <p:nvPr/>
        </p:nvCxnSpPr>
        <p:spPr>
          <a:xfrm flipV="1">
            <a:off x="5679861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44800"/>
            <a:ext cx="451408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51" name="사진 칸"/>
          <p:cNvSpPr/>
          <p:nvPr/>
        </p:nvSpPr>
        <p:spPr>
          <a:xfrm>
            <a:off x="5730261" y="2050278"/>
            <a:ext cx="1079217" cy="1029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2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50278"/>
            <a:ext cx="1079217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53" name="배너"/>
          <p:cNvSpPr/>
          <p:nvPr/>
        </p:nvSpPr>
        <p:spPr>
          <a:xfrm>
            <a:off x="1161391" y="310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310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55" name="레일"/>
          <p:cNvSpPr/>
          <p:nvPr/>
        </p:nvSpPr>
        <p:spPr>
          <a:xfrm>
            <a:off x="547826" y="3343148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343148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336506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59" name="단계"/>
          <p:cNvSpPr/>
          <p:nvPr/>
        </p:nvSpPr>
        <p:spPr>
          <a:xfrm>
            <a:off x="2573413" y="336506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61" name="단계"/>
          <p:cNvSpPr/>
          <p:nvPr/>
        </p:nvSpPr>
        <p:spPr>
          <a:xfrm>
            <a:off x="3985435" y="336506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63" name="단계"/>
          <p:cNvSpPr/>
          <p:nvPr/>
        </p:nvSpPr>
        <p:spPr>
          <a:xfrm>
            <a:off x="5397457" y="336506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573413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3985434" y="33650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397456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2573413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3985435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cxnSp>
        <p:nvCxnSpPr>
          <p:cNvPr id="74" name="Connector 53"/>
          <p:cNvCxnSpPr/>
          <p:nvPr/>
        </p:nvCxnSpPr>
        <p:spPr>
          <a:xfrm>
            <a:off x="5397457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1362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1362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1362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7"/>
          </p:nvPr>
        </p:nvSpPr>
        <p:spPr>
          <a:xfrm>
            <a:off x="3996391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3985435" y="41910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번호"/>
          <p:cNvSpPr>
            <a:spLocks noGrp="1"/>
          </p:cNvSpPr>
          <p:nvPr>
            <p:ph type="body" sz="quarter" idx="48"/>
          </p:nvPr>
        </p:nvSpPr>
        <p:spPr>
          <a:xfrm>
            <a:off x="536870" y="484841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82" name="분야 박스"/>
          <p:cNvSpPr/>
          <p:nvPr/>
        </p:nvSpPr>
        <p:spPr>
          <a:xfrm>
            <a:off x="727987" y="4881287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분야 박스"/>
          <p:cNvSpPr>
            <a:spLocks noGrp="1"/>
          </p:cNvSpPr>
          <p:nvPr>
            <p:ph type="body" sz="quarter" idx="49"/>
          </p:nvPr>
        </p:nvSpPr>
        <p:spPr>
          <a:xfrm>
            <a:off x="727987" y="4881287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84" name="형광 밑줄"/>
          <p:cNvSpPr/>
          <p:nvPr/>
        </p:nvSpPr>
        <p:spPr>
          <a:xfrm>
            <a:off x="1540364" y="5001809"/>
            <a:ext cx="38047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소제목"/>
          <p:cNvSpPr>
            <a:spLocks noGrp="1"/>
          </p:cNvSpPr>
          <p:nvPr>
            <p:ph type="body" sz="quarter" idx="50"/>
          </p:nvPr>
        </p:nvSpPr>
        <p:spPr>
          <a:xfrm>
            <a:off x="1540364" y="4848417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86" name="아이콘 칸"/>
          <p:cNvSpPr/>
          <p:nvPr/>
        </p:nvSpPr>
        <p:spPr>
          <a:xfrm>
            <a:off x="536870" y="51880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87" name="태그"/>
          <p:cNvSpPr/>
          <p:nvPr/>
        </p:nvSpPr>
        <p:spPr>
          <a:xfrm>
            <a:off x="756000" y="5188070"/>
            <a:ext cx="43701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5188070"/>
            <a:ext cx="43701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89" name="그룹 제목"/>
          <p:cNvSpPr>
            <a:spLocks noGrp="1"/>
          </p:cNvSpPr>
          <p:nvPr>
            <p:ph type="body" sz="quarter" idx="52"/>
          </p:nvPr>
        </p:nvSpPr>
        <p:spPr>
          <a:xfrm>
            <a:off x="1236836" y="5166157"/>
            <a:ext cx="557812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90" name="그룹 틀"/>
          <p:cNvSpPr/>
          <p:nvPr/>
        </p:nvSpPr>
        <p:spPr>
          <a:xfrm>
            <a:off x="536870" y="54072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카드 머리"/>
          <p:cNvSpPr/>
          <p:nvPr/>
        </p:nvSpPr>
        <p:spPr>
          <a:xfrm>
            <a:off x="569739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태그"/>
          <p:cNvSpPr/>
          <p:nvPr/>
        </p:nvSpPr>
        <p:spPr>
          <a:xfrm>
            <a:off x="613565" y="5451026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5451026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94" name="카드 제목"/>
          <p:cNvSpPr>
            <a:spLocks noGrp="1"/>
          </p:cNvSpPr>
          <p:nvPr>
            <p:ph type="body" sz="quarter" idx="54"/>
          </p:nvPr>
        </p:nvSpPr>
        <p:spPr>
          <a:xfrm>
            <a:off x="1239478" y="5429113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95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3675913" y="54619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카드 머리"/>
          <p:cNvSpPr/>
          <p:nvPr/>
        </p:nvSpPr>
        <p:spPr>
          <a:xfrm>
            <a:off x="3686870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태그"/>
          <p:cNvSpPr/>
          <p:nvPr/>
        </p:nvSpPr>
        <p:spPr>
          <a:xfrm>
            <a:off x="3730696" y="5451026"/>
            <a:ext cx="27626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태그"/>
          <p:cNvSpPr>
            <a:spLocks noGrp="1"/>
          </p:cNvSpPr>
          <p:nvPr>
            <p:ph type="body" sz="quarter" idx="56"/>
          </p:nvPr>
        </p:nvSpPr>
        <p:spPr>
          <a:xfrm>
            <a:off x="3730696" y="5451026"/>
            <a:ext cx="27626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100" name="카드 제목"/>
          <p:cNvSpPr>
            <a:spLocks noGrp="1"/>
          </p:cNvSpPr>
          <p:nvPr>
            <p:ph type="body" sz="quarter" idx="57"/>
          </p:nvPr>
        </p:nvSpPr>
        <p:spPr>
          <a:xfrm>
            <a:off x="4039828" y="5429113"/>
            <a:ext cx="272034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101" name="카드 본문"/>
          <p:cNvSpPr>
            <a:spLocks noGrp="1"/>
          </p:cNvSpPr>
          <p:nvPr>
            <p:ph type="body" sz="quarter" idx="58"/>
          </p:nvPr>
        </p:nvSpPr>
        <p:spPr>
          <a:xfrm>
            <a:off x="3686870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102" name="카드 머리"/>
          <p:cNvSpPr/>
          <p:nvPr/>
        </p:nvSpPr>
        <p:spPr>
          <a:xfrm>
            <a:off x="569739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태그"/>
          <p:cNvSpPr/>
          <p:nvPr/>
        </p:nvSpPr>
        <p:spPr>
          <a:xfrm>
            <a:off x="613565" y="6546678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04" name="태그"/>
          <p:cNvSpPr>
            <a:spLocks noGrp="1"/>
          </p:cNvSpPr>
          <p:nvPr>
            <p:ph type="body" sz="quarter" idx="59"/>
          </p:nvPr>
        </p:nvSpPr>
        <p:spPr>
          <a:xfrm>
            <a:off x="613565" y="6546678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105" name="카드 제목"/>
          <p:cNvSpPr>
            <a:spLocks noGrp="1"/>
          </p:cNvSpPr>
          <p:nvPr>
            <p:ph type="body" sz="quarter" idx="60"/>
          </p:nvPr>
        </p:nvSpPr>
        <p:spPr>
          <a:xfrm>
            <a:off x="1239478" y="6524765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106" name="카드 본문"/>
          <p:cNvSpPr>
            <a:spLocks noGrp="1"/>
          </p:cNvSpPr>
          <p:nvPr>
            <p:ph type="body" sz="quarter" idx="61"/>
          </p:nvPr>
        </p:nvSpPr>
        <p:spPr>
          <a:xfrm>
            <a:off x="569739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675913" y="65576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카드 머리"/>
          <p:cNvSpPr/>
          <p:nvPr/>
        </p:nvSpPr>
        <p:spPr>
          <a:xfrm>
            <a:off x="3686870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태그"/>
          <p:cNvSpPr/>
          <p:nvPr/>
        </p:nvSpPr>
        <p:spPr>
          <a:xfrm>
            <a:off x="3730696" y="6546678"/>
            <a:ext cx="76408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태그"/>
          <p:cNvSpPr>
            <a:spLocks noGrp="1"/>
          </p:cNvSpPr>
          <p:nvPr>
            <p:ph type="body" sz="quarter" idx="62"/>
          </p:nvPr>
        </p:nvSpPr>
        <p:spPr>
          <a:xfrm>
            <a:off x="3730696" y="6546678"/>
            <a:ext cx="76408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111" name="카드 제목"/>
          <p:cNvSpPr>
            <a:spLocks noGrp="1"/>
          </p:cNvSpPr>
          <p:nvPr>
            <p:ph type="body" sz="quarter" idx="63"/>
          </p:nvPr>
        </p:nvSpPr>
        <p:spPr>
          <a:xfrm>
            <a:off x="4527648" y="6524765"/>
            <a:ext cx="223252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112" name="카드 본문"/>
          <p:cNvSpPr>
            <a:spLocks noGrp="1"/>
          </p:cNvSpPr>
          <p:nvPr>
            <p:ph type="body" sz="quarter" idx="64"/>
          </p:nvPr>
        </p:nvSpPr>
        <p:spPr>
          <a:xfrm>
            <a:off x="3686870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113" name="틀"/>
          <p:cNvSpPr/>
          <p:nvPr/>
        </p:nvSpPr>
        <p:spPr>
          <a:xfrm>
            <a:off x="536870" y="7740939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775189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775189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777380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777380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120" name="카드"/>
          <p:cNvSpPr/>
          <p:nvPr/>
        </p:nvSpPr>
        <p:spPr>
          <a:xfrm>
            <a:off x="259121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카드 문구"/>
          <p:cNvSpPr>
            <a:spLocks noGrp="1"/>
          </p:cNvSpPr>
          <p:nvPr>
            <p:ph type="body" sz="quarter" idx="68"/>
          </p:nvPr>
        </p:nvSpPr>
        <p:spPr>
          <a:xfrm>
            <a:off x="261313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122" name="카드"/>
          <p:cNvSpPr/>
          <p:nvPr/>
        </p:nvSpPr>
        <p:spPr>
          <a:xfrm>
            <a:off x="401008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카드 문구"/>
          <p:cNvSpPr>
            <a:spLocks noGrp="1"/>
          </p:cNvSpPr>
          <p:nvPr>
            <p:ph type="body" sz="quarter" idx="69"/>
          </p:nvPr>
        </p:nvSpPr>
        <p:spPr>
          <a:xfrm>
            <a:off x="403200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124" name="카드"/>
          <p:cNvSpPr/>
          <p:nvPr/>
        </p:nvSpPr>
        <p:spPr>
          <a:xfrm>
            <a:off x="542895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70"/>
          </p:nvPr>
        </p:nvSpPr>
        <p:spPr>
          <a:xfrm>
            <a:off x="545087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2 서사 · 기후리스크 · 정책강화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9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722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722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7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4174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3 서사 · 국민기대수질(체감도 높은 5대 항목 → 계절별 취약요소 4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5" name="태그칩"/>
          <p:cNvSpPr/>
          <p:nvPr/>
        </p:nvSpPr>
        <p:spPr>
          <a:xfrm>
            <a:off x="55532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32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2865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881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4 서사 · 인프라 강화(정수 · 배출수 × 기존 → 추진실적 → 개선계획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41728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602138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602138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166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핵심성과 박스"/>
          <p:cNvSpPr/>
          <p:nvPr/>
        </p:nvSpPr>
        <p:spPr>
          <a:xfrm>
            <a:off x="723130" y="2317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333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5 서사 · 규제대비 PFAS OUT 로드맵(과불화화합물 4대 대응 → 고도처리 핵심자원 활성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6727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5" name="태그칩"/>
          <p:cNvSpPr/>
          <p:nvPr/>
        </p:nvSpPr>
        <p:spPr>
          <a:xfrm>
            <a:off x="51959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959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2799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76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76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237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237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23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6 서사 · 현황 분석(두 칸 + 시사점) → 개선 방향(기존 → 개선, 연도 3단 + 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46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배너"/>
          <p:cNvSpPr/>
          <p:nvPr/>
        </p:nvSpPr>
        <p:spPr>
          <a:xfrm>
            <a:off x="1347652" y="1566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66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07826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07826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0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347652" y="1829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829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829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829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829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7 서사 · 운영 고도화 인프라(’24 디지털·저에너지 → ’25 지능형 AI → 추진실적 3칸 → 신규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679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5" name="태그칩"/>
          <p:cNvSpPr/>
          <p:nvPr/>
        </p:nvSpPr>
        <p:spPr>
          <a:xfrm>
            <a:off x="53418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3418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36408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96783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96783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96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32" name="머리칸"/>
          <p:cNvSpPr/>
          <p:nvPr/>
        </p:nvSpPr>
        <p:spPr>
          <a:xfrm>
            <a:off x="3044087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926783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044087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4926783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12957"/>
            <a:ext cx="580696" cy="92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12957"/>
            <a:ext cx="580696" cy="92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1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46" name="머리칸"/>
          <p:cNvSpPr/>
          <p:nvPr/>
        </p:nvSpPr>
        <p:spPr>
          <a:xfrm>
            <a:off x="3044087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48" name="머리칸"/>
          <p:cNvSpPr/>
          <p:nvPr/>
        </p:nvSpPr>
        <p:spPr>
          <a:xfrm>
            <a:off x="4926783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8 서사 · 자산관리 확대 K-AMS(성과와 한계 | 활용과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859664" y="931304"/>
            <a:ext cx="35981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859664" y="777913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55640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55640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610752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0752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451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141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141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cxnSp>
        <p:nvCxnSpPr>
          <p:cNvPr id="27" name="Connector 15"/>
          <p:cNvCxnSpPr/>
          <p:nvPr/>
        </p:nvCxnSpPr>
        <p:spPr>
          <a:xfrm>
            <a:off x="4171696" y="1375043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723130" y="2602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618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9 서사 · Restart 추진전략 재정립(4대 분야 전략 → 그간의 성과 → 환경변화 → 로드맵 재정립 → 4대 실행과제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7016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20" name="머리칸"/>
          <p:cNvSpPr/>
          <p:nvPr/>
        </p:nvSpPr>
        <p:spPr>
          <a:xfrm>
            <a:off x="2573413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5397457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257341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39745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94478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9447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985435" y="1999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2500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0904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044087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4926783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3311687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31168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4" name="배너"/>
          <p:cNvSpPr/>
          <p:nvPr/>
        </p:nvSpPr>
        <p:spPr>
          <a:xfrm>
            <a:off x="1161391" y="3333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333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56" name="레일"/>
          <p:cNvSpPr/>
          <p:nvPr/>
        </p:nvSpPr>
        <p:spPr>
          <a:xfrm>
            <a:off x="547826" y="3581530"/>
            <a:ext cx="580696" cy="827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581530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58" name="단계"/>
          <p:cNvSpPr/>
          <p:nvPr/>
        </p:nvSpPr>
        <p:spPr>
          <a:xfrm>
            <a:off x="1161391" y="36034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4"/>
          </p:nvPr>
        </p:nvSpPr>
        <p:spPr>
          <a:xfrm>
            <a:off x="1161391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36034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5"/>
          </p:nvPr>
        </p:nvSpPr>
        <p:spPr>
          <a:xfrm>
            <a:off x="3044087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36034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6"/>
          </p:nvPr>
        </p:nvSpPr>
        <p:spPr>
          <a:xfrm>
            <a:off x="4926783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36034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36034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cxnSp>
        <p:nvCxnSpPr>
          <p:cNvPr id="68" name="Connector 48"/>
          <p:cNvCxnSpPr/>
          <p:nvPr/>
        </p:nvCxnSpPr>
        <p:spPr>
          <a:xfrm>
            <a:off x="3044087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926783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4425183"/>
            <a:ext cx="580696" cy="162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4425183"/>
            <a:ext cx="580696" cy="162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2"/>
          </p:nvPr>
        </p:nvSpPr>
        <p:spPr>
          <a:xfrm>
            <a:off x="3985435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4"/>
          </p:nvPr>
        </p:nvSpPr>
        <p:spPr>
          <a:xfrm>
            <a:off x="3996391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985435" y="47210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칸"/>
          <p:cNvSpPr/>
          <p:nvPr/>
        </p:nvSpPr>
        <p:spPr>
          <a:xfrm>
            <a:off x="1161391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82" name="머리칸"/>
          <p:cNvSpPr/>
          <p:nvPr/>
        </p:nvSpPr>
        <p:spPr>
          <a:xfrm>
            <a:off x="3985435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cxnSp>
        <p:nvCxnSpPr>
          <p:cNvPr id="86" name="Connector 61"/>
          <p:cNvCxnSpPr/>
          <p:nvPr/>
        </p:nvCxnSpPr>
        <p:spPr>
          <a:xfrm>
            <a:off x="3985435" y="5526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606318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06318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606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61"/>
          </p:nvPr>
        </p:nvSpPr>
        <p:spPr>
          <a:xfrm>
            <a:off x="2584370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2573413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칸 본문"/>
          <p:cNvSpPr>
            <a:spLocks noGrp="1"/>
          </p:cNvSpPr>
          <p:nvPr>
            <p:ph type="body" sz="quarter" idx="62"/>
          </p:nvPr>
        </p:nvSpPr>
        <p:spPr>
          <a:xfrm>
            <a:off x="3996391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cxnSp>
        <p:nvCxnSpPr>
          <p:cNvPr id="94" name="Connector 68"/>
          <p:cNvCxnSpPr/>
          <p:nvPr/>
        </p:nvCxnSpPr>
        <p:spPr>
          <a:xfrm>
            <a:off x="3985435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3"/>
          </p:nvPr>
        </p:nvSpPr>
        <p:spPr>
          <a:xfrm>
            <a:off x="5408413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  <p:cxnSp>
        <p:nvCxnSpPr>
          <p:cNvPr id="96" name="Connector 70"/>
          <p:cNvCxnSpPr/>
          <p:nvPr/>
        </p:nvCxnSpPr>
        <p:spPr>
          <a:xfrm>
            <a:off x="5397457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0 서사 · 스마트 기술 기반 운영관리 혁신(운영관리 혁신 2칸 → 시사점 → AI 전환 로드맵 → AI 기술 개발·실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954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11" name="태그칩"/>
          <p:cNvSpPr/>
          <p:nvPr/>
        </p:nvSpPr>
        <p:spPr>
          <a:xfrm>
            <a:off x="51171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171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458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477583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7583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4994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4994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4994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4994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4994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cxnSp>
        <p:nvCxnSpPr>
          <p:cNvPr id="40" name="Connector 24"/>
          <p:cNvCxnSpPr/>
          <p:nvPr/>
        </p:nvCxnSpPr>
        <p:spPr>
          <a:xfrm>
            <a:off x="3230348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5113043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452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452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452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배너"/>
          <p:cNvSpPr/>
          <p:nvPr/>
        </p:nvSpPr>
        <p:spPr>
          <a:xfrm>
            <a:off x="1347652" y="3474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474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1 서사 · 글로벌 수질기준을 충족하는 수돗물 품질관리(실태조사 → VOC · 수질이슈 두 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863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502179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2179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7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핵심성과 박스"/>
          <p:cNvSpPr/>
          <p:nvPr/>
        </p:nvSpPr>
        <p:spPr>
          <a:xfrm>
            <a:off x="536870" y="2717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핵심성과 라벨"/>
          <p:cNvSpPr/>
          <p:nvPr/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8" name="핵심성과 라벨"/>
          <p:cNvSpPr>
            <a:spLocks noGrp="1"/>
          </p:cNvSpPr>
          <p:nvPr>
            <p:ph type="body" sz="quarter" idx="28"/>
          </p:nvPr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29"/>
          </p:nvPr>
        </p:nvSpPr>
        <p:spPr>
          <a:xfrm>
            <a:off x="1314783" y="2733652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2 서사 · 규모는 키우고 효율성은 높여 서비스 격차 해소(신규협약 지자체 맞춤형 모델 → 수행체계 효율성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92205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2205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47317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7317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0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6405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6405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264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cxnSp>
        <p:nvCxnSpPr>
          <p:cNvPr id="36" name="Connector 21"/>
          <p:cNvCxnSpPr/>
          <p:nvPr/>
        </p:nvCxnSpPr>
        <p:spPr>
          <a:xfrm>
            <a:off x="4171696" y="29363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핵심성과 박스"/>
          <p:cNvSpPr/>
          <p:nvPr/>
        </p:nvSpPr>
        <p:spPr>
          <a:xfrm>
            <a:off x="723130" y="405391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408678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08678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075826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3 서사 · SWNM 기술 표준화 및 Biz모델 개발을 통한 글로벌 진출(SWNM 정의 → 기술 표준화 · 맞춤형 Biz모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1348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4896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4896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80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77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325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83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35130"/>
            <a:ext cx="451408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9" name="사진 칸"/>
          <p:cNvSpPr/>
          <p:nvPr/>
        </p:nvSpPr>
        <p:spPr>
          <a:xfrm>
            <a:off x="5730261" y="2240609"/>
            <a:ext cx="1079217" cy="591652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30"/>
          </p:nvPr>
        </p:nvSpPr>
        <p:spPr>
          <a:xfrm>
            <a:off x="5730261" y="2240609"/>
            <a:ext cx="1079217" cy="591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536870" y="2947304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963739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4 서사 · 국가적 재난 속 지원군(경북산불 · 강릉가뭄 지원: 위기 상황 → 비상 대응 → 대응 성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470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11" name="태그칩"/>
          <p:cNvSpPr/>
          <p:nvPr/>
        </p:nvSpPr>
        <p:spPr>
          <a:xfrm>
            <a:off x="484644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4644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39756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9756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6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35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54261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54261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54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2476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476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2711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2711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2711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271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271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3230348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cxnSp>
        <p:nvCxnSpPr>
          <p:cNvPr id="50" name="Connector 32"/>
          <p:cNvCxnSpPr/>
          <p:nvPr/>
        </p:nvCxnSpPr>
        <p:spPr>
          <a:xfrm>
            <a:off x="5113043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723130" y="3916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33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5 서사 · 전국 수도사업자 기술지원 시스템 개선(위기대응 강화 · 선제적 기술지원 각 두 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419633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19633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747451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47451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68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9009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9009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00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96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6 서사 · 국민체감서비스 정의 → 환경변화 → 발굴과정 → 니즈 도출 → 실행과제 → 추진성과(5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974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915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915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19709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709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2667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606400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064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37" name="머리칸"/>
          <p:cNvSpPr/>
          <p:nvPr/>
        </p:nvSpPr>
        <p:spPr>
          <a:xfrm>
            <a:off x="3230348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39" name="머리칸"/>
          <p:cNvSpPr/>
          <p:nvPr/>
        </p:nvSpPr>
        <p:spPr>
          <a:xfrm>
            <a:off x="5113043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cxnSp>
        <p:nvCxnSpPr>
          <p:cNvPr id="43" name="Connector 26"/>
          <p:cNvCxnSpPr/>
          <p:nvPr/>
        </p:nvCxnSpPr>
        <p:spPr>
          <a:xfrm>
            <a:off x="3230348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5113043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07617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076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4008835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400883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6"/>
          </p:nvPr>
        </p:nvSpPr>
        <p:spPr>
          <a:xfrm>
            <a:off x="1347652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3230348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5113043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cxnSp>
        <p:nvCxnSpPr>
          <p:cNvPr id="69" name="Connector 44"/>
          <p:cNvCxnSpPr/>
          <p:nvPr/>
        </p:nvCxnSpPr>
        <p:spPr>
          <a:xfrm>
            <a:off x="3230348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cxnSp>
        <p:nvCxnSpPr>
          <p:cNvPr id="71" name="Connector 46"/>
          <p:cNvCxnSpPr/>
          <p:nvPr/>
        </p:nvCxnSpPr>
        <p:spPr>
          <a:xfrm>
            <a:off x="5113043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67617"/>
            <a:ext cx="580696" cy="519183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567617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2488226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cxnSp>
        <p:nvCxnSpPr>
          <p:cNvPr id="76" name="Connector 50"/>
          <p:cNvCxnSpPr/>
          <p:nvPr/>
        </p:nvCxnSpPr>
        <p:spPr>
          <a:xfrm>
            <a:off x="2477270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3617843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cxnSp>
        <p:nvCxnSpPr>
          <p:cNvPr id="78" name="Connector 52"/>
          <p:cNvCxnSpPr/>
          <p:nvPr/>
        </p:nvCxnSpPr>
        <p:spPr>
          <a:xfrm>
            <a:off x="3606887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6"/>
          </p:nvPr>
        </p:nvSpPr>
        <p:spPr>
          <a:xfrm>
            <a:off x="4747461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4736504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7"/>
          </p:nvPr>
        </p:nvSpPr>
        <p:spPr>
          <a:xfrm>
            <a:off x="5877078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866122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7 서사 · 실질적 도움이 되는 정보와 요금부담 완화(요금부담 경감 3칸 → 대화형 수도정보서비스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94478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44783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985435" y="2240609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핵심성과 박스"/>
          <p:cNvSpPr/>
          <p:nvPr/>
        </p:nvSpPr>
        <p:spPr>
          <a:xfrm>
            <a:off x="536870" y="3040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핵심성과 라벨"/>
          <p:cNvSpPr/>
          <p:nvPr/>
        </p:nvSpPr>
        <p:spPr>
          <a:xfrm>
            <a:off x="569739" y="3073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3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2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Relationship Id="rId190" Type="http://schemas.openxmlformats.org/officeDocument/2006/relationships/slideLayout" Target="../slideLayouts/slideLayout192.xml"/><Relationship Id="rId191" Type="http://schemas.openxmlformats.org/officeDocument/2006/relationships/slideLayout" Target="../slideLayouts/slideLayout193.xml"/><Relationship Id="rId192" Type="http://schemas.openxmlformats.org/officeDocument/2006/relationships/slideLayout" Target="../slideLayouts/slideLayout194.xml"/><Relationship Id="rId193" Type="http://schemas.openxmlformats.org/officeDocument/2006/relationships/slideLayout" Target="../slideLayouts/slideLayout195.xml"/><Relationship Id="rId194" Type="http://schemas.openxmlformats.org/officeDocument/2006/relationships/slideLayout" Target="../slideLayouts/slideLayout196.xml"/><Relationship Id="rId195" Type="http://schemas.openxmlformats.org/officeDocument/2006/relationships/slideLayout" Target="../slideLayouts/slideLayout197.xml"/><Relationship Id="rId196" Type="http://schemas.openxmlformats.org/officeDocument/2006/relationships/slideLayout" Target="../slideLayouts/slideLayout198.xml"/><Relationship Id="rId197" Type="http://schemas.openxmlformats.org/officeDocument/2006/relationships/slideLayout" Target="../slideLayouts/slideLayout199.xml"/><Relationship Id="rId198" Type="http://schemas.openxmlformats.org/officeDocument/2006/relationships/slideLayout" Target="../slideLayouts/slideLayout200.xml"/><Relationship Id="rId199" Type="http://schemas.openxmlformats.org/officeDocument/2006/relationships/slideLayout" Target="../slideLayouts/slideLayout201.xml"/><Relationship Id="rId200" Type="http://schemas.openxmlformats.org/officeDocument/2006/relationships/slideLayout" Target="../slideLayouts/slideLayout202.xml"/><Relationship Id="rId201" Type="http://schemas.openxmlformats.org/officeDocument/2006/relationships/slideLayout" Target="../slideLayouts/slideLayout203.xml"/><Relationship Id="rId202" Type="http://schemas.openxmlformats.org/officeDocument/2006/relationships/slideLayout" Target="../slideLayouts/slideLayout204.xml"/><Relationship Id="rId203" Type="http://schemas.openxmlformats.org/officeDocument/2006/relationships/slideLayout" Target="../slideLayouts/slideLayout205.xml"/><Relationship Id="rId204" Type="http://schemas.openxmlformats.org/officeDocument/2006/relationships/slideLayout" Target="../slideLayouts/slideLayout206.xml"/><Relationship Id="rId205" Type="http://schemas.openxmlformats.org/officeDocument/2006/relationships/slideLayout" Target="../slideLayouts/slideLayout207.xml"/><Relationship Id="rId206" Type="http://schemas.openxmlformats.org/officeDocument/2006/relationships/slideLayout" Target="../slideLayouts/slideLayout208.xml"/><Relationship Id="rId207" Type="http://schemas.openxmlformats.org/officeDocument/2006/relationships/slideLayout" Target="../slideLayouts/slideLayout209.xml"/><Relationship Id="rId208" Type="http://schemas.openxmlformats.org/officeDocument/2006/relationships/slideLayout" Target="../slideLayouts/slideLayout210.xml"/><Relationship Id="rId209" Type="http://schemas.openxmlformats.org/officeDocument/2006/relationships/slideLayout" Target="../slideLayouts/slideLayout211.xml"/><Relationship Id="rId210" Type="http://schemas.openxmlformats.org/officeDocument/2006/relationships/slideLayout" Target="../slideLayouts/slideLayout212.xml"/><Relationship Id="rId211" Type="http://schemas.openxmlformats.org/officeDocument/2006/relationships/slideLayout" Target="../slideLayouts/slideLayout2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  <p:sldLayoutId id="2147483840" r:id="rId190"/>
    <p:sldLayoutId id="2147483841" r:id="rId191"/>
    <p:sldLayoutId id="2147483842" r:id="rId192"/>
    <p:sldLayoutId id="2147483843" r:id="rId193"/>
    <p:sldLayoutId id="2147483844" r:id="rId194"/>
    <p:sldLayoutId id="2147483845" r:id="rId195"/>
    <p:sldLayoutId id="2147483846" r:id="rId196"/>
    <p:sldLayoutId id="2147483847" r:id="rId197"/>
    <p:sldLayoutId id="2147483848" r:id="rId198"/>
    <p:sldLayoutId id="2147483849" r:id="rId199"/>
    <p:sldLayoutId id="2147483850" r:id="rId200"/>
    <p:sldLayoutId id="2147483851" r:id="rId201"/>
    <p:sldLayoutId id="2147483852" r:id="rId202"/>
    <p:sldLayoutId id="2147483853" r:id="rId203"/>
    <p:sldLayoutId id="2147483854" r:id="rId204"/>
    <p:sldLayoutId id="2147483855" r:id="rId205"/>
    <p:sldLayoutId id="2147483856" r:id="rId206"/>
    <p:sldLayoutId id="2147483857" r:id="rId207"/>
    <p:sldLayoutId id="2147483858" r:id="rId208"/>
    <p:sldLayoutId id="2147483859" r:id="rId209"/>
    <p:sldLayoutId id="2147483860" r:id="rId210"/>
    <p:sldLayoutId id="2147483861" r:id="rId2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