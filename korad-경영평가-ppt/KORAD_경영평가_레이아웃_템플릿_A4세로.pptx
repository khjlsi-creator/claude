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2 평가내용 +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517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539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539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517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539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3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4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62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62668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6266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347652" y="1706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706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27"/>
          </p:nvPr>
        </p:nvSpPr>
        <p:spPr>
          <a:xfrm>
            <a:off x="2331565" y="1695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/>
          <p:nvPr/>
        </p:nvSpPr>
        <p:spPr>
          <a:xfrm>
            <a:off x="1347652" y="1903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903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2331565" y="1892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8" name="태그"/>
          <p:cNvSpPr/>
          <p:nvPr/>
        </p:nvSpPr>
        <p:spPr>
          <a:xfrm>
            <a:off x="1347652" y="2100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10092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1"/>
          </p:nvPr>
        </p:nvSpPr>
        <p:spPr>
          <a:xfrm>
            <a:off x="2331565" y="208997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36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36494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3649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235840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235840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235840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5840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235840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235840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610407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643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5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머리칸"/>
          <p:cNvSpPr/>
          <p:nvPr/>
        </p:nvSpPr>
        <p:spPr>
          <a:xfrm>
            <a:off x="3193826" y="125818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193826" y="125818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04783" y="1499228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193826" y="153209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93635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9363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936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115548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9" name="단계"/>
          <p:cNvSpPr/>
          <p:nvPr/>
        </p:nvSpPr>
        <p:spPr>
          <a:xfrm>
            <a:off x="2177609" y="2115548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177609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1" name="단계"/>
          <p:cNvSpPr/>
          <p:nvPr/>
        </p:nvSpPr>
        <p:spPr>
          <a:xfrm>
            <a:off x="3193826" y="2115548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193826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3" name="단계"/>
          <p:cNvSpPr/>
          <p:nvPr/>
        </p:nvSpPr>
        <p:spPr>
          <a:xfrm>
            <a:off x="4210043" y="2115548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210043" y="2115548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2177608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3193826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210043" y="21155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2188565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2177609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204783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193826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221000" y="2367548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210043" y="2400417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성과 화살표"/>
          <p:cNvSpPr/>
          <p:nvPr/>
        </p:nvSpPr>
        <p:spPr>
          <a:xfrm>
            <a:off x="5281043" y="1716542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성과 패널 머리"/>
          <p:cNvSpPr/>
          <p:nvPr/>
        </p:nvSpPr>
        <p:spPr>
          <a:xfrm>
            <a:off x="5450870" y="76695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450870" y="76695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성과 패널"/>
          <p:cNvSpPr/>
          <p:nvPr/>
        </p:nvSpPr>
        <p:spPr>
          <a:xfrm>
            <a:off x="5450870" y="1018957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472783" y="1040870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6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49922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49922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4027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18219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4" name="단계"/>
          <p:cNvSpPr/>
          <p:nvPr/>
        </p:nvSpPr>
        <p:spPr>
          <a:xfrm>
            <a:off x="2759674" y="218219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2759674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218219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8" name="단계"/>
          <p:cNvSpPr/>
          <p:nvPr/>
        </p:nvSpPr>
        <p:spPr>
          <a:xfrm>
            <a:off x="5583717" y="218219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5583717" y="218219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759673" y="218219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171695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583717" y="218219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2770630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2759674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4171696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5594674" y="2434195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583717" y="2467064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7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236271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236271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23627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25818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25818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49922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532097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919238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19238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91923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1161391" y="196306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96306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2284344" y="195210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216028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16028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2284344" y="214932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8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 태그"/>
          <p:cNvSpPr/>
          <p:nvPr/>
        </p:nvSpPr>
        <p:spPr>
          <a:xfrm>
            <a:off x="854405" y="164166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레일 태그"/>
          <p:cNvSpPr>
            <a:spLocks noGrp="1"/>
          </p:cNvSpPr>
          <p:nvPr>
            <p:ph type="body" sz="quarter" idx="25"/>
          </p:nvPr>
        </p:nvSpPr>
        <p:spPr>
          <a:xfrm>
            <a:off x="854405" y="164166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2" name="레일 라벨"/>
          <p:cNvSpPr>
            <a:spLocks noGrp="1"/>
          </p:cNvSpPr>
          <p:nvPr>
            <p:ph type="body" sz="quarter" idx="26"/>
          </p:nvPr>
        </p:nvSpPr>
        <p:spPr>
          <a:xfrm>
            <a:off x="734087" y="1827923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9228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9228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/>
          <p:nvPr/>
        </p:nvSpPr>
        <p:spPr>
          <a:xfrm>
            <a:off x="5916522" y="1504706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8" name="사진 칸"/>
          <p:cNvSpPr>
            <a:spLocks noGrp="1"/>
          </p:cNvSpPr>
          <p:nvPr>
            <p:ph type="body" sz="quarter" idx="29"/>
          </p:nvPr>
        </p:nvSpPr>
        <p:spPr>
          <a:xfrm>
            <a:off x="5916522" y="1504706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2345635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854405" y="2509983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30"/>
          </p:nvPr>
        </p:nvSpPr>
        <p:spPr>
          <a:xfrm>
            <a:off x="854405" y="2509983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96243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456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347652" y="2367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367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26031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6031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44157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877026"/>
            <a:ext cx="0" cy="50127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9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0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4" name="머리칸"/>
          <p:cNvSpPr/>
          <p:nvPr/>
        </p:nvSpPr>
        <p:spPr>
          <a:xfrm>
            <a:off x="1347652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1347652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6" name="머리칸"/>
          <p:cNvSpPr/>
          <p:nvPr/>
        </p:nvSpPr>
        <p:spPr>
          <a:xfrm>
            <a:off x="3230348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3230348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8" name="머리칸"/>
          <p:cNvSpPr/>
          <p:nvPr/>
        </p:nvSpPr>
        <p:spPr>
          <a:xfrm>
            <a:off x="5113043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5113043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3230348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29287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13043" y="132573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347652" y="172383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2383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171288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1959402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59402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95940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198131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98131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5" name="머리칸"/>
          <p:cNvSpPr/>
          <p:nvPr/>
        </p:nvSpPr>
        <p:spPr>
          <a:xfrm>
            <a:off x="4171696" y="2216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216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457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90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태그"/>
          <p:cNvSpPr/>
          <p:nvPr/>
        </p:nvSpPr>
        <p:spPr>
          <a:xfrm>
            <a:off x="1347652" y="288889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88889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972988" y="287793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1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77315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77315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7731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99228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5" name="단계"/>
          <p:cNvSpPr/>
          <p:nvPr/>
        </p:nvSpPr>
        <p:spPr>
          <a:xfrm>
            <a:off x="2573413" y="1499228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499228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9" name="단계"/>
          <p:cNvSpPr/>
          <p:nvPr/>
        </p:nvSpPr>
        <p:spPr>
          <a:xfrm>
            <a:off x="5397457" y="1499228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9922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573413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985434" y="149922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397456" y="149922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2573413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51228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5397457" y="1784097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509075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9075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250907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53098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53098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72031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417558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772031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2804901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2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3670435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670435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3681391" y="1057304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3670435" y="1090174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77315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7731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7731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4" name="머리칸"/>
          <p:cNvSpPr/>
          <p:nvPr/>
        </p:nvSpPr>
        <p:spPr>
          <a:xfrm>
            <a:off x="3670435" y="149922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670435" y="149922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681391" y="174027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670435" y="177314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160282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60282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16028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182195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182195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4" name="본문"/>
          <p:cNvSpPr>
            <a:spLocks noGrp="1"/>
          </p:cNvSpPr>
          <p:nvPr>
            <p:ph type="body" sz="quarter" idx="32"/>
          </p:nvPr>
        </p:nvSpPr>
        <p:spPr>
          <a:xfrm>
            <a:off x="1347652" y="2417760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35" name="사진 칸"/>
          <p:cNvSpPr/>
          <p:nvPr/>
        </p:nvSpPr>
        <p:spPr>
          <a:xfrm>
            <a:off x="6064435" y="794348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6" name="사진 칸"/>
          <p:cNvSpPr>
            <a:spLocks noGrp="1"/>
          </p:cNvSpPr>
          <p:nvPr>
            <p:ph type="body" sz="quarter" idx="33"/>
          </p:nvPr>
        </p:nvSpPr>
        <p:spPr>
          <a:xfrm>
            <a:off x="6064435" y="794348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7" name="사진 칸"/>
          <p:cNvSpPr/>
          <p:nvPr/>
        </p:nvSpPr>
        <p:spPr>
          <a:xfrm>
            <a:off x="6064435" y="2160282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>
          <a:xfrm>
            <a:off x="6064435" y="2160282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3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061875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1875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83788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7" name="레일"/>
          <p:cNvSpPr/>
          <p:nvPr/>
        </p:nvSpPr>
        <p:spPr>
          <a:xfrm>
            <a:off x="547826" y="1340358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40358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6227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36227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03315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63618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4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2" name="강조 바"/>
          <p:cNvSpPr/>
          <p:nvPr/>
        </p:nvSpPr>
        <p:spPr>
          <a:xfrm>
            <a:off x="1358609" y="810783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강조 바 글"/>
          <p:cNvSpPr>
            <a:spLocks noGrp="1"/>
          </p:cNvSpPr>
          <p:nvPr>
            <p:ph type="body" sz="quarter" idx="21"/>
          </p:nvPr>
        </p:nvSpPr>
        <p:spPr>
          <a:xfrm>
            <a:off x="1358609" y="810783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12761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385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85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4"/>
          </p:nvPr>
        </p:nvSpPr>
        <p:spPr>
          <a:xfrm>
            <a:off x="3235826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19" name="Connector 11"/>
          <p:cNvCxnSpPr/>
          <p:nvPr/>
        </p:nvCxnSpPr>
        <p:spPr>
          <a:xfrm>
            <a:off x="3235826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0" name="가운데 글"/>
          <p:cNvSpPr>
            <a:spLocks noGrp="1"/>
          </p:cNvSpPr>
          <p:nvPr>
            <p:ph type="body" sz="quarter" idx="25"/>
          </p:nvPr>
        </p:nvSpPr>
        <p:spPr>
          <a:xfrm>
            <a:off x="5113043" y="114404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5113043" y="1182397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1472744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483701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83701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235826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89179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5113043" y="1522049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라벨 박스"/>
          <p:cNvSpPr/>
          <p:nvPr/>
        </p:nvSpPr>
        <p:spPr>
          <a:xfrm>
            <a:off x="723130" y="2171238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734087" y="2182195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182195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69565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6783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35826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187673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113043" y="2220543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라벨 박스"/>
          <p:cNvSpPr/>
          <p:nvPr/>
        </p:nvSpPr>
        <p:spPr>
          <a:xfrm>
            <a:off x="723130" y="2695336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706292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706292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235826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711770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5113043" y="2744640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5 추진배경 · 점검방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6 점검항목 · 점검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046348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5113043" y="1079217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723130" y="153209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43054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43054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69565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6783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5826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48532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581402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7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6657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761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761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44049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44049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5092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796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70842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8179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8179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90371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90371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220543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231499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231499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24793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4793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88977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521847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8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771325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776803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776803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776803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1395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257847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8943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8943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2594911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633259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92360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34563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34563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94004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972911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6635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7731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7731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66358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902803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913760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913760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902803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33924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350205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350205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339249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6635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7731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7731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66358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902803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913760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913760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902803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33924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350205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350205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339249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760369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760369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2 핵심성과 한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3 핵심성과 두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핵심성과 박스"/>
          <p:cNvSpPr/>
          <p:nvPr/>
        </p:nvSpPr>
        <p:spPr>
          <a:xfrm>
            <a:off x="536870" y="76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핵심성과 라벨"/>
          <p:cNvSpPr/>
          <p:nvPr/>
        </p:nvSpPr>
        <p:spPr>
          <a:xfrm>
            <a:off x="569739" y="79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569739" y="79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314783" y="78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4 추진성과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303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506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528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528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506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528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087217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933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218696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235130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235130"/>
            <a:ext cx="580696" cy="85188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57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2257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498087"/>
            <a:ext cx="2802130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5" name="Connector 27"/>
          <p:cNvCxnSpPr/>
          <p:nvPr/>
        </p:nvCxnSpPr>
        <p:spPr>
          <a:xfrm>
            <a:off x="3985435" y="2530957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103450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103450"/>
            <a:ext cx="580696" cy="657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31034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1161391" y="314727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314727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313632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2" name="태그"/>
          <p:cNvSpPr/>
          <p:nvPr/>
        </p:nvSpPr>
        <p:spPr>
          <a:xfrm>
            <a:off x="1161391" y="3344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3344494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4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333353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5" name="태그"/>
          <p:cNvSpPr/>
          <p:nvPr/>
        </p:nvSpPr>
        <p:spPr>
          <a:xfrm>
            <a:off x="1161391" y="3541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5"/>
          </p:nvPr>
        </p:nvSpPr>
        <p:spPr>
          <a:xfrm>
            <a:off x="1161391" y="354171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6"/>
          </p:nvPr>
        </p:nvSpPr>
        <p:spPr>
          <a:xfrm>
            <a:off x="2145304" y="353075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8" name="레일"/>
          <p:cNvSpPr/>
          <p:nvPr/>
        </p:nvSpPr>
        <p:spPr>
          <a:xfrm>
            <a:off x="547826" y="3777277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777277"/>
            <a:ext cx="580696" cy="688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77727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"/>
          <p:cNvSpPr/>
          <p:nvPr/>
        </p:nvSpPr>
        <p:spPr>
          <a:xfrm>
            <a:off x="1161391" y="379919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3" name="단계"/>
          <p:cNvSpPr/>
          <p:nvPr/>
        </p:nvSpPr>
        <p:spPr>
          <a:xfrm>
            <a:off x="3044087" y="379919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5" name="단계"/>
          <p:cNvSpPr/>
          <p:nvPr/>
        </p:nvSpPr>
        <p:spPr>
          <a:xfrm>
            <a:off x="4926783" y="379919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79919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044086" y="379918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4926782" y="379918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1" name="Connector 45"/>
          <p:cNvCxnSpPr/>
          <p:nvPr/>
        </p:nvCxnSpPr>
        <p:spPr>
          <a:xfrm>
            <a:off x="3044087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4051190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3" name="Connector 47"/>
          <p:cNvCxnSpPr/>
          <p:nvPr/>
        </p:nvCxnSpPr>
        <p:spPr>
          <a:xfrm>
            <a:off x="4926783" y="4084059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삼각 화살표"/>
          <p:cNvSpPr/>
          <p:nvPr/>
        </p:nvSpPr>
        <p:spPr>
          <a:xfrm>
            <a:off x="3823826" y="4525982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라벨 박스"/>
          <p:cNvSpPr/>
          <p:nvPr/>
        </p:nvSpPr>
        <p:spPr>
          <a:xfrm>
            <a:off x="536870" y="4750591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4761548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761548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68" name="강조 바"/>
          <p:cNvSpPr/>
          <p:nvPr/>
        </p:nvSpPr>
        <p:spPr>
          <a:xfrm>
            <a:off x="1172348" y="4783461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강조 바 글"/>
          <p:cNvSpPr>
            <a:spLocks noGrp="1"/>
          </p:cNvSpPr>
          <p:nvPr>
            <p:ph type="body" sz="quarter" idx="45"/>
          </p:nvPr>
        </p:nvSpPr>
        <p:spPr>
          <a:xfrm>
            <a:off x="1172348" y="4783461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0" name="라벨 박스"/>
          <p:cNvSpPr/>
          <p:nvPr/>
        </p:nvSpPr>
        <p:spPr>
          <a:xfrm>
            <a:off x="536870" y="510029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511124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11124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3" name="가운데 글"/>
          <p:cNvSpPr>
            <a:spLocks noGrp="1"/>
          </p:cNvSpPr>
          <p:nvPr>
            <p:ph type="body" sz="quarter" idx="47"/>
          </p:nvPr>
        </p:nvSpPr>
        <p:spPr>
          <a:xfrm>
            <a:off x="1172348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4" name="가운데 글"/>
          <p:cNvSpPr>
            <a:spLocks noGrp="1"/>
          </p:cNvSpPr>
          <p:nvPr>
            <p:ph type="body" sz="quarter" idx="48"/>
          </p:nvPr>
        </p:nvSpPr>
        <p:spPr>
          <a:xfrm>
            <a:off x="3049565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5" name="Connector 57"/>
          <p:cNvCxnSpPr/>
          <p:nvPr/>
        </p:nvCxnSpPr>
        <p:spPr>
          <a:xfrm>
            <a:off x="3049565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6" name="가운데 글"/>
          <p:cNvSpPr>
            <a:spLocks noGrp="1"/>
          </p:cNvSpPr>
          <p:nvPr>
            <p:ph type="body" sz="quarter" idx="49"/>
          </p:nvPr>
        </p:nvSpPr>
        <p:spPr>
          <a:xfrm>
            <a:off x="4926783" y="5116727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77" name="Connector 59"/>
          <p:cNvCxnSpPr/>
          <p:nvPr/>
        </p:nvCxnSpPr>
        <p:spPr>
          <a:xfrm>
            <a:off x="4926783" y="5155075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78" name="라벨 박스"/>
          <p:cNvSpPr/>
          <p:nvPr/>
        </p:nvSpPr>
        <p:spPr>
          <a:xfrm>
            <a:off x="536870" y="5445423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5456379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0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5456379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1"/>
          </p:nvPr>
        </p:nvSpPr>
        <p:spPr>
          <a:xfrm>
            <a:off x="1183304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2"/>
          </p:nvPr>
        </p:nvSpPr>
        <p:spPr>
          <a:xfrm>
            <a:off x="3060522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3" name="Connector 64"/>
          <p:cNvCxnSpPr/>
          <p:nvPr/>
        </p:nvCxnSpPr>
        <p:spPr>
          <a:xfrm>
            <a:off x="3049565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5461857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5" name="Connector 66"/>
          <p:cNvCxnSpPr/>
          <p:nvPr/>
        </p:nvCxnSpPr>
        <p:spPr>
          <a:xfrm>
            <a:off x="4926783" y="5494727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라벨 박스"/>
          <p:cNvSpPr/>
          <p:nvPr/>
        </p:nvSpPr>
        <p:spPr>
          <a:xfrm>
            <a:off x="536870" y="6143917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"/>
          <p:cNvSpPr/>
          <p:nvPr/>
        </p:nvSpPr>
        <p:spPr>
          <a:xfrm>
            <a:off x="547826" y="6154873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154873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5"/>
          </p:nvPr>
        </p:nvSpPr>
        <p:spPr>
          <a:xfrm>
            <a:off x="1183304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6"/>
          </p:nvPr>
        </p:nvSpPr>
        <p:spPr>
          <a:xfrm>
            <a:off x="3060522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1" name="Connector 71"/>
          <p:cNvCxnSpPr/>
          <p:nvPr/>
        </p:nvCxnSpPr>
        <p:spPr>
          <a:xfrm>
            <a:off x="3049565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6160351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3" name="Connector 73"/>
          <p:cNvCxnSpPr/>
          <p:nvPr/>
        </p:nvCxnSpPr>
        <p:spPr>
          <a:xfrm>
            <a:off x="4926783" y="6193221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라벨 박스"/>
          <p:cNvSpPr/>
          <p:nvPr/>
        </p:nvSpPr>
        <p:spPr>
          <a:xfrm>
            <a:off x="536870" y="6668014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667897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8"/>
          </p:nvPr>
        </p:nvSpPr>
        <p:spPr>
          <a:xfrm>
            <a:off x="547826" y="6678970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83304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60522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9" name="Connector 78"/>
          <p:cNvCxnSpPr/>
          <p:nvPr/>
        </p:nvCxnSpPr>
        <p:spPr>
          <a:xfrm>
            <a:off x="3049565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6684449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1" name="Connector 80"/>
          <p:cNvCxnSpPr/>
          <p:nvPr/>
        </p:nvCxnSpPr>
        <p:spPr>
          <a:xfrm>
            <a:off x="4926783" y="671731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722498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726332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724141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7314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84097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84097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7314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209586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220543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220543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209586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64603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656988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656988"/>
            <a:ext cx="630000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646031"/>
            <a:ext cx="2385783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7314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84097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84097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7314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209586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220543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220543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209586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64603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656988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656988"/>
            <a:ext cx="810783" cy="414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646031"/>
            <a:ext cx="2205000" cy="436445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19204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20847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현안 해결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948445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48445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94844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70358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211402"/>
            <a:ext cx="2010522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24427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805809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05809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805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827722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827722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827722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827722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827722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827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3079722"/>
            <a:ext cx="994304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428716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888216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75082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76725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단계 추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62184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62184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6218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8409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025141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058010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45151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445151"/>
            <a:ext cx="580696" cy="84092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4515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46706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46706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46706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46706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46706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46706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46706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719064"/>
            <a:ext cx="1390109" cy="54510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3901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40660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점검·법령 준수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570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5788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674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6744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9317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34223"/>
            <a:ext cx="1855304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719972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730929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30929"/>
            <a:ext cx="591652" cy="44740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36407"/>
            <a:ext cx="1855304" cy="43644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27693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30980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309809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29885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소통·공감대 진단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265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287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287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265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287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3" name="형광 밑줄"/>
          <p:cNvSpPr/>
          <p:nvPr/>
        </p:nvSpPr>
        <p:spPr>
          <a:xfrm>
            <a:off x="723130" y="1846174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692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5" name="태그칩"/>
          <p:cNvSpPr/>
          <p:nvPr/>
        </p:nvSpPr>
        <p:spPr>
          <a:xfrm>
            <a:off x="4367188" y="1725652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칩"/>
          <p:cNvSpPr>
            <a:spLocks noGrp="1"/>
          </p:cNvSpPr>
          <p:nvPr>
            <p:ph type="body" sz="quarter" idx="25"/>
          </p:nvPr>
        </p:nvSpPr>
        <p:spPr>
          <a:xfrm>
            <a:off x="4367188" y="1725652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7" name="표 외곽"/>
          <p:cNvSpPr/>
          <p:nvPr/>
        </p:nvSpPr>
        <p:spPr>
          <a:xfrm>
            <a:off x="723130" y="1977652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734087" y="1994087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94087"/>
            <a:ext cx="580696" cy="43644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27"/>
          </p:nvPr>
        </p:nvSpPr>
        <p:spPr>
          <a:xfrm>
            <a:off x="1347652" y="2016000"/>
            <a:ext cx="5648087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446967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446967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44696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6" name="머리칸"/>
          <p:cNvSpPr/>
          <p:nvPr/>
        </p:nvSpPr>
        <p:spPr>
          <a:xfrm>
            <a:off x="4171696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468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709923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274279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3129934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129934"/>
            <a:ext cx="580696" cy="46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734086" y="312993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347652" y="317376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317376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3162803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7" name="태그"/>
          <p:cNvSpPr/>
          <p:nvPr/>
        </p:nvSpPr>
        <p:spPr>
          <a:xfrm>
            <a:off x="1347652" y="3370977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3370977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37"/>
          </p:nvPr>
        </p:nvSpPr>
        <p:spPr>
          <a:xfrm>
            <a:off x="2470605" y="336002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0" name="삼각 화살표"/>
          <p:cNvSpPr/>
          <p:nvPr/>
        </p:nvSpPr>
        <p:spPr>
          <a:xfrm>
            <a:off x="4010086" y="365036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패널 외곽"/>
          <p:cNvSpPr/>
          <p:nvPr/>
        </p:nvSpPr>
        <p:spPr>
          <a:xfrm>
            <a:off x="723130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723130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723130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756000" y="4148890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845984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845984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756000" y="4378977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539391" y="4137934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1539391" y="4793510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56000" y="4804466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845984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845984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756000" y="5034553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539391" y="4793510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1539391" y="544908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56000" y="5460042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845984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845984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756000" y="5690129"/>
            <a:ext cx="739565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539391" y="5449085"/>
            <a:ext cx="2276217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897783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897783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897783" y="387497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930652" y="4148890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4017897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4017897" y="419271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930652" y="4378977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708565" y="4137934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4708565" y="4793510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930652" y="4804466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4017897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4017897" y="484829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930652" y="5034553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708565" y="4793510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708565" y="544908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930652" y="5460042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4017897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4017897" y="550386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930652" y="5690129"/>
            <a:ext cx="734087" cy="3816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708565" y="5449085"/>
            <a:ext cx="2281696" cy="655576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7 선포·상생의 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96358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26070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26070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446967"/>
            <a:ext cx="580696" cy="47936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9635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11827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1827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59315"/>
            <a:ext cx="4514087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123750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123750"/>
            <a:ext cx="1079217" cy="79710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964678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1290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1290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315287"/>
            <a:ext cx="580696" cy="71492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646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9865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9865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2221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2221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2221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2221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2221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2221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463200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463200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496070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463200"/>
            <a:ext cx="1860783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496070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4112390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4128824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128824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415073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415073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415073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415073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391781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391781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424650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9104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9487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9487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9268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8 교육체계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6204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50744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61701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1701"/>
            <a:ext cx="591652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8136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9179"/>
            <a:ext cx="2793913" cy="41453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52049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60492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1588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15885"/>
            <a:ext cx="591652" cy="27300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637798"/>
            <a:ext cx="5631652" cy="22917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954630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65586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65586"/>
            <a:ext cx="591652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82021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223064"/>
            <a:ext cx="1855304" cy="40357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686900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42055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26716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30003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300031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552031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56846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568466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59037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59037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82594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7066988"/>
            <a:ext cx="1860783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49795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49795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48699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733520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733520"/>
            <a:ext cx="580696" cy="114861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73352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75543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75543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99099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232042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26491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663009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663009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652052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986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90026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9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720880"/>
            <a:ext cx="350608" cy="142434"/>
          </a:xfrm>
          <a:custGeom>
            <a:avLst/>
            <a:gdLst/>
            <a:ahLst/>
            <a:cxnLst/>
            <a:rect l="l" t="t" r="r" b="b"/>
            <a:pathLst>
              <a:path w="350608" h="142434">
                <a:moveTo>
                  <a:pt x="0" y="0"/>
                </a:moveTo>
                <a:lnTo>
                  <a:pt x="350608" y="0"/>
                </a:lnTo>
                <a:lnTo>
                  <a:pt x="175304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934532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950967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0967"/>
            <a:ext cx="580696" cy="6774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7288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213923"/>
            <a:ext cx="2802130" cy="39261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246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644890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644890"/>
            <a:ext cx="580696" cy="101532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64489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66680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66680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66680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66680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66680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66680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66680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918803"/>
            <a:ext cx="1390109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676650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676650"/>
            <a:ext cx="580696" cy="112670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67665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69856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939607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585134"/>
            <a:ext cx="2802130" cy="19631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939607"/>
            <a:ext cx="2802130" cy="84183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972477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90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9238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10 근로환경 과제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74578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72386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72386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146091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49445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499934"/>
            <a:ext cx="525913" cy="70306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499934"/>
            <a:ext cx="525913" cy="70306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499934"/>
            <a:ext cx="1296522" cy="70306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139517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330160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331256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31256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331804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335639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646737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657694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7694"/>
            <a:ext cx="591652" cy="62179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663172"/>
            <a:ext cx="1855304" cy="61084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696042"/>
            <a:ext cx="0" cy="54510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456436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44109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444384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444384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4695840"/>
            <a:ext cx="5297478" cy="224521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4712275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712275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73418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73418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975231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5008101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5395242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5395242"/>
            <a:ext cx="580696" cy="66653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539524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541715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541715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5658198"/>
            <a:ext cx="2300870" cy="38166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5691068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078209"/>
            <a:ext cx="580696" cy="84640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6078209"/>
            <a:ext cx="580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6078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6100122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6100122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6335687"/>
            <a:ext cx="4645565" cy="56701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4712275"/>
            <a:ext cx="958696" cy="1349499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4712275"/>
            <a:ext cx="958696" cy="134949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6078209"/>
            <a:ext cx="958696" cy="84640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6078209"/>
            <a:ext cx="958696" cy="84640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11 안전·복리후생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2" name="태그칩"/>
          <p:cNvSpPr/>
          <p:nvPr/>
        </p:nvSpPr>
        <p:spPr>
          <a:xfrm>
            <a:off x="4448092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8092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9420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8" name="레일"/>
          <p:cNvSpPr/>
          <p:nvPr/>
        </p:nvSpPr>
        <p:spPr>
          <a:xfrm>
            <a:off x="547826" y="1346744"/>
            <a:ext cx="580696" cy="26204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46744"/>
            <a:ext cx="580696" cy="26204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20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368657"/>
            <a:ext cx="5648087" cy="21822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625228"/>
            <a:ext cx="580696" cy="100436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25228"/>
            <a:ext cx="580696" cy="100436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64714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4714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64714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4714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64714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4714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88184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88184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92105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88184"/>
            <a:ext cx="1860783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921054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2733683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2772031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772031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750118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38" name="형광 밑줄"/>
          <p:cNvSpPr/>
          <p:nvPr/>
        </p:nvSpPr>
        <p:spPr>
          <a:xfrm>
            <a:off x="536870" y="3499075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소제목"/>
          <p:cNvSpPr>
            <a:spLocks noGrp="1"/>
          </p:cNvSpPr>
          <p:nvPr>
            <p:ph type="body" sz="quarter" idx="35"/>
          </p:nvPr>
        </p:nvSpPr>
        <p:spPr>
          <a:xfrm>
            <a:off x="536870" y="33456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40" name="태그칩"/>
          <p:cNvSpPr/>
          <p:nvPr/>
        </p:nvSpPr>
        <p:spPr>
          <a:xfrm>
            <a:off x="4269635" y="337855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칩"/>
          <p:cNvSpPr>
            <a:spLocks noGrp="1"/>
          </p:cNvSpPr>
          <p:nvPr>
            <p:ph type="body" sz="quarter" idx="36"/>
          </p:nvPr>
        </p:nvSpPr>
        <p:spPr>
          <a:xfrm>
            <a:off x="4269635" y="337855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536870" y="3641510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536870" y="3641510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7"/>
          </p:nvPr>
        </p:nvSpPr>
        <p:spPr>
          <a:xfrm>
            <a:off x="536870" y="3641510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8"/>
          </p:nvPr>
        </p:nvSpPr>
        <p:spPr>
          <a:xfrm>
            <a:off x="558783" y="3882553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46" name="요약 바"/>
          <p:cNvSpPr/>
          <p:nvPr/>
        </p:nvSpPr>
        <p:spPr>
          <a:xfrm>
            <a:off x="558783" y="4623965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9"/>
          </p:nvPr>
        </p:nvSpPr>
        <p:spPr>
          <a:xfrm>
            <a:off x="558783" y="4623965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48" name="패널 외곽"/>
          <p:cNvSpPr/>
          <p:nvPr/>
        </p:nvSpPr>
        <p:spPr>
          <a:xfrm>
            <a:off x="2651478" y="3641510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패널 머리"/>
          <p:cNvSpPr/>
          <p:nvPr/>
        </p:nvSpPr>
        <p:spPr>
          <a:xfrm>
            <a:off x="2651478" y="3641510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패널 머리"/>
          <p:cNvSpPr>
            <a:spLocks noGrp="1"/>
          </p:cNvSpPr>
          <p:nvPr>
            <p:ph type="body" sz="quarter" idx="40"/>
          </p:nvPr>
        </p:nvSpPr>
        <p:spPr>
          <a:xfrm>
            <a:off x="2651478" y="3641510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51" name="패널 본문"/>
          <p:cNvSpPr>
            <a:spLocks noGrp="1"/>
          </p:cNvSpPr>
          <p:nvPr>
            <p:ph type="body" sz="quarter" idx="41"/>
          </p:nvPr>
        </p:nvSpPr>
        <p:spPr>
          <a:xfrm>
            <a:off x="2673391" y="3882553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52" name="요약 바"/>
          <p:cNvSpPr/>
          <p:nvPr/>
        </p:nvSpPr>
        <p:spPr>
          <a:xfrm>
            <a:off x="2673391" y="4623965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요약 바"/>
          <p:cNvSpPr>
            <a:spLocks noGrp="1"/>
          </p:cNvSpPr>
          <p:nvPr>
            <p:ph type="body" sz="quarter" idx="42"/>
          </p:nvPr>
        </p:nvSpPr>
        <p:spPr>
          <a:xfrm>
            <a:off x="2673391" y="4623965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54" name="패널 외곽"/>
          <p:cNvSpPr/>
          <p:nvPr/>
        </p:nvSpPr>
        <p:spPr>
          <a:xfrm>
            <a:off x="4766087" y="3641510"/>
            <a:ext cx="2070783" cy="1223499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패널 머리"/>
          <p:cNvSpPr/>
          <p:nvPr/>
        </p:nvSpPr>
        <p:spPr>
          <a:xfrm>
            <a:off x="4766087" y="3641510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패널 머리"/>
          <p:cNvSpPr>
            <a:spLocks noGrp="1"/>
          </p:cNvSpPr>
          <p:nvPr>
            <p:ph type="body" sz="quarter" idx="43"/>
          </p:nvPr>
        </p:nvSpPr>
        <p:spPr>
          <a:xfrm>
            <a:off x="4766087" y="3641510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57" name="패널 본문"/>
          <p:cNvSpPr>
            <a:spLocks noGrp="1"/>
          </p:cNvSpPr>
          <p:nvPr>
            <p:ph type="body" sz="quarter" idx="44"/>
          </p:nvPr>
        </p:nvSpPr>
        <p:spPr>
          <a:xfrm>
            <a:off x="4788000" y="3882553"/>
            <a:ext cx="2026957" cy="71949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58" name="요약 바"/>
          <p:cNvSpPr/>
          <p:nvPr/>
        </p:nvSpPr>
        <p:spPr>
          <a:xfrm>
            <a:off x="4788000" y="4623965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9" name="요약 바"/>
          <p:cNvSpPr>
            <a:spLocks noGrp="1"/>
          </p:cNvSpPr>
          <p:nvPr>
            <p:ph type="body" sz="quarter" idx="45"/>
          </p:nvPr>
        </p:nvSpPr>
        <p:spPr>
          <a:xfrm>
            <a:off x="4788000" y="4623965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49526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9910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9910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49690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4" name="성과 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성과 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12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3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7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6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35" name="인라인 표"/>
          <p:cNvGraphicFramePr>
            <a:graphicFrameLocks noGrp="1"/>
          </p:cNvGraphicFramePr>
          <p:nvPr/>
        </p:nvGraphicFramePr>
        <p:xfrm>
          <a:off x="1205217" y="2979297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3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" name="강조 바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0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1" name="가운데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2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0" name="강조 바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3" name="소행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소행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가운데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23" name="가운데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6" name="패널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7" name="요약 바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" name="패널 머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11" name="요약 바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" name="패널 머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" name="패널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15" name="요약 바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graphicFrame>
        <p:nvGraphicFramePr>
          <p:cNvPr id="7" name="실적표"/>
          <p:cNvGraphicFramePr>
            <a:graphicFrameLocks noGrp="1"/>
          </p:cNvGraphicFramePr>
          <p:nvPr/>
        </p:nvGraphicFramePr>
        <p:xfrm>
          <a:off x="536870" y="76695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3" name="강조 바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56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57" name="가운데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9" name="가운데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76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83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8" name="패널 머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2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7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50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2" name="패널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4" name="패널 머리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3" name="패널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66" name="레일 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8" name="패널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944379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소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6" name="배너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8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1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5146873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64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3법에 따른 출산·양육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장기재직휴가·임신검진동행휴가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국정과제에 따른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질적인 근로조건 개선 성과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노력 지속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등 생활밀착 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 관리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sp>
        <p:nvSpPr>
          <p:cNvPr id="40" name="소제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8" name="배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 및 신입 채용 시 경력가점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정원 전환 추진을 위한 노사 공동 노력 지속 합의</a:t>
            </a:r>
          </a:p>
        </p:txBody>
      </p:sp>
      <p:sp>
        <p:nvSpPr>
          <p:cNvPr id="60" name="사진 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 주간(8시간)-당직(19시간)-비번으로 월 251시간 근무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방지를 위한 노사 공동 노력 설득·소통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 후 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 → 주·야 교대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 감소에 따른 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법령에 따른 휴일수당·연장근로수당 지급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28" name="소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29" name="태그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1" name="패널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이동식 에어컨 보급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장례서비스 지원 확대(배우자상 포함)</a:t>
            </a:r>
          </a:p>
        </p:txBody>
      </p:sp>
      <p:sp>
        <p:nvSpPr>
          <p:cNvPr id="33" name="요약 바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35" name="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신설(둘째 50, 셋째 100만)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3법·임신검진동행휴가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자녀초청행사, 가족 동반 퇴임식 개최</a:t>
            </a:r>
          </a:p>
        </p:txBody>
      </p:sp>
      <p:sp>
        <p:nvSpPr>
          <p:cNvPr id="37" name="요약 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39" name="패널 머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 공사(8개소)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40년↑ 청사 안전진단·컨설팅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직무스트레스 조사 및 사후관리 실시</a:t>
            </a:r>
          </a:p>
        </p:txBody>
      </p:sp>
      <p:sp>
        <p:nvSpPr>
          <p:cNvPr id="41" name="요약 바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