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문구: 참조 지면의 구성을 요약한 것이며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문구: 참조 지면의 구성을 요약한 것이며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문구: 참조 지면의 구성을 요약한 것이며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문구: 참조 지면의 구성을 요약한 것이며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 확인용 예시 문구: 참조 지면의 구성을 요약한 것이며 KORAD 실적이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표지 바탕"/>
          <p:cNvSpPr/>
          <p:nvPr/>
        </p:nvSpPr>
        <p:spPr>
          <a:xfrm>
            <a:off x="540000" y="360000"/>
            <a:ext cx="6480000" cy="9972000"/>
          </a:xfrm>
          <a:prstGeom prst="rect">
            <a:avLst/>
          </a:prstGeom>
          <a:solidFill>
            <a:srgbClr val="E6F4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3" name="표지 일러스트" descr="표지 일러스트"/>
          <p:cNvPicPr>
            <a:picLocks noChangeAspect="1"/>
          </p:cNvPicPr>
          <p:nvPr/>
        </p:nvPicPr>
        <p:blipFill>
          <a:blip r:embed="rId2"/>
          <a:srcRect l="32472" t="0" r="0" b="0"/>
          <a:stretch>
            <a:fillRect/>
          </a:stretch>
        </p:blipFill>
        <p:spPr>
          <a:xfrm>
            <a:off x="540000" y="4932000"/>
            <a:ext cx="6480000" cy="5400000"/>
          </a:xfrm>
          <a:prstGeom prst="rect">
            <a:avLst/>
          </a:prstGeom>
        </p:spPr>
      </p:pic>
      <p:pic>
        <p:nvPicPr>
          <p:cNvPr id="4" name="KORAD CI" descr="KORAD C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" y="648000"/>
            <a:ext cx="1944000" cy="360404"/>
          </a:xfrm>
          <a:prstGeom prst="rect">
            <a:avLst/>
          </a:prstGeom>
        </p:spPr>
      </p:pic>
      <p:sp>
        <p:nvSpPr>
          <p:cNvPr id="5" name="표지 제목"/>
          <p:cNvSpPr>
            <a:spLocks noGrp="1"/>
          </p:cNvSpPr>
          <p:nvPr>
            <p:ph type="ctrTitle"/>
          </p:nvPr>
        </p:nvSpPr>
        <p:spPr>
          <a:xfrm>
            <a:off x="756000" y="2808000"/>
            <a:ext cx="6048000" cy="2016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표지 제목</a:t>
            </a:r>
          </a:p>
        </p:txBody>
      </p:sp>
      <p:sp>
        <p:nvSpPr>
          <p:cNvPr id="6" name="표지 부제"/>
          <p:cNvSpPr>
            <a:spLocks noGrp="1"/>
          </p:cNvSpPr>
          <p:nvPr>
            <p:ph type="subTitle" idx="1"/>
          </p:nvPr>
        </p:nvSpPr>
        <p:spPr>
          <a:xfrm>
            <a:off x="756000" y="4968000"/>
            <a:ext cx="6048000" cy="792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표지 부제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지면-짝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지표명"/>
          <p:cNvSpPr>
            <a:spLocks noGrp="1"/>
          </p:cNvSpPr>
          <p:nvPr>
            <p:ph type="body" sz="quarter" idx="13"/>
          </p:nvPr>
        </p:nvSpPr>
        <p:spPr>
          <a:xfrm>
            <a:off x="4857652" y="328695"/>
            <a:ext cx="2160000" cy="230400"/>
          </a:xfrm>
        </p:spPr>
        <p:txBody>
          <a:bodyPr wrap="square" lIns="0" tIns="0" rIns="0" bIns="0" anchor="b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노사관계</a:t>
            </a:r>
          </a:p>
        </p:txBody>
      </p:sp>
      <p:sp>
        <p:nvSpPr>
          <p:cNvPr id="3" name="지표명 밑줄"/>
          <p:cNvSpPr/>
          <p:nvPr/>
        </p:nvSpPr>
        <p:spPr>
          <a:xfrm>
            <a:off x="6502695" y="575217"/>
            <a:ext cx="514956" cy="108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밑줄 끝"/>
          <p:cNvSpPr/>
          <p:nvPr/>
        </p:nvSpPr>
        <p:spPr>
          <a:xfrm>
            <a:off x="6974452" y="559017"/>
            <a:ext cx="43200" cy="43200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5" name="쪽 탭 빗면"/>
          <p:cNvSpPr/>
          <p:nvPr/>
        </p:nvSpPr>
        <p:spPr>
          <a:xfrm>
            <a:off x="5204347" y="10222434"/>
            <a:ext cx="504000" cy="241043"/>
          </a:xfrm>
          <a:prstGeom prst="parallelogram">
            <a:avLst>
              <a:gd name="adj" fmla="val 70000"/>
            </a:avLst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6" name="쪽 탭"/>
          <p:cNvSpPr/>
          <p:nvPr/>
        </p:nvSpPr>
        <p:spPr>
          <a:xfrm>
            <a:off x="5420347" y="10222434"/>
            <a:ext cx="1597304" cy="241043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pic>
        <p:nvPicPr>
          <p:cNvPr id="7" name="KORAD CI" descr="KORAD 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347" y="10252855"/>
            <a:ext cx="972000" cy="180202"/>
          </a:xfrm>
          <a:prstGeom prst="rect">
            <a:avLst/>
          </a:prstGeom>
        </p:spPr>
      </p:pic>
      <p:sp>
        <p:nvSpPr>
          <p:cNvPr id="8" name="쪽번호"/>
          <p:cNvSpPr>
            <a:spLocks noGrp="1"/>
          </p:cNvSpPr>
          <p:nvPr>
            <p:ph type="body" sz="quarter" idx="14"/>
          </p:nvPr>
        </p:nvSpPr>
        <p:spPr>
          <a:xfrm>
            <a:off x="6585652" y="10222434"/>
            <a:ext cx="360000" cy="241043"/>
          </a:xfrm>
        </p:spPr>
        <p:txBody>
          <a:bodyPr wrap="square" lIns="0" tIns="0" rIns="0" bIns="0"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94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지면-홀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대분류 번호"/>
          <p:cNvSpPr>
            <a:spLocks noGrp="1"/>
          </p:cNvSpPr>
          <p:nvPr>
            <p:ph type="body" sz="quarter" idx="13"/>
          </p:nvPr>
        </p:nvSpPr>
        <p:spPr>
          <a:xfrm>
            <a:off x="536869" y="230086"/>
            <a:ext cx="468000" cy="396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400" b="1">
                <a:solidFill>
                  <a:srgbClr val="0051BC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4</a:t>
            </a:r>
          </a:p>
        </p:txBody>
      </p:sp>
      <p:sp>
        <p:nvSpPr>
          <p:cNvPr id="3" name="번호 구분선"/>
          <p:cNvSpPr/>
          <p:nvPr/>
        </p:nvSpPr>
        <p:spPr>
          <a:xfrm>
            <a:off x="821739" y="268434"/>
            <a:ext cx="10800" cy="290347"/>
          </a:xfrm>
          <a:prstGeom prst="rect">
            <a:avLst/>
          </a:prstGeom>
          <a:solidFill>
            <a:srgbClr val="008E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4" name="범주"/>
          <p:cNvSpPr>
            <a:spLocks noGrp="1"/>
          </p:cNvSpPr>
          <p:nvPr>
            <p:ph type="body" sz="quarter" idx="14"/>
          </p:nvPr>
        </p:nvSpPr>
        <p:spPr>
          <a:xfrm>
            <a:off x="909391" y="262956"/>
            <a:ext cx="3600000" cy="1800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Ⅰ. 경영관리 범주</a:t>
            </a:r>
          </a:p>
        </p:txBody>
      </p:sp>
      <p:sp>
        <p:nvSpPr>
          <p:cNvPr id="5" name="영역명"/>
          <p:cNvSpPr>
            <a:spLocks noGrp="1"/>
          </p:cNvSpPr>
          <p:nvPr>
            <p:ph type="body" sz="quarter" idx="15"/>
          </p:nvPr>
        </p:nvSpPr>
        <p:spPr>
          <a:xfrm>
            <a:off x="909391" y="442956"/>
            <a:ext cx="4320000" cy="208800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500" b="1">
                <a:solidFill>
                  <a:srgbClr val="000359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조직 운영 및 관리</a:t>
            </a:r>
          </a:p>
        </p:txBody>
      </p:sp>
      <p:sp>
        <p:nvSpPr>
          <p:cNvPr id="6" name="쪽 탭 빗면"/>
          <p:cNvSpPr/>
          <p:nvPr/>
        </p:nvSpPr>
        <p:spPr>
          <a:xfrm>
            <a:off x="2550521" y="10260782"/>
            <a:ext cx="396000" cy="164347"/>
          </a:xfrm>
          <a:prstGeom prst="parallelogram">
            <a:avLst>
              <a:gd name="adj" fmla="val 60000"/>
            </a:avLst>
          </a:prstGeom>
          <a:solidFill>
            <a:srgbClr val="BDE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7" name="쪽번호"/>
          <p:cNvSpPr>
            <a:spLocks noGrp="1"/>
          </p:cNvSpPr>
          <p:nvPr>
            <p:ph type="body" sz="quarter" idx="16"/>
          </p:nvPr>
        </p:nvSpPr>
        <p:spPr>
          <a:xfrm>
            <a:off x="536869" y="10260782"/>
            <a:ext cx="36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93</a:t>
            </a:r>
          </a:p>
        </p:txBody>
      </p:sp>
      <p:sp>
        <p:nvSpPr>
          <p:cNvPr id="8" name="쪽 구분선"/>
          <p:cNvSpPr/>
          <p:nvPr/>
        </p:nvSpPr>
        <p:spPr>
          <a:xfrm>
            <a:off x="821739" y="10282695"/>
            <a:ext cx="10800" cy="120521"/>
          </a:xfrm>
          <a:prstGeom prst="rect">
            <a:avLst/>
          </a:prstGeom>
          <a:solidFill>
            <a:srgbClr val="8D9C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/>
          </a:p>
        </p:txBody>
      </p:sp>
      <p:sp>
        <p:nvSpPr>
          <p:cNvPr id="9" name="보고서명"/>
          <p:cNvSpPr>
            <a:spLocks noGrp="1"/>
          </p:cNvSpPr>
          <p:nvPr>
            <p:ph type="body" sz="quarter" idx="17"/>
          </p:nvPr>
        </p:nvSpPr>
        <p:spPr>
          <a:xfrm>
            <a:off x="876521" y="10260782"/>
            <a:ext cx="1800000" cy="164347"/>
          </a:xfrm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>
                <a:solidFill>
                  <a:srgbClr val="5D7280"/>
                </a:solidFill>
                <a:latin typeface="Pretendard"/>
                <a:ea typeface="Pretendard"/>
              </a:defRPr>
            </a:lvl1pPr>
          </a:lstStyle>
          <a:p>
            <a:r>
              <a:rPr lang="ko-KR"/>
              <a:t>2025년도 경영실적보고서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3"/>
    <p:sldLayoutId id="2147483654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93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7" name="장 제목 띠"/>
          <p:cNvSpPr/>
          <p:nvPr/>
        </p:nvSpPr>
        <p:spPr>
          <a:xfrm>
            <a:off x="536870" y="761478"/>
            <a:ext cx="6300000" cy="421826"/>
          </a:xfrm>
          <a:prstGeom prst="rect">
            <a:avLst/>
          </a:prstGeom>
          <a:solidFill>
            <a:srgbClr val="FFFFFF"/>
          </a:solidFill>
          <a:ln w="28575">
            <a:solidFill>
              <a:srgbClr val="0051BC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I 칸"/>
          <p:cNvSpPr/>
          <p:nvPr/>
        </p:nvSpPr>
        <p:spPr>
          <a:xfrm>
            <a:off x="5401565" y="766957"/>
            <a:ext cx="1429826" cy="41087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장 제목"/>
          <p:cNvSpPr txBox="1"/>
          <p:nvPr/>
        </p:nvSpPr>
        <p:spPr>
          <a:xfrm>
            <a:off x="810783" y="772435"/>
            <a:ext cx="4590783" cy="399913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spc="-90" dirty="0">
                <a:solidFill>
                  <a:srgbClr val="000359"/>
                </a:solidFill>
                <a:latin typeface="Pretendard"/>
                <a:ea typeface="Pretendard"/>
              </a:rPr>
              <a:t>Ⅲ. 2025년도 추진실적 및 성과</a:t>
            </a:r>
          </a:p>
        </p:txBody>
      </p:sp>
      <p:pic>
        <p:nvPicPr>
          <p:cNvPr id="10" name="KORAD CI" descr="korad-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522" y="864734"/>
            <a:ext cx="1161391" cy="215314"/>
          </a:xfrm>
          <a:prstGeom prst="rect">
            <a:avLst/>
          </a:prstGeom>
        </p:spPr>
      </p:pic>
      <p:sp>
        <p:nvSpPr>
          <p:cNvPr id="11" name="평가내용 라벨"/>
          <p:cNvSpPr/>
          <p:nvPr/>
        </p:nvSpPr>
        <p:spPr>
          <a:xfrm>
            <a:off x="536870" y="1336696"/>
            <a:ext cx="975130" cy="597130"/>
          </a:xfrm>
          <a:prstGeom prst="rect">
            <a:avLst/>
          </a:prstGeom>
          <a:solidFill>
            <a:srgbClr val="DEEEFF"/>
          </a:solidFill>
          <a:ln w="28575">
            <a:solidFill>
              <a:srgbClr val="0051BC"/>
            </a:solidFill>
          </a:ln>
          <a:effectLst/>
        </p:spPr>
        <p:txBody>
          <a:bodyPr rtlCol="0" anchor="ctr" lIns="10800" rIns="108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평가내용 </a:t>
            </a:r>
            <a:r>
              <a:rPr lang="ko-KR" sz="1400" b="1" spc="-55" dirty="0">
                <a:solidFill>
                  <a:srgbClr val="0051BC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2" name="평가내용 제목 박스"/>
          <p:cNvSpPr/>
          <p:nvPr/>
        </p:nvSpPr>
        <p:spPr>
          <a:xfrm>
            <a:off x="1522957" y="1347652"/>
            <a:ext cx="5313913" cy="575217"/>
          </a:xfrm>
          <a:prstGeom prst="rect">
            <a:avLst/>
          </a:prstGeom>
          <a:solidFill>
            <a:srgbClr val="FFFFFF"/>
          </a:solidFill>
          <a:ln w="19050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평가내용 제목"/>
          <p:cNvSpPr txBox="1"/>
          <p:nvPr/>
        </p:nvSpPr>
        <p:spPr>
          <a:xfrm>
            <a:off x="1632522" y="1358609"/>
            <a:ext cx="5127652" cy="5533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노사 간 협력체계 구축과 실질적 운영 등이 상호 협력과 참여에 기반하여 합리적이고 적법하게 이루어지고 있는지 여부</a:t>
            </a:r>
          </a:p>
        </p:txBody>
      </p:sp>
      <p:sp>
        <p:nvSpPr>
          <p:cNvPr id="14" name="점"/>
          <p:cNvSpPr/>
          <p:nvPr/>
        </p:nvSpPr>
        <p:spPr>
          <a:xfrm>
            <a:off x="871043" y="1873565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점"/>
          <p:cNvSpPr/>
          <p:nvPr/>
        </p:nvSpPr>
        <p:spPr>
          <a:xfrm>
            <a:off x="947739" y="1873565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점"/>
          <p:cNvSpPr/>
          <p:nvPr/>
        </p:nvSpPr>
        <p:spPr>
          <a:xfrm>
            <a:off x="1024435" y="1873565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점"/>
          <p:cNvSpPr/>
          <p:nvPr/>
        </p:nvSpPr>
        <p:spPr>
          <a:xfrm>
            <a:off x="1101130" y="1873565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점"/>
          <p:cNvSpPr/>
          <p:nvPr/>
        </p:nvSpPr>
        <p:spPr>
          <a:xfrm>
            <a:off x="1177826" y="1873565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번호 띠"/>
          <p:cNvSpPr/>
          <p:nvPr/>
        </p:nvSpPr>
        <p:spPr>
          <a:xfrm>
            <a:off x="536870" y="2081739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번호 탭"/>
          <p:cNvSpPr/>
          <p:nvPr/>
        </p:nvSpPr>
        <p:spPr>
          <a:xfrm>
            <a:off x="558782" y="2103652"/>
            <a:ext cx="471131" cy="262956"/>
          </a:xfrm>
          <a:custGeom>
            <a:avLst/>
            <a:gdLst/>
            <a:ahLst/>
            <a:cxnLst/>
            <a:rect l="l" t="t" r="r" b="b"/>
            <a:pathLst>
              <a:path w="471131" h="262956">
                <a:moveTo>
                  <a:pt x="0" y="0"/>
                </a:moveTo>
                <a:lnTo>
                  <a:pt x="394435" y="0"/>
                </a:lnTo>
                <a:lnTo>
                  <a:pt x="471131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탭 빗면"/>
          <p:cNvSpPr/>
          <p:nvPr/>
        </p:nvSpPr>
        <p:spPr>
          <a:xfrm>
            <a:off x="953217" y="2103652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6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번호"/>
          <p:cNvSpPr txBox="1"/>
          <p:nvPr/>
        </p:nvSpPr>
        <p:spPr>
          <a:xfrm>
            <a:off x="558783" y="2081739"/>
            <a:ext cx="383478" cy="3067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23" name="번호 띠 제목"/>
          <p:cNvSpPr txBox="1"/>
          <p:nvPr/>
        </p:nvSpPr>
        <p:spPr>
          <a:xfrm>
            <a:off x="1183304" y="2103652"/>
            <a:ext cx="5587826" cy="262957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상생 협력적인 노사관계 구축과 협력체계 운영</a:t>
            </a:r>
          </a:p>
        </p:txBody>
      </p:sp>
      <p:sp>
        <p:nvSpPr>
          <p:cNvPr id="24" name="소제목"/>
          <p:cNvSpPr txBox="1"/>
          <p:nvPr/>
        </p:nvSpPr>
        <p:spPr>
          <a:xfrm>
            <a:off x="536870" y="2459739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상생 협력적 노사관계 운영 전략 수립과 과제 도출</a:t>
            </a:r>
          </a:p>
        </p:txBody>
      </p:sp>
      <p:sp>
        <p:nvSpPr>
          <p:cNvPr id="25" name="레일"/>
          <p:cNvSpPr/>
          <p:nvPr/>
        </p:nvSpPr>
        <p:spPr>
          <a:xfrm>
            <a:off x="536870" y="2739130"/>
            <a:ext cx="580696" cy="832696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26" name="레일"/>
          <p:cNvSpPr/>
          <p:nvPr/>
        </p:nvSpPr>
        <p:spPr>
          <a:xfrm>
            <a:off x="536870" y="3571826"/>
            <a:ext cx="580696" cy="630000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시사점</a:t>
            </a:r>
          </a:p>
        </p:txBody>
      </p:sp>
      <p:sp>
        <p:nvSpPr>
          <p:cNvPr id="27" name="레일 쐐기"/>
          <p:cNvSpPr/>
          <p:nvPr/>
        </p:nvSpPr>
        <p:spPr>
          <a:xfrm>
            <a:off x="536869" y="3571826"/>
            <a:ext cx="580696" cy="142434"/>
          </a:xfrm>
          <a:custGeom>
            <a:avLst/>
            <a:gdLst/>
            <a:ahLst/>
            <a:cxnLst/>
            <a:rect l="l" t="t" r="r" b="b"/>
            <a:pathLst>
              <a:path w="580696" h="142434">
                <a:moveTo>
                  <a:pt x="0" y="0"/>
                </a:moveTo>
                <a:lnTo>
                  <a:pt x="580696" y="0"/>
                </a:lnTo>
                <a:lnTo>
                  <a:pt x="290348" y="142434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레일"/>
          <p:cNvSpPr/>
          <p:nvPr/>
        </p:nvSpPr>
        <p:spPr>
          <a:xfrm>
            <a:off x="536870" y="4201826"/>
            <a:ext cx="580696" cy="673826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협력체계</a:t>
            </a:r>
          </a:p>
        </p:txBody>
      </p:sp>
      <p:sp>
        <p:nvSpPr>
          <p:cNvPr id="29" name="레일 쐐기"/>
          <p:cNvSpPr/>
          <p:nvPr/>
        </p:nvSpPr>
        <p:spPr>
          <a:xfrm>
            <a:off x="536869" y="4201826"/>
            <a:ext cx="580696" cy="142434"/>
          </a:xfrm>
          <a:custGeom>
            <a:avLst/>
            <a:gdLst/>
            <a:ahLst/>
            <a:cxnLst/>
            <a:rect l="l" t="t" r="r" b="b"/>
            <a:pathLst>
              <a:path w="580696" h="142434">
                <a:moveTo>
                  <a:pt x="0" y="0"/>
                </a:moveTo>
                <a:lnTo>
                  <a:pt x="580696" y="0"/>
                </a:lnTo>
                <a:lnTo>
                  <a:pt x="290348" y="142434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머리칸"/>
          <p:cNvSpPr/>
          <p:nvPr/>
        </p:nvSpPr>
        <p:spPr>
          <a:xfrm>
            <a:off x="1150435" y="2750087"/>
            <a:ext cx="2826783" cy="21913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31" name="머리칸"/>
          <p:cNvSpPr/>
          <p:nvPr/>
        </p:nvSpPr>
        <p:spPr>
          <a:xfrm>
            <a:off x="4004609" y="2750087"/>
            <a:ext cx="2815826" cy="21913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내부여건</a:t>
            </a:r>
          </a:p>
        </p:txBody>
      </p:sp>
      <p:sp>
        <p:nvSpPr>
          <p:cNvPr id="32" name="칸 본문"/>
          <p:cNvSpPr txBox="1"/>
          <p:nvPr/>
        </p:nvSpPr>
        <p:spPr>
          <a:xfrm>
            <a:off x="1161391" y="2980174"/>
            <a:ext cx="2821304" cy="59165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노동존중 실현, 노동기본권 보장 이행(국정과제 94)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노동조합법 개정에 따른 노사협력·역량 강화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육아지원 3법 개정 등 저출산 해결 노력 요구</a:t>
            </a:r>
          </a:p>
        </p:txBody>
      </p:sp>
      <p:sp>
        <p:nvSpPr>
          <p:cNvPr id="33" name="칸 본문"/>
          <p:cNvSpPr txBox="1"/>
          <p:nvPr/>
        </p:nvSpPr>
        <p:spPr>
          <a:xfrm>
            <a:off x="4004609" y="2980174"/>
            <a:ext cx="2821304" cy="59165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등 취약직종의 처우개선 노력 요구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연말집중 민원 등 현안해결을 위한 노사 소통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체감할 수 있는 근로환경 개선 성과 요구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993652" y="3013043"/>
            <a:ext cx="0" cy="525914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5" name="태그"/>
          <p:cNvSpPr/>
          <p:nvPr/>
        </p:nvSpPr>
        <p:spPr>
          <a:xfrm>
            <a:off x="1188783" y="3604696"/>
            <a:ext cx="1040870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노사협의체 운영</a:t>
            </a:r>
          </a:p>
        </p:txBody>
      </p:sp>
      <p:sp>
        <p:nvSpPr>
          <p:cNvPr id="36" name="태그 설명"/>
          <p:cNvSpPr txBox="1"/>
          <p:nvPr/>
        </p:nvSpPr>
        <p:spPr>
          <a:xfrm>
            <a:off x="2273478" y="3593739"/>
            <a:ext cx="4541478" cy="197217"/>
          </a:xfrm>
          <a:prstGeom prst="rect">
            <a:avLst/>
          </a:prstGeom>
          <a:noFill/>
        </p:spPr>
        <p:txBody>
          <a:bodyPr wrap="square" lIns="21600" tIns="0" rIns="1080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상생 협력적 노사관계 확산을 위한 노사협의체 운영과 내실화 추진</a:t>
            </a:r>
          </a:p>
        </p:txBody>
      </p:sp>
      <p:sp>
        <p:nvSpPr>
          <p:cNvPr id="37" name="태그"/>
          <p:cNvSpPr/>
          <p:nvPr/>
        </p:nvSpPr>
        <p:spPr>
          <a:xfrm>
            <a:off x="1188783" y="3801913"/>
            <a:ext cx="1040870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파트너십 강화</a:t>
            </a:r>
          </a:p>
        </p:txBody>
      </p:sp>
      <p:sp>
        <p:nvSpPr>
          <p:cNvPr id="38" name="태그 설명"/>
          <p:cNvSpPr txBox="1"/>
          <p:nvPr/>
        </p:nvSpPr>
        <p:spPr>
          <a:xfrm>
            <a:off x="2273478" y="3790957"/>
            <a:ext cx="4541478" cy="197217"/>
          </a:xfrm>
          <a:prstGeom prst="rect">
            <a:avLst/>
          </a:prstGeom>
          <a:noFill/>
        </p:spPr>
        <p:txBody>
          <a:bodyPr wrap="square" lIns="21600" tIns="0" rIns="1080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발전이라는 공동 목표를 수행하는 동반자로서 긍정의 노사관계 강화</a:t>
            </a:r>
          </a:p>
        </p:txBody>
      </p:sp>
      <p:sp>
        <p:nvSpPr>
          <p:cNvPr id="39" name="태그"/>
          <p:cNvSpPr/>
          <p:nvPr/>
        </p:nvSpPr>
        <p:spPr>
          <a:xfrm>
            <a:off x="1188783" y="3999130"/>
            <a:ext cx="1040870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근로환경 개선</a:t>
            </a:r>
          </a:p>
        </p:txBody>
      </p:sp>
      <p:sp>
        <p:nvSpPr>
          <p:cNvPr id="40" name="태그 설명"/>
          <p:cNvSpPr txBox="1"/>
          <p:nvPr/>
        </p:nvSpPr>
        <p:spPr>
          <a:xfrm>
            <a:off x="2273478" y="3988174"/>
            <a:ext cx="4541478" cy="197217"/>
          </a:xfrm>
          <a:prstGeom prst="rect">
            <a:avLst/>
          </a:prstGeom>
          <a:noFill/>
        </p:spPr>
        <p:txBody>
          <a:bodyPr wrap="square" lIns="21600" tIns="0" rIns="1080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근로자의 노동 존중 실현과 위한 복리후생제도 개선 등 근로환경 개선 추진</a:t>
            </a:r>
          </a:p>
        </p:txBody>
      </p:sp>
      <p:sp>
        <p:nvSpPr>
          <p:cNvPr id="41" name="단계"/>
          <p:cNvSpPr/>
          <p:nvPr/>
        </p:nvSpPr>
        <p:spPr>
          <a:xfrm>
            <a:off x="1150435" y="4229217"/>
            <a:ext cx="1895478" cy="219130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1600" rIns="1080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운영기반 마련</a:t>
            </a:r>
          </a:p>
        </p:txBody>
      </p:sp>
      <p:sp>
        <p:nvSpPr>
          <p:cNvPr id="42" name="단계"/>
          <p:cNvSpPr/>
          <p:nvPr/>
        </p:nvSpPr>
        <p:spPr>
          <a:xfrm>
            <a:off x="3045913" y="4229217"/>
            <a:ext cx="1928348" cy="219130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21600" rIns="1080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소통채널을 통한 과제설정</a:t>
            </a:r>
          </a:p>
        </p:txBody>
      </p:sp>
      <p:sp>
        <p:nvSpPr>
          <p:cNvPr id="43" name="단계"/>
          <p:cNvSpPr/>
          <p:nvPr/>
        </p:nvSpPr>
        <p:spPr>
          <a:xfrm>
            <a:off x="4974261" y="4229217"/>
            <a:ext cx="1862609" cy="219130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21600" rIns="1080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 및 성과점검</a:t>
            </a:r>
          </a:p>
        </p:txBody>
      </p:sp>
      <p:sp>
        <p:nvSpPr>
          <p:cNvPr id="44" name="단계 화살표"/>
          <p:cNvSpPr/>
          <p:nvPr/>
        </p:nvSpPr>
        <p:spPr>
          <a:xfrm>
            <a:off x="2903478" y="4229217"/>
            <a:ext cx="219130" cy="21913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51BC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45" name="단계 화살표"/>
          <p:cNvSpPr/>
          <p:nvPr/>
        </p:nvSpPr>
        <p:spPr>
          <a:xfrm>
            <a:off x="4831826" y="4229217"/>
            <a:ext cx="219130" cy="21913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51BC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46" name="칸 본문"/>
          <p:cNvSpPr txBox="1"/>
          <p:nvPr/>
        </p:nvSpPr>
        <p:spPr>
          <a:xfrm>
            <a:off x="1161391" y="4470261"/>
            <a:ext cx="1873565" cy="405391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성과지수 설문조사·분석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결과물 부재 등 요인 파악</a:t>
            </a:r>
          </a:p>
        </p:txBody>
      </p:sp>
      <p:sp>
        <p:nvSpPr>
          <p:cNvPr id="47" name="칸 본문"/>
          <p:cNvSpPr txBox="1"/>
          <p:nvPr/>
        </p:nvSpPr>
        <p:spPr>
          <a:xfrm>
            <a:off x="3056870" y="4470261"/>
            <a:ext cx="1906435" cy="405391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열린 소통으로 추진방향·과제 설정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045913" y="4503130"/>
            <a:ext cx="0" cy="33965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9" name="칸 본문"/>
          <p:cNvSpPr txBox="1"/>
          <p:nvPr/>
        </p:nvSpPr>
        <p:spPr>
          <a:xfrm>
            <a:off x="4985217" y="4470261"/>
            <a:ext cx="1840696" cy="405391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노사협력으로 과제 적극 이행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이행 점검 등 환류체계 제도화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974261" y="4503130"/>
            <a:ext cx="0" cy="33965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1" name="브래킷"/>
          <p:cNvSpPr/>
          <p:nvPr/>
        </p:nvSpPr>
        <p:spPr>
          <a:xfrm>
            <a:off x="1698261" y="4897565"/>
            <a:ext cx="4601739" cy="186261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브래킷 안"/>
          <p:cNvSpPr/>
          <p:nvPr/>
        </p:nvSpPr>
        <p:spPr>
          <a:xfrm>
            <a:off x="1742087" y="4886609"/>
            <a:ext cx="4514087" cy="1533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브래킷 막대"/>
          <p:cNvSpPr/>
          <p:nvPr/>
        </p:nvSpPr>
        <p:spPr>
          <a:xfrm>
            <a:off x="3637565" y="5029043"/>
            <a:ext cx="723130" cy="38348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브래킷 끝"/>
          <p:cNvSpPr/>
          <p:nvPr/>
        </p:nvSpPr>
        <p:spPr>
          <a:xfrm rot="10800000">
            <a:off x="3922435" y="5067391"/>
            <a:ext cx="153391" cy="82174"/>
          </a:xfrm>
          <a:prstGeom prst="triangle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라벨 박스"/>
          <p:cNvSpPr/>
          <p:nvPr/>
        </p:nvSpPr>
        <p:spPr>
          <a:xfrm>
            <a:off x="536870" y="5089304"/>
            <a:ext cx="6300000" cy="29034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레일"/>
          <p:cNvSpPr/>
          <p:nvPr/>
        </p:nvSpPr>
        <p:spPr>
          <a:xfrm>
            <a:off x="547826" y="5100261"/>
            <a:ext cx="591652" cy="268435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추진 목표</a:t>
            </a:r>
          </a:p>
        </p:txBody>
      </p:sp>
      <p:sp>
        <p:nvSpPr>
          <p:cNvPr id="57" name="추진 목표 바"/>
          <p:cNvSpPr/>
          <p:nvPr/>
        </p:nvSpPr>
        <p:spPr>
          <a:xfrm>
            <a:off x="1188783" y="5127652"/>
            <a:ext cx="5609739" cy="219130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추진 목표"/>
          <p:cNvSpPr txBox="1"/>
          <p:nvPr/>
        </p:nvSpPr>
        <p:spPr>
          <a:xfrm>
            <a:off x="1188783" y="5127652"/>
            <a:ext cx="5609739" cy="21913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존중과 신뢰를 바탕으로 한 노사 파트너십 강화와 상생 협력적인 노사관계 확산</a:t>
            </a:r>
          </a:p>
        </p:txBody>
      </p:sp>
      <p:sp>
        <p:nvSpPr>
          <p:cNvPr id="59" name="라벨 박스"/>
          <p:cNvSpPr/>
          <p:nvPr/>
        </p:nvSpPr>
        <p:spPr>
          <a:xfrm>
            <a:off x="536870" y="5434435"/>
            <a:ext cx="6300000" cy="284870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레일"/>
          <p:cNvSpPr/>
          <p:nvPr/>
        </p:nvSpPr>
        <p:spPr>
          <a:xfrm>
            <a:off x="547826" y="5445391"/>
            <a:ext cx="591652" cy="26295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추진 방향</a:t>
            </a:r>
          </a:p>
        </p:txBody>
      </p:sp>
      <p:sp>
        <p:nvSpPr>
          <p:cNvPr id="61" name="칸 본문"/>
          <p:cNvSpPr txBox="1"/>
          <p:nvPr/>
        </p:nvSpPr>
        <p:spPr>
          <a:xfrm>
            <a:off x="1161391" y="5450870"/>
            <a:ext cx="1884522" cy="252000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노사협의체 운영으로 리스크 해결</a:t>
            </a:r>
          </a:p>
        </p:txBody>
      </p:sp>
      <p:sp>
        <p:nvSpPr>
          <p:cNvPr id="62" name="칸 본문"/>
          <p:cNvSpPr txBox="1"/>
          <p:nvPr/>
        </p:nvSpPr>
        <p:spPr>
          <a:xfrm>
            <a:off x="3067826" y="5450870"/>
            <a:ext cx="1851652" cy="252000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열린 소통 및 긍정문화 조성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056870" y="5483739"/>
            <a:ext cx="0" cy="18626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4" name="칸 본문"/>
          <p:cNvSpPr txBox="1"/>
          <p:nvPr/>
        </p:nvSpPr>
        <p:spPr>
          <a:xfrm>
            <a:off x="4941391" y="5450870"/>
            <a:ext cx="1879043" cy="252000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근로환경 개선 노력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4930435" y="5483739"/>
            <a:ext cx="0" cy="18626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6" name="라벨 박스"/>
          <p:cNvSpPr/>
          <p:nvPr/>
        </p:nvSpPr>
        <p:spPr>
          <a:xfrm>
            <a:off x="536870" y="5779565"/>
            <a:ext cx="6300000" cy="635478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레일"/>
          <p:cNvSpPr/>
          <p:nvPr/>
        </p:nvSpPr>
        <p:spPr>
          <a:xfrm>
            <a:off x="547826" y="5790522"/>
            <a:ext cx="591652" cy="613565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추진과제</a:t>
            </a:r>
          </a:p>
        </p:txBody>
      </p:sp>
      <p:sp>
        <p:nvSpPr>
          <p:cNvPr id="68" name="칸 본문"/>
          <p:cNvSpPr txBox="1"/>
          <p:nvPr/>
        </p:nvSpPr>
        <p:spPr>
          <a:xfrm>
            <a:off x="1161391" y="5796000"/>
            <a:ext cx="1884522" cy="60260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노사협의체(정기·상시) 운영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 선임·현안문제 해결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적법성 자체점검 실시</a:t>
            </a:r>
          </a:p>
        </p:txBody>
      </p:sp>
      <p:sp>
        <p:nvSpPr>
          <p:cNvPr id="69" name="칸 본문"/>
          <p:cNvSpPr txBox="1"/>
          <p:nvPr/>
        </p:nvSpPr>
        <p:spPr>
          <a:xfrm>
            <a:off x="3067826" y="5796000"/>
            <a:ext cx="1851652" cy="60260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소통·협력 프로그램 확대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긍정 노사관계 구축·정착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역량강화 교육·학습협의체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056870" y="5828870"/>
            <a:ext cx="0" cy="53686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1" name="칸 본문"/>
          <p:cNvSpPr txBox="1"/>
          <p:nvPr/>
        </p:nvSpPr>
        <p:spPr>
          <a:xfrm>
            <a:off x="4941391" y="5796000"/>
            <a:ext cx="1879043" cy="60260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임금·단체협약 개정 체결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교통직·실무직 처우개선 추진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 개선 등 근로환경 개선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4930435" y="5828870"/>
            <a:ext cx="0" cy="536869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3" name="라벨 박스"/>
          <p:cNvSpPr/>
          <p:nvPr/>
        </p:nvSpPr>
        <p:spPr>
          <a:xfrm>
            <a:off x="536870" y="6475304"/>
            <a:ext cx="6300000" cy="443739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레일"/>
          <p:cNvSpPr/>
          <p:nvPr/>
        </p:nvSpPr>
        <p:spPr>
          <a:xfrm>
            <a:off x="547826" y="6486261"/>
            <a:ext cx="591652" cy="421826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소통 채널</a:t>
            </a:r>
          </a:p>
        </p:txBody>
      </p:sp>
      <p:sp>
        <p:nvSpPr>
          <p:cNvPr id="75" name="칸 본문"/>
          <p:cNvSpPr txBox="1"/>
          <p:nvPr/>
        </p:nvSpPr>
        <p:spPr>
          <a:xfrm>
            <a:off x="1161391" y="6491739"/>
            <a:ext cx="1884522" cy="410870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노사협의회·분임협의회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 라운드테이블 등</a:t>
            </a:r>
          </a:p>
        </p:txBody>
      </p:sp>
      <p:sp>
        <p:nvSpPr>
          <p:cNvPr id="76" name="칸 본문"/>
          <p:cNvSpPr txBox="1"/>
          <p:nvPr/>
        </p:nvSpPr>
        <p:spPr>
          <a:xfrm>
            <a:off x="3067826" y="6491739"/>
            <a:ext cx="1851652" cy="410870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데일리미팅·전략회의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상생의 달 행사 등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3056870" y="6524609"/>
            <a:ext cx="0" cy="3451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8" name="칸 본문"/>
          <p:cNvSpPr txBox="1"/>
          <p:nvPr/>
        </p:nvSpPr>
        <p:spPr>
          <a:xfrm>
            <a:off x="4941391" y="6491739"/>
            <a:ext cx="1879043" cy="410870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처우개선 추진단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복지개선 TF·안전위원회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930435" y="6524609"/>
            <a:ext cx="0" cy="3451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0" name="라벨 박스"/>
          <p:cNvSpPr/>
          <p:nvPr/>
        </p:nvSpPr>
        <p:spPr>
          <a:xfrm>
            <a:off x="536870" y="6979304"/>
            <a:ext cx="6300000" cy="443739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레일"/>
          <p:cNvSpPr/>
          <p:nvPr/>
        </p:nvSpPr>
        <p:spPr>
          <a:xfrm>
            <a:off x="547826" y="6990261"/>
            <a:ext cx="591652" cy="421826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성과지표</a:t>
            </a:r>
          </a:p>
        </p:txBody>
      </p:sp>
      <p:sp>
        <p:nvSpPr>
          <p:cNvPr id="82" name="칸 본문"/>
          <p:cNvSpPr txBox="1"/>
          <p:nvPr/>
        </p:nvSpPr>
        <p:spPr>
          <a:xfrm>
            <a:off x="1161391" y="6995739"/>
            <a:ext cx="1884522" cy="410870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노사협력지수 설문조사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노사협의회 안건 일치율</a:t>
            </a:r>
          </a:p>
        </p:txBody>
      </p:sp>
      <p:sp>
        <p:nvSpPr>
          <p:cNvPr id="83" name="칸 본문"/>
          <p:cNvSpPr txBox="1"/>
          <p:nvPr/>
        </p:nvSpPr>
        <p:spPr>
          <a:xfrm>
            <a:off x="3067826" y="6995739"/>
            <a:ext cx="1851652" cy="410870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노사소통지수 설문조사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노사역량지수 설문조사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3056870" y="7028609"/>
            <a:ext cx="0" cy="3451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5" name="칸 본문"/>
          <p:cNvSpPr txBox="1"/>
          <p:nvPr/>
        </p:nvSpPr>
        <p:spPr>
          <a:xfrm>
            <a:off x="4941391" y="6995739"/>
            <a:ext cx="1879043" cy="410870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근로개선지수 설문조사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복리후생만족도 설문조사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4930435" y="7028609"/>
            <a:ext cx="0" cy="34513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7" name="소제목"/>
          <p:cNvSpPr txBox="1"/>
          <p:nvPr/>
        </p:nvSpPr>
        <p:spPr>
          <a:xfrm>
            <a:off x="536870" y="7570957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노사협력체계 운영을 통한 소통·공동 대응으로 분야별 리스크 관리</a:t>
            </a:r>
          </a:p>
        </p:txBody>
      </p:sp>
      <p:sp>
        <p:nvSpPr>
          <p:cNvPr id="88" name="태그칩"/>
          <p:cNvSpPr/>
          <p:nvPr/>
        </p:nvSpPr>
        <p:spPr>
          <a:xfrm>
            <a:off x="4707817" y="7603826"/>
            <a:ext cx="606399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신규·강화</a:t>
            </a:r>
          </a:p>
        </p:txBody>
      </p:sp>
      <p:sp>
        <p:nvSpPr>
          <p:cNvPr id="89" name="패널 외곽"/>
          <p:cNvSpPr/>
          <p:nvPr/>
        </p:nvSpPr>
        <p:spPr>
          <a:xfrm>
            <a:off x="536870" y="7850348"/>
            <a:ext cx="3122609" cy="1840696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0" name="패널 머리"/>
          <p:cNvSpPr/>
          <p:nvPr/>
        </p:nvSpPr>
        <p:spPr>
          <a:xfrm>
            <a:off x="536870" y="7850348"/>
            <a:ext cx="3122609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정기협의체</a:t>
            </a:r>
          </a:p>
        </p:txBody>
      </p:sp>
      <p:sp>
        <p:nvSpPr>
          <p:cNvPr id="91" name="레일"/>
          <p:cNvSpPr/>
          <p:nvPr/>
        </p:nvSpPr>
        <p:spPr>
          <a:xfrm>
            <a:off x="569739" y="8113304"/>
            <a:ext cx="630000" cy="361565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노사협의회</a:t>
            </a:r>
          </a:p>
        </p:txBody>
      </p:sp>
      <p:sp>
        <p:nvSpPr>
          <p:cNvPr id="92" name="패널 본문"/>
          <p:cNvSpPr txBox="1"/>
          <p:nvPr/>
        </p:nvSpPr>
        <p:spPr>
          <a:xfrm>
            <a:off x="1243565" y="8102348"/>
            <a:ext cx="2383043" cy="383478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분기별 4회·24건 협의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자기개발휴직 등 매뉴얼 수립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1243565" y="8485826"/>
            <a:ext cx="2361131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4" name="레일"/>
          <p:cNvSpPr/>
          <p:nvPr/>
        </p:nvSpPr>
        <p:spPr>
          <a:xfrm>
            <a:off x="569739" y="8496783"/>
            <a:ext cx="630000" cy="372522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인사고충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심의회</a:t>
            </a:r>
          </a:p>
        </p:txBody>
      </p:sp>
      <p:sp>
        <p:nvSpPr>
          <p:cNvPr id="95" name="패널 본문"/>
          <p:cNvSpPr txBox="1"/>
          <p:nvPr/>
        </p:nvSpPr>
        <p:spPr>
          <a:xfrm>
            <a:off x="1243565" y="8485826"/>
            <a:ext cx="2383043" cy="394435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반기별 2회, 87명 심의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13명 인용, 9명 발령 조치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243565" y="8880261"/>
            <a:ext cx="2361131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7" name="레일"/>
          <p:cNvSpPr/>
          <p:nvPr/>
        </p:nvSpPr>
        <p:spPr>
          <a:xfrm>
            <a:off x="569739" y="8891217"/>
            <a:ext cx="630000" cy="367043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안전경영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위원회</a:t>
            </a:r>
          </a:p>
        </p:txBody>
      </p:sp>
      <p:sp>
        <p:nvSpPr>
          <p:cNvPr id="98" name="패널 본문"/>
          <p:cNvSpPr txBox="1"/>
          <p:nvPr/>
        </p:nvSpPr>
        <p:spPr>
          <a:xfrm>
            <a:off x="1243565" y="8880261"/>
            <a:ext cx="2383043" cy="388957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 3회·11건 협의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석면제거·정신건강 예산 확보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243565" y="9269217"/>
            <a:ext cx="2361131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00" name="레일"/>
          <p:cNvSpPr/>
          <p:nvPr/>
        </p:nvSpPr>
        <p:spPr>
          <a:xfrm>
            <a:off x="569739" y="9280174"/>
            <a:ext cx="630000" cy="372522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혁신성장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전략회의</a:t>
            </a:r>
          </a:p>
        </p:txBody>
      </p:sp>
      <p:sp>
        <p:nvSpPr>
          <p:cNvPr id="101" name="패널 본문"/>
          <p:cNvSpPr txBox="1"/>
          <p:nvPr/>
        </p:nvSpPr>
        <p:spPr>
          <a:xfrm>
            <a:off x="1243565" y="9269217"/>
            <a:ext cx="2383043" cy="394435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매주 금요일 개최(37회)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경영현황·성과공유·현안 점검</a:t>
            </a:r>
          </a:p>
        </p:txBody>
      </p:sp>
      <p:sp>
        <p:nvSpPr>
          <p:cNvPr id="102" name="패널 외곽"/>
          <p:cNvSpPr/>
          <p:nvPr/>
        </p:nvSpPr>
        <p:spPr>
          <a:xfrm>
            <a:off x="3708783" y="7850348"/>
            <a:ext cx="3128087" cy="1840696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3" name="패널 머리"/>
          <p:cNvSpPr/>
          <p:nvPr/>
        </p:nvSpPr>
        <p:spPr>
          <a:xfrm>
            <a:off x="3708783" y="7850348"/>
            <a:ext cx="3128087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상시·특별협의체</a:t>
            </a:r>
          </a:p>
        </p:txBody>
      </p:sp>
      <p:sp>
        <p:nvSpPr>
          <p:cNvPr id="104" name="레일"/>
          <p:cNvSpPr/>
          <p:nvPr/>
        </p:nvSpPr>
        <p:spPr>
          <a:xfrm>
            <a:off x="3741652" y="8113304"/>
            <a:ext cx="810783" cy="361565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처우개선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추진단</a:t>
            </a:r>
          </a:p>
        </p:txBody>
      </p:sp>
      <p:sp>
        <p:nvSpPr>
          <p:cNvPr id="105" name="패널 본문"/>
          <p:cNvSpPr txBox="1"/>
          <p:nvPr/>
        </p:nvSpPr>
        <p:spPr>
          <a:xfrm>
            <a:off x="4596261" y="8102348"/>
            <a:ext cx="2207739" cy="383478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처우개선 개최(5회)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자체성과급 신설 등 도출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4596261" y="8485826"/>
            <a:ext cx="2185826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07" name="레일"/>
          <p:cNvSpPr/>
          <p:nvPr/>
        </p:nvSpPr>
        <p:spPr>
          <a:xfrm>
            <a:off x="3741652" y="8496783"/>
            <a:ext cx="810783" cy="372522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노사공동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복지개선 TF</a:t>
            </a:r>
          </a:p>
        </p:txBody>
      </p:sp>
      <p:sp>
        <p:nvSpPr>
          <p:cNvPr id="108" name="패널 본문"/>
          <p:cNvSpPr txBox="1"/>
          <p:nvPr/>
        </p:nvSpPr>
        <p:spPr>
          <a:xfrm>
            <a:off x="4596261" y="8485826"/>
            <a:ext cx="2207739" cy="394435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 향상 개최(4회)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사택 에어컨·출산축하금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4596261" y="8880261"/>
            <a:ext cx="2185826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10" name="레일"/>
          <p:cNvSpPr/>
          <p:nvPr/>
        </p:nvSpPr>
        <p:spPr>
          <a:xfrm>
            <a:off x="3741652" y="8891217"/>
            <a:ext cx="810783" cy="367043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사내근로복지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기금 협의회</a:t>
            </a:r>
          </a:p>
        </p:txBody>
      </p:sp>
      <p:sp>
        <p:nvSpPr>
          <p:cNvPr id="111" name="패널 본문"/>
          <p:cNvSpPr txBox="1"/>
          <p:nvPr/>
        </p:nvSpPr>
        <p:spPr>
          <a:xfrm>
            <a:off x="4596261" y="8880261"/>
            <a:ext cx="2207739" cy="388957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사내기금 운용 개최(3회)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장례지원서비스 범위 확대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4596261" y="9269217"/>
            <a:ext cx="2185826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13" name="레일"/>
          <p:cNvSpPr/>
          <p:nvPr/>
        </p:nvSpPr>
        <p:spPr>
          <a:xfrm>
            <a:off x="3741652" y="9280174"/>
            <a:ext cx="810783" cy="372522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노사공동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통상임금 TF</a:t>
            </a:r>
          </a:p>
        </p:txBody>
      </p:sp>
      <p:sp>
        <p:nvSpPr>
          <p:cNvPr id="114" name="패널 본문"/>
          <p:cNvSpPr txBox="1"/>
          <p:nvPr/>
        </p:nvSpPr>
        <p:spPr>
          <a:xfrm>
            <a:off x="4596261" y="9269217"/>
            <a:ext cx="2207739" cy="394435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통상임금 TF 킥오프('25.12월)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성과급 등 리스크 집중 관리</a:t>
            </a:r>
          </a:p>
        </p:txBody>
      </p:sp>
      <p:sp>
        <p:nvSpPr>
          <p:cNvPr id="115" name="핵심성과 박스"/>
          <p:cNvSpPr/>
          <p:nvPr/>
        </p:nvSpPr>
        <p:spPr>
          <a:xfrm>
            <a:off x="536870" y="9773217"/>
            <a:ext cx="6300000" cy="301304"/>
          </a:xfrm>
          <a:prstGeom prst="rect">
            <a:avLst/>
          </a:prstGeom>
          <a:solidFill>
            <a:srgbClr val="FFFFFF"/>
          </a:solidFill>
          <a:ln w="28575">
            <a:solidFill>
              <a:srgbClr val="002060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6" name="핵심성과 라벨"/>
          <p:cNvSpPr/>
          <p:nvPr/>
        </p:nvSpPr>
        <p:spPr>
          <a:xfrm>
            <a:off x="569739" y="9811565"/>
            <a:ext cx="657391" cy="224609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117" name="핵심성과 문구"/>
          <p:cNvSpPr txBox="1"/>
          <p:nvPr/>
        </p:nvSpPr>
        <p:spPr>
          <a:xfrm>
            <a:off x="1314783" y="9789652"/>
            <a:ext cx="5456348" cy="268435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노사협력지수 전년대비 1.2점 상승(91.0 → 92.2점)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94</a:t>
            </a:r>
          </a:p>
        </p:txBody>
      </p:sp>
      <p:sp>
        <p:nvSpPr>
          <p:cNvPr id="4" name="번호 띠"/>
          <p:cNvSpPr/>
          <p:nvPr/>
        </p:nvSpPr>
        <p:spPr>
          <a:xfrm>
            <a:off x="723130" y="777913"/>
            <a:ext cx="6294522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번호 탭"/>
          <p:cNvSpPr/>
          <p:nvPr/>
        </p:nvSpPr>
        <p:spPr>
          <a:xfrm>
            <a:off x="745043" y="799826"/>
            <a:ext cx="471130" cy="262956"/>
          </a:xfrm>
          <a:custGeom>
            <a:avLst/>
            <a:gdLst/>
            <a:ahLst/>
            <a:cxnLst/>
            <a:rect l="l" t="t" r="r" b="b"/>
            <a:pathLst>
              <a:path w="471130" h="262956">
                <a:moveTo>
                  <a:pt x="0" y="0"/>
                </a:moveTo>
                <a:lnTo>
                  <a:pt x="394435" y="0"/>
                </a:lnTo>
                <a:lnTo>
                  <a:pt x="471130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번호 탭 빗면"/>
          <p:cNvSpPr/>
          <p:nvPr/>
        </p:nvSpPr>
        <p:spPr>
          <a:xfrm>
            <a:off x="1139478" y="799826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5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번호"/>
          <p:cNvSpPr txBox="1"/>
          <p:nvPr/>
        </p:nvSpPr>
        <p:spPr>
          <a:xfrm>
            <a:off x="745043" y="777913"/>
            <a:ext cx="383478" cy="3067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8" name="번호 띠 제목"/>
          <p:cNvSpPr txBox="1"/>
          <p:nvPr/>
        </p:nvSpPr>
        <p:spPr>
          <a:xfrm>
            <a:off x="1369565" y="799826"/>
            <a:ext cx="5582348" cy="262957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상호협력과 참여 기반 현안문제 해결과 합리적 노사관계 운영 성과</a:t>
            </a:r>
          </a:p>
        </p:txBody>
      </p:sp>
      <p:sp>
        <p:nvSpPr>
          <p:cNvPr id="9" name="소제목"/>
          <p:cNvSpPr txBox="1"/>
          <p:nvPr/>
        </p:nvSpPr>
        <p:spPr>
          <a:xfrm>
            <a:off x="723130" y="1188783"/>
            <a:ext cx="6294522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라운드테이블로 운전면허 적성검사 연말집중 해소</a:t>
            </a:r>
          </a:p>
        </p:txBody>
      </p:sp>
      <p:sp>
        <p:nvSpPr>
          <p:cNvPr id="10" name="태그칩"/>
          <p:cNvSpPr/>
          <p:nvPr/>
        </p:nvSpPr>
        <p:spPr>
          <a:xfrm>
            <a:off x="3955351" y="1221652"/>
            <a:ext cx="32732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B.P</a:t>
            </a:r>
          </a:p>
        </p:txBody>
      </p:sp>
      <p:sp>
        <p:nvSpPr>
          <p:cNvPr id="11" name="표 외곽"/>
          <p:cNvSpPr/>
          <p:nvPr/>
        </p:nvSpPr>
        <p:spPr>
          <a:xfrm>
            <a:off x="723130" y="1451739"/>
            <a:ext cx="4744174" cy="2120087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레일"/>
          <p:cNvSpPr/>
          <p:nvPr/>
        </p:nvSpPr>
        <p:spPr>
          <a:xfrm>
            <a:off x="723130" y="1451739"/>
            <a:ext cx="569739" cy="465652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현 황</a:t>
            </a:r>
          </a:p>
        </p:txBody>
      </p:sp>
      <p:sp>
        <p:nvSpPr>
          <p:cNvPr id="13" name="레일"/>
          <p:cNvSpPr/>
          <p:nvPr/>
        </p:nvSpPr>
        <p:spPr>
          <a:xfrm>
            <a:off x="723130" y="1939304"/>
            <a:ext cx="569739" cy="728609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이해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관계</a:t>
            </a:r>
          </a:p>
        </p:txBody>
      </p:sp>
      <p:sp>
        <p:nvSpPr>
          <p:cNvPr id="14" name="레일"/>
          <p:cNvSpPr/>
          <p:nvPr/>
        </p:nvSpPr>
        <p:spPr>
          <a:xfrm>
            <a:off x="723130" y="2684348"/>
            <a:ext cx="569739" cy="887478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노력</a:t>
            </a:r>
          </a:p>
        </p:txBody>
      </p:sp>
      <p:sp>
        <p:nvSpPr>
          <p:cNvPr id="15" name="현황"/>
          <p:cNvSpPr txBox="1"/>
          <p:nvPr/>
        </p:nvSpPr>
        <p:spPr>
          <a:xfrm>
            <a:off x="1331217" y="1468174"/>
            <a:ext cx="4108696" cy="438261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매년 운전면허 적성검사 갱신 민원인 연말집중 현상 발생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민원 집중에 따른 불가피한 초과근무 등 민원담당 직원 근로환경 저하</a:t>
            </a:r>
          </a:p>
        </p:txBody>
      </p:sp>
      <p:sp>
        <p:nvSpPr>
          <p:cNvPr id="16" name="머리칸"/>
          <p:cNvSpPr/>
          <p:nvPr/>
        </p:nvSpPr>
        <p:spPr>
          <a:xfrm>
            <a:off x="1331217" y="1955739"/>
            <a:ext cx="2037913" cy="235565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17" name="머리칸"/>
          <p:cNvSpPr/>
          <p:nvPr/>
        </p:nvSpPr>
        <p:spPr>
          <a:xfrm>
            <a:off x="3396522" y="1955739"/>
            <a:ext cx="2026957" cy="235565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18" name="칸 본문"/>
          <p:cNvSpPr txBox="1"/>
          <p:nvPr/>
        </p:nvSpPr>
        <p:spPr>
          <a:xfrm>
            <a:off x="1342174" y="2207739"/>
            <a:ext cx="2032435" cy="44373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연말집중 민원에 따른 직원 근로 저하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근본적 원인 해결 방안 모색 필요</a:t>
            </a:r>
          </a:p>
        </p:txBody>
      </p:sp>
      <p:sp>
        <p:nvSpPr>
          <p:cNvPr id="19" name="칸 본문"/>
          <p:cNvSpPr txBox="1"/>
          <p:nvPr/>
        </p:nvSpPr>
        <p:spPr>
          <a:xfrm>
            <a:off x="3396522" y="2207739"/>
            <a:ext cx="2032435" cy="44373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국민 선택에 따른 민원 집중 불가피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근본적 원인 해결 방안 모색 동의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85565" y="2240609"/>
            <a:ext cx="0" cy="37800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1" name="단계"/>
          <p:cNvSpPr/>
          <p:nvPr/>
        </p:nvSpPr>
        <p:spPr>
          <a:xfrm>
            <a:off x="1331217" y="2706261"/>
            <a:ext cx="1134000" cy="230087"/>
          </a:xfrm>
          <a:prstGeom prst="homePlate">
            <a:avLst>
              <a:gd name="adj" fmla="val 32000"/>
            </a:avLst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792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대토론회 개최</a:t>
            </a:r>
          </a:p>
        </p:txBody>
      </p:sp>
      <p:sp>
        <p:nvSpPr>
          <p:cNvPr id="22" name="단계"/>
          <p:cNvSpPr/>
          <p:nvPr/>
        </p:nvSpPr>
        <p:spPr>
          <a:xfrm>
            <a:off x="2355652" y="2706261"/>
            <a:ext cx="1106609" cy="230087"/>
          </a:xfrm>
          <a:prstGeom prst="chevron">
            <a:avLst>
              <a:gd name="adj" fmla="val 32000"/>
            </a:avLst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792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원인분석</a:t>
            </a:r>
          </a:p>
        </p:txBody>
      </p:sp>
      <p:sp>
        <p:nvSpPr>
          <p:cNvPr id="23" name="단계"/>
          <p:cNvSpPr/>
          <p:nvPr/>
        </p:nvSpPr>
        <p:spPr>
          <a:xfrm>
            <a:off x="3352696" y="2706261"/>
            <a:ext cx="1101130" cy="230087"/>
          </a:xfrm>
          <a:prstGeom prst="chevron">
            <a:avLst>
              <a:gd name="adj" fmla="val 32000"/>
            </a:avLst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792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극복노력</a:t>
            </a:r>
          </a:p>
        </p:txBody>
      </p:sp>
      <p:sp>
        <p:nvSpPr>
          <p:cNvPr id="24" name="단계"/>
          <p:cNvSpPr/>
          <p:nvPr/>
        </p:nvSpPr>
        <p:spPr>
          <a:xfrm>
            <a:off x="4344261" y="2706261"/>
            <a:ext cx="1095652" cy="230087"/>
          </a:xfrm>
          <a:prstGeom prst="chevron">
            <a:avLst>
              <a:gd name="adj" fmla="val 32000"/>
            </a:avLst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792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해결안 도출</a:t>
            </a:r>
          </a:p>
        </p:txBody>
      </p:sp>
      <p:sp>
        <p:nvSpPr>
          <p:cNvPr id="25" name="칸 본문"/>
          <p:cNvSpPr txBox="1"/>
          <p:nvPr/>
        </p:nvSpPr>
        <p:spPr>
          <a:xfrm>
            <a:off x="1342174" y="2958261"/>
            <a:ext cx="1057304" cy="597130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이사장·노조위원장 등 참여</a:t>
            </a:r>
          </a:p>
        </p:txBody>
      </p:sp>
      <p:sp>
        <p:nvSpPr>
          <p:cNvPr id="26" name="칸 본문"/>
          <p:cNvSpPr txBox="1"/>
          <p:nvPr/>
        </p:nvSpPr>
        <p:spPr>
          <a:xfrm>
            <a:off x="2421391" y="2958261"/>
            <a:ext cx="975130" cy="597130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연단위 갱신 기간 민원 집중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410435" y="2991130"/>
            <a:ext cx="0" cy="53139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8" name="칸 본문"/>
          <p:cNvSpPr txBox="1"/>
          <p:nvPr/>
        </p:nvSpPr>
        <p:spPr>
          <a:xfrm>
            <a:off x="3418435" y="2958261"/>
            <a:ext cx="969652" cy="597130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경찰청·국회와 원인해결 논의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407478" y="2991130"/>
            <a:ext cx="0" cy="53139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0" name="칸 본문"/>
          <p:cNvSpPr txBox="1"/>
          <p:nvPr/>
        </p:nvSpPr>
        <p:spPr>
          <a:xfrm>
            <a:off x="4410000" y="2958261"/>
            <a:ext cx="1018957" cy="597130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생일 전후 ±6개월 법령개정안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399043" y="2991130"/>
            <a:ext cx="0" cy="53139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2" name="브레이스"/>
          <p:cNvSpPr/>
          <p:nvPr/>
        </p:nvSpPr>
        <p:spPr>
          <a:xfrm>
            <a:off x="5494696" y="1572261"/>
            <a:ext cx="147913" cy="1944783"/>
          </a:xfrm>
          <a:prstGeom prst="rightBrace">
            <a:avLst/>
          </a:prstGeom>
          <a:noFill/>
          <a:ln w="31750">
            <a:solidFill>
              <a:srgbClr val="0051BC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성과 패널 머리"/>
          <p:cNvSpPr/>
          <p:nvPr/>
        </p:nvSpPr>
        <p:spPr>
          <a:xfrm>
            <a:off x="5653565" y="1435304"/>
            <a:ext cx="1364087" cy="241043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34" name="성과 패널"/>
          <p:cNvSpPr/>
          <p:nvPr/>
        </p:nvSpPr>
        <p:spPr>
          <a:xfrm>
            <a:off x="5653565" y="1687304"/>
            <a:ext cx="1364087" cy="1928348"/>
          </a:xfrm>
          <a:prstGeom prst="rect">
            <a:avLst/>
          </a:prstGeom>
          <a:solidFill>
            <a:srgbClr val="FFFFFF"/>
          </a:solidFill>
          <a:ln w="28575">
            <a:solidFill>
              <a:srgbClr val="0051BC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성과 패널 본문"/>
          <p:cNvSpPr txBox="1"/>
          <p:nvPr/>
        </p:nvSpPr>
        <p:spPr>
          <a:xfrm>
            <a:off x="5675478" y="1709217"/>
            <a:ext cx="1320261" cy="1884522"/>
          </a:xfrm>
          <a:prstGeom prst="rect">
            <a:avLst/>
          </a:prstGeom>
          <a:noFill/>
        </p:spPr>
        <p:txBody>
          <a:bodyPr wrap="square" lIns="54000" tIns="18000" rIns="36000" bIns="180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적성검사 기간을 생일 전후 ±6개월로 변경하는 법령안 통과('26.1.1. 시행)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연말 집중민원 해소로 직원 근로환경 향상</a:t>
            </a:r>
          </a:p>
          <a:p>
            <a:pPr marL="12600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→ 연말 방문 민원인 약 48% 감소 기대</a:t>
            </a:r>
          </a:p>
        </p:txBody>
      </p:sp>
      <p:sp>
        <p:nvSpPr>
          <p:cNvPr id="36" name="소제목"/>
          <p:cNvSpPr txBox="1"/>
          <p:nvPr/>
        </p:nvSpPr>
        <p:spPr>
          <a:xfrm>
            <a:off x="723130" y="3747130"/>
            <a:ext cx="6294522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근로자 경영참여로 협력 강화, 노동이사 추천 완료</a:t>
            </a:r>
          </a:p>
        </p:txBody>
      </p:sp>
      <p:sp>
        <p:nvSpPr>
          <p:cNvPr id="37" name="태그칩"/>
          <p:cNvSpPr/>
          <p:nvPr/>
        </p:nvSpPr>
        <p:spPr>
          <a:xfrm>
            <a:off x="3932802" y="3780000"/>
            <a:ext cx="606399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지적·개선</a:t>
            </a:r>
          </a:p>
        </p:txBody>
      </p:sp>
      <p:sp>
        <p:nvSpPr>
          <p:cNvPr id="38" name="표 외곽"/>
          <p:cNvSpPr/>
          <p:nvPr/>
        </p:nvSpPr>
        <p:spPr>
          <a:xfrm>
            <a:off x="723130" y="4037478"/>
            <a:ext cx="6294522" cy="2470696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레일"/>
          <p:cNvSpPr/>
          <p:nvPr/>
        </p:nvSpPr>
        <p:spPr>
          <a:xfrm>
            <a:off x="723130" y="4037478"/>
            <a:ext cx="569739" cy="750522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그 간의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노력</a:t>
            </a:r>
          </a:p>
        </p:txBody>
      </p:sp>
      <p:sp>
        <p:nvSpPr>
          <p:cNvPr id="40" name="레일"/>
          <p:cNvSpPr/>
          <p:nvPr/>
        </p:nvSpPr>
        <p:spPr>
          <a:xfrm>
            <a:off x="723130" y="4809913"/>
            <a:ext cx="569739" cy="734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운영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상세화</a:t>
            </a:r>
          </a:p>
        </p:txBody>
      </p:sp>
      <p:sp>
        <p:nvSpPr>
          <p:cNvPr id="41" name="레일"/>
          <p:cNvSpPr/>
          <p:nvPr/>
        </p:nvSpPr>
        <p:spPr>
          <a:xfrm>
            <a:off x="723130" y="5565913"/>
            <a:ext cx="569739" cy="942261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선임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추진</a:t>
            </a:r>
          </a:p>
        </p:txBody>
      </p:sp>
      <p:sp>
        <p:nvSpPr>
          <p:cNvPr id="42" name="머리칸"/>
          <p:cNvSpPr/>
          <p:nvPr/>
        </p:nvSpPr>
        <p:spPr>
          <a:xfrm>
            <a:off x="1331217" y="4064870"/>
            <a:ext cx="2810348" cy="235565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공감대 형성</a:t>
            </a:r>
          </a:p>
        </p:txBody>
      </p:sp>
      <p:sp>
        <p:nvSpPr>
          <p:cNvPr id="43" name="머리칸"/>
          <p:cNvSpPr/>
          <p:nvPr/>
        </p:nvSpPr>
        <p:spPr>
          <a:xfrm>
            <a:off x="4168957" y="4064870"/>
            <a:ext cx="2793913" cy="235565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노동이사제 시행을 위한 규정 수립</a:t>
            </a:r>
          </a:p>
        </p:txBody>
      </p:sp>
      <p:sp>
        <p:nvSpPr>
          <p:cNvPr id="44" name="칸 본문"/>
          <p:cNvSpPr txBox="1"/>
          <p:nvPr/>
        </p:nvSpPr>
        <p:spPr>
          <a:xfrm>
            <a:off x="1342174" y="4316870"/>
            <a:ext cx="2804870" cy="471130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사업수행에 심층적 이해를 가진 노동이사를 선임하여 노사 협력 강화 공감대 형성</a:t>
            </a:r>
          </a:p>
        </p:txBody>
      </p:sp>
      <p:sp>
        <p:nvSpPr>
          <p:cNvPr id="45" name="칸 본문"/>
          <p:cNvSpPr txBox="1"/>
          <p:nvPr/>
        </p:nvSpPr>
        <p:spPr>
          <a:xfrm>
            <a:off x="4168957" y="4316870"/>
            <a:ext cx="2799391" cy="471130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정관 제9조 '근로자 대표 추천 또는 과반수 동의를 받은 1명을 비상임이사로 포함'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158000" y="4349739"/>
            <a:ext cx="0" cy="40539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7" name="머리칸"/>
          <p:cNvSpPr/>
          <p:nvPr/>
        </p:nvSpPr>
        <p:spPr>
          <a:xfrm>
            <a:off x="1331217" y="4820870"/>
            <a:ext cx="2810348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노동이사제 시행 의지 명문화(단체협약 제60조)</a:t>
            </a:r>
          </a:p>
        </p:txBody>
      </p:sp>
      <p:sp>
        <p:nvSpPr>
          <p:cNvPr id="48" name="머리칸"/>
          <p:cNvSpPr/>
          <p:nvPr/>
        </p:nvSpPr>
        <p:spPr>
          <a:xfrm>
            <a:off x="4168957" y="4820870"/>
            <a:ext cx="2793913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노동이사 역량 강화 지원</a:t>
            </a:r>
          </a:p>
        </p:txBody>
      </p:sp>
      <p:sp>
        <p:nvSpPr>
          <p:cNvPr id="49" name="칸 본문"/>
          <p:cNvSpPr txBox="1"/>
          <p:nvPr/>
        </p:nvSpPr>
        <p:spPr>
          <a:xfrm>
            <a:off x="1342174" y="5067391"/>
            <a:ext cx="2804870" cy="46565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노동이사제의 적극 시행과 직무 수행 지원, 불이익 처분 및 대우 금지 등 조항 마련</a:t>
            </a:r>
          </a:p>
        </p:txBody>
      </p:sp>
      <p:sp>
        <p:nvSpPr>
          <p:cNvPr id="50" name="칸 본문"/>
          <p:cNvSpPr txBox="1"/>
          <p:nvPr/>
        </p:nvSpPr>
        <p:spPr>
          <a:xfrm>
            <a:off x="4168957" y="5067391"/>
            <a:ext cx="2799391" cy="46565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 선임 시 업무수행·역량강화를 위한 교육과정 지원 및 소통채널 운영 협의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158000" y="5100261"/>
            <a:ext cx="0" cy="39991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2" name="단계"/>
          <p:cNvSpPr/>
          <p:nvPr/>
        </p:nvSpPr>
        <p:spPr>
          <a:xfrm>
            <a:off x="1331217" y="5576870"/>
            <a:ext cx="1407913" cy="230087"/>
          </a:xfrm>
          <a:prstGeom prst="homePlate">
            <a:avLst>
              <a:gd name="adj" fmla="val 32000"/>
            </a:avLst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792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추천위원회 구성</a:t>
            </a:r>
          </a:p>
        </p:txBody>
      </p:sp>
      <p:sp>
        <p:nvSpPr>
          <p:cNvPr id="53" name="단계"/>
          <p:cNvSpPr/>
          <p:nvPr/>
        </p:nvSpPr>
        <p:spPr>
          <a:xfrm>
            <a:off x="2629565" y="5576870"/>
            <a:ext cx="1506522" cy="230087"/>
          </a:xfrm>
          <a:prstGeom prst="chevron">
            <a:avLst>
              <a:gd name="adj" fmla="val 32000"/>
            </a:avLst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792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후보자 추천</a:t>
            </a:r>
          </a:p>
        </p:txBody>
      </p:sp>
      <p:sp>
        <p:nvSpPr>
          <p:cNvPr id="54" name="단계"/>
          <p:cNvSpPr/>
          <p:nvPr/>
        </p:nvSpPr>
        <p:spPr>
          <a:xfrm>
            <a:off x="4026522" y="5576870"/>
            <a:ext cx="1561304" cy="230087"/>
          </a:xfrm>
          <a:prstGeom prst="chevron">
            <a:avLst>
              <a:gd name="adj" fmla="val 32000"/>
            </a:avLst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792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추천위원회 심사</a:t>
            </a:r>
          </a:p>
        </p:txBody>
      </p:sp>
      <p:sp>
        <p:nvSpPr>
          <p:cNvPr id="55" name="단계"/>
          <p:cNvSpPr/>
          <p:nvPr/>
        </p:nvSpPr>
        <p:spPr>
          <a:xfrm>
            <a:off x="5478261" y="5576870"/>
            <a:ext cx="1501043" cy="230087"/>
          </a:xfrm>
          <a:prstGeom prst="chevron">
            <a:avLst>
              <a:gd name="adj" fmla="val 32000"/>
            </a:avLst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792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노동이사 임명</a:t>
            </a:r>
          </a:p>
        </p:txBody>
      </p:sp>
      <p:sp>
        <p:nvSpPr>
          <p:cNvPr id="56" name="칸 본문"/>
          <p:cNvSpPr txBox="1"/>
          <p:nvPr/>
        </p:nvSpPr>
        <p:spPr>
          <a:xfrm>
            <a:off x="1342174" y="5828870"/>
            <a:ext cx="1287391" cy="662870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 추천 공모를 위한 추진위원회 구성('25.11.25.)</a:t>
            </a:r>
          </a:p>
        </p:txBody>
      </p:sp>
      <p:sp>
        <p:nvSpPr>
          <p:cNvPr id="57" name="칸 본문"/>
          <p:cNvSpPr txBox="1"/>
          <p:nvPr/>
        </p:nvSpPr>
        <p:spPr>
          <a:xfrm>
            <a:off x="2651478" y="5828870"/>
            <a:ext cx="1418870" cy="662870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노동조합→노동이사 적합 후보자 추천 완료('26.1.5.)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640522" y="5861739"/>
            <a:ext cx="0" cy="59713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9" name="칸 본문"/>
          <p:cNvSpPr txBox="1"/>
          <p:nvPr/>
        </p:nvSpPr>
        <p:spPr>
          <a:xfrm>
            <a:off x="4092261" y="5828870"/>
            <a:ext cx="1429826" cy="662870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노동이사 후보자에 대한 추진위원회 심사 실시('26.1.13.)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081304" y="5861739"/>
            <a:ext cx="0" cy="59713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1" name="칸 본문"/>
          <p:cNvSpPr txBox="1"/>
          <p:nvPr/>
        </p:nvSpPr>
        <p:spPr>
          <a:xfrm>
            <a:off x="5544000" y="5828870"/>
            <a:ext cx="1424348" cy="662870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최종 추천 후보자에 대한 경찰청장 임명('26. 상반기)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533043" y="5861739"/>
            <a:ext cx="0" cy="59713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3" name="추진성과 라벨"/>
          <p:cNvSpPr/>
          <p:nvPr/>
        </p:nvSpPr>
        <p:spPr>
          <a:xfrm>
            <a:off x="723130" y="6573913"/>
            <a:ext cx="569739" cy="257478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64" name="추진성과 박스"/>
          <p:cNvSpPr/>
          <p:nvPr/>
        </p:nvSpPr>
        <p:spPr>
          <a:xfrm>
            <a:off x="1303826" y="6573913"/>
            <a:ext cx="5713826" cy="257478"/>
          </a:xfrm>
          <a:prstGeom prst="rect">
            <a:avLst/>
          </a:prstGeom>
          <a:solidFill>
            <a:srgbClr val="FFFFFF"/>
          </a:solidFill>
          <a:ln w="19050">
            <a:solidFill>
              <a:srgbClr val="0051BC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추진성과 문구"/>
          <p:cNvSpPr txBox="1"/>
          <p:nvPr/>
        </p:nvSpPr>
        <p:spPr>
          <a:xfrm>
            <a:off x="1380522" y="6584870"/>
            <a:ext cx="5604261" cy="235565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상호 협력·소통으로 3여 년 만에 노동이사 추천 완료('26. 상반기 선임 예정)</a:t>
            </a:r>
          </a:p>
        </p:txBody>
      </p:sp>
      <p:sp>
        <p:nvSpPr>
          <p:cNvPr id="66" name="소제목"/>
          <p:cNvSpPr txBox="1"/>
          <p:nvPr/>
        </p:nvSpPr>
        <p:spPr>
          <a:xfrm>
            <a:off x="723130" y="6979304"/>
            <a:ext cx="6294522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다. 노동관계 법령·지침 100% 준수한 노사관계 제도 운영</a:t>
            </a:r>
          </a:p>
        </p:txBody>
      </p:sp>
      <p:sp>
        <p:nvSpPr>
          <p:cNvPr id="67" name="태그칩"/>
          <p:cNvSpPr/>
          <p:nvPr/>
        </p:nvSpPr>
        <p:spPr>
          <a:xfrm>
            <a:off x="4224152" y="7012174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강화</a:t>
            </a:r>
          </a:p>
        </p:txBody>
      </p:sp>
      <p:sp>
        <p:nvSpPr>
          <p:cNvPr id="68" name="라벨 박스"/>
          <p:cNvSpPr/>
          <p:nvPr/>
        </p:nvSpPr>
        <p:spPr>
          <a:xfrm>
            <a:off x="723130" y="7253217"/>
            <a:ext cx="6294522" cy="301304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레일"/>
          <p:cNvSpPr/>
          <p:nvPr/>
        </p:nvSpPr>
        <p:spPr>
          <a:xfrm>
            <a:off x="734087" y="7264174"/>
            <a:ext cx="624522" cy="279391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추진배경</a:t>
            </a:r>
          </a:p>
        </p:txBody>
      </p:sp>
      <p:sp>
        <p:nvSpPr>
          <p:cNvPr id="70" name="추진배경"/>
          <p:cNvSpPr txBox="1"/>
          <p:nvPr/>
        </p:nvSpPr>
        <p:spPr>
          <a:xfrm>
            <a:off x="1413391" y="7264174"/>
            <a:ext cx="5571391" cy="279391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법과 원칙 기반 노사관계 제도 운영의 연속성 확보를 위한 관련 법률·지침 적법성 점검</a:t>
            </a:r>
          </a:p>
        </p:txBody>
      </p:sp>
      <p:sp>
        <p:nvSpPr>
          <p:cNvPr id="71" name="라벨 박스"/>
          <p:cNvSpPr/>
          <p:nvPr/>
        </p:nvSpPr>
        <p:spPr>
          <a:xfrm>
            <a:off x="723130" y="7631217"/>
            <a:ext cx="6294522" cy="306783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레일"/>
          <p:cNvSpPr/>
          <p:nvPr/>
        </p:nvSpPr>
        <p:spPr>
          <a:xfrm>
            <a:off x="734087" y="7642174"/>
            <a:ext cx="591652" cy="284870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점검방법</a:t>
            </a:r>
          </a:p>
        </p:txBody>
      </p:sp>
      <p:sp>
        <p:nvSpPr>
          <p:cNvPr id="73" name="점검방법"/>
          <p:cNvSpPr txBox="1"/>
          <p:nvPr/>
        </p:nvSpPr>
        <p:spPr>
          <a:xfrm>
            <a:off x="1347652" y="7642174"/>
            <a:ext cx="5637130" cy="28487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전담 노무법인 및 사내 법무팀을 활용한 노사관계 운영 적법성 자체점검 실시*</a:t>
            </a:r>
          </a:p>
        </p:txBody>
      </p:sp>
      <p:sp>
        <p:nvSpPr>
          <p:cNvPr id="74" name="주석"/>
          <p:cNvSpPr txBox="1"/>
          <p:nvPr/>
        </p:nvSpPr>
        <p:spPr>
          <a:xfrm>
            <a:off x="2081739" y="7954435"/>
            <a:ext cx="4903043" cy="19173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3B4951"/>
                </a:solidFill>
                <a:latin typeface="Pretendard"/>
                <a:ea typeface="Pretendard"/>
              </a:rPr>
              <a:t>* 인적자원개발 우수기관 지정에 따른 근로감독 정기점검 면제('24~'27)</a:t>
            </a:r>
          </a:p>
        </p:txBody>
      </p:sp>
      <p:sp>
        <p:nvSpPr>
          <p:cNvPr id="75" name="라벨 박스"/>
          <p:cNvSpPr/>
          <p:nvPr/>
        </p:nvSpPr>
        <p:spPr>
          <a:xfrm>
            <a:off x="723130" y="8173565"/>
            <a:ext cx="6294522" cy="745043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레일"/>
          <p:cNvSpPr/>
          <p:nvPr/>
        </p:nvSpPr>
        <p:spPr>
          <a:xfrm>
            <a:off x="734087" y="8184522"/>
            <a:ext cx="591652" cy="723130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점검항목</a:t>
            </a:r>
          </a:p>
        </p:txBody>
      </p:sp>
      <p:sp>
        <p:nvSpPr>
          <p:cNvPr id="77" name="머리칸"/>
          <p:cNvSpPr/>
          <p:nvPr/>
        </p:nvSpPr>
        <p:spPr>
          <a:xfrm>
            <a:off x="1369565" y="8200957"/>
            <a:ext cx="1857130" cy="246522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 및 노동관계조정법</a:t>
            </a:r>
          </a:p>
        </p:txBody>
      </p:sp>
      <p:sp>
        <p:nvSpPr>
          <p:cNvPr id="78" name="머리칸"/>
          <p:cNvSpPr/>
          <p:nvPr/>
        </p:nvSpPr>
        <p:spPr>
          <a:xfrm>
            <a:off x="3254087" y="8200957"/>
            <a:ext cx="1851652" cy="246522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근로자참여·협력증진법</a:t>
            </a:r>
          </a:p>
        </p:txBody>
      </p:sp>
      <p:sp>
        <p:nvSpPr>
          <p:cNvPr id="79" name="머리칸"/>
          <p:cNvSpPr/>
          <p:nvPr/>
        </p:nvSpPr>
        <p:spPr>
          <a:xfrm>
            <a:off x="5133130" y="8200957"/>
            <a:ext cx="1835217" cy="246522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혁신지침·예산운용지침</a:t>
            </a:r>
          </a:p>
        </p:txBody>
      </p:sp>
      <p:sp>
        <p:nvSpPr>
          <p:cNvPr id="80" name="칸 본문"/>
          <p:cNvSpPr txBox="1"/>
          <p:nvPr/>
        </p:nvSpPr>
        <p:spPr>
          <a:xfrm>
            <a:off x="1380522" y="8469391"/>
            <a:ext cx="1851652" cy="427304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근로시간면제자 제도 운영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단체협약 범위 및 단일화 적법성</a:t>
            </a:r>
          </a:p>
        </p:txBody>
      </p:sp>
      <p:sp>
        <p:nvSpPr>
          <p:cNvPr id="81" name="칸 본문"/>
          <p:cNvSpPr txBox="1"/>
          <p:nvPr/>
        </p:nvSpPr>
        <p:spPr>
          <a:xfrm>
            <a:off x="3254087" y="8469391"/>
            <a:ext cx="1857130" cy="427304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노사협의회 구성·운영 적법성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협의회 규정·회의록 작성·비치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243130" y="8502261"/>
            <a:ext cx="0" cy="36156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3" name="칸 본문"/>
          <p:cNvSpPr txBox="1"/>
          <p:nvPr/>
        </p:nvSpPr>
        <p:spPr>
          <a:xfrm>
            <a:off x="5133130" y="8469391"/>
            <a:ext cx="1840696" cy="427304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관련 지침에 따른 복리후생제도 운영의 적법성 여부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5122174" y="8502261"/>
            <a:ext cx="0" cy="36156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5" name="라벨 박스"/>
          <p:cNvSpPr/>
          <p:nvPr/>
        </p:nvSpPr>
        <p:spPr>
          <a:xfrm>
            <a:off x="723130" y="8995304"/>
            <a:ext cx="6294522" cy="498522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6" name="레일"/>
          <p:cNvSpPr/>
          <p:nvPr/>
        </p:nvSpPr>
        <p:spPr>
          <a:xfrm>
            <a:off x="734087" y="9006261"/>
            <a:ext cx="591652" cy="476609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점검결과</a:t>
            </a:r>
          </a:p>
        </p:txBody>
      </p:sp>
      <p:sp>
        <p:nvSpPr>
          <p:cNvPr id="87" name="칸 본문"/>
          <p:cNvSpPr txBox="1"/>
          <p:nvPr/>
        </p:nvSpPr>
        <p:spPr>
          <a:xfrm>
            <a:off x="1380522" y="9011739"/>
            <a:ext cx="1851652" cy="46565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면제시간 법정범위 내 부여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단체교섭 단일화 절차 준수</a:t>
            </a:r>
          </a:p>
        </p:txBody>
      </p:sp>
      <p:sp>
        <p:nvSpPr>
          <p:cNvPr id="88" name="칸 본문"/>
          <p:cNvSpPr txBox="1"/>
          <p:nvPr/>
        </p:nvSpPr>
        <p:spPr>
          <a:xfrm>
            <a:off x="3254087" y="9011739"/>
            <a:ext cx="1857130" cy="46565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각 8인, 분기별 개최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규정 제출·회의록 공시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3243130" y="9044609"/>
            <a:ext cx="0" cy="39991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0" name="칸 본문"/>
          <p:cNvSpPr txBox="1"/>
          <p:nvPr/>
        </p:nvSpPr>
        <p:spPr>
          <a:xfrm>
            <a:off x="5133130" y="9011739"/>
            <a:ext cx="1840696" cy="465652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복리후생제도 점검 체크리스트 60개 항목 → 100% 준수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5122174" y="9044609"/>
            <a:ext cx="0" cy="39991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2" name="핵심성과 박스"/>
          <p:cNvSpPr/>
          <p:nvPr/>
        </p:nvSpPr>
        <p:spPr>
          <a:xfrm>
            <a:off x="723130" y="9581478"/>
            <a:ext cx="6294522" cy="482087"/>
          </a:xfrm>
          <a:prstGeom prst="rect">
            <a:avLst/>
          </a:prstGeom>
          <a:solidFill>
            <a:srgbClr val="FFFFFF"/>
          </a:solidFill>
          <a:ln w="28575">
            <a:solidFill>
              <a:srgbClr val="002060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3" name="핵심성과 라벨"/>
          <p:cNvSpPr/>
          <p:nvPr/>
        </p:nvSpPr>
        <p:spPr>
          <a:xfrm>
            <a:off x="756000" y="9614348"/>
            <a:ext cx="657391" cy="4163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94" name="핵심성과 문구"/>
          <p:cNvSpPr txBox="1"/>
          <p:nvPr/>
        </p:nvSpPr>
        <p:spPr>
          <a:xfrm>
            <a:off x="1501043" y="9603391"/>
            <a:ext cx="5450870" cy="438261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 간 적극 협력으로 적성검사 갱신 연말집중 해소 및 노동이사 선임 등 현안문제 해결</a:t>
            </a:r>
          </a:p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노동관계 법령·정부지침 100% 준수 등 법과 원칙에 기반한 노사관계 제도 운영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95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7" name="평가내용 라벨"/>
          <p:cNvSpPr/>
          <p:nvPr/>
        </p:nvSpPr>
        <p:spPr>
          <a:xfrm>
            <a:off x="536870" y="766957"/>
            <a:ext cx="975130" cy="345130"/>
          </a:xfrm>
          <a:prstGeom prst="rect">
            <a:avLst/>
          </a:prstGeom>
          <a:solidFill>
            <a:srgbClr val="DEEEFF"/>
          </a:solidFill>
          <a:ln w="28575">
            <a:solidFill>
              <a:srgbClr val="0051BC"/>
            </a:solidFill>
          </a:ln>
          <a:effectLst/>
        </p:spPr>
        <p:txBody>
          <a:bodyPr rtlCol="0" anchor="ctr" lIns="10800" rIns="108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평가내용 </a:t>
            </a:r>
            <a:r>
              <a:rPr lang="ko-KR" sz="1400" b="1" spc="-55" dirty="0">
                <a:solidFill>
                  <a:srgbClr val="0051BC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8" name="평가내용 제목 박스"/>
          <p:cNvSpPr/>
          <p:nvPr/>
        </p:nvSpPr>
        <p:spPr>
          <a:xfrm>
            <a:off x="1522957" y="777913"/>
            <a:ext cx="5313913" cy="323217"/>
          </a:xfrm>
          <a:prstGeom prst="rect">
            <a:avLst/>
          </a:prstGeom>
          <a:solidFill>
            <a:srgbClr val="FFFFFF"/>
          </a:solidFill>
          <a:ln w="19050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평가내용 제목"/>
          <p:cNvSpPr txBox="1"/>
          <p:nvPr/>
        </p:nvSpPr>
        <p:spPr>
          <a:xfrm>
            <a:off x="1632522" y="788870"/>
            <a:ext cx="5127652" cy="3013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노사 공감대 형성을 위한 의사소통과 노사관계 관리 역량 강화 노력과 성과</a:t>
            </a:r>
          </a:p>
        </p:txBody>
      </p:sp>
      <p:sp>
        <p:nvSpPr>
          <p:cNvPr id="10" name="점"/>
          <p:cNvSpPr/>
          <p:nvPr/>
        </p:nvSpPr>
        <p:spPr>
          <a:xfrm>
            <a:off x="871043" y="1051826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점"/>
          <p:cNvSpPr/>
          <p:nvPr/>
        </p:nvSpPr>
        <p:spPr>
          <a:xfrm>
            <a:off x="947739" y="1051826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점"/>
          <p:cNvSpPr/>
          <p:nvPr/>
        </p:nvSpPr>
        <p:spPr>
          <a:xfrm>
            <a:off x="1024435" y="1051826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점"/>
          <p:cNvSpPr/>
          <p:nvPr/>
        </p:nvSpPr>
        <p:spPr>
          <a:xfrm>
            <a:off x="1101130" y="1051826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점"/>
          <p:cNvSpPr/>
          <p:nvPr/>
        </p:nvSpPr>
        <p:spPr>
          <a:xfrm>
            <a:off x="1177826" y="1051826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번호 띠"/>
          <p:cNvSpPr/>
          <p:nvPr/>
        </p:nvSpPr>
        <p:spPr>
          <a:xfrm>
            <a:off x="536870" y="1260000"/>
            <a:ext cx="6300000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번호 탭"/>
          <p:cNvSpPr/>
          <p:nvPr/>
        </p:nvSpPr>
        <p:spPr>
          <a:xfrm>
            <a:off x="558782" y="1281913"/>
            <a:ext cx="471131" cy="262956"/>
          </a:xfrm>
          <a:custGeom>
            <a:avLst/>
            <a:gdLst/>
            <a:ahLst/>
            <a:cxnLst/>
            <a:rect l="l" t="t" r="r" b="b"/>
            <a:pathLst>
              <a:path w="471131" h="262956">
                <a:moveTo>
                  <a:pt x="0" y="0"/>
                </a:moveTo>
                <a:lnTo>
                  <a:pt x="394435" y="0"/>
                </a:lnTo>
                <a:lnTo>
                  <a:pt x="471131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탭 빗면"/>
          <p:cNvSpPr/>
          <p:nvPr/>
        </p:nvSpPr>
        <p:spPr>
          <a:xfrm>
            <a:off x="953217" y="1281913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6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번호"/>
          <p:cNvSpPr txBox="1"/>
          <p:nvPr/>
        </p:nvSpPr>
        <p:spPr>
          <a:xfrm>
            <a:off x="558783" y="1260000"/>
            <a:ext cx="383478" cy="3067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9" name="번호 띠 제목"/>
          <p:cNvSpPr txBox="1"/>
          <p:nvPr/>
        </p:nvSpPr>
        <p:spPr>
          <a:xfrm>
            <a:off x="1183304" y="1281913"/>
            <a:ext cx="5587826" cy="262957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열린 소통과 긍정문화 조성에 기반한 상생 협력적 노사관계 운영</a:t>
            </a:r>
          </a:p>
        </p:txBody>
      </p:sp>
      <p:sp>
        <p:nvSpPr>
          <p:cNvPr id="20" name="소제목"/>
          <p:cNvSpPr txBox="1"/>
          <p:nvPr/>
        </p:nvSpPr>
        <p:spPr>
          <a:xfrm>
            <a:off x="536870" y="1627043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공감대 형성 기반 열린 소통채널 운영·긍정 조직문화 조성</a:t>
            </a:r>
          </a:p>
        </p:txBody>
      </p:sp>
      <p:sp>
        <p:nvSpPr>
          <p:cNvPr id="21" name="태그칩"/>
          <p:cNvSpPr/>
          <p:nvPr/>
        </p:nvSpPr>
        <p:spPr>
          <a:xfrm>
            <a:off x="4180927" y="1659913"/>
            <a:ext cx="606399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지적·개선</a:t>
            </a:r>
          </a:p>
        </p:txBody>
      </p:sp>
      <p:sp>
        <p:nvSpPr>
          <p:cNvPr id="22" name="표 윗선"/>
          <p:cNvSpPr/>
          <p:nvPr/>
        </p:nvSpPr>
        <p:spPr>
          <a:xfrm>
            <a:off x="536870" y="1933826"/>
            <a:ext cx="6300000" cy="16435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레일"/>
          <p:cNvSpPr/>
          <p:nvPr/>
        </p:nvSpPr>
        <p:spPr>
          <a:xfrm>
            <a:off x="536870" y="1950261"/>
            <a:ext cx="580696" cy="47113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수준진단</a:t>
            </a:r>
          </a:p>
        </p:txBody>
      </p:sp>
      <p:sp>
        <p:nvSpPr>
          <p:cNvPr id="24" name="레일"/>
          <p:cNvSpPr/>
          <p:nvPr/>
        </p:nvSpPr>
        <p:spPr>
          <a:xfrm>
            <a:off x="536870" y="2421391"/>
            <a:ext cx="580696" cy="602609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공감대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형성</a:t>
            </a:r>
          </a:p>
        </p:txBody>
      </p:sp>
      <p:sp>
        <p:nvSpPr>
          <p:cNvPr id="25" name="레일 쐐기"/>
          <p:cNvSpPr/>
          <p:nvPr/>
        </p:nvSpPr>
        <p:spPr>
          <a:xfrm>
            <a:off x="536869" y="2421391"/>
            <a:ext cx="580696" cy="142435"/>
          </a:xfrm>
          <a:custGeom>
            <a:avLst/>
            <a:gdLst/>
            <a:ahLst/>
            <a:cxnLst/>
            <a:rect l="l" t="t" r="r" b="b"/>
            <a:pathLst>
              <a:path w="580696" h="142435">
                <a:moveTo>
                  <a:pt x="0" y="0"/>
                </a:moveTo>
                <a:lnTo>
                  <a:pt x="580696" y="0"/>
                </a:lnTo>
                <a:lnTo>
                  <a:pt x="290348" y="142435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레일"/>
          <p:cNvSpPr/>
          <p:nvPr/>
        </p:nvSpPr>
        <p:spPr>
          <a:xfrm>
            <a:off x="536870" y="3024000"/>
            <a:ext cx="580696" cy="438261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시사점</a:t>
            </a:r>
          </a:p>
        </p:txBody>
      </p:sp>
      <p:sp>
        <p:nvSpPr>
          <p:cNvPr id="27" name="레일 쐐기"/>
          <p:cNvSpPr/>
          <p:nvPr/>
        </p:nvSpPr>
        <p:spPr>
          <a:xfrm>
            <a:off x="536869" y="3024000"/>
            <a:ext cx="580696" cy="142434"/>
          </a:xfrm>
          <a:custGeom>
            <a:avLst/>
            <a:gdLst/>
            <a:ahLst/>
            <a:cxnLst/>
            <a:rect l="l" t="t" r="r" b="b"/>
            <a:pathLst>
              <a:path w="580696" h="142434">
                <a:moveTo>
                  <a:pt x="0" y="0"/>
                </a:moveTo>
                <a:lnTo>
                  <a:pt x="580696" y="0"/>
                </a:lnTo>
                <a:lnTo>
                  <a:pt x="290348" y="142434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수준진단"/>
          <p:cNvSpPr txBox="1"/>
          <p:nvPr/>
        </p:nvSpPr>
        <p:spPr>
          <a:xfrm>
            <a:off x="1161391" y="1961217"/>
            <a:ext cx="5653565" cy="416348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기존 형식적이고 무거운 분위기의 소통채널 운영에 따른 직원 참여율 저하 및 소통 활성화 추진 한계</a:t>
            </a:r>
          </a:p>
          <a:p>
            <a:pPr marL="12600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→ 노사소통지수 타 지수 대비 저조(3년 평균 소통지수 87.3 ↔ 기타지수 88.7점)</a:t>
            </a:r>
          </a:p>
        </p:txBody>
      </p:sp>
      <p:sp>
        <p:nvSpPr>
          <p:cNvPr id="29" name="머리칸"/>
          <p:cNvSpPr/>
          <p:nvPr/>
        </p:nvSpPr>
        <p:spPr>
          <a:xfrm>
            <a:off x="1150435" y="2383043"/>
            <a:ext cx="2826783" cy="202696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이사장</a:t>
            </a:r>
          </a:p>
        </p:txBody>
      </p:sp>
      <p:sp>
        <p:nvSpPr>
          <p:cNvPr id="30" name="머리칸"/>
          <p:cNvSpPr/>
          <p:nvPr/>
        </p:nvSpPr>
        <p:spPr>
          <a:xfrm>
            <a:off x="4004609" y="2383043"/>
            <a:ext cx="2815826" cy="202696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위원장</a:t>
            </a:r>
          </a:p>
        </p:txBody>
      </p:sp>
      <p:sp>
        <p:nvSpPr>
          <p:cNvPr id="31" name="칸 본문"/>
          <p:cNvSpPr txBox="1"/>
          <p:nvPr/>
        </p:nvSpPr>
        <p:spPr>
          <a:xfrm>
            <a:off x="1161391" y="2596696"/>
            <a:ext cx="2821304" cy="410870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“현안 발생 시 노사가 수시로 소통해 해결하고 서로 존중·협력하겠다.”(대의원대회)</a:t>
            </a:r>
          </a:p>
        </p:txBody>
      </p:sp>
      <p:sp>
        <p:nvSpPr>
          <p:cNvPr id="32" name="칸 본문"/>
          <p:cNvSpPr txBox="1"/>
          <p:nvPr/>
        </p:nvSpPr>
        <p:spPr>
          <a:xfrm>
            <a:off x="4004609" y="2596696"/>
            <a:ext cx="2821304" cy="410870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“긍정의 조직문화를 함께 만들고 현안을 풀어가겠다.”(노사협의회·대의원대회)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993652" y="2629565"/>
            <a:ext cx="0" cy="345131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4" name="태그"/>
          <p:cNvSpPr/>
          <p:nvPr/>
        </p:nvSpPr>
        <p:spPr>
          <a:xfrm>
            <a:off x="1188783" y="3051391"/>
            <a:ext cx="1177826" cy="18078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열린 소통채널 운영</a:t>
            </a:r>
          </a:p>
        </p:txBody>
      </p:sp>
      <p:sp>
        <p:nvSpPr>
          <p:cNvPr id="35" name="태그 설명"/>
          <p:cNvSpPr txBox="1"/>
          <p:nvPr/>
        </p:nvSpPr>
        <p:spPr>
          <a:xfrm>
            <a:off x="2410435" y="3040435"/>
            <a:ext cx="4404522" cy="202696"/>
          </a:xfrm>
          <a:prstGeom prst="rect">
            <a:avLst/>
          </a:prstGeom>
          <a:noFill/>
        </p:spPr>
        <p:txBody>
          <a:bodyPr wrap="square" lIns="21600" tIns="0" rIns="1080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누구나 참여하고 먼저 다가가는 열린 소통채널 운영으로 소통 활성화</a:t>
            </a:r>
          </a:p>
        </p:txBody>
      </p:sp>
      <p:sp>
        <p:nvSpPr>
          <p:cNvPr id="36" name="태그"/>
          <p:cNvSpPr/>
          <p:nvPr/>
        </p:nvSpPr>
        <p:spPr>
          <a:xfrm>
            <a:off x="1188783" y="3265043"/>
            <a:ext cx="1177826" cy="175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긍정 조직문화 조성</a:t>
            </a:r>
          </a:p>
        </p:txBody>
      </p:sp>
      <p:sp>
        <p:nvSpPr>
          <p:cNvPr id="37" name="태그 설명"/>
          <p:cNvSpPr txBox="1"/>
          <p:nvPr/>
        </p:nvSpPr>
        <p:spPr>
          <a:xfrm>
            <a:off x="2410435" y="3254087"/>
            <a:ext cx="4404522" cy="197217"/>
          </a:xfrm>
          <a:prstGeom prst="rect">
            <a:avLst/>
          </a:prstGeom>
          <a:noFill/>
        </p:spPr>
        <p:txBody>
          <a:bodyPr wrap="square" lIns="21600" tIns="0" rIns="1080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파트너십 강화 활동 등 신뢰 증진을 통한 긍정 조직문화 조성</a:t>
            </a:r>
          </a:p>
        </p:txBody>
      </p:sp>
      <p:sp>
        <p:nvSpPr>
          <p:cNvPr id="38" name="브래킷"/>
          <p:cNvSpPr/>
          <p:nvPr/>
        </p:nvSpPr>
        <p:spPr>
          <a:xfrm>
            <a:off x="1396957" y="3473217"/>
            <a:ext cx="4601739" cy="186261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브래킷 안"/>
          <p:cNvSpPr/>
          <p:nvPr/>
        </p:nvSpPr>
        <p:spPr>
          <a:xfrm>
            <a:off x="1440783" y="3462261"/>
            <a:ext cx="4514087" cy="1533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브래킷 막대"/>
          <p:cNvSpPr/>
          <p:nvPr/>
        </p:nvSpPr>
        <p:spPr>
          <a:xfrm>
            <a:off x="3336261" y="3604696"/>
            <a:ext cx="723130" cy="38348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브래킷 끝"/>
          <p:cNvSpPr/>
          <p:nvPr/>
        </p:nvSpPr>
        <p:spPr>
          <a:xfrm rot="10800000">
            <a:off x="3621130" y="3643043"/>
            <a:ext cx="153391" cy="82174"/>
          </a:xfrm>
          <a:prstGeom prst="triangle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패널 외곽"/>
          <p:cNvSpPr/>
          <p:nvPr/>
        </p:nvSpPr>
        <p:spPr>
          <a:xfrm>
            <a:off x="536870" y="3670435"/>
            <a:ext cx="3122609" cy="2026957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패널 머리"/>
          <p:cNvSpPr/>
          <p:nvPr/>
        </p:nvSpPr>
        <p:spPr>
          <a:xfrm>
            <a:off x="536870" y="3670435"/>
            <a:ext cx="3122609" cy="246522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열린 소통채널 운영</a:t>
            </a:r>
          </a:p>
        </p:txBody>
      </p:sp>
      <p:sp>
        <p:nvSpPr>
          <p:cNvPr id="44" name="레일"/>
          <p:cNvSpPr/>
          <p:nvPr/>
        </p:nvSpPr>
        <p:spPr>
          <a:xfrm>
            <a:off x="569739" y="3938870"/>
            <a:ext cx="739565" cy="558783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레일 태그"/>
          <p:cNvSpPr/>
          <p:nvPr/>
        </p:nvSpPr>
        <p:spPr>
          <a:xfrm>
            <a:off x="659724" y="3982696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조직소통</a:t>
            </a:r>
          </a:p>
        </p:txBody>
      </p:sp>
      <p:sp>
        <p:nvSpPr>
          <p:cNvPr id="46" name="레일 라벨"/>
          <p:cNvSpPr txBox="1"/>
          <p:nvPr/>
        </p:nvSpPr>
        <p:spPr>
          <a:xfrm>
            <a:off x="569739" y="4168957"/>
            <a:ext cx="739565" cy="306783"/>
          </a:xfrm>
          <a:prstGeom prst="rect">
            <a:avLst/>
          </a:prstGeom>
          <a:noFill/>
        </p:spPr>
        <p:txBody>
          <a:bodyPr wrap="square" lIns="10800" tIns="0" rIns="1080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열린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협의회</a:t>
            </a:r>
          </a:p>
        </p:txBody>
      </p:sp>
      <p:sp>
        <p:nvSpPr>
          <p:cNvPr id="47" name="패널 본문"/>
          <p:cNvSpPr txBox="1"/>
          <p:nvPr/>
        </p:nvSpPr>
        <p:spPr>
          <a:xfrm>
            <a:off x="1353130" y="3927913"/>
            <a:ext cx="2273478" cy="580696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열린 협의회 운영(41명 참관)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안건 이행현황 점검·공유로 환류체계 강화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353130" y="4508609"/>
            <a:ext cx="2251566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9" name="레일"/>
          <p:cNvSpPr/>
          <p:nvPr/>
        </p:nvSpPr>
        <p:spPr>
          <a:xfrm>
            <a:off x="569739" y="4519565"/>
            <a:ext cx="739565" cy="558783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레일 태그"/>
          <p:cNvSpPr/>
          <p:nvPr/>
        </p:nvSpPr>
        <p:spPr>
          <a:xfrm>
            <a:off x="659724" y="4563391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현장소통</a:t>
            </a:r>
          </a:p>
        </p:txBody>
      </p:sp>
      <p:sp>
        <p:nvSpPr>
          <p:cNvPr id="51" name="레일 라벨"/>
          <p:cNvSpPr txBox="1"/>
          <p:nvPr/>
        </p:nvSpPr>
        <p:spPr>
          <a:xfrm>
            <a:off x="569739" y="4749652"/>
            <a:ext cx="739565" cy="306783"/>
          </a:xfrm>
          <a:prstGeom prst="rect">
            <a:avLst/>
          </a:prstGeom>
          <a:noFill/>
        </p:spPr>
        <p:txBody>
          <a:bodyPr wrap="square" lIns="10800" tIns="0" rIns="1080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찾아가는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현장소통</a:t>
            </a:r>
          </a:p>
        </p:txBody>
      </p:sp>
      <p:sp>
        <p:nvSpPr>
          <p:cNvPr id="52" name="패널 본문"/>
          <p:cNvSpPr txBox="1"/>
          <p:nvPr/>
        </p:nvSpPr>
        <p:spPr>
          <a:xfrm>
            <a:off x="1353130" y="4508609"/>
            <a:ext cx="2273478" cy="580696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분임협의회 참관(3개 조직)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석면 잔존 청사 공동조사·제거(8개소)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353130" y="5089304"/>
            <a:ext cx="2251566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4" name="레일"/>
          <p:cNvSpPr/>
          <p:nvPr/>
        </p:nvSpPr>
        <p:spPr>
          <a:xfrm>
            <a:off x="569739" y="5100261"/>
            <a:ext cx="739565" cy="569739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레일 태그"/>
          <p:cNvSpPr/>
          <p:nvPr/>
        </p:nvSpPr>
        <p:spPr>
          <a:xfrm>
            <a:off x="659724" y="5144087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세대소통</a:t>
            </a:r>
          </a:p>
        </p:txBody>
      </p:sp>
      <p:sp>
        <p:nvSpPr>
          <p:cNvPr id="56" name="레일 라벨"/>
          <p:cNvSpPr txBox="1"/>
          <p:nvPr/>
        </p:nvSpPr>
        <p:spPr>
          <a:xfrm>
            <a:off x="569739" y="5330348"/>
            <a:ext cx="739565" cy="317739"/>
          </a:xfrm>
          <a:prstGeom prst="rect">
            <a:avLst/>
          </a:prstGeom>
          <a:noFill/>
        </p:spPr>
        <p:txBody>
          <a:bodyPr wrap="square" lIns="10800" tIns="0" rIns="1080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미래세대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소통</a:t>
            </a:r>
          </a:p>
        </p:txBody>
      </p:sp>
      <p:sp>
        <p:nvSpPr>
          <p:cNvPr id="57" name="패널 본문"/>
          <p:cNvSpPr txBox="1"/>
          <p:nvPr/>
        </p:nvSpPr>
        <p:spPr>
          <a:xfrm>
            <a:off x="1353130" y="5089304"/>
            <a:ext cx="2273478" cy="591652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주니어 16명·시니어 9명 구성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혁신과제 발굴(4건)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자유토론(5개 주제)</a:t>
            </a:r>
          </a:p>
        </p:txBody>
      </p:sp>
      <p:sp>
        <p:nvSpPr>
          <p:cNvPr id="58" name="패널 외곽"/>
          <p:cNvSpPr/>
          <p:nvPr/>
        </p:nvSpPr>
        <p:spPr>
          <a:xfrm>
            <a:off x="3708783" y="3670435"/>
            <a:ext cx="3128087" cy="2026957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패널 머리"/>
          <p:cNvSpPr/>
          <p:nvPr/>
        </p:nvSpPr>
        <p:spPr>
          <a:xfrm>
            <a:off x="3708783" y="3670435"/>
            <a:ext cx="3128087" cy="246522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긍정 조직문화 조성</a:t>
            </a:r>
          </a:p>
        </p:txBody>
      </p:sp>
      <p:sp>
        <p:nvSpPr>
          <p:cNvPr id="60" name="레일"/>
          <p:cNvSpPr/>
          <p:nvPr/>
        </p:nvSpPr>
        <p:spPr>
          <a:xfrm>
            <a:off x="3741652" y="3938870"/>
            <a:ext cx="734087" cy="558783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레일 태그"/>
          <p:cNvSpPr/>
          <p:nvPr/>
        </p:nvSpPr>
        <p:spPr>
          <a:xfrm>
            <a:off x="3828897" y="3982696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신뢰문화</a:t>
            </a:r>
          </a:p>
        </p:txBody>
      </p:sp>
      <p:sp>
        <p:nvSpPr>
          <p:cNvPr id="62" name="레일 라벨"/>
          <p:cNvSpPr txBox="1"/>
          <p:nvPr/>
        </p:nvSpPr>
        <p:spPr>
          <a:xfrm>
            <a:off x="3741652" y="4168957"/>
            <a:ext cx="734087" cy="306783"/>
          </a:xfrm>
          <a:prstGeom prst="rect">
            <a:avLst/>
          </a:prstGeom>
          <a:noFill/>
        </p:spPr>
        <p:txBody>
          <a:bodyPr wrap="square" lIns="10800" tIns="0" rIns="1080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데일리 미팅</a:t>
            </a:r>
          </a:p>
        </p:txBody>
      </p:sp>
      <p:sp>
        <p:nvSpPr>
          <p:cNvPr id="63" name="패널 본문"/>
          <p:cNvSpPr txBox="1"/>
          <p:nvPr/>
        </p:nvSpPr>
        <p:spPr>
          <a:xfrm>
            <a:off x="4519565" y="3927913"/>
            <a:ext cx="2284435" cy="580696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노조집행부·주무부서장·실무자 데일리 미팅(매일 2회)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현안에 대한 실시간 소통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519565" y="4508609"/>
            <a:ext cx="2262522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65" name="레일"/>
          <p:cNvSpPr/>
          <p:nvPr/>
        </p:nvSpPr>
        <p:spPr>
          <a:xfrm>
            <a:off x="3741652" y="4519565"/>
            <a:ext cx="734087" cy="558783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레일 태그"/>
          <p:cNvSpPr/>
          <p:nvPr/>
        </p:nvSpPr>
        <p:spPr>
          <a:xfrm>
            <a:off x="3828897" y="4563391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포용문화</a:t>
            </a:r>
          </a:p>
        </p:txBody>
      </p:sp>
      <p:sp>
        <p:nvSpPr>
          <p:cNvPr id="67" name="레일 라벨"/>
          <p:cNvSpPr txBox="1"/>
          <p:nvPr/>
        </p:nvSpPr>
        <p:spPr>
          <a:xfrm>
            <a:off x="3741652" y="4749652"/>
            <a:ext cx="734087" cy="306783"/>
          </a:xfrm>
          <a:prstGeom prst="rect">
            <a:avLst/>
          </a:prstGeom>
          <a:noFill/>
        </p:spPr>
        <p:txBody>
          <a:bodyPr wrap="square" lIns="10800" tIns="0" rIns="1080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존중과 화합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문화 조성</a:t>
            </a:r>
          </a:p>
        </p:txBody>
      </p:sp>
      <p:sp>
        <p:nvSpPr>
          <p:cNvPr id="68" name="패널 본문"/>
          <p:cNvSpPr txBox="1"/>
          <p:nvPr/>
        </p:nvSpPr>
        <p:spPr>
          <a:xfrm>
            <a:off x="4519565" y="4508609"/>
            <a:ext cx="2284435" cy="580696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매월 11·22일, 화합의 날 지정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직원 자녀 초청 탐험기 행사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가족 참여 명예로운퇴임식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4519565" y="5089304"/>
            <a:ext cx="2262522" cy="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0" name="레일"/>
          <p:cNvSpPr/>
          <p:nvPr/>
        </p:nvSpPr>
        <p:spPr>
          <a:xfrm>
            <a:off x="3741652" y="5100261"/>
            <a:ext cx="734087" cy="569739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레일 태그"/>
          <p:cNvSpPr/>
          <p:nvPr/>
        </p:nvSpPr>
        <p:spPr>
          <a:xfrm>
            <a:off x="3828897" y="5144087"/>
            <a:ext cx="559596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협력문화</a:t>
            </a:r>
          </a:p>
        </p:txBody>
      </p:sp>
      <p:sp>
        <p:nvSpPr>
          <p:cNvPr id="72" name="레일 라벨"/>
          <p:cNvSpPr txBox="1"/>
          <p:nvPr/>
        </p:nvSpPr>
        <p:spPr>
          <a:xfrm>
            <a:off x="3741652" y="5330348"/>
            <a:ext cx="734087" cy="317739"/>
          </a:xfrm>
          <a:prstGeom prst="rect">
            <a:avLst/>
          </a:prstGeom>
          <a:noFill/>
        </p:spPr>
        <p:txBody>
          <a:bodyPr wrap="square" lIns="10800" tIns="0" rIns="1080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파트너십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프로그램</a:t>
            </a:r>
          </a:p>
        </p:txBody>
      </p:sp>
      <p:sp>
        <p:nvSpPr>
          <p:cNvPr id="73" name="패널 본문"/>
          <p:cNvSpPr txBox="1"/>
          <p:nvPr/>
        </p:nvSpPr>
        <p:spPr>
          <a:xfrm>
            <a:off x="4519565" y="5089304"/>
            <a:ext cx="2284435" cy="591652"/>
          </a:xfrm>
          <a:prstGeom prst="rect">
            <a:avLst/>
          </a:prstGeom>
          <a:noFill/>
        </p:spPr>
        <p:txBody>
          <a:bodyPr wrap="square" lIns="43200" tIns="10800" rIns="18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경영진·노조집행부 전원 참여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팀워크 '동행' 실시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현안 공유와 공감대 형성</a:t>
            </a:r>
          </a:p>
        </p:txBody>
      </p:sp>
      <p:sp>
        <p:nvSpPr>
          <p:cNvPr id="74" name="소제목"/>
          <p:cNvSpPr txBox="1"/>
          <p:nvPr/>
        </p:nvSpPr>
        <p:spPr>
          <a:xfrm>
            <a:off x="536870" y="5817913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노사 상생협력 선포 및 상생의 달 지정·운영</a:t>
            </a:r>
          </a:p>
        </p:txBody>
      </p:sp>
      <p:sp>
        <p:nvSpPr>
          <p:cNvPr id="75" name="태그칩"/>
          <p:cNvSpPr/>
          <p:nvPr/>
        </p:nvSpPr>
        <p:spPr>
          <a:xfrm>
            <a:off x="3355467" y="5850783"/>
            <a:ext cx="327325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B.P</a:t>
            </a:r>
          </a:p>
        </p:txBody>
      </p:sp>
      <p:sp>
        <p:nvSpPr>
          <p:cNvPr id="76" name="태그칩"/>
          <p:cNvSpPr/>
          <p:nvPr/>
        </p:nvSpPr>
        <p:spPr>
          <a:xfrm>
            <a:off x="3726618" y="5850783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신규</a:t>
            </a:r>
          </a:p>
        </p:txBody>
      </p:sp>
      <p:sp>
        <p:nvSpPr>
          <p:cNvPr id="77" name="라벨 박스"/>
          <p:cNvSpPr/>
          <p:nvPr/>
        </p:nvSpPr>
        <p:spPr>
          <a:xfrm>
            <a:off x="536870" y="6102783"/>
            <a:ext cx="6300000" cy="273913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레일"/>
          <p:cNvSpPr/>
          <p:nvPr/>
        </p:nvSpPr>
        <p:spPr>
          <a:xfrm>
            <a:off x="547826" y="6113739"/>
            <a:ext cx="624522" cy="252000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추진배경</a:t>
            </a:r>
          </a:p>
        </p:txBody>
      </p:sp>
      <p:sp>
        <p:nvSpPr>
          <p:cNvPr id="79" name="추진배경"/>
          <p:cNvSpPr txBox="1"/>
          <p:nvPr/>
        </p:nvSpPr>
        <p:spPr>
          <a:xfrm>
            <a:off x="1249043" y="6113739"/>
            <a:ext cx="5565913" cy="252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열린 소통·긍정 조직문화를 기반으로 상생 협력적 노사관계 문화 확산, 파트너십 강화 추진</a:t>
            </a:r>
          </a:p>
        </p:txBody>
      </p:sp>
      <p:sp>
        <p:nvSpPr>
          <p:cNvPr id="80" name="레일"/>
          <p:cNvSpPr/>
          <p:nvPr/>
        </p:nvSpPr>
        <p:spPr>
          <a:xfrm>
            <a:off x="536870" y="6458870"/>
            <a:ext cx="580696" cy="646435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공감대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형성</a:t>
            </a:r>
          </a:p>
        </p:txBody>
      </p:sp>
      <p:sp>
        <p:nvSpPr>
          <p:cNvPr id="81" name="레일"/>
          <p:cNvSpPr/>
          <p:nvPr/>
        </p:nvSpPr>
        <p:spPr>
          <a:xfrm>
            <a:off x="536870" y="7116261"/>
            <a:ext cx="580696" cy="81078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레일 태그"/>
          <p:cNvSpPr/>
          <p:nvPr/>
        </p:nvSpPr>
        <p:spPr>
          <a:xfrm>
            <a:off x="657188" y="7280609"/>
            <a:ext cx="340059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결실</a:t>
            </a:r>
          </a:p>
        </p:txBody>
      </p:sp>
      <p:sp>
        <p:nvSpPr>
          <p:cNvPr id="83" name="레일 라벨"/>
          <p:cNvSpPr txBox="1"/>
          <p:nvPr/>
        </p:nvSpPr>
        <p:spPr>
          <a:xfrm>
            <a:off x="536870" y="7466870"/>
            <a:ext cx="580696" cy="438261"/>
          </a:xfrm>
          <a:prstGeom prst="rect">
            <a:avLst/>
          </a:prstGeom>
          <a:noFill/>
        </p:spPr>
        <p:txBody>
          <a:bodyPr wrap="square" lIns="10800" tIns="0" rIns="1080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상생협력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선언</a:t>
            </a:r>
          </a:p>
        </p:txBody>
      </p:sp>
      <p:sp>
        <p:nvSpPr>
          <p:cNvPr id="84" name="레일 쐐기"/>
          <p:cNvSpPr/>
          <p:nvPr/>
        </p:nvSpPr>
        <p:spPr>
          <a:xfrm>
            <a:off x="536869" y="7116260"/>
            <a:ext cx="580696" cy="142435"/>
          </a:xfrm>
          <a:custGeom>
            <a:avLst/>
            <a:gdLst/>
            <a:ahLst/>
            <a:cxnLst/>
            <a:rect l="l" t="t" r="r" b="b"/>
            <a:pathLst>
              <a:path w="580696" h="142435">
                <a:moveTo>
                  <a:pt x="0" y="0"/>
                </a:moveTo>
                <a:lnTo>
                  <a:pt x="580696" y="0"/>
                </a:lnTo>
                <a:lnTo>
                  <a:pt x="290348" y="142435"/>
                </a:lnTo>
                <a:close/>
              </a:path>
            </a:pathLst>
          </a:custGeom>
          <a:solidFill>
            <a:srgbClr val="DEEE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레일"/>
          <p:cNvSpPr/>
          <p:nvPr/>
        </p:nvSpPr>
        <p:spPr>
          <a:xfrm>
            <a:off x="536870" y="7938000"/>
            <a:ext cx="580696" cy="1057304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6" name="레일 태그"/>
          <p:cNvSpPr/>
          <p:nvPr/>
        </p:nvSpPr>
        <p:spPr>
          <a:xfrm>
            <a:off x="657188" y="8102348"/>
            <a:ext cx="340059" cy="186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확산</a:t>
            </a:r>
          </a:p>
        </p:txBody>
      </p:sp>
      <p:sp>
        <p:nvSpPr>
          <p:cNvPr id="87" name="레일 라벨"/>
          <p:cNvSpPr txBox="1"/>
          <p:nvPr/>
        </p:nvSpPr>
        <p:spPr>
          <a:xfrm>
            <a:off x="536870" y="8288609"/>
            <a:ext cx="580696" cy="684783"/>
          </a:xfrm>
          <a:prstGeom prst="rect">
            <a:avLst/>
          </a:prstGeom>
          <a:noFill/>
        </p:spPr>
        <p:txBody>
          <a:bodyPr wrap="square" lIns="10800" tIns="0" rIns="1080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상생의 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운영</a:t>
            </a:r>
          </a:p>
        </p:txBody>
      </p:sp>
      <p:sp>
        <p:nvSpPr>
          <p:cNvPr id="88" name="레일 쐐기"/>
          <p:cNvSpPr/>
          <p:nvPr/>
        </p:nvSpPr>
        <p:spPr>
          <a:xfrm>
            <a:off x="536869" y="7938000"/>
            <a:ext cx="580696" cy="142434"/>
          </a:xfrm>
          <a:custGeom>
            <a:avLst/>
            <a:gdLst/>
            <a:ahLst/>
            <a:cxnLst/>
            <a:rect l="l" t="t" r="r" b="b"/>
            <a:pathLst>
              <a:path w="580696" h="142434">
                <a:moveTo>
                  <a:pt x="0" y="0"/>
                </a:moveTo>
                <a:lnTo>
                  <a:pt x="580696" y="0"/>
                </a:lnTo>
                <a:lnTo>
                  <a:pt x="290348" y="142434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머리칸"/>
          <p:cNvSpPr/>
          <p:nvPr/>
        </p:nvSpPr>
        <p:spPr>
          <a:xfrm>
            <a:off x="1150435" y="6475304"/>
            <a:ext cx="2826783" cy="17530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90" name="머리칸"/>
          <p:cNvSpPr/>
          <p:nvPr/>
        </p:nvSpPr>
        <p:spPr>
          <a:xfrm>
            <a:off x="4004609" y="6475304"/>
            <a:ext cx="2815826" cy="17530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91" name="칸 본문"/>
          <p:cNvSpPr txBox="1"/>
          <p:nvPr/>
        </p:nvSpPr>
        <p:spPr>
          <a:xfrm>
            <a:off x="1161391" y="6667043"/>
            <a:ext cx="2821304" cy="427304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사업수행과 장기지속적 발전을 위해서는 노동조합을 동반자로 인식하고 협력 증대 필수적</a:t>
            </a:r>
          </a:p>
        </p:txBody>
      </p:sp>
      <p:sp>
        <p:nvSpPr>
          <p:cNvPr id="92" name="칸 본문"/>
          <p:cNvSpPr txBox="1"/>
          <p:nvPr/>
        </p:nvSpPr>
        <p:spPr>
          <a:xfrm>
            <a:off x="4004609" y="6667043"/>
            <a:ext cx="2821304" cy="427304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조합원 복리후생 향상과 안전보건 강화 등 근로조건 개선을 위해서는 공단과의 파트너십 강화 필요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3993652" y="6699913"/>
            <a:ext cx="0" cy="36156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4" name="머리칸"/>
          <p:cNvSpPr/>
          <p:nvPr/>
        </p:nvSpPr>
        <p:spPr>
          <a:xfrm>
            <a:off x="1150435" y="7132696"/>
            <a:ext cx="4546957" cy="235565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상생 협력 선언문('25.2월)</a:t>
            </a:r>
          </a:p>
        </p:txBody>
      </p:sp>
      <p:sp>
        <p:nvSpPr>
          <p:cNvPr id="95" name="선언문"/>
          <p:cNvSpPr txBox="1"/>
          <p:nvPr/>
        </p:nvSpPr>
        <p:spPr>
          <a:xfrm>
            <a:off x="1172348" y="7384696"/>
            <a:ext cx="4536000" cy="531391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상생 협력 선포식 개최 및 공동 선언 실시(제71주년 창립기념일)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이사장 등 경영진, 노조위원장 등 집행부 전원 참여, 사내방송 생중계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안전일터 조성·발전적 노사관계 정착, 소통·파트너십 강화 추진 등 노사 합의·선언</a:t>
            </a:r>
          </a:p>
        </p:txBody>
      </p:sp>
      <p:sp>
        <p:nvSpPr>
          <p:cNvPr id="96" name="사진 칸"/>
          <p:cNvSpPr/>
          <p:nvPr/>
        </p:nvSpPr>
        <p:spPr>
          <a:xfrm>
            <a:off x="5741217" y="7127217"/>
            <a:ext cx="1079217" cy="783391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 (선포식)</a:t>
            </a:r>
          </a:p>
        </p:txBody>
      </p:sp>
      <p:sp>
        <p:nvSpPr>
          <p:cNvPr id="97" name="배너"/>
          <p:cNvSpPr/>
          <p:nvPr/>
        </p:nvSpPr>
        <p:spPr>
          <a:xfrm>
            <a:off x="1150435" y="7954435"/>
            <a:ext cx="5686435" cy="20817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매년 11월, 노사 상생의 달 지정 및 운영(공공기관 중 최초)</a:t>
            </a:r>
          </a:p>
        </p:txBody>
      </p:sp>
      <p:sp>
        <p:nvSpPr>
          <p:cNvPr id="98" name="머리칸"/>
          <p:cNvSpPr/>
          <p:nvPr/>
        </p:nvSpPr>
        <p:spPr>
          <a:xfrm>
            <a:off x="1150435" y="8173565"/>
            <a:ext cx="1879043" cy="21913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화합 어울림 한마당</a:t>
            </a:r>
          </a:p>
        </p:txBody>
      </p:sp>
      <p:sp>
        <p:nvSpPr>
          <p:cNvPr id="99" name="머리칸"/>
          <p:cNvSpPr/>
          <p:nvPr/>
        </p:nvSpPr>
        <p:spPr>
          <a:xfrm>
            <a:off x="3056870" y="8173565"/>
            <a:ext cx="1868087" cy="21913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상생 표어 공모·선정</a:t>
            </a:r>
          </a:p>
        </p:txBody>
      </p:sp>
      <p:sp>
        <p:nvSpPr>
          <p:cNvPr id="100" name="머리칸"/>
          <p:cNvSpPr/>
          <p:nvPr/>
        </p:nvSpPr>
        <p:spPr>
          <a:xfrm>
            <a:off x="4952348" y="8173565"/>
            <a:ext cx="1868087" cy="21913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분임협의회 BEST AWARD</a:t>
            </a:r>
          </a:p>
        </p:txBody>
      </p:sp>
      <p:sp>
        <p:nvSpPr>
          <p:cNvPr id="101" name="칸 본문"/>
          <p:cNvSpPr txBox="1"/>
          <p:nvPr/>
        </p:nvSpPr>
        <p:spPr>
          <a:xfrm>
            <a:off x="1161391" y="8409130"/>
            <a:ext cx="1873565" cy="575217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경영진·노조 156명 참석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화합과 소통의 장 마련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노사관계 특강 교육 운영</a:t>
            </a:r>
          </a:p>
        </p:txBody>
      </p:sp>
      <p:sp>
        <p:nvSpPr>
          <p:cNvPr id="102" name="칸 본문"/>
          <p:cNvSpPr txBox="1"/>
          <p:nvPr/>
        </p:nvSpPr>
        <p:spPr>
          <a:xfrm>
            <a:off x="3056870" y="8409130"/>
            <a:ext cx="1873565" cy="575217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화합·상생 표어 공모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61개 공모·우수작 3개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꼬리말·행사 슬로건 활용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3045913" y="8442000"/>
            <a:ext cx="0" cy="509478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04" name="칸 본문"/>
          <p:cNvSpPr txBox="1"/>
          <p:nvPr/>
        </p:nvSpPr>
        <p:spPr>
          <a:xfrm>
            <a:off x="4952348" y="8409130"/>
            <a:ext cx="1873565" cy="575217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실적평가 우수조직 시상(4개)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이사장 표창·부상품 제공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4941391" y="8442000"/>
            <a:ext cx="0" cy="509478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06" name="성과 표 외곽"/>
          <p:cNvSpPr/>
          <p:nvPr/>
        </p:nvSpPr>
        <p:spPr>
          <a:xfrm>
            <a:off x="536870" y="9061043"/>
            <a:ext cx="6300000" cy="635478"/>
          </a:xfrm>
          <a:prstGeom prst="rect">
            <a:avLst/>
          </a:prstGeom>
          <a:solidFill>
            <a:srgbClr val="FFFFFF"/>
          </a:solidFill>
          <a:ln w="28575">
            <a:solidFill>
              <a:srgbClr val="0051BC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7" name="레일"/>
          <p:cNvSpPr/>
          <p:nvPr/>
        </p:nvSpPr>
        <p:spPr>
          <a:xfrm>
            <a:off x="536870" y="9061043"/>
            <a:ext cx="591652" cy="635478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추진성과</a:t>
            </a:r>
          </a:p>
        </p:txBody>
      </p:sp>
      <p:sp>
        <p:nvSpPr>
          <p:cNvPr id="108" name="머리칸"/>
          <p:cNvSpPr/>
          <p:nvPr/>
        </p:nvSpPr>
        <p:spPr>
          <a:xfrm>
            <a:off x="1161391" y="9093913"/>
            <a:ext cx="279939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노사관계 최우수 기관장 감사패</a:t>
            </a:r>
          </a:p>
        </p:txBody>
      </p:sp>
      <p:sp>
        <p:nvSpPr>
          <p:cNvPr id="109" name="머리칸"/>
          <p:cNvSpPr/>
          <p:nvPr/>
        </p:nvSpPr>
        <p:spPr>
          <a:xfrm>
            <a:off x="3988174" y="9093913"/>
            <a:ext cx="2810348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이사장 명예 조합원 위촉</a:t>
            </a:r>
          </a:p>
        </p:txBody>
      </p:sp>
      <p:sp>
        <p:nvSpPr>
          <p:cNvPr id="110" name="칸 본문"/>
          <p:cNvSpPr txBox="1"/>
          <p:nvPr/>
        </p:nvSpPr>
        <p:spPr>
          <a:xfrm>
            <a:off x="1172348" y="9334957"/>
            <a:ext cx="2799391" cy="35060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공공안전기관 노조대표자협의회 주관 최우수 기관 선정·감사패('25.8월)</a:t>
            </a:r>
          </a:p>
        </p:txBody>
      </p:sp>
      <p:sp>
        <p:nvSpPr>
          <p:cNvPr id="111" name="칸 본문"/>
          <p:cNvSpPr txBox="1"/>
          <p:nvPr/>
        </p:nvSpPr>
        <p:spPr>
          <a:xfrm>
            <a:off x="3993652" y="9334957"/>
            <a:ext cx="2810348" cy="35060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노동조합 → 이사장 명예 조합원 위촉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재임 중 기관장 최초 위촉('25.11월)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3982696" y="9367826"/>
            <a:ext cx="0" cy="28487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113" name="핵심성과 박스"/>
          <p:cNvSpPr/>
          <p:nvPr/>
        </p:nvSpPr>
        <p:spPr>
          <a:xfrm>
            <a:off x="536870" y="9789652"/>
            <a:ext cx="6300000" cy="301304"/>
          </a:xfrm>
          <a:prstGeom prst="rect">
            <a:avLst/>
          </a:prstGeom>
          <a:solidFill>
            <a:srgbClr val="FFFFFF"/>
          </a:solidFill>
          <a:ln w="28575">
            <a:solidFill>
              <a:srgbClr val="002060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4" name="핵심성과 라벨"/>
          <p:cNvSpPr/>
          <p:nvPr/>
        </p:nvSpPr>
        <p:spPr>
          <a:xfrm>
            <a:off x="569739" y="9828000"/>
            <a:ext cx="657391" cy="224609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115" name="핵심성과 문구"/>
          <p:cNvSpPr txBox="1"/>
          <p:nvPr/>
        </p:nvSpPr>
        <p:spPr>
          <a:xfrm>
            <a:off x="1314783" y="9806087"/>
            <a:ext cx="5456348" cy="268435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노사소통지수 전년대비 1.6점 상승(89.3 → 90.9점)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노사관계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96</a:t>
            </a:r>
          </a:p>
        </p:txBody>
      </p:sp>
      <p:sp>
        <p:nvSpPr>
          <p:cNvPr id="4" name="번호 띠"/>
          <p:cNvSpPr/>
          <p:nvPr/>
        </p:nvSpPr>
        <p:spPr>
          <a:xfrm>
            <a:off x="723130" y="777913"/>
            <a:ext cx="6294522" cy="306783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번호 탭"/>
          <p:cNvSpPr/>
          <p:nvPr/>
        </p:nvSpPr>
        <p:spPr>
          <a:xfrm>
            <a:off x="745043" y="799826"/>
            <a:ext cx="471130" cy="262956"/>
          </a:xfrm>
          <a:custGeom>
            <a:avLst/>
            <a:gdLst/>
            <a:ahLst/>
            <a:cxnLst/>
            <a:rect l="l" t="t" r="r" b="b"/>
            <a:pathLst>
              <a:path w="471130" h="262956">
                <a:moveTo>
                  <a:pt x="0" y="0"/>
                </a:moveTo>
                <a:lnTo>
                  <a:pt x="394435" y="0"/>
                </a:lnTo>
                <a:lnTo>
                  <a:pt x="471130" y="262956"/>
                </a:lnTo>
                <a:lnTo>
                  <a:pt x="0" y="262956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번호 탭 빗면"/>
          <p:cNvSpPr/>
          <p:nvPr/>
        </p:nvSpPr>
        <p:spPr>
          <a:xfrm>
            <a:off x="1139478" y="799826"/>
            <a:ext cx="142435" cy="262956"/>
          </a:xfrm>
          <a:custGeom>
            <a:avLst/>
            <a:gdLst/>
            <a:ahLst/>
            <a:cxnLst/>
            <a:rect l="l" t="t" r="r" b="b"/>
            <a:pathLst>
              <a:path w="142435" h="262956">
                <a:moveTo>
                  <a:pt x="0" y="0"/>
                </a:moveTo>
                <a:lnTo>
                  <a:pt x="65739" y="0"/>
                </a:lnTo>
                <a:lnTo>
                  <a:pt x="142435" y="262956"/>
                </a:lnTo>
                <a:lnTo>
                  <a:pt x="76695" y="262956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번호"/>
          <p:cNvSpPr txBox="1"/>
          <p:nvPr/>
        </p:nvSpPr>
        <p:spPr>
          <a:xfrm>
            <a:off x="745043" y="777913"/>
            <a:ext cx="383478" cy="3067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8" name="번호 띠 제목"/>
          <p:cNvSpPr txBox="1"/>
          <p:nvPr/>
        </p:nvSpPr>
        <p:spPr>
          <a:xfrm>
            <a:off x="1369565" y="799826"/>
            <a:ext cx="5582348" cy="262957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노사 역량 강화를 위한 교육 프로그램 운영과 내·외부 역량 활용</a:t>
            </a:r>
          </a:p>
        </p:txBody>
      </p:sp>
      <p:sp>
        <p:nvSpPr>
          <p:cNvPr id="9" name="소제목"/>
          <p:cNvSpPr txBox="1"/>
          <p:nvPr/>
        </p:nvSpPr>
        <p:spPr>
          <a:xfrm>
            <a:off x="723130" y="1188783"/>
            <a:ext cx="6294522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노사 현안별 전문성을 추구하는 노무 역량 교육체계</a:t>
            </a:r>
          </a:p>
        </p:txBody>
      </p:sp>
      <p:sp>
        <p:nvSpPr>
          <p:cNvPr id="10" name="태그칩"/>
          <p:cNvSpPr/>
          <p:nvPr/>
        </p:nvSpPr>
        <p:spPr>
          <a:xfrm>
            <a:off x="4025603" y="1221652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강화</a:t>
            </a:r>
          </a:p>
        </p:txBody>
      </p:sp>
      <p:sp>
        <p:nvSpPr>
          <p:cNvPr id="11" name="라벨 박스"/>
          <p:cNvSpPr/>
          <p:nvPr/>
        </p:nvSpPr>
        <p:spPr>
          <a:xfrm>
            <a:off x="723130" y="1451739"/>
            <a:ext cx="6294522" cy="317739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레일"/>
          <p:cNvSpPr/>
          <p:nvPr/>
        </p:nvSpPr>
        <p:spPr>
          <a:xfrm>
            <a:off x="734087" y="1462696"/>
            <a:ext cx="591652" cy="295826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HRD 비전</a:t>
            </a:r>
          </a:p>
        </p:txBody>
      </p:sp>
      <p:sp>
        <p:nvSpPr>
          <p:cNvPr id="13" name="HRD 비전"/>
          <p:cNvSpPr txBox="1"/>
          <p:nvPr/>
        </p:nvSpPr>
        <p:spPr>
          <a:xfrm>
            <a:off x="1369565" y="1468174"/>
            <a:ext cx="5615217" cy="28487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안전과 행복을 위한 조직 역량 강화와 인권존중의 조직문화 조성</a:t>
            </a:r>
          </a:p>
        </p:txBody>
      </p:sp>
      <p:sp>
        <p:nvSpPr>
          <p:cNvPr id="14" name="라벨 박스"/>
          <p:cNvSpPr/>
          <p:nvPr/>
        </p:nvSpPr>
        <p:spPr>
          <a:xfrm>
            <a:off x="723130" y="1846174"/>
            <a:ext cx="6294522" cy="756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레일"/>
          <p:cNvSpPr/>
          <p:nvPr/>
        </p:nvSpPr>
        <p:spPr>
          <a:xfrm>
            <a:off x="734087" y="1857130"/>
            <a:ext cx="591652" cy="734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16" name="머리칸"/>
          <p:cNvSpPr/>
          <p:nvPr/>
        </p:nvSpPr>
        <p:spPr>
          <a:xfrm>
            <a:off x="1369565" y="1884522"/>
            <a:ext cx="2788435" cy="224609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17" name="머리칸"/>
          <p:cNvSpPr/>
          <p:nvPr/>
        </p:nvSpPr>
        <p:spPr>
          <a:xfrm>
            <a:off x="4185391" y="1884522"/>
            <a:ext cx="2782957" cy="224609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내부환경</a:t>
            </a:r>
          </a:p>
        </p:txBody>
      </p:sp>
      <p:sp>
        <p:nvSpPr>
          <p:cNvPr id="18" name="칸 본문"/>
          <p:cNvSpPr txBox="1"/>
          <p:nvPr/>
        </p:nvSpPr>
        <p:spPr>
          <a:xfrm>
            <a:off x="1380522" y="2131043"/>
            <a:ext cx="2788435" cy="460174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「노동조합 및 노동관계조정법」 개정 등 정책 변경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안전보건체계 강화 요구(정부 국정과제 75)</a:t>
            </a:r>
          </a:p>
        </p:txBody>
      </p:sp>
      <p:sp>
        <p:nvSpPr>
          <p:cNvPr id="19" name="칸 본문"/>
          <p:cNvSpPr txBox="1"/>
          <p:nvPr/>
        </p:nvSpPr>
        <p:spPr>
          <a:xfrm>
            <a:off x="4190870" y="2131043"/>
            <a:ext cx="2782957" cy="460174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현안별 전문 인력 양성과 역량 제고 필요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단체협약 만료 도래에 따른 이해관계 교육 확대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79913" y="2163913"/>
            <a:ext cx="0" cy="39443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1" name="라벨 박스"/>
          <p:cNvSpPr/>
          <p:nvPr/>
        </p:nvSpPr>
        <p:spPr>
          <a:xfrm>
            <a:off x="723130" y="2678870"/>
            <a:ext cx="6294522" cy="323217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레일"/>
          <p:cNvSpPr/>
          <p:nvPr/>
        </p:nvSpPr>
        <p:spPr>
          <a:xfrm>
            <a:off x="734087" y="2689826"/>
            <a:ext cx="591652" cy="301304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추진 목표</a:t>
            </a:r>
          </a:p>
        </p:txBody>
      </p:sp>
      <p:sp>
        <p:nvSpPr>
          <p:cNvPr id="23" name="추진 목표 바"/>
          <p:cNvSpPr/>
          <p:nvPr/>
        </p:nvSpPr>
        <p:spPr>
          <a:xfrm>
            <a:off x="1369565" y="2711739"/>
            <a:ext cx="5615217" cy="257478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추진 목표"/>
          <p:cNvSpPr txBox="1"/>
          <p:nvPr/>
        </p:nvSpPr>
        <p:spPr>
          <a:xfrm>
            <a:off x="1369565" y="2711739"/>
            <a:ext cx="5615217" cy="257478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변화하는 노사 정책과 관련 제도에 유연하게 대응할 수 있는 역량 구비·강화</a:t>
            </a:r>
          </a:p>
        </p:txBody>
      </p:sp>
      <p:sp>
        <p:nvSpPr>
          <p:cNvPr id="25" name="라벨 박스"/>
          <p:cNvSpPr/>
          <p:nvPr/>
        </p:nvSpPr>
        <p:spPr>
          <a:xfrm>
            <a:off x="723130" y="3078783"/>
            <a:ext cx="6294522" cy="766957"/>
          </a:xfrm>
          <a:prstGeom prst="rect">
            <a:avLst/>
          </a:prstGeom>
          <a:solidFill>
            <a:srgbClr val="FFFF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레일"/>
          <p:cNvSpPr/>
          <p:nvPr/>
        </p:nvSpPr>
        <p:spPr>
          <a:xfrm>
            <a:off x="734087" y="3089739"/>
            <a:ext cx="591652" cy="74504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운영방향</a:t>
            </a:r>
          </a:p>
        </p:txBody>
      </p:sp>
      <p:sp>
        <p:nvSpPr>
          <p:cNvPr id="27" name="머리칸"/>
          <p:cNvSpPr/>
          <p:nvPr/>
        </p:nvSpPr>
        <p:spPr>
          <a:xfrm>
            <a:off x="1369565" y="3117130"/>
            <a:ext cx="1857130" cy="21913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대상별 맞춤형 교육</a:t>
            </a:r>
          </a:p>
        </p:txBody>
      </p:sp>
      <p:sp>
        <p:nvSpPr>
          <p:cNvPr id="28" name="머리칸"/>
          <p:cNvSpPr/>
          <p:nvPr/>
        </p:nvSpPr>
        <p:spPr>
          <a:xfrm>
            <a:off x="3254087" y="3117130"/>
            <a:ext cx="1851652" cy="21913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기본역량 교육</a:t>
            </a:r>
          </a:p>
        </p:txBody>
      </p:sp>
      <p:sp>
        <p:nvSpPr>
          <p:cNvPr id="29" name="머리칸"/>
          <p:cNvSpPr/>
          <p:nvPr/>
        </p:nvSpPr>
        <p:spPr>
          <a:xfrm>
            <a:off x="5133130" y="3117130"/>
            <a:ext cx="1835217" cy="21913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전문성 촉진 교육</a:t>
            </a:r>
          </a:p>
        </p:txBody>
      </p:sp>
      <p:sp>
        <p:nvSpPr>
          <p:cNvPr id="30" name="칸 본문"/>
          <p:cNvSpPr txBox="1"/>
          <p:nvPr/>
        </p:nvSpPr>
        <p:spPr>
          <a:xfrm>
            <a:off x="1380522" y="3352696"/>
            <a:ext cx="1851652" cy="47660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관리자·신입직원·노사실무자 맞춤형 교육</a:t>
            </a:r>
          </a:p>
        </p:txBody>
      </p:sp>
      <p:sp>
        <p:nvSpPr>
          <p:cNvPr id="31" name="칸 본문"/>
          <p:cNvSpPr txBox="1"/>
          <p:nvPr/>
        </p:nvSpPr>
        <p:spPr>
          <a:xfrm>
            <a:off x="3254087" y="3352696"/>
            <a:ext cx="1857130" cy="47660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전 직원 대상 노사관계 기본역량·단체협약 교육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43130" y="3385565"/>
            <a:ext cx="0" cy="41087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3" name="칸 본문"/>
          <p:cNvSpPr txBox="1"/>
          <p:nvPr/>
        </p:nvSpPr>
        <p:spPr>
          <a:xfrm>
            <a:off x="5133130" y="3352696"/>
            <a:ext cx="1840696" cy="47660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안전보건·보수 등 노사접점 실무자 전문화 교육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122174" y="3385565"/>
            <a:ext cx="0" cy="41087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35" name="브래킷"/>
          <p:cNvSpPr/>
          <p:nvPr/>
        </p:nvSpPr>
        <p:spPr>
          <a:xfrm>
            <a:off x="1873565" y="3856696"/>
            <a:ext cx="4601739" cy="17530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브래킷 안"/>
          <p:cNvSpPr/>
          <p:nvPr/>
        </p:nvSpPr>
        <p:spPr>
          <a:xfrm>
            <a:off x="1917391" y="3845739"/>
            <a:ext cx="4514087" cy="1424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브래킷 막대"/>
          <p:cNvSpPr/>
          <p:nvPr/>
        </p:nvSpPr>
        <p:spPr>
          <a:xfrm>
            <a:off x="3812870" y="3977217"/>
            <a:ext cx="723130" cy="38348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브래킷 끝"/>
          <p:cNvSpPr/>
          <p:nvPr/>
        </p:nvSpPr>
        <p:spPr>
          <a:xfrm rot="10800000">
            <a:off x="4097739" y="4015565"/>
            <a:ext cx="153391" cy="82174"/>
          </a:xfrm>
          <a:prstGeom prst="triangle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39" name="실적표"/>
          <p:cNvGraphicFramePr>
            <a:graphicFrameLocks noGrp="1"/>
          </p:cNvGraphicFramePr>
          <p:nvPr/>
        </p:nvGraphicFramePr>
        <p:xfrm>
          <a:off x="723130" y="4092261"/>
          <a:ext cx="6294522" cy="2463572"/>
        </p:xfrm>
        <a:graphic>
          <a:graphicData uri="http://schemas.openxmlformats.org/drawingml/2006/table">
            <a:tbl>
              <a:tblPr/>
              <a:tblGrid>
                <a:gridCol w="662870"/>
                <a:gridCol w="624522"/>
                <a:gridCol w="5007130"/>
              </a:tblGrid>
              <a:tr h="230087"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구 분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BDE0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BDE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추진내용 및 실적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BDE0FF"/>
                    </a:solidFill>
                  </a:tcPr>
                </a:tc>
              </a:tr>
              <a:tr h="248165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대상별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맞춤형 교육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관 리 자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최고지도위과정(3명)·발전방안(156명)·신규보직자 교육(41명)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8165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신입직원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신입직원 대상 노동관계법·노사관계 등 노사지식 함양 교육(178명)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8165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노사실무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집단 노사갈등 해결·롤플레이(4명), 노무이슈·판례 학습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8165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기본역량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교육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전 직원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노동교육원 MOU 양질의 노사관계 교육 콘텐츠 제공(549명)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8165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공인노무사 초빙 단체협약 이해관계자 교육(경영진·노조집행부)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8165">
                <a:tc rowSpan="4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전문성 촉진</a:t>
                      </a:r>
                    </a:p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교육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안전보건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위험성평가(154명)·재난안전체험(203명)·방재전문교육(22명)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8165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보수예산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보수·예산·회계 담당자 전문화(145명), 승진자 내재화(285명)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8165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복리후생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복리후생 담당자 전문화 교육(47명), 제도 안내 가이드 배포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8165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복무제도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복무제도 담당자 집체 교육(47명)·설명회(7개 조직)·매뉴얼 배포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소제목"/>
          <p:cNvSpPr txBox="1"/>
          <p:nvPr/>
        </p:nvSpPr>
        <p:spPr>
          <a:xfrm>
            <a:off x="723130" y="6683478"/>
            <a:ext cx="6294522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자기주도형 학습 협의체 참여와 외부역량 활용으로 현안 대응</a:t>
            </a:r>
          </a:p>
        </p:txBody>
      </p:sp>
      <p:sp>
        <p:nvSpPr>
          <p:cNvPr id="41" name="태그칩"/>
          <p:cNvSpPr/>
          <p:nvPr/>
        </p:nvSpPr>
        <p:spPr>
          <a:xfrm>
            <a:off x="4587618" y="6716348"/>
            <a:ext cx="606399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지적·개선</a:t>
            </a:r>
          </a:p>
        </p:txBody>
      </p:sp>
      <p:sp>
        <p:nvSpPr>
          <p:cNvPr id="42" name="표 외곽"/>
          <p:cNvSpPr/>
          <p:nvPr/>
        </p:nvSpPr>
        <p:spPr>
          <a:xfrm>
            <a:off x="723130" y="6979304"/>
            <a:ext cx="6294522" cy="2711739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레일"/>
          <p:cNvSpPr/>
          <p:nvPr/>
        </p:nvSpPr>
        <p:spPr>
          <a:xfrm>
            <a:off x="723130" y="6979304"/>
            <a:ext cx="608087" cy="145721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협의체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참여</a:t>
            </a:r>
          </a:p>
        </p:txBody>
      </p:sp>
      <p:sp>
        <p:nvSpPr>
          <p:cNvPr id="44" name="레일"/>
          <p:cNvSpPr/>
          <p:nvPr/>
        </p:nvSpPr>
        <p:spPr>
          <a:xfrm>
            <a:off x="723130" y="8458435"/>
            <a:ext cx="608087" cy="1232609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외부역량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활용</a:t>
            </a:r>
          </a:p>
        </p:txBody>
      </p:sp>
      <p:sp>
        <p:nvSpPr>
          <p:cNvPr id="45" name="운영목표 배너"/>
          <p:cNvSpPr/>
          <p:nvPr/>
        </p:nvSpPr>
        <p:spPr>
          <a:xfrm>
            <a:off x="1369565" y="7012174"/>
            <a:ext cx="5615217" cy="230087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46" name="배너 태그"/>
          <p:cNvSpPr/>
          <p:nvPr/>
        </p:nvSpPr>
        <p:spPr>
          <a:xfrm>
            <a:off x="1588696" y="7045043"/>
            <a:ext cx="602609" cy="175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운영목표</a:t>
            </a:r>
          </a:p>
        </p:txBody>
      </p:sp>
      <p:sp>
        <p:nvSpPr>
          <p:cNvPr id="47" name="배너 문구"/>
          <p:cNvSpPr txBox="1"/>
          <p:nvPr/>
        </p:nvSpPr>
        <p:spPr>
          <a:xfrm>
            <a:off x="2235130" y="7012174"/>
            <a:ext cx="4749652" cy="230087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타 기관 협의체 참여·공유·학습으로 노사 현안 전문성 강화 및 개선점 모색</a:t>
            </a:r>
          </a:p>
        </p:txBody>
      </p:sp>
      <p:sp>
        <p:nvSpPr>
          <p:cNvPr id="48" name="머리칸"/>
          <p:cNvSpPr/>
          <p:nvPr/>
        </p:nvSpPr>
        <p:spPr>
          <a:xfrm>
            <a:off x="1369565" y="7253217"/>
            <a:ext cx="1857130" cy="235565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안전보건</a:t>
            </a:r>
          </a:p>
        </p:txBody>
      </p:sp>
      <p:sp>
        <p:nvSpPr>
          <p:cNvPr id="49" name="머리칸"/>
          <p:cNvSpPr/>
          <p:nvPr/>
        </p:nvSpPr>
        <p:spPr>
          <a:xfrm>
            <a:off x="3254087" y="7253217"/>
            <a:ext cx="1851652" cy="235565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복리후생</a:t>
            </a:r>
          </a:p>
        </p:txBody>
      </p:sp>
      <p:sp>
        <p:nvSpPr>
          <p:cNvPr id="50" name="머리칸"/>
          <p:cNvSpPr/>
          <p:nvPr/>
        </p:nvSpPr>
        <p:spPr>
          <a:xfrm>
            <a:off x="5133130" y="7253217"/>
            <a:ext cx="1835217" cy="235565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복무제도</a:t>
            </a:r>
          </a:p>
        </p:txBody>
      </p:sp>
      <p:sp>
        <p:nvSpPr>
          <p:cNvPr id="51" name="칸 본문"/>
          <p:cNvSpPr txBox="1"/>
          <p:nvPr/>
        </p:nvSpPr>
        <p:spPr>
          <a:xfrm>
            <a:off x="1380522" y="7505217"/>
            <a:ext cx="1851652" cy="438261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안전협의체(3회·9개)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재난관리협의체(1회·4개)</a:t>
            </a:r>
          </a:p>
        </p:txBody>
      </p:sp>
      <p:sp>
        <p:nvSpPr>
          <p:cNvPr id="52" name="칸 본문"/>
          <p:cNvSpPr txBox="1"/>
          <p:nvPr/>
        </p:nvSpPr>
        <p:spPr>
          <a:xfrm>
            <a:off x="3254087" y="7505217"/>
            <a:ext cx="1857130" cy="438261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교차점검단(3회·5개)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상생컨설팅(3회·3개)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243130" y="7538087"/>
            <a:ext cx="0" cy="37252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4" name="칸 본문"/>
          <p:cNvSpPr txBox="1"/>
          <p:nvPr/>
        </p:nvSpPr>
        <p:spPr>
          <a:xfrm>
            <a:off x="5133130" y="7505217"/>
            <a:ext cx="1840696" cy="438261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일·가정양립(4회·4개)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상생컨설팅(2회·3개)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122174" y="7538087"/>
            <a:ext cx="0" cy="37252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6" name="태그"/>
          <p:cNvSpPr/>
          <p:nvPr/>
        </p:nvSpPr>
        <p:spPr>
          <a:xfrm>
            <a:off x="1402435" y="7987304"/>
            <a:ext cx="514957" cy="142435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주요내용</a:t>
            </a:r>
          </a:p>
        </p:txBody>
      </p:sp>
      <p:sp>
        <p:nvSpPr>
          <p:cNvPr id="57" name="주요내용"/>
          <p:cNvSpPr txBox="1"/>
          <p:nvPr/>
        </p:nvSpPr>
        <p:spPr>
          <a:xfrm>
            <a:off x="1939304" y="7954435"/>
            <a:ext cx="1281913" cy="471130"/>
          </a:xfrm>
          <a:prstGeom prst="rect">
            <a:avLst/>
          </a:prstGeom>
          <a:noFill/>
        </p:spPr>
        <p:txBody>
          <a:bodyPr wrap="square" lIns="36000" tIns="10800" rIns="36000" bIns="108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건강 프로그램 교류, 재난 매뉴얼 공유</a:t>
            </a:r>
          </a:p>
        </p:txBody>
      </p:sp>
      <p:sp>
        <p:nvSpPr>
          <p:cNvPr id="58" name="태그"/>
          <p:cNvSpPr/>
          <p:nvPr/>
        </p:nvSpPr>
        <p:spPr>
          <a:xfrm>
            <a:off x="3286957" y="7987304"/>
            <a:ext cx="514957" cy="142435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주요내용</a:t>
            </a:r>
          </a:p>
        </p:txBody>
      </p:sp>
      <p:sp>
        <p:nvSpPr>
          <p:cNvPr id="59" name="주요내용"/>
          <p:cNvSpPr txBox="1"/>
          <p:nvPr/>
        </p:nvSpPr>
        <p:spPr>
          <a:xfrm>
            <a:off x="3823826" y="7954435"/>
            <a:ext cx="1276435" cy="471130"/>
          </a:xfrm>
          <a:prstGeom prst="rect">
            <a:avLst/>
          </a:prstGeom>
          <a:noFill/>
        </p:spPr>
        <p:txBody>
          <a:bodyPr wrap="square" lIns="36000" tIns="10800" rIns="36000" bIns="108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제도 교차점검, 복지 우수사례 공유</a:t>
            </a:r>
          </a:p>
        </p:txBody>
      </p:sp>
      <p:sp>
        <p:nvSpPr>
          <p:cNvPr id="60" name="태그"/>
          <p:cNvSpPr/>
          <p:nvPr/>
        </p:nvSpPr>
        <p:spPr>
          <a:xfrm>
            <a:off x="5166000" y="7987304"/>
            <a:ext cx="514957" cy="142435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주요내용</a:t>
            </a:r>
          </a:p>
        </p:txBody>
      </p:sp>
      <p:sp>
        <p:nvSpPr>
          <p:cNvPr id="61" name="주요내용"/>
          <p:cNvSpPr txBox="1"/>
          <p:nvPr/>
        </p:nvSpPr>
        <p:spPr>
          <a:xfrm>
            <a:off x="5702870" y="7954435"/>
            <a:ext cx="1260000" cy="471130"/>
          </a:xfrm>
          <a:prstGeom prst="rect">
            <a:avLst/>
          </a:prstGeom>
          <a:noFill/>
        </p:spPr>
        <p:txBody>
          <a:bodyPr wrap="square" lIns="36000" tIns="10800" rIns="36000" bIns="108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장기재직휴가 기준 논의·사례 공유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369565" y="7954435"/>
            <a:ext cx="5615218" cy="0"/>
          </a:xfrm>
          <a:prstGeom prst="line">
            <a:avLst/>
          </a:prstGeom>
          <a:ln w="6350">
            <a:solidFill>
              <a:srgbClr val="BDE0FF"/>
            </a:solidFill>
          </a:ln>
        </p:spPr>
      </p:cxnSp>
      <p:sp>
        <p:nvSpPr>
          <p:cNvPr id="63" name="운영목표 배너"/>
          <p:cNvSpPr/>
          <p:nvPr/>
        </p:nvSpPr>
        <p:spPr>
          <a:xfrm>
            <a:off x="1369565" y="8458435"/>
            <a:ext cx="5615217" cy="224609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8800" rIns="28800" tIns="7200" bIns="72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64" name="배너 태그"/>
          <p:cNvSpPr/>
          <p:nvPr/>
        </p:nvSpPr>
        <p:spPr>
          <a:xfrm>
            <a:off x="1840696" y="8485826"/>
            <a:ext cx="602609" cy="175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7200" rIns="7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운영목표</a:t>
            </a:r>
          </a:p>
        </p:txBody>
      </p:sp>
      <p:sp>
        <p:nvSpPr>
          <p:cNvPr id="65" name="배너 문구"/>
          <p:cNvSpPr txBox="1"/>
          <p:nvPr/>
        </p:nvSpPr>
        <p:spPr>
          <a:xfrm>
            <a:off x="2487130" y="8458435"/>
            <a:ext cx="4497652" cy="224609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 전문 역량을 적극 활용하여 공단의 노사 현안에 신속 대응 및 전문성 구비</a:t>
            </a:r>
          </a:p>
        </p:txBody>
      </p:sp>
      <p:sp>
        <p:nvSpPr>
          <p:cNvPr id="66" name="머리칸"/>
          <p:cNvSpPr/>
          <p:nvPr/>
        </p:nvSpPr>
        <p:spPr>
          <a:xfrm>
            <a:off x="1369565" y="8694000"/>
            <a:ext cx="2772000" cy="235565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노무 전문가 자문</a:t>
            </a:r>
          </a:p>
        </p:txBody>
      </p:sp>
      <p:sp>
        <p:nvSpPr>
          <p:cNvPr id="67" name="머리칸"/>
          <p:cNvSpPr/>
          <p:nvPr/>
        </p:nvSpPr>
        <p:spPr>
          <a:xfrm>
            <a:off x="4168957" y="8694000"/>
            <a:ext cx="2799391" cy="235565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온라인 자원 활용</a:t>
            </a:r>
          </a:p>
        </p:txBody>
      </p:sp>
      <p:sp>
        <p:nvSpPr>
          <p:cNvPr id="68" name="칸 본문"/>
          <p:cNvSpPr txBox="1"/>
          <p:nvPr/>
        </p:nvSpPr>
        <p:spPr>
          <a:xfrm>
            <a:off x="1380522" y="8946000"/>
            <a:ext cx="2772000" cy="43278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 전담 노무법인 계약 및 전담 노무사 배치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관련 주요 이슈 대응 및 제도의 적법성 등 자문</a:t>
            </a:r>
          </a:p>
        </p:txBody>
      </p:sp>
      <p:sp>
        <p:nvSpPr>
          <p:cNvPr id="69" name="칸 본문"/>
          <p:cNvSpPr txBox="1"/>
          <p:nvPr/>
        </p:nvSpPr>
        <p:spPr>
          <a:xfrm>
            <a:off x="4174435" y="8946000"/>
            <a:ext cx="2799391" cy="43278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노사 관련 공단 현안 신속 대응과 정보 획득·수집을 위한 온라인 노무포털(E-Labor) 적극 활용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4163478" y="8978870"/>
            <a:ext cx="0" cy="367043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cxnSp>
        <p:nvCxnSpPr>
          <p:cNvPr id="71" name="Connector 70"/>
          <p:cNvCxnSpPr/>
          <p:nvPr/>
        </p:nvCxnSpPr>
        <p:spPr>
          <a:xfrm>
            <a:off x="1369565" y="9389739"/>
            <a:ext cx="5615218" cy="0"/>
          </a:xfrm>
          <a:prstGeom prst="line">
            <a:avLst/>
          </a:prstGeom>
          <a:ln w="6350">
            <a:solidFill>
              <a:srgbClr val="BDE0FF"/>
            </a:solidFill>
          </a:ln>
        </p:spPr>
      </p:cxnSp>
      <p:sp>
        <p:nvSpPr>
          <p:cNvPr id="72" name="태그"/>
          <p:cNvSpPr/>
          <p:nvPr/>
        </p:nvSpPr>
        <p:spPr>
          <a:xfrm>
            <a:off x="1402435" y="9422609"/>
            <a:ext cx="525913" cy="19721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활용사례</a:t>
            </a:r>
          </a:p>
        </p:txBody>
      </p:sp>
      <p:sp>
        <p:nvSpPr>
          <p:cNvPr id="73" name="태그 설명"/>
          <p:cNvSpPr txBox="1"/>
          <p:nvPr/>
        </p:nvSpPr>
        <p:spPr>
          <a:xfrm>
            <a:off x="1972174" y="9411652"/>
            <a:ext cx="2163913" cy="219130"/>
          </a:xfrm>
          <a:prstGeom prst="rect">
            <a:avLst/>
          </a:prstGeom>
          <a:noFill/>
        </p:spPr>
        <p:txBody>
          <a:bodyPr wrap="square" lIns="21600" tIns="0" rIns="1080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단체협약, 복리후생제도 운영 적법성 등</a:t>
            </a:r>
          </a:p>
        </p:txBody>
      </p:sp>
      <p:sp>
        <p:nvSpPr>
          <p:cNvPr id="74" name="태그"/>
          <p:cNvSpPr/>
          <p:nvPr/>
        </p:nvSpPr>
        <p:spPr>
          <a:xfrm>
            <a:off x="4201826" y="9422609"/>
            <a:ext cx="525913" cy="19721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활용사례</a:t>
            </a:r>
          </a:p>
        </p:txBody>
      </p:sp>
      <p:sp>
        <p:nvSpPr>
          <p:cNvPr id="75" name="태그 설명"/>
          <p:cNvSpPr txBox="1"/>
          <p:nvPr/>
        </p:nvSpPr>
        <p:spPr>
          <a:xfrm>
            <a:off x="4771565" y="9411652"/>
            <a:ext cx="2191304" cy="219130"/>
          </a:xfrm>
          <a:prstGeom prst="rect">
            <a:avLst/>
          </a:prstGeom>
          <a:noFill/>
        </p:spPr>
        <p:txBody>
          <a:bodyPr wrap="square" lIns="21600" tIns="0" rIns="1080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감시단속적 근무 해제, 육아지원 3법 등</a:t>
            </a:r>
          </a:p>
        </p:txBody>
      </p:sp>
      <p:sp>
        <p:nvSpPr>
          <p:cNvPr id="76" name="핵심성과 박스"/>
          <p:cNvSpPr/>
          <p:nvPr/>
        </p:nvSpPr>
        <p:spPr>
          <a:xfrm>
            <a:off x="723130" y="9762261"/>
            <a:ext cx="6294522" cy="301304"/>
          </a:xfrm>
          <a:prstGeom prst="rect">
            <a:avLst/>
          </a:prstGeom>
          <a:solidFill>
            <a:srgbClr val="FFFFFF"/>
          </a:solidFill>
          <a:ln w="28575">
            <a:solidFill>
              <a:srgbClr val="002060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7" name="핵심성과 라벨"/>
          <p:cNvSpPr/>
          <p:nvPr/>
        </p:nvSpPr>
        <p:spPr>
          <a:xfrm>
            <a:off x="756000" y="9800609"/>
            <a:ext cx="657391" cy="224609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78" name="핵심성과 문구"/>
          <p:cNvSpPr txBox="1"/>
          <p:nvPr/>
        </p:nvSpPr>
        <p:spPr>
          <a:xfrm>
            <a:off x="1501043" y="9778696"/>
            <a:ext cx="5450870" cy="268435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노사역량지수 전년대비 0.8점 상승(90.1 → 90.9점)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Ⅰ. 경영관리 범주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조직 운영 및 관리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97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2025년도 경영실적보고서</a:t>
            </a:r>
          </a:p>
        </p:txBody>
      </p:sp>
      <p:sp>
        <p:nvSpPr>
          <p:cNvPr id="7" name="평가내용 라벨"/>
          <p:cNvSpPr/>
          <p:nvPr/>
        </p:nvSpPr>
        <p:spPr>
          <a:xfrm>
            <a:off x="536870" y="766957"/>
            <a:ext cx="975130" cy="345130"/>
          </a:xfrm>
          <a:prstGeom prst="rect">
            <a:avLst/>
          </a:prstGeom>
          <a:solidFill>
            <a:srgbClr val="DEEEFF"/>
          </a:solidFill>
          <a:ln w="28575">
            <a:solidFill>
              <a:srgbClr val="0051BC"/>
            </a:solidFill>
          </a:ln>
          <a:effectLst/>
        </p:spPr>
        <p:txBody>
          <a:bodyPr rtlCol="0" anchor="ctr" lIns="10800" rIns="10800" tIns="10800" bIns="108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평가내용 </a:t>
            </a:r>
            <a:r>
              <a:rPr lang="ko-KR" sz="1400" b="1" spc="-55" dirty="0">
                <a:solidFill>
                  <a:srgbClr val="0051BC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8" name="평가내용 제목 박스"/>
          <p:cNvSpPr/>
          <p:nvPr/>
        </p:nvSpPr>
        <p:spPr>
          <a:xfrm>
            <a:off x="1522957" y="777913"/>
            <a:ext cx="5313913" cy="323217"/>
          </a:xfrm>
          <a:prstGeom prst="rect">
            <a:avLst/>
          </a:prstGeom>
          <a:solidFill>
            <a:srgbClr val="FFFFFF"/>
          </a:solidFill>
          <a:ln w="19050">
            <a:solidFill>
              <a:srgbClr val="008E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평가내용 제목"/>
          <p:cNvSpPr txBox="1"/>
          <p:nvPr/>
        </p:nvSpPr>
        <p:spPr>
          <a:xfrm>
            <a:off x="1632522" y="788870"/>
            <a:ext cx="5127652" cy="3013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spc="-70" dirty="0">
                <a:solidFill>
                  <a:srgbClr val="000359"/>
                </a:solidFill>
                <a:latin typeface="Pretendard"/>
                <a:ea typeface="Pretendard"/>
              </a:rPr>
              <a:t>노사협력을 통한 근로조건의 실질적 향상과 구체적 성과</a:t>
            </a:r>
          </a:p>
        </p:txBody>
      </p:sp>
      <p:sp>
        <p:nvSpPr>
          <p:cNvPr id="10" name="점"/>
          <p:cNvSpPr/>
          <p:nvPr/>
        </p:nvSpPr>
        <p:spPr>
          <a:xfrm>
            <a:off x="871043" y="1051826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점"/>
          <p:cNvSpPr/>
          <p:nvPr/>
        </p:nvSpPr>
        <p:spPr>
          <a:xfrm>
            <a:off x="947739" y="1051826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점"/>
          <p:cNvSpPr/>
          <p:nvPr/>
        </p:nvSpPr>
        <p:spPr>
          <a:xfrm>
            <a:off x="1024435" y="1051826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점"/>
          <p:cNvSpPr/>
          <p:nvPr/>
        </p:nvSpPr>
        <p:spPr>
          <a:xfrm>
            <a:off x="1101130" y="1051826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점"/>
          <p:cNvSpPr/>
          <p:nvPr/>
        </p:nvSpPr>
        <p:spPr>
          <a:xfrm>
            <a:off x="1177826" y="1051826"/>
            <a:ext cx="27391" cy="27391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번호 띠"/>
          <p:cNvSpPr/>
          <p:nvPr/>
        </p:nvSpPr>
        <p:spPr>
          <a:xfrm>
            <a:off x="536870" y="1243565"/>
            <a:ext cx="6300000" cy="301304"/>
          </a:xfrm>
          <a:prstGeom prst="rect">
            <a:avLst/>
          </a:prstGeom>
          <a:gradFill rotWithShape="1">
            <a:gsLst>
              <a:gs pos="0">
                <a:srgbClr val="DEEEFF"/>
              </a:gs>
              <a:gs pos="100000">
                <a:srgbClr val="FFFFFF"/>
              </a:gs>
            </a:gsLst>
            <a:lin scaled="0" ang="0"/>
          </a:gradFill>
          <a:ln w="9525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번호 탭"/>
          <p:cNvSpPr/>
          <p:nvPr/>
        </p:nvSpPr>
        <p:spPr>
          <a:xfrm>
            <a:off x="558782" y="1265478"/>
            <a:ext cx="471131" cy="257478"/>
          </a:xfrm>
          <a:custGeom>
            <a:avLst/>
            <a:gdLst/>
            <a:ahLst/>
            <a:cxnLst/>
            <a:rect l="l" t="t" r="r" b="b"/>
            <a:pathLst>
              <a:path w="471131" h="257478">
                <a:moveTo>
                  <a:pt x="0" y="0"/>
                </a:moveTo>
                <a:lnTo>
                  <a:pt x="394435" y="0"/>
                </a:lnTo>
                <a:lnTo>
                  <a:pt x="471131" y="257478"/>
                </a:lnTo>
                <a:lnTo>
                  <a:pt x="0" y="257478"/>
                </a:ln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008E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탭 빗면"/>
          <p:cNvSpPr/>
          <p:nvPr/>
        </p:nvSpPr>
        <p:spPr>
          <a:xfrm>
            <a:off x="953217" y="1265478"/>
            <a:ext cx="142435" cy="257478"/>
          </a:xfrm>
          <a:custGeom>
            <a:avLst/>
            <a:gdLst/>
            <a:ahLst/>
            <a:cxnLst/>
            <a:rect l="l" t="t" r="r" b="b"/>
            <a:pathLst>
              <a:path w="142435" h="257478">
                <a:moveTo>
                  <a:pt x="0" y="0"/>
                </a:moveTo>
                <a:lnTo>
                  <a:pt x="65739" y="0"/>
                </a:lnTo>
                <a:lnTo>
                  <a:pt x="142435" y="257478"/>
                </a:lnTo>
                <a:lnTo>
                  <a:pt x="76696" y="257478"/>
                </a:lnTo>
                <a:close/>
              </a:path>
            </a:pathLst>
          </a:custGeom>
          <a:solidFill>
            <a:srgbClr val="BDE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번호"/>
          <p:cNvSpPr txBox="1"/>
          <p:nvPr/>
        </p:nvSpPr>
        <p:spPr>
          <a:xfrm>
            <a:off x="558783" y="1243565"/>
            <a:ext cx="383478" cy="301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 spc="-110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9" name="번호 띠 제목"/>
          <p:cNvSpPr txBox="1"/>
          <p:nvPr/>
        </p:nvSpPr>
        <p:spPr>
          <a:xfrm>
            <a:off x="1183304" y="1265478"/>
            <a:ext cx="5587826" cy="257478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spc="-75" dirty="0">
                <a:solidFill>
                  <a:srgbClr val="000359"/>
                </a:solidFill>
                <a:latin typeface="Pretendard"/>
                <a:ea typeface="Pretendard"/>
              </a:rPr>
              <a:t>무분규 임금·단체협약을 통한 근로조건의 실질적 향상</a:t>
            </a:r>
          </a:p>
        </p:txBody>
      </p:sp>
      <p:sp>
        <p:nvSpPr>
          <p:cNvPr id="20" name="소제목"/>
          <p:cNvSpPr txBox="1"/>
          <p:nvPr/>
        </p:nvSpPr>
        <p:spPr>
          <a:xfrm>
            <a:off x="536870" y="1616087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가. 갈등 있을 땐 소통으로! 노사 양보와 배려로 15년 연속 무분규</a:t>
            </a:r>
          </a:p>
        </p:txBody>
      </p:sp>
      <p:sp>
        <p:nvSpPr>
          <p:cNvPr id="21" name="태그칩"/>
          <p:cNvSpPr/>
          <p:nvPr/>
        </p:nvSpPr>
        <p:spPr>
          <a:xfrm>
            <a:off x="4421894" y="1648957"/>
            <a:ext cx="351016" cy="175304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강화</a:t>
            </a:r>
          </a:p>
        </p:txBody>
      </p:sp>
      <p:sp>
        <p:nvSpPr>
          <p:cNvPr id="22" name="표 외곽"/>
          <p:cNvSpPr/>
          <p:nvPr/>
        </p:nvSpPr>
        <p:spPr>
          <a:xfrm>
            <a:off x="536870" y="1928348"/>
            <a:ext cx="6310957" cy="750522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레일"/>
          <p:cNvSpPr/>
          <p:nvPr/>
        </p:nvSpPr>
        <p:spPr>
          <a:xfrm>
            <a:off x="536870" y="1939304"/>
            <a:ext cx="602609" cy="728609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환경분석</a:t>
            </a:r>
          </a:p>
        </p:txBody>
      </p:sp>
      <p:sp>
        <p:nvSpPr>
          <p:cNvPr id="24" name="머리칸"/>
          <p:cNvSpPr/>
          <p:nvPr/>
        </p:nvSpPr>
        <p:spPr>
          <a:xfrm>
            <a:off x="1188783" y="1955739"/>
            <a:ext cx="279939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외부환경</a:t>
            </a:r>
          </a:p>
        </p:txBody>
      </p:sp>
      <p:sp>
        <p:nvSpPr>
          <p:cNvPr id="25" name="머리칸"/>
          <p:cNvSpPr/>
          <p:nvPr/>
        </p:nvSpPr>
        <p:spPr>
          <a:xfrm>
            <a:off x="4015565" y="1955739"/>
            <a:ext cx="2782957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내부환경</a:t>
            </a:r>
          </a:p>
        </p:txBody>
      </p:sp>
      <p:sp>
        <p:nvSpPr>
          <p:cNvPr id="26" name="칸 본문"/>
          <p:cNvSpPr txBox="1"/>
          <p:nvPr/>
        </p:nvSpPr>
        <p:spPr>
          <a:xfrm>
            <a:off x="1199739" y="2202261"/>
            <a:ext cx="2799391" cy="460174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'25년도 공공기관 총인건비 인상률 3.0% 내 인상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상대적 저임금자 임금 인상 기조(예산운용지침)</a:t>
            </a:r>
          </a:p>
        </p:txBody>
      </p:sp>
      <p:sp>
        <p:nvSpPr>
          <p:cNvPr id="27" name="칸 본문"/>
          <p:cNvSpPr txBox="1"/>
          <p:nvPr/>
        </p:nvSpPr>
        <p:spPr>
          <a:xfrm>
            <a:off x="4021043" y="2202261"/>
            <a:ext cx="2782957" cy="460174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직종·직급 간 동일 인상률에 대한 불만 지속적 제기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낮은 보수로 인한 하위직·교통직·실무직 불만 팽배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10087" y="2235130"/>
            <a:ext cx="0" cy="394435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29" name="브래킷"/>
          <p:cNvSpPr/>
          <p:nvPr/>
        </p:nvSpPr>
        <p:spPr>
          <a:xfrm>
            <a:off x="1698261" y="2695304"/>
            <a:ext cx="4601739" cy="186261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브래킷 안"/>
          <p:cNvSpPr/>
          <p:nvPr/>
        </p:nvSpPr>
        <p:spPr>
          <a:xfrm>
            <a:off x="1742087" y="2684348"/>
            <a:ext cx="4514087" cy="1533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브래킷 막대"/>
          <p:cNvSpPr/>
          <p:nvPr/>
        </p:nvSpPr>
        <p:spPr>
          <a:xfrm>
            <a:off x="3637565" y="2826783"/>
            <a:ext cx="723130" cy="38348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브래킷 끝"/>
          <p:cNvSpPr/>
          <p:nvPr/>
        </p:nvSpPr>
        <p:spPr>
          <a:xfrm rot="10800000">
            <a:off x="3922435" y="2865130"/>
            <a:ext cx="153391" cy="82174"/>
          </a:xfrm>
          <a:prstGeom prst="triangle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표 외곽"/>
          <p:cNvSpPr/>
          <p:nvPr/>
        </p:nvSpPr>
        <p:spPr>
          <a:xfrm>
            <a:off x="536870" y="2903478"/>
            <a:ext cx="6310957" cy="172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레일"/>
          <p:cNvSpPr/>
          <p:nvPr/>
        </p:nvSpPr>
        <p:spPr>
          <a:xfrm>
            <a:off x="536870" y="2914435"/>
            <a:ext cx="602609" cy="717652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이해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관계</a:t>
            </a:r>
          </a:p>
        </p:txBody>
      </p:sp>
      <p:sp>
        <p:nvSpPr>
          <p:cNvPr id="35" name="레일"/>
          <p:cNvSpPr/>
          <p:nvPr/>
        </p:nvSpPr>
        <p:spPr>
          <a:xfrm>
            <a:off x="536870" y="3654000"/>
            <a:ext cx="602609" cy="958696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의견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조율</a:t>
            </a:r>
          </a:p>
        </p:txBody>
      </p:sp>
      <p:sp>
        <p:nvSpPr>
          <p:cNvPr id="36" name="머리칸"/>
          <p:cNvSpPr/>
          <p:nvPr/>
        </p:nvSpPr>
        <p:spPr>
          <a:xfrm>
            <a:off x="1188783" y="2930870"/>
            <a:ext cx="279939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37" name="머리칸"/>
          <p:cNvSpPr/>
          <p:nvPr/>
        </p:nvSpPr>
        <p:spPr>
          <a:xfrm>
            <a:off x="4015565" y="2930870"/>
            <a:ext cx="2782957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38" name="칸 본문"/>
          <p:cNvSpPr txBox="1"/>
          <p:nvPr/>
        </p:nvSpPr>
        <p:spPr>
          <a:xfrm>
            <a:off x="1199739" y="3177391"/>
            <a:ext cx="2799391" cy="44373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상대적 저임금자에 대한 임금 우선 인상 동의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고위직급자 임금 인상과 직무급 확대 요구</a:t>
            </a:r>
          </a:p>
        </p:txBody>
      </p:sp>
      <p:sp>
        <p:nvSpPr>
          <p:cNvPr id="39" name="칸 본문"/>
          <p:cNvSpPr txBox="1"/>
          <p:nvPr/>
        </p:nvSpPr>
        <p:spPr>
          <a:xfrm>
            <a:off x="4021043" y="3177391"/>
            <a:ext cx="2782957" cy="443739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상대적 저임금 직종·직급 위주 '하후상박식' 인상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실무직 근로시간 확대, 직무급 확대 강력 반대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010087" y="3210261"/>
            <a:ext cx="0" cy="378000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41" name="단계"/>
          <p:cNvSpPr/>
          <p:nvPr/>
        </p:nvSpPr>
        <p:spPr>
          <a:xfrm>
            <a:off x="1188783" y="3670435"/>
            <a:ext cx="1446261" cy="241043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1080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공감대 형성</a:t>
            </a:r>
          </a:p>
        </p:txBody>
      </p:sp>
      <p:sp>
        <p:nvSpPr>
          <p:cNvPr id="42" name="단계"/>
          <p:cNvSpPr/>
          <p:nvPr/>
        </p:nvSpPr>
        <p:spPr>
          <a:xfrm>
            <a:off x="2635043" y="3670435"/>
            <a:ext cx="1446261" cy="24104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1600" rIns="1080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갈등발생</a:t>
            </a:r>
          </a:p>
        </p:txBody>
      </p:sp>
      <p:sp>
        <p:nvSpPr>
          <p:cNvPr id="43" name="단계"/>
          <p:cNvSpPr/>
          <p:nvPr/>
        </p:nvSpPr>
        <p:spPr>
          <a:xfrm>
            <a:off x="4081304" y="3670435"/>
            <a:ext cx="1451739" cy="241043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21600" rIns="1080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갈등해소</a:t>
            </a:r>
          </a:p>
        </p:txBody>
      </p:sp>
      <p:sp>
        <p:nvSpPr>
          <p:cNvPr id="44" name="단계"/>
          <p:cNvSpPr/>
          <p:nvPr/>
        </p:nvSpPr>
        <p:spPr>
          <a:xfrm>
            <a:off x="5533043" y="3670435"/>
            <a:ext cx="1281913" cy="241043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21600" rIns="1080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본교섭 실시</a:t>
            </a:r>
          </a:p>
        </p:txBody>
      </p:sp>
      <p:sp>
        <p:nvSpPr>
          <p:cNvPr id="45" name="단계 화살표"/>
          <p:cNvSpPr/>
          <p:nvPr/>
        </p:nvSpPr>
        <p:spPr>
          <a:xfrm>
            <a:off x="2492609" y="3681391"/>
            <a:ext cx="219130" cy="21913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51BC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46" name="단계 화살표"/>
          <p:cNvSpPr/>
          <p:nvPr/>
        </p:nvSpPr>
        <p:spPr>
          <a:xfrm>
            <a:off x="3938870" y="3681391"/>
            <a:ext cx="219130" cy="21913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51BC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47" name="단계 화살표"/>
          <p:cNvSpPr/>
          <p:nvPr/>
        </p:nvSpPr>
        <p:spPr>
          <a:xfrm>
            <a:off x="5390609" y="3681391"/>
            <a:ext cx="219130" cy="21913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51BC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48" name="칸 본문"/>
          <p:cNvSpPr txBox="1"/>
          <p:nvPr/>
        </p:nvSpPr>
        <p:spPr>
          <a:xfrm>
            <a:off x="1199739" y="3933391"/>
            <a:ext cx="1265478" cy="67382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대표위원 12명 참석·상견례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방향 공유·논의</a:t>
            </a:r>
          </a:p>
        </p:txBody>
      </p:sp>
      <p:sp>
        <p:nvSpPr>
          <p:cNvPr id="49" name="칸 본문"/>
          <p:cNvSpPr txBox="1"/>
          <p:nvPr/>
        </p:nvSpPr>
        <p:spPr>
          <a:xfrm>
            <a:off x="2487130" y="3933391"/>
            <a:ext cx="1380522" cy="67382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직급별 인상률·직무급 확대 이견 발생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476174" y="3966261"/>
            <a:ext cx="0" cy="608087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1" name="칸 본문"/>
          <p:cNvSpPr txBox="1"/>
          <p:nvPr/>
        </p:nvSpPr>
        <p:spPr>
          <a:xfrm>
            <a:off x="3889565" y="3933391"/>
            <a:ext cx="1446261" cy="67382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실무교섭 3회 대화·소통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하후상박식 절충안 협의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878609" y="3966261"/>
            <a:ext cx="0" cy="608087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3" name="칸 본문"/>
          <p:cNvSpPr txBox="1"/>
          <p:nvPr/>
        </p:nvSpPr>
        <p:spPr>
          <a:xfrm>
            <a:off x="5357739" y="3933391"/>
            <a:ext cx="1446261" cy="67382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실무교섭안으로 본교섭·체결식 동시 진행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15년 연속 무분규 체결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346783" y="3966261"/>
            <a:ext cx="0" cy="608087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55" name="협약체결 외곽"/>
          <p:cNvSpPr/>
          <p:nvPr/>
        </p:nvSpPr>
        <p:spPr>
          <a:xfrm>
            <a:off x="536870" y="4700348"/>
            <a:ext cx="6310957" cy="1144957"/>
          </a:xfrm>
          <a:prstGeom prst="rect">
            <a:avLst/>
          </a:prstGeom>
          <a:solidFill>
            <a:srgbClr val="FFFFFF"/>
          </a:solidFill>
          <a:ln w="19050">
            <a:solidFill>
              <a:srgbClr val="0051BC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레일"/>
          <p:cNvSpPr/>
          <p:nvPr/>
        </p:nvSpPr>
        <p:spPr>
          <a:xfrm>
            <a:off x="536870" y="4711304"/>
            <a:ext cx="602609" cy="1123043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협약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체결</a:t>
            </a:r>
          </a:p>
        </p:txBody>
      </p:sp>
      <p:sp>
        <p:nvSpPr>
          <p:cNvPr id="57" name="머리칸"/>
          <p:cNvSpPr/>
          <p:nvPr/>
        </p:nvSpPr>
        <p:spPr>
          <a:xfrm>
            <a:off x="1188783" y="4722261"/>
            <a:ext cx="2799391" cy="21913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1차 임금협약 체결('25.5월)</a:t>
            </a:r>
          </a:p>
        </p:txBody>
      </p:sp>
      <p:sp>
        <p:nvSpPr>
          <p:cNvPr id="58" name="머리칸"/>
          <p:cNvSpPr/>
          <p:nvPr/>
        </p:nvSpPr>
        <p:spPr>
          <a:xfrm>
            <a:off x="4015565" y="4722261"/>
            <a:ext cx="2782957" cy="219130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최종 임금협약 체결('25.12월)</a:t>
            </a:r>
          </a:p>
        </p:txBody>
      </p:sp>
      <p:sp>
        <p:nvSpPr>
          <p:cNvPr id="59" name="1차 협약"/>
          <p:cNvSpPr txBox="1"/>
          <p:nvPr/>
        </p:nvSpPr>
        <p:spPr>
          <a:xfrm>
            <a:off x="1188783" y="4957826"/>
            <a:ext cx="2815826" cy="1753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하후상박식 임금 차등인상(1.0~4.5%)</a:t>
            </a:r>
          </a:p>
        </p:txBody>
      </p:sp>
      <p:graphicFrame>
        <p:nvGraphicFramePr>
          <p:cNvPr id="60" name="인상률표"/>
          <p:cNvGraphicFramePr>
            <a:graphicFrameLocks noGrp="1"/>
          </p:cNvGraphicFramePr>
          <p:nvPr/>
        </p:nvGraphicFramePr>
        <p:xfrm>
          <a:off x="1249043" y="5160522"/>
          <a:ext cx="2711740" cy="405392"/>
        </p:xfrm>
        <a:graphic>
          <a:graphicData uri="http://schemas.openxmlformats.org/drawingml/2006/table">
            <a:tbl>
              <a:tblPr/>
              <a:tblGrid>
                <a:gridCol w="339652"/>
                <a:gridCol w="536870"/>
                <a:gridCol w="372522"/>
                <a:gridCol w="164348"/>
                <a:gridCol w="416348"/>
                <a:gridCol w="438261"/>
                <a:gridCol w="443739"/>
              </a:tblGrid>
              <a:tr h="20269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구분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위원,1급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2급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…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6,7급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교통직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실무직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DEEEFF"/>
                    </a:solidFill>
                  </a:tcPr>
                </a:tc>
              </a:tr>
              <a:tr h="20269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인상률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1.0%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1.5%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…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4.5%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4.5%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spc="-50" dirty="0">
                          <a:solidFill>
                            <a:srgbClr val="000359"/>
                          </a:solidFill>
                          <a:latin typeface="Pretendard"/>
                          <a:ea typeface="Pretendard"/>
                        </a:rPr>
                        <a:t>3.2%</a:t>
                      </a:r>
                    </a:p>
                  </a:txBody>
                  <a:tcPr marL="36000" marR="36000" marT="7200" marB="7200" anchor="ctr">
                    <a:lnL w="9525" cap="flat" cmpd="sng" algn="ctr">
                      <a:solidFill>
                        <a:srgbClr val="BDE0FF"/>
                      </a:solidFill>
                      <a:prstDash val="solid"/>
                    </a:lnL>
                    <a:lnR w="9525" cap="flat" cmpd="sng" algn="ctr">
                      <a:solidFill>
                        <a:srgbClr val="BDE0FF"/>
                      </a:solidFill>
                      <a:prstDash val="solid"/>
                    </a:lnR>
                    <a:lnT w="9525" cap="flat" cmpd="sng" algn="ctr">
                      <a:solidFill>
                        <a:srgbClr val="BDE0FF"/>
                      </a:solidFill>
                      <a:prstDash val="solid"/>
                    </a:lnT>
                    <a:lnB w="9525" cap="flat" cmpd="sng" algn="ctr">
                      <a:solidFill>
                        <a:srgbClr val="BDE0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1" name="격차 완화"/>
          <p:cNvSpPr txBox="1"/>
          <p:nvPr/>
        </p:nvSpPr>
        <p:spPr>
          <a:xfrm>
            <a:off x="1188783" y="5576870"/>
            <a:ext cx="2815826" cy="252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상하위직 격차 완화(연공성 완화율 1.9%p↑)</a:t>
            </a:r>
          </a:p>
        </p:txBody>
      </p:sp>
      <p:sp>
        <p:nvSpPr>
          <p:cNvPr id="62" name="칸 본문"/>
          <p:cNvSpPr txBox="1"/>
          <p:nvPr/>
        </p:nvSpPr>
        <p:spPr>
          <a:xfrm>
            <a:off x="4026522" y="4957826"/>
            <a:ext cx="2777478" cy="871043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교통직 기본급 0.5%, 실무직 0.4% 추가 인상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환경실무직 표준 근로체계 편입(임금↑)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직무급 Ⅰ 0.08%, 직무급 Ⅱ 1만원 인상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일반직 3~7급 성과급 한시 추가 지급</a:t>
            </a:r>
          </a:p>
        </p:txBody>
      </p:sp>
      <p:sp>
        <p:nvSpPr>
          <p:cNvPr id="63" name="소제목"/>
          <p:cNvSpPr txBox="1"/>
          <p:nvPr/>
        </p:nvSpPr>
        <p:spPr>
          <a:xfrm>
            <a:off x="536870" y="5993217"/>
            <a:ext cx="6300000" cy="2410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spc="-60" dirty="0">
                <a:solidFill>
                  <a:srgbClr val="000359"/>
                </a:solidFill>
                <a:latin typeface="Pretendard"/>
                <a:ea typeface="Pretendard"/>
              </a:rPr>
              <a:t>나. 상호 신뢰와 공감을 바탕으로 본교섭을 생략한 단체협약 체결</a:t>
            </a:r>
          </a:p>
        </p:txBody>
      </p:sp>
      <p:sp>
        <p:nvSpPr>
          <p:cNvPr id="64" name="표 외곽"/>
          <p:cNvSpPr/>
          <p:nvPr/>
        </p:nvSpPr>
        <p:spPr>
          <a:xfrm>
            <a:off x="536870" y="6272609"/>
            <a:ext cx="6310957" cy="2246087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레일"/>
          <p:cNvSpPr/>
          <p:nvPr/>
        </p:nvSpPr>
        <p:spPr>
          <a:xfrm>
            <a:off x="536870" y="6283565"/>
            <a:ext cx="602609" cy="717652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이해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관계</a:t>
            </a:r>
          </a:p>
        </p:txBody>
      </p:sp>
      <p:sp>
        <p:nvSpPr>
          <p:cNvPr id="66" name="레일"/>
          <p:cNvSpPr/>
          <p:nvPr/>
        </p:nvSpPr>
        <p:spPr>
          <a:xfrm>
            <a:off x="536870" y="7034087"/>
            <a:ext cx="602609" cy="706696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공감대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형성</a:t>
            </a:r>
          </a:p>
        </p:txBody>
      </p:sp>
      <p:sp>
        <p:nvSpPr>
          <p:cNvPr id="67" name="레일"/>
          <p:cNvSpPr/>
          <p:nvPr/>
        </p:nvSpPr>
        <p:spPr>
          <a:xfrm>
            <a:off x="536870" y="7768174"/>
            <a:ext cx="602609" cy="739565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의견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조율</a:t>
            </a:r>
          </a:p>
        </p:txBody>
      </p:sp>
      <p:sp>
        <p:nvSpPr>
          <p:cNvPr id="68" name="머리칸"/>
          <p:cNvSpPr/>
          <p:nvPr/>
        </p:nvSpPr>
        <p:spPr>
          <a:xfrm>
            <a:off x="1188783" y="6300000"/>
            <a:ext cx="279939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 단</a:t>
            </a:r>
          </a:p>
        </p:txBody>
      </p:sp>
      <p:sp>
        <p:nvSpPr>
          <p:cNvPr id="69" name="머리칸"/>
          <p:cNvSpPr/>
          <p:nvPr/>
        </p:nvSpPr>
        <p:spPr>
          <a:xfrm>
            <a:off x="4015565" y="6300000"/>
            <a:ext cx="2782957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노동조합</a:t>
            </a:r>
          </a:p>
        </p:txBody>
      </p:sp>
      <p:sp>
        <p:nvSpPr>
          <p:cNvPr id="70" name="칸 본문"/>
          <p:cNvSpPr txBox="1"/>
          <p:nvPr/>
        </p:nvSpPr>
        <p:spPr>
          <a:xfrm>
            <a:off x="1199739" y="6552000"/>
            <a:ext cx="2799391" cy="449217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법과 정부정책 테두리 내에서의 교섭 실시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공단의 발전이라는 공동 목표 우선적 지향</a:t>
            </a:r>
          </a:p>
        </p:txBody>
      </p:sp>
      <p:sp>
        <p:nvSpPr>
          <p:cNvPr id="71" name="칸 본문"/>
          <p:cNvSpPr txBox="1"/>
          <p:nvPr/>
        </p:nvSpPr>
        <p:spPr>
          <a:xfrm>
            <a:off x="4021043" y="6552000"/>
            <a:ext cx="2782957" cy="449217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조합원의 권리 확대와 노동조합 활동 보장 강화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근로조건 개선 등 근로자 권익 보호 중점 추진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4010087" y="6584870"/>
            <a:ext cx="0" cy="383478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3" name="머리칸"/>
          <p:cNvSpPr/>
          <p:nvPr/>
        </p:nvSpPr>
        <p:spPr>
          <a:xfrm>
            <a:off x="1188783" y="7045043"/>
            <a:ext cx="2799391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사전교섭('25.9월)</a:t>
            </a:r>
          </a:p>
        </p:txBody>
      </p:sp>
      <p:sp>
        <p:nvSpPr>
          <p:cNvPr id="74" name="머리칸"/>
          <p:cNvSpPr/>
          <p:nvPr/>
        </p:nvSpPr>
        <p:spPr>
          <a:xfrm>
            <a:off x="4015565" y="7045043"/>
            <a:ext cx="2782957" cy="230087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파트너십 프로그램('25.11월)</a:t>
            </a:r>
          </a:p>
        </p:txBody>
      </p:sp>
      <p:sp>
        <p:nvSpPr>
          <p:cNvPr id="75" name="칸 본문"/>
          <p:cNvSpPr txBox="1"/>
          <p:nvPr/>
        </p:nvSpPr>
        <p:spPr>
          <a:xfrm>
            <a:off x="1199739" y="7291565"/>
            <a:ext cx="2799391" cy="438261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본교섭 대표위원 16명 전원 참석, 상견례 실시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교섭방향 및 의견 교류로 공감대 형성</a:t>
            </a:r>
          </a:p>
        </p:txBody>
      </p:sp>
      <p:sp>
        <p:nvSpPr>
          <p:cNvPr id="76" name="칸 본문"/>
          <p:cNvSpPr txBox="1"/>
          <p:nvPr/>
        </p:nvSpPr>
        <p:spPr>
          <a:xfrm>
            <a:off x="4021043" y="7291565"/>
            <a:ext cx="2782957" cy="438261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경영진 및 노조집행부, 실무자 등 20명 참석</a:t>
            </a:r>
          </a:p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팀워크 활동 및 현안 공유·소통으로 공감대 강화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4010087" y="7324435"/>
            <a:ext cx="0" cy="372522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78" name="단계"/>
          <p:cNvSpPr/>
          <p:nvPr/>
        </p:nvSpPr>
        <p:spPr>
          <a:xfrm>
            <a:off x="1188783" y="7779130"/>
            <a:ext cx="1446261" cy="241043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1080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요구안 제시</a:t>
            </a:r>
          </a:p>
        </p:txBody>
      </p:sp>
      <p:sp>
        <p:nvSpPr>
          <p:cNvPr id="79" name="단계"/>
          <p:cNvSpPr/>
          <p:nvPr/>
        </p:nvSpPr>
        <p:spPr>
          <a:xfrm>
            <a:off x="2635043" y="7779130"/>
            <a:ext cx="1446261" cy="241043"/>
          </a:xfrm>
          <a:prstGeom prst="rect">
            <a:avLst/>
          </a:prstGeom>
          <a:solidFill>
            <a:srgbClr val="BDE0FF"/>
          </a:solidFill>
          <a:ln>
            <a:noFill/>
          </a:ln>
          <a:effectLst/>
        </p:spPr>
        <p:txBody>
          <a:bodyPr rtlCol="0" anchor="ctr" lIns="21600" rIns="1080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사측 검토</a:t>
            </a:r>
          </a:p>
        </p:txBody>
      </p:sp>
      <p:sp>
        <p:nvSpPr>
          <p:cNvPr id="80" name="단계"/>
          <p:cNvSpPr/>
          <p:nvPr/>
        </p:nvSpPr>
        <p:spPr>
          <a:xfrm>
            <a:off x="4081304" y="7779130"/>
            <a:ext cx="1451739" cy="241043"/>
          </a:xfrm>
          <a:prstGeom prst="rect">
            <a:avLst/>
          </a:prstGeom>
          <a:solidFill>
            <a:srgbClr val="30C2FF"/>
          </a:solidFill>
          <a:ln>
            <a:noFill/>
          </a:ln>
          <a:effectLst/>
        </p:spPr>
        <p:txBody>
          <a:bodyPr rtlCol="0" anchor="ctr" lIns="21600" rIns="1080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노사 소통</a:t>
            </a:r>
          </a:p>
        </p:txBody>
      </p:sp>
      <p:sp>
        <p:nvSpPr>
          <p:cNvPr id="81" name="단계"/>
          <p:cNvSpPr/>
          <p:nvPr/>
        </p:nvSpPr>
        <p:spPr>
          <a:xfrm>
            <a:off x="5533043" y="7779130"/>
            <a:ext cx="1281913" cy="241043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21600" rIns="1080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합의안 도출</a:t>
            </a:r>
          </a:p>
        </p:txBody>
      </p:sp>
      <p:sp>
        <p:nvSpPr>
          <p:cNvPr id="82" name="단계 화살표"/>
          <p:cNvSpPr/>
          <p:nvPr/>
        </p:nvSpPr>
        <p:spPr>
          <a:xfrm>
            <a:off x="2492609" y="7790087"/>
            <a:ext cx="219130" cy="21913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51BC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83" name="단계 화살표"/>
          <p:cNvSpPr/>
          <p:nvPr/>
        </p:nvSpPr>
        <p:spPr>
          <a:xfrm>
            <a:off x="3938870" y="7790087"/>
            <a:ext cx="219130" cy="21913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51BC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84" name="단계 화살표"/>
          <p:cNvSpPr/>
          <p:nvPr/>
        </p:nvSpPr>
        <p:spPr>
          <a:xfrm>
            <a:off x="5390609" y="7790087"/>
            <a:ext cx="219130" cy="21913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0FF"/>
            </a:solidFill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51BC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85" name="칸 본문"/>
          <p:cNvSpPr txBox="1"/>
          <p:nvPr/>
        </p:nvSpPr>
        <p:spPr>
          <a:xfrm>
            <a:off x="1199739" y="8042087"/>
            <a:ext cx="1265478" cy="45469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노조 18개 요구안 제시·교섭 요구</a:t>
            </a:r>
          </a:p>
        </p:txBody>
      </p:sp>
      <p:sp>
        <p:nvSpPr>
          <p:cNvPr id="86" name="칸 본문"/>
          <p:cNvSpPr txBox="1"/>
          <p:nvPr/>
        </p:nvSpPr>
        <p:spPr>
          <a:xfrm>
            <a:off x="2487130" y="8042087"/>
            <a:ext cx="1380522" cy="45469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실무부서 검토, 이사장·본부장 점검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2476174" y="8074957"/>
            <a:ext cx="0" cy="38895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88" name="칸 본문"/>
          <p:cNvSpPr txBox="1"/>
          <p:nvPr/>
        </p:nvSpPr>
        <p:spPr>
          <a:xfrm>
            <a:off x="3889565" y="8042087"/>
            <a:ext cx="1446261" cy="45469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협의 필요 사안 노사 소통·협의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3878609" y="8074957"/>
            <a:ext cx="0" cy="38895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0" name="칸 본문"/>
          <p:cNvSpPr txBox="1"/>
          <p:nvPr/>
        </p:nvSpPr>
        <p:spPr>
          <a:xfrm>
            <a:off x="5357739" y="8042087"/>
            <a:ext cx="1446261" cy="454696"/>
          </a:xfrm>
          <a:prstGeom prst="rect">
            <a:avLst/>
          </a:prstGeom>
          <a:noFill/>
        </p:spPr>
        <p:txBody>
          <a:bodyPr wrap="square" lIns="50400" tIns="7200" rIns="21600" bIns="72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7건 의견일치, 11건 수정합의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5346783" y="8074957"/>
            <a:ext cx="0" cy="388956"/>
          </a:xfrm>
          <a:prstGeom prst="line">
            <a:avLst/>
          </a:prstGeom>
          <a:ln w="9525">
            <a:solidFill>
              <a:srgbClr val="BDE0FF"/>
            </a:solidFill>
          </a:ln>
        </p:spPr>
      </p:cxnSp>
      <p:sp>
        <p:nvSpPr>
          <p:cNvPr id="92" name="협약체결 외곽"/>
          <p:cNvSpPr/>
          <p:nvPr/>
        </p:nvSpPr>
        <p:spPr>
          <a:xfrm>
            <a:off x="536870" y="8611826"/>
            <a:ext cx="6310957" cy="1084696"/>
          </a:xfrm>
          <a:prstGeom prst="rect">
            <a:avLst/>
          </a:prstGeom>
          <a:solidFill>
            <a:srgbClr val="FFFFFF"/>
          </a:solidFill>
          <a:ln w="19050">
            <a:solidFill>
              <a:srgbClr val="0051BC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3" name="레일"/>
          <p:cNvSpPr/>
          <p:nvPr/>
        </p:nvSpPr>
        <p:spPr>
          <a:xfrm>
            <a:off x="536870" y="8622783"/>
            <a:ext cx="602609" cy="1062783"/>
          </a:xfrm>
          <a:prstGeom prst="rect">
            <a:avLst/>
          </a:prstGeom>
          <a:solidFill>
            <a:srgbClr val="0051BC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협약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FFFFFF"/>
                </a:solidFill>
                <a:latin typeface="Pretendard"/>
                <a:ea typeface="Pretendard"/>
              </a:rPr>
              <a:t>체결</a:t>
            </a:r>
          </a:p>
        </p:txBody>
      </p:sp>
      <p:sp>
        <p:nvSpPr>
          <p:cNvPr id="94" name="머리칸"/>
          <p:cNvSpPr/>
          <p:nvPr/>
        </p:nvSpPr>
        <p:spPr>
          <a:xfrm>
            <a:off x="1188783" y="8639217"/>
            <a:ext cx="4174435" cy="235565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21600" rIns="21600" tIns="3600" bIns="360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상호 신뢰와 공감을 바탕으로 본교섭 없는 단체협약 체결('25.12월)</a:t>
            </a:r>
          </a:p>
        </p:txBody>
      </p:sp>
      <p:sp>
        <p:nvSpPr>
          <p:cNvPr id="95" name="협약 요지"/>
          <p:cNvSpPr txBox="1"/>
          <p:nvPr/>
        </p:nvSpPr>
        <p:spPr>
          <a:xfrm>
            <a:off x="1188783" y="8907652"/>
            <a:ext cx="4190870" cy="197217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18800" indent="-118800" algn="l">
              <a:lnSpc>
                <a:spcPct val="110000"/>
              </a:lnSpc>
              <a:spcBef>
                <a:spcPts val="0"/>
              </a:spcBef>
              <a:spcAft>
                <a:spcPts val="5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근로조건 개선과 공단 발전이라는 공동 목표까지, 균형 있는 협약 체결!</a:t>
            </a:r>
          </a:p>
        </p:txBody>
      </p:sp>
      <p:sp>
        <p:nvSpPr>
          <p:cNvPr id="96" name="태그"/>
          <p:cNvSpPr/>
          <p:nvPr/>
        </p:nvSpPr>
        <p:spPr>
          <a:xfrm>
            <a:off x="1287391" y="9148696"/>
            <a:ext cx="525913" cy="175304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근로조건</a:t>
            </a:r>
          </a:p>
        </p:txBody>
      </p:sp>
      <p:sp>
        <p:nvSpPr>
          <p:cNvPr id="97" name="태그 설명"/>
          <p:cNvSpPr txBox="1"/>
          <p:nvPr/>
        </p:nvSpPr>
        <p:spPr>
          <a:xfrm>
            <a:off x="1857130" y="9137739"/>
            <a:ext cx="3522522" cy="197217"/>
          </a:xfrm>
          <a:prstGeom prst="rect">
            <a:avLst/>
          </a:prstGeom>
          <a:noFill/>
        </p:spPr>
        <p:txBody>
          <a:bodyPr wrap="square" lIns="21600" tIns="0" rIns="1080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부당노동행위 금지, 조합활동 보장 강화, 비상 시 급여 지급 등</a:t>
            </a:r>
          </a:p>
        </p:txBody>
      </p:sp>
      <p:sp>
        <p:nvSpPr>
          <p:cNvPr id="98" name="태그"/>
          <p:cNvSpPr/>
          <p:nvPr/>
        </p:nvSpPr>
        <p:spPr>
          <a:xfrm>
            <a:off x="1287391" y="9378783"/>
            <a:ext cx="525913" cy="186261"/>
          </a:xfrm>
          <a:prstGeom prst="rect">
            <a:avLst/>
          </a:prstGeom>
          <a:solidFill>
            <a:srgbClr val="DEEEFF"/>
          </a:solidFill>
          <a:ln>
            <a:noFill/>
          </a:ln>
          <a:effectLst/>
        </p:spPr>
        <p:txBody>
          <a:bodyPr rtlCol="0" anchor="ctr" lIns="10800" rIns="108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spc="-50" dirty="0">
                <a:solidFill>
                  <a:srgbClr val="000359"/>
                </a:solidFill>
                <a:latin typeface="Pretendard"/>
                <a:ea typeface="Pretendard"/>
              </a:rPr>
              <a:t>공단발전</a:t>
            </a:r>
          </a:p>
        </p:txBody>
      </p:sp>
      <p:sp>
        <p:nvSpPr>
          <p:cNvPr id="99" name="태그 설명"/>
          <p:cNvSpPr txBox="1"/>
          <p:nvPr/>
        </p:nvSpPr>
        <p:spPr>
          <a:xfrm>
            <a:off x="1857130" y="9367826"/>
            <a:ext cx="3522522" cy="208174"/>
          </a:xfrm>
          <a:prstGeom prst="rect">
            <a:avLst/>
          </a:prstGeom>
          <a:noFill/>
        </p:spPr>
        <p:txBody>
          <a:bodyPr wrap="square" lIns="21600" tIns="0" rIns="10800" bIns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000359"/>
                </a:solidFill>
                <a:latin typeface="Pretendard"/>
                <a:ea typeface="Pretendard"/>
              </a:rPr>
              <a:t>11장. 미래 지속가능한 성장 신설, 해외사업 확대·지원 강화 등</a:t>
            </a:r>
          </a:p>
        </p:txBody>
      </p:sp>
      <p:sp>
        <p:nvSpPr>
          <p:cNvPr id="100" name="사진 칸"/>
          <p:cNvSpPr/>
          <p:nvPr/>
        </p:nvSpPr>
        <p:spPr>
          <a:xfrm>
            <a:off x="5396087" y="8600870"/>
            <a:ext cx="1380522" cy="1040870"/>
          </a:xfrm>
          <a:prstGeom prst="rect">
            <a:avLst/>
          </a:prstGeom>
          <a:solidFill>
            <a:srgbClr val="DEEEFF"/>
          </a:solidFill>
          <a:ln w="9525">
            <a:solidFill>
              <a:srgbClr val="008EFF"/>
            </a:solidFill>
          </a:ln>
          <a:effectLst/>
        </p:spPr>
        <p:txBody>
          <a:bodyPr rtlCol="0" anchor="ctr" lIns="0" rIns="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spc="-50" dirty="0">
                <a:solidFill>
                  <a:srgbClr val="5D7280"/>
                </a:solidFill>
                <a:latin typeface="Pretendard"/>
                <a:ea typeface="Pretendard"/>
              </a:rPr>
              <a:t>사진 (협약 체결식)</a:t>
            </a:r>
          </a:p>
        </p:txBody>
      </p:sp>
      <p:sp>
        <p:nvSpPr>
          <p:cNvPr id="101" name="핵심성과 박스"/>
          <p:cNvSpPr/>
          <p:nvPr/>
        </p:nvSpPr>
        <p:spPr>
          <a:xfrm>
            <a:off x="536870" y="9789652"/>
            <a:ext cx="6300000" cy="301304"/>
          </a:xfrm>
          <a:prstGeom prst="rect">
            <a:avLst/>
          </a:prstGeom>
          <a:solidFill>
            <a:srgbClr val="FFFFFF"/>
          </a:solidFill>
          <a:ln w="28575">
            <a:solidFill>
              <a:srgbClr val="002060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2" name="핵심성과 라벨"/>
          <p:cNvSpPr/>
          <p:nvPr/>
        </p:nvSpPr>
        <p:spPr>
          <a:xfrm>
            <a:off x="569739" y="9828000"/>
            <a:ext cx="657391" cy="224609"/>
          </a:xfrm>
          <a:prstGeom prst="homePlate">
            <a:avLst>
              <a:gd name="adj" fmla="val 28000"/>
            </a:avLst>
          </a:prstGeom>
          <a:solidFill>
            <a:srgbClr val="002060"/>
          </a:solidFill>
          <a:ln>
            <a:noFill/>
          </a:ln>
          <a:effectLst/>
        </p:spPr>
        <p:txBody>
          <a:bodyPr rtlCol="0" anchor="ctr" lIns="18000" rIns="79200" tIns="0" bIns="0" wrap="square"/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spc="-55" dirty="0">
                <a:solidFill>
                  <a:srgbClr val="FFFFFF"/>
                </a:solidFill>
                <a:latin typeface="Pretendard"/>
                <a:ea typeface="Pretendard"/>
              </a:rPr>
              <a:t>핵심성과</a:t>
            </a:r>
          </a:p>
        </p:txBody>
      </p:sp>
      <p:sp>
        <p:nvSpPr>
          <p:cNvPr id="103" name="핵심성과 문구"/>
          <p:cNvSpPr txBox="1"/>
          <p:nvPr/>
        </p:nvSpPr>
        <p:spPr>
          <a:xfrm>
            <a:off x="1314783" y="9806087"/>
            <a:ext cx="5456348" cy="268435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noAutofit/>
          </a:bodyPr>
          <a:lstStyle/>
          <a:p>
            <a:pPr marL="151200" indent="-151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359"/>
              </a:buClr>
              <a:buFont typeface="Pretendard"/>
              <a:buChar char="•"/>
            </a:pPr>
            <a:r>
              <a:rPr lang="ko-KR" sz="1100" b="1" spc="-55" dirty="0">
                <a:solidFill>
                  <a:srgbClr val="000359"/>
                </a:solidFill>
                <a:latin typeface="Pretendard"/>
                <a:ea typeface="Pretendard"/>
              </a:rPr>
              <a:t>노사 상호 신뢰와 존중을 바탕으로 한 무분규 임금협약과 본교섭을 생략한 단체협약 체결 완료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ORAD 경영평가">
      <a:dk1>
        <a:srgbClr val="000359"/>
      </a:dk1>
      <a:lt1>
        <a:srgbClr val="FFFFFF"/>
      </a:lt1>
      <a:dk2>
        <a:srgbClr val="001A7A"/>
      </a:dk2>
      <a:lt2>
        <a:srgbClr val="E6F4FF"/>
      </a:lt2>
      <a:accent1>
        <a:srgbClr val="008EFF"/>
      </a:accent1>
      <a:accent2>
        <a:srgbClr val="00A4A8"/>
      </a:accent2>
      <a:accent3>
        <a:srgbClr val="0051BC"/>
      </a:accent3>
      <a:accent4>
        <a:srgbClr val="30C2FF"/>
      </a:accent4>
      <a:accent5>
        <a:srgbClr val="00BE83"/>
      </a:accent5>
      <a:accent6>
        <a:srgbClr val="FBAE40"/>
      </a:accent6>
      <a:hlink>
        <a:srgbClr val="0061DE"/>
      </a:hlink>
      <a:folHlink>
        <a:srgbClr val="5D7280"/>
      </a:folHlink>
    </a:clrScheme>
    <a:fontScheme name="Pretendard">
      <a:majorFont>
        <a:latin typeface="Pretendard"/>
        <a:ea typeface="Pretendard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