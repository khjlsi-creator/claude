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8 서사 · 녹조 등 수질관리(관리여건 → 관리강화 배너 → 4대 대응 2×2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5212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5253" y="810783"/>
            <a:ext cx="98031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5253" y="810783"/>
            <a:ext cx="9803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92130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921306" y="777913"/>
            <a:ext cx="510182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062783"/>
            <a:ext cx="6300000" cy="23777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059983"/>
            <a:ext cx="580696" cy="136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59983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59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2114765"/>
            <a:ext cx="0" cy="127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5281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544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9 서사 · 국정과제 이행 생태개선 노력(번호 띠 + 가. 친환경 공간 · 나. 강의 연속성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5495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91821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91821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89066" y="920348"/>
            <a:ext cx="28802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89066" y="766957"/>
            <a:ext cx="534780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281913"/>
            <a:ext cx="41316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7" name="태그칩"/>
          <p:cNvSpPr/>
          <p:nvPr/>
        </p:nvSpPr>
        <p:spPr>
          <a:xfrm>
            <a:off x="4767126" y="1161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767126" y="1161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1416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846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4470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5447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876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876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985434" y="187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216125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9172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9336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40" name="형광 밑줄"/>
          <p:cNvSpPr/>
          <p:nvPr/>
        </p:nvSpPr>
        <p:spPr>
          <a:xfrm>
            <a:off x="536870" y="3682643"/>
            <a:ext cx="38537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5292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42" name="태그칩"/>
          <p:cNvSpPr/>
          <p:nvPr/>
        </p:nvSpPr>
        <p:spPr>
          <a:xfrm>
            <a:off x="4489243" y="3562122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칩"/>
          <p:cNvSpPr>
            <a:spLocks noGrp="1"/>
          </p:cNvSpPr>
          <p:nvPr>
            <p:ph type="body" sz="quarter" idx="36"/>
          </p:nvPr>
        </p:nvSpPr>
        <p:spPr>
          <a:xfrm>
            <a:off x="4489243" y="3562122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4" name="표 외곽"/>
          <p:cNvSpPr/>
          <p:nvPr/>
        </p:nvSpPr>
        <p:spPr>
          <a:xfrm>
            <a:off x="536870" y="3814122"/>
            <a:ext cx="6300000" cy="152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547826" y="38305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305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3985435" y="38853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4255200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5200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4255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42771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71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45126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45126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45126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4797548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4220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54385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0 서사 · 지속가능한 물관리 개요(정의 → 추진배경 → 추진방향 → 추진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81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14" name="레일"/>
          <p:cNvSpPr/>
          <p:nvPr/>
        </p:nvSpPr>
        <p:spPr>
          <a:xfrm>
            <a:off x="734087" y="121899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2189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21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cxnSp>
        <p:nvCxnSpPr>
          <p:cNvPr id="23" name="Connector 12"/>
          <p:cNvCxnSpPr/>
          <p:nvPr/>
        </p:nvCxnSpPr>
        <p:spPr>
          <a:xfrm>
            <a:off x="4171696" y="15148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202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202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배너"/>
          <p:cNvSpPr/>
          <p:nvPr/>
        </p:nvSpPr>
        <p:spPr>
          <a:xfrm>
            <a:off x="1347652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34485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4485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44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347652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cxnSp>
        <p:nvCxnSpPr>
          <p:cNvPr id="39" name="Connector 22"/>
          <p:cNvCxnSpPr/>
          <p:nvPr/>
        </p:nvCxnSpPr>
        <p:spPr>
          <a:xfrm>
            <a:off x="3230348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  <p:cxnSp>
        <p:nvCxnSpPr>
          <p:cNvPr id="41" name="Connector 24"/>
          <p:cNvCxnSpPr/>
          <p:nvPr/>
        </p:nvCxnSpPr>
        <p:spPr>
          <a:xfrm>
            <a:off x="5113043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1 서사 · 지산지소형 물 부족 해결(수자원 지산지소 정의 → 대체수자원 기술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142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20" name="레일"/>
          <p:cNvSpPr/>
          <p:nvPr/>
        </p:nvSpPr>
        <p:spPr>
          <a:xfrm>
            <a:off x="547826" y="1558643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586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2 서사 · 부산시 10년 과제 하수재이용시설 재탄생(니즈의 일치 → 추진내용 + 단계 띠 → 기대효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18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5935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935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4469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4469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1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780435"/>
            <a:ext cx="580696" cy="1024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024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180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0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7913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92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92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92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92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92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 txBox="1"/>
          <p:nvPr/>
        </p:nvSpPr>
        <p:spPr>
          <a:xfrm>
            <a:off x="1358609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4" name="칸 본문"/>
          <p:cNvSpPr txBox="1"/>
          <p:nvPr/>
        </p:nvSpPr>
        <p:spPr>
          <a:xfrm>
            <a:off x="3241304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28"/>
          <p:cNvCxnSpPr/>
          <p:nvPr/>
        </p:nvCxnSpPr>
        <p:spPr>
          <a:xfrm flipV="1">
            <a:off x="3230348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5124000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0"/>
          <p:cNvCxnSpPr/>
          <p:nvPr/>
        </p:nvCxnSpPr>
        <p:spPr>
          <a:xfrm flipV="1">
            <a:off x="5113043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8213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8213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821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43217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465078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481513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3 서사 · 무한한 해수 자원 활용(추진배경 | 추진내용 + 규모 추이 → 추진성과 두 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79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79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128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879043"/>
            <a:ext cx="580696" cy="860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79043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933826"/>
            <a:ext cx="0" cy="766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755565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75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985435" y="281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4 서사 · 지하수저류댐 활용 다변화로 물공급 취약지역 맞춤형 해결사(추진배경 → 추진내용 지역확대 | 용도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228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11" name="태그칩"/>
          <p:cNvSpPr/>
          <p:nvPr/>
        </p:nvSpPr>
        <p:spPr>
          <a:xfrm>
            <a:off x="49446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446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73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5 서사 · 신규댐 추진(추진배경 → 추진 로드맵 3단 → 패러다임 전환 배너 → 추진실적 3칸 + 요약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878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865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5805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5805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5805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580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580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배너"/>
          <p:cNvSpPr/>
          <p:nvPr/>
        </p:nvSpPr>
        <p:spPr>
          <a:xfrm>
            <a:off x="1161391" y="219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19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440643"/>
            <a:ext cx="580696" cy="1539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440643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440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044087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926783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배너"/>
          <p:cNvSpPr/>
          <p:nvPr/>
        </p:nvSpPr>
        <p:spPr>
          <a:xfrm>
            <a:off x="1161391" y="338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338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3656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536870" y="408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410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6 서사 · 지원사업으로 만든 지역자립기반(댐주변지역 지원사업 정의 → 추진배경 | 복지 확대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6243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형광 밑줄"/>
          <p:cNvSpPr/>
          <p:nvPr/>
        </p:nvSpPr>
        <p:spPr>
          <a:xfrm>
            <a:off x="723130" y="2399635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소제목"/>
          <p:cNvSpPr>
            <a:spLocks noGrp="1"/>
          </p:cNvSpPr>
          <p:nvPr>
            <p:ph type="body" sz="quarter" idx="27"/>
          </p:nvPr>
        </p:nvSpPr>
        <p:spPr>
          <a:xfrm>
            <a:off x="723130" y="2246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27" name="태그칩"/>
          <p:cNvSpPr/>
          <p:nvPr/>
        </p:nvSpPr>
        <p:spPr>
          <a:xfrm>
            <a:off x="4382591" y="2279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칩"/>
          <p:cNvSpPr>
            <a:spLocks noGrp="1"/>
          </p:cNvSpPr>
          <p:nvPr>
            <p:ph type="body" sz="quarter" idx="28"/>
          </p:nvPr>
        </p:nvSpPr>
        <p:spPr>
          <a:xfrm>
            <a:off x="4382591" y="2279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531113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47548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547548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8433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7 서사 · 상품개발에서 온·오프라인 이음장날까지 농가 소득 확보(지역특화 상품개발 3단 → 온오프라인 이음장날 3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808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41631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631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0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911913"/>
            <a:ext cx="580696" cy="827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11913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911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1933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33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33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33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33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8 서사 · 댐이 그려내는 지역가치 재창출(댐 가치 재창출 3칸 → 로컬브랜딩 론칭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6519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11" name="태그칩"/>
          <p:cNvSpPr/>
          <p:nvPr/>
        </p:nvSpPr>
        <p:spPr>
          <a:xfrm>
            <a:off x="488693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693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43805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3805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02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9539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9539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9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317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317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2696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96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696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2718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718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230348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cxnSp>
        <p:nvCxnSpPr>
          <p:cNvPr id="47" name="Connector 28"/>
          <p:cNvCxnSpPr/>
          <p:nvPr/>
        </p:nvCxnSpPr>
        <p:spPr>
          <a:xfrm>
            <a:off x="3230348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cxnSp>
        <p:nvCxnSpPr>
          <p:cNvPr id="49" name="Connector 30"/>
          <p:cNvCxnSpPr/>
          <p:nvPr/>
        </p:nvCxnSpPr>
        <p:spPr>
          <a:xfrm>
            <a:off x="5113043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주요성과 박스"/>
          <p:cNvSpPr/>
          <p:nvPr/>
        </p:nvSpPr>
        <p:spPr>
          <a:xfrm>
            <a:off x="723130" y="3841670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주요성과 라벨"/>
          <p:cNvSpPr/>
          <p:nvPr/>
        </p:nvSpPr>
        <p:spPr>
          <a:xfrm>
            <a:off x="756000" y="3874539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주요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874539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3" name="주요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858104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9 서사 · 스마트 기술 활용 및 구조적 작업방식 개선으로 안전예방체계 마련(고소 · 수중 · 선박작업 + 제도개선 4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94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53002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002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11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11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80261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876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67739"/>
            <a:ext cx="580696" cy="871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46773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46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머리칸"/>
          <p:cNvSpPr/>
          <p:nvPr/>
        </p:nvSpPr>
        <p:spPr>
          <a:xfrm>
            <a:off x="1161391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50" name="머리칸"/>
          <p:cNvSpPr/>
          <p:nvPr/>
        </p:nvSpPr>
        <p:spPr>
          <a:xfrm>
            <a:off x="3985435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3985435" y="3763565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0 서사 · 시민재해 Zero구역 조성(능동적 수문방류 경보 | 국민이용시설 개선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947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9164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164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44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77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주요성과 박스"/>
          <p:cNvSpPr/>
          <p:nvPr/>
        </p:nvSpPr>
        <p:spPr>
          <a:xfrm>
            <a:off x="723130" y="22844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주요성과 라벨"/>
          <p:cNvSpPr/>
          <p:nvPr/>
        </p:nvSpPr>
        <p:spPr>
          <a:xfrm>
            <a:off x="756000" y="23173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주요성과 라벨"/>
          <p:cNvSpPr>
            <a:spLocks noGrp="1"/>
          </p:cNvSpPr>
          <p:nvPr>
            <p:ph type="body" sz="quarter" idx="27"/>
          </p:nvPr>
        </p:nvSpPr>
        <p:spPr>
          <a:xfrm>
            <a:off x="756000" y="23173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6" name="주요성과 문구"/>
          <p:cNvSpPr>
            <a:spLocks noGrp="1"/>
          </p:cNvSpPr>
          <p:nvPr>
            <p:ph type="body" sz="quarter" idx="28"/>
          </p:nvPr>
        </p:nvSpPr>
        <p:spPr>
          <a:xfrm>
            <a:off x="1501043" y="230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1 서사 · 추진배경(글로벌 환경 + 국정과제 + 중장기전략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974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39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기후공시 등 요구로 기업 탄소경쟁력 강화 필수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위한 재생에너지 중심 에너지 대전환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재생에너지 직접공급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484609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846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84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506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506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저탄소 물에너지 확산을 통한 탄소중립 사회 전환 선도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04073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04073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204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161391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전략수립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내실 있는 사업추진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수출기업 지원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재생e 10GW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국가목표의 4% → 10%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· 수열에너지 · 조력발전 · 그린수소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044087" y="2336557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제도적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RE100 글로벌 인증기준 개선 등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926783" y="2336557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2 서사 · 재생e 10GW 개발을 위한 Re:boot 로드맵(Re:boot TF 3단 → 요약 배너 → 주요내용 3칸 → 2030 미래상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재생e 10GW 개발을 위한 Re:boot 로드맵 마련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5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재생e 설비용량 1위(1,541MW)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단, 글로벌 규제 등 수요폭증 대비 최근 10년간 성장 정체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신성장 SPEED UP 전략방향② 물에너지 선도기술 육성·사업화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’25~’29 전략환류: ‘물에너지 기반 저탄소 에너지 전환’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새정부 123대 국정과제 ‘재생e 중심 대전환’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19973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Re:boot TF로 퀀텀점프: ‘2030년까지 재생에너지 10GW(누적) 개발’, 국가 탄소중립 실현 및 PPA확대 선도적 역할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상생 모델 확산 + 재생e 개발 가속화 + 기업 RE100 지원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19973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394000"/>
            <a:ext cx="580696" cy="920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394000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재생e 10GW(既 1.5GW + 新 8.5GW) 개발 추진으로 국가 목표의 10% 달성</a:t>
            </a:r>
          </a:p>
        </p:txBody>
      </p:sp>
      <p:sp>
        <p:nvSpPr>
          <p:cNvPr id="29" name="머리칸"/>
          <p:cNvSpPr/>
          <p:nvPr/>
        </p:nvSpPr>
        <p:spPr>
          <a:xfrm>
            <a:off x="1347652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지역 상생 모델 확산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재생e 개발 가속화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 기업 RE100 지원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투자자금 지원방안 마련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전원별 물에너지 개발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 추진으로 선도기술 확보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925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수출기업·산단 PPA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PPA시장분석 등 전략 고도화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925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307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3307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 상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30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352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마을: 총 32개소 447개 마을(누적) 조성 / ’25년 총 3개소 54마을 조성, 주민소득 연 8.7억 실현 中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352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재생e 직접공급: PPA 총 26건(누적) 체결 / ’25년 총 6건 299MW 체결, 국내 직접PPA 49% 공급 中 / 100% 재생에너지 사용 · 에너지절감 · 간헐성보완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385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3 서사 · 국민과 공유하고 공공·지자체와 협력하는 물에너지 확산(수상태양광 · 수열 · 조력 · 그린수소 4행 → 추진성과 두 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국민과 공유하고 공공·지자체와 협력하는 물에너지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10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설치 주민반대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모델 제시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주민반대 극복 신규 개발 착수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환경훼손 우려 및 지역소외로 수용성 저하 → 공공주도 사업 한계 봉착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대응: 지역민과 발전수익을 공유하는 모델 제안·설득 → 임하 수상태양광 준공(’25.7)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044087" y="1440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환류: 합천(2단계) 수상태양광 개발 사업 착수(이익공유형) → 주민참여모델 본격 확대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4926783" y="1440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77652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776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7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99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9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수열e 대용량 히트펌프 기술실증·상용화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199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9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주거 공간으로 첫 접목 시도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4060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대용량 히트펌프 기술 실증 및 상용화를 위한 체계적 추진전략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대용량 히트펌프 실증운영(한강본부)으로 성능검증 완료(에너지사용량 약 40% 절감) → 실증 후 코엑스 설치(’25.6), 미래에셋 설계적용(’25.12)으로 상용화 기반 마련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4060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롯데월드타워, 상주 스마트팜 등 대형건물·랜드마크 중심 수열공급(~’24)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최초: 경기도 공동주택(604세대) 수열 도입 시범추진(냉난방 비용 최대 약 66% 절감 기대) → 경기도 3기 신도시 등 전국 공동주택 수열에너지 공급 확대기반 마련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273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3303391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30339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발전</a:t>
            </a:r>
          </a:p>
        </p:txBody>
      </p:sp>
      <p:sp>
        <p:nvSpPr>
          <p:cNvPr id="45" name="머리칸"/>
          <p:cNvSpPr/>
          <p:nvPr/>
        </p:nvSpPr>
        <p:spPr>
          <a:xfrm>
            <a:off x="1161391" y="332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32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시화 조력 증설</a:t>
            </a:r>
          </a:p>
        </p:txBody>
      </p:sp>
      <p:sp>
        <p:nvSpPr>
          <p:cNvPr id="47" name="머리칸"/>
          <p:cNvSpPr/>
          <p:nvPr/>
        </p:nvSpPr>
        <p:spPr>
          <a:xfrm>
            <a:off x="3985435" y="332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3985435" y="332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새만금 조력 개발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66348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조력 증설사업은 수익성이 낮아 재무적 부담 우려, 개선방안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해수유통을 통한 수질개선, 홍수억제 등 국고지원이 가능한 공익가치 제시(’25.11)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566348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부족한 사업성 및 타 기관(농공) 관리시설로 진입장벽 존재(경쟁 분위기)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수문증설 기본구상 국고확보(5억원) 및 새만금 공동협정(기후부·농공·한수원) 체결(’25.12)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359921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4256609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6609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수소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배너"/>
          <p:cNvSpPr/>
          <p:nvPr/>
        </p:nvSpPr>
        <p:spPr>
          <a:xfrm>
            <a:off x="1161391" y="427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평가단: 그린수소 기술은 아직 초기단계에 머물고 있어 실증 및 상용화 전략 필요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4514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실증기반 기술 개발</a:t>
            </a:r>
          </a:p>
        </p:txBody>
      </p:sp>
      <p:sp>
        <p:nvSpPr>
          <p:cNvPr id="59" name="단계"/>
          <p:cNvSpPr/>
          <p:nvPr/>
        </p:nvSpPr>
        <p:spPr>
          <a:xfrm>
            <a:off x="3044087" y="4514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상업판매</a:t>
            </a:r>
          </a:p>
        </p:txBody>
      </p:sp>
      <p:sp>
        <p:nvSpPr>
          <p:cNvPr id="61" name="단계"/>
          <p:cNvSpPr/>
          <p:nvPr/>
        </p:nvSpPr>
        <p:spPr>
          <a:xfrm>
            <a:off x="4926783" y="4514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대체수자원 활용 상용화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044086" y="4514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4926782" y="451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성남·안산 실증운영 기반 핵심기술 연구개발 수행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수력e 기반 그린수소 최초 상업판매 개시(성남, ’25.7)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044087" y="4798957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하수 활용 그린수소 생산 상용화 협약(제주, ’25.11)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4926783" y="4798957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536870" y="5313913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569739" y="5346783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5346783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5335826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임하·합천(2단계) 수상태양광 신규 추진으로 재생e 발전용량 전년대비 116% 확대(58 → 125MW)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그린수소 실증 및 최적 운영방안 도입으로 그린수소 30톤/연 생산능력 확보(전년대비 76% 향상)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4 서사 · RE100 인증 글로벌 기준 개정으로 수출기업 지원 확대(추진배경 → 글로벌 신뢰 확보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RE100 인증 글로벌 기준 개정으로 수출기업 지원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기업: 수요 대비 부족한 공급량(RE12), 그마저도 RE100에는 대부분 태양광만 활용 → 재생e의 공급량과 공급 다양성 확대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국내 재생e 보유 1위 기업을 넘어 조력 등 활용, 기업의 든든한 RE100 지원군 역할 → 수력을 활용한 PPA 사업 확대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681826"/>
            <a:ext cx="580696" cy="93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81826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 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68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347652" y="1703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1703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수력에 적합한 ‘지속가능성 인증’ 발굴로 세계에서 통용되는 고품질 RE100 자원 공급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39304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문제점: 국내 수력은 글로벌 RE100으로 미인정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수력의 글로벌 RE100 적용은 ‘지속가능성 인증’ 필수, But 유럽·북미 중심으로 적용 → 국내 수력도 통용될 수 있는 인증기준 발굴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39304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극복: K-인증수단 발굴로 글로벌 기준 획득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사례조사 통해 WCD(세계댐위원회)에 유사 인증제도 발굴, 대체인정 허용 요청 → RE100 기술기준에 WCD 기준 추가·개정 완료(3월)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171696" y="197217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723130" y="271721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756000" y="275008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5008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3913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수출기업 RE100 이행 지원을 위한 계약(PPA) 3건 추가 달성(누적 6건)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확대기반 마련으로 수출기업 RE100 이행률 2.3%p 상향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5 서사 · 수변도시 도시 활성화 위한 고객 니즈 반영 및 재무부담 완화(송산GC · 시화MTV · 부산EDC · 공통: 이슈 및 니즈 → 추진실적 → 효과 및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수변도시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321299" y="920348"/>
            <a:ext cx="29373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321299" y="766957"/>
            <a:ext cx="551557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도시 활성화 위한 고객 니즈 반영 및 재무부담 완화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3572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572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90839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90839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608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161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161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송산GC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동측 주거지역 정착(분양률 80%), 남측 산업용지 적기 공급 및 지역니즈 부응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수도권 과밀억제로 공장이전 등 용지확보 니즈↑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안산지역 인구계획 대비 에너지 공급 부족 우려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이전기업 수요 고려 산업용지 신속 공급(’26년 → ’25년, 출시 목표 대비 125% 출시)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적기 공급 위한 선제적 계획 변경(열병합발전소 면적 확대, 조기 계획반영)</a:t>
            </a:r>
          </a:p>
        </p:txBody>
      </p:sp>
      <p:cxnSp>
        <p:nvCxnSpPr>
          <p:cNvPr id="34" name="Connector 22"/>
          <p:cNvCxnSpPr/>
          <p:nvPr/>
        </p:nvCxnSpPr>
        <p:spPr>
          <a:xfrm>
            <a:off x="3044087" y="1610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2,964억원(전년比 147%) 분양(산업용지 45개 기업 입주 확정)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발전사(남동발전) 유치 성공으로 에너지 조기 안정화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4926783" y="1610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695304"/>
            <a:ext cx="580696" cy="144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695304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시화MTV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695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1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71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조성공사 마무리 및 분양률 90%, 토지분양 이후 지역 활성화 위한 상생 노력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952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52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3044087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52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926783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52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5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상가 공실 심각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대중교통 및 주차 인프라 부족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활력증진 TF구성, 대안 모색(시흥시·K-water·민간)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미분양용지 주거용도 전환, 순환버스 지원, 임시 무료 주차장(2,140대) 확충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237652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정주인구 확대 전망(당초 계획 대비 4천명 인구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지역활성화 위한 주차 인프라 등 제공(지역행사 방문객 확대)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237652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4158000"/>
            <a:ext cx="580696" cy="161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158000"/>
            <a:ext cx="580696" cy="161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부산EDC</a:t>
            </a:r>
          </a:p>
        </p:txBody>
      </p:sp>
      <p:sp>
        <p:nvSpPr>
          <p:cNvPr id="57" name="배너"/>
          <p:cNvSpPr/>
          <p:nvPr/>
        </p:nvSpPr>
        <p:spPr>
          <a:xfrm>
            <a:off x="1161391" y="4179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4179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서부산 발전과 경제 활성화 선도(공사 81%, 분양 43%), 도시자족 위한 기업 유치 박차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4415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4415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4415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4415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4415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주거용지 분양률(72%) 대비 산업용지 저조(22%)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EDC 도시자족기능 향상 위한 기업 유치 필요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EDC 기회발전특구 지정(세금 감면, 보조금 지원, 근로자 주택 특별공급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한시적 분양가 인하 시행(산업입지법 근거, 당초 분양단가의 90% 수준으로 할인)</a:t>
            </a:r>
          </a:p>
        </p:txBody>
      </p:sp>
      <p:cxnSp>
        <p:nvCxnSpPr>
          <p:cNvPr id="69" name="Connector 47"/>
          <p:cNvCxnSpPr/>
          <p:nvPr/>
        </p:nvCxnSpPr>
        <p:spPr>
          <a:xfrm>
            <a:off x="3044087" y="4700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산업용지 1,268억원 분양(데이터센터 등 12개 기업 유치)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제도개선에 따른 기업유치 활성화로 도시자족기능 강화</a:t>
            </a:r>
          </a:p>
        </p:txBody>
      </p:sp>
      <p:cxnSp>
        <p:nvCxnSpPr>
          <p:cNvPr id="71" name="Connector 49"/>
          <p:cNvCxnSpPr/>
          <p:nvPr/>
        </p:nvCxnSpPr>
        <p:spPr>
          <a:xfrm>
            <a:off x="4926783" y="4700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785043"/>
            <a:ext cx="580696" cy="1336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5785043"/>
            <a:ext cx="580696" cy="133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통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78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배너"/>
          <p:cNvSpPr/>
          <p:nvPr/>
        </p:nvSpPr>
        <p:spPr>
          <a:xfrm>
            <a:off x="1161391" y="5806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6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5806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적극적인 소통으로 분양고객의 이슈 파악 및 제도 개선</a:t>
            </a:r>
          </a:p>
        </p:txBody>
      </p:sp>
      <p:sp>
        <p:nvSpPr>
          <p:cNvPr id="77" name="단계"/>
          <p:cNvSpPr/>
          <p:nvPr/>
        </p:nvSpPr>
        <p:spPr>
          <a:xfrm>
            <a:off x="1161391" y="6042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79" name="단계"/>
          <p:cNvSpPr/>
          <p:nvPr/>
        </p:nvSpPr>
        <p:spPr>
          <a:xfrm>
            <a:off x="3044087" y="6042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81" name="단계"/>
          <p:cNvSpPr/>
          <p:nvPr/>
        </p:nvSpPr>
        <p:spPr>
          <a:xfrm>
            <a:off x="4926783" y="6042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3044086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4926782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사용(착공)시 대금완납 또는 보증보험 가입 등 고객부담 高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토지사용시 재무부담 경감방안 시행: 납부조건완화 · 할부이자면제 · 담보물건확대(정기예금증서, 기타 담보(부동산 등) 확대)</a:t>
            </a:r>
          </a:p>
        </p:txBody>
      </p:sp>
      <p:cxnSp>
        <p:nvCxnSpPr>
          <p:cNvPr id="87" name="Connector 60"/>
          <p:cNvCxnSpPr/>
          <p:nvPr/>
        </p:nvCxnSpPr>
        <p:spPr>
          <a:xfrm>
            <a:off x="3044087" y="6327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 사용(착공) 확대로 4,214억원 조기 매출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상가, 주차장 등 생활인프라 본격 건설로 정주 여건 개선</a:t>
            </a:r>
          </a:p>
        </p:txBody>
      </p:sp>
      <p:cxnSp>
        <p:nvCxnSpPr>
          <p:cNvPr id="89" name="Connector 62"/>
          <p:cNvCxnSpPr/>
          <p:nvPr/>
        </p:nvCxnSpPr>
        <p:spPr>
          <a:xfrm>
            <a:off x="4926783" y="6327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핵심성과 박스"/>
          <p:cNvSpPr/>
          <p:nvPr/>
        </p:nvSpPr>
        <p:spPr>
          <a:xfrm>
            <a:off x="536870" y="722582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7264174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7"/>
          </p:nvPr>
        </p:nvSpPr>
        <p:spPr>
          <a:xfrm>
            <a:off x="569739" y="7264174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8"/>
          </p:nvPr>
        </p:nvSpPr>
        <p:spPr>
          <a:xfrm>
            <a:off x="1314783" y="7242261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고객 니즈 해소와 제도개선으로 재무성과 창출(총매출 1조원, 분양 6,786억원) 및 도시 활성화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6 서사 · 국정과제의 차질없는 이행을 위한 AI·기후대응 미래도시 선도(번호 띠 + 가. 스마트시티 준비된 K-AI 시티 · 나. 기후위험 대비 도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특화도시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29143" y="931304"/>
            <a:ext cx="35869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29143" y="777913"/>
            <a:ext cx="549398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국정과제의 차질없는 이행을 위한 AI·기후대응 미래도시 선도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스마트시티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20624" y="1292870"/>
            <a:ext cx="29635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20624" y="1139478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준비된 K-AI 시티, 부산EDC 스마트서비스 본격화</a:t>
            </a:r>
          </a:p>
        </p:txBody>
      </p:sp>
      <p:sp>
        <p:nvSpPr>
          <p:cNvPr id="19" name="태그칩"/>
          <p:cNvSpPr/>
          <p:nvPr/>
        </p:nvSpPr>
        <p:spPr>
          <a:xfrm>
            <a:off x="4782794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4782794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333915" y="1172348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7"/>
          </p:nvPr>
        </p:nvSpPr>
        <p:spPr>
          <a:xfrm>
            <a:off x="5333915" y="1172348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24348"/>
            <a:ext cx="6300000" cy="40102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스마트빌리지(리빙랩) 운영, 혁신기술(88개) 실증, 민·관 공동 SPC 설립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스마트서비스 조기 개시(’29년 → ’25년), K-AI 시티로의 구현 사전 준비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865426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654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873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플랫폼·인프라 先구축(~’28) 후, 서비스 운영계획(’29~)이었으나, 기술변화 가속화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新정부의 속도감 있는 AI 정책에 발맞춰 신속한 스마트서비스 개시 및 AI 시티 구현 필요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421548"/>
            <a:ext cx="580696" cy="1539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421548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조기개시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434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론칭 계획 조정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434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피드백 반영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434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스마트서비스 조기도입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434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434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서비스 워크숍 운영(9회): 서비스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중앙정부 · 지자체(부산시) · K-water · 스마트시티SPC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신속한 서비스 도입 + 플랫폼·인프라 구축 병행 결정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입주민 의견수렴·피드백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“통학을 지원하는 버스 운영해주세요”, “생활편의·안전까지 지원해주세요”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“신도시의 교통여건 고려, 운영시간 조정”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3230348" y="2728330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공동주택(1,080세대) 로봇서비스, 자율주행차(버스)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생활편의 로봇(순찰, 짐운반, 청소, 바리스타)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통학로 중심 자율주행차(통학 시간대 집중 운영)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5113043" y="2728330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39773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39773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시티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구현준비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977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347652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분산 에너지 특구 지정</a:t>
            </a:r>
          </a:p>
        </p:txBody>
      </p:sp>
      <p:sp>
        <p:nvSpPr>
          <p:cNvPr id="53" name="머리칸"/>
          <p:cNvSpPr/>
          <p:nvPr/>
        </p:nvSpPr>
        <p:spPr>
          <a:xfrm>
            <a:off x="3230348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특화 데이터 개방</a:t>
            </a:r>
          </a:p>
        </p:txBody>
      </p:sp>
      <p:sp>
        <p:nvSpPr>
          <p:cNvPr id="55" name="머리칸"/>
          <p:cNvSpPr/>
          <p:nvPr/>
        </p:nvSpPr>
        <p:spPr>
          <a:xfrm>
            <a:off x="5113043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실증 사이트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협력으로 국내 1호 특구 지정 성공(’25.11)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특구 지정 TF 참여(’24~), 부산시·발전사업자 협약(’25) 등 공동 노력 → AI 운영 전력 안정성 확보, 기업 전기료·시설투자 부담↓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 운영(’21~), 축적 데이터 관리·합성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도시 구현을 위한 생활데이터 개방·제공(세대별 스마트가전 계측정보 등) → 민간 AI 스마트홈 개발 활용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4273200"/>
            <a:ext cx="0" cy="110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스마트빌리지, 국제 공동 연구 실증 활용(덴마크 등 4개국 공동)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탄소중립 스마트건물시스템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스마트도시 혁신기술 보유 기업 실증 기회 제공(5개社)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4273200"/>
            <a:ext cx="0" cy="110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5522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5560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7"/>
          </p:nvPr>
        </p:nvSpPr>
        <p:spPr>
          <a:xfrm>
            <a:off x="756000" y="55605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8"/>
          </p:nvPr>
        </p:nvSpPr>
        <p:spPr>
          <a:xfrm>
            <a:off x="1501043" y="55386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스마트서비스 이용 주민 만족도 90점 달성 및 국내 대표 K-AI 시티 선도도시 도약</a:t>
            </a:r>
          </a:p>
        </p:txBody>
      </p:sp>
      <p:sp>
        <p:nvSpPr>
          <p:cNvPr id="66" name="번호"/>
          <p:cNvSpPr>
            <a:spLocks noGrp="1"/>
          </p:cNvSpPr>
          <p:nvPr>
            <p:ph type="body" sz="quarter" idx="49"/>
          </p:nvPr>
        </p:nvSpPr>
        <p:spPr>
          <a:xfrm>
            <a:off x="723130" y="59542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67" name="분야 박스"/>
          <p:cNvSpPr/>
          <p:nvPr/>
        </p:nvSpPr>
        <p:spPr>
          <a:xfrm>
            <a:off x="952651" y="5987113"/>
            <a:ext cx="95761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분야 박스"/>
          <p:cNvSpPr>
            <a:spLocks noGrp="1"/>
          </p:cNvSpPr>
          <p:nvPr>
            <p:ph type="body" sz="quarter" idx="50"/>
          </p:nvPr>
        </p:nvSpPr>
        <p:spPr>
          <a:xfrm>
            <a:off x="952651" y="5987113"/>
            <a:ext cx="95761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물순환·탄소중립</a:t>
            </a:r>
          </a:p>
        </p:txBody>
      </p:sp>
      <p:sp>
        <p:nvSpPr>
          <p:cNvPr id="69" name="형광 밑줄"/>
          <p:cNvSpPr/>
          <p:nvPr/>
        </p:nvSpPr>
        <p:spPr>
          <a:xfrm>
            <a:off x="1976008" y="6107635"/>
            <a:ext cx="3394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소제목"/>
          <p:cNvSpPr>
            <a:spLocks noGrp="1"/>
          </p:cNvSpPr>
          <p:nvPr>
            <p:ph type="body" sz="quarter" idx="51"/>
          </p:nvPr>
        </p:nvSpPr>
        <p:spPr>
          <a:xfrm>
            <a:off x="1976008" y="5954243"/>
            <a:ext cx="504712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기후위험에 대비한 도시 구현으로 기후적응 국가정책 선도</a:t>
            </a:r>
          </a:p>
        </p:txBody>
      </p:sp>
      <p:sp>
        <p:nvSpPr>
          <p:cNvPr id="71" name="태그칩"/>
          <p:cNvSpPr/>
          <p:nvPr/>
        </p:nvSpPr>
        <p:spPr>
          <a:xfrm>
            <a:off x="5468620" y="5987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칩"/>
          <p:cNvSpPr>
            <a:spLocks noGrp="1"/>
          </p:cNvSpPr>
          <p:nvPr>
            <p:ph type="body" sz="quarter" idx="52"/>
          </p:nvPr>
        </p:nvSpPr>
        <p:spPr>
          <a:xfrm>
            <a:off x="5468620" y="5987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3" name="표 외곽"/>
          <p:cNvSpPr/>
          <p:nvPr/>
        </p:nvSpPr>
        <p:spPr>
          <a:xfrm>
            <a:off x="723130" y="623911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6255548"/>
            <a:ext cx="580696" cy="1265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255548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76" name="머리칸"/>
          <p:cNvSpPr/>
          <p:nvPr/>
        </p:nvSpPr>
        <p:spPr>
          <a:xfrm>
            <a:off x="1347652" y="6277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6277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  국가 정책 실행 지원</a:t>
            </a:r>
          </a:p>
        </p:txBody>
      </p:sp>
      <p:sp>
        <p:nvSpPr>
          <p:cNvPr id="78" name="머리칸"/>
          <p:cNvSpPr/>
          <p:nvPr/>
        </p:nvSpPr>
        <p:spPr>
          <a:xfrm>
            <a:off x="4171696" y="6277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6277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  선도도시 사업 본격화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6518504"/>
            <a:ext cx="2802130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물순환: ’24년 물순환촉진법 시행, 지원센터 단독 지정 → ’25년 기본방침 수립 및 촉진구역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기본방침 법 시행 1년 내 국가계획 신속 수립 / 공모준비 촉진구역 공모·평가계획 마련 / 표준조례 물순환 촉진 표준 조례(안)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물순환도시(=물 걱정없는 도시) 확산 기반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6518504"/>
            <a:ext cx="2802130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탄소중립: ’24년 탄소중립 선도도시 선정 완료(4개) → ’25년 4개 선도도시 지역특화 기본계획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지역니즈 연계 특화 탄소중립 계획 수립(서울 노원, 당진, 보령, 제주)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707만tCO₂eq↓(소나무 약 70억 그루, 기본계획 기준 추정치)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4171696" y="6551374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주요성과 박스"/>
          <p:cNvSpPr/>
          <p:nvPr/>
        </p:nvSpPr>
        <p:spPr>
          <a:xfrm>
            <a:off x="723130" y="761415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주요성과 라벨"/>
          <p:cNvSpPr/>
          <p:nvPr/>
        </p:nvSpPr>
        <p:spPr>
          <a:xfrm>
            <a:off x="756000" y="7647026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주요성과 라벨"/>
          <p:cNvSpPr>
            <a:spLocks noGrp="1"/>
          </p:cNvSpPr>
          <p:nvPr>
            <p:ph type="body" sz="quarter" idx="58"/>
          </p:nvPr>
        </p:nvSpPr>
        <p:spPr>
          <a:xfrm>
            <a:off x="756000" y="7647026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향후계획</a:t>
            </a:r>
          </a:p>
        </p:txBody>
      </p:sp>
      <p:sp>
        <p:nvSpPr>
          <p:cNvPr id="86" name="주요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7630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물순환 촉진구역(4개소) 선정, 탄소중립 선도도시 추가 선정(1개소)·관리 등 기후대응 도시 선도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7 서사 · 추진방향(물산업 넘어 기후·워터테크로) → 추진과제 4단 화살 띠(번호 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9065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물산업의 변화 방향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35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디지털 기술 등을 활용하여 지속성장 예상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신기술로 성장하고, 글로벌로 도약하는 중소기업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484609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846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84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506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506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물산업을 넘어 기후·워터테크로, 글로벌 스탠다드를 선점하는 First Mover로 도약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040730"/>
            <a:ext cx="580696" cy="6163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040730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204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206264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 및 자금지원</a:t>
            </a:r>
          </a:p>
        </p:txBody>
      </p:sp>
      <p:sp>
        <p:nvSpPr>
          <p:cNvPr id="34" name="단계"/>
          <p:cNvSpPr/>
          <p:nvPr/>
        </p:nvSpPr>
        <p:spPr>
          <a:xfrm>
            <a:off x="2573413" y="206264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2573413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 및 실증</a:t>
            </a:r>
          </a:p>
        </p:txBody>
      </p:sp>
      <p:sp>
        <p:nvSpPr>
          <p:cNvPr id="36" name="단계"/>
          <p:cNvSpPr/>
          <p:nvPr/>
        </p:nvSpPr>
        <p:spPr>
          <a:xfrm>
            <a:off x="3985435" y="206264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985435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판로개척</a:t>
            </a:r>
          </a:p>
        </p:txBody>
      </p:sp>
      <p:sp>
        <p:nvSpPr>
          <p:cNvPr id="38" name="단계"/>
          <p:cNvSpPr/>
          <p:nvPr/>
        </p:nvSpPr>
        <p:spPr>
          <a:xfrm>
            <a:off x="5397457" y="206264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397457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 주도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573413" y="206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3985434" y="2062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397456" y="206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 / 벤처펀드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2584370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인프라 지원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2573413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및 해외시장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985435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5408413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민관협력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397457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8 서사 · 기후·워터테크 유망기업 발굴 및 성장 지원(창업지원 강화 · 컴퍼니빌더 · 벤처펀드 3행 → 추진성과 두 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기후·워터테크 시장을 선도할 유망기업 발굴 및 성장 지원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63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창업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6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참가기업 업력 제한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6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업력 제한 폐지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6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6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이내 창업기업으로 제한 → 딥테크(AI 등)스타트업 상업화까지 평균 10년 이상 소요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폐지, 기술·성장가능성 중심 선발 → 고성장 스타트업 및 스케일업 단계의 기업 참여율↑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451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이상 스타트업 ’25년 11개社 선발 → 예비유니콘 GRINERGY 육성(기업가치 1,000억원 이상)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451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109130"/>
            <a:ext cx="580696" cy="206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09130"/>
            <a:ext cx="580696" cy="206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컴퍼니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빌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(신설)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109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 스타트업을 직접 설립 또는 초기 단계부터 투자·운영에 적극 참여, 성장을 주도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66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높은 진입장벽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66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컴퍼니빌더 설립 추진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66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민관 협업체계 완성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66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66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등을 위해 물산업 분야의 기후테크 육성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기반 高 진입장벽으로 초기 사업화 공백 발생 → 민·관 원팀 전문 지원기관 필요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기반마련: 내·외부 전문가 협업을 위한 설립 추진단 운영 → 운영구조·로드맵 수립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지분공모: 공동 출자기관 설명회 및 지분공모 완료(’25.8) → 10개社 15억원 출자 확약(K-water 45억원 포함 자본금 60억원)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3230348" y="2651478"/>
            <a:ext cx="0" cy="1249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총괄: 산업(4社) 실증·공급연계, 공공(2社) 기술·인재제공, 투자(4社) 후속·매칭투자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113043" y="2651478"/>
            <a:ext cx="0" cy="1249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배너"/>
          <p:cNvSpPr/>
          <p:nvPr/>
        </p:nvSpPr>
        <p:spPr>
          <a:xfrm>
            <a:off x="1347652" y="394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94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출자회사 설립을 위한 정부 실무협의 지속(’25.3~) * 기후부 협의完, 재경부 진행中</a:t>
            </a:r>
          </a:p>
        </p:txBody>
      </p:sp>
      <p:sp>
        <p:nvSpPr>
          <p:cNvPr id="52" name="레일"/>
          <p:cNvSpPr/>
          <p:nvPr/>
        </p:nvSpPr>
        <p:spPr>
          <a:xfrm>
            <a:off x="734087" y="419087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190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벤 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펀 드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419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배너"/>
          <p:cNvSpPr/>
          <p:nvPr/>
        </p:nvSpPr>
        <p:spPr>
          <a:xfrm>
            <a:off x="1347652" y="4212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212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실적: 정부·지자체와 4,668억원 조성(K-water 999억원), 물산업 전용 2,801억원 확보</a:t>
            </a:r>
          </a:p>
        </p:txBody>
      </p:sp>
      <p:sp>
        <p:nvSpPr>
          <p:cNvPr id="57" name="단계"/>
          <p:cNvSpPr/>
          <p:nvPr/>
        </p:nvSpPr>
        <p:spPr>
          <a:xfrm>
            <a:off x="1347652" y="444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 규모 확대(→5,254억원)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444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리스크 해소(중간회수 신설)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444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444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444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투자운용 등 기반 586억원 민간자본추가확보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전체 5,254억원의 60%, 물산업 전용펀드 확대(351억원↑, 2,801 → 3,152억원)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장기투자(8년↑) 대응, K-water 유동성 연계 지분 중간회수(적정유동성 2,500억원 미달 시 회수 예정)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물산업투자기관 협의회 대상 전문심사역(누적 69명) 양성</a:t>
            </a:r>
          </a:p>
        </p:txBody>
      </p:sp>
      <p:cxnSp>
        <p:nvCxnSpPr>
          <p:cNvPr id="67" name="Connector 45"/>
          <p:cNvCxnSpPr/>
          <p:nvPr/>
        </p:nvCxnSpPr>
        <p:spPr>
          <a:xfrm>
            <a:off x="3230348" y="4733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자금 사용 적시성 및 적정 유동성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최근 3개년 물산업 실투자액(’23년 592 → ’24년 1,180 → ’25년 1,606억원)</a:t>
            </a:r>
          </a:p>
        </p:txBody>
      </p:sp>
      <p:cxnSp>
        <p:nvCxnSpPr>
          <p:cNvPr id="69" name="Connector 47"/>
          <p:cNvCxnSpPr/>
          <p:nvPr/>
        </p:nvCxnSpPr>
        <p:spPr>
          <a:xfrm>
            <a:off x="5113043" y="4733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585078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5883652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47"/>
          </p:nvPr>
        </p:nvSpPr>
        <p:spPr>
          <a:xfrm>
            <a:off x="756000" y="5883652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48"/>
          </p:nvPr>
        </p:nvSpPr>
        <p:spPr>
          <a:xfrm>
            <a:off x="1501043" y="587269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딥테크 혁신기업 115개社 발굴(전년 比 117%), IPO 2개社(예비심사), 예비유니콘 4개社(누적)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창업지원사업 ‘최우수’ 운영기관(’25.11), 벤처기업협회 창업지원 ‘우수기관’(’25.11)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Relationship Id="rId242" Type="http://schemas.openxmlformats.org/officeDocument/2006/relationships/slideLayout" Target="../slideLayouts/slideLayout244.xml"/><Relationship Id="rId243" Type="http://schemas.openxmlformats.org/officeDocument/2006/relationships/slideLayout" Target="../slideLayouts/slideLayout245.xml"/><Relationship Id="rId244" Type="http://schemas.openxmlformats.org/officeDocument/2006/relationships/slideLayout" Target="../slideLayouts/slideLayout246.xml"/><Relationship Id="rId245" Type="http://schemas.openxmlformats.org/officeDocument/2006/relationships/slideLayout" Target="../slideLayouts/slideLayout247.xml"/><Relationship Id="rId246" Type="http://schemas.openxmlformats.org/officeDocument/2006/relationships/slideLayout" Target="../slideLayouts/slideLayout248.xml"/><Relationship Id="rId247" Type="http://schemas.openxmlformats.org/officeDocument/2006/relationships/slideLayout" Target="../slideLayouts/slideLayout249.xml"/><Relationship Id="rId248" Type="http://schemas.openxmlformats.org/officeDocument/2006/relationships/slideLayout" Target="../slideLayouts/slideLayout250.xml"/><Relationship Id="rId249" Type="http://schemas.openxmlformats.org/officeDocument/2006/relationships/slideLayout" Target="../slideLayouts/slideLayout251.xml"/><Relationship Id="rId250" Type="http://schemas.openxmlformats.org/officeDocument/2006/relationships/slideLayout" Target="../slideLayouts/slideLayout252.xml"/><Relationship Id="rId251" Type="http://schemas.openxmlformats.org/officeDocument/2006/relationships/slideLayout" Target="../slideLayouts/slideLayout253.xml"/><Relationship Id="rId252" Type="http://schemas.openxmlformats.org/officeDocument/2006/relationships/slideLayout" Target="../slideLayouts/slideLayout254.xml"/><Relationship Id="rId253" Type="http://schemas.openxmlformats.org/officeDocument/2006/relationships/slideLayout" Target="../slideLayouts/slideLayout255.xml"/><Relationship Id="rId254" Type="http://schemas.openxmlformats.org/officeDocument/2006/relationships/slideLayout" Target="../slideLayouts/slideLayout256.xml"/><Relationship Id="rId255" Type="http://schemas.openxmlformats.org/officeDocument/2006/relationships/slideLayout" Target="../slideLayouts/slideLayout257.xml"/><Relationship Id="rId256" Type="http://schemas.openxmlformats.org/officeDocument/2006/relationships/slideLayout" Target="../slideLayouts/slideLayout258.xml"/><Relationship Id="rId257" Type="http://schemas.openxmlformats.org/officeDocument/2006/relationships/slideLayout" Target="../slideLayouts/slideLayout259.xml"/><Relationship Id="rId258" Type="http://schemas.openxmlformats.org/officeDocument/2006/relationships/slideLayout" Target="../slideLayouts/slideLayout260.xml"/><Relationship Id="rId259" Type="http://schemas.openxmlformats.org/officeDocument/2006/relationships/slideLayout" Target="../slideLayouts/slideLayout261.xml"/><Relationship Id="rId260" Type="http://schemas.openxmlformats.org/officeDocument/2006/relationships/slideLayout" Target="../slideLayouts/slideLayout262.xml"/><Relationship Id="rId261" Type="http://schemas.openxmlformats.org/officeDocument/2006/relationships/slideLayout" Target="../slideLayouts/slideLayout263.xml"/><Relationship Id="rId262" Type="http://schemas.openxmlformats.org/officeDocument/2006/relationships/slideLayout" Target="../slideLayouts/slideLayout26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  <p:sldLayoutId id="2147483892" r:id="rId242"/>
    <p:sldLayoutId id="2147483893" r:id="rId243"/>
    <p:sldLayoutId id="2147483894" r:id="rId244"/>
    <p:sldLayoutId id="2147483895" r:id="rId245"/>
    <p:sldLayoutId id="2147483896" r:id="rId246"/>
    <p:sldLayoutId id="2147483897" r:id="rId247"/>
    <p:sldLayoutId id="2147483898" r:id="rId248"/>
    <p:sldLayoutId id="2147483899" r:id="rId249"/>
    <p:sldLayoutId id="2147483900" r:id="rId250"/>
    <p:sldLayoutId id="2147483901" r:id="rId251"/>
    <p:sldLayoutId id="2147483902" r:id="rId252"/>
    <p:sldLayoutId id="2147483903" r:id="rId253"/>
    <p:sldLayoutId id="2147483904" r:id="rId254"/>
    <p:sldLayoutId id="2147483905" r:id="rId255"/>
    <p:sldLayoutId id="2147483906" r:id="rId256"/>
    <p:sldLayoutId id="2147483907" r:id="rId257"/>
    <p:sldLayoutId id="2147483908" r:id="rId258"/>
    <p:sldLayoutId id="2147483909" r:id="rId259"/>
    <p:sldLayoutId id="2147483910" r:id="rId260"/>
    <p:sldLayoutId id="2147483911" r:id="rId261"/>
    <p:sldLayoutId id="2147483912" r:id="rId26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