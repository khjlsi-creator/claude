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지면-짝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지면-홀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01 장 제목 띠(쪽 머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장 제목 띠"/>
          <p:cNvSpPr/>
          <p:nvPr/>
        </p:nvSpPr>
        <p:spPr>
          <a:xfrm>
            <a:off x="536870" y="766957"/>
            <a:ext cx="6300000" cy="421826"/>
          </a:xfrm>
          <a:prstGeom prst="rect">
            <a:avLst/>
          </a:prstGeom>
          <a:solidFill>
            <a:srgbClr val="FFFF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I 칸"/>
          <p:cNvSpPr/>
          <p:nvPr/>
        </p:nvSpPr>
        <p:spPr>
          <a:xfrm>
            <a:off x="5401565" y="772435"/>
            <a:ext cx="1429826" cy="41087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장 제목"/>
          <p:cNvSpPr>
            <a:spLocks noGrp="1"/>
          </p:cNvSpPr>
          <p:nvPr>
            <p:ph type="body" sz="quarter" idx="20"/>
          </p:nvPr>
        </p:nvSpPr>
        <p:spPr>
          <a:xfrm>
            <a:off x="810783" y="777913"/>
            <a:ext cx="4590783" cy="39991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 spc="-9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spc="-90" dirty="0">
                <a:solidFill>
                  <a:srgbClr val="000359"/>
                </a:solidFill>
                <a:latin typeface="Pretendard"/>
                <a:ea typeface="Pretendard"/>
              </a:rPr>
              <a:t>Ⅲ. 2025년도 추진실적 및 성과</a:t>
            </a:r>
          </a:p>
        </p:txBody>
      </p:sp>
      <p:pic>
        <p:nvPicPr>
          <p:cNvPr id="13" name="KORAD CI" descr="korad-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522" y="870213"/>
            <a:ext cx="1161391" cy="21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02 평가내용 띠(쪽 머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평가내용 라벨"/>
          <p:cNvSpPr/>
          <p:nvPr/>
        </p:nvSpPr>
        <p:spPr>
          <a:xfrm>
            <a:off x="723130" y="777913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/>
        </p:txBody>
      </p:sp>
      <p:sp>
        <p:nvSpPr>
          <p:cNvPr id="10" name="평가내용 라벨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975130" cy="597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10800" bIns="108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1" name="평가내용 제목 박스"/>
          <p:cNvSpPr/>
          <p:nvPr/>
        </p:nvSpPr>
        <p:spPr>
          <a:xfrm>
            <a:off x="1709217" y="788870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평가내용 제목"/>
          <p:cNvSpPr>
            <a:spLocks noGrp="1"/>
          </p:cNvSpPr>
          <p:nvPr>
            <p:ph type="body" sz="quarter" idx="21"/>
          </p:nvPr>
        </p:nvSpPr>
        <p:spPr>
          <a:xfrm>
            <a:off x="1818783" y="799826"/>
            <a:ext cx="5127652" cy="55330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운영이 상호 협력과 참여에 기반하여 이루어지고 있는지 여부</a:t>
            </a:r>
          </a:p>
        </p:txBody>
      </p:sp>
      <p:sp>
        <p:nvSpPr>
          <p:cNvPr id="13" name="점"/>
          <p:cNvSpPr/>
          <p:nvPr/>
        </p:nvSpPr>
        <p:spPr>
          <a:xfrm>
            <a:off x="1057304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점"/>
          <p:cNvSpPr/>
          <p:nvPr/>
        </p:nvSpPr>
        <p:spPr>
          <a:xfrm>
            <a:off x="1134000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1210696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287391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364087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03 서사 · 환경분석 → 시사점 → 협력체계 → 추진 체계 5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상생 협력적인 노사관계 구축과 협력체계 운영</a:t>
            </a:r>
          </a:p>
        </p:txBody>
      </p:sp>
      <p:sp>
        <p:nvSpPr>
          <p:cNvPr id="15" name="형광 밑줄"/>
          <p:cNvSpPr/>
          <p:nvPr/>
        </p:nvSpPr>
        <p:spPr>
          <a:xfrm>
            <a:off x="536870" y="1347652"/>
            <a:ext cx="3107267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소제목"/>
          <p:cNvSpPr>
            <a:spLocks noGrp="1"/>
          </p:cNvSpPr>
          <p:nvPr>
            <p:ph type="body" sz="quarter" idx="22"/>
          </p:nvPr>
        </p:nvSpPr>
        <p:spPr>
          <a:xfrm>
            <a:off x="536870" y="1194261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상생 협력적 노사관계 운영 전략 수립과 과제 도출</a:t>
            </a:r>
          </a:p>
        </p:txBody>
      </p:sp>
      <p:sp>
        <p:nvSpPr>
          <p:cNvPr id="17" name="표 외곽"/>
          <p:cNvSpPr/>
          <p:nvPr/>
        </p:nvSpPr>
        <p:spPr>
          <a:xfrm>
            <a:off x="536870" y="1479130"/>
            <a:ext cx="6300000" cy="209973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레일"/>
          <p:cNvSpPr/>
          <p:nvPr/>
        </p:nvSpPr>
        <p:spPr>
          <a:xfrm>
            <a:off x="547826" y="1495565"/>
            <a:ext cx="580696" cy="77118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9" name="레일"/>
          <p:cNvSpPr>
            <a:spLocks noGrp="1"/>
          </p:cNvSpPr>
          <p:nvPr>
            <p:ph type="body" sz="quarter" idx="23"/>
          </p:nvPr>
        </p:nvSpPr>
        <p:spPr>
          <a:xfrm>
            <a:off x="547826" y="1495565"/>
            <a:ext cx="580696" cy="7711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0" name="머리칸"/>
          <p:cNvSpPr/>
          <p:nvPr/>
        </p:nvSpPr>
        <p:spPr>
          <a:xfrm>
            <a:off x="1161391" y="151747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1" name="머리칸"/>
          <p:cNvSpPr>
            <a:spLocks noGrp="1"/>
          </p:cNvSpPr>
          <p:nvPr>
            <p:ph type="body" sz="quarter" idx="24"/>
          </p:nvPr>
        </p:nvSpPr>
        <p:spPr>
          <a:xfrm>
            <a:off x="1161391" y="1517478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2" name="머리칸"/>
          <p:cNvSpPr/>
          <p:nvPr/>
        </p:nvSpPr>
        <p:spPr>
          <a:xfrm>
            <a:off x="3985435" y="151747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3" name="머리칸"/>
          <p:cNvSpPr>
            <a:spLocks noGrp="1"/>
          </p:cNvSpPr>
          <p:nvPr>
            <p:ph type="body" sz="quarter" idx="25"/>
          </p:nvPr>
        </p:nvSpPr>
        <p:spPr>
          <a:xfrm>
            <a:off x="3985435" y="1517478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내부여건</a:t>
            </a:r>
          </a:p>
        </p:txBody>
      </p:sp>
      <p:sp>
        <p:nvSpPr>
          <p:cNvPr id="24" name="칸 본문"/>
          <p:cNvSpPr>
            <a:spLocks noGrp="1"/>
          </p:cNvSpPr>
          <p:nvPr>
            <p:ph type="body" sz="quarter" idx="26"/>
          </p:nvPr>
        </p:nvSpPr>
        <p:spPr>
          <a:xfrm>
            <a:off x="1172348" y="1758522"/>
            <a:ext cx="2802130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노동존중 실현, 기본권 보장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노동조합법 개정, 노사협력 강화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저출산 해결 노력 요구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7"/>
          </p:nvPr>
        </p:nvSpPr>
        <p:spPr>
          <a:xfrm>
            <a:off x="3996391" y="1758522"/>
            <a:ext cx="2802130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등 취약직종 처우개선 요구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 등 현안해결 소통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근로환경 개선 요구</a:t>
            </a:r>
          </a:p>
        </p:txBody>
      </p:sp>
      <p:cxnSp>
        <p:nvCxnSpPr>
          <p:cNvPr id="26" name="Connector 19"/>
          <p:cNvCxnSpPr/>
          <p:nvPr/>
        </p:nvCxnSpPr>
        <p:spPr>
          <a:xfrm>
            <a:off x="3985435" y="1791391"/>
            <a:ext cx="0" cy="4370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7" name="레일"/>
          <p:cNvSpPr/>
          <p:nvPr/>
        </p:nvSpPr>
        <p:spPr>
          <a:xfrm>
            <a:off x="547826" y="2283183"/>
            <a:ext cx="580696" cy="640957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8" name="레일"/>
          <p:cNvSpPr>
            <a:spLocks noGrp="1"/>
          </p:cNvSpPr>
          <p:nvPr>
            <p:ph type="body" sz="quarter" idx="28"/>
          </p:nvPr>
        </p:nvSpPr>
        <p:spPr>
          <a:xfrm>
            <a:off x="547826" y="2283183"/>
            <a:ext cx="580696" cy="640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29" name="레일 삼각형"/>
          <p:cNvSpPr/>
          <p:nvPr/>
        </p:nvSpPr>
        <p:spPr>
          <a:xfrm>
            <a:off x="547826" y="2283182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태그"/>
          <p:cNvSpPr/>
          <p:nvPr/>
        </p:nvSpPr>
        <p:spPr>
          <a:xfrm>
            <a:off x="1161391" y="2327009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1" name="태그"/>
          <p:cNvSpPr>
            <a:spLocks noGrp="1"/>
          </p:cNvSpPr>
          <p:nvPr>
            <p:ph type="body" sz="quarter" idx="29"/>
          </p:nvPr>
        </p:nvSpPr>
        <p:spPr>
          <a:xfrm>
            <a:off x="1161391" y="2327009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</p:txBody>
      </p:sp>
      <p:sp>
        <p:nvSpPr>
          <p:cNvPr id="32" name="태그 설명"/>
          <p:cNvSpPr>
            <a:spLocks noGrp="1"/>
          </p:cNvSpPr>
          <p:nvPr>
            <p:ph type="body" sz="quarter" idx="30"/>
          </p:nvPr>
        </p:nvSpPr>
        <p:spPr>
          <a:xfrm>
            <a:off x="2145304" y="2316052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 협력적 노사관계 확산을 위한 노사협의체 운영과 내실화 추진</a:t>
            </a:r>
          </a:p>
        </p:txBody>
      </p:sp>
      <p:sp>
        <p:nvSpPr>
          <p:cNvPr id="33" name="태그"/>
          <p:cNvSpPr/>
          <p:nvPr/>
        </p:nvSpPr>
        <p:spPr>
          <a:xfrm>
            <a:off x="1161391" y="2524226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태그"/>
          <p:cNvSpPr>
            <a:spLocks noGrp="1"/>
          </p:cNvSpPr>
          <p:nvPr>
            <p:ph type="body" sz="quarter" idx="31"/>
          </p:nvPr>
        </p:nvSpPr>
        <p:spPr>
          <a:xfrm>
            <a:off x="1161391" y="2524226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강화</a:t>
            </a:r>
          </a:p>
        </p:txBody>
      </p:sp>
      <p:sp>
        <p:nvSpPr>
          <p:cNvPr id="35" name="태그 설명"/>
          <p:cNvSpPr>
            <a:spLocks noGrp="1"/>
          </p:cNvSpPr>
          <p:nvPr>
            <p:ph type="body" sz="quarter" idx="32"/>
          </p:nvPr>
        </p:nvSpPr>
        <p:spPr>
          <a:xfrm>
            <a:off x="2145304" y="2513270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공동 목표를 수행하는 동반자로서 긍정의 노사관계 강화</a:t>
            </a:r>
          </a:p>
        </p:txBody>
      </p:sp>
      <p:sp>
        <p:nvSpPr>
          <p:cNvPr id="36" name="태그"/>
          <p:cNvSpPr/>
          <p:nvPr/>
        </p:nvSpPr>
        <p:spPr>
          <a:xfrm>
            <a:off x="1161391" y="2721443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7" name="태그"/>
          <p:cNvSpPr>
            <a:spLocks noGrp="1"/>
          </p:cNvSpPr>
          <p:nvPr>
            <p:ph type="body" sz="quarter" idx="33"/>
          </p:nvPr>
        </p:nvSpPr>
        <p:spPr>
          <a:xfrm>
            <a:off x="1161391" y="2721443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</a:t>
            </a:r>
          </a:p>
        </p:txBody>
      </p:sp>
      <p:sp>
        <p:nvSpPr>
          <p:cNvPr id="38" name="태그 설명"/>
          <p:cNvSpPr>
            <a:spLocks noGrp="1"/>
          </p:cNvSpPr>
          <p:nvPr>
            <p:ph type="body" sz="quarter" idx="34"/>
          </p:nvPr>
        </p:nvSpPr>
        <p:spPr>
          <a:xfrm>
            <a:off x="2145304" y="2710487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 존중 실현과 복리후생제도 개선 등 근로환경 개선 추진</a:t>
            </a:r>
          </a:p>
        </p:txBody>
      </p:sp>
      <p:sp>
        <p:nvSpPr>
          <p:cNvPr id="39" name="레일"/>
          <p:cNvSpPr/>
          <p:nvPr/>
        </p:nvSpPr>
        <p:spPr>
          <a:xfrm>
            <a:off x="547826" y="2940574"/>
            <a:ext cx="580696" cy="621861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0" name="레일"/>
          <p:cNvSpPr>
            <a:spLocks noGrp="1"/>
          </p:cNvSpPr>
          <p:nvPr>
            <p:ph type="body" sz="quarter" idx="35"/>
          </p:nvPr>
        </p:nvSpPr>
        <p:spPr>
          <a:xfrm>
            <a:off x="547826" y="2940574"/>
            <a:ext cx="580696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협력체계</a:t>
            </a:r>
          </a:p>
        </p:txBody>
      </p:sp>
      <p:sp>
        <p:nvSpPr>
          <p:cNvPr id="41" name="레일 삼각형"/>
          <p:cNvSpPr/>
          <p:nvPr/>
        </p:nvSpPr>
        <p:spPr>
          <a:xfrm>
            <a:off x="547826" y="2940573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단계"/>
          <p:cNvSpPr/>
          <p:nvPr/>
        </p:nvSpPr>
        <p:spPr>
          <a:xfrm>
            <a:off x="1161391" y="2962487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3" name="단계"/>
          <p:cNvSpPr>
            <a:spLocks noGrp="1"/>
          </p:cNvSpPr>
          <p:nvPr>
            <p:ph type="body" sz="quarter" idx="36"/>
          </p:nvPr>
        </p:nvSpPr>
        <p:spPr>
          <a:xfrm>
            <a:off x="1161391" y="29624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운영기반 마련</a:t>
            </a:r>
          </a:p>
        </p:txBody>
      </p:sp>
      <p:sp>
        <p:nvSpPr>
          <p:cNvPr id="44" name="단계"/>
          <p:cNvSpPr/>
          <p:nvPr/>
        </p:nvSpPr>
        <p:spPr>
          <a:xfrm>
            <a:off x="3044087" y="2962487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5" name="단계"/>
          <p:cNvSpPr>
            <a:spLocks noGrp="1"/>
          </p:cNvSpPr>
          <p:nvPr>
            <p:ph type="body" sz="quarter" idx="37"/>
          </p:nvPr>
        </p:nvSpPr>
        <p:spPr>
          <a:xfrm>
            <a:off x="3044087" y="29624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소통채널을 통한 과제설정</a:t>
            </a:r>
          </a:p>
        </p:txBody>
      </p:sp>
      <p:sp>
        <p:nvSpPr>
          <p:cNvPr id="46" name="단계"/>
          <p:cNvSpPr/>
          <p:nvPr/>
        </p:nvSpPr>
        <p:spPr>
          <a:xfrm>
            <a:off x="4926783" y="2962487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7" name="단계"/>
          <p:cNvSpPr>
            <a:spLocks noGrp="1"/>
          </p:cNvSpPr>
          <p:nvPr>
            <p:ph type="body" sz="quarter" idx="38"/>
          </p:nvPr>
        </p:nvSpPr>
        <p:spPr>
          <a:xfrm>
            <a:off x="4926783" y="29624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및 성과점검</a:t>
            </a:r>
          </a:p>
        </p:txBody>
      </p:sp>
      <p:sp>
        <p:nvSpPr>
          <p:cNvPr id="48" name="단계 삼각형"/>
          <p:cNvSpPr/>
          <p:nvPr/>
        </p:nvSpPr>
        <p:spPr>
          <a:xfrm>
            <a:off x="3044086" y="296248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단계 삼각형"/>
          <p:cNvSpPr/>
          <p:nvPr/>
        </p:nvSpPr>
        <p:spPr>
          <a:xfrm>
            <a:off x="4926782" y="296248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칸 본문"/>
          <p:cNvSpPr>
            <a:spLocks noGrp="1"/>
          </p:cNvSpPr>
          <p:nvPr>
            <p:ph type="body" sz="quarter" idx="39"/>
          </p:nvPr>
        </p:nvSpPr>
        <p:spPr>
          <a:xfrm>
            <a:off x="1172348" y="3214487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성과지수 설문조사·분석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결과물 부재 등 요인 파악</a:t>
            </a:r>
          </a:p>
        </p:txBody>
      </p:sp>
      <p:sp>
        <p:nvSpPr>
          <p:cNvPr id="51" name="칸 본문"/>
          <p:cNvSpPr>
            <a:spLocks noGrp="1"/>
          </p:cNvSpPr>
          <p:nvPr>
            <p:ph type="body" sz="quarter" idx="40"/>
          </p:nvPr>
        </p:nvSpPr>
        <p:spPr>
          <a:xfrm>
            <a:off x="3055043" y="3214487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소통으로 추진방향·과제 설정</a:t>
            </a:r>
          </a:p>
        </p:txBody>
      </p:sp>
      <p:cxnSp>
        <p:nvCxnSpPr>
          <p:cNvPr id="52" name="Connector 37"/>
          <p:cNvCxnSpPr/>
          <p:nvPr/>
        </p:nvCxnSpPr>
        <p:spPr>
          <a:xfrm>
            <a:off x="3044087" y="3247357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3" name="칸 본문"/>
          <p:cNvSpPr>
            <a:spLocks noGrp="1"/>
          </p:cNvSpPr>
          <p:nvPr>
            <p:ph type="body" sz="quarter" idx="41"/>
          </p:nvPr>
        </p:nvSpPr>
        <p:spPr>
          <a:xfrm>
            <a:off x="4937739" y="3214487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노사협력으로 과제 적극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 점검 등 환류체계 제도화</a:t>
            </a:r>
          </a:p>
        </p:txBody>
      </p:sp>
      <p:cxnSp>
        <p:nvCxnSpPr>
          <p:cNvPr id="54" name="Connector 39"/>
          <p:cNvCxnSpPr/>
          <p:nvPr/>
        </p:nvCxnSpPr>
        <p:spPr>
          <a:xfrm>
            <a:off x="4926783" y="3247357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5" name="삼각 화살표"/>
          <p:cNvSpPr/>
          <p:nvPr/>
        </p:nvSpPr>
        <p:spPr>
          <a:xfrm>
            <a:off x="3823826" y="3622695"/>
            <a:ext cx="350608" cy="142435"/>
          </a:xfrm>
          <a:custGeom>
            <a:avLst/>
            <a:gdLst/>
            <a:ahLst/>
            <a:cxnLst/>
            <a:rect l="l" t="t" r="r" b="b"/>
            <a:pathLst>
              <a:path w="350608" h="142435">
                <a:moveTo>
                  <a:pt x="0" y="0"/>
                </a:moveTo>
                <a:lnTo>
                  <a:pt x="350608" y="0"/>
                </a:lnTo>
                <a:lnTo>
                  <a:pt x="175304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라벨 박스"/>
          <p:cNvSpPr/>
          <p:nvPr/>
        </p:nvSpPr>
        <p:spPr>
          <a:xfrm>
            <a:off x="536870" y="3847304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레일"/>
          <p:cNvSpPr/>
          <p:nvPr/>
        </p:nvSpPr>
        <p:spPr>
          <a:xfrm>
            <a:off x="547826" y="3858261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8" name="레일"/>
          <p:cNvSpPr>
            <a:spLocks noGrp="1"/>
          </p:cNvSpPr>
          <p:nvPr>
            <p:ph type="body" sz="quarter" idx="42"/>
          </p:nvPr>
        </p:nvSpPr>
        <p:spPr>
          <a:xfrm>
            <a:off x="547826" y="3858261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59" name="강조 바"/>
          <p:cNvSpPr/>
          <p:nvPr/>
        </p:nvSpPr>
        <p:spPr>
          <a:xfrm>
            <a:off x="1172348" y="3880174"/>
            <a:ext cx="5631652" cy="22460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강조 바 글"/>
          <p:cNvSpPr>
            <a:spLocks noGrp="1"/>
          </p:cNvSpPr>
          <p:nvPr>
            <p:ph type="body" sz="quarter" idx="43"/>
          </p:nvPr>
        </p:nvSpPr>
        <p:spPr>
          <a:xfrm>
            <a:off x="1172348" y="3880174"/>
            <a:ext cx="5631652" cy="224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신뢰를 바탕으로 한 노사 파트너십 강화와 상생 협력적인 노사관계 확산</a:t>
            </a:r>
          </a:p>
        </p:txBody>
      </p:sp>
      <p:sp>
        <p:nvSpPr>
          <p:cNvPr id="61" name="라벨 박스"/>
          <p:cNvSpPr/>
          <p:nvPr/>
        </p:nvSpPr>
        <p:spPr>
          <a:xfrm>
            <a:off x="536870" y="4192435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레일"/>
          <p:cNvSpPr/>
          <p:nvPr/>
        </p:nvSpPr>
        <p:spPr>
          <a:xfrm>
            <a:off x="547826" y="4203391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3" name="레일"/>
          <p:cNvSpPr>
            <a:spLocks noGrp="1"/>
          </p:cNvSpPr>
          <p:nvPr>
            <p:ph type="body" sz="quarter" idx="44"/>
          </p:nvPr>
        </p:nvSpPr>
        <p:spPr>
          <a:xfrm>
            <a:off x="547826" y="4203391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방향</a:t>
            </a:r>
          </a:p>
        </p:txBody>
      </p:sp>
      <p:sp>
        <p:nvSpPr>
          <p:cNvPr id="64" name="가운데 글"/>
          <p:cNvSpPr>
            <a:spLocks noGrp="1"/>
          </p:cNvSpPr>
          <p:nvPr>
            <p:ph type="body" sz="quarter" idx="45"/>
          </p:nvPr>
        </p:nvSpPr>
        <p:spPr>
          <a:xfrm>
            <a:off x="1172348" y="4208870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협의체 운영으로 리스크 해결</a:t>
            </a:r>
          </a:p>
        </p:txBody>
      </p:sp>
      <p:sp>
        <p:nvSpPr>
          <p:cNvPr id="65" name="가운데 글"/>
          <p:cNvSpPr>
            <a:spLocks noGrp="1"/>
          </p:cNvSpPr>
          <p:nvPr>
            <p:ph type="body" sz="quarter" idx="46"/>
          </p:nvPr>
        </p:nvSpPr>
        <p:spPr>
          <a:xfrm>
            <a:off x="3049565" y="4208870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 및 긍정문화 조성</a:t>
            </a:r>
          </a:p>
        </p:txBody>
      </p:sp>
      <p:cxnSp>
        <p:nvCxnSpPr>
          <p:cNvPr id="66" name="Connector 49"/>
          <p:cNvCxnSpPr/>
          <p:nvPr/>
        </p:nvCxnSpPr>
        <p:spPr>
          <a:xfrm>
            <a:off x="3049565" y="4247217"/>
            <a:ext cx="0" cy="180783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67" name="가운데 글"/>
          <p:cNvSpPr>
            <a:spLocks noGrp="1"/>
          </p:cNvSpPr>
          <p:nvPr>
            <p:ph type="body" sz="quarter" idx="47"/>
          </p:nvPr>
        </p:nvSpPr>
        <p:spPr>
          <a:xfrm>
            <a:off x="4926783" y="4208870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 노력</a:t>
            </a:r>
          </a:p>
        </p:txBody>
      </p:sp>
      <p:cxnSp>
        <p:nvCxnSpPr>
          <p:cNvPr id="68" name="Connector 51"/>
          <p:cNvCxnSpPr/>
          <p:nvPr/>
        </p:nvCxnSpPr>
        <p:spPr>
          <a:xfrm>
            <a:off x="4926783" y="4247217"/>
            <a:ext cx="0" cy="180783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69" name="라벨 박스"/>
          <p:cNvSpPr/>
          <p:nvPr/>
        </p:nvSpPr>
        <p:spPr>
          <a:xfrm>
            <a:off x="536870" y="4537565"/>
            <a:ext cx="6300000" cy="5465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레일"/>
          <p:cNvSpPr/>
          <p:nvPr/>
        </p:nvSpPr>
        <p:spPr>
          <a:xfrm>
            <a:off x="547826" y="4548522"/>
            <a:ext cx="591652" cy="52466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1" name="레일"/>
          <p:cNvSpPr>
            <a:spLocks noGrp="1"/>
          </p:cNvSpPr>
          <p:nvPr>
            <p:ph type="body" sz="quarter" idx="48"/>
          </p:nvPr>
        </p:nvSpPr>
        <p:spPr>
          <a:xfrm>
            <a:off x="547826" y="4548522"/>
            <a:ext cx="591652" cy="5246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72" name="칸 본문"/>
          <p:cNvSpPr>
            <a:spLocks noGrp="1"/>
          </p:cNvSpPr>
          <p:nvPr>
            <p:ph type="body" sz="quarter" idx="49"/>
          </p:nvPr>
        </p:nvSpPr>
        <p:spPr>
          <a:xfrm>
            <a:off x="1183304" y="4554000"/>
            <a:ext cx="1855304" cy="5137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선임·현안 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적법성 자체점검</a:t>
            </a:r>
          </a:p>
        </p:txBody>
      </p:sp>
      <p:sp>
        <p:nvSpPr>
          <p:cNvPr id="73" name="칸 본문"/>
          <p:cNvSpPr>
            <a:spLocks noGrp="1"/>
          </p:cNvSpPr>
          <p:nvPr>
            <p:ph type="body" sz="quarter" idx="50"/>
          </p:nvPr>
        </p:nvSpPr>
        <p:spPr>
          <a:xfrm>
            <a:off x="3060522" y="4554000"/>
            <a:ext cx="1855304" cy="5137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소통·협력 프로그램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긍정 노사관계 정착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역량강화 교육</a:t>
            </a:r>
          </a:p>
        </p:txBody>
      </p:sp>
      <p:cxnSp>
        <p:nvCxnSpPr>
          <p:cNvPr id="74" name="Connector 56"/>
          <p:cNvCxnSpPr/>
          <p:nvPr/>
        </p:nvCxnSpPr>
        <p:spPr>
          <a:xfrm>
            <a:off x="3049565" y="4586870"/>
            <a:ext cx="0" cy="4479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5" name="칸 본문"/>
          <p:cNvSpPr>
            <a:spLocks noGrp="1"/>
          </p:cNvSpPr>
          <p:nvPr>
            <p:ph type="body" sz="quarter" idx="51"/>
          </p:nvPr>
        </p:nvSpPr>
        <p:spPr>
          <a:xfrm>
            <a:off x="4937739" y="4554000"/>
            <a:ext cx="1855304" cy="5137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임금·단체협약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개선</a:t>
            </a:r>
          </a:p>
        </p:txBody>
      </p:sp>
      <p:cxnSp>
        <p:nvCxnSpPr>
          <p:cNvPr id="76" name="Connector 58"/>
          <p:cNvCxnSpPr/>
          <p:nvPr/>
        </p:nvCxnSpPr>
        <p:spPr>
          <a:xfrm>
            <a:off x="4926783" y="4586870"/>
            <a:ext cx="0" cy="4479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7" name="라벨 박스"/>
          <p:cNvSpPr/>
          <p:nvPr/>
        </p:nvSpPr>
        <p:spPr>
          <a:xfrm>
            <a:off x="536870" y="5138922"/>
            <a:ext cx="6300000" cy="38629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레일"/>
          <p:cNvSpPr/>
          <p:nvPr/>
        </p:nvSpPr>
        <p:spPr>
          <a:xfrm>
            <a:off x="547826" y="5149878"/>
            <a:ext cx="591652" cy="36438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9" name="레일"/>
          <p:cNvSpPr>
            <a:spLocks noGrp="1"/>
          </p:cNvSpPr>
          <p:nvPr>
            <p:ph type="body" sz="quarter" idx="52"/>
          </p:nvPr>
        </p:nvSpPr>
        <p:spPr>
          <a:xfrm>
            <a:off x="547826" y="5149878"/>
            <a:ext cx="591652" cy="3643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 채널</a:t>
            </a:r>
          </a:p>
        </p:txBody>
      </p:sp>
      <p:sp>
        <p:nvSpPr>
          <p:cNvPr id="80" name="칸 본문"/>
          <p:cNvSpPr>
            <a:spLocks noGrp="1"/>
          </p:cNvSpPr>
          <p:nvPr>
            <p:ph type="body" sz="quarter" idx="53"/>
          </p:nvPr>
        </p:nvSpPr>
        <p:spPr>
          <a:xfrm>
            <a:off x="1183304" y="5155357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노사협의회·분임협의회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라운드테이블</a:t>
            </a:r>
          </a:p>
        </p:txBody>
      </p:sp>
      <p:sp>
        <p:nvSpPr>
          <p:cNvPr id="81" name="칸 본문"/>
          <p:cNvSpPr>
            <a:spLocks noGrp="1"/>
          </p:cNvSpPr>
          <p:nvPr>
            <p:ph type="body" sz="quarter" idx="54"/>
          </p:nvPr>
        </p:nvSpPr>
        <p:spPr>
          <a:xfrm>
            <a:off x="3060522" y="5155357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데일리미팅·전략회의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상생의 달 행사</a:t>
            </a:r>
          </a:p>
        </p:txBody>
      </p:sp>
      <p:cxnSp>
        <p:nvCxnSpPr>
          <p:cNvPr id="82" name="Connector 63"/>
          <p:cNvCxnSpPr/>
          <p:nvPr/>
        </p:nvCxnSpPr>
        <p:spPr>
          <a:xfrm>
            <a:off x="3049565" y="5188226"/>
            <a:ext cx="0" cy="2876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3" name="칸 본문"/>
          <p:cNvSpPr>
            <a:spLocks noGrp="1"/>
          </p:cNvSpPr>
          <p:nvPr>
            <p:ph type="body" sz="quarter" idx="55"/>
          </p:nvPr>
        </p:nvSpPr>
        <p:spPr>
          <a:xfrm>
            <a:off x="4937739" y="5155357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추진단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</a:t>
            </a:r>
          </a:p>
        </p:txBody>
      </p:sp>
      <p:cxnSp>
        <p:nvCxnSpPr>
          <p:cNvPr id="84" name="Connector 65"/>
          <p:cNvCxnSpPr/>
          <p:nvPr/>
        </p:nvCxnSpPr>
        <p:spPr>
          <a:xfrm>
            <a:off x="4926783" y="5188226"/>
            <a:ext cx="0" cy="2876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5" name="라벨 박스"/>
          <p:cNvSpPr/>
          <p:nvPr/>
        </p:nvSpPr>
        <p:spPr>
          <a:xfrm>
            <a:off x="536870" y="5580000"/>
            <a:ext cx="6300000" cy="38629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레일"/>
          <p:cNvSpPr/>
          <p:nvPr/>
        </p:nvSpPr>
        <p:spPr>
          <a:xfrm>
            <a:off x="547826" y="5590957"/>
            <a:ext cx="591652" cy="36438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7" name="레일"/>
          <p:cNvSpPr>
            <a:spLocks noGrp="1"/>
          </p:cNvSpPr>
          <p:nvPr>
            <p:ph type="body" sz="quarter" idx="56"/>
          </p:nvPr>
        </p:nvSpPr>
        <p:spPr>
          <a:xfrm>
            <a:off x="547826" y="5590957"/>
            <a:ext cx="591652" cy="3643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성과지표</a:t>
            </a:r>
          </a:p>
        </p:txBody>
      </p:sp>
      <p:sp>
        <p:nvSpPr>
          <p:cNvPr id="88" name="칸 본문"/>
          <p:cNvSpPr>
            <a:spLocks noGrp="1"/>
          </p:cNvSpPr>
          <p:nvPr>
            <p:ph type="body" sz="quarter" idx="57"/>
          </p:nvPr>
        </p:nvSpPr>
        <p:spPr>
          <a:xfrm>
            <a:off x="1183304" y="5596435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안건 일치율</a:t>
            </a:r>
          </a:p>
        </p:txBody>
      </p:sp>
      <p:sp>
        <p:nvSpPr>
          <p:cNvPr id="89" name="칸 본문"/>
          <p:cNvSpPr>
            <a:spLocks noGrp="1"/>
          </p:cNvSpPr>
          <p:nvPr>
            <p:ph type="body" sz="quarter" idx="58"/>
          </p:nvPr>
        </p:nvSpPr>
        <p:spPr>
          <a:xfrm>
            <a:off x="3060522" y="5596435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역량지수 설문조사</a:t>
            </a:r>
          </a:p>
        </p:txBody>
      </p:sp>
      <p:cxnSp>
        <p:nvCxnSpPr>
          <p:cNvPr id="90" name="Connector 70"/>
          <p:cNvCxnSpPr/>
          <p:nvPr/>
        </p:nvCxnSpPr>
        <p:spPr>
          <a:xfrm>
            <a:off x="3049565" y="5629304"/>
            <a:ext cx="0" cy="2876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1" name="칸 본문"/>
          <p:cNvSpPr>
            <a:spLocks noGrp="1"/>
          </p:cNvSpPr>
          <p:nvPr>
            <p:ph type="body" sz="quarter" idx="59"/>
          </p:nvPr>
        </p:nvSpPr>
        <p:spPr>
          <a:xfrm>
            <a:off x="4937739" y="5596435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설문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설문</a:t>
            </a:r>
          </a:p>
        </p:txBody>
      </p:sp>
      <p:cxnSp>
        <p:nvCxnSpPr>
          <p:cNvPr id="92" name="Connector 72"/>
          <p:cNvCxnSpPr/>
          <p:nvPr/>
        </p:nvCxnSpPr>
        <p:spPr>
          <a:xfrm>
            <a:off x="4926783" y="5629304"/>
            <a:ext cx="0" cy="2876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3" name="핵심성과 박스"/>
          <p:cNvSpPr/>
          <p:nvPr/>
        </p:nvSpPr>
        <p:spPr>
          <a:xfrm>
            <a:off x="536870" y="6053948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핵심성과 라벨"/>
          <p:cNvSpPr/>
          <p:nvPr/>
        </p:nvSpPr>
        <p:spPr>
          <a:xfrm>
            <a:off x="569739" y="6092296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95" name="핵심성과 라벨"/>
          <p:cNvSpPr>
            <a:spLocks noGrp="1"/>
          </p:cNvSpPr>
          <p:nvPr>
            <p:ph type="body" sz="quarter" idx="60"/>
          </p:nvPr>
        </p:nvSpPr>
        <p:spPr>
          <a:xfrm>
            <a:off x="569739" y="6092296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96" name="핵심성과 문구"/>
          <p:cNvSpPr>
            <a:spLocks noGrp="1"/>
          </p:cNvSpPr>
          <p:nvPr>
            <p:ph type="body" sz="quarter" idx="61"/>
          </p:nvPr>
        </p:nvSpPr>
        <p:spPr>
          <a:xfrm>
            <a:off x="1314783" y="6070383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04 서사 · 두 갈래 협의체 운영 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931304"/>
            <a:ext cx="290529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노사협력체계 운영을 통한 분야별 리스크 관리</a:t>
            </a:r>
          </a:p>
        </p:txBody>
      </p:sp>
      <p:sp>
        <p:nvSpPr>
          <p:cNvPr id="11" name="태그칩"/>
          <p:cNvSpPr/>
          <p:nvPr/>
        </p:nvSpPr>
        <p:spPr>
          <a:xfrm>
            <a:off x="3727032" y="810783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태그칩"/>
          <p:cNvSpPr>
            <a:spLocks noGrp="1"/>
          </p:cNvSpPr>
          <p:nvPr>
            <p:ph type="body" sz="quarter" idx="21"/>
          </p:nvPr>
        </p:nvSpPr>
        <p:spPr>
          <a:xfrm>
            <a:off x="3727032" y="810783"/>
            <a:ext cx="60639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신규·강화</a:t>
            </a:r>
          </a:p>
        </p:txBody>
      </p:sp>
      <p:sp>
        <p:nvSpPr>
          <p:cNvPr id="13" name="패널 외곽"/>
          <p:cNvSpPr/>
          <p:nvPr/>
        </p:nvSpPr>
        <p:spPr>
          <a:xfrm>
            <a:off x="723130" y="1073739"/>
            <a:ext cx="3125348" cy="1873878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패널 머리"/>
          <p:cNvSpPr/>
          <p:nvPr/>
        </p:nvSpPr>
        <p:spPr>
          <a:xfrm>
            <a:off x="723130" y="1073739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5" name="패널 머리"/>
          <p:cNvSpPr>
            <a:spLocks noGrp="1"/>
          </p:cNvSpPr>
          <p:nvPr>
            <p:ph type="body" sz="quarter" idx="22"/>
          </p:nvPr>
        </p:nvSpPr>
        <p:spPr>
          <a:xfrm>
            <a:off x="723130" y="1073739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16" name="레일"/>
          <p:cNvSpPr/>
          <p:nvPr/>
        </p:nvSpPr>
        <p:spPr>
          <a:xfrm>
            <a:off x="756000" y="1347652"/>
            <a:ext cx="630000" cy="3753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레일"/>
          <p:cNvSpPr>
            <a:spLocks noGrp="1"/>
          </p:cNvSpPr>
          <p:nvPr>
            <p:ph type="body" sz="quarter" idx="23"/>
          </p:nvPr>
        </p:nvSpPr>
        <p:spPr>
          <a:xfrm>
            <a:off x="756000" y="1347652"/>
            <a:ext cx="630000" cy="375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노사협의회</a:t>
            </a:r>
          </a:p>
        </p:txBody>
      </p:sp>
      <p:sp>
        <p:nvSpPr>
          <p:cNvPr id="18" name="패널 본문"/>
          <p:cNvSpPr>
            <a:spLocks noGrp="1"/>
          </p:cNvSpPr>
          <p:nvPr>
            <p:ph type="body" sz="quarter" idx="24"/>
          </p:nvPr>
        </p:nvSpPr>
        <p:spPr>
          <a:xfrm>
            <a:off x="1429826" y="1336696"/>
            <a:ext cx="2385783" cy="397252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4회·24건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자기개발휴직 등 매뉴얼 수립</a:t>
            </a:r>
          </a:p>
        </p:txBody>
      </p:sp>
      <p:cxnSp>
        <p:nvCxnSpPr>
          <p:cNvPr id="19" name="Connector 10"/>
          <p:cNvCxnSpPr/>
          <p:nvPr/>
        </p:nvCxnSpPr>
        <p:spPr>
          <a:xfrm>
            <a:off x="1429826" y="1733948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0" name="레일"/>
          <p:cNvSpPr/>
          <p:nvPr/>
        </p:nvSpPr>
        <p:spPr>
          <a:xfrm>
            <a:off x="756000" y="1744904"/>
            <a:ext cx="630000" cy="3753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5"/>
          </p:nvPr>
        </p:nvSpPr>
        <p:spPr>
          <a:xfrm>
            <a:off x="756000" y="1744904"/>
            <a:ext cx="630000" cy="375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인사고충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심의회</a:t>
            </a:r>
          </a:p>
        </p:txBody>
      </p:sp>
      <p:sp>
        <p:nvSpPr>
          <p:cNvPr id="22" name="패널 본문"/>
          <p:cNvSpPr>
            <a:spLocks noGrp="1"/>
          </p:cNvSpPr>
          <p:nvPr>
            <p:ph type="body" sz="quarter" idx="26"/>
          </p:nvPr>
        </p:nvSpPr>
        <p:spPr>
          <a:xfrm>
            <a:off x="1429826" y="1733948"/>
            <a:ext cx="2385783" cy="397252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반기별 2회, 87명 심의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13명 인용, 9명 발령 조치</a:t>
            </a:r>
          </a:p>
        </p:txBody>
      </p:sp>
      <p:cxnSp>
        <p:nvCxnSpPr>
          <p:cNvPr id="23" name="Connector 13"/>
          <p:cNvCxnSpPr/>
          <p:nvPr/>
        </p:nvCxnSpPr>
        <p:spPr>
          <a:xfrm>
            <a:off x="1429826" y="2131200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레일"/>
          <p:cNvSpPr/>
          <p:nvPr/>
        </p:nvSpPr>
        <p:spPr>
          <a:xfrm>
            <a:off x="756000" y="2142157"/>
            <a:ext cx="630000" cy="3753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756000" y="2142157"/>
            <a:ext cx="630000" cy="375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26" name="패널 본문"/>
          <p:cNvSpPr>
            <a:spLocks noGrp="1"/>
          </p:cNvSpPr>
          <p:nvPr>
            <p:ph type="body" sz="quarter" idx="28"/>
          </p:nvPr>
        </p:nvSpPr>
        <p:spPr>
          <a:xfrm>
            <a:off x="1429826" y="2131200"/>
            <a:ext cx="2385783" cy="397252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3회·11건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석면제거·정신건강 예산 확보</a:t>
            </a:r>
          </a:p>
        </p:txBody>
      </p:sp>
      <p:cxnSp>
        <p:nvCxnSpPr>
          <p:cNvPr id="27" name="Connector 16"/>
          <p:cNvCxnSpPr/>
          <p:nvPr/>
        </p:nvCxnSpPr>
        <p:spPr>
          <a:xfrm>
            <a:off x="1429826" y="2528452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레일"/>
          <p:cNvSpPr/>
          <p:nvPr/>
        </p:nvSpPr>
        <p:spPr>
          <a:xfrm>
            <a:off x="756000" y="2539409"/>
            <a:ext cx="630000" cy="3753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레일"/>
          <p:cNvSpPr>
            <a:spLocks noGrp="1"/>
          </p:cNvSpPr>
          <p:nvPr>
            <p:ph type="body" sz="quarter" idx="29"/>
          </p:nvPr>
        </p:nvSpPr>
        <p:spPr>
          <a:xfrm>
            <a:off x="756000" y="2539409"/>
            <a:ext cx="630000" cy="375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혁신성장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전략회의</a:t>
            </a:r>
          </a:p>
        </p:txBody>
      </p:sp>
      <p:sp>
        <p:nvSpPr>
          <p:cNvPr id="30" name="패널 본문"/>
          <p:cNvSpPr>
            <a:spLocks noGrp="1"/>
          </p:cNvSpPr>
          <p:nvPr>
            <p:ph type="body" sz="quarter" idx="30"/>
          </p:nvPr>
        </p:nvSpPr>
        <p:spPr>
          <a:xfrm>
            <a:off x="1429826" y="2528452"/>
            <a:ext cx="2385783" cy="397252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매주 금요일 개최(37회)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경영현황·성과공유·현안 점검</a:t>
            </a:r>
          </a:p>
        </p:txBody>
      </p:sp>
      <p:sp>
        <p:nvSpPr>
          <p:cNvPr id="31" name="패널 외곽"/>
          <p:cNvSpPr/>
          <p:nvPr/>
        </p:nvSpPr>
        <p:spPr>
          <a:xfrm>
            <a:off x="3897783" y="1073739"/>
            <a:ext cx="3125348" cy="1873878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패널 머리"/>
          <p:cNvSpPr/>
          <p:nvPr/>
        </p:nvSpPr>
        <p:spPr>
          <a:xfrm>
            <a:off x="3897783" y="1073739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3" name="패널 머리"/>
          <p:cNvSpPr>
            <a:spLocks noGrp="1"/>
          </p:cNvSpPr>
          <p:nvPr>
            <p:ph type="body" sz="quarter" idx="31"/>
          </p:nvPr>
        </p:nvSpPr>
        <p:spPr>
          <a:xfrm>
            <a:off x="3897783" y="1073739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34" name="레일"/>
          <p:cNvSpPr/>
          <p:nvPr/>
        </p:nvSpPr>
        <p:spPr>
          <a:xfrm>
            <a:off x="3930652" y="1347652"/>
            <a:ext cx="810783" cy="3753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5" name="레일"/>
          <p:cNvSpPr>
            <a:spLocks noGrp="1"/>
          </p:cNvSpPr>
          <p:nvPr>
            <p:ph type="body" sz="quarter" idx="32"/>
          </p:nvPr>
        </p:nvSpPr>
        <p:spPr>
          <a:xfrm>
            <a:off x="3930652" y="1347652"/>
            <a:ext cx="810783" cy="375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처우개선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추진단</a:t>
            </a:r>
          </a:p>
        </p:txBody>
      </p:sp>
      <p:sp>
        <p:nvSpPr>
          <p:cNvPr id="36" name="패널 본문"/>
          <p:cNvSpPr>
            <a:spLocks noGrp="1"/>
          </p:cNvSpPr>
          <p:nvPr>
            <p:ph type="body" sz="quarter" idx="33"/>
          </p:nvPr>
        </p:nvSpPr>
        <p:spPr>
          <a:xfrm>
            <a:off x="4785261" y="1336696"/>
            <a:ext cx="2205000" cy="397252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개최(5회)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자체성과급 신설 등 도출</a:t>
            </a:r>
          </a:p>
        </p:txBody>
      </p:sp>
      <p:cxnSp>
        <p:nvCxnSpPr>
          <p:cNvPr id="37" name="Connector 23"/>
          <p:cNvCxnSpPr/>
          <p:nvPr/>
        </p:nvCxnSpPr>
        <p:spPr>
          <a:xfrm>
            <a:off x="4785261" y="1733948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8" name="레일"/>
          <p:cNvSpPr/>
          <p:nvPr/>
        </p:nvSpPr>
        <p:spPr>
          <a:xfrm>
            <a:off x="3930652" y="1744904"/>
            <a:ext cx="810783" cy="3753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레일"/>
          <p:cNvSpPr>
            <a:spLocks noGrp="1"/>
          </p:cNvSpPr>
          <p:nvPr>
            <p:ph type="body" sz="quarter" idx="34"/>
          </p:nvPr>
        </p:nvSpPr>
        <p:spPr>
          <a:xfrm>
            <a:off x="3930652" y="1744904"/>
            <a:ext cx="810783" cy="375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40" name="패널 본문"/>
          <p:cNvSpPr>
            <a:spLocks noGrp="1"/>
          </p:cNvSpPr>
          <p:nvPr>
            <p:ph type="body" sz="quarter" idx="35"/>
          </p:nvPr>
        </p:nvSpPr>
        <p:spPr>
          <a:xfrm>
            <a:off x="4785261" y="1733948"/>
            <a:ext cx="2205000" cy="397252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 개최(4회)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사택 에어컨·출산축하금</a:t>
            </a:r>
          </a:p>
        </p:txBody>
      </p:sp>
      <p:cxnSp>
        <p:nvCxnSpPr>
          <p:cNvPr id="41" name="Connector 26"/>
          <p:cNvCxnSpPr/>
          <p:nvPr/>
        </p:nvCxnSpPr>
        <p:spPr>
          <a:xfrm>
            <a:off x="4785261" y="2131200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2" name="레일"/>
          <p:cNvSpPr/>
          <p:nvPr/>
        </p:nvSpPr>
        <p:spPr>
          <a:xfrm>
            <a:off x="3930652" y="2142157"/>
            <a:ext cx="810783" cy="3753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3" name="레일"/>
          <p:cNvSpPr>
            <a:spLocks noGrp="1"/>
          </p:cNvSpPr>
          <p:nvPr>
            <p:ph type="body" sz="quarter" idx="36"/>
          </p:nvPr>
        </p:nvSpPr>
        <p:spPr>
          <a:xfrm>
            <a:off x="3930652" y="2142157"/>
            <a:ext cx="810783" cy="375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사내근로복지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기금 협의회</a:t>
            </a:r>
          </a:p>
        </p:txBody>
      </p:sp>
      <p:sp>
        <p:nvSpPr>
          <p:cNvPr id="44" name="패널 본문"/>
          <p:cNvSpPr>
            <a:spLocks noGrp="1"/>
          </p:cNvSpPr>
          <p:nvPr>
            <p:ph type="body" sz="quarter" idx="37"/>
          </p:nvPr>
        </p:nvSpPr>
        <p:spPr>
          <a:xfrm>
            <a:off x="4785261" y="2131200"/>
            <a:ext cx="2205000" cy="397252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사내기금 운용 개최(3회)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장례지원서비스 범위 확대</a:t>
            </a:r>
          </a:p>
        </p:txBody>
      </p:sp>
      <p:cxnSp>
        <p:nvCxnSpPr>
          <p:cNvPr id="45" name="Connector 29"/>
          <p:cNvCxnSpPr/>
          <p:nvPr/>
        </p:nvCxnSpPr>
        <p:spPr>
          <a:xfrm>
            <a:off x="4785261" y="2528452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6" name="레일"/>
          <p:cNvSpPr/>
          <p:nvPr/>
        </p:nvSpPr>
        <p:spPr>
          <a:xfrm>
            <a:off x="3930652" y="2539409"/>
            <a:ext cx="810783" cy="3753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7" name="레일"/>
          <p:cNvSpPr>
            <a:spLocks noGrp="1"/>
          </p:cNvSpPr>
          <p:nvPr>
            <p:ph type="body" sz="quarter" idx="38"/>
          </p:nvPr>
        </p:nvSpPr>
        <p:spPr>
          <a:xfrm>
            <a:off x="3930652" y="2539409"/>
            <a:ext cx="810783" cy="375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통상임금 TF</a:t>
            </a:r>
          </a:p>
        </p:txBody>
      </p:sp>
      <p:sp>
        <p:nvSpPr>
          <p:cNvPr id="48" name="패널 본문"/>
          <p:cNvSpPr>
            <a:spLocks noGrp="1"/>
          </p:cNvSpPr>
          <p:nvPr>
            <p:ph type="body" sz="quarter" idx="39"/>
          </p:nvPr>
        </p:nvSpPr>
        <p:spPr>
          <a:xfrm>
            <a:off x="4785261" y="2528452"/>
            <a:ext cx="2205000" cy="397252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 킥오프('25.12월)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성과급 등 리스크 집중 관리</a:t>
            </a:r>
          </a:p>
        </p:txBody>
      </p:sp>
      <p:sp>
        <p:nvSpPr>
          <p:cNvPr id="49" name="핵심성과 박스"/>
          <p:cNvSpPr/>
          <p:nvPr/>
        </p:nvSpPr>
        <p:spPr>
          <a:xfrm>
            <a:off x="723130" y="3035270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핵심성과 라벨"/>
          <p:cNvSpPr/>
          <p:nvPr/>
        </p:nvSpPr>
        <p:spPr>
          <a:xfrm>
            <a:off x="756000" y="3073617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51" name="핵심성과 라벨"/>
          <p:cNvSpPr>
            <a:spLocks noGrp="1"/>
          </p:cNvSpPr>
          <p:nvPr>
            <p:ph type="body" sz="quarter" idx="40"/>
          </p:nvPr>
        </p:nvSpPr>
        <p:spPr>
          <a:xfrm>
            <a:off x="756000" y="3073617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52" name="핵심성과 문구"/>
          <p:cNvSpPr>
            <a:spLocks noGrp="1"/>
          </p:cNvSpPr>
          <p:nvPr>
            <p:ph type="body" sz="quarter" idx="41"/>
          </p:nvPr>
        </p:nvSpPr>
        <p:spPr>
          <a:xfrm>
            <a:off x="1501043" y="3051704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05 서사 · 현황 → 이해관계 → 추진노력 + 성과 사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상호협력과 참여 기반 현안문제 해결과 합리적 노사관계 운영 성과</a:t>
            </a:r>
          </a:p>
        </p:txBody>
      </p:sp>
      <p:sp>
        <p:nvSpPr>
          <p:cNvPr id="15" name="형광 밑줄"/>
          <p:cNvSpPr/>
          <p:nvPr/>
        </p:nvSpPr>
        <p:spPr>
          <a:xfrm>
            <a:off x="536870" y="1347652"/>
            <a:ext cx="3133612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소제목"/>
          <p:cNvSpPr>
            <a:spLocks noGrp="1"/>
          </p:cNvSpPr>
          <p:nvPr>
            <p:ph type="body" sz="quarter" idx="22"/>
          </p:nvPr>
        </p:nvSpPr>
        <p:spPr>
          <a:xfrm>
            <a:off x="536870" y="1194261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라운드테이블로 운전면허 적성검사 연말집중 해소</a:t>
            </a:r>
          </a:p>
        </p:txBody>
      </p:sp>
      <p:sp>
        <p:nvSpPr>
          <p:cNvPr id="17" name="태그칩"/>
          <p:cNvSpPr/>
          <p:nvPr/>
        </p:nvSpPr>
        <p:spPr>
          <a:xfrm>
            <a:off x="3769090" y="1227130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태그칩"/>
          <p:cNvSpPr>
            <a:spLocks noGrp="1"/>
          </p:cNvSpPr>
          <p:nvPr>
            <p:ph type="body" sz="quarter" idx="23"/>
          </p:nvPr>
        </p:nvSpPr>
        <p:spPr>
          <a:xfrm>
            <a:off x="3769090" y="1227130"/>
            <a:ext cx="32732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19" name="표 외곽"/>
          <p:cNvSpPr/>
          <p:nvPr/>
        </p:nvSpPr>
        <p:spPr>
          <a:xfrm>
            <a:off x="536870" y="1479130"/>
            <a:ext cx="4716783" cy="1972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레일"/>
          <p:cNvSpPr/>
          <p:nvPr/>
        </p:nvSpPr>
        <p:spPr>
          <a:xfrm>
            <a:off x="547826" y="1495565"/>
            <a:ext cx="580696" cy="3698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495565"/>
            <a:ext cx="580696" cy="369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22" name="본문"/>
          <p:cNvSpPr>
            <a:spLocks noGrp="1"/>
          </p:cNvSpPr>
          <p:nvPr>
            <p:ph type="body" sz="quarter" idx="25"/>
          </p:nvPr>
        </p:nvSpPr>
        <p:spPr>
          <a:xfrm>
            <a:off x="1161391" y="1517478"/>
            <a:ext cx="406487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매년 운전면허 적성검사 갱신 민원인 연말집중 현상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민원 집중에 따른 초과근무 등 직원 근로환경 저하</a:t>
            </a:r>
          </a:p>
        </p:txBody>
      </p:sp>
      <p:sp>
        <p:nvSpPr>
          <p:cNvPr id="23" name="레일"/>
          <p:cNvSpPr/>
          <p:nvPr/>
        </p:nvSpPr>
        <p:spPr>
          <a:xfrm>
            <a:off x="547826" y="1881861"/>
            <a:ext cx="580696" cy="765704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4" name="레일"/>
          <p:cNvSpPr>
            <a:spLocks noGrp="1"/>
          </p:cNvSpPr>
          <p:nvPr>
            <p:ph type="body" sz="quarter" idx="26"/>
          </p:nvPr>
        </p:nvSpPr>
        <p:spPr>
          <a:xfrm>
            <a:off x="547826" y="1881861"/>
            <a:ext cx="580696" cy="7657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25" name="레일 삼각형"/>
          <p:cNvSpPr/>
          <p:nvPr/>
        </p:nvSpPr>
        <p:spPr>
          <a:xfrm>
            <a:off x="547826" y="1881860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머리칸"/>
          <p:cNvSpPr/>
          <p:nvPr/>
        </p:nvSpPr>
        <p:spPr>
          <a:xfrm>
            <a:off x="1161391" y="1903774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7"/>
          </p:nvPr>
        </p:nvSpPr>
        <p:spPr>
          <a:xfrm>
            <a:off x="1161391" y="1903774"/>
            <a:ext cx="2016000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28" name="머리칸"/>
          <p:cNvSpPr/>
          <p:nvPr/>
        </p:nvSpPr>
        <p:spPr>
          <a:xfrm>
            <a:off x="3193826" y="1903774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9" name="머리칸"/>
          <p:cNvSpPr>
            <a:spLocks noGrp="1"/>
          </p:cNvSpPr>
          <p:nvPr>
            <p:ph type="body" sz="quarter" idx="28"/>
          </p:nvPr>
        </p:nvSpPr>
        <p:spPr>
          <a:xfrm>
            <a:off x="3193826" y="1903774"/>
            <a:ext cx="2016000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29"/>
          </p:nvPr>
        </p:nvSpPr>
        <p:spPr>
          <a:xfrm>
            <a:off x="1172348" y="2144817"/>
            <a:ext cx="2010522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민원에 따른 직원 근로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필요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0"/>
          </p:nvPr>
        </p:nvSpPr>
        <p:spPr>
          <a:xfrm>
            <a:off x="3204783" y="2144817"/>
            <a:ext cx="2010522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선택에 따른 민원 집중 불가피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동의</a:t>
            </a:r>
          </a:p>
        </p:txBody>
      </p:sp>
      <p:cxnSp>
        <p:nvCxnSpPr>
          <p:cNvPr id="32" name="Connector 23"/>
          <p:cNvCxnSpPr/>
          <p:nvPr/>
        </p:nvCxnSpPr>
        <p:spPr>
          <a:xfrm>
            <a:off x="3193826" y="2177687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레일"/>
          <p:cNvSpPr/>
          <p:nvPr/>
        </p:nvSpPr>
        <p:spPr>
          <a:xfrm>
            <a:off x="547826" y="2664000"/>
            <a:ext cx="580696" cy="771183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1"/>
          </p:nvPr>
        </p:nvSpPr>
        <p:spPr>
          <a:xfrm>
            <a:off x="547826" y="2664000"/>
            <a:ext cx="580696" cy="7711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35" name="레일 삼각형"/>
          <p:cNvSpPr/>
          <p:nvPr/>
        </p:nvSpPr>
        <p:spPr>
          <a:xfrm>
            <a:off x="547826" y="266400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단계"/>
          <p:cNvSpPr/>
          <p:nvPr/>
        </p:nvSpPr>
        <p:spPr>
          <a:xfrm>
            <a:off x="1161391" y="2685913"/>
            <a:ext cx="101621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7" name="단계"/>
          <p:cNvSpPr>
            <a:spLocks noGrp="1"/>
          </p:cNvSpPr>
          <p:nvPr>
            <p:ph type="body" sz="quarter" idx="32"/>
          </p:nvPr>
        </p:nvSpPr>
        <p:spPr>
          <a:xfrm>
            <a:off x="1161391" y="2685913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대토론회 개최</a:t>
            </a:r>
          </a:p>
        </p:txBody>
      </p:sp>
      <p:sp>
        <p:nvSpPr>
          <p:cNvPr id="38" name="단계"/>
          <p:cNvSpPr/>
          <p:nvPr/>
        </p:nvSpPr>
        <p:spPr>
          <a:xfrm>
            <a:off x="2177609" y="2685913"/>
            <a:ext cx="1016217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9" name="단계"/>
          <p:cNvSpPr>
            <a:spLocks noGrp="1"/>
          </p:cNvSpPr>
          <p:nvPr>
            <p:ph type="body" sz="quarter" idx="33"/>
          </p:nvPr>
        </p:nvSpPr>
        <p:spPr>
          <a:xfrm>
            <a:off x="2177609" y="2685913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40" name="단계"/>
          <p:cNvSpPr/>
          <p:nvPr/>
        </p:nvSpPr>
        <p:spPr>
          <a:xfrm>
            <a:off x="3193826" y="2685913"/>
            <a:ext cx="1016217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1" name="단계"/>
          <p:cNvSpPr>
            <a:spLocks noGrp="1"/>
          </p:cNvSpPr>
          <p:nvPr>
            <p:ph type="body" sz="quarter" idx="34"/>
          </p:nvPr>
        </p:nvSpPr>
        <p:spPr>
          <a:xfrm>
            <a:off x="3193826" y="2685913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극복노력</a:t>
            </a:r>
          </a:p>
        </p:txBody>
      </p:sp>
      <p:sp>
        <p:nvSpPr>
          <p:cNvPr id="42" name="단계"/>
          <p:cNvSpPr/>
          <p:nvPr/>
        </p:nvSpPr>
        <p:spPr>
          <a:xfrm>
            <a:off x="4210043" y="2685913"/>
            <a:ext cx="1016217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3" name="단계"/>
          <p:cNvSpPr>
            <a:spLocks noGrp="1"/>
          </p:cNvSpPr>
          <p:nvPr>
            <p:ph type="body" sz="quarter" idx="35"/>
          </p:nvPr>
        </p:nvSpPr>
        <p:spPr>
          <a:xfrm>
            <a:off x="4210043" y="2685913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해결안 도출</a:t>
            </a:r>
          </a:p>
        </p:txBody>
      </p:sp>
      <p:sp>
        <p:nvSpPr>
          <p:cNvPr id="44" name="단계 삼각형"/>
          <p:cNvSpPr/>
          <p:nvPr/>
        </p:nvSpPr>
        <p:spPr>
          <a:xfrm>
            <a:off x="2177608" y="268591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단계 삼각형"/>
          <p:cNvSpPr/>
          <p:nvPr/>
        </p:nvSpPr>
        <p:spPr>
          <a:xfrm>
            <a:off x="3193826" y="268591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단계 삼각형"/>
          <p:cNvSpPr/>
          <p:nvPr/>
        </p:nvSpPr>
        <p:spPr>
          <a:xfrm>
            <a:off x="4210043" y="268591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6"/>
          </p:nvPr>
        </p:nvSpPr>
        <p:spPr>
          <a:xfrm>
            <a:off x="1172348" y="2937913"/>
            <a:ext cx="994304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이사장·노조위원장 등 참여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37"/>
          </p:nvPr>
        </p:nvSpPr>
        <p:spPr>
          <a:xfrm>
            <a:off x="2188565" y="2937913"/>
            <a:ext cx="994304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연단위 갱신 기간 민원 집중</a:t>
            </a:r>
          </a:p>
        </p:txBody>
      </p:sp>
      <p:cxnSp>
        <p:nvCxnSpPr>
          <p:cNvPr id="49" name="Connector 35"/>
          <p:cNvCxnSpPr/>
          <p:nvPr/>
        </p:nvCxnSpPr>
        <p:spPr>
          <a:xfrm>
            <a:off x="2177609" y="2970783"/>
            <a:ext cx="0" cy="4260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>
            <a:spLocks noGrp="1"/>
          </p:cNvSpPr>
          <p:nvPr>
            <p:ph type="body" sz="quarter" idx="38"/>
          </p:nvPr>
        </p:nvSpPr>
        <p:spPr>
          <a:xfrm>
            <a:off x="3204783" y="2937913"/>
            <a:ext cx="994304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경찰청·국회와 원인해결 논의</a:t>
            </a:r>
          </a:p>
        </p:txBody>
      </p:sp>
      <p:cxnSp>
        <p:nvCxnSpPr>
          <p:cNvPr id="51" name="Connector 37"/>
          <p:cNvCxnSpPr/>
          <p:nvPr/>
        </p:nvCxnSpPr>
        <p:spPr>
          <a:xfrm>
            <a:off x="3193826" y="2970783"/>
            <a:ext cx="0" cy="4260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칸 본문"/>
          <p:cNvSpPr>
            <a:spLocks noGrp="1"/>
          </p:cNvSpPr>
          <p:nvPr>
            <p:ph type="body" sz="quarter" idx="39"/>
          </p:nvPr>
        </p:nvSpPr>
        <p:spPr>
          <a:xfrm>
            <a:off x="4221000" y="2937913"/>
            <a:ext cx="994304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생일 전후 ±6개월 법령개정안</a:t>
            </a:r>
          </a:p>
        </p:txBody>
      </p:sp>
      <p:cxnSp>
        <p:nvCxnSpPr>
          <p:cNvPr id="53" name="Connector 39"/>
          <p:cNvCxnSpPr/>
          <p:nvPr/>
        </p:nvCxnSpPr>
        <p:spPr>
          <a:xfrm>
            <a:off x="4210043" y="2970783"/>
            <a:ext cx="0" cy="4260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성과 화살표"/>
          <p:cNvSpPr/>
          <p:nvPr/>
        </p:nvSpPr>
        <p:spPr>
          <a:xfrm>
            <a:off x="5281043" y="2322939"/>
            <a:ext cx="142435" cy="284869"/>
          </a:xfrm>
          <a:custGeom>
            <a:avLst/>
            <a:gdLst/>
            <a:ahLst/>
            <a:cxnLst/>
            <a:rect l="l" t="t" r="r" b="b"/>
            <a:pathLst>
              <a:path w="142435" h="284869">
                <a:moveTo>
                  <a:pt x="0" y="0"/>
                </a:moveTo>
                <a:lnTo>
                  <a:pt x="0" y="284869"/>
                </a:lnTo>
                <a:lnTo>
                  <a:pt x="142435" y="14243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성과 패널 머리"/>
          <p:cNvSpPr/>
          <p:nvPr/>
        </p:nvSpPr>
        <p:spPr>
          <a:xfrm>
            <a:off x="5450870" y="1479130"/>
            <a:ext cx="1386000" cy="241043"/>
          </a:xfrm>
          <a:prstGeom prst="rect">
            <a:avLst/>
          </a:prstGeom>
          <a:solidFill>
            <a:srgbClr val="008C6B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56" name="성과 패널 머리"/>
          <p:cNvSpPr>
            <a:spLocks noGrp="1"/>
          </p:cNvSpPr>
          <p:nvPr>
            <p:ph type="body" sz="quarter" idx="40"/>
          </p:nvPr>
        </p:nvSpPr>
        <p:spPr>
          <a:xfrm>
            <a:off x="5450870" y="1479130"/>
            <a:ext cx="138600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57" name="성과 패널"/>
          <p:cNvSpPr/>
          <p:nvPr/>
        </p:nvSpPr>
        <p:spPr>
          <a:xfrm>
            <a:off x="5450870" y="1731130"/>
            <a:ext cx="1386000" cy="1720487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성과 패널 본문"/>
          <p:cNvSpPr>
            <a:spLocks noGrp="1"/>
          </p:cNvSpPr>
          <p:nvPr>
            <p:ph type="body" sz="quarter" idx="41"/>
          </p:nvPr>
        </p:nvSpPr>
        <p:spPr>
          <a:xfrm>
            <a:off x="5472783" y="1753043"/>
            <a:ext cx="1342174" cy="1676661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36000" bIns="180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적성검사 기간을 생일 전후 ±6개월로 변경하는 법령안 통과('26.1.1. 시행)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 집중민원 해소로 직원 근로환경 향상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연말 방문 민원인 약 48% 감소 기대</a:t>
            </a:r>
          </a:p>
        </p:txBody>
      </p:sp>
      <p:sp>
        <p:nvSpPr>
          <p:cNvPr id="59" name="핵심성과 박스"/>
          <p:cNvSpPr/>
          <p:nvPr/>
        </p:nvSpPr>
        <p:spPr>
          <a:xfrm>
            <a:off x="536870" y="3539270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핵심성과 라벨"/>
          <p:cNvSpPr/>
          <p:nvPr/>
        </p:nvSpPr>
        <p:spPr>
          <a:xfrm>
            <a:off x="569739" y="3577617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61" name="핵심성과 라벨"/>
          <p:cNvSpPr>
            <a:spLocks noGrp="1"/>
          </p:cNvSpPr>
          <p:nvPr>
            <p:ph type="body" sz="quarter" idx="42"/>
          </p:nvPr>
        </p:nvSpPr>
        <p:spPr>
          <a:xfrm>
            <a:off x="569739" y="3577617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62" name="핵심성과 문구"/>
          <p:cNvSpPr>
            <a:spLocks noGrp="1"/>
          </p:cNvSpPr>
          <p:nvPr>
            <p:ph type="body" sz="quarter" idx="43"/>
          </p:nvPr>
        </p:nvSpPr>
        <p:spPr>
          <a:xfrm>
            <a:off x="1314783" y="3555704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적성검사 연말집중 해소 및 노동이사 선임 등 현안문제 해결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06 서사 · 그간의 노력 → 운영 상세화 → 선임 추진(단계 띠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931304"/>
            <a:ext cx="311106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근로자 경영참여로 협력 강화, 노동이사 추천 완료</a:t>
            </a:r>
          </a:p>
        </p:txBody>
      </p:sp>
      <p:sp>
        <p:nvSpPr>
          <p:cNvPr id="11" name="태그칩"/>
          <p:cNvSpPr/>
          <p:nvPr/>
        </p:nvSpPr>
        <p:spPr>
          <a:xfrm>
            <a:off x="3932802" y="810783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태그칩"/>
          <p:cNvSpPr>
            <a:spLocks noGrp="1"/>
          </p:cNvSpPr>
          <p:nvPr>
            <p:ph type="body" sz="quarter" idx="21"/>
          </p:nvPr>
        </p:nvSpPr>
        <p:spPr>
          <a:xfrm>
            <a:off x="3932802" y="810783"/>
            <a:ext cx="60639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13" name="표 외곽"/>
          <p:cNvSpPr/>
          <p:nvPr/>
        </p:nvSpPr>
        <p:spPr>
          <a:xfrm>
            <a:off x="723130" y="1062783"/>
            <a:ext cx="6300000" cy="20477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레일"/>
          <p:cNvSpPr/>
          <p:nvPr/>
        </p:nvSpPr>
        <p:spPr>
          <a:xfrm>
            <a:off x="734087" y="1079217"/>
            <a:ext cx="580696" cy="60542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레일"/>
          <p:cNvSpPr>
            <a:spLocks noGrp="1"/>
          </p:cNvSpPr>
          <p:nvPr>
            <p:ph type="body" sz="quarter" idx="22"/>
          </p:nvPr>
        </p:nvSpPr>
        <p:spPr>
          <a:xfrm>
            <a:off x="734087" y="1079217"/>
            <a:ext cx="580696" cy="605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그 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16" name="머리칸"/>
          <p:cNvSpPr/>
          <p:nvPr/>
        </p:nvSpPr>
        <p:spPr>
          <a:xfrm>
            <a:off x="1347652" y="110113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7" name="머리칸"/>
          <p:cNvSpPr>
            <a:spLocks noGrp="1"/>
          </p:cNvSpPr>
          <p:nvPr>
            <p:ph type="body" sz="quarter" idx="23"/>
          </p:nvPr>
        </p:nvSpPr>
        <p:spPr>
          <a:xfrm>
            <a:off x="1347652" y="110113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공감대 형성</a:t>
            </a:r>
          </a:p>
        </p:txBody>
      </p:sp>
      <p:sp>
        <p:nvSpPr>
          <p:cNvPr id="18" name="머리칸"/>
          <p:cNvSpPr/>
          <p:nvPr/>
        </p:nvSpPr>
        <p:spPr>
          <a:xfrm>
            <a:off x="4171696" y="110113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9" name="머리칸"/>
          <p:cNvSpPr>
            <a:spLocks noGrp="1"/>
          </p:cNvSpPr>
          <p:nvPr>
            <p:ph type="body" sz="quarter" idx="24"/>
          </p:nvPr>
        </p:nvSpPr>
        <p:spPr>
          <a:xfrm>
            <a:off x="4171696" y="110113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시행을 위한 규정 수립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5"/>
          </p:nvPr>
        </p:nvSpPr>
        <p:spPr>
          <a:xfrm>
            <a:off x="1358609" y="1342174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사업수행에 심층적 이해를 가진 노동이사를 선임하여 공감대 형성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6"/>
          </p:nvPr>
        </p:nvSpPr>
        <p:spPr>
          <a:xfrm>
            <a:off x="4182652" y="1342174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정관 제9조 '근로자 대표 추천 또는 과반수 동의 1명을 비상임이사로 포함'</a:t>
            </a:r>
          </a:p>
        </p:txBody>
      </p:sp>
      <p:cxnSp>
        <p:nvCxnSpPr>
          <p:cNvPr id="22" name="Connector 12"/>
          <p:cNvCxnSpPr/>
          <p:nvPr/>
        </p:nvCxnSpPr>
        <p:spPr>
          <a:xfrm>
            <a:off x="4171696" y="1375043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3" name="레일"/>
          <p:cNvSpPr/>
          <p:nvPr/>
        </p:nvSpPr>
        <p:spPr>
          <a:xfrm>
            <a:off x="734087" y="1701078"/>
            <a:ext cx="580696" cy="605426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4" name="레일"/>
          <p:cNvSpPr>
            <a:spLocks noGrp="1"/>
          </p:cNvSpPr>
          <p:nvPr>
            <p:ph type="body" sz="quarter" idx="27"/>
          </p:nvPr>
        </p:nvSpPr>
        <p:spPr>
          <a:xfrm>
            <a:off x="734087" y="1701078"/>
            <a:ext cx="580696" cy="605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상세화</a:t>
            </a:r>
          </a:p>
        </p:txBody>
      </p:sp>
      <p:sp>
        <p:nvSpPr>
          <p:cNvPr id="25" name="레일 삼각형"/>
          <p:cNvSpPr/>
          <p:nvPr/>
        </p:nvSpPr>
        <p:spPr>
          <a:xfrm>
            <a:off x="734086" y="1701078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머리칸"/>
          <p:cNvSpPr/>
          <p:nvPr/>
        </p:nvSpPr>
        <p:spPr>
          <a:xfrm>
            <a:off x="1347652" y="172299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8"/>
          </p:nvPr>
        </p:nvSpPr>
        <p:spPr>
          <a:xfrm>
            <a:off x="1347652" y="172299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 의지 명문화</a:t>
            </a:r>
          </a:p>
        </p:txBody>
      </p:sp>
      <p:sp>
        <p:nvSpPr>
          <p:cNvPr id="28" name="머리칸"/>
          <p:cNvSpPr/>
          <p:nvPr/>
        </p:nvSpPr>
        <p:spPr>
          <a:xfrm>
            <a:off x="4171696" y="172299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9" name="머리칸"/>
          <p:cNvSpPr>
            <a:spLocks noGrp="1"/>
          </p:cNvSpPr>
          <p:nvPr>
            <p:ph type="body" sz="quarter" idx="29"/>
          </p:nvPr>
        </p:nvSpPr>
        <p:spPr>
          <a:xfrm>
            <a:off x="4171696" y="172299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 역량 강화 지원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1358609" y="1964035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적극 시행과 직무 수행 지원, 불이익 처분 및 대우 금지 조항 마련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1"/>
          </p:nvPr>
        </p:nvSpPr>
        <p:spPr>
          <a:xfrm>
            <a:off x="4182652" y="1964035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업무수행·역량강화 교육과정 지원 및 소통채널 운영 협의</a:t>
            </a:r>
          </a:p>
        </p:txBody>
      </p:sp>
      <p:cxnSp>
        <p:nvCxnSpPr>
          <p:cNvPr id="32" name="Connector 19"/>
          <p:cNvCxnSpPr/>
          <p:nvPr/>
        </p:nvCxnSpPr>
        <p:spPr>
          <a:xfrm>
            <a:off x="4171696" y="1996904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레일"/>
          <p:cNvSpPr/>
          <p:nvPr/>
        </p:nvSpPr>
        <p:spPr>
          <a:xfrm>
            <a:off x="734087" y="2322939"/>
            <a:ext cx="580696" cy="771183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2"/>
          </p:nvPr>
        </p:nvSpPr>
        <p:spPr>
          <a:xfrm>
            <a:off x="734087" y="2322939"/>
            <a:ext cx="580696" cy="7711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</p:txBody>
      </p:sp>
      <p:sp>
        <p:nvSpPr>
          <p:cNvPr id="35" name="레일 삼각형"/>
          <p:cNvSpPr/>
          <p:nvPr/>
        </p:nvSpPr>
        <p:spPr>
          <a:xfrm>
            <a:off x="734086" y="2322939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단계"/>
          <p:cNvSpPr/>
          <p:nvPr/>
        </p:nvSpPr>
        <p:spPr>
          <a:xfrm>
            <a:off x="1347652" y="2344852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7" name="단계"/>
          <p:cNvSpPr>
            <a:spLocks noGrp="1"/>
          </p:cNvSpPr>
          <p:nvPr>
            <p:ph type="body" sz="quarter" idx="33"/>
          </p:nvPr>
        </p:nvSpPr>
        <p:spPr>
          <a:xfrm>
            <a:off x="1347652" y="2344852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구성</a:t>
            </a:r>
          </a:p>
        </p:txBody>
      </p:sp>
      <p:sp>
        <p:nvSpPr>
          <p:cNvPr id="38" name="단계"/>
          <p:cNvSpPr/>
          <p:nvPr/>
        </p:nvSpPr>
        <p:spPr>
          <a:xfrm>
            <a:off x="2759674" y="2344852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9" name="단계"/>
          <p:cNvSpPr>
            <a:spLocks noGrp="1"/>
          </p:cNvSpPr>
          <p:nvPr>
            <p:ph type="body" sz="quarter" idx="34"/>
          </p:nvPr>
        </p:nvSpPr>
        <p:spPr>
          <a:xfrm>
            <a:off x="2759674" y="2344852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</a:t>
            </a:r>
          </a:p>
        </p:txBody>
      </p:sp>
      <p:sp>
        <p:nvSpPr>
          <p:cNvPr id="40" name="단계"/>
          <p:cNvSpPr/>
          <p:nvPr/>
        </p:nvSpPr>
        <p:spPr>
          <a:xfrm>
            <a:off x="4171696" y="2344852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1" name="단계"/>
          <p:cNvSpPr>
            <a:spLocks noGrp="1"/>
          </p:cNvSpPr>
          <p:nvPr>
            <p:ph type="body" sz="quarter" idx="35"/>
          </p:nvPr>
        </p:nvSpPr>
        <p:spPr>
          <a:xfrm>
            <a:off x="4171696" y="2344852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심사</a:t>
            </a:r>
          </a:p>
        </p:txBody>
      </p:sp>
      <p:sp>
        <p:nvSpPr>
          <p:cNvPr id="42" name="단계"/>
          <p:cNvSpPr/>
          <p:nvPr/>
        </p:nvSpPr>
        <p:spPr>
          <a:xfrm>
            <a:off x="5583717" y="2344852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3" name="단계"/>
          <p:cNvSpPr>
            <a:spLocks noGrp="1"/>
          </p:cNvSpPr>
          <p:nvPr>
            <p:ph type="body" sz="quarter" idx="36"/>
          </p:nvPr>
        </p:nvSpPr>
        <p:spPr>
          <a:xfrm>
            <a:off x="5583717" y="2344852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노동이사 임명</a:t>
            </a:r>
          </a:p>
        </p:txBody>
      </p:sp>
      <p:sp>
        <p:nvSpPr>
          <p:cNvPr id="44" name="단계 삼각형"/>
          <p:cNvSpPr/>
          <p:nvPr/>
        </p:nvSpPr>
        <p:spPr>
          <a:xfrm>
            <a:off x="2759673" y="2344852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단계 삼각형"/>
          <p:cNvSpPr/>
          <p:nvPr/>
        </p:nvSpPr>
        <p:spPr>
          <a:xfrm>
            <a:off x="4171695" y="2344852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단계 삼각형"/>
          <p:cNvSpPr/>
          <p:nvPr/>
        </p:nvSpPr>
        <p:spPr>
          <a:xfrm>
            <a:off x="5583717" y="2344852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7"/>
          </p:nvPr>
        </p:nvSpPr>
        <p:spPr>
          <a:xfrm>
            <a:off x="1358609" y="2596852"/>
            <a:ext cx="1390109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추천 공모, 추천위원회 구성('25.11.25.)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38"/>
          </p:nvPr>
        </p:nvSpPr>
        <p:spPr>
          <a:xfrm>
            <a:off x="2770630" y="2596852"/>
            <a:ext cx="1390109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노동조합→노동이사 적합 후보자 추천 완료('26.1.5.)</a:t>
            </a:r>
          </a:p>
        </p:txBody>
      </p:sp>
      <p:cxnSp>
        <p:nvCxnSpPr>
          <p:cNvPr id="49" name="Connector 31"/>
          <p:cNvCxnSpPr/>
          <p:nvPr/>
        </p:nvCxnSpPr>
        <p:spPr>
          <a:xfrm>
            <a:off x="2759674" y="2629722"/>
            <a:ext cx="0" cy="4260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>
            <a:spLocks noGrp="1"/>
          </p:cNvSpPr>
          <p:nvPr>
            <p:ph type="body" sz="quarter" idx="39"/>
          </p:nvPr>
        </p:nvSpPr>
        <p:spPr>
          <a:xfrm>
            <a:off x="4182652" y="2596852"/>
            <a:ext cx="1390109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추천위원회 심사 실시('26.1.13.)</a:t>
            </a:r>
          </a:p>
        </p:txBody>
      </p:sp>
      <p:cxnSp>
        <p:nvCxnSpPr>
          <p:cNvPr id="51" name="Connector 33"/>
          <p:cNvCxnSpPr/>
          <p:nvPr/>
        </p:nvCxnSpPr>
        <p:spPr>
          <a:xfrm>
            <a:off x="4171696" y="2629722"/>
            <a:ext cx="0" cy="4260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칸 본문"/>
          <p:cNvSpPr>
            <a:spLocks noGrp="1"/>
          </p:cNvSpPr>
          <p:nvPr>
            <p:ph type="body" sz="quarter" idx="40"/>
          </p:nvPr>
        </p:nvSpPr>
        <p:spPr>
          <a:xfrm>
            <a:off x="5594674" y="2596852"/>
            <a:ext cx="1390109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최종 추천 후보자 경찰청장 임명('26. 상반기)</a:t>
            </a:r>
          </a:p>
        </p:txBody>
      </p:sp>
      <p:cxnSp>
        <p:nvCxnSpPr>
          <p:cNvPr id="53" name="Connector 35"/>
          <p:cNvCxnSpPr/>
          <p:nvPr/>
        </p:nvCxnSpPr>
        <p:spPr>
          <a:xfrm>
            <a:off x="5583717" y="2629722"/>
            <a:ext cx="0" cy="4260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핵심성과 박스"/>
          <p:cNvSpPr/>
          <p:nvPr/>
        </p:nvSpPr>
        <p:spPr>
          <a:xfrm>
            <a:off x="723130" y="3198209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핵심성과 라벨"/>
          <p:cNvSpPr/>
          <p:nvPr/>
        </p:nvSpPr>
        <p:spPr>
          <a:xfrm>
            <a:off x="756000" y="3236557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56" name="핵심성과 라벨"/>
          <p:cNvSpPr>
            <a:spLocks noGrp="1"/>
          </p:cNvSpPr>
          <p:nvPr>
            <p:ph type="body" sz="quarter" idx="41"/>
          </p:nvPr>
        </p:nvSpPr>
        <p:spPr>
          <a:xfrm>
            <a:off x="756000" y="3236557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57" name="핵심성과 문구"/>
          <p:cNvSpPr>
            <a:spLocks noGrp="1"/>
          </p:cNvSpPr>
          <p:nvPr>
            <p:ph type="body" sz="quarter" idx="42"/>
          </p:nvPr>
        </p:nvSpPr>
        <p:spPr>
          <a:xfrm>
            <a:off x="1501043" y="3214643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3여 년 노력 끝에 노동이사 추천 완료('26. 상반기 선임 예정)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07 서사 · 점검 추진배경 → 방법 → 항목 → 결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340241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노동관계 법령·지침 100% 준수한 노사관계 제도 운영</a:t>
            </a:r>
          </a:p>
        </p:txBody>
      </p:sp>
      <p:sp>
        <p:nvSpPr>
          <p:cNvPr id="12" name="태그칩"/>
          <p:cNvSpPr/>
          <p:nvPr/>
        </p:nvSpPr>
        <p:spPr>
          <a:xfrm>
            <a:off x="4037891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4037891" y="799826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4" name="라벨 박스"/>
          <p:cNvSpPr/>
          <p:nvPr/>
        </p:nvSpPr>
        <p:spPr>
          <a:xfrm>
            <a:off x="536870" y="1062783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547826" y="1073739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073739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7" name="본문"/>
          <p:cNvSpPr>
            <a:spLocks noGrp="1"/>
          </p:cNvSpPr>
          <p:nvPr>
            <p:ph type="body" sz="quarter" idx="23"/>
          </p:nvPr>
        </p:nvSpPr>
        <p:spPr>
          <a:xfrm>
            <a:off x="1172348" y="1079217"/>
            <a:ext cx="5631652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원칙 기반 노사관계 제도 운영의 연속성 확보를 위한 관련 법률·지침 적법성 점검</a:t>
            </a:r>
          </a:p>
        </p:txBody>
      </p:sp>
      <p:sp>
        <p:nvSpPr>
          <p:cNvPr id="18" name="라벨 박스"/>
          <p:cNvSpPr/>
          <p:nvPr/>
        </p:nvSpPr>
        <p:spPr>
          <a:xfrm>
            <a:off x="536870" y="1407913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레일"/>
          <p:cNvSpPr/>
          <p:nvPr/>
        </p:nvSpPr>
        <p:spPr>
          <a:xfrm>
            <a:off x="547826" y="1418870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418870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점검방법</a:t>
            </a:r>
          </a:p>
        </p:txBody>
      </p:sp>
      <p:sp>
        <p:nvSpPr>
          <p:cNvPr id="21" name="가운데 글"/>
          <p:cNvSpPr>
            <a:spLocks noGrp="1"/>
          </p:cNvSpPr>
          <p:nvPr>
            <p:ph type="body" sz="quarter" idx="25"/>
          </p:nvPr>
        </p:nvSpPr>
        <p:spPr>
          <a:xfrm>
            <a:off x="1172348" y="1424348"/>
            <a:ext cx="5631652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및 사내 법무팀을 활용한 노사관계 운영 적법성 자체점검 실시*</a:t>
            </a:r>
          </a:p>
        </p:txBody>
      </p:sp>
      <p:sp>
        <p:nvSpPr>
          <p:cNvPr id="22" name="주석"/>
          <p:cNvSpPr>
            <a:spLocks noGrp="1"/>
          </p:cNvSpPr>
          <p:nvPr>
            <p:ph type="body" sz="quarter" idx="26"/>
          </p:nvPr>
        </p:nvSpPr>
        <p:spPr>
          <a:xfrm>
            <a:off x="2180348" y="1731130"/>
            <a:ext cx="4656522" cy="17530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3B4951"/>
                </a:solidFill>
                <a:latin typeface="Pretendard"/>
                <a:ea typeface="Pretendard"/>
              </a:rPr>
              <a:t>* 인적자원개발 우수기관 지정에 따른 근로감독 정기점검 면제('24~'27)</a:t>
            </a:r>
          </a:p>
        </p:txBody>
      </p:sp>
      <p:sp>
        <p:nvSpPr>
          <p:cNvPr id="23" name="라벨 박스"/>
          <p:cNvSpPr/>
          <p:nvPr/>
        </p:nvSpPr>
        <p:spPr>
          <a:xfrm>
            <a:off x="536870" y="1961217"/>
            <a:ext cx="6300000" cy="64925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레일"/>
          <p:cNvSpPr/>
          <p:nvPr/>
        </p:nvSpPr>
        <p:spPr>
          <a:xfrm>
            <a:off x="547826" y="1972174"/>
            <a:ext cx="591652" cy="62733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547826" y="1972174"/>
            <a:ext cx="591652" cy="627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점검항목</a:t>
            </a:r>
          </a:p>
        </p:txBody>
      </p:sp>
      <p:sp>
        <p:nvSpPr>
          <p:cNvPr id="26" name="머리칸"/>
          <p:cNvSpPr/>
          <p:nvPr/>
        </p:nvSpPr>
        <p:spPr>
          <a:xfrm>
            <a:off x="1172348" y="198860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8"/>
          </p:nvPr>
        </p:nvSpPr>
        <p:spPr>
          <a:xfrm>
            <a:off x="1172348" y="1988609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 및 노동관계조정법</a:t>
            </a:r>
          </a:p>
        </p:txBody>
      </p:sp>
      <p:sp>
        <p:nvSpPr>
          <p:cNvPr id="28" name="머리칸"/>
          <p:cNvSpPr/>
          <p:nvPr/>
        </p:nvSpPr>
        <p:spPr>
          <a:xfrm>
            <a:off x="3049565" y="198860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9" name="머리칸"/>
          <p:cNvSpPr>
            <a:spLocks noGrp="1"/>
          </p:cNvSpPr>
          <p:nvPr>
            <p:ph type="body" sz="quarter" idx="29"/>
          </p:nvPr>
        </p:nvSpPr>
        <p:spPr>
          <a:xfrm>
            <a:off x="3049565" y="1988609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근로자참여·협력증진법</a:t>
            </a:r>
          </a:p>
        </p:txBody>
      </p:sp>
      <p:sp>
        <p:nvSpPr>
          <p:cNvPr id="30" name="머리칸"/>
          <p:cNvSpPr/>
          <p:nvPr/>
        </p:nvSpPr>
        <p:spPr>
          <a:xfrm>
            <a:off x="4926783" y="198860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1" name="머리칸"/>
          <p:cNvSpPr>
            <a:spLocks noGrp="1"/>
          </p:cNvSpPr>
          <p:nvPr>
            <p:ph type="body" sz="quarter" idx="30"/>
          </p:nvPr>
        </p:nvSpPr>
        <p:spPr>
          <a:xfrm>
            <a:off x="4926783" y="1988609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혁신지침·예산운용지침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1"/>
          </p:nvPr>
        </p:nvSpPr>
        <p:spPr>
          <a:xfrm>
            <a:off x="1183304" y="2229652"/>
            <a:ext cx="1855304" cy="3643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근로시간면제자 제도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범위 및 단일화 적법성</a:t>
            </a:r>
          </a:p>
        </p:txBody>
      </p:sp>
      <p:sp>
        <p:nvSpPr>
          <p:cNvPr id="33" name="칸 본문"/>
          <p:cNvSpPr>
            <a:spLocks noGrp="1"/>
          </p:cNvSpPr>
          <p:nvPr>
            <p:ph type="body" sz="quarter" idx="32"/>
          </p:nvPr>
        </p:nvSpPr>
        <p:spPr>
          <a:xfrm>
            <a:off x="3060522" y="2229652"/>
            <a:ext cx="1855304" cy="3643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구성·운영 적법성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규정·회의록 작성·비치</a:t>
            </a:r>
          </a:p>
        </p:txBody>
      </p:sp>
      <p:cxnSp>
        <p:nvCxnSpPr>
          <p:cNvPr id="34" name="Connector 23"/>
          <p:cNvCxnSpPr/>
          <p:nvPr/>
        </p:nvCxnSpPr>
        <p:spPr>
          <a:xfrm>
            <a:off x="3049565" y="2262522"/>
            <a:ext cx="0" cy="2986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5" name="칸 본문"/>
          <p:cNvSpPr>
            <a:spLocks noGrp="1"/>
          </p:cNvSpPr>
          <p:nvPr>
            <p:ph type="body" sz="quarter" idx="33"/>
          </p:nvPr>
        </p:nvSpPr>
        <p:spPr>
          <a:xfrm>
            <a:off x="4937739" y="2229652"/>
            <a:ext cx="1855304" cy="3643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관련 지침에 따른 복리후생제도 운영의 적법성 여부</a:t>
            </a:r>
          </a:p>
        </p:txBody>
      </p:sp>
      <p:cxnSp>
        <p:nvCxnSpPr>
          <p:cNvPr id="36" name="Connector 25"/>
          <p:cNvCxnSpPr/>
          <p:nvPr/>
        </p:nvCxnSpPr>
        <p:spPr>
          <a:xfrm>
            <a:off x="4926783" y="2262522"/>
            <a:ext cx="0" cy="2986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7" name="라벨 박스"/>
          <p:cNvSpPr/>
          <p:nvPr/>
        </p:nvSpPr>
        <p:spPr>
          <a:xfrm>
            <a:off x="536870" y="2665252"/>
            <a:ext cx="6300000" cy="38629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레일"/>
          <p:cNvSpPr/>
          <p:nvPr/>
        </p:nvSpPr>
        <p:spPr>
          <a:xfrm>
            <a:off x="547826" y="2676209"/>
            <a:ext cx="591652" cy="36438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레일"/>
          <p:cNvSpPr>
            <a:spLocks noGrp="1"/>
          </p:cNvSpPr>
          <p:nvPr>
            <p:ph type="body" sz="quarter" idx="34"/>
          </p:nvPr>
        </p:nvSpPr>
        <p:spPr>
          <a:xfrm>
            <a:off x="547826" y="2676209"/>
            <a:ext cx="591652" cy="3643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점검결과</a:t>
            </a:r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5"/>
          </p:nvPr>
        </p:nvSpPr>
        <p:spPr>
          <a:xfrm>
            <a:off x="1183304" y="2681687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면제시간 법정범위 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단체교섭 단일화 절차 준수</a:t>
            </a:r>
          </a:p>
        </p:txBody>
      </p:sp>
      <p:sp>
        <p:nvSpPr>
          <p:cNvPr id="41" name="칸 본문"/>
          <p:cNvSpPr>
            <a:spLocks noGrp="1"/>
          </p:cNvSpPr>
          <p:nvPr>
            <p:ph type="body" sz="quarter" idx="36"/>
          </p:nvPr>
        </p:nvSpPr>
        <p:spPr>
          <a:xfrm>
            <a:off x="3060522" y="2681687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각 8인, 분기별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규정 제출·회의록 공시</a:t>
            </a:r>
          </a:p>
        </p:txBody>
      </p:sp>
      <p:cxnSp>
        <p:nvCxnSpPr>
          <p:cNvPr id="42" name="Connector 30"/>
          <p:cNvCxnSpPr/>
          <p:nvPr/>
        </p:nvCxnSpPr>
        <p:spPr>
          <a:xfrm>
            <a:off x="3049565" y="2714557"/>
            <a:ext cx="0" cy="28768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칸 본문"/>
          <p:cNvSpPr>
            <a:spLocks noGrp="1"/>
          </p:cNvSpPr>
          <p:nvPr>
            <p:ph type="body" sz="quarter" idx="37"/>
          </p:nvPr>
        </p:nvSpPr>
        <p:spPr>
          <a:xfrm>
            <a:off x="4937739" y="2681687"/>
            <a:ext cx="1855304" cy="3534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복리후생제도 점검 체크리스트 60개 항목 → 100% 준수</a:t>
            </a:r>
          </a:p>
        </p:txBody>
      </p:sp>
      <p:cxnSp>
        <p:nvCxnSpPr>
          <p:cNvPr id="44" name="Connector 32"/>
          <p:cNvCxnSpPr/>
          <p:nvPr/>
        </p:nvCxnSpPr>
        <p:spPr>
          <a:xfrm>
            <a:off x="4926783" y="2714557"/>
            <a:ext cx="0" cy="28768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핵심성과 박스"/>
          <p:cNvSpPr/>
          <p:nvPr/>
        </p:nvSpPr>
        <p:spPr>
          <a:xfrm>
            <a:off x="536870" y="3139200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핵심성과 라벨"/>
          <p:cNvSpPr/>
          <p:nvPr/>
        </p:nvSpPr>
        <p:spPr>
          <a:xfrm>
            <a:off x="569739" y="3172070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47" name="핵심성과 라벨"/>
          <p:cNvSpPr>
            <a:spLocks noGrp="1"/>
          </p:cNvSpPr>
          <p:nvPr>
            <p:ph type="body" sz="quarter" idx="38"/>
          </p:nvPr>
        </p:nvSpPr>
        <p:spPr>
          <a:xfrm>
            <a:off x="569739" y="3172070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48" name="핵심성과 문구"/>
          <p:cNvSpPr>
            <a:spLocks noGrp="1"/>
          </p:cNvSpPr>
          <p:nvPr>
            <p:ph type="body" sz="quarter" idx="39"/>
          </p:nvPr>
        </p:nvSpPr>
        <p:spPr>
          <a:xfrm>
            <a:off x="1314783" y="3161113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협력으로 적성검사 갱신 연말집중 해소 및 노동이사 선임 등 현안문제 해결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노동관계 법령·정부지침 100% 준수 등 법과 원칙에 기반한 노사관계 제도 운영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08 서사 · 수준진단 → 공감대 형성 → 시사점 + 두 갈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열린 소통과 긍정문화 조성에 기반한 상생 협력적 노사관계 운영</a:t>
            </a:r>
          </a:p>
        </p:txBody>
      </p:sp>
      <p:sp>
        <p:nvSpPr>
          <p:cNvPr id="14" name="형광 밑줄"/>
          <p:cNvSpPr/>
          <p:nvPr/>
        </p:nvSpPr>
        <p:spPr>
          <a:xfrm>
            <a:off x="723130" y="1358609"/>
            <a:ext cx="354544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소제목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공감대 형성 기반 열린 소통채널 운영·긍정 조직문화 조성</a:t>
            </a:r>
          </a:p>
        </p:txBody>
      </p:sp>
      <p:sp>
        <p:nvSpPr>
          <p:cNvPr id="16" name="태그칩"/>
          <p:cNvSpPr/>
          <p:nvPr/>
        </p:nvSpPr>
        <p:spPr>
          <a:xfrm>
            <a:off x="4367188" y="1238087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태그칩"/>
          <p:cNvSpPr>
            <a:spLocks noGrp="1"/>
          </p:cNvSpPr>
          <p:nvPr>
            <p:ph type="body" sz="quarter" idx="23"/>
          </p:nvPr>
        </p:nvSpPr>
        <p:spPr>
          <a:xfrm>
            <a:off x="4367188" y="1238087"/>
            <a:ext cx="60639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18" name="표 외곽"/>
          <p:cNvSpPr/>
          <p:nvPr/>
        </p:nvSpPr>
        <p:spPr>
          <a:xfrm>
            <a:off x="723130" y="1490087"/>
            <a:ext cx="6300000" cy="148476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레일"/>
          <p:cNvSpPr/>
          <p:nvPr/>
        </p:nvSpPr>
        <p:spPr>
          <a:xfrm>
            <a:off x="734087" y="1506522"/>
            <a:ext cx="580696" cy="3698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4"/>
          </p:nvPr>
        </p:nvSpPr>
        <p:spPr>
          <a:xfrm>
            <a:off x="734087" y="1506522"/>
            <a:ext cx="580696" cy="369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수준진단</a:t>
            </a:r>
          </a:p>
        </p:txBody>
      </p:sp>
      <p:sp>
        <p:nvSpPr>
          <p:cNvPr id="21" name="본문"/>
          <p:cNvSpPr>
            <a:spLocks noGrp="1"/>
          </p:cNvSpPr>
          <p:nvPr>
            <p:ph type="body" sz="quarter" idx="25"/>
          </p:nvPr>
        </p:nvSpPr>
        <p:spPr>
          <a:xfrm>
            <a:off x="1347652" y="1528435"/>
            <a:ext cx="5648087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형식적이고 무거운 분위기의 소통채널 운영에 따른 직원 참여율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노사소통지수 타 지수 대비 저조(3년 평균 87.3 ↔ 88.7점)</a:t>
            </a:r>
          </a:p>
        </p:txBody>
      </p:sp>
      <p:sp>
        <p:nvSpPr>
          <p:cNvPr id="22" name="레일"/>
          <p:cNvSpPr/>
          <p:nvPr/>
        </p:nvSpPr>
        <p:spPr>
          <a:xfrm>
            <a:off x="734087" y="1892817"/>
            <a:ext cx="580696" cy="605426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892817"/>
            <a:ext cx="580696" cy="605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24" name="레일 삼각형"/>
          <p:cNvSpPr/>
          <p:nvPr/>
        </p:nvSpPr>
        <p:spPr>
          <a:xfrm>
            <a:off x="734086" y="1892817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머리칸"/>
          <p:cNvSpPr/>
          <p:nvPr/>
        </p:nvSpPr>
        <p:spPr>
          <a:xfrm>
            <a:off x="1347652" y="191473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6" name="머리칸"/>
          <p:cNvSpPr>
            <a:spLocks noGrp="1"/>
          </p:cNvSpPr>
          <p:nvPr>
            <p:ph type="body" sz="quarter" idx="27"/>
          </p:nvPr>
        </p:nvSpPr>
        <p:spPr>
          <a:xfrm>
            <a:off x="1347652" y="191473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</a:t>
            </a:r>
          </a:p>
        </p:txBody>
      </p:sp>
      <p:sp>
        <p:nvSpPr>
          <p:cNvPr id="27" name="머리칸"/>
          <p:cNvSpPr/>
          <p:nvPr/>
        </p:nvSpPr>
        <p:spPr>
          <a:xfrm>
            <a:off x="4171696" y="191473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8" name="머리칸"/>
          <p:cNvSpPr>
            <a:spLocks noGrp="1"/>
          </p:cNvSpPr>
          <p:nvPr>
            <p:ph type="body" sz="quarter" idx="28"/>
          </p:nvPr>
        </p:nvSpPr>
        <p:spPr>
          <a:xfrm>
            <a:off x="4171696" y="191473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위원장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9"/>
          </p:nvPr>
        </p:nvSpPr>
        <p:spPr>
          <a:xfrm>
            <a:off x="1358609" y="2155774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“현안 발생 시 수시로 소통해 해결하고 서로 존중·협력하겠다.”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4182652" y="2155774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“긍정의 조직문화를 함께 만들고 현안을 풀어가겠다.”</a:t>
            </a:r>
          </a:p>
        </p:txBody>
      </p:sp>
      <p:cxnSp>
        <p:nvCxnSpPr>
          <p:cNvPr id="31" name="Connector 20"/>
          <p:cNvCxnSpPr/>
          <p:nvPr/>
        </p:nvCxnSpPr>
        <p:spPr>
          <a:xfrm>
            <a:off x="4171696" y="2188643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레일"/>
          <p:cNvSpPr/>
          <p:nvPr/>
        </p:nvSpPr>
        <p:spPr>
          <a:xfrm>
            <a:off x="734087" y="2514678"/>
            <a:ext cx="580696" cy="44373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3" name="레일"/>
          <p:cNvSpPr>
            <a:spLocks noGrp="1"/>
          </p:cNvSpPr>
          <p:nvPr>
            <p:ph type="body" sz="quarter" idx="31"/>
          </p:nvPr>
        </p:nvSpPr>
        <p:spPr>
          <a:xfrm>
            <a:off x="734087" y="2514678"/>
            <a:ext cx="580696" cy="4437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34" name="레일 삼각형"/>
          <p:cNvSpPr/>
          <p:nvPr/>
        </p:nvSpPr>
        <p:spPr>
          <a:xfrm>
            <a:off x="734086" y="2514678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태그"/>
          <p:cNvSpPr/>
          <p:nvPr/>
        </p:nvSpPr>
        <p:spPr>
          <a:xfrm>
            <a:off x="1347652" y="2558504"/>
            <a:ext cx="107912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6" name="태그"/>
          <p:cNvSpPr>
            <a:spLocks noGrp="1"/>
          </p:cNvSpPr>
          <p:nvPr>
            <p:ph type="body" sz="quarter" idx="32"/>
          </p:nvPr>
        </p:nvSpPr>
        <p:spPr>
          <a:xfrm>
            <a:off x="1347652" y="2558504"/>
            <a:ext cx="107912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37" name="태그 설명"/>
          <p:cNvSpPr>
            <a:spLocks noGrp="1"/>
          </p:cNvSpPr>
          <p:nvPr>
            <p:ph type="body" sz="quarter" idx="33"/>
          </p:nvPr>
        </p:nvSpPr>
        <p:spPr>
          <a:xfrm>
            <a:off x="2470605" y="2547548"/>
            <a:ext cx="452513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누구나 참여하고 먼저 다가가는 열린 소통채널 운영으로 소통 활성화</a:t>
            </a:r>
          </a:p>
        </p:txBody>
      </p:sp>
      <p:sp>
        <p:nvSpPr>
          <p:cNvPr id="38" name="태그"/>
          <p:cNvSpPr/>
          <p:nvPr/>
        </p:nvSpPr>
        <p:spPr>
          <a:xfrm>
            <a:off x="1347652" y="2755722"/>
            <a:ext cx="107912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태그"/>
          <p:cNvSpPr>
            <a:spLocks noGrp="1"/>
          </p:cNvSpPr>
          <p:nvPr>
            <p:ph type="body" sz="quarter" idx="34"/>
          </p:nvPr>
        </p:nvSpPr>
        <p:spPr>
          <a:xfrm>
            <a:off x="1347652" y="2755722"/>
            <a:ext cx="107912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40" name="태그 설명"/>
          <p:cNvSpPr>
            <a:spLocks noGrp="1"/>
          </p:cNvSpPr>
          <p:nvPr>
            <p:ph type="body" sz="quarter" idx="35"/>
          </p:nvPr>
        </p:nvSpPr>
        <p:spPr>
          <a:xfrm>
            <a:off x="2470605" y="2744765"/>
            <a:ext cx="452513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파트너십 강화 활동 등 신뢰 증진을 통한 긍정 조직문화 조성</a:t>
            </a:r>
          </a:p>
        </p:txBody>
      </p:sp>
      <p:sp>
        <p:nvSpPr>
          <p:cNvPr id="41" name="삼각 화살표"/>
          <p:cNvSpPr/>
          <p:nvPr/>
        </p:nvSpPr>
        <p:spPr>
          <a:xfrm>
            <a:off x="4010086" y="3018678"/>
            <a:ext cx="350609" cy="142435"/>
          </a:xfrm>
          <a:custGeom>
            <a:avLst/>
            <a:gdLst/>
            <a:ahLst/>
            <a:cxnLst/>
            <a:rect l="l" t="t" r="r" b="b"/>
            <a:pathLst>
              <a:path w="350609" h="142435">
                <a:moveTo>
                  <a:pt x="0" y="0"/>
                </a:moveTo>
                <a:lnTo>
                  <a:pt x="350609" y="0"/>
                </a:lnTo>
                <a:lnTo>
                  <a:pt x="17530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패널 외곽"/>
          <p:cNvSpPr/>
          <p:nvPr/>
        </p:nvSpPr>
        <p:spPr>
          <a:xfrm>
            <a:off x="723130" y="3243287"/>
            <a:ext cx="3125348" cy="213401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패널 머리"/>
          <p:cNvSpPr/>
          <p:nvPr/>
        </p:nvSpPr>
        <p:spPr>
          <a:xfrm>
            <a:off x="723130" y="3243287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44" name="패널 머리"/>
          <p:cNvSpPr>
            <a:spLocks noGrp="1"/>
          </p:cNvSpPr>
          <p:nvPr>
            <p:ph type="body" sz="quarter" idx="36"/>
          </p:nvPr>
        </p:nvSpPr>
        <p:spPr>
          <a:xfrm>
            <a:off x="723130" y="3243287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45" name="레일"/>
          <p:cNvSpPr/>
          <p:nvPr/>
        </p:nvSpPr>
        <p:spPr>
          <a:xfrm>
            <a:off x="756000" y="3517200"/>
            <a:ext cx="739565" cy="594470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레일 태그"/>
          <p:cNvSpPr/>
          <p:nvPr/>
        </p:nvSpPr>
        <p:spPr>
          <a:xfrm>
            <a:off x="845984" y="3561026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7" name="레일 태그"/>
          <p:cNvSpPr>
            <a:spLocks noGrp="1"/>
          </p:cNvSpPr>
          <p:nvPr>
            <p:ph type="body" sz="quarter" idx="37"/>
          </p:nvPr>
        </p:nvSpPr>
        <p:spPr>
          <a:xfrm>
            <a:off x="845984" y="3561026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조직소통</a:t>
            </a:r>
          </a:p>
        </p:txBody>
      </p:sp>
      <p:sp>
        <p:nvSpPr>
          <p:cNvPr id="48" name="레일 라벨"/>
          <p:cNvSpPr>
            <a:spLocks noGrp="1"/>
          </p:cNvSpPr>
          <p:nvPr>
            <p:ph type="body" sz="quarter" idx="38"/>
          </p:nvPr>
        </p:nvSpPr>
        <p:spPr>
          <a:xfrm>
            <a:off x="756000" y="3747287"/>
            <a:ext cx="739565" cy="34247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열린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협의회</a:t>
            </a:r>
          </a:p>
        </p:txBody>
      </p:sp>
      <p:sp>
        <p:nvSpPr>
          <p:cNvPr id="49" name="패널 본문"/>
          <p:cNvSpPr>
            <a:spLocks noGrp="1"/>
          </p:cNvSpPr>
          <p:nvPr>
            <p:ph type="body" sz="quarter" idx="39"/>
          </p:nvPr>
        </p:nvSpPr>
        <p:spPr>
          <a:xfrm>
            <a:off x="1539391" y="3506243"/>
            <a:ext cx="2276217" cy="616383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협의회 운영(41명 참관)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안건 이행현황 점검·공유로 환류체계 강화</a:t>
            </a:r>
          </a:p>
        </p:txBody>
      </p:sp>
      <p:cxnSp>
        <p:nvCxnSpPr>
          <p:cNvPr id="50" name="Connector 34"/>
          <p:cNvCxnSpPr/>
          <p:nvPr/>
        </p:nvCxnSpPr>
        <p:spPr>
          <a:xfrm>
            <a:off x="1539391" y="4122626"/>
            <a:ext cx="225430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1" name="레일"/>
          <p:cNvSpPr/>
          <p:nvPr/>
        </p:nvSpPr>
        <p:spPr>
          <a:xfrm>
            <a:off x="756000" y="4133583"/>
            <a:ext cx="739565" cy="594470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레일 태그"/>
          <p:cNvSpPr/>
          <p:nvPr/>
        </p:nvSpPr>
        <p:spPr>
          <a:xfrm>
            <a:off x="845984" y="4177409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3" name="레일 태그"/>
          <p:cNvSpPr>
            <a:spLocks noGrp="1"/>
          </p:cNvSpPr>
          <p:nvPr>
            <p:ph type="body" sz="quarter" idx="40"/>
          </p:nvPr>
        </p:nvSpPr>
        <p:spPr>
          <a:xfrm>
            <a:off x="845984" y="4177409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54" name="레일 라벨"/>
          <p:cNvSpPr>
            <a:spLocks noGrp="1"/>
          </p:cNvSpPr>
          <p:nvPr>
            <p:ph type="body" sz="quarter" idx="41"/>
          </p:nvPr>
        </p:nvSpPr>
        <p:spPr>
          <a:xfrm>
            <a:off x="756000" y="4363670"/>
            <a:ext cx="739565" cy="34247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찾아가는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55" name="패널 본문"/>
          <p:cNvSpPr>
            <a:spLocks noGrp="1"/>
          </p:cNvSpPr>
          <p:nvPr>
            <p:ph type="body" sz="quarter" idx="42"/>
          </p:nvPr>
        </p:nvSpPr>
        <p:spPr>
          <a:xfrm>
            <a:off x="1539391" y="4122626"/>
            <a:ext cx="2276217" cy="616383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참관(3개 조직)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청사 공동조사·제거(8개소)</a:t>
            </a:r>
          </a:p>
        </p:txBody>
      </p:sp>
      <p:cxnSp>
        <p:nvCxnSpPr>
          <p:cNvPr id="56" name="Connector 39"/>
          <p:cNvCxnSpPr/>
          <p:nvPr/>
        </p:nvCxnSpPr>
        <p:spPr>
          <a:xfrm>
            <a:off x="1539391" y="4739009"/>
            <a:ext cx="225430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7" name="레일"/>
          <p:cNvSpPr/>
          <p:nvPr/>
        </p:nvSpPr>
        <p:spPr>
          <a:xfrm>
            <a:off x="756000" y="4749965"/>
            <a:ext cx="739565" cy="594470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레일 태그"/>
          <p:cNvSpPr/>
          <p:nvPr/>
        </p:nvSpPr>
        <p:spPr>
          <a:xfrm>
            <a:off x="845984" y="4793791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9" name="레일 태그"/>
          <p:cNvSpPr>
            <a:spLocks noGrp="1"/>
          </p:cNvSpPr>
          <p:nvPr>
            <p:ph type="body" sz="quarter" idx="43"/>
          </p:nvPr>
        </p:nvSpPr>
        <p:spPr>
          <a:xfrm>
            <a:off x="845984" y="4793791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세대소통</a:t>
            </a:r>
          </a:p>
        </p:txBody>
      </p:sp>
      <p:sp>
        <p:nvSpPr>
          <p:cNvPr id="60" name="레일 라벨"/>
          <p:cNvSpPr>
            <a:spLocks noGrp="1"/>
          </p:cNvSpPr>
          <p:nvPr>
            <p:ph type="body" sz="quarter" idx="44"/>
          </p:nvPr>
        </p:nvSpPr>
        <p:spPr>
          <a:xfrm>
            <a:off x="756000" y="4980052"/>
            <a:ext cx="739565" cy="34247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미래세대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</a:t>
            </a:r>
          </a:p>
        </p:txBody>
      </p:sp>
      <p:sp>
        <p:nvSpPr>
          <p:cNvPr id="61" name="패널 본문"/>
          <p:cNvSpPr>
            <a:spLocks noGrp="1"/>
          </p:cNvSpPr>
          <p:nvPr>
            <p:ph type="body" sz="quarter" idx="45"/>
          </p:nvPr>
        </p:nvSpPr>
        <p:spPr>
          <a:xfrm>
            <a:off x="1539391" y="4739009"/>
            <a:ext cx="2276217" cy="616383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주니어 16명·시니어 9명 구성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혁신과제 발굴(4건)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자유토론(5개 주제)</a:t>
            </a:r>
          </a:p>
        </p:txBody>
      </p:sp>
      <p:sp>
        <p:nvSpPr>
          <p:cNvPr id="62" name="패널 외곽"/>
          <p:cNvSpPr/>
          <p:nvPr/>
        </p:nvSpPr>
        <p:spPr>
          <a:xfrm>
            <a:off x="3897783" y="3243287"/>
            <a:ext cx="3125348" cy="213401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패널 머리"/>
          <p:cNvSpPr/>
          <p:nvPr/>
        </p:nvSpPr>
        <p:spPr>
          <a:xfrm>
            <a:off x="3897783" y="3243287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64" name="패널 머리"/>
          <p:cNvSpPr>
            <a:spLocks noGrp="1"/>
          </p:cNvSpPr>
          <p:nvPr>
            <p:ph type="body" sz="quarter" idx="46"/>
          </p:nvPr>
        </p:nvSpPr>
        <p:spPr>
          <a:xfrm>
            <a:off x="3897783" y="3243287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65" name="레일"/>
          <p:cNvSpPr/>
          <p:nvPr/>
        </p:nvSpPr>
        <p:spPr>
          <a:xfrm>
            <a:off x="3930652" y="3517200"/>
            <a:ext cx="734087" cy="594470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레일 태그"/>
          <p:cNvSpPr/>
          <p:nvPr/>
        </p:nvSpPr>
        <p:spPr>
          <a:xfrm>
            <a:off x="4017897" y="3561026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7" name="레일 태그"/>
          <p:cNvSpPr>
            <a:spLocks noGrp="1"/>
          </p:cNvSpPr>
          <p:nvPr>
            <p:ph type="body" sz="quarter" idx="47"/>
          </p:nvPr>
        </p:nvSpPr>
        <p:spPr>
          <a:xfrm>
            <a:off x="4017897" y="3561026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신뢰문화</a:t>
            </a:r>
          </a:p>
        </p:txBody>
      </p:sp>
      <p:sp>
        <p:nvSpPr>
          <p:cNvPr id="68" name="레일 라벨"/>
          <p:cNvSpPr>
            <a:spLocks noGrp="1"/>
          </p:cNvSpPr>
          <p:nvPr>
            <p:ph type="body" sz="quarter" idx="48"/>
          </p:nvPr>
        </p:nvSpPr>
        <p:spPr>
          <a:xfrm>
            <a:off x="3930652" y="3747287"/>
            <a:ext cx="734087" cy="34247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데일리 미팅</a:t>
            </a:r>
          </a:p>
        </p:txBody>
      </p:sp>
      <p:sp>
        <p:nvSpPr>
          <p:cNvPr id="69" name="패널 본문"/>
          <p:cNvSpPr>
            <a:spLocks noGrp="1"/>
          </p:cNvSpPr>
          <p:nvPr>
            <p:ph type="body" sz="quarter" idx="49"/>
          </p:nvPr>
        </p:nvSpPr>
        <p:spPr>
          <a:xfrm>
            <a:off x="4708565" y="3506243"/>
            <a:ext cx="2281696" cy="616383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노조집행부·주무부서장·실무자 데일리 미팅(매일 2회)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현안에 대한 실시간 소통</a:t>
            </a:r>
          </a:p>
        </p:txBody>
      </p:sp>
      <p:cxnSp>
        <p:nvCxnSpPr>
          <p:cNvPr id="70" name="Connector 50"/>
          <p:cNvCxnSpPr/>
          <p:nvPr/>
        </p:nvCxnSpPr>
        <p:spPr>
          <a:xfrm>
            <a:off x="4708565" y="4122626"/>
            <a:ext cx="2259783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1" name="레일"/>
          <p:cNvSpPr/>
          <p:nvPr/>
        </p:nvSpPr>
        <p:spPr>
          <a:xfrm>
            <a:off x="3930652" y="4133583"/>
            <a:ext cx="734087" cy="594470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레일 태그"/>
          <p:cNvSpPr/>
          <p:nvPr/>
        </p:nvSpPr>
        <p:spPr>
          <a:xfrm>
            <a:off x="4017897" y="4177409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3" name="레일 태그"/>
          <p:cNvSpPr>
            <a:spLocks noGrp="1"/>
          </p:cNvSpPr>
          <p:nvPr>
            <p:ph type="body" sz="quarter" idx="50"/>
          </p:nvPr>
        </p:nvSpPr>
        <p:spPr>
          <a:xfrm>
            <a:off x="4017897" y="4177409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포용문화</a:t>
            </a:r>
          </a:p>
        </p:txBody>
      </p:sp>
      <p:sp>
        <p:nvSpPr>
          <p:cNvPr id="74" name="레일 라벨"/>
          <p:cNvSpPr>
            <a:spLocks noGrp="1"/>
          </p:cNvSpPr>
          <p:nvPr>
            <p:ph type="body" sz="quarter" idx="51"/>
          </p:nvPr>
        </p:nvSpPr>
        <p:spPr>
          <a:xfrm>
            <a:off x="3930652" y="4363670"/>
            <a:ext cx="734087" cy="34247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존중과 화합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문화 조성</a:t>
            </a:r>
          </a:p>
        </p:txBody>
      </p:sp>
      <p:sp>
        <p:nvSpPr>
          <p:cNvPr id="75" name="패널 본문"/>
          <p:cNvSpPr>
            <a:spLocks noGrp="1"/>
          </p:cNvSpPr>
          <p:nvPr>
            <p:ph type="body" sz="quarter" idx="52"/>
          </p:nvPr>
        </p:nvSpPr>
        <p:spPr>
          <a:xfrm>
            <a:off x="4708565" y="4122626"/>
            <a:ext cx="2281696" cy="616383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매월 11·22일, 화합의 날 지정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 자녀 초청 탐험기 행사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 참여 명예로운퇴임식</a:t>
            </a:r>
          </a:p>
        </p:txBody>
      </p:sp>
      <p:cxnSp>
        <p:nvCxnSpPr>
          <p:cNvPr id="76" name="Connector 55"/>
          <p:cNvCxnSpPr/>
          <p:nvPr/>
        </p:nvCxnSpPr>
        <p:spPr>
          <a:xfrm>
            <a:off x="4708565" y="4739009"/>
            <a:ext cx="2259783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7" name="레일"/>
          <p:cNvSpPr/>
          <p:nvPr/>
        </p:nvSpPr>
        <p:spPr>
          <a:xfrm>
            <a:off x="3930652" y="4749965"/>
            <a:ext cx="734087" cy="594470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레일 태그"/>
          <p:cNvSpPr/>
          <p:nvPr/>
        </p:nvSpPr>
        <p:spPr>
          <a:xfrm>
            <a:off x="4017897" y="4793791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9" name="레일 태그"/>
          <p:cNvSpPr>
            <a:spLocks noGrp="1"/>
          </p:cNvSpPr>
          <p:nvPr>
            <p:ph type="body" sz="quarter" idx="53"/>
          </p:nvPr>
        </p:nvSpPr>
        <p:spPr>
          <a:xfrm>
            <a:off x="4017897" y="4793791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협력문화</a:t>
            </a:r>
          </a:p>
        </p:txBody>
      </p:sp>
      <p:sp>
        <p:nvSpPr>
          <p:cNvPr id="80" name="레일 라벨"/>
          <p:cNvSpPr>
            <a:spLocks noGrp="1"/>
          </p:cNvSpPr>
          <p:nvPr>
            <p:ph type="body" sz="quarter" idx="54"/>
          </p:nvPr>
        </p:nvSpPr>
        <p:spPr>
          <a:xfrm>
            <a:off x="3930652" y="4980052"/>
            <a:ext cx="734087" cy="34247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파트너십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프로그램</a:t>
            </a:r>
          </a:p>
        </p:txBody>
      </p:sp>
      <p:sp>
        <p:nvSpPr>
          <p:cNvPr id="81" name="패널 본문"/>
          <p:cNvSpPr>
            <a:spLocks noGrp="1"/>
          </p:cNvSpPr>
          <p:nvPr>
            <p:ph type="body" sz="quarter" idx="55"/>
          </p:nvPr>
        </p:nvSpPr>
        <p:spPr>
          <a:xfrm>
            <a:off x="4708565" y="4739009"/>
            <a:ext cx="2281696" cy="616383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팀워크 '동행'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공유와 공감대 형성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09 서사 · 추진배경 → 공감대·선언(사진)·확산 → 성과 레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271998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 상생협력 선포 및 상생의 달 지정·운영</a:t>
            </a:r>
          </a:p>
        </p:txBody>
      </p:sp>
      <p:sp>
        <p:nvSpPr>
          <p:cNvPr id="12" name="태그칩"/>
          <p:cNvSpPr/>
          <p:nvPr/>
        </p:nvSpPr>
        <p:spPr>
          <a:xfrm>
            <a:off x="3355467" y="799826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3355467" y="799826"/>
            <a:ext cx="32732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14" name="태그칩"/>
          <p:cNvSpPr/>
          <p:nvPr/>
        </p:nvSpPr>
        <p:spPr>
          <a:xfrm>
            <a:off x="3726618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태그칩"/>
          <p:cNvSpPr>
            <a:spLocks noGrp="1"/>
          </p:cNvSpPr>
          <p:nvPr>
            <p:ph type="body" sz="quarter" idx="22"/>
          </p:nvPr>
        </p:nvSpPr>
        <p:spPr>
          <a:xfrm>
            <a:off x="3726618" y="799826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16" name="라벨 박스"/>
          <p:cNvSpPr/>
          <p:nvPr/>
        </p:nvSpPr>
        <p:spPr>
          <a:xfrm>
            <a:off x="536870" y="1062783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레일"/>
          <p:cNvSpPr/>
          <p:nvPr/>
        </p:nvSpPr>
        <p:spPr>
          <a:xfrm>
            <a:off x="547826" y="1073739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3"/>
          </p:nvPr>
        </p:nvSpPr>
        <p:spPr>
          <a:xfrm>
            <a:off x="547826" y="1073739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9" name="본문"/>
          <p:cNvSpPr>
            <a:spLocks noGrp="1"/>
          </p:cNvSpPr>
          <p:nvPr>
            <p:ph type="body" sz="quarter" idx="24"/>
          </p:nvPr>
        </p:nvSpPr>
        <p:spPr>
          <a:xfrm>
            <a:off x="1172348" y="1079217"/>
            <a:ext cx="5631652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소통·긍정 조직문화를 기반으로 상생 협력적 노사관계 문화 확산, 파트너십 강화 추진</a:t>
            </a:r>
          </a:p>
        </p:txBody>
      </p:sp>
      <p:sp>
        <p:nvSpPr>
          <p:cNvPr id="20" name="표 외곽"/>
          <p:cNvSpPr/>
          <p:nvPr/>
        </p:nvSpPr>
        <p:spPr>
          <a:xfrm>
            <a:off x="536870" y="1396957"/>
            <a:ext cx="6300000" cy="24941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레일"/>
          <p:cNvSpPr/>
          <p:nvPr/>
        </p:nvSpPr>
        <p:spPr>
          <a:xfrm>
            <a:off x="547826" y="1413391"/>
            <a:ext cx="580696" cy="60542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2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1413391"/>
            <a:ext cx="580696" cy="605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23" name="머리칸"/>
          <p:cNvSpPr/>
          <p:nvPr/>
        </p:nvSpPr>
        <p:spPr>
          <a:xfrm>
            <a:off x="1161391" y="143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>
          <a:xfrm>
            <a:off x="1161391" y="1435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25" name="머리칸"/>
          <p:cNvSpPr/>
          <p:nvPr/>
        </p:nvSpPr>
        <p:spPr>
          <a:xfrm>
            <a:off x="3985435" y="143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6" name="머리칸"/>
          <p:cNvSpPr>
            <a:spLocks noGrp="1"/>
          </p:cNvSpPr>
          <p:nvPr>
            <p:ph type="body" sz="quarter" idx="27"/>
          </p:nvPr>
        </p:nvSpPr>
        <p:spPr>
          <a:xfrm>
            <a:off x="3985435" y="1435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8"/>
          </p:nvPr>
        </p:nvSpPr>
        <p:spPr>
          <a:xfrm>
            <a:off x="1172348" y="1676348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발전을 위해서는 노동조합을 동반자로 인식하고 협력 증대 필수적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29"/>
          </p:nvPr>
        </p:nvSpPr>
        <p:spPr>
          <a:xfrm>
            <a:off x="3996391" y="1676348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개선을 위해서는 공단과의 파트너십 강화 필요</a:t>
            </a:r>
          </a:p>
        </p:txBody>
      </p:sp>
      <p:cxnSp>
        <p:nvCxnSpPr>
          <p:cNvPr id="29" name="Connector 19"/>
          <p:cNvCxnSpPr/>
          <p:nvPr/>
        </p:nvCxnSpPr>
        <p:spPr>
          <a:xfrm>
            <a:off x="3985435" y="1709217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레일"/>
          <p:cNvSpPr/>
          <p:nvPr/>
        </p:nvSpPr>
        <p:spPr>
          <a:xfrm>
            <a:off x="547826" y="2035252"/>
            <a:ext cx="580696" cy="81626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레일 태그"/>
          <p:cNvSpPr/>
          <p:nvPr/>
        </p:nvSpPr>
        <p:spPr>
          <a:xfrm>
            <a:off x="668144" y="2199600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2" name="레일 태그"/>
          <p:cNvSpPr>
            <a:spLocks noGrp="1"/>
          </p:cNvSpPr>
          <p:nvPr>
            <p:ph type="body" sz="quarter" idx="30"/>
          </p:nvPr>
        </p:nvSpPr>
        <p:spPr>
          <a:xfrm>
            <a:off x="668144" y="2199600"/>
            <a:ext cx="340059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결실</a:t>
            </a:r>
          </a:p>
        </p:txBody>
      </p:sp>
      <p:sp>
        <p:nvSpPr>
          <p:cNvPr id="33" name="레일 라벨"/>
          <p:cNvSpPr>
            <a:spLocks noGrp="1"/>
          </p:cNvSpPr>
          <p:nvPr>
            <p:ph type="body" sz="quarter" idx="31"/>
          </p:nvPr>
        </p:nvSpPr>
        <p:spPr>
          <a:xfrm>
            <a:off x="547826" y="2385861"/>
            <a:ext cx="580696" cy="443739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상생협력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선언</a:t>
            </a:r>
          </a:p>
        </p:txBody>
      </p:sp>
      <p:sp>
        <p:nvSpPr>
          <p:cNvPr id="34" name="레일 삼각형"/>
          <p:cNvSpPr/>
          <p:nvPr/>
        </p:nvSpPr>
        <p:spPr>
          <a:xfrm>
            <a:off x="547826" y="2035252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머리칸"/>
          <p:cNvSpPr/>
          <p:nvPr/>
        </p:nvSpPr>
        <p:spPr>
          <a:xfrm>
            <a:off x="1161391" y="2057165"/>
            <a:ext cx="4519565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6" name="머리칸"/>
          <p:cNvSpPr>
            <a:spLocks noGrp="1"/>
          </p:cNvSpPr>
          <p:nvPr>
            <p:ph type="body" sz="quarter" idx="32"/>
          </p:nvPr>
        </p:nvSpPr>
        <p:spPr>
          <a:xfrm>
            <a:off x="1161391" y="2057165"/>
            <a:ext cx="4519565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선언문('25.2월)</a:t>
            </a:r>
          </a:p>
        </p:txBody>
      </p:sp>
      <p:sp>
        <p:nvSpPr>
          <p:cNvPr id="37" name="칸 본문"/>
          <p:cNvSpPr>
            <a:spLocks noGrp="1"/>
          </p:cNvSpPr>
          <p:nvPr>
            <p:ph type="body" sz="quarter" idx="33"/>
          </p:nvPr>
        </p:nvSpPr>
        <p:spPr>
          <a:xfrm>
            <a:off x="1172348" y="2298209"/>
            <a:ext cx="4514087" cy="5478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선포식 개최 및 공동 선언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참여, 사내방송 생중계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조성·발전적 노사관계 정착 합의·선언</a:t>
            </a:r>
          </a:p>
        </p:txBody>
      </p:sp>
      <p:sp>
        <p:nvSpPr>
          <p:cNvPr id="38" name="사진 칸"/>
          <p:cNvSpPr/>
          <p:nvPr/>
        </p:nvSpPr>
        <p:spPr>
          <a:xfrm>
            <a:off x="5730261" y="2062643"/>
            <a:ext cx="1079217" cy="777913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9" name="사진 칸"/>
          <p:cNvSpPr>
            <a:spLocks noGrp="1"/>
          </p:cNvSpPr>
          <p:nvPr>
            <p:ph type="body" sz="quarter" idx="34"/>
          </p:nvPr>
        </p:nvSpPr>
        <p:spPr>
          <a:xfrm>
            <a:off x="5730261" y="2062643"/>
            <a:ext cx="1079217" cy="777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(선포식)</a:t>
            </a:r>
          </a:p>
        </p:txBody>
      </p:sp>
      <p:sp>
        <p:nvSpPr>
          <p:cNvPr id="40" name="레일"/>
          <p:cNvSpPr/>
          <p:nvPr/>
        </p:nvSpPr>
        <p:spPr>
          <a:xfrm>
            <a:off x="547826" y="2867948"/>
            <a:ext cx="580696" cy="1006748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레일 태그"/>
          <p:cNvSpPr/>
          <p:nvPr/>
        </p:nvSpPr>
        <p:spPr>
          <a:xfrm>
            <a:off x="668144" y="3032296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2" name="레일 태그"/>
          <p:cNvSpPr>
            <a:spLocks noGrp="1"/>
          </p:cNvSpPr>
          <p:nvPr>
            <p:ph type="body" sz="quarter" idx="35"/>
          </p:nvPr>
        </p:nvSpPr>
        <p:spPr>
          <a:xfrm>
            <a:off x="668144" y="3032296"/>
            <a:ext cx="340059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확산</a:t>
            </a:r>
          </a:p>
        </p:txBody>
      </p:sp>
      <p:sp>
        <p:nvSpPr>
          <p:cNvPr id="43" name="레일 라벨"/>
          <p:cNvSpPr>
            <a:spLocks noGrp="1"/>
          </p:cNvSpPr>
          <p:nvPr>
            <p:ph type="body" sz="quarter" idx="36"/>
          </p:nvPr>
        </p:nvSpPr>
        <p:spPr>
          <a:xfrm>
            <a:off x="547826" y="3218557"/>
            <a:ext cx="580696" cy="634226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상생의 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44" name="레일 삼각형"/>
          <p:cNvSpPr/>
          <p:nvPr/>
        </p:nvSpPr>
        <p:spPr>
          <a:xfrm>
            <a:off x="547826" y="2867947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배너"/>
          <p:cNvSpPr/>
          <p:nvPr/>
        </p:nvSpPr>
        <p:spPr>
          <a:xfrm>
            <a:off x="1161391" y="2889861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46" name="배너"/>
          <p:cNvSpPr>
            <a:spLocks noGrp="1"/>
          </p:cNvSpPr>
          <p:nvPr>
            <p:ph type="body" sz="quarter" idx="37"/>
          </p:nvPr>
        </p:nvSpPr>
        <p:spPr>
          <a:xfrm>
            <a:off x="1161391" y="2889861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매년 11월, 노사 상생의 달 지정 및 운영(공공기관 중 최초)</a:t>
            </a:r>
          </a:p>
        </p:txBody>
      </p:sp>
      <p:sp>
        <p:nvSpPr>
          <p:cNvPr id="47" name="머리칸"/>
          <p:cNvSpPr/>
          <p:nvPr/>
        </p:nvSpPr>
        <p:spPr>
          <a:xfrm>
            <a:off x="1161391" y="312542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8" name="머리칸"/>
          <p:cNvSpPr>
            <a:spLocks noGrp="1"/>
          </p:cNvSpPr>
          <p:nvPr>
            <p:ph type="body" sz="quarter" idx="38"/>
          </p:nvPr>
        </p:nvSpPr>
        <p:spPr>
          <a:xfrm>
            <a:off x="1161391" y="312542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화합 어울림 한마당</a:t>
            </a:r>
          </a:p>
        </p:txBody>
      </p:sp>
      <p:sp>
        <p:nvSpPr>
          <p:cNvPr id="49" name="머리칸"/>
          <p:cNvSpPr/>
          <p:nvPr/>
        </p:nvSpPr>
        <p:spPr>
          <a:xfrm>
            <a:off x="3044087" y="312542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0" name="머리칸"/>
          <p:cNvSpPr>
            <a:spLocks noGrp="1"/>
          </p:cNvSpPr>
          <p:nvPr>
            <p:ph type="body" sz="quarter" idx="39"/>
          </p:nvPr>
        </p:nvSpPr>
        <p:spPr>
          <a:xfrm>
            <a:off x="3044087" y="312542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표어 공모·선정</a:t>
            </a:r>
          </a:p>
        </p:txBody>
      </p:sp>
      <p:sp>
        <p:nvSpPr>
          <p:cNvPr id="51" name="머리칸"/>
          <p:cNvSpPr/>
          <p:nvPr/>
        </p:nvSpPr>
        <p:spPr>
          <a:xfrm>
            <a:off x="4926783" y="312542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2" name="머리칸"/>
          <p:cNvSpPr>
            <a:spLocks noGrp="1"/>
          </p:cNvSpPr>
          <p:nvPr>
            <p:ph type="body" sz="quarter" idx="40"/>
          </p:nvPr>
        </p:nvSpPr>
        <p:spPr>
          <a:xfrm>
            <a:off x="4926783" y="312542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BEST AWARD</a:t>
            </a:r>
          </a:p>
        </p:txBody>
      </p:sp>
      <p:sp>
        <p:nvSpPr>
          <p:cNvPr id="53" name="칸 본문"/>
          <p:cNvSpPr>
            <a:spLocks noGrp="1"/>
          </p:cNvSpPr>
          <p:nvPr>
            <p:ph type="body" sz="quarter" idx="41"/>
          </p:nvPr>
        </p:nvSpPr>
        <p:spPr>
          <a:xfrm>
            <a:off x="1172348" y="3366470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 156명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화합과 소통의 장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노사관계 특강 교육 운영</a:t>
            </a:r>
          </a:p>
        </p:txBody>
      </p:sp>
      <p:sp>
        <p:nvSpPr>
          <p:cNvPr id="54" name="칸 본문"/>
          <p:cNvSpPr>
            <a:spLocks noGrp="1"/>
          </p:cNvSpPr>
          <p:nvPr>
            <p:ph type="body" sz="quarter" idx="42"/>
          </p:nvPr>
        </p:nvSpPr>
        <p:spPr>
          <a:xfrm>
            <a:off x="3055043" y="3366470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화합·상생 표어 공모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61개 공모·우수작 3개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꼬리말·행사 슬로건 활용</a:t>
            </a:r>
          </a:p>
        </p:txBody>
      </p:sp>
      <p:cxnSp>
        <p:nvCxnSpPr>
          <p:cNvPr id="55" name="Connector 37"/>
          <p:cNvCxnSpPr/>
          <p:nvPr/>
        </p:nvCxnSpPr>
        <p:spPr>
          <a:xfrm>
            <a:off x="3044087" y="3399339"/>
            <a:ext cx="0" cy="4370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6" name="칸 본문"/>
          <p:cNvSpPr>
            <a:spLocks noGrp="1"/>
          </p:cNvSpPr>
          <p:nvPr>
            <p:ph type="body" sz="quarter" idx="43"/>
          </p:nvPr>
        </p:nvSpPr>
        <p:spPr>
          <a:xfrm>
            <a:off x="4937739" y="3366470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실적평가 우수조직 시상(4개)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 표창·부상품 제공</a:t>
            </a:r>
          </a:p>
        </p:txBody>
      </p:sp>
      <p:cxnSp>
        <p:nvCxnSpPr>
          <p:cNvPr id="57" name="Connector 39"/>
          <p:cNvCxnSpPr/>
          <p:nvPr/>
        </p:nvCxnSpPr>
        <p:spPr>
          <a:xfrm>
            <a:off x="4926783" y="3399339"/>
            <a:ext cx="0" cy="4370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8" name="표 외곽"/>
          <p:cNvSpPr/>
          <p:nvPr/>
        </p:nvSpPr>
        <p:spPr>
          <a:xfrm>
            <a:off x="536870" y="3934957"/>
            <a:ext cx="6300000" cy="643774"/>
          </a:xfrm>
          <a:prstGeom prst="rect">
            <a:avLst/>
          </a:prstGeom>
          <a:solidFill>
            <a:srgbClr val="FFFFFF"/>
          </a:solidFill>
          <a:ln w="9525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레일"/>
          <p:cNvSpPr/>
          <p:nvPr/>
        </p:nvSpPr>
        <p:spPr>
          <a:xfrm>
            <a:off x="547826" y="3951391"/>
            <a:ext cx="580696" cy="610904"/>
          </a:xfrm>
          <a:prstGeom prst="rect">
            <a:avLst/>
          </a:prstGeom>
          <a:pattFill prst="trellis">
            <a:fgClr>
              <a:srgbClr val="00A4A8"/>
            </a:fgClr>
            <a:bgClr>
              <a:srgbClr val="008C6B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0" name="레일"/>
          <p:cNvSpPr>
            <a:spLocks noGrp="1"/>
          </p:cNvSpPr>
          <p:nvPr>
            <p:ph type="body" sz="quarter" idx="44"/>
          </p:nvPr>
        </p:nvSpPr>
        <p:spPr>
          <a:xfrm>
            <a:off x="547826" y="3951391"/>
            <a:ext cx="580696" cy="6109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61" name="머리칸"/>
          <p:cNvSpPr/>
          <p:nvPr/>
        </p:nvSpPr>
        <p:spPr>
          <a:xfrm>
            <a:off x="1161391" y="3973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2" name="머리칸"/>
          <p:cNvSpPr>
            <a:spLocks noGrp="1"/>
          </p:cNvSpPr>
          <p:nvPr>
            <p:ph type="body" sz="quarter" idx="45"/>
          </p:nvPr>
        </p:nvSpPr>
        <p:spPr>
          <a:xfrm>
            <a:off x="1161391" y="3973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노사관계 최우수 기관장 감사패</a:t>
            </a:r>
          </a:p>
        </p:txBody>
      </p:sp>
      <p:sp>
        <p:nvSpPr>
          <p:cNvPr id="63" name="머리칸"/>
          <p:cNvSpPr/>
          <p:nvPr/>
        </p:nvSpPr>
        <p:spPr>
          <a:xfrm>
            <a:off x="3985435" y="3973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4" name="머리칸"/>
          <p:cNvSpPr>
            <a:spLocks noGrp="1"/>
          </p:cNvSpPr>
          <p:nvPr>
            <p:ph type="body" sz="quarter" idx="46"/>
          </p:nvPr>
        </p:nvSpPr>
        <p:spPr>
          <a:xfrm>
            <a:off x="3985435" y="3973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 명예 조합원 위촉</a:t>
            </a:r>
          </a:p>
        </p:txBody>
      </p:sp>
      <p:sp>
        <p:nvSpPr>
          <p:cNvPr id="65" name="칸 본문"/>
          <p:cNvSpPr>
            <a:spLocks noGrp="1"/>
          </p:cNvSpPr>
          <p:nvPr>
            <p:ph type="body" sz="quarter" idx="47"/>
          </p:nvPr>
        </p:nvSpPr>
        <p:spPr>
          <a:xfrm>
            <a:off x="1172348" y="4214348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공공안전기관 노조대표자협의회 주관 최우수 기관 선정·감사패('25.8월)</a:t>
            </a:r>
          </a:p>
        </p:txBody>
      </p:sp>
      <p:sp>
        <p:nvSpPr>
          <p:cNvPr id="66" name="칸 본문"/>
          <p:cNvSpPr>
            <a:spLocks noGrp="1"/>
          </p:cNvSpPr>
          <p:nvPr>
            <p:ph type="body" sz="quarter" idx="48"/>
          </p:nvPr>
        </p:nvSpPr>
        <p:spPr>
          <a:xfrm>
            <a:off x="3996391" y="4214348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 → 이사장 명예 조합원 위촉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재임 중 기관장 최초 위촉('25.11월)</a:t>
            </a:r>
          </a:p>
        </p:txBody>
      </p:sp>
      <p:cxnSp>
        <p:nvCxnSpPr>
          <p:cNvPr id="67" name="Connector 46"/>
          <p:cNvCxnSpPr/>
          <p:nvPr/>
        </p:nvCxnSpPr>
        <p:spPr>
          <a:xfrm>
            <a:off x="3985435" y="4247217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8" name="핵심성과 박스"/>
          <p:cNvSpPr/>
          <p:nvPr/>
        </p:nvSpPr>
        <p:spPr>
          <a:xfrm>
            <a:off x="536870" y="4666383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핵심성과 라벨"/>
          <p:cNvSpPr/>
          <p:nvPr/>
        </p:nvSpPr>
        <p:spPr>
          <a:xfrm>
            <a:off x="569739" y="4704730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70" name="핵심성과 라벨"/>
          <p:cNvSpPr>
            <a:spLocks noGrp="1"/>
          </p:cNvSpPr>
          <p:nvPr>
            <p:ph type="body" sz="quarter" idx="49"/>
          </p:nvPr>
        </p:nvSpPr>
        <p:spPr>
          <a:xfrm>
            <a:off x="569739" y="4704730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71" name="핵심성과 문구"/>
          <p:cNvSpPr>
            <a:spLocks noGrp="1"/>
          </p:cNvSpPr>
          <p:nvPr>
            <p:ph type="body" sz="quarter" idx="50"/>
          </p:nvPr>
        </p:nvSpPr>
        <p:spPr>
          <a:xfrm>
            <a:off x="1314783" y="4682817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노사소통지수 전년대비 1.6점 상승(89.3 → 90.9점)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10 서사 · 교육체계 비전·환경·방향 → 실적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교육체계 수립과 내·외부 역량 활용</a:t>
            </a:r>
          </a:p>
        </p:txBody>
      </p:sp>
      <p:sp>
        <p:nvSpPr>
          <p:cNvPr id="14" name="형광 밑줄"/>
          <p:cNvSpPr/>
          <p:nvPr/>
        </p:nvSpPr>
        <p:spPr>
          <a:xfrm>
            <a:off x="723130" y="1358609"/>
            <a:ext cx="320386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소제목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노사 현안별 전문성을 추구하는 노무 역량 교육체계</a:t>
            </a:r>
          </a:p>
        </p:txBody>
      </p:sp>
      <p:sp>
        <p:nvSpPr>
          <p:cNvPr id="16" name="태그칩"/>
          <p:cNvSpPr/>
          <p:nvPr/>
        </p:nvSpPr>
        <p:spPr>
          <a:xfrm>
            <a:off x="4025603" y="1238087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태그칩"/>
          <p:cNvSpPr>
            <a:spLocks noGrp="1"/>
          </p:cNvSpPr>
          <p:nvPr>
            <p:ph type="body" sz="quarter" idx="23"/>
          </p:nvPr>
        </p:nvSpPr>
        <p:spPr>
          <a:xfrm>
            <a:off x="4025603" y="1238087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8" name="라벨 박스"/>
          <p:cNvSpPr/>
          <p:nvPr/>
        </p:nvSpPr>
        <p:spPr>
          <a:xfrm>
            <a:off x="723130" y="1501043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레일"/>
          <p:cNvSpPr/>
          <p:nvPr/>
        </p:nvSpPr>
        <p:spPr>
          <a:xfrm>
            <a:off x="734087" y="1512000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4"/>
          </p:nvPr>
        </p:nvSpPr>
        <p:spPr>
          <a:xfrm>
            <a:off x="734087" y="1512000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HRD 비전</a:t>
            </a:r>
          </a:p>
        </p:txBody>
      </p:sp>
      <p:sp>
        <p:nvSpPr>
          <p:cNvPr id="21" name="가운데 글"/>
          <p:cNvSpPr>
            <a:spLocks noGrp="1"/>
          </p:cNvSpPr>
          <p:nvPr>
            <p:ph type="body" sz="quarter" idx="25"/>
          </p:nvPr>
        </p:nvSpPr>
        <p:spPr>
          <a:xfrm>
            <a:off x="1358609" y="1517478"/>
            <a:ext cx="5631652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안전과 행복을 위한 조직 역량 강화와 인권존중의 조직문화 조성</a:t>
            </a:r>
          </a:p>
        </p:txBody>
      </p:sp>
      <p:sp>
        <p:nvSpPr>
          <p:cNvPr id="22" name="라벨 박스"/>
          <p:cNvSpPr/>
          <p:nvPr/>
        </p:nvSpPr>
        <p:spPr>
          <a:xfrm>
            <a:off x="723130" y="1846174"/>
            <a:ext cx="6300000" cy="64925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레일"/>
          <p:cNvSpPr/>
          <p:nvPr/>
        </p:nvSpPr>
        <p:spPr>
          <a:xfrm>
            <a:off x="734087" y="1857130"/>
            <a:ext cx="591652" cy="62733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4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857130"/>
            <a:ext cx="591652" cy="6273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5" name="머리칸"/>
          <p:cNvSpPr/>
          <p:nvPr/>
        </p:nvSpPr>
        <p:spPr>
          <a:xfrm>
            <a:off x="1358609" y="1873565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6" name="머리칸"/>
          <p:cNvSpPr>
            <a:spLocks noGrp="1"/>
          </p:cNvSpPr>
          <p:nvPr>
            <p:ph type="body" sz="quarter" idx="27"/>
          </p:nvPr>
        </p:nvSpPr>
        <p:spPr>
          <a:xfrm>
            <a:off x="1358609" y="1873565"/>
            <a:ext cx="279939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7" name="머리칸"/>
          <p:cNvSpPr/>
          <p:nvPr/>
        </p:nvSpPr>
        <p:spPr>
          <a:xfrm>
            <a:off x="4174435" y="1873565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8" name="머리칸"/>
          <p:cNvSpPr>
            <a:spLocks noGrp="1"/>
          </p:cNvSpPr>
          <p:nvPr>
            <p:ph type="body" sz="quarter" idx="28"/>
          </p:nvPr>
        </p:nvSpPr>
        <p:spPr>
          <a:xfrm>
            <a:off x="4174435" y="1873565"/>
            <a:ext cx="279939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9"/>
          </p:nvPr>
        </p:nvSpPr>
        <p:spPr>
          <a:xfrm>
            <a:off x="1369565" y="2114609"/>
            <a:ext cx="2793913" cy="3643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「노동조합법」 개정 등 정책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안전보건체계 강화 요구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4185391" y="2114609"/>
            <a:ext cx="2793913" cy="3643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현안별 전문 인력 양성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만료 도래에 따른 교육 확대</a:t>
            </a:r>
          </a:p>
        </p:txBody>
      </p:sp>
      <p:cxnSp>
        <p:nvCxnSpPr>
          <p:cNvPr id="31" name="Connector 20"/>
          <p:cNvCxnSpPr/>
          <p:nvPr/>
        </p:nvCxnSpPr>
        <p:spPr>
          <a:xfrm>
            <a:off x="4174435" y="2147478"/>
            <a:ext cx="0" cy="29864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라벨 박스"/>
          <p:cNvSpPr/>
          <p:nvPr/>
        </p:nvSpPr>
        <p:spPr>
          <a:xfrm>
            <a:off x="723130" y="2550209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레일"/>
          <p:cNvSpPr/>
          <p:nvPr/>
        </p:nvSpPr>
        <p:spPr>
          <a:xfrm>
            <a:off x="734087" y="2561165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1"/>
          </p:nvPr>
        </p:nvSpPr>
        <p:spPr>
          <a:xfrm>
            <a:off x="734087" y="2561165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35" name="강조 바"/>
          <p:cNvSpPr/>
          <p:nvPr/>
        </p:nvSpPr>
        <p:spPr>
          <a:xfrm>
            <a:off x="1358609" y="2583078"/>
            <a:ext cx="5631652" cy="22460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강조 바 글"/>
          <p:cNvSpPr>
            <a:spLocks noGrp="1"/>
          </p:cNvSpPr>
          <p:nvPr>
            <p:ph type="body" sz="quarter" idx="32"/>
          </p:nvPr>
        </p:nvSpPr>
        <p:spPr>
          <a:xfrm>
            <a:off x="1358609" y="2583078"/>
            <a:ext cx="5631652" cy="224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변화하는 노사 정책과 제도에 유연하게 대응할 수 있는 역량 구비·강화</a:t>
            </a:r>
          </a:p>
        </p:txBody>
      </p:sp>
      <p:sp>
        <p:nvSpPr>
          <p:cNvPr id="37" name="라벨 박스"/>
          <p:cNvSpPr/>
          <p:nvPr/>
        </p:nvSpPr>
        <p:spPr>
          <a:xfrm>
            <a:off x="723130" y="2895339"/>
            <a:ext cx="6300000" cy="6437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레일"/>
          <p:cNvSpPr/>
          <p:nvPr/>
        </p:nvSpPr>
        <p:spPr>
          <a:xfrm>
            <a:off x="734087" y="2906296"/>
            <a:ext cx="591652" cy="62186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레일"/>
          <p:cNvSpPr>
            <a:spLocks noGrp="1"/>
          </p:cNvSpPr>
          <p:nvPr>
            <p:ph type="body" sz="quarter" idx="33"/>
          </p:nvPr>
        </p:nvSpPr>
        <p:spPr>
          <a:xfrm>
            <a:off x="734087" y="2906296"/>
            <a:ext cx="591652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운영방향</a:t>
            </a:r>
          </a:p>
        </p:txBody>
      </p:sp>
      <p:sp>
        <p:nvSpPr>
          <p:cNvPr id="40" name="머리칸"/>
          <p:cNvSpPr/>
          <p:nvPr/>
        </p:nvSpPr>
        <p:spPr>
          <a:xfrm>
            <a:off x="1358609" y="2922730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1" name="머리칸"/>
          <p:cNvSpPr>
            <a:spLocks noGrp="1"/>
          </p:cNvSpPr>
          <p:nvPr>
            <p:ph type="body" sz="quarter" idx="34"/>
          </p:nvPr>
        </p:nvSpPr>
        <p:spPr>
          <a:xfrm>
            <a:off x="1358609" y="2922730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대상별 맞춤형 교육</a:t>
            </a:r>
          </a:p>
        </p:txBody>
      </p:sp>
      <p:sp>
        <p:nvSpPr>
          <p:cNvPr id="42" name="머리칸"/>
          <p:cNvSpPr/>
          <p:nvPr/>
        </p:nvSpPr>
        <p:spPr>
          <a:xfrm>
            <a:off x="3235826" y="2922730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3" name="머리칸"/>
          <p:cNvSpPr>
            <a:spLocks noGrp="1"/>
          </p:cNvSpPr>
          <p:nvPr>
            <p:ph type="body" sz="quarter" idx="35"/>
          </p:nvPr>
        </p:nvSpPr>
        <p:spPr>
          <a:xfrm>
            <a:off x="3235826" y="2922730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기본역량 교육</a:t>
            </a:r>
          </a:p>
        </p:txBody>
      </p:sp>
      <p:sp>
        <p:nvSpPr>
          <p:cNvPr id="44" name="머리칸"/>
          <p:cNvSpPr/>
          <p:nvPr/>
        </p:nvSpPr>
        <p:spPr>
          <a:xfrm>
            <a:off x="5113043" y="2922730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5" name="머리칸"/>
          <p:cNvSpPr>
            <a:spLocks noGrp="1"/>
          </p:cNvSpPr>
          <p:nvPr>
            <p:ph type="body" sz="quarter" idx="36"/>
          </p:nvPr>
        </p:nvSpPr>
        <p:spPr>
          <a:xfrm>
            <a:off x="5113043" y="2922730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전문성 촉진 교육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37"/>
          </p:nvPr>
        </p:nvSpPr>
        <p:spPr>
          <a:xfrm>
            <a:off x="1369565" y="3163774"/>
            <a:ext cx="1855304" cy="3589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관리자·신입직원·노사실무자 맞춤형 교육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8"/>
          </p:nvPr>
        </p:nvSpPr>
        <p:spPr>
          <a:xfrm>
            <a:off x="3246783" y="3163774"/>
            <a:ext cx="1855304" cy="3589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직원 대상 노사관계 기본역량·단체협약 교육</a:t>
            </a:r>
          </a:p>
        </p:txBody>
      </p:sp>
      <p:cxnSp>
        <p:nvCxnSpPr>
          <p:cNvPr id="48" name="Connector 32"/>
          <p:cNvCxnSpPr/>
          <p:nvPr/>
        </p:nvCxnSpPr>
        <p:spPr>
          <a:xfrm>
            <a:off x="3235826" y="3196643"/>
            <a:ext cx="0" cy="29316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칸 본문"/>
          <p:cNvSpPr>
            <a:spLocks noGrp="1"/>
          </p:cNvSpPr>
          <p:nvPr>
            <p:ph type="body" sz="quarter" idx="39"/>
          </p:nvPr>
        </p:nvSpPr>
        <p:spPr>
          <a:xfrm>
            <a:off x="5124000" y="3163774"/>
            <a:ext cx="1855304" cy="3589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안전보건·보수 등 노사접점 실무자 전문화 교육</a:t>
            </a:r>
          </a:p>
        </p:txBody>
      </p:sp>
      <p:cxnSp>
        <p:nvCxnSpPr>
          <p:cNvPr id="50" name="Connector 34"/>
          <p:cNvCxnSpPr/>
          <p:nvPr/>
        </p:nvCxnSpPr>
        <p:spPr>
          <a:xfrm>
            <a:off x="5113043" y="3196643"/>
            <a:ext cx="0" cy="29316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1" name="삼각 화살표"/>
          <p:cNvSpPr/>
          <p:nvPr/>
        </p:nvSpPr>
        <p:spPr>
          <a:xfrm>
            <a:off x="4010086" y="3582939"/>
            <a:ext cx="350609" cy="142434"/>
          </a:xfrm>
          <a:custGeom>
            <a:avLst/>
            <a:gdLst/>
            <a:ahLst/>
            <a:cxnLst/>
            <a:rect l="l" t="t" r="r" b="b"/>
            <a:pathLst>
              <a:path w="350609" h="142434">
                <a:moveTo>
                  <a:pt x="0" y="0"/>
                </a:moveTo>
                <a:lnTo>
                  <a:pt x="350609" y="0"/>
                </a:lnTo>
                <a:lnTo>
                  <a:pt x="175305" y="14243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11 서사 · 협의체 참여 · 외부역량 활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2773571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협의체 참여와 외부역량 활용으로 현안 대응</a:t>
            </a:r>
          </a:p>
        </p:txBody>
      </p:sp>
      <p:sp>
        <p:nvSpPr>
          <p:cNvPr id="12" name="태그칩"/>
          <p:cNvSpPr/>
          <p:nvPr/>
        </p:nvSpPr>
        <p:spPr>
          <a:xfrm>
            <a:off x="3409049" y="799826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3409049" y="799826"/>
            <a:ext cx="60639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14" name="표 외곽"/>
          <p:cNvSpPr/>
          <p:nvPr/>
        </p:nvSpPr>
        <p:spPr>
          <a:xfrm>
            <a:off x="536870" y="1051826"/>
            <a:ext cx="6300000" cy="22133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547826" y="1068261"/>
            <a:ext cx="580696" cy="108203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068261"/>
            <a:ext cx="580696" cy="10820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참여</a:t>
            </a:r>
          </a:p>
        </p:txBody>
      </p:sp>
      <p:sp>
        <p:nvSpPr>
          <p:cNvPr id="17" name="배너"/>
          <p:cNvSpPr/>
          <p:nvPr/>
        </p:nvSpPr>
        <p:spPr>
          <a:xfrm>
            <a:off x="1161391" y="1090174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8" name="배너"/>
          <p:cNvSpPr>
            <a:spLocks noGrp="1"/>
          </p:cNvSpPr>
          <p:nvPr>
            <p:ph type="body" sz="quarter" idx="23"/>
          </p:nvPr>
        </p:nvSpPr>
        <p:spPr>
          <a:xfrm>
            <a:off x="1161391" y="1090174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타 기관 협의체 참여·공유·학습으로 노사 현안 전문성 강화 및 개선점 모색</a:t>
            </a:r>
          </a:p>
        </p:txBody>
      </p:sp>
      <p:sp>
        <p:nvSpPr>
          <p:cNvPr id="19" name="머리칸"/>
          <p:cNvSpPr/>
          <p:nvPr/>
        </p:nvSpPr>
        <p:spPr>
          <a:xfrm>
            <a:off x="1161391" y="1325739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1161391" y="1325739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안전보건</a:t>
            </a:r>
          </a:p>
        </p:txBody>
      </p:sp>
      <p:sp>
        <p:nvSpPr>
          <p:cNvPr id="21" name="머리칸"/>
          <p:cNvSpPr/>
          <p:nvPr/>
        </p:nvSpPr>
        <p:spPr>
          <a:xfrm>
            <a:off x="3044087" y="1325739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2" name="머리칸"/>
          <p:cNvSpPr>
            <a:spLocks noGrp="1"/>
          </p:cNvSpPr>
          <p:nvPr>
            <p:ph type="body" sz="quarter" idx="25"/>
          </p:nvPr>
        </p:nvSpPr>
        <p:spPr>
          <a:xfrm>
            <a:off x="3044087" y="1325739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</a:t>
            </a:r>
          </a:p>
        </p:txBody>
      </p:sp>
      <p:sp>
        <p:nvSpPr>
          <p:cNvPr id="23" name="머리칸"/>
          <p:cNvSpPr/>
          <p:nvPr/>
        </p:nvSpPr>
        <p:spPr>
          <a:xfrm>
            <a:off x="4926783" y="1325739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>
          <a:xfrm>
            <a:off x="4926783" y="1325739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복무제도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7"/>
          </p:nvPr>
        </p:nvSpPr>
        <p:spPr>
          <a:xfrm>
            <a:off x="1172348" y="156678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안전협의체(3회·9개)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재난관리협의체(1회·4개)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3055043" y="156678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교차점검단(3회·5개)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상생컨설팅(3회·3개)</a:t>
            </a:r>
          </a:p>
        </p:txBody>
      </p:sp>
      <p:cxnSp>
        <p:nvCxnSpPr>
          <p:cNvPr id="27" name="Connector 17"/>
          <p:cNvCxnSpPr/>
          <p:nvPr/>
        </p:nvCxnSpPr>
        <p:spPr>
          <a:xfrm>
            <a:off x="3044087" y="1599652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칸 본문"/>
          <p:cNvSpPr>
            <a:spLocks noGrp="1"/>
          </p:cNvSpPr>
          <p:nvPr>
            <p:ph type="body" sz="quarter" idx="29"/>
          </p:nvPr>
        </p:nvSpPr>
        <p:spPr>
          <a:xfrm>
            <a:off x="4937739" y="156678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일·가정양립(4회·4개)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상생컨설팅(2회·3개)</a:t>
            </a:r>
          </a:p>
        </p:txBody>
      </p:sp>
      <p:cxnSp>
        <p:nvCxnSpPr>
          <p:cNvPr id="29" name="Connector 19"/>
          <p:cNvCxnSpPr/>
          <p:nvPr/>
        </p:nvCxnSpPr>
        <p:spPr>
          <a:xfrm>
            <a:off x="4926783" y="1599652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태그"/>
          <p:cNvSpPr/>
          <p:nvPr/>
        </p:nvSpPr>
        <p:spPr>
          <a:xfrm>
            <a:off x="1161391" y="1947600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1" name="태그"/>
          <p:cNvSpPr>
            <a:spLocks noGrp="1"/>
          </p:cNvSpPr>
          <p:nvPr>
            <p:ph type="body" sz="quarter" idx="30"/>
          </p:nvPr>
        </p:nvSpPr>
        <p:spPr>
          <a:xfrm>
            <a:off x="1161391" y="1947600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32" name="태그 설명"/>
          <p:cNvSpPr>
            <a:spLocks noGrp="1"/>
          </p:cNvSpPr>
          <p:nvPr>
            <p:ph type="body" sz="quarter" idx="31"/>
          </p:nvPr>
        </p:nvSpPr>
        <p:spPr>
          <a:xfrm>
            <a:off x="1786727" y="1936643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 프로그램 교류, 재난 대응 매뉴얼 공유·발표, 복리후생제도 교차점검 등</a:t>
            </a:r>
          </a:p>
        </p:txBody>
      </p:sp>
      <p:sp>
        <p:nvSpPr>
          <p:cNvPr id="33" name="레일"/>
          <p:cNvSpPr/>
          <p:nvPr/>
        </p:nvSpPr>
        <p:spPr>
          <a:xfrm>
            <a:off x="547826" y="2166730"/>
            <a:ext cx="580696" cy="1082035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2"/>
          </p:nvPr>
        </p:nvSpPr>
        <p:spPr>
          <a:xfrm>
            <a:off x="547826" y="2166730"/>
            <a:ext cx="580696" cy="10820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외부역량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활용</a:t>
            </a:r>
          </a:p>
        </p:txBody>
      </p:sp>
      <p:sp>
        <p:nvSpPr>
          <p:cNvPr id="35" name="레일 삼각형"/>
          <p:cNvSpPr/>
          <p:nvPr/>
        </p:nvSpPr>
        <p:spPr>
          <a:xfrm>
            <a:off x="547826" y="216673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배너"/>
          <p:cNvSpPr/>
          <p:nvPr/>
        </p:nvSpPr>
        <p:spPr>
          <a:xfrm>
            <a:off x="1161391" y="2188643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7" name="배너"/>
          <p:cNvSpPr>
            <a:spLocks noGrp="1"/>
          </p:cNvSpPr>
          <p:nvPr>
            <p:ph type="body" sz="quarter" idx="33"/>
          </p:nvPr>
        </p:nvSpPr>
        <p:spPr>
          <a:xfrm>
            <a:off x="1161391" y="2188643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전문 역량을 적극 활용하여 공단의 노사 현안에 신속 대응 및 전문성 구비</a:t>
            </a:r>
          </a:p>
        </p:txBody>
      </p:sp>
      <p:sp>
        <p:nvSpPr>
          <p:cNvPr id="38" name="머리칸"/>
          <p:cNvSpPr/>
          <p:nvPr/>
        </p:nvSpPr>
        <p:spPr>
          <a:xfrm>
            <a:off x="1161391" y="2424209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9" name="머리칸"/>
          <p:cNvSpPr>
            <a:spLocks noGrp="1"/>
          </p:cNvSpPr>
          <p:nvPr>
            <p:ph type="body" sz="quarter" idx="34"/>
          </p:nvPr>
        </p:nvSpPr>
        <p:spPr>
          <a:xfrm>
            <a:off x="1161391" y="2424209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노무 전문가 자문</a:t>
            </a:r>
          </a:p>
        </p:txBody>
      </p:sp>
      <p:sp>
        <p:nvSpPr>
          <p:cNvPr id="40" name="머리칸"/>
          <p:cNvSpPr/>
          <p:nvPr/>
        </p:nvSpPr>
        <p:spPr>
          <a:xfrm>
            <a:off x="3985435" y="2424209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1" name="머리칸"/>
          <p:cNvSpPr>
            <a:spLocks noGrp="1"/>
          </p:cNvSpPr>
          <p:nvPr>
            <p:ph type="body" sz="quarter" idx="35"/>
          </p:nvPr>
        </p:nvSpPr>
        <p:spPr>
          <a:xfrm>
            <a:off x="3985435" y="2424209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온라인 자원 활용</a:t>
            </a:r>
          </a:p>
        </p:txBody>
      </p:sp>
      <p:sp>
        <p:nvSpPr>
          <p:cNvPr id="42" name="칸 본문"/>
          <p:cNvSpPr>
            <a:spLocks noGrp="1"/>
          </p:cNvSpPr>
          <p:nvPr>
            <p:ph type="body" sz="quarter" idx="36"/>
          </p:nvPr>
        </p:nvSpPr>
        <p:spPr>
          <a:xfrm>
            <a:off x="1172348" y="2665252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계약 및 전담 노무사 배치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 이슈 대응 및 제도 적법성 자문</a:t>
            </a:r>
          </a:p>
        </p:txBody>
      </p:sp>
      <p:sp>
        <p:nvSpPr>
          <p:cNvPr id="43" name="칸 본문"/>
          <p:cNvSpPr>
            <a:spLocks noGrp="1"/>
          </p:cNvSpPr>
          <p:nvPr>
            <p:ph type="body" sz="quarter" idx="37"/>
          </p:nvPr>
        </p:nvSpPr>
        <p:spPr>
          <a:xfrm>
            <a:off x="3996391" y="2665252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신속 대응과 정보 수집을 위한 온라인 노무포털(E-Labor) 적극 활용</a:t>
            </a:r>
          </a:p>
        </p:txBody>
      </p:sp>
      <p:cxnSp>
        <p:nvCxnSpPr>
          <p:cNvPr id="44" name="Connector 29"/>
          <p:cNvCxnSpPr/>
          <p:nvPr/>
        </p:nvCxnSpPr>
        <p:spPr>
          <a:xfrm>
            <a:off x="3985435" y="2698122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태그"/>
          <p:cNvSpPr/>
          <p:nvPr/>
        </p:nvSpPr>
        <p:spPr>
          <a:xfrm>
            <a:off x="1161391" y="3046070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6" name="태그"/>
          <p:cNvSpPr>
            <a:spLocks noGrp="1"/>
          </p:cNvSpPr>
          <p:nvPr>
            <p:ph type="body" sz="quarter" idx="38"/>
          </p:nvPr>
        </p:nvSpPr>
        <p:spPr>
          <a:xfrm>
            <a:off x="1161391" y="3046070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활용사례</a:t>
            </a:r>
          </a:p>
        </p:txBody>
      </p:sp>
      <p:sp>
        <p:nvSpPr>
          <p:cNvPr id="47" name="태그 설명"/>
          <p:cNvSpPr>
            <a:spLocks noGrp="1"/>
          </p:cNvSpPr>
          <p:nvPr>
            <p:ph type="body" sz="quarter" idx="39"/>
          </p:nvPr>
        </p:nvSpPr>
        <p:spPr>
          <a:xfrm>
            <a:off x="1786727" y="3035113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단체협약, 복리후생제도 운영 적법성 · 감시단속적 근무 해제, 육아지원 3법 등</a:t>
            </a:r>
          </a:p>
        </p:txBody>
      </p:sp>
      <p:sp>
        <p:nvSpPr>
          <p:cNvPr id="48" name="핵심성과 박스"/>
          <p:cNvSpPr/>
          <p:nvPr/>
        </p:nvSpPr>
        <p:spPr>
          <a:xfrm>
            <a:off x="536870" y="3352852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핵심성과 라벨"/>
          <p:cNvSpPr/>
          <p:nvPr/>
        </p:nvSpPr>
        <p:spPr>
          <a:xfrm>
            <a:off x="569739" y="3391200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50" name="핵심성과 라벨"/>
          <p:cNvSpPr>
            <a:spLocks noGrp="1"/>
          </p:cNvSpPr>
          <p:nvPr>
            <p:ph type="body" sz="quarter" idx="40"/>
          </p:nvPr>
        </p:nvSpPr>
        <p:spPr>
          <a:xfrm>
            <a:off x="569739" y="3391200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51" name="핵심성과 문구"/>
          <p:cNvSpPr>
            <a:spLocks noGrp="1"/>
          </p:cNvSpPr>
          <p:nvPr>
            <p:ph type="body" sz="quarter" idx="41"/>
          </p:nvPr>
        </p:nvSpPr>
        <p:spPr>
          <a:xfrm>
            <a:off x="1314783" y="3369287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노사역량지수 전년대비 0.8점 상승(90.1 → 90.9점)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12 서사 · 환경 → 이해관계 → 의견조율 → 협약체결(인라인 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무분규 임금·단체협약을 통한 근로조건의 실질적 향상</a:t>
            </a:r>
          </a:p>
        </p:txBody>
      </p:sp>
      <p:sp>
        <p:nvSpPr>
          <p:cNvPr id="14" name="형광 밑줄"/>
          <p:cNvSpPr/>
          <p:nvPr/>
        </p:nvSpPr>
        <p:spPr>
          <a:xfrm>
            <a:off x="723130" y="1358609"/>
            <a:ext cx="3487845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소제목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갈등 있을 땐 소통으로! 15년 연속 무분규 임금협약 체결</a:t>
            </a:r>
          </a:p>
        </p:txBody>
      </p:sp>
      <p:sp>
        <p:nvSpPr>
          <p:cNvPr id="16" name="태그칩"/>
          <p:cNvSpPr/>
          <p:nvPr/>
        </p:nvSpPr>
        <p:spPr>
          <a:xfrm>
            <a:off x="4309585" y="1238087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태그칩"/>
          <p:cNvSpPr>
            <a:spLocks noGrp="1"/>
          </p:cNvSpPr>
          <p:nvPr>
            <p:ph type="body" sz="quarter" idx="23"/>
          </p:nvPr>
        </p:nvSpPr>
        <p:spPr>
          <a:xfrm>
            <a:off x="4309585" y="1238087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8" name="표 외곽"/>
          <p:cNvSpPr/>
          <p:nvPr/>
        </p:nvSpPr>
        <p:spPr>
          <a:xfrm>
            <a:off x="723130" y="1490087"/>
            <a:ext cx="6300000" cy="6437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레일"/>
          <p:cNvSpPr/>
          <p:nvPr/>
        </p:nvSpPr>
        <p:spPr>
          <a:xfrm>
            <a:off x="734087" y="1506522"/>
            <a:ext cx="580696" cy="61090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4"/>
          </p:nvPr>
        </p:nvSpPr>
        <p:spPr>
          <a:xfrm>
            <a:off x="734087" y="1506522"/>
            <a:ext cx="580696" cy="6109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1" name="머리칸"/>
          <p:cNvSpPr/>
          <p:nvPr/>
        </p:nvSpPr>
        <p:spPr>
          <a:xfrm>
            <a:off x="1347652" y="152843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2" name="머리칸"/>
          <p:cNvSpPr>
            <a:spLocks noGrp="1"/>
          </p:cNvSpPr>
          <p:nvPr>
            <p:ph type="body" sz="quarter" idx="25"/>
          </p:nvPr>
        </p:nvSpPr>
        <p:spPr>
          <a:xfrm>
            <a:off x="1347652" y="1528435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3" name="머리칸"/>
          <p:cNvSpPr/>
          <p:nvPr/>
        </p:nvSpPr>
        <p:spPr>
          <a:xfrm>
            <a:off x="4171696" y="152843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>
          <a:xfrm>
            <a:off x="4171696" y="1528435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7"/>
          </p:nvPr>
        </p:nvSpPr>
        <p:spPr>
          <a:xfrm>
            <a:off x="1358609" y="1769478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'25년도 공공기관 총인건비 인상률 3.0% 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인상 기조(예산지침)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4182652" y="1769478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직종·직급 간 동일 인상률 불만 제기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낮은 보수로 하위직·교통직·실무직 불만</a:t>
            </a:r>
          </a:p>
        </p:txBody>
      </p:sp>
      <p:cxnSp>
        <p:nvCxnSpPr>
          <p:cNvPr id="27" name="Connector 17"/>
          <p:cNvCxnSpPr/>
          <p:nvPr/>
        </p:nvCxnSpPr>
        <p:spPr>
          <a:xfrm>
            <a:off x="4171696" y="1802348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삼각 화살표"/>
          <p:cNvSpPr/>
          <p:nvPr/>
        </p:nvSpPr>
        <p:spPr>
          <a:xfrm>
            <a:off x="4010086" y="2177686"/>
            <a:ext cx="350609" cy="142435"/>
          </a:xfrm>
          <a:custGeom>
            <a:avLst/>
            <a:gdLst/>
            <a:ahLst/>
            <a:cxnLst/>
            <a:rect l="l" t="t" r="r" b="b"/>
            <a:pathLst>
              <a:path w="350609" h="142435">
                <a:moveTo>
                  <a:pt x="0" y="0"/>
                </a:moveTo>
                <a:lnTo>
                  <a:pt x="350609" y="0"/>
                </a:lnTo>
                <a:lnTo>
                  <a:pt x="17530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표 외곽"/>
          <p:cNvSpPr/>
          <p:nvPr/>
        </p:nvSpPr>
        <p:spPr>
          <a:xfrm>
            <a:off x="723130" y="2391339"/>
            <a:ext cx="6300000" cy="266822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레일"/>
          <p:cNvSpPr/>
          <p:nvPr/>
        </p:nvSpPr>
        <p:spPr>
          <a:xfrm>
            <a:off x="734087" y="2407774"/>
            <a:ext cx="580696" cy="61090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1" name="레일"/>
          <p:cNvSpPr>
            <a:spLocks noGrp="1"/>
          </p:cNvSpPr>
          <p:nvPr>
            <p:ph type="body" sz="quarter" idx="29"/>
          </p:nvPr>
        </p:nvSpPr>
        <p:spPr>
          <a:xfrm>
            <a:off x="734087" y="2407774"/>
            <a:ext cx="580696" cy="6109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32" name="머리칸"/>
          <p:cNvSpPr/>
          <p:nvPr/>
        </p:nvSpPr>
        <p:spPr>
          <a:xfrm>
            <a:off x="1347652" y="242968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3" name="머리칸"/>
          <p:cNvSpPr>
            <a:spLocks noGrp="1"/>
          </p:cNvSpPr>
          <p:nvPr>
            <p:ph type="body" sz="quarter" idx="30"/>
          </p:nvPr>
        </p:nvSpPr>
        <p:spPr>
          <a:xfrm>
            <a:off x="1347652" y="2429687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34" name="머리칸"/>
          <p:cNvSpPr/>
          <p:nvPr/>
        </p:nvSpPr>
        <p:spPr>
          <a:xfrm>
            <a:off x="4171696" y="242968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5" name="머리칸"/>
          <p:cNvSpPr>
            <a:spLocks noGrp="1"/>
          </p:cNvSpPr>
          <p:nvPr>
            <p:ph type="body" sz="quarter" idx="31"/>
          </p:nvPr>
        </p:nvSpPr>
        <p:spPr>
          <a:xfrm>
            <a:off x="4171696" y="2429687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36" name="칸 본문"/>
          <p:cNvSpPr>
            <a:spLocks noGrp="1"/>
          </p:cNvSpPr>
          <p:nvPr>
            <p:ph type="body" sz="quarter" idx="32"/>
          </p:nvPr>
        </p:nvSpPr>
        <p:spPr>
          <a:xfrm>
            <a:off x="1358609" y="2670730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우선 인상 동의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고위직급자 인상·직무급 확대 요구</a:t>
            </a:r>
          </a:p>
        </p:txBody>
      </p:sp>
      <p:sp>
        <p:nvSpPr>
          <p:cNvPr id="37" name="칸 본문"/>
          <p:cNvSpPr>
            <a:spLocks noGrp="1"/>
          </p:cNvSpPr>
          <p:nvPr>
            <p:ph type="body" sz="quarter" idx="33"/>
          </p:nvPr>
        </p:nvSpPr>
        <p:spPr>
          <a:xfrm>
            <a:off x="4182652" y="2670730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 직종·직급 위주 '하후상박식'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실무직 근로시간·직무급 확대 반대</a:t>
            </a:r>
          </a:p>
        </p:txBody>
      </p:sp>
      <p:cxnSp>
        <p:nvCxnSpPr>
          <p:cNvPr id="38" name="Connector 25"/>
          <p:cNvCxnSpPr/>
          <p:nvPr/>
        </p:nvCxnSpPr>
        <p:spPr>
          <a:xfrm>
            <a:off x="4171696" y="2703600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레일"/>
          <p:cNvSpPr/>
          <p:nvPr/>
        </p:nvSpPr>
        <p:spPr>
          <a:xfrm>
            <a:off x="734087" y="3035113"/>
            <a:ext cx="580696" cy="93146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0" name="레일"/>
          <p:cNvSpPr>
            <a:spLocks noGrp="1"/>
          </p:cNvSpPr>
          <p:nvPr>
            <p:ph type="body" sz="quarter" idx="34"/>
          </p:nvPr>
        </p:nvSpPr>
        <p:spPr>
          <a:xfrm>
            <a:off x="734087" y="3035113"/>
            <a:ext cx="580696" cy="9314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41" name="레일 삼각형"/>
          <p:cNvSpPr/>
          <p:nvPr/>
        </p:nvSpPr>
        <p:spPr>
          <a:xfrm>
            <a:off x="734086" y="3035113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단계"/>
          <p:cNvSpPr/>
          <p:nvPr/>
        </p:nvSpPr>
        <p:spPr>
          <a:xfrm>
            <a:off x="1347652" y="3057026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3" name="단계"/>
          <p:cNvSpPr>
            <a:spLocks noGrp="1"/>
          </p:cNvSpPr>
          <p:nvPr>
            <p:ph type="body" sz="quarter" idx="35"/>
          </p:nvPr>
        </p:nvSpPr>
        <p:spPr>
          <a:xfrm>
            <a:off x="1347652" y="3057026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 형성</a:t>
            </a:r>
          </a:p>
        </p:txBody>
      </p:sp>
      <p:sp>
        <p:nvSpPr>
          <p:cNvPr id="44" name="단계"/>
          <p:cNvSpPr/>
          <p:nvPr/>
        </p:nvSpPr>
        <p:spPr>
          <a:xfrm>
            <a:off x="2759674" y="3057026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5" name="단계"/>
          <p:cNvSpPr>
            <a:spLocks noGrp="1"/>
          </p:cNvSpPr>
          <p:nvPr>
            <p:ph type="body" sz="quarter" idx="36"/>
          </p:nvPr>
        </p:nvSpPr>
        <p:spPr>
          <a:xfrm>
            <a:off x="2759674" y="3057026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갈등발생</a:t>
            </a:r>
          </a:p>
        </p:txBody>
      </p:sp>
      <p:sp>
        <p:nvSpPr>
          <p:cNvPr id="46" name="단계"/>
          <p:cNvSpPr/>
          <p:nvPr/>
        </p:nvSpPr>
        <p:spPr>
          <a:xfrm>
            <a:off x="4171696" y="3057026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7" name="단계"/>
          <p:cNvSpPr>
            <a:spLocks noGrp="1"/>
          </p:cNvSpPr>
          <p:nvPr>
            <p:ph type="body" sz="quarter" idx="37"/>
          </p:nvPr>
        </p:nvSpPr>
        <p:spPr>
          <a:xfrm>
            <a:off x="4171696" y="3057026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갈등해소</a:t>
            </a:r>
          </a:p>
        </p:txBody>
      </p:sp>
      <p:sp>
        <p:nvSpPr>
          <p:cNvPr id="48" name="단계"/>
          <p:cNvSpPr/>
          <p:nvPr/>
        </p:nvSpPr>
        <p:spPr>
          <a:xfrm>
            <a:off x="5583717" y="3057026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9" name="단계"/>
          <p:cNvSpPr>
            <a:spLocks noGrp="1"/>
          </p:cNvSpPr>
          <p:nvPr>
            <p:ph type="body" sz="quarter" idx="38"/>
          </p:nvPr>
        </p:nvSpPr>
        <p:spPr>
          <a:xfrm>
            <a:off x="5583717" y="3057026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본교섭 실시</a:t>
            </a:r>
          </a:p>
        </p:txBody>
      </p:sp>
      <p:sp>
        <p:nvSpPr>
          <p:cNvPr id="50" name="단계 삼각형"/>
          <p:cNvSpPr/>
          <p:nvPr/>
        </p:nvSpPr>
        <p:spPr>
          <a:xfrm>
            <a:off x="2759673" y="305702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단계 삼각형"/>
          <p:cNvSpPr/>
          <p:nvPr/>
        </p:nvSpPr>
        <p:spPr>
          <a:xfrm>
            <a:off x="4171695" y="305702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단계 삼각형"/>
          <p:cNvSpPr/>
          <p:nvPr/>
        </p:nvSpPr>
        <p:spPr>
          <a:xfrm>
            <a:off x="5583717" y="305702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칸 본문"/>
          <p:cNvSpPr>
            <a:spLocks noGrp="1"/>
          </p:cNvSpPr>
          <p:nvPr>
            <p:ph type="body" sz="quarter" idx="39"/>
          </p:nvPr>
        </p:nvSpPr>
        <p:spPr>
          <a:xfrm>
            <a:off x="1358609" y="3309026"/>
            <a:ext cx="1390109" cy="6520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대표위원 12명 참석·상견례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방향 공유·논의</a:t>
            </a:r>
          </a:p>
        </p:txBody>
      </p:sp>
      <p:sp>
        <p:nvSpPr>
          <p:cNvPr id="54" name="칸 본문"/>
          <p:cNvSpPr>
            <a:spLocks noGrp="1"/>
          </p:cNvSpPr>
          <p:nvPr>
            <p:ph type="body" sz="quarter" idx="40"/>
          </p:nvPr>
        </p:nvSpPr>
        <p:spPr>
          <a:xfrm>
            <a:off x="2770630" y="3309026"/>
            <a:ext cx="1390109" cy="6520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직급별 인상률·직무급 확대 이견</a:t>
            </a:r>
          </a:p>
        </p:txBody>
      </p:sp>
      <p:cxnSp>
        <p:nvCxnSpPr>
          <p:cNvPr id="55" name="Connector 37"/>
          <p:cNvCxnSpPr/>
          <p:nvPr/>
        </p:nvCxnSpPr>
        <p:spPr>
          <a:xfrm>
            <a:off x="2759674" y="3341896"/>
            <a:ext cx="0" cy="5863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6" name="칸 본문"/>
          <p:cNvSpPr>
            <a:spLocks noGrp="1"/>
          </p:cNvSpPr>
          <p:nvPr>
            <p:ph type="body" sz="quarter" idx="41"/>
          </p:nvPr>
        </p:nvSpPr>
        <p:spPr>
          <a:xfrm>
            <a:off x="4182652" y="3309026"/>
            <a:ext cx="1390109" cy="6520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 3회 대화·소통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절충안 협의</a:t>
            </a:r>
          </a:p>
        </p:txBody>
      </p:sp>
      <p:cxnSp>
        <p:nvCxnSpPr>
          <p:cNvPr id="57" name="Connector 39"/>
          <p:cNvCxnSpPr/>
          <p:nvPr/>
        </p:nvCxnSpPr>
        <p:spPr>
          <a:xfrm>
            <a:off x="4171696" y="3341896"/>
            <a:ext cx="0" cy="5863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8" name="칸 본문"/>
          <p:cNvSpPr>
            <a:spLocks noGrp="1"/>
          </p:cNvSpPr>
          <p:nvPr>
            <p:ph type="body" sz="quarter" idx="42"/>
          </p:nvPr>
        </p:nvSpPr>
        <p:spPr>
          <a:xfrm>
            <a:off x="5594674" y="3309026"/>
            <a:ext cx="1390109" cy="6520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실무교섭안으로 본교섭·체결식 동시 진행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15년 연속 무분규 체결</a:t>
            </a:r>
          </a:p>
        </p:txBody>
      </p:sp>
      <p:cxnSp>
        <p:nvCxnSpPr>
          <p:cNvPr id="59" name="Connector 41"/>
          <p:cNvCxnSpPr/>
          <p:nvPr/>
        </p:nvCxnSpPr>
        <p:spPr>
          <a:xfrm>
            <a:off x="5583717" y="3341896"/>
            <a:ext cx="0" cy="5863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0" name="레일"/>
          <p:cNvSpPr/>
          <p:nvPr/>
        </p:nvSpPr>
        <p:spPr>
          <a:xfrm>
            <a:off x="734087" y="3983009"/>
            <a:ext cx="580696" cy="1060122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1" name="레일"/>
          <p:cNvSpPr>
            <a:spLocks noGrp="1"/>
          </p:cNvSpPr>
          <p:nvPr>
            <p:ph type="body" sz="quarter" idx="43"/>
          </p:nvPr>
        </p:nvSpPr>
        <p:spPr>
          <a:xfrm>
            <a:off x="734087" y="3983009"/>
            <a:ext cx="580696" cy="106012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62" name="레일 삼각형"/>
          <p:cNvSpPr/>
          <p:nvPr/>
        </p:nvSpPr>
        <p:spPr>
          <a:xfrm>
            <a:off x="734086" y="3983008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머리칸"/>
          <p:cNvSpPr/>
          <p:nvPr/>
        </p:nvSpPr>
        <p:spPr>
          <a:xfrm>
            <a:off x="1347652" y="4004922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4" name="머리칸"/>
          <p:cNvSpPr>
            <a:spLocks noGrp="1"/>
          </p:cNvSpPr>
          <p:nvPr>
            <p:ph type="body" sz="quarter" idx="44"/>
          </p:nvPr>
        </p:nvSpPr>
        <p:spPr>
          <a:xfrm>
            <a:off x="1347652" y="4004922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1차 임금협약 체결('25.5월)</a:t>
            </a:r>
          </a:p>
        </p:txBody>
      </p:sp>
      <p:sp>
        <p:nvSpPr>
          <p:cNvPr id="65" name="머리칸"/>
          <p:cNvSpPr/>
          <p:nvPr/>
        </p:nvSpPr>
        <p:spPr>
          <a:xfrm>
            <a:off x="4171696" y="4004922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6" name="머리칸"/>
          <p:cNvSpPr>
            <a:spLocks noGrp="1"/>
          </p:cNvSpPr>
          <p:nvPr>
            <p:ph type="body" sz="quarter" idx="45"/>
          </p:nvPr>
        </p:nvSpPr>
        <p:spPr>
          <a:xfrm>
            <a:off x="4171696" y="4004922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최종 임금협약 체결('25.12월)</a:t>
            </a:r>
          </a:p>
        </p:txBody>
      </p:sp>
      <p:sp>
        <p:nvSpPr>
          <p:cNvPr id="67" name="칸 본문"/>
          <p:cNvSpPr>
            <a:spLocks noGrp="1"/>
          </p:cNvSpPr>
          <p:nvPr>
            <p:ph type="body" sz="quarter" idx="46"/>
          </p:nvPr>
        </p:nvSpPr>
        <p:spPr>
          <a:xfrm>
            <a:off x="1358609" y="4245965"/>
            <a:ext cx="2802130" cy="1876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임금 차등인상(1.0~4.5%)</a:t>
            </a:r>
          </a:p>
        </p:txBody>
      </p:sp>
      <p:sp>
        <p:nvSpPr>
          <p:cNvPr id="68" name="칸 본문"/>
          <p:cNvSpPr>
            <a:spLocks noGrp="1"/>
          </p:cNvSpPr>
          <p:nvPr>
            <p:ph type="body" sz="quarter" idx="47"/>
          </p:nvPr>
        </p:nvSpPr>
        <p:spPr>
          <a:xfrm>
            <a:off x="1358609" y="4882852"/>
            <a:ext cx="2802130" cy="15480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상하위직 격차 완화(연공성 완화율 1.9%p↑)</a:t>
            </a:r>
          </a:p>
        </p:txBody>
      </p:sp>
      <p:sp>
        <p:nvSpPr>
          <p:cNvPr id="69" name="칸 본문"/>
          <p:cNvSpPr>
            <a:spLocks noGrp="1"/>
          </p:cNvSpPr>
          <p:nvPr>
            <p:ph type="body" sz="quarter" idx="48"/>
          </p:nvPr>
        </p:nvSpPr>
        <p:spPr>
          <a:xfrm>
            <a:off x="4182652" y="4245965"/>
            <a:ext cx="2802130" cy="79168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기본급 0.5%, 실무직 0.4% 추가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환경실무직 표준 근로체계 편입(임금↑)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직무급 Ⅰ 0.08%, 직무급 Ⅱ 1만원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3~7급 성과급 한시 추가 지급</a:t>
            </a:r>
          </a:p>
        </p:txBody>
      </p:sp>
      <p:cxnSp>
        <p:nvCxnSpPr>
          <p:cNvPr id="70" name="Connector 50"/>
          <p:cNvCxnSpPr/>
          <p:nvPr/>
        </p:nvCxnSpPr>
        <p:spPr>
          <a:xfrm>
            <a:off x="4171696" y="4278835"/>
            <a:ext cx="0" cy="72594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1" name="핵심성과 박스"/>
          <p:cNvSpPr/>
          <p:nvPr/>
        </p:nvSpPr>
        <p:spPr>
          <a:xfrm>
            <a:off x="723130" y="5147217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핵심성과 라벨"/>
          <p:cNvSpPr/>
          <p:nvPr/>
        </p:nvSpPr>
        <p:spPr>
          <a:xfrm>
            <a:off x="756000" y="5185565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73" name="핵심성과 라벨"/>
          <p:cNvSpPr>
            <a:spLocks noGrp="1"/>
          </p:cNvSpPr>
          <p:nvPr>
            <p:ph type="body" sz="quarter" idx="49"/>
          </p:nvPr>
        </p:nvSpPr>
        <p:spPr>
          <a:xfrm>
            <a:off x="756000" y="5185565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74" name="핵심성과 문구"/>
          <p:cNvSpPr>
            <a:spLocks noGrp="1"/>
          </p:cNvSpPr>
          <p:nvPr>
            <p:ph type="body" sz="quarter" idx="50"/>
          </p:nvPr>
        </p:nvSpPr>
        <p:spPr>
          <a:xfrm>
            <a:off x="1501043" y="5163652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무분규 임금협약과 본교섭을 생략한 단체협약 체결 완료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13 서사 · 이해관계 → 공감대 → 의견조율 → 협약체결(사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376587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상호 신뢰와 공감을 바탕으로 본교섭을 생략한 단체협약 체결</a:t>
            </a:r>
          </a:p>
        </p:txBody>
      </p:sp>
      <p:sp>
        <p:nvSpPr>
          <p:cNvPr id="12" name="표 외곽"/>
          <p:cNvSpPr/>
          <p:nvPr/>
        </p:nvSpPr>
        <p:spPr>
          <a:xfrm>
            <a:off x="536870" y="1051826"/>
            <a:ext cx="6300000" cy="273662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레일"/>
          <p:cNvSpPr/>
          <p:nvPr/>
        </p:nvSpPr>
        <p:spPr>
          <a:xfrm>
            <a:off x="547826" y="1068261"/>
            <a:ext cx="580696" cy="61090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4" name="레일"/>
          <p:cNvSpPr>
            <a:spLocks noGrp="1"/>
          </p:cNvSpPr>
          <p:nvPr>
            <p:ph type="body" sz="quarter" idx="21"/>
          </p:nvPr>
        </p:nvSpPr>
        <p:spPr>
          <a:xfrm>
            <a:off x="547826" y="1068261"/>
            <a:ext cx="580696" cy="6109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15" name="머리칸"/>
          <p:cNvSpPr/>
          <p:nvPr/>
        </p:nvSpPr>
        <p:spPr>
          <a:xfrm>
            <a:off x="1161391" y="109017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6" name="머리칸"/>
          <p:cNvSpPr>
            <a:spLocks noGrp="1"/>
          </p:cNvSpPr>
          <p:nvPr>
            <p:ph type="body" sz="quarter" idx="22"/>
          </p:nvPr>
        </p:nvSpPr>
        <p:spPr>
          <a:xfrm>
            <a:off x="1161391" y="109017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7" name="머리칸"/>
          <p:cNvSpPr/>
          <p:nvPr/>
        </p:nvSpPr>
        <p:spPr>
          <a:xfrm>
            <a:off x="3985435" y="109017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8" name="머리칸"/>
          <p:cNvSpPr>
            <a:spLocks noGrp="1"/>
          </p:cNvSpPr>
          <p:nvPr>
            <p:ph type="body" sz="quarter" idx="23"/>
          </p:nvPr>
        </p:nvSpPr>
        <p:spPr>
          <a:xfrm>
            <a:off x="3985435" y="109017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24"/>
          </p:nvPr>
        </p:nvSpPr>
        <p:spPr>
          <a:xfrm>
            <a:off x="1172348" y="1331217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정부정책 테두리 내에서의 교섭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발전이라는 공동 목표 우선적 지향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5"/>
          </p:nvPr>
        </p:nvSpPr>
        <p:spPr>
          <a:xfrm>
            <a:off x="3996391" y="1331217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조합원의 권리 확대와 노동조합 활동 보장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 등 근로자 권익 보호 중점 추진</a:t>
            </a:r>
          </a:p>
        </p:txBody>
      </p:sp>
      <p:cxnSp>
        <p:nvCxnSpPr>
          <p:cNvPr id="21" name="Connector 14"/>
          <p:cNvCxnSpPr/>
          <p:nvPr/>
        </p:nvCxnSpPr>
        <p:spPr>
          <a:xfrm>
            <a:off x="3985435" y="1364087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2" name="레일"/>
          <p:cNvSpPr/>
          <p:nvPr/>
        </p:nvSpPr>
        <p:spPr>
          <a:xfrm>
            <a:off x="547826" y="1695600"/>
            <a:ext cx="580696" cy="610904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6"/>
          </p:nvPr>
        </p:nvSpPr>
        <p:spPr>
          <a:xfrm>
            <a:off x="547826" y="1695600"/>
            <a:ext cx="580696" cy="6109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24" name="레일 삼각형"/>
          <p:cNvSpPr/>
          <p:nvPr/>
        </p:nvSpPr>
        <p:spPr>
          <a:xfrm>
            <a:off x="547826" y="169560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머리칸"/>
          <p:cNvSpPr/>
          <p:nvPr/>
        </p:nvSpPr>
        <p:spPr>
          <a:xfrm>
            <a:off x="1161391" y="171751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6" name="머리칸"/>
          <p:cNvSpPr>
            <a:spLocks noGrp="1"/>
          </p:cNvSpPr>
          <p:nvPr>
            <p:ph type="body" sz="quarter" idx="27"/>
          </p:nvPr>
        </p:nvSpPr>
        <p:spPr>
          <a:xfrm>
            <a:off x="1161391" y="171751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사전교섭('25.9월)</a:t>
            </a:r>
          </a:p>
        </p:txBody>
      </p:sp>
      <p:sp>
        <p:nvSpPr>
          <p:cNvPr id="27" name="머리칸"/>
          <p:cNvSpPr/>
          <p:nvPr/>
        </p:nvSpPr>
        <p:spPr>
          <a:xfrm>
            <a:off x="3985435" y="171751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8" name="머리칸"/>
          <p:cNvSpPr>
            <a:spLocks noGrp="1"/>
          </p:cNvSpPr>
          <p:nvPr>
            <p:ph type="body" sz="quarter" idx="28"/>
          </p:nvPr>
        </p:nvSpPr>
        <p:spPr>
          <a:xfrm>
            <a:off x="3985435" y="171751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프로그램('25.11월)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9"/>
          </p:nvPr>
        </p:nvSpPr>
        <p:spPr>
          <a:xfrm>
            <a:off x="1172348" y="1958557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본교섭 대표위원 16명 전원 참석, 상견례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교섭방향 및 의견 교류로 공감대 형성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3996391" y="1958557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 및 노조집행부, 실무자 등 20명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팀워크 활동 및 현안 공유·소통으로 공감대 강화</a:t>
            </a:r>
          </a:p>
        </p:txBody>
      </p:sp>
      <p:cxnSp>
        <p:nvCxnSpPr>
          <p:cNvPr id="31" name="Connector 21"/>
          <p:cNvCxnSpPr/>
          <p:nvPr/>
        </p:nvCxnSpPr>
        <p:spPr>
          <a:xfrm>
            <a:off x="3985435" y="1991426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레일"/>
          <p:cNvSpPr/>
          <p:nvPr/>
        </p:nvSpPr>
        <p:spPr>
          <a:xfrm>
            <a:off x="547826" y="2322939"/>
            <a:ext cx="580696" cy="61638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3" name="레일"/>
          <p:cNvSpPr>
            <a:spLocks noGrp="1"/>
          </p:cNvSpPr>
          <p:nvPr>
            <p:ph type="body" sz="quarter" idx="31"/>
          </p:nvPr>
        </p:nvSpPr>
        <p:spPr>
          <a:xfrm>
            <a:off x="547826" y="2322939"/>
            <a:ext cx="580696" cy="6163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34" name="단계"/>
          <p:cNvSpPr/>
          <p:nvPr/>
        </p:nvSpPr>
        <p:spPr>
          <a:xfrm>
            <a:off x="1161391" y="2344852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5" name="단계"/>
          <p:cNvSpPr>
            <a:spLocks noGrp="1"/>
          </p:cNvSpPr>
          <p:nvPr>
            <p:ph type="body" sz="quarter" idx="32"/>
          </p:nvPr>
        </p:nvSpPr>
        <p:spPr>
          <a:xfrm>
            <a:off x="1161391" y="2344852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요구안 제시</a:t>
            </a:r>
          </a:p>
        </p:txBody>
      </p:sp>
      <p:sp>
        <p:nvSpPr>
          <p:cNvPr id="36" name="단계"/>
          <p:cNvSpPr/>
          <p:nvPr/>
        </p:nvSpPr>
        <p:spPr>
          <a:xfrm>
            <a:off x="2573413" y="2344852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7" name="단계"/>
          <p:cNvSpPr>
            <a:spLocks noGrp="1"/>
          </p:cNvSpPr>
          <p:nvPr>
            <p:ph type="body" sz="quarter" idx="33"/>
          </p:nvPr>
        </p:nvSpPr>
        <p:spPr>
          <a:xfrm>
            <a:off x="2573413" y="2344852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사측 검토</a:t>
            </a:r>
          </a:p>
        </p:txBody>
      </p:sp>
      <p:sp>
        <p:nvSpPr>
          <p:cNvPr id="38" name="단계"/>
          <p:cNvSpPr/>
          <p:nvPr/>
        </p:nvSpPr>
        <p:spPr>
          <a:xfrm>
            <a:off x="3985435" y="2344852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9" name="단계"/>
          <p:cNvSpPr>
            <a:spLocks noGrp="1"/>
          </p:cNvSpPr>
          <p:nvPr>
            <p:ph type="body" sz="quarter" idx="34"/>
          </p:nvPr>
        </p:nvSpPr>
        <p:spPr>
          <a:xfrm>
            <a:off x="3985435" y="2344852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소통</a:t>
            </a:r>
          </a:p>
        </p:txBody>
      </p:sp>
      <p:sp>
        <p:nvSpPr>
          <p:cNvPr id="40" name="단계"/>
          <p:cNvSpPr/>
          <p:nvPr/>
        </p:nvSpPr>
        <p:spPr>
          <a:xfrm>
            <a:off x="5397457" y="2344852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1" name="단계"/>
          <p:cNvSpPr>
            <a:spLocks noGrp="1"/>
          </p:cNvSpPr>
          <p:nvPr>
            <p:ph type="body" sz="quarter" idx="35"/>
          </p:nvPr>
        </p:nvSpPr>
        <p:spPr>
          <a:xfrm>
            <a:off x="5397457" y="2344852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합의안 도출</a:t>
            </a:r>
          </a:p>
        </p:txBody>
      </p:sp>
      <p:sp>
        <p:nvSpPr>
          <p:cNvPr id="42" name="단계 삼각형"/>
          <p:cNvSpPr/>
          <p:nvPr/>
        </p:nvSpPr>
        <p:spPr>
          <a:xfrm>
            <a:off x="2573413" y="2344852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단계 삼각형"/>
          <p:cNvSpPr/>
          <p:nvPr/>
        </p:nvSpPr>
        <p:spPr>
          <a:xfrm>
            <a:off x="3985434" y="2344852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단계 삼각형"/>
          <p:cNvSpPr/>
          <p:nvPr/>
        </p:nvSpPr>
        <p:spPr>
          <a:xfrm>
            <a:off x="5397456" y="2344852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칸 본문"/>
          <p:cNvSpPr>
            <a:spLocks noGrp="1"/>
          </p:cNvSpPr>
          <p:nvPr>
            <p:ph type="body" sz="quarter" idx="36"/>
          </p:nvPr>
        </p:nvSpPr>
        <p:spPr>
          <a:xfrm>
            <a:off x="1172348" y="2596852"/>
            <a:ext cx="1390109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 18개 요구안 제시·교섭 요구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37"/>
          </p:nvPr>
        </p:nvSpPr>
        <p:spPr>
          <a:xfrm>
            <a:off x="2584370" y="2596852"/>
            <a:ext cx="1390109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실무부서 검토, 이사장·본부장 점검</a:t>
            </a:r>
          </a:p>
        </p:txBody>
      </p:sp>
      <p:cxnSp>
        <p:nvCxnSpPr>
          <p:cNvPr id="47" name="Connector 32"/>
          <p:cNvCxnSpPr/>
          <p:nvPr/>
        </p:nvCxnSpPr>
        <p:spPr>
          <a:xfrm>
            <a:off x="2573413" y="2629722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8" name="칸 본문"/>
          <p:cNvSpPr>
            <a:spLocks noGrp="1"/>
          </p:cNvSpPr>
          <p:nvPr>
            <p:ph type="body" sz="quarter" idx="38"/>
          </p:nvPr>
        </p:nvSpPr>
        <p:spPr>
          <a:xfrm>
            <a:off x="3996391" y="2596852"/>
            <a:ext cx="1390109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 필요 사안 노사 소통·협의</a:t>
            </a:r>
          </a:p>
        </p:txBody>
      </p:sp>
      <p:cxnSp>
        <p:nvCxnSpPr>
          <p:cNvPr id="49" name="Connector 34"/>
          <p:cNvCxnSpPr/>
          <p:nvPr/>
        </p:nvCxnSpPr>
        <p:spPr>
          <a:xfrm>
            <a:off x="3985435" y="2629722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>
            <a:spLocks noGrp="1"/>
          </p:cNvSpPr>
          <p:nvPr>
            <p:ph type="body" sz="quarter" idx="39"/>
          </p:nvPr>
        </p:nvSpPr>
        <p:spPr>
          <a:xfrm>
            <a:off x="5408413" y="2596852"/>
            <a:ext cx="1390109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7건 의견일치, 11건 수정합의</a:t>
            </a:r>
          </a:p>
        </p:txBody>
      </p:sp>
      <p:cxnSp>
        <p:nvCxnSpPr>
          <p:cNvPr id="51" name="Connector 36"/>
          <p:cNvCxnSpPr/>
          <p:nvPr/>
        </p:nvCxnSpPr>
        <p:spPr>
          <a:xfrm>
            <a:off x="5397457" y="2629722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레일"/>
          <p:cNvSpPr/>
          <p:nvPr/>
        </p:nvSpPr>
        <p:spPr>
          <a:xfrm>
            <a:off x="547826" y="2955757"/>
            <a:ext cx="580696" cy="816261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3" name="레일"/>
          <p:cNvSpPr>
            <a:spLocks noGrp="1"/>
          </p:cNvSpPr>
          <p:nvPr>
            <p:ph type="body" sz="quarter" idx="40"/>
          </p:nvPr>
        </p:nvSpPr>
        <p:spPr>
          <a:xfrm>
            <a:off x="547826" y="2955757"/>
            <a:ext cx="580696" cy="81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54" name="레일 삼각형"/>
          <p:cNvSpPr/>
          <p:nvPr/>
        </p:nvSpPr>
        <p:spPr>
          <a:xfrm>
            <a:off x="547826" y="2955756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머리칸"/>
          <p:cNvSpPr/>
          <p:nvPr/>
        </p:nvSpPr>
        <p:spPr>
          <a:xfrm>
            <a:off x="1161391" y="2977670"/>
            <a:ext cx="4519565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6" name="머리칸"/>
          <p:cNvSpPr>
            <a:spLocks noGrp="1"/>
          </p:cNvSpPr>
          <p:nvPr>
            <p:ph type="body" sz="quarter" idx="41"/>
          </p:nvPr>
        </p:nvSpPr>
        <p:spPr>
          <a:xfrm>
            <a:off x="1161391" y="2977670"/>
            <a:ext cx="4519565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본교섭 없는 단체협약 체결('25.12월)</a:t>
            </a:r>
          </a:p>
        </p:txBody>
      </p:sp>
      <p:sp>
        <p:nvSpPr>
          <p:cNvPr id="57" name="칸 본문"/>
          <p:cNvSpPr>
            <a:spLocks noGrp="1"/>
          </p:cNvSpPr>
          <p:nvPr>
            <p:ph type="body" sz="quarter" idx="42"/>
          </p:nvPr>
        </p:nvSpPr>
        <p:spPr>
          <a:xfrm>
            <a:off x="1172348" y="3218713"/>
            <a:ext cx="4514087" cy="54782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개선과 공단 발전이라는 공동 목표까지, 균형 있는 협약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부당노동행위 금지, 조합활동 보장 강화, 비상 시 급여 지급 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미래 지속가능 성장 신설, 해외사업 확대·지원 강화 등</a:t>
            </a:r>
          </a:p>
        </p:txBody>
      </p:sp>
      <p:sp>
        <p:nvSpPr>
          <p:cNvPr id="58" name="사진 칸"/>
          <p:cNvSpPr/>
          <p:nvPr/>
        </p:nvSpPr>
        <p:spPr>
          <a:xfrm>
            <a:off x="5730261" y="2983148"/>
            <a:ext cx="1079217" cy="777913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59" name="사진 칸"/>
          <p:cNvSpPr>
            <a:spLocks noGrp="1"/>
          </p:cNvSpPr>
          <p:nvPr>
            <p:ph type="body" sz="quarter" idx="43"/>
          </p:nvPr>
        </p:nvSpPr>
        <p:spPr>
          <a:xfrm>
            <a:off x="5730261" y="2983148"/>
            <a:ext cx="1079217" cy="777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(체결식)</a:t>
            </a:r>
          </a:p>
        </p:txBody>
      </p:sp>
      <p:sp>
        <p:nvSpPr>
          <p:cNvPr id="60" name="핵심성과 박스"/>
          <p:cNvSpPr/>
          <p:nvPr/>
        </p:nvSpPr>
        <p:spPr>
          <a:xfrm>
            <a:off x="536870" y="3876104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핵심성과 라벨"/>
          <p:cNvSpPr/>
          <p:nvPr/>
        </p:nvSpPr>
        <p:spPr>
          <a:xfrm>
            <a:off x="569739" y="3914452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62" name="핵심성과 라벨"/>
          <p:cNvSpPr>
            <a:spLocks noGrp="1"/>
          </p:cNvSpPr>
          <p:nvPr>
            <p:ph type="body" sz="quarter" idx="44"/>
          </p:nvPr>
        </p:nvSpPr>
        <p:spPr>
          <a:xfrm>
            <a:off x="569739" y="3914452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63" name="핵심성과 문구"/>
          <p:cNvSpPr>
            <a:spLocks noGrp="1"/>
          </p:cNvSpPr>
          <p:nvPr>
            <p:ph type="body" sz="quarter" idx="45"/>
          </p:nvPr>
        </p:nvSpPr>
        <p:spPr>
          <a:xfrm>
            <a:off x="1314783" y="3892539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무분규 임금협약과 본교섭을 생략한 단체협약 체결 완료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14 서사 · 환경분석 + 칸 안 라벨 소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누구나 즐겁고 차별 없이 일할 수 있는 근로환경 구현</a:t>
            </a:r>
          </a:p>
        </p:txBody>
      </p:sp>
      <p:sp>
        <p:nvSpPr>
          <p:cNvPr id="14" name="형광 밑줄"/>
          <p:cNvSpPr/>
          <p:nvPr/>
        </p:nvSpPr>
        <p:spPr>
          <a:xfrm>
            <a:off x="723130" y="1358609"/>
            <a:ext cx="380100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소제목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직원 니즈를 반영한 근로조건 개선과 복리후생 향상 과제 도출</a:t>
            </a:r>
          </a:p>
        </p:txBody>
      </p:sp>
      <p:sp>
        <p:nvSpPr>
          <p:cNvPr id="16" name="라벨 박스"/>
          <p:cNvSpPr/>
          <p:nvPr/>
        </p:nvSpPr>
        <p:spPr>
          <a:xfrm>
            <a:off x="723130" y="1501043"/>
            <a:ext cx="6300000" cy="112460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레일"/>
          <p:cNvSpPr/>
          <p:nvPr/>
        </p:nvSpPr>
        <p:spPr>
          <a:xfrm>
            <a:off x="734087" y="1512000"/>
            <a:ext cx="591652" cy="1102696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3"/>
          </p:nvPr>
        </p:nvSpPr>
        <p:spPr>
          <a:xfrm>
            <a:off x="734087" y="1512000"/>
            <a:ext cx="591652" cy="1102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9" name="머리칸"/>
          <p:cNvSpPr/>
          <p:nvPr/>
        </p:nvSpPr>
        <p:spPr>
          <a:xfrm>
            <a:off x="1358609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1358609" y="1528435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1" name="머리칸"/>
          <p:cNvSpPr/>
          <p:nvPr/>
        </p:nvSpPr>
        <p:spPr>
          <a:xfrm>
            <a:off x="3235826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2" name="머리칸"/>
          <p:cNvSpPr>
            <a:spLocks noGrp="1"/>
          </p:cNvSpPr>
          <p:nvPr>
            <p:ph type="body" sz="quarter" idx="25"/>
          </p:nvPr>
        </p:nvSpPr>
        <p:spPr>
          <a:xfrm>
            <a:off x="3235826" y="1528435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전년도 환류</a:t>
            </a:r>
          </a:p>
        </p:txBody>
      </p:sp>
      <p:sp>
        <p:nvSpPr>
          <p:cNvPr id="23" name="머리칸"/>
          <p:cNvSpPr/>
          <p:nvPr/>
        </p:nvSpPr>
        <p:spPr>
          <a:xfrm>
            <a:off x="5113043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>
          <a:xfrm>
            <a:off x="5113043" y="1528435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직원니즈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7"/>
          </p:nvPr>
        </p:nvSpPr>
        <p:spPr>
          <a:xfrm>
            <a:off x="1369565" y="1769478"/>
            <a:ext cx="1855304" cy="83973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3법·출산양육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장기재직휴가 등 신설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 안전일터 조성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3246783" y="1769478"/>
            <a:ext cx="1855304" cy="83973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질적 근로조건 개선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취약직종 근로조건 향상 지속</a:t>
            </a:r>
          </a:p>
        </p:txBody>
      </p:sp>
      <p:cxnSp>
        <p:nvCxnSpPr>
          <p:cNvPr id="27" name="Connector 17"/>
          <p:cNvCxnSpPr/>
          <p:nvPr/>
        </p:nvCxnSpPr>
        <p:spPr>
          <a:xfrm>
            <a:off x="3235826" y="1802348"/>
            <a:ext cx="0" cy="77400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레일"/>
          <p:cNvSpPr/>
          <p:nvPr/>
        </p:nvSpPr>
        <p:spPr>
          <a:xfrm>
            <a:off x="5134957" y="1780435"/>
            <a:ext cx="525913" cy="32603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레일"/>
          <p:cNvSpPr>
            <a:spLocks noGrp="1"/>
          </p:cNvSpPr>
          <p:nvPr>
            <p:ph type="body" sz="quarter" idx="29"/>
          </p:nvPr>
        </p:nvSpPr>
        <p:spPr>
          <a:xfrm>
            <a:off x="5134957" y="1780435"/>
            <a:ext cx="525913" cy="3260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TF</a:t>
            </a:r>
          </a:p>
        </p:txBody>
      </p:sp>
      <p:sp>
        <p:nvSpPr>
          <p:cNvPr id="30" name="소행 본문"/>
          <p:cNvSpPr>
            <a:spLocks noGrp="1"/>
          </p:cNvSpPr>
          <p:nvPr>
            <p:ph type="body" sz="quarter" idx="30"/>
          </p:nvPr>
        </p:nvSpPr>
        <p:spPr>
          <a:xfrm>
            <a:off x="5682783" y="1780435"/>
            <a:ext cx="1296522" cy="326035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문화여가·가족친화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경조사 생활지원</a:t>
            </a:r>
          </a:p>
        </p:txBody>
      </p:sp>
      <p:cxnSp>
        <p:nvCxnSpPr>
          <p:cNvPr id="31" name="Connector 20"/>
          <p:cNvCxnSpPr/>
          <p:nvPr/>
        </p:nvCxnSpPr>
        <p:spPr>
          <a:xfrm>
            <a:off x="5134957" y="2117426"/>
            <a:ext cx="1833391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레일"/>
          <p:cNvSpPr/>
          <p:nvPr/>
        </p:nvSpPr>
        <p:spPr>
          <a:xfrm>
            <a:off x="5134957" y="2122904"/>
            <a:ext cx="525913" cy="48083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3" name="레일"/>
          <p:cNvSpPr>
            <a:spLocks noGrp="1"/>
          </p:cNvSpPr>
          <p:nvPr>
            <p:ph type="body" sz="quarter" idx="31"/>
          </p:nvPr>
        </p:nvSpPr>
        <p:spPr>
          <a:xfrm>
            <a:off x="5134957" y="2122904"/>
            <a:ext cx="525913" cy="4808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34" name="소행 본문"/>
          <p:cNvSpPr>
            <a:spLocks noGrp="1"/>
          </p:cNvSpPr>
          <p:nvPr>
            <p:ph type="body" sz="quarter" idx="32"/>
          </p:nvPr>
        </p:nvSpPr>
        <p:spPr>
          <a:xfrm>
            <a:off x="5682783" y="2122904"/>
            <a:ext cx="1296522" cy="480835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 등 안전일터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스트레스·정신건강</a:t>
            </a:r>
          </a:p>
        </p:txBody>
      </p:sp>
      <p:cxnSp>
        <p:nvCxnSpPr>
          <p:cNvPr id="35" name="Connector 23"/>
          <p:cNvCxnSpPr/>
          <p:nvPr/>
        </p:nvCxnSpPr>
        <p:spPr>
          <a:xfrm>
            <a:off x="5113043" y="1802348"/>
            <a:ext cx="0" cy="77400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6" name="라벨 박스"/>
          <p:cNvSpPr/>
          <p:nvPr/>
        </p:nvSpPr>
        <p:spPr>
          <a:xfrm>
            <a:off x="723130" y="2680435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레일"/>
          <p:cNvSpPr/>
          <p:nvPr/>
        </p:nvSpPr>
        <p:spPr>
          <a:xfrm>
            <a:off x="734087" y="2691391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8" name="레일"/>
          <p:cNvSpPr>
            <a:spLocks noGrp="1"/>
          </p:cNvSpPr>
          <p:nvPr>
            <p:ph type="body" sz="quarter" idx="33"/>
          </p:nvPr>
        </p:nvSpPr>
        <p:spPr>
          <a:xfrm>
            <a:off x="734087" y="2691391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추진방향</a:t>
            </a:r>
          </a:p>
        </p:txBody>
      </p:sp>
      <p:sp>
        <p:nvSpPr>
          <p:cNvPr id="39" name="가운데 글"/>
          <p:cNvSpPr>
            <a:spLocks noGrp="1"/>
          </p:cNvSpPr>
          <p:nvPr>
            <p:ph type="body" sz="quarter" idx="34"/>
          </p:nvPr>
        </p:nvSpPr>
        <p:spPr>
          <a:xfrm>
            <a:off x="1358609" y="2696870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</p:txBody>
      </p:sp>
      <p:sp>
        <p:nvSpPr>
          <p:cNvPr id="40" name="가운데 글"/>
          <p:cNvSpPr>
            <a:spLocks noGrp="1"/>
          </p:cNvSpPr>
          <p:nvPr>
            <p:ph type="body" sz="quarter" idx="35"/>
          </p:nvPr>
        </p:nvSpPr>
        <p:spPr>
          <a:xfrm>
            <a:off x="3235826" y="2696870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실무직 처우개선</a:t>
            </a:r>
          </a:p>
        </p:txBody>
      </p:sp>
      <p:cxnSp>
        <p:nvCxnSpPr>
          <p:cNvPr id="41" name="Connector 28"/>
          <p:cNvCxnSpPr/>
          <p:nvPr/>
        </p:nvCxnSpPr>
        <p:spPr>
          <a:xfrm>
            <a:off x="3235826" y="2735217"/>
            <a:ext cx="0" cy="180783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42" name="가운데 글"/>
          <p:cNvSpPr>
            <a:spLocks noGrp="1"/>
          </p:cNvSpPr>
          <p:nvPr>
            <p:ph type="body" sz="quarter" idx="36"/>
          </p:nvPr>
        </p:nvSpPr>
        <p:spPr>
          <a:xfrm>
            <a:off x="5113043" y="2696870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cxnSp>
        <p:nvCxnSpPr>
          <p:cNvPr id="43" name="Connector 30"/>
          <p:cNvCxnSpPr/>
          <p:nvPr/>
        </p:nvCxnSpPr>
        <p:spPr>
          <a:xfrm>
            <a:off x="5113043" y="2735217"/>
            <a:ext cx="0" cy="180783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44" name="라벨 박스"/>
          <p:cNvSpPr/>
          <p:nvPr/>
        </p:nvSpPr>
        <p:spPr>
          <a:xfrm>
            <a:off x="723130" y="3025565"/>
            <a:ext cx="6300000" cy="5465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레일"/>
          <p:cNvSpPr/>
          <p:nvPr/>
        </p:nvSpPr>
        <p:spPr>
          <a:xfrm>
            <a:off x="734087" y="3036522"/>
            <a:ext cx="591652" cy="52466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6" name="레일"/>
          <p:cNvSpPr>
            <a:spLocks noGrp="1"/>
          </p:cNvSpPr>
          <p:nvPr>
            <p:ph type="body" sz="quarter" idx="37"/>
          </p:nvPr>
        </p:nvSpPr>
        <p:spPr>
          <a:xfrm>
            <a:off x="734087" y="3036522"/>
            <a:ext cx="591652" cy="5246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8"/>
          </p:nvPr>
        </p:nvSpPr>
        <p:spPr>
          <a:xfrm>
            <a:off x="1369565" y="3042000"/>
            <a:ext cx="1855304" cy="5137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단체교섭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도출·노사 합의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39"/>
          </p:nvPr>
        </p:nvSpPr>
        <p:spPr>
          <a:xfrm>
            <a:off x="3246783" y="3042000"/>
            <a:ext cx="1855304" cy="5137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근무체계 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개선안·임금저하 방지대책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노사합의</a:t>
            </a:r>
          </a:p>
        </p:txBody>
      </p:sp>
      <p:cxnSp>
        <p:nvCxnSpPr>
          <p:cNvPr id="49" name="Connector 35"/>
          <p:cNvCxnSpPr/>
          <p:nvPr/>
        </p:nvCxnSpPr>
        <p:spPr>
          <a:xfrm>
            <a:off x="3235826" y="3074870"/>
            <a:ext cx="0" cy="4479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>
            <a:spLocks noGrp="1"/>
          </p:cNvSpPr>
          <p:nvPr>
            <p:ph type="body" sz="quarter" idx="40"/>
          </p:nvPr>
        </p:nvSpPr>
        <p:spPr>
          <a:xfrm>
            <a:off x="5124000" y="3042000"/>
            <a:ext cx="1855304" cy="5137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직원니즈 기반 복리후생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확대·제도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지원 강화</a:t>
            </a:r>
          </a:p>
        </p:txBody>
      </p:sp>
      <p:cxnSp>
        <p:nvCxnSpPr>
          <p:cNvPr id="51" name="Connector 37"/>
          <p:cNvCxnSpPr/>
          <p:nvPr/>
        </p:nvCxnSpPr>
        <p:spPr>
          <a:xfrm>
            <a:off x="5113043" y="3074870"/>
            <a:ext cx="0" cy="4479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15 서사 · 이해관계 → 교섭(사진 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3673078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열린 소통의 결실, 교통직 처우개선 단체교섭 노사합의 체결</a:t>
            </a:r>
          </a:p>
        </p:txBody>
      </p:sp>
      <p:sp>
        <p:nvSpPr>
          <p:cNvPr id="12" name="태그칩"/>
          <p:cNvSpPr/>
          <p:nvPr/>
        </p:nvSpPr>
        <p:spPr>
          <a:xfrm>
            <a:off x="4308556" y="799826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4308556" y="799826"/>
            <a:ext cx="32732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14" name="표 외곽"/>
          <p:cNvSpPr/>
          <p:nvPr/>
        </p:nvSpPr>
        <p:spPr>
          <a:xfrm>
            <a:off x="536870" y="1051826"/>
            <a:ext cx="5297478" cy="188201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547826" y="1068261"/>
            <a:ext cx="580696" cy="60542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068261"/>
            <a:ext cx="580696" cy="605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17" name="머리칸"/>
          <p:cNvSpPr/>
          <p:nvPr/>
        </p:nvSpPr>
        <p:spPr>
          <a:xfrm>
            <a:off x="1161391" y="1090174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8" name="머리칸"/>
          <p:cNvSpPr>
            <a:spLocks noGrp="1"/>
          </p:cNvSpPr>
          <p:nvPr>
            <p:ph type="body" sz="quarter" idx="23"/>
          </p:nvPr>
        </p:nvSpPr>
        <p:spPr>
          <a:xfrm>
            <a:off x="1161391" y="1090174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9" name="머리칸"/>
          <p:cNvSpPr/>
          <p:nvPr/>
        </p:nvSpPr>
        <p:spPr>
          <a:xfrm>
            <a:off x="3484174" y="1090174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3484174" y="1090174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5"/>
          </p:nvPr>
        </p:nvSpPr>
        <p:spPr>
          <a:xfrm>
            <a:off x="1172348" y="1331217"/>
            <a:ext cx="230087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재원 부족 등 교통직 처우개선을 위한 중장기적 검토와 추진 필요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6"/>
          </p:nvPr>
        </p:nvSpPr>
        <p:spPr>
          <a:xfrm>
            <a:off x="3495130" y="1331217"/>
            <a:ext cx="230087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교통직과 일반직의 차별적 요소 해소를 위한 적극적·신속한 대응 필요</a:t>
            </a:r>
          </a:p>
        </p:txBody>
      </p:sp>
      <p:cxnSp>
        <p:nvCxnSpPr>
          <p:cNvPr id="23" name="Connector 15"/>
          <p:cNvCxnSpPr/>
          <p:nvPr/>
        </p:nvCxnSpPr>
        <p:spPr>
          <a:xfrm>
            <a:off x="3484174" y="1364087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레일"/>
          <p:cNvSpPr/>
          <p:nvPr/>
        </p:nvSpPr>
        <p:spPr>
          <a:xfrm>
            <a:off x="547826" y="1690122"/>
            <a:ext cx="580696" cy="605426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547826" y="1690122"/>
            <a:ext cx="580696" cy="605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26" name="레일 삼각형"/>
          <p:cNvSpPr/>
          <p:nvPr/>
        </p:nvSpPr>
        <p:spPr>
          <a:xfrm>
            <a:off x="547826" y="1690121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머리칸"/>
          <p:cNvSpPr/>
          <p:nvPr/>
        </p:nvSpPr>
        <p:spPr>
          <a:xfrm>
            <a:off x="1161391" y="1712035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8" name="머리칸"/>
          <p:cNvSpPr>
            <a:spLocks noGrp="1"/>
          </p:cNvSpPr>
          <p:nvPr>
            <p:ph type="body" sz="quarter" idx="28"/>
          </p:nvPr>
        </p:nvSpPr>
        <p:spPr>
          <a:xfrm>
            <a:off x="1161391" y="1712035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공감과 이해</a:t>
            </a:r>
          </a:p>
        </p:txBody>
      </p:sp>
      <p:sp>
        <p:nvSpPr>
          <p:cNvPr id="29" name="머리칸"/>
          <p:cNvSpPr/>
          <p:nvPr/>
        </p:nvSpPr>
        <p:spPr>
          <a:xfrm>
            <a:off x="3484174" y="1712035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0" name="머리칸"/>
          <p:cNvSpPr>
            <a:spLocks noGrp="1"/>
          </p:cNvSpPr>
          <p:nvPr>
            <p:ph type="body" sz="quarter" idx="29"/>
          </p:nvPr>
        </p:nvSpPr>
        <p:spPr>
          <a:xfrm>
            <a:off x="3484174" y="1712035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소통과 설득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0"/>
          </p:nvPr>
        </p:nvSpPr>
        <p:spPr>
          <a:xfrm>
            <a:off x="1172348" y="1953078"/>
            <a:ext cx="230087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실무추진단 운영(5회)으로 교통직 처우개선을 위한 노사 공감대 형성 노력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1"/>
          </p:nvPr>
        </p:nvSpPr>
        <p:spPr>
          <a:xfrm>
            <a:off x="3495130" y="1953078"/>
            <a:ext cx="230087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소통 및 설득(처우개선 예산 4.5억원 확보)</a:t>
            </a:r>
          </a:p>
        </p:txBody>
      </p:sp>
      <p:cxnSp>
        <p:nvCxnSpPr>
          <p:cNvPr id="33" name="Connector 22"/>
          <p:cNvCxnSpPr/>
          <p:nvPr/>
        </p:nvCxnSpPr>
        <p:spPr>
          <a:xfrm>
            <a:off x="3484174" y="1985948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레일"/>
          <p:cNvSpPr/>
          <p:nvPr/>
        </p:nvSpPr>
        <p:spPr>
          <a:xfrm>
            <a:off x="547826" y="2311983"/>
            <a:ext cx="580696" cy="605426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5" name="레일"/>
          <p:cNvSpPr>
            <a:spLocks noGrp="1"/>
          </p:cNvSpPr>
          <p:nvPr>
            <p:ph type="body" sz="quarter" idx="32"/>
          </p:nvPr>
        </p:nvSpPr>
        <p:spPr>
          <a:xfrm>
            <a:off x="547826" y="2311983"/>
            <a:ext cx="580696" cy="605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36" name="레일 삼각형"/>
          <p:cNvSpPr/>
          <p:nvPr/>
        </p:nvSpPr>
        <p:spPr>
          <a:xfrm>
            <a:off x="547826" y="2311982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배너"/>
          <p:cNvSpPr/>
          <p:nvPr/>
        </p:nvSpPr>
        <p:spPr>
          <a:xfrm>
            <a:off x="1161391" y="2333896"/>
            <a:ext cx="4645565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8" name="배너"/>
          <p:cNvSpPr>
            <a:spLocks noGrp="1"/>
          </p:cNvSpPr>
          <p:nvPr>
            <p:ph type="body" sz="quarter" idx="33"/>
          </p:nvPr>
        </p:nvSpPr>
        <p:spPr>
          <a:xfrm>
            <a:off x="1161391" y="2333896"/>
            <a:ext cx="4645565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수시단체교섭 노사합의서 체결('25.12월)</a:t>
            </a:r>
          </a:p>
        </p:txBody>
      </p:sp>
      <p:sp>
        <p:nvSpPr>
          <p:cNvPr id="39" name="본문"/>
          <p:cNvSpPr>
            <a:spLocks noGrp="1"/>
          </p:cNvSpPr>
          <p:nvPr>
            <p:ph type="body" sz="quarter" idx="34"/>
          </p:nvPr>
        </p:nvSpPr>
        <p:spPr>
          <a:xfrm>
            <a:off x="1161391" y="2569461"/>
            <a:ext cx="4645565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자체성과급 신설 및 지급 합의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 경력직 채용 비율 상향, 경력가점 변경</a:t>
            </a:r>
          </a:p>
        </p:txBody>
      </p:sp>
      <p:sp>
        <p:nvSpPr>
          <p:cNvPr id="40" name="사진 칸"/>
          <p:cNvSpPr/>
          <p:nvPr/>
        </p:nvSpPr>
        <p:spPr>
          <a:xfrm>
            <a:off x="5878174" y="1068261"/>
            <a:ext cx="958696" cy="1227287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41" name="사진 칸"/>
          <p:cNvSpPr>
            <a:spLocks noGrp="1"/>
          </p:cNvSpPr>
          <p:nvPr>
            <p:ph type="body" sz="quarter" idx="35"/>
          </p:nvPr>
        </p:nvSpPr>
        <p:spPr>
          <a:xfrm>
            <a:off x="5878174" y="1068261"/>
            <a:ext cx="958696" cy="12272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(합의서)</a:t>
            </a:r>
          </a:p>
        </p:txBody>
      </p:sp>
      <p:sp>
        <p:nvSpPr>
          <p:cNvPr id="42" name="사진 칸"/>
          <p:cNvSpPr/>
          <p:nvPr/>
        </p:nvSpPr>
        <p:spPr>
          <a:xfrm>
            <a:off x="5878174" y="2311983"/>
            <a:ext cx="958696" cy="605426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43" name="사진 칸"/>
          <p:cNvSpPr>
            <a:spLocks noGrp="1"/>
          </p:cNvSpPr>
          <p:nvPr>
            <p:ph type="body" sz="quarter" idx="36"/>
          </p:nvPr>
        </p:nvSpPr>
        <p:spPr>
          <a:xfrm>
            <a:off x="5878174" y="2311983"/>
            <a:ext cx="958696" cy="605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(체결식)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16 서사 · 현황 · 문제점 · 노사 공동노력 → 추진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931304"/>
            <a:ext cx="381261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근로자의 안전을 위해! 시설관리 실무직렬 근무체계 개선 합의</a:t>
            </a:r>
          </a:p>
        </p:txBody>
      </p:sp>
      <p:sp>
        <p:nvSpPr>
          <p:cNvPr id="11" name="태그칩"/>
          <p:cNvSpPr/>
          <p:nvPr/>
        </p:nvSpPr>
        <p:spPr>
          <a:xfrm>
            <a:off x="4634353" y="810783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태그칩"/>
          <p:cNvSpPr>
            <a:spLocks noGrp="1"/>
          </p:cNvSpPr>
          <p:nvPr>
            <p:ph type="body" sz="quarter" idx="21"/>
          </p:nvPr>
        </p:nvSpPr>
        <p:spPr>
          <a:xfrm>
            <a:off x="4634353" y="810783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13" name="표 외곽"/>
          <p:cNvSpPr/>
          <p:nvPr/>
        </p:nvSpPr>
        <p:spPr>
          <a:xfrm>
            <a:off x="723130" y="1062783"/>
            <a:ext cx="6300000" cy="133826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레일"/>
          <p:cNvSpPr/>
          <p:nvPr/>
        </p:nvSpPr>
        <p:spPr>
          <a:xfrm>
            <a:off x="734087" y="1079217"/>
            <a:ext cx="580696" cy="2534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레일"/>
          <p:cNvSpPr>
            <a:spLocks noGrp="1"/>
          </p:cNvSpPr>
          <p:nvPr>
            <p:ph type="body" sz="quarter" idx="22"/>
          </p:nvPr>
        </p:nvSpPr>
        <p:spPr>
          <a:xfrm>
            <a:off x="734087" y="1079217"/>
            <a:ext cx="580696" cy="2534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16" name="본문"/>
          <p:cNvSpPr>
            <a:spLocks noGrp="1"/>
          </p:cNvSpPr>
          <p:nvPr>
            <p:ph type="body" sz="quarter" idx="23"/>
          </p:nvPr>
        </p:nvSpPr>
        <p:spPr>
          <a:xfrm>
            <a:off x="1347652" y="1101130"/>
            <a:ext cx="5648087" cy="1821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근로형태, 월 251시간 근무</a:t>
            </a:r>
          </a:p>
        </p:txBody>
      </p:sp>
      <p:sp>
        <p:nvSpPr>
          <p:cNvPr id="17" name="레일"/>
          <p:cNvSpPr/>
          <p:nvPr/>
        </p:nvSpPr>
        <p:spPr>
          <a:xfrm>
            <a:off x="734087" y="1349061"/>
            <a:ext cx="580696" cy="2534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4"/>
          </p:nvPr>
        </p:nvSpPr>
        <p:spPr>
          <a:xfrm>
            <a:off x="734087" y="1349061"/>
            <a:ext cx="580696" cy="2534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문제점</a:t>
            </a:r>
          </a:p>
        </p:txBody>
      </p:sp>
      <p:sp>
        <p:nvSpPr>
          <p:cNvPr id="19" name="본문"/>
          <p:cNvSpPr>
            <a:spLocks noGrp="1"/>
          </p:cNvSpPr>
          <p:nvPr>
            <p:ph type="body" sz="quarter" idx="25"/>
          </p:nvPr>
        </p:nvSpPr>
        <p:spPr>
          <a:xfrm>
            <a:off x="1347652" y="1370974"/>
            <a:ext cx="5648087" cy="1821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장시간 근로에 따른 피로누적 등 건강권 저해와 잦은 이직에 따른 인력의 비효율적 운영</a:t>
            </a:r>
          </a:p>
        </p:txBody>
      </p:sp>
      <p:sp>
        <p:nvSpPr>
          <p:cNvPr id="20" name="레일"/>
          <p:cNvSpPr/>
          <p:nvPr/>
        </p:nvSpPr>
        <p:spPr>
          <a:xfrm>
            <a:off x="734087" y="1618904"/>
            <a:ext cx="580696" cy="76570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618904"/>
            <a:ext cx="580696" cy="7657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공동노력</a:t>
            </a:r>
          </a:p>
        </p:txBody>
      </p:sp>
      <p:sp>
        <p:nvSpPr>
          <p:cNvPr id="22" name="머리칸"/>
          <p:cNvSpPr/>
          <p:nvPr/>
        </p:nvSpPr>
        <p:spPr>
          <a:xfrm>
            <a:off x="1347652" y="164081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3" name="머리칸"/>
          <p:cNvSpPr>
            <a:spLocks noGrp="1"/>
          </p:cNvSpPr>
          <p:nvPr>
            <p:ph type="body" sz="quarter" idx="27"/>
          </p:nvPr>
        </p:nvSpPr>
        <p:spPr>
          <a:xfrm>
            <a:off x="1347652" y="1640817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해당 근로자 소통</a:t>
            </a:r>
          </a:p>
        </p:txBody>
      </p:sp>
      <p:sp>
        <p:nvSpPr>
          <p:cNvPr id="24" name="머리칸"/>
          <p:cNvSpPr/>
          <p:nvPr/>
        </p:nvSpPr>
        <p:spPr>
          <a:xfrm>
            <a:off x="3230348" y="164081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5" name="머리칸"/>
          <p:cNvSpPr>
            <a:spLocks noGrp="1"/>
          </p:cNvSpPr>
          <p:nvPr>
            <p:ph type="body" sz="quarter" idx="28"/>
          </p:nvPr>
        </p:nvSpPr>
        <p:spPr>
          <a:xfrm>
            <a:off x="3230348" y="1640817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근무체계 개편</a:t>
            </a:r>
          </a:p>
        </p:txBody>
      </p:sp>
      <p:sp>
        <p:nvSpPr>
          <p:cNvPr id="26" name="머리칸"/>
          <p:cNvSpPr/>
          <p:nvPr/>
        </p:nvSpPr>
        <p:spPr>
          <a:xfrm>
            <a:off x="5113043" y="164081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9"/>
          </p:nvPr>
        </p:nvSpPr>
        <p:spPr>
          <a:xfrm>
            <a:off x="5113043" y="1640817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임금보전 대책 마련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30"/>
          </p:nvPr>
        </p:nvSpPr>
        <p:spPr>
          <a:xfrm>
            <a:off x="1358609" y="1881861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승인 해제를 통한 근로조건 개선 설명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임금저하 방지 노사 공동 노력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31"/>
          </p:nvPr>
        </p:nvSpPr>
        <p:spPr>
          <a:xfrm>
            <a:off x="3241304" y="1881861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 근로형태로 전환·개편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월 172시간 근무(기존 251시간)</a:t>
            </a:r>
          </a:p>
        </p:txBody>
      </p:sp>
      <p:cxnSp>
        <p:nvCxnSpPr>
          <p:cNvPr id="30" name="Connector 17"/>
          <p:cNvCxnSpPr/>
          <p:nvPr/>
        </p:nvCxnSpPr>
        <p:spPr>
          <a:xfrm>
            <a:off x="3230348" y="1914730"/>
            <a:ext cx="0" cy="4315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1" name="칸 본문"/>
          <p:cNvSpPr>
            <a:spLocks noGrp="1"/>
          </p:cNvSpPr>
          <p:nvPr>
            <p:ph type="body" sz="quarter" idx="32"/>
          </p:nvPr>
        </p:nvSpPr>
        <p:spPr>
          <a:xfrm>
            <a:off x="5124000" y="1881861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임금보전 대책 검토 및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휴일·연장근로수당 지급</a:t>
            </a:r>
          </a:p>
        </p:txBody>
      </p:sp>
      <p:cxnSp>
        <p:nvCxnSpPr>
          <p:cNvPr id="32" name="Connector 19"/>
          <p:cNvCxnSpPr/>
          <p:nvPr/>
        </p:nvCxnSpPr>
        <p:spPr>
          <a:xfrm>
            <a:off x="5113043" y="1914730"/>
            <a:ext cx="0" cy="4315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핵심성과 박스"/>
          <p:cNvSpPr/>
          <p:nvPr/>
        </p:nvSpPr>
        <p:spPr>
          <a:xfrm>
            <a:off x="723130" y="2488696"/>
            <a:ext cx="6300000" cy="49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핵심성과 라벨"/>
          <p:cNvSpPr/>
          <p:nvPr/>
        </p:nvSpPr>
        <p:spPr>
          <a:xfrm>
            <a:off x="756000" y="2527043"/>
            <a:ext cx="657391" cy="41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35" name="핵심성과 라벨"/>
          <p:cNvSpPr>
            <a:spLocks noGrp="1"/>
          </p:cNvSpPr>
          <p:nvPr>
            <p:ph type="body" sz="quarter" idx="33"/>
          </p:nvPr>
        </p:nvSpPr>
        <p:spPr>
          <a:xfrm>
            <a:off x="756000" y="2527043"/>
            <a:ext cx="657391" cy="41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36" name="핵심성과 문구"/>
          <p:cNvSpPr>
            <a:spLocks noGrp="1"/>
          </p:cNvSpPr>
          <p:nvPr>
            <p:ph type="body" sz="quarter" idx="34"/>
          </p:nvPr>
        </p:nvSpPr>
        <p:spPr>
          <a:xfrm>
            <a:off x="1501043" y="2505130"/>
            <a:ext cx="5456348" cy="45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노사합의 체결('25.12월) → 장시간 근무해소(△79시간)를 통한 건강권 확보와 임금보전까지 일거양득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17 서사 · 3분할 병렬 추진 + 요약 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3634156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라. 직원 만족도를 높이는 복리후생 향상과 근무환경 개선 노력</a:t>
            </a:r>
          </a:p>
        </p:txBody>
      </p:sp>
      <p:sp>
        <p:nvSpPr>
          <p:cNvPr id="12" name="태그칩"/>
          <p:cNvSpPr/>
          <p:nvPr/>
        </p:nvSpPr>
        <p:spPr>
          <a:xfrm>
            <a:off x="4269635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4269635" y="799826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4" name="패널 외곽"/>
          <p:cNvSpPr/>
          <p:nvPr/>
        </p:nvSpPr>
        <p:spPr>
          <a:xfrm>
            <a:off x="536870" y="1062783"/>
            <a:ext cx="2070783" cy="990313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패널 머리"/>
          <p:cNvSpPr/>
          <p:nvPr/>
        </p:nvSpPr>
        <p:spPr>
          <a:xfrm>
            <a:off x="536870" y="106278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6" name="패널 머리"/>
          <p:cNvSpPr>
            <a:spLocks noGrp="1"/>
          </p:cNvSpPr>
          <p:nvPr>
            <p:ph type="body" sz="quarter" idx="22"/>
          </p:nvPr>
        </p:nvSpPr>
        <p:spPr>
          <a:xfrm>
            <a:off x="536870" y="106278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sp>
        <p:nvSpPr>
          <p:cNvPr id="17" name="패널 본문"/>
          <p:cNvSpPr>
            <a:spLocks noGrp="1"/>
          </p:cNvSpPr>
          <p:nvPr>
            <p:ph type="body" sz="quarter" idx="23"/>
          </p:nvPr>
        </p:nvSpPr>
        <p:spPr>
          <a:xfrm>
            <a:off x="558783" y="1303826"/>
            <a:ext cx="2026957" cy="4863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휴양소 운영 확대(502명 이용)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사택 에어컨 보급, 장례서비스 확대</a:t>
            </a:r>
          </a:p>
        </p:txBody>
      </p:sp>
      <p:sp>
        <p:nvSpPr>
          <p:cNvPr id="18" name="요약 바"/>
          <p:cNvSpPr/>
          <p:nvPr/>
        </p:nvSpPr>
        <p:spPr>
          <a:xfrm>
            <a:off x="558783" y="1812052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9" name="요약 바"/>
          <p:cNvSpPr>
            <a:spLocks noGrp="1"/>
          </p:cNvSpPr>
          <p:nvPr>
            <p:ph type="body" sz="quarter" idx="24"/>
          </p:nvPr>
        </p:nvSpPr>
        <p:spPr>
          <a:xfrm>
            <a:off x="558783" y="1812052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92.1점</a:t>
            </a:r>
          </a:p>
        </p:txBody>
      </p:sp>
      <p:sp>
        <p:nvSpPr>
          <p:cNvPr id="20" name="패널 외곽"/>
          <p:cNvSpPr/>
          <p:nvPr/>
        </p:nvSpPr>
        <p:spPr>
          <a:xfrm>
            <a:off x="2651478" y="1062783"/>
            <a:ext cx="2070783" cy="990313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패널 머리"/>
          <p:cNvSpPr/>
          <p:nvPr/>
        </p:nvSpPr>
        <p:spPr>
          <a:xfrm>
            <a:off x="2651478" y="106278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2" name="패널 머리"/>
          <p:cNvSpPr>
            <a:spLocks noGrp="1"/>
          </p:cNvSpPr>
          <p:nvPr>
            <p:ph type="body" sz="quarter" idx="25"/>
          </p:nvPr>
        </p:nvSpPr>
        <p:spPr>
          <a:xfrm>
            <a:off x="2651478" y="106278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</a:t>
            </a:r>
          </a:p>
        </p:txBody>
      </p:sp>
      <p:sp>
        <p:nvSpPr>
          <p:cNvPr id="23" name="패널 본문"/>
          <p:cNvSpPr>
            <a:spLocks noGrp="1"/>
          </p:cNvSpPr>
          <p:nvPr>
            <p:ph type="body" sz="quarter" idx="26"/>
          </p:nvPr>
        </p:nvSpPr>
        <p:spPr>
          <a:xfrm>
            <a:off x="2673391" y="1303826"/>
            <a:ext cx="2026957" cy="4863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출산축하금 신설, 휴가 도입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 도입, 가족 동반 행사</a:t>
            </a:r>
          </a:p>
        </p:txBody>
      </p:sp>
      <p:sp>
        <p:nvSpPr>
          <p:cNvPr id="24" name="요약 바"/>
          <p:cNvSpPr/>
          <p:nvPr/>
        </p:nvSpPr>
        <p:spPr>
          <a:xfrm>
            <a:off x="2673391" y="1812052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5" name="요약 바"/>
          <p:cNvSpPr>
            <a:spLocks noGrp="1"/>
          </p:cNvSpPr>
          <p:nvPr>
            <p:ph type="body" sz="quarter" idx="27"/>
          </p:nvPr>
        </p:nvSpPr>
        <p:spPr>
          <a:xfrm>
            <a:off x="2673391" y="1812052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 만족도 8.6점</a:t>
            </a:r>
          </a:p>
        </p:txBody>
      </p:sp>
      <p:sp>
        <p:nvSpPr>
          <p:cNvPr id="26" name="패널 외곽"/>
          <p:cNvSpPr/>
          <p:nvPr/>
        </p:nvSpPr>
        <p:spPr>
          <a:xfrm>
            <a:off x="4766087" y="1062783"/>
            <a:ext cx="2070783" cy="990313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패널 머리"/>
          <p:cNvSpPr/>
          <p:nvPr/>
        </p:nvSpPr>
        <p:spPr>
          <a:xfrm>
            <a:off x="4766087" y="106278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8" name="패널 머리"/>
          <p:cNvSpPr>
            <a:spLocks noGrp="1"/>
          </p:cNvSpPr>
          <p:nvPr>
            <p:ph type="body" sz="quarter" idx="28"/>
          </p:nvPr>
        </p:nvSpPr>
        <p:spPr>
          <a:xfrm>
            <a:off x="4766087" y="106278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</a:t>
            </a:r>
          </a:p>
        </p:txBody>
      </p:sp>
      <p:sp>
        <p:nvSpPr>
          <p:cNvPr id="29" name="패널 본문"/>
          <p:cNvSpPr>
            <a:spLocks noGrp="1"/>
          </p:cNvSpPr>
          <p:nvPr>
            <p:ph type="body" sz="quarter" idx="29"/>
          </p:nvPr>
        </p:nvSpPr>
        <p:spPr>
          <a:xfrm>
            <a:off x="4788000" y="1303826"/>
            <a:ext cx="2026957" cy="4863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사업장 제거(8개소)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청사 안전진단·스트레스 조사</a:t>
            </a:r>
          </a:p>
        </p:txBody>
      </p:sp>
      <p:sp>
        <p:nvSpPr>
          <p:cNvPr id="30" name="요약 바"/>
          <p:cNvSpPr/>
          <p:nvPr/>
        </p:nvSpPr>
        <p:spPr>
          <a:xfrm>
            <a:off x="4788000" y="1812052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1" name="요약 바"/>
          <p:cNvSpPr>
            <a:spLocks noGrp="1"/>
          </p:cNvSpPr>
          <p:nvPr>
            <p:ph type="body" sz="quarter" idx="30"/>
          </p:nvPr>
        </p:nvSpPr>
        <p:spPr>
          <a:xfrm>
            <a:off x="4788000" y="1812052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91.6점</a:t>
            </a:r>
          </a:p>
        </p:txBody>
      </p:sp>
      <p:sp>
        <p:nvSpPr>
          <p:cNvPr id="32" name="핵심성과 박스"/>
          <p:cNvSpPr/>
          <p:nvPr/>
        </p:nvSpPr>
        <p:spPr>
          <a:xfrm>
            <a:off x="536870" y="2140748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핵심성과 라벨"/>
          <p:cNvSpPr/>
          <p:nvPr/>
        </p:nvSpPr>
        <p:spPr>
          <a:xfrm>
            <a:off x="569739" y="2179096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34" name="핵심성과 라벨"/>
          <p:cNvSpPr>
            <a:spLocks noGrp="1"/>
          </p:cNvSpPr>
          <p:nvPr>
            <p:ph type="body" sz="quarter" idx="31"/>
          </p:nvPr>
        </p:nvSpPr>
        <p:spPr>
          <a:xfrm>
            <a:off x="569739" y="2179096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35" name="핵심성과 문구"/>
          <p:cNvSpPr>
            <a:spLocks noGrp="1"/>
          </p:cNvSpPr>
          <p:nvPr>
            <p:ph type="body" sz="quarter" idx="32"/>
          </p:nvPr>
        </p:nvSpPr>
        <p:spPr>
          <a:xfrm>
            <a:off x="1314783" y="2157183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근로개선지수 전년대비 1.5점 상승(90.1 → 91.6점), 복리후생 만족도 3년 연속 '우수' 등급 획득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18 서사 · 추진 방향 → 안전 전략 → 이행체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레일"/>
          <p:cNvSpPr/>
          <p:nvPr/>
        </p:nvSpPr>
        <p:spPr>
          <a:xfrm>
            <a:off x="723130" y="777913"/>
            <a:ext cx="602609" cy="52591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0" name="레일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02609" cy="525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방향</a:t>
            </a:r>
          </a:p>
        </p:txBody>
      </p:sp>
      <p:sp>
        <p:nvSpPr>
          <p:cNvPr id="11" name="헤드라인 박스"/>
          <p:cNvSpPr/>
          <p:nvPr/>
        </p:nvSpPr>
        <p:spPr>
          <a:xfrm>
            <a:off x="1347652" y="777913"/>
            <a:ext cx="5675478" cy="525913"/>
          </a:xfrm>
          <a:prstGeom prst="rect">
            <a:avLst/>
          </a:prstGeom>
          <a:solidFill>
            <a:srgbClr val="FFFFFF"/>
          </a:solidFill>
          <a:ln w="1587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헤드라인 글"/>
          <p:cNvSpPr>
            <a:spLocks noGrp="1"/>
          </p:cNvSpPr>
          <p:nvPr>
            <p:ph type="body" sz="quarter" idx="21"/>
          </p:nvPr>
        </p:nvSpPr>
        <p:spPr>
          <a:xfrm>
            <a:off x="1402435" y="799826"/>
            <a:ext cx="5565913" cy="48208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현장 중심 안전관리 체계로 무사고 사업장을 실현한다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3B4951"/>
                </a:solidFill>
                <a:latin typeface="Pretendard"/>
                <a:ea typeface="Pretendard"/>
              </a:rPr>
              <a:t>예방 · 점검 · 대응을 하나의 흐름으로 묶는 연간 운영 원칙</a:t>
            </a:r>
          </a:p>
        </p:txBody>
      </p:sp>
      <p:sp>
        <p:nvSpPr>
          <p:cNvPr id="13" name="배너"/>
          <p:cNvSpPr/>
          <p:nvPr/>
        </p:nvSpPr>
        <p:spPr>
          <a:xfrm>
            <a:off x="723130" y="1358609"/>
            <a:ext cx="6300000" cy="536870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4" name="Connector 7"/>
          <p:cNvCxnSpPr/>
          <p:nvPr/>
        </p:nvCxnSpPr>
        <p:spPr>
          <a:xfrm>
            <a:off x="723130" y="1358609"/>
            <a:ext cx="6300000" cy="0"/>
          </a:xfrm>
          <a:prstGeom prst="line">
            <a:avLst/>
          </a:prstGeom>
          <a:ln w="12700">
            <a:solidFill>
              <a:srgbClr val="BDE0FF"/>
            </a:solidFill>
          </a:ln>
        </p:spPr>
      </p:cxnSp>
      <p:sp>
        <p:nvSpPr>
          <p:cNvPr id="15" name="배너 글"/>
          <p:cNvSpPr>
            <a:spLocks noGrp="1"/>
          </p:cNvSpPr>
          <p:nvPr>
            <p:ph type="body" sz="quarter" idx="22"/>
          </p:nvPr>
        </p:nvSpPr>
        <p:spPr>
          <a:xfrm>
            <a:off x="723130" y="1413391"/>
            <a:ext cx="6300000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안전 책임이 사업장 전체로 확대되며 관리 범위와 기준이 한 단계 높아짐</a:t>
            </a:r>
          </a:p>
        </p:txBody>
      </p:sp>
      <p:sp>
        <p:nvSpPr>
          <p:cNvPr id="16" name="태그"/>
          <p:cNvSpPr/>
          <p:nvPr/>
        </p:nvSpPr>
        <p:spPr>
          <a:xfrm>
            <a:off x="1686932" y="1638000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7" name="태그"/>
          <p:cNvSpPr>
            <a:spLocks noGrp="1"/>
          </p:cNvSpPr>
          <p:nvPr>
            <p:ph type="body" sz="quarter" idx="23"/>
          </p:nvPr>
        </p:nvSpPr>
        <p:spPr>
          <a:xfrm>
            <a:off x="1686932" y="1638000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8" name="배너 글"/>
          <p:cNvSpPr>
            <a:spLocks noGrp="1"/>
          </p:cNvSpPr>
          <p:nvPr>
            <p:ph type="body" sz="quarter" idx="24"/>
          </p:nvPr>
        </p:nvSpPr>
        <p:spPr>
          <a:xfrm>
            <a:off x="723130" y="1621565"/>
            <a:ext cx="6300000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경영진 책임 · 협력사 관리 · 현장 점검을 연계한 통합 운영 체계 구축</a:t>
            </a:r>
          </a:p>
        </p:txBody>
      </p:sp>
      <p:sp>
        <p:nvSpPr>
          <p:cNvPr id="19" name="박스 외곽"/>
          <p:cNvSpPr/>
          <p:nvPr/>
        </p:nvSpPr>
        <p:spPr>
          <a:xfrm>
            <a:off x="723130" y="1961217"/>
            <a:ext cx="6300000" cy="89843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레일"/>
          <p:cNvSpPr/>
          <p:nvPr/>
        </p:nvSpPr>
        <p:spPr>
          <a:xfrm>
            <a:off x="734087" y="1972174"/>
            <a:ext cx="580696" cy="87652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5"/>
          </p:nvPr>
        </p:nvSpPr>
        <p:spPr>
          <a:xfrm>
            <a:off x="734087" y="1972174"/>
            <a:ext cx="580696" cy="87652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 전략</a:t>
            </a:r>
          </a:p>
        </p:txBody>
      </p:sp>
      <p:sp>
        <p:nvSpPr>
          <p:cNvPr id="22" name="칩"/>
          <p:cNvSpPr/>
          <p:nvPr/>
        </p:nvSpPr>
        <p:spPr>
          <a:xfrm>
            <a:off x="1369565" y="2016000"/>
            <a:ext cx="361565" cy="328696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3" name="칩"/>
          <p:cNvSpPr>
            <a:spLocks noGrp="1"/>
          </p:cNvSpPr>
          <p:nvPr>
            <p:ph type="body" sz="quarter" idx="26"/>
          </p:nvPr>
        </p:nvSpPr>
        <p:spPr>
          <a:xfrm>
            <a:off x="1369565" y="2016000"/>
            <a:ext cx="361565" cy="328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예방</a:t>
            </a:r>
          </a:p>
        </p:txBody>
      </p:sp>
      <p:sp>
        <p:nvSpPr>
          <p:cNvPr id="24" name="칩 셀 글"/>
          <p:cNvSpPr>
            <a:spLocks noGrp="1"/>
          </p:cNvSpPr>
          <p:nvPr>
            <p:ph type="body" sz="quarter" idx="27"/>
          </p:nvPr>
        </p:nvSpPr>
        <p:spPr>
          <a:xfrm>
            <a:off x="1753043" y="2016000"/>
            <a:ext cx="727513" cy="328696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위험요인 사전 발굴</a:t>
            </a:r>
          </a:p>
        </p:txBody>
      </p:sp>
      <p:sp>
        <p:nvSpPr>
          <p:cNvPr id="25" name="칩"/>
          <p:cNvSpPr/>
          <p:nvPr/>
        </p:nvSpPr>
        <p:spPr>
          <a:xfrm>
            <a:off x="2502470" y="2016000"/>
            <a:ext cx="361565" cy="328696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6" name="칩"/>
          <p:cNvSpPr>
            <a:spLocks noGrp="1"/>
          </p:cNvSpPr>
          <p:nvPr>
            <p:ph type="body" sz="quarter" idx="28"/>
          </p:nvPr>
        </p:nvSpPr>
        <p:spPr>
          <a:xfrm>
            <a:off x="2502470" y="2016000"/>
            <a:ext cx="361565" cy="328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점검</a:t>
            </a:r>
          </a:p>
        </p:txBody>
      </p:sp>
      <p:sp>
        <p:nvSpPr>
          <p:cNvPr id="27" name="칩 셀 글"/>
          <p:cNvSpPr>
            <a:spLocks noGrp="1"/>
          </p:cNvSpPr>
          <p:nvPr>
            <p:ph type="body" sz="quarter" idx="29"/>
          </p:nvPr>
        </p:nvSpPr>
        <p:spPr>
          <a:xfrm>
            <a:off x="2885948" y="2016000"/>
            <a:ext cx="727513" cy="328696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합동 현장점검</a:t>
            </a:r>
          </a:p>
        </p:txBody>
      </p:sp>
      <p:sp>
        <p:nvSpPr>
          <p:cNvPr id="28" name="칩"/>
          <p:cNvSpPr/>
          <p:nvPr/>
        </p:nvSpPr>
        <p:spPr>
          <a:xfrm>
            <a:off x="1369565" y="2410435"/>
            <a:ext cx="361565" cy="328696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9" name="칩"/>
          <p:cNvSpPr>
            <a:spLocks noGrp="1"/>
          </p:cNvSpPr>
          <p:nvPr>
            <p:ph type="body" sz="quarter" idx="30"/>
          </p:nvPr>
        </p:nvSpPr>
        <p:spPr>
          <a:xfrm>
            <a:off x="1369565" y="2410435"/>
            <a:ext cx="361565" cy="328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교육</a:t>
            </a:r>
          </a:p>
        </p:txBody>
      </p:sp>
      <p:sp>
        <p:nvSpPr>
          <p:cNvPr id="30" name="칩 셀 글"/>
          <p:cNvSpPr>
            <a:spLocks noGrp="1"/>
          </p:cNvSpPr>
          <p:nvPr>
            <p:ph type="body" sz="quarter" idx="31"/>
          </p:nvPr>
        </p:nvSpPr>
        <p:spPr>
          <a:xfrm>
            <a:off x="1753043" y="2410435"/>
            <a:ext cx="727513" cy="328696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직무별 안전교육</a:t>
            </a:r>
          </a:p>
        </p:txBody>
      </p:sp>
      <p:sp>
        <p:nvSpPr>
          <p:cNvPr id="31" name="칩"/>
          <p:cNvSpPr/>
          <p:nvPr/>
        </p:nvSpPr>
        <p:spPr>
          <a:xfrm>
            <a:off x="2502470" y="2410435"/>
            <a:ext cx="361565" cy="328696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2" name="칩"/>
          <p:cNvSpPr>
            <a:spLocks noGrp="1"/>
          </p:cNvSpPr>
          <p:nvPr>
            <p:ph type="body" sz="quarter" idx="32"/>
          </p:nvPr>
        </p:nvSpPr>
        <p:spPr>
          <a:xfrm>
            <a:off x="2502470" y="2410435"/>
            <a:ext cx="361565" cy="328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대응</a:t>
            </a:r>
          </a:p>
        </p:txBody>
      </p:sp>
      <p:sp>
        <p:nvSpPr>
          <p:cNvPr id="33" name="칩 셀 글"/>
          <p:cNvSpPr>
            <a:spLocks noGrp="1"/>
          </p:cNvSpPr>
          <p:nvPr>
            <p:ph type="body" sz="quarter" idx="33"/>
          </p:nvPr>
        </p:nvSpPr>
        <p:spPr>
          <a:xfrm>
            <a:off x="2885948" y="2410435"/>
            <a:ext cx="727513" cy="328696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초동 대응훈련</a:t>
            </a:r>
          </a:p>
        </p:txBody>
      </p:sp>
      <p:cxnSp>
        <p:nvCxnSpPr>
          <p:cNvPr id="34" name="Connector 21"/>
          <p:cNvCxnSpPr/>
          <p:nvPr/>
        </p:nvCxnSpPr>
        <p:spPr>
          <a:xfrm>
            <a:off x="3635374" y="2016000"/>
            <a:ext cx="0" cy="788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5" name="전략 제목"/>
          <p:cNvSpPr>
            <a:spLocks noGrp="1"/>
          </p:cNvSpPr>
          <p:nvPr>
            <p:ph type="body" sz="quarter" idx="34"/>
          </p:nvPr>
        </p:nvSpPr>
        <p:spPr>
          <a:xfrm>
            <a:off x="3657287" y="1994087"/>
            <a:ext cx="2412188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4대 추진 전략</a:t>
            </a:r>
          </a:p>
        </p:txBody>
      </p:sp>
      <p:sp>
        <p:nvSpPr>
          <p:cNvPr id="36" name="타일"/>
          <p:cNvSpPr/>
          <p:nvPr/>
        </p:nvSpPr>
        <p:spPr>
          <a:xfrm>
            <a:off x="3657287" y="2235130"/>
            <a:ext cx="1184181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37" name="타일"/>
          <p:cNvSpPr>
            <a:spLocks noGrp="1"/>
          </p:cNvSpPr>
          <p:nvPr>
            <p:ph type="body" sz="quarter" idx="35"/>
          </p:nvPr>
        </p:nvSpPr>
        <p:spPr>
          <a:xfrm>
            <a:off x="3657287" y="2235130"/>
            <a:ext cx="1184181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위험성 평가</a:t>
            </a:r>
          </a:p>
        </p:txBody>
      </p:sp>
      <p:sp>
        <p:nvSpPr>
          <p:cNvPr id="38" name="타일"/>
          <p:cNvSpPr/>
          <p:nvPr/>
        </p:nvSpPr>
        <p:spPr>
          <a:xfrm>
            <a:off x="4874337" y="2235130"/>
            <a:ext cx="1184181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39" name="타일"/>
          <p:cNvSpPr>
            <a:spLocks noGrp="1"/>
          </p:cNvSpPr>
          <p:nvPr>
            <p:ph type="body" sz="quarter" idx="36"/>
          </p:nvPr>
        </p:nvSpPr>
        <p:spPr>
          <a:xfrm>
            <a:off x="4874337" y="2235130"/>
            <a:ext cx="1184181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협력사 지원</a:t>
            </a:r>
          </a:p>
        </p:txBody>
      </p:sp>
      <p:sp>
        <p:nvSpPr>
          <p:cNvPr id="40" name="타일"/>
          <p:cNvSpPr/>
          <p:nvPr/>
        </p:nvSpPr>
        <p:spPr>
          <a:xfrm>
            <a:off x="3657287" y="2520000"/>
            <a:ext cx="1184181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41" name="타일"/>
          <p:cNvSpPr>
            <a:spLocks noGrp="1"/>
          </p:cNvSpPr>
          <p:nvPr>
            <p:ph type="body" sz="quarter" idx="37"/>
          </p:nvPr>
        </p:nvSpPr>
        <p:spPr>
          <a:xfrm>
            <a:off x="3657287" y="2520000"/>
            <a:ext cx="1184181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스마트 감시</a:t>
            </a:r>
          </a:p>
        </p:txBody>
      </p:sp>
      <p:sp>
        <p:nvSpPr>
          <p:cNvPr id="42" name="타일"/>
          <p:cNvSpPr/>
          <p:nvPr/>
        </p:nvSpPr>
        <p:spPr>
          <a:xfrm>
            <a:off x="4874337" y="2520000"/>
            <a:ext cx="1184181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43" name="타일"/>
          <p:cNvSpPr>
            <a:spLocks noGrp="1"/>
          </p:cNvSpPr>
          <p:nvPr>
            <p:ph type="body" sz="quarter" idx="38"/>
          </p:nvPr>
        </p:nvSpPr>
        <p:spPr>
          <a:xfrm>
            <a:off x="4874337" y="2520000"/>
            <a:ext cx="1184181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비상 대응</a:t>
            </a:r>
          </a:p>
        </p:txBody>
      </p:sp>
      <p:sp>
        <p:nvSpPr>
          <p:cNvPr id="44" name="요약 칸"/>
          <p:cNvSpPr/>
          <p:nvPr/>
        </p:nvSpPr>
        <p:spPr>
          <a:xfrm>
            <a:off x="6113301" y="2016000"/>
            <a:ext cx="876960" cy="78887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1600" rIns="21600" tIns="7200" bIns="7200" wrap="square"/>
          <a:lstStyle/>
          <a:p/>
        </p:txBody>
      </p:sp>
      <p:sp>
        <p:nvSpPr>
          <p:cNvPr id="45" name="요약 칸"/>
          <p:cNvSpPr>
            <a:spLocks noGrp="1"/>
          </p:cNvSpPr>
          <p:nvPr>
            <p:ph type="body" sz="quarter" idx="39"/>
          </p:nvPr>
        </p:nvSpPr>
        <p:spPr>
          <a:xfrm>
            <a:off x="6113301" y="2016000"/>
            <a:ext cx="876960" cy="788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무사고 사업장 실현</a:t>
            </a:r>
          </a:p>
        </p:txBody>
      </p:sp>
      <p:sp>
        <p:nvSpPr>
          <p:cNvPr id="46" name="레일"/>
          <p:cNvSpPr/>
          <p:nvPr/>
        </p:nvSpPr>
        <p:spPr>
          <a:xfrm>
            <a:off x="734087" y="2947304"/>
            <a:ext cx="580696" cy="230087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7" name="레일"/>
          <p:cNvSpPr>
            <a:spLocks noGrp="1"/>
          </p:cNvSpPr>
          <p:nvPr>
            <p:ph type="body" sz="quarter" idx="40"/>
          </p:nvPr>
        </p:nvSpPr>
        <p:spPr>
          <a:xfrm>
            <a:off x="734087" y="2947304"/>
            <a:ext cx="580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이행체계</a:t>
            </a:r>
          </a:p>
        </p:txBody>
      </p:sp>
      <p:sp>
        <p:nvSpPr>
          <p:cNvPr id="48" name="단계"/>
          <p:cNvSpPr/>
          <p:nvPr/>
        </p:nvSpPr>
        <p:spPr>
          <a:xfrm>
            <a:off x="1358609" y="2936348"/>
            <a:ext cx="1416130" cy="24104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9" name="단계"/>
          <p:cNvSpPr>
            <a:spLocks noGrp="1"/>
          </p:cNvSpPr>
          <p:nvPr>
            <p:ph type="body" sz="quarter" idx="41"/>
          </p:nvPr>
        </p:nvSpPr>
        <p:spPr>
          <a:xfrm>
            <a:off x="1358609" y="2936348"/>
            <a:ext cx="141613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진단</a:t>
            </a:r>
          </a:p>
        </p:txBody>
      </p:sp>
      <p:sp>
        <p:nvSpPr>
          <p:cNvPr id="50" name="단계"/>
          <p:cNvSpPr/>
          <p:nvPr/>
        </p:nvSpPr>
        <p:spPr>
          <a:xfrm>
            <a:off x="2774739" y="2936348"/>
            <a:ext cx="1416130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1" name="단계"/>
          <p:cNvSpPr>
            <a:spLocks noGrp="1"/>
          </p:cNvSpPr>
          <p:nvPr>
            <p:ph type="body" sz="quarter" idx="42"/>
          </p:nvPr>
        </p:nvSpPr>
        <p:spPr>
          <a:xfrm>
            <a:off x="2774739" y="2936348"/>
            <a:ext cx="141613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설계</a:t>
            </a:r>
          </a:p>
        </p:txBody>
      </p:sp>
      <p:sp>
        <p:nvSpPr>
          <p:cNvPr id="52" name="단계"/>
          <p:cNvSpPr/>
          <p:nvPr/>
        </p:nvSpPr>
        <p:spPr>
          <a:xfrm>
            <a:off x="4190870" y="2936348"/>
            <a:ext cx="1416130" cy="241043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3" name="단계"/>
          <p:cNvSpPr>
            <a:spLocks noGrp="1"/>
          </p:cNvSpPr>
          <p:nvPr>
            <p:ph type="body" sz="quarter" idx="43"/>
          </p:nvPr>
        </p:nvSpPr>
        <p:spPr>
          <a:xfrm>
            <a:off x="4190870" y="2936348"/>
            <a:ext cx="141613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이행</a:t>
            </a:r>
          </a:p>
        </p:txBody>
      </p:sp>
      <p:sp>
        <p:nvSpPr>
          <p:cNvPr id="54" name="단계"/>
          <p:cNvSpPr/>
          <p:nvPr/>
        </p:nvSpPr>
        <p:spPr>
          <a:xfrm>
            <a:off x="5607000" y="2936348"/>
            <a:ext cx="1416130" cy="24104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5" name="단계"/>
          <p:cNvSpPr>
            <a:spLocks noGrp="1"/>
          </p:cNvSpPr>
          <p:nvPr>
            <p:ph type="body" sz="quarter" idx="44"/>
          </p:nvPr>
        </p:nvSpPr>
        <p:spPr>
          <a:xfrm>
            <a:off x="5607000" y="2936348"/>
            <a:ext cx="141613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환류</a:t>
            </a:r>
          </a:p>
        </p:txBody>
      </p:sp>
      <p:sp>
        <p:nvSpPr>
          <p:cNvPr id="56" name="단계 삼각형"/>
          <p:cNvSpPr/>
          <p:nvPr/>
        </p:nvSpPr>
        <p:spPr>
          <a:xfrm>
            <a:off x="2774739" y="2936347"/>
            <a:ext cx="109565" cy="241044"/>
          </a:xfrm>
          <a:custGeom>
            <a:avLst/>
            <a:gdLst/>
            <a:ahLst/>
            <a:cxnLst/>
            <a:rect l="l" t="t" r="r" b="b"/>
            <a:pathLst>
              <a:path w="109565" h="241044">
                <a:moveTo>
                  <a:pt x="0" y="0"/>
                </a:moveTo>
                <a:lnTo>
                  <a:pt x="109565" y="120522"/>
                </a:lnTo>
                <a:lnTo>
                  <a:pt x="0" y="241044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단계 삼각형"/>
          <p:cNvSpPr/>
          <p:nvPr/>
        </p:nvSpPr>
        <p:spPr>
          <a:xfrm>
            <a:off x="4190869" y="2936347"/>
            <a:ext cx="109565" cy="241044"/>
          </a:xfrm>
          <a:custGeom>
            <a:avLst/>
            <a:gdLst/>
            <a:ahLst/>
            <a:cxnLst/>
            <a:rect l="l" t="t" r="r" b="b"/>
            <a:pathLst>
              <a:path w="109565" h="241044">
                <a:moveTo>
                  <a:pt x="0" y="0"/>
                </a:moveTo>
                <a:lnTo>
                  <a:pt x="109565" y="120522"/>
                </a:lnTo>
                <a:lnTo>
                  <a:pt x="0" y="241044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단계 삼각형"/>
          <p:cNvSpPr/>
          <p:nvPr/>
        </p:nvSpPr>
        <p:spPr>
          <a:xfrm>
            <a:off x="5607000" y="2936347"/>
            <a:ext cx="109565" cy="241044"/>
          </a:xfrm>
          <a:custGeom>
            <a:avLst/>
            <a:gdLst/>
            <a:ahLst/>
            <a:cxnLst/>
            <a:rect l="l" t="t" r="r" b="b"/>
            <a:pathLst>
              <a:path w="109565" h="241044">
                <a:moveTo>
                  <a:pt x="0" y="0"/>
                </a:moveTo>
                <a:lnTo>
                  <a:pt x="109565" y="120522"/>
                </a:lnTo>
                <a:lnTo>
                  <a:pt x="0" y="241044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본문 틀"/>
          <p:cNvSpPr/>
          <p:nvPr/>
        </p:nvSpPr>
        <p:spPr>
          <a:xfrm>
            <a:off x="1358609" y="3188348"/>
            <a:ext cx="5664522" cy="419165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칸 본문"/>
          <p:cNvSpPr>
            <a:spLocks noGrp="1"/>
          </p:cNvSpPr>
          <p:nvPr>
            <p:ph type="body" sz="quarter" idx="45"/>
          </p:nvPr>
        </p:nvSpPr>
        <p:spPr>
          <a:xfrm>
            <a:off x="1369565" y="3188348"/>
            <a:ext cx="1394217" cy="41916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 위험요인 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이해관계자 의견 수렴</a:t>
            </a:r>
          </a:p>
        </p:txBody>
      </p:sp>
      <p:sp>
        <p:nvSpPr>
          <p:cNvPr id="61" name="칸 본문"/>
          <p:cNvSpPr>
            <a:spLocks noGrp="1"/>
          </p:cNvSpPr>
          <p:nvPr>
            <p:ph type="body" sz="quarter" idx="46"/>
          </p:nvPr>
        </p:nvSpPr>
        <p:spPr>
          <a:xfrm>
            <a:off x="2785696" y="3188348"/>
            <a:ext cx="1394217" cy="41916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과제 선정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책임 부서 지정</a:t>
            </a:r>
          </a:p>
        </p:txBody>
      </p:sp>
      <p:cxnSp>
        <p:nvCxnSpPr>
          <p:cNvPr id="62" name="Connector 39"/>
          <p:cNvCxnSpPr/>
          <p:nvPr/>
        </p:nvCxnSpPr>
        <p:spPr>
          <a:xfrm>
            <a:off x="2774739" y="3221217"/>
            <a:ext cx="0" cy="35342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3" name="칸 본문"/>
          <p:cNvSpPr>
            <a:spLocks noGrp="1"/>
          </p:cNvSpPr>
          <p:nvPr>
            <p:ph type="body" sz="quarter" idx="47"/>
          </p:nvPr>
        </p:nvSpPr>
        <p:spPr>
          <a:xfrm>
            <a:off x="4201826" y="3188348"/>
            <a:ext cx="1394217" cy="41916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과제별 추진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월간 점검회의</a:t>
            </a:r>
          </a:p>
        </p:txBody>
      </p:sp>
      <p:cxnSp>
        <p:nvCxnSpPr>
          <p:cNvPr id="64" name="Connector 41"/>
          <p:cNvCxnSpPr/>
          <p:nvPr/>
        </p:nvCxnSpPr>
        <p:spPr>
          <a:xfrm>
            <a:off x="4190870" y="3221217"/>
            <a:ext cx="0" cy="35342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5" name="칸 본문"/>
          <p:cNvSpPr>
            <a:spLocks noGrp="1"/>
          </p:cNvSpPr>
          <p:nvPr>
            <p:ph type="body" sz="quarter" idx="48"/>
          </p:nvPr>
        </p:nvSpPr>
        <p:spPr>
          <a:xfrm>
            <a:off x="5617957" y="3188348"/>
            <a:ext cx="1394217" cy="41916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 평가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다음 연도 반영</a:t>
            </a:r>
          </a:p>
        </p:txBody>
      </p:sp>
      <p:cxnSp>
        <p:nvCxnSpPr>
          <p:cNvPr id="66" name="Connector 43"/>
          <p:cNvCxnSpPr/>
          <p:nvPr/>
        </p:nvCxnSpPr>
        <p:spPr>
          <a:xfrm>
            <a:off x="5607000" y="3221217"/>
            <a:ext cx="0" cy="35342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7" name="이행 요약"/>
          <p:cNvSpPr/>
          <p:nvPr/>
        </p:nvSpPr>
        <p:spPr>
          <a:xfrm>
            <a:off x="1358609" y="3629426"/>
            <a:ext cx="56645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68" name="이행 요약"/>
          <p:cNvSpPr>
            <a:spLocks noGrp="1"/>
          </p:cNvSpPr>
          <p:nvPr>
            <p:ph type="body" sz="quarter" idx="49"/>
          </p:nvPr>
        </p:nvSpPr>
        <p:spPr>
          <a:xfrm>
            <a:off x="1358609" y="3629426"/>
            <a:ext cx="56645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연 1회 추진 성과를 평가해 계획에 다시 반영한다</a:t>
            </a:r>
          </a:p>
        </p:txBody>
      </p:sp>
      <p:sp>
        <p:nvSpPr>
          <p:cNvPr id="69" name="주요성과 박스"/>
          <p:cNvSpPr/>
          <p:nvPr/>
        </p:nvSpPr>
        <p:spPr>
          <a:xfrm>
            <a:off x="723130" y="3936209"/>
            <a:ext cx="6300000" cy="524348"/>
          </a:xfrm>
          <a:prstGeom prst="rect">
            <a:avLst/>
          </a:prstGeom>
          <a:solidFill>
            <a:srgbClr val="EFF9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주요성과 라벨"/>
          <p:cNvSpPr/>
          <p:nvPr/>
        </p:nvSpPr>
        <p:spPr>
          <a:xfrm>
            <a:off x="756000" y="3969078"/>
            <a:ext cx="657391" cy="458609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71" name="주요성과 라벨"/>
          <p:cNvSpPr>
            <a:spLocks noGrp="1"/>
          </p:cNvSpPr>
          <p:nvPr>
            <p:ph type="body" sz="quarter" idx="50"/>
          </p:nvPr>
        </p:nvSpPr>
        <p:spPr>
          <a:xfrm>
            <a:off x="756000" y="3969078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주요성과</a:t>
            </a:r>
          </a:p>
        </p:txBody>
      </p:sp>
      <p:sp>
        <p:nvSpPr>
          <p:cNvPr id="72" name="주요성과 문구"/>
          <p:cNvSpPr>
            <a:spLocks noGrp="1"/>
          </p:cNvSpPr>
          <p:nvPr>
            <p:ph type="body" sz="quarter" idx="51"/>
          </p:nvPr>
        </p:nvSpPr>
        <p:spPr>
          <a:xfrm>
            <a:off x="1501043" y="3952643"/>
            <a:ext cx="5456348" cy="491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점검 이행률 100% 달성(목표 대비 +5%p)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협력사 합동점검 48건 시행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19 서사 · 성공요인 → 성과지표 → KPI → 연도별 로드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핵심 성공요인별 성과지표 이행</a:t>
            </a:r>
          </a:p>
        </p:txBody>
      </p:sp>
      <p:sp>
        <p:nvSpPr>
          <p:cNvPr id="15" name="번호 띠 칩"/>
          <p:cNvSpPr/>
          <p:nvPr/>
        </p:nvSpPr>
        <p:spPr>
          <a:xfrm>
            <a:off x="6265613" y="832696"/>
            <a:ext cx="505517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번호 띠 칩"/>
          <p:cNvSpPr>
            <a:spLocks noGrp="1"/>
          </p:cNvSpPr>
          <p:nvPr>
            <p:ph type="body" sz="quarter" idx="22"/>
          </p:nvPr>
        </p:nvSpPr>
        <p:spPr>
          <a:xfrm>
            <a:off x="6265613" y="832696"/>
            <a:ext cx="50551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17" name="머리칸"/>
          <p:cNvSpPr/>
          <p:nvPr/>
        </p:nvSpPr>
        <p:spPr>
          <a:xfrm>
            <a:off x="536870" y="1150435"/>
            <a:ext cx="602609" cy="20817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8" name="머리칸"/>
          <p:cNvSpPr>
            <a:spLocks noGrp="1"/>
          </p:cNvSpPr>
          <p:nvPr>
            <p:ph type="body" sz="quarter" idx="23"/>
          </p:nvPr>
        </p:nvSpPr>
        <p:spPr>
          <a:xfrm>
            <a:off x="536870" y="1150435"/>
            <a:ext cx="602609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CSF</a:t>
            </a:r>
          </a:p>
        </p:txBody>
      </p:sp>
      <p:sp>
        <p:nvSpPr>
          <p:cNvPr id="19" name="머리칸"/>
          <p:cNvSpPr/>
          <p:nvPr/>
        </p:nvSpPr>
        <p:spPr>
          <a:xfrm>
            <a:off x="1172348" y="1150435"/>
            <a:ext cx="1847598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1172348" y="1150435"/>
            <a:ext cx="1847598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성과지표(PI)</a:t>
            </a:r>
          </a:p>
        </p:txBody>
      </p:sp>
      <p:sp>
        <p:nvSpPr>
          <p:cNvPr id="21" name="머리칸"/>
          <p:cNvSpPr/>
          <p:nvPr/>
        </p:nvSpPr>
        <p:spPr>
          <a:xfrm>
            <a:off x="3052816" y="1150435"/>
            <a:ext cx="1735623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2" name="머리칸"/>
          <p:cNvSpPr>
            <a:spLocks noGrp="1"/>
          </p:cNvSpPr>
          <p:nvPr>
            <p:ph type="body" sz="quarter" idx="25"/>
          </p:nvPr>
        </p:nvSpPr>
        <p:spPr>
          <a:xfrm>
            <a:off x="3052816" y="1150435"/>
            <a:ext cx="1735623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KPI</a:t>
            </a:r>
          </a:p>
        </p:txBody>
      </p:sp>
      <p:sp>
        <p:nvSpPr>
          <p:cNvPr id="23" name="머리칸"/>
          <p:cNvSpPr/>
          <p:nvPr/>
        </p:nvSpPr>
        <p:spPr>
          <a:xfrm>
            <a:off x="4821308" y="1150435"/>
            <a:ext cx="2015562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>
          <a:xfrm>
            <a:off x="4821308" y="1150435"/>
            <a:ext cx="2015562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로드맵</a:t>
            </a:r>
          </a:p>
        </p:txBody>
      </p:sp>
      <p:sp>
        <p:nvSpPr>
          <p:cNvPr id="25" name="레일"/>
          <p:cNvSpPr/>
          <p:nvPr/>
        </p:nvSpPr>
        <p:spPr>
          <a:xfrm>
            <a:off x="536870" y="1391478"/>
            <a:ext cx="602609" cy="61356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6" name="레일"/>
          <p:cNvSpPr>
            <a:spLocks noGrp="1"/>
          </p:cNvSpPr>
          <p:nvPr>
            <p:ph type="body" sz="quarter" idx="27"/>
          </p:nvPr>
        </p:nvSpPr>
        <p:spPr>
          <a:xfrm>
            <a:off x="536870" y="1391478"/>
            <a:ext cx="602609" cy="613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</a:t>
            </a:r>
          </a:p>
        </p:txBody>
      </p:sp>
      <p:sp>
        <p:nvSpPr>
          <p:cNvPr id="27" name="PI 글"/>
          <p:cNvSpPr>
            <a:spLocks noGrp="1"/>
          </p:cNvSpPr>
          <p:nvPr>
            <p:ph type="body" sz="quarter" idx="28"/>
          </p:nvPr>
        </p:nvSpPr>
        <p:spPr>
          <a:xfrm>
            <a:off x="1172348" y="1391478"/>
            <a:ext cx="1847598" cy="61356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점검 이행률 100% 달성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위험요인 조치 완료율 제고</a:t>
            </a:r>
          </a:p>
        </p:txBody>
      </p:sp>
      <p:sp>
        <p:nvSpPr>
          <p:cNvPr id="28" name="KPI 칸"/>
          <p:cNvSpPr/>
          <p:nvPr/>
        </p:nvSpPr>
        <p:spPr>
          <a:xfrm>
            <a:off x="3052816" y="1391478"/>
            <a:ext cx="1735623" cy="613565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태그"/>
          <p:cNvSpPr/>
          <p:nvPr/>
        </p:nvSpPr>
        <p:spPr>
          <a:xfrm>
            <a:off x="3096642" y="1446261"/>
            <a:ext cx="329103" cy="153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0" name="태그"/>
          <p:cNvSpPr>
            <a:spLocks noGrp="1"/>
          </p:cNvSpPr>
          <p:nvPr>
            <p:ph type="body" sz="quarter" idx="29"/>
          </p:nvPr>
        </p:nvSpPr>
        <p:spPr>
          <a:xfrm>
            <a:off x="3096642" y="1446261"/>
            <a:ext cx="329103" cy="153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유지</a:t>
            </a:r>
          </a:p>
        </p:txBody>
      </p:sp>
      <p:sp>
        <p:nvSpPr>
          <p:cNvPr id="31" name="KPI 글"/>
          <p:cNvSpPr>
            <a:spLocks noGrp="1"/>
          </p:cNvSpPr>
          <p:nvPr>
            <p:ph type="body" sz="quarter" idx="30"/>
          </p:nvPr>
        </p:nvSpPr>
        <p:spPr>
          <a:xfrm>
            <a:off x="3458614" y="1424348"/>
            <a:ext cx="1296955" cy="339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점검 이행률</a:t>
            </a:r>
          </a:p>
        </p:txBody>
      </p:sp>
      <p:sp>
        <p:nvSpPr>
          <p:cNvPr id="32" name="KPI 결과"/>
          <p:cNvSpPr/>
          <p:nvPr/>
        </p:nvSpPr>
        <p:spPr>
          <a:xfrm>
            <a:off x="3063772" y="1785913"/>
            <a:ext cx="1713710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33" name="KPI 결과"/>
          <p:cNvSpPr>
            <a:spLocks noGrp="1"/>
          </p:cNvSpPr>
          <p:nvPr>
            <p:ph type="body" sz="quarter" idx="31"/>
          </p:nvPr>
        </p:nvSpPr>
        <p:spPr>
          <a:xfrm>
            <a:off x="3063772" y="1785913"/>
            <a:ext cx="1713710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100% (목표 95%)</a:t>
            </a:r>
          </a:p>
        </p:txBody>
      </p:sp>
      <p:sp>
        <p:nvSpPr>
          <p:cNvPr id="34" name="로드맵 칸"/>
          <p:cNvSpPr/>
          <p:nvPr/>
        </p:nvSpPr>
        <p:spPr>
          <a:xfrm>
            <a:off x="4821308" y="1391478"/>
            <a:ext cx="2015562" cy="613565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단위"/>
          <p:cNvSpPr>
            <a:spLocks noGrp="1"/>
          </p:cNvSpPr>
          <p:nvPr>
            <p:ph type="body" sz="quarter" idx="32"/>
          </p:nvPr>
        </p:nvSpPr>
        <p:spPr>
          <a:xfrm>
            <a:off x="4843221" y="1402435"/>
            <a:ext cx="799826" cy="131478"/>
          </a:xfrm>
          <a:prstGeom prst="rect">
            <a:avLst/>
          </a:prstGeom>
          <a:noFill/>
          <a:ln>
            <a:noFill/>
          </a:ln>
        </p:spPr>
        <p:txBody>
          <a:bodyPr wrap="square" lIns="1440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단위 : %</a:t>
            </a:r>
          </a:p>
        </p:txBody>
      </p:sp>
      <p:cxnSp>
        <p:nvCxnSpPr>
          <p:cNvPr id="36" name="Connector 24"/>
          <p:cNvCxnSpPr/>
          <p:nvPr/>
        </p:nvCxnSpPr>
        <p:spPr>
          <a:xfrm flipV="1">
            <a:off x="4898003" y="1706478"/>
            <a:ext cx="620724" cy="57522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cxnSp>
        <p:nvCxnSpPr>
          <p:cNvPr id="37" name="Connector 25"/>
          <p:cNvCxnSpPr/>
          <p:nvPr/>
        </p:nvCxnSpPr>
        <p:spPr>
          <a:xfrm flipV="1">
            <a:off x="5518727" y="1668130"/>
            <a:ext cx="620723" cy="38348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cxnSp>
        <p:nvCxnSpPr>
          <p:cNvPr id="38" name="Connector 26"/>
          <p:cNvCxnSpPr/>
          <p:nvPr/>
        </p:nvCxnSpPr>
        <p:spPr>
          <a:xfrm flipV="1">
            <a:off x="6139450" y="1610609"/>
            <a:ext cx="620724" cy="57521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sp>
        <p:nvSpPr>
          <p:cNvPr id="39" name="점"/>
          <p:cNvSpPr/>
          <p:nvPr/>
        </p:nvSpPr>
        <p:spPr>
          <a:xfrm>
            <a:off x="4876090" y="1742087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값"/>
          <p:cNvSpPr>
            <a:spLocks noGrp="1"/>
          </p:cNvSpPr>
          <p:nvPr>
            <p:ph type="body" sz="quarter" idx="33"/>
          </p:nvPr>
        </p:nvSpPr>
        <p:spPr>
          <a:xfrm>
            <a:off x="4733656" y="1566783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92</a:t>
            </a:r>
          </a:p>
        </p:txBody>
      </p:sp>
      <p:sp>
        <p:nvSpPr>
          <p:cNvPr id="41" name="연도"/>
          <p:cNvSpPr>
            <a:spLocks noGrp="1"/>
          </p:cNvSpPr>
          <p:nvPr>
            <p:ph type="body" sz="quarter" idx="34"/>
          </p:nvPr>
        </p:nvSpPr>
        <p:spPr>
          <a:xfrm>
            <a:off x="4755569" y="1807826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22</a:t>
            </a:r>
          </a:p>
        </p:txBody>
      </p:sp>
      <p:sp>
        <p:nvSpPr>
          <p:cNvPr id="42" name="점"/>
          <p:cNvSpPr/>
          <p:nvPr/>
        </p:nvSpPr>
        <p:spPr>
          <a:xfrm>
            <a:off x="5496814" y="1684565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값"/>
          <p:cNvSpPr>
            <a:spLocks noGrp="1"/>
          </p:cNvSpPr>
          <p:nvPr>
            <p:ph type="body" sz="quarter" idx="35"/>
          </p:nvPr>
        </p:nvSpPr>
        <p:spPr>
          <a:xfrm>
            <a:off x="5354379" y="1509261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95</a:t>
            </a:r>
          </a:p>
        </p:txBody>
      </p:sp>
      <p:sp>
        <p:nvSpPr>
          <p:cNvPr id="44" name="연도"/>
          <p:cNvSpPr>
            <a:spLocks noGrp="1"/>
          </p:cNvSpPr>
          <p:nvPr>
            <p:ph type="body" sz="quarter" idx="36"/>
          </p:nvPr>
        </p:nvSpPr>
        <p:spPr>
          <a:xfrm>
            <a:off x="5376292" y="1807826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23</a:t>
            </a:r>
          </a:p>
        </p:txBody>
      </p:sp>
      <p:sp>
        <p:nvSpPr>
          <p:cNvPr id="45" name="점"/>
          <p:cNvSpPr/>
          <p:nvPr/>
        </p:nvSpPr>
        <p:spPr>
          <a:xfrm>
            <a:off x="6117537" y="1646217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값"/>
          <p:cNvSpPr>
            <a:spLocks noGrp="1"/>
          </p:cNvSpPr>
          <p:nvPr>
            <p:ph type="body" sz="quarter" idx="37"/>
          </p:nvPr>
        </p:nvSpPr>
        <p:spPr>
          <a:xfrm>
            <a:off x="5975103" y="1470913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97</a:t>
            </a:r>
          </a:p>
        </p:txBody>
      </p:sp>
      <p:sp>
        <p:nvSpPr>
          <p:cNvPr id="47" name="연도"/>
          <p:cNvSpPr>
            <a:spLocks noGrp="1"/>
          </p:cNvSpPr>
          <p:nvPr>
            <p:ph type="body" sz="quarter" idx="38"/>
          </p:nvPr>
        </p:nvSpPr>
        <p:spPr>
          <a:xfrm>
            <a:off x="5997016" y="1807826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24</a:t>
            </a:r>
          </a:p>
        </p:txBody>
      </p:sp>
      <p:sp>
        <p:nvSpPr>
          <p:cNvPr id="48" name="점"/>
          <p:cNvSpPr/>
          <p:nvPr/>
        </p:nvSpPr>
        <p:spPr>
          <a:xfrm>
            <a:off x="6738261" y="1588696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값"/>
          <p:cNvSpPr>
            <a:spLocks noGrp="1"/>
          </p:cNvSpPr>
          <p:nvPr>
            <p:ph type="body" sz="quarter" idx="39"/>
          </p:nvPr>
        </p:nvSpPr>
        <p:spPr>
          <a:xfrm>
            <a:off x="6595826" y="1413391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100</a:t>
            </a:r>
          </a:p>
        </p:txBody>
      </p:sp>
      <p:sp>
        <p:nvSpPr>
          <p:cNvPr id="50" name="연도"/>
          <p:cNvSpPr>
            <a:spLocks noGrp="1"/>
          </p:cNvSpPr>
          <p:nvPr>
            <p:ph type="body" sz="quarter" idx="40"/>
          </p:nvPr>
        </p:nvSpPr>
        <p:spPr>
          <a:xfrm>
            <a:off x="6617739" y="1807826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25</a:t>
            </a:r>
          </a:p>
        </p:txBody>
      </p:sp>
      <p:cxnSp>
        <p:nvCxnSpPr>
          <p:cNvPr id="51" name="Connector 39"/>
          <p:cNvCxnSpPr/>
          <p:nvPr/>
        </p:nvCxnSpPr>
        <p:spPr>
          <a:xfrm>
            <a:off x="4854177" y="1796870"/>
            <a:ext cx="1949823" cy="0"/>
          </a:xfrm>
          <a:prstGeom prst="line">
            <a:avLst/>
          </a:prstGeom>
          <a:ln w="12700">
            <a:solidFill>
              <a:srgbClr val="BDE0FF"/>
            </a:solidFill>
          </a:ln>
        </p:spPr>
      </p:cxnSp>
      <p:sp>
        <p:nvSpPr>
          <p:cNvPr id="52" name="레일"/>
          <p:cNvSpPr/>
          <p:nvPr/>
        </p:nvSpPr>
        <p:spPr>
          <a:xfrm>
            <a:off x="536870" y="2037913"/>
            <a:ext cx="602609" cy="61356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3" name="레일"/>
          <p:cNvSpPr>
            <a:spLocks noGrp="1"/>
          </p:cNvSpPr>
          <p:nvPr>
            <p:ph type="body" sz="quarter" idx="41"/>
          </p:nvPr>
        </p:nvSpPr>
        <p:spPr>
          <a:xfrm>
            <a:off x="536870" y="2037913"/>
            <a:ext cx="602609" cy="613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협력사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관리</a:t>
            </a:r>
          </a:p>
        </p:txBody>
      </p:sp>
      <p:sp>
        <p:nvSpPr>
          <p:cNvPr id="54" name="PI 글"/>
          <p:cNvSpPr>
            <a:spLocks noGrp="1"/>
          </p:cNvSpPr>
          <p:nvPr>
            <p:ph type="body" sz="quarter" idx="42"/>
          </p:nvPr>
        </p:nvSpPr>
        <p:spPr>
          <a:xfrm>
            <a:off x="1172348" y="2037913"/>
            <a:ext cx="1847598" cy="61356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협력사 합동점검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 인센티브 도입</a:t>
            </a:r>
          </a:p>
        </p:txBody>
      </p:sp>
      <p:sp>
        <p:nvSpPr>
          <p:cNvPr id="55" name="KPI 칸"/>
          <p:cNvSpPr/>
          <p:nvPr/>
        </p:nvSpPr>
        <p:spPr>
          <a:xfrm>
            <a:off x="3052816" y="2037913"/>
            <a:ext cx="1735623" cy="613565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태그"/>
          <p:cNvSpPr/>
          <p:nvPr/>
        </p:nvSpPr>
        <p:spPr>
          <a:xfrm>
            <a:off x="3096642" y="2092696"/>
            <a:ext cx="329103" cy="153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7" name="태그"/>
          <p:cNvSpPr>
            <a:spLocks noGrp="1"/>
          </p:cNvSpPr>
          <p:nvPr>
            <p:ph type="body" sz="quarter" idx="43"/>
          </p:nvPr>
        </p:nvSpPr>
        <p:spPr>
          <a:xfrm>
            <a:off x="3096642" y="2092696"/>
            <a:ext cx="329103" cy="153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58" name="KPI 글"/>
          <p:cNvSpPr>
            <a:spLocks noGrp="1"/>
          </p:cNvSpPr>
          <p:nvPr>
            <p:ph type="body" sz="quarter" idx="44"/>
          </p:nvPr>
        </p:nvSpPr>
        <p:spPr>
          <a:xfrm>
            <a:off x="3458614" y="2070783"/>
            <a:ext cx="1296955" cy="339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합동점검 건수</a:t>
            </a:r>
          </a:p>
        </p:txBody>
      </p:sp>
      <p:sp>
        <p:nvSpPr>
          <p:cNvPr id="59" name="KPI 결과"/>
          <p:cNvSpPr/>
          <p:nvPr/>
        </p:nvSpPr>
        <p:spPr>
          <a:xfrm>
            <a:off x="3063772" y="2432348"/>
            <a:ext cx="1713710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0" name="KPI 결과"/>
          <p:cNvSpPr>
            <a:spLocks noGrp="1"/>
          </p:cNvSpPr>
          <p:nvPr>
            <p:ph type="body" sz="quarter" idx="45"/>
          </p:nvPr>
        </p:nvSpPr>
        <p:spPr>
          <a:xfrm>
            <a:off x="3063772" y="2432348"/>
            <a:ext cx="1713710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48건 (목표 40건)</a:t>
            </a:r>
          </a:p>
        </p:txBody>
      </p:sp>
      <p:sp>
        <p:nvSpPr>
          <p:cNvPr id="61" name="로드맵 칸"/>
          <p:cNvSpPr/>
          <p:nvPr/>
        </p:nvSpPr>
        <p:spPr>
          <a:xfrm>
            <a:off x="4821308" y="2037913"/>
            <a:ext cx="2015562" cy="613565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단위"/>
          <p:cNvSpPr>
            <a:spLocks noGrp="1"/>
          </p:cNvSpPr>
          <p:nvPr>
            <p:ph type="body" sz="quarter" idx="46"/>
          </p:nvPr>
        </p:nvSpPr>
        <p:spPr>
          <a:xfrm>
            <a:off x="4843221" y="2048870"/>
            <a:ext cx="799826" cy="131478"/>
          </a:xfrm>
          <a:prstGeom prst="rect">
            <a:avLst/>
          </a:prstGeom>
          <a:noFill/>
          <a:ln>
            <a:noFill/>
          </a:ln>
        </p:spPr>
        <p:txBody>
          <a:bodyPr wrap="square" lIns="1440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단위 : 건</a:t>
            </a:r>
          </a:p>
        </p:txBody>
      </p:sp>
      <p:cxnSp>
        <p:nvCxnSpPr>
          <p:cNvPr id="63" name="Connector 48"/>
          <p:cNvCxnSpPr/>
          <p:nvPr/>
        </p:nvCxnSpPr>
        <p:spPr>
          <a:xfrm flipV="1">
            <a:off x="4898003" y="2366609"/>
            <a:ext cx="620724" cy="43826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cxnSp>
        <p:nvCxnSpPr>
          <p:cNvPr id="64" name="Connector 49"/>
          <p:cNvCxnSpPr/>
          <p:nvPr/>
        </p:nvCxnSpPr>
        <p:spPr>
          <a:xfrm flipV="1">
            <a:off x="5518727" y="2322783"/>
            <a:ext cx="620723" cy="43826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cxnSp>
        <p:nvCxnSpPr>
          <p:cNvPr id="65" name="Connector 50"/>
          <p:cNvCxnSpPr/>
          <p:nvPr/>
        </p:nvCxnSpPr>
        <p:spPr>
          <a:xfrm flipV="1">
            <a:off x="6139450" y="2257043"/>
            <a:ext cx="620724" cy="65740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sp>
        <p:nvSpPr>
          <p:cNvPr id="66" name="점"/>
          <p:cNvSpPr/>
          <p:nvPr/>
        </p:nvSpPr>
        <p:spPr>
          <a:xfrm>
            <a:off x="4876090" y="2388522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값"/>
          <p:cNvSpPr>
            <a:spLocks noGrp="1"/>
          </p:cNvSpPr>
          <p:nvPr>
            <p:ph type="body" sz="quarter" idx="47"/>
          </p:nvPr>
        </p:nvSpPr>
        <p:spPr>
          <a:xfrm>
            <a:off x="4733656" y="2213217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20</a:t>
            </a:r>
          </a:p>
        </p:txBody>
      </p:sp>
      <p:sp>
        <p:nvSpPr>
          <p:cNvPr id="68" name="연도"/>
          <p:cNvSpPr>
            <a:spLocks noGrp="1"/>
          </p:cNvSpPr>
          <p:nvPr>
            <p:ph type="body" sz="quarter" idx="48"/>
          </p:nvPr>
        </p:nvSpPr>
        <p:spPr>
          <a:xfrm>
            <a:off x="4755569" y="2454261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22</a:t>
            </a:r>
          </a:p>
        </p:txBody>
      </p:sp>
      <p:sp>
        <p:nvSpPr>
          <p:cNvPr id="69" name="점"/>
          <p:cNvSpPr/>
          <p:nvPr/>
        </p:nvSpPr>
        <p:spPr>
          <a:xfrm>
            <a:off x="5496814" y="2344696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값"/>
          <p:cNvSpPr>
            <a:spLocks noGrp="1"/>
          </p:cNvSpPr>
          <p:nvPr>
            <p:ph type="body" sz="quarter" idx="49"/>
          </p:nvPr>
        </p:nvSpPr>
        <p:spPr>
          <a:xfrm>
            <a:off x="5354379" y="2169391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28</a:t>
            </a:r>
          </a:p>
        </p:txBody>
      </p:sp>
      <p:sp>
        <p:nvSpPr>
          <p:cNvPr id="71" name="연도"/>
          <p:cNvSpPr>
            <a:spLocks noGrp="1"/>
          </p:cNvSpPr>
          <p:nvPr>
            <p:ph type="body" sz="quarter" idx="50"/>
          </p:nvPr>
        </p:nvSpPr>
        <p:spPr>
          <a:xfrm>
            <a:off x="5376292" y="2454261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23</a:t>
            </a:r>
          </a:p>
        </p:txBody>
      </p:sp>
      <p:sp>
        <p:nvSpPr>
          <p:cNvPr id="72" name="점"/>
          <p:cNvSpPr/>
          <p:nvPr/>
        </p:nvSpPr>
        <p:spPr>
          <a:xfrm>
            <a:off x="6117537" y="2300870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값"/>
          <p:cNvSpPr>
            <a:spLocks noGrp="1"/>
          </p:cNvSpPr>
          <p:nvPr>
            <p:ph type="body" sz="quarter" idx="51"/>
          </p:nvPr>
        </p:nvSpPr>
        <p:spPr>
          <a:xfrm>
            <a:off x="5975103" y="2125565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36</a:t>
            </a:r>
          </a:p>
        </p:txBody>
      </p:sp>
      <p:sp>
        <p:nvSpPr>
          <p:cNvPr id="74" name="연도"/>
          <p:cNvSpPr>
            <a:spLocks noGrp="1"/>
          </p:cNvSpPr>
          <p:nvPr>
            <p:ph type="body" sz="quarter" idx="52"/>
          </p:nvPr>
        </p:nvSpPr>
        <p:spPr>
          <a:xfrm>
            <a:off x="5997016" y="2454261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24</a:t>
            </a:r>
          </a:p>
        </p:txBody>
      </p:sp>
      <p:sp>
        <p:nvSpPr>
          <p:cNvPr id="75" name="점"/>
          <p:cNvSpPr/>
          <p:nvPr/>
        </p:nvSpPr>
        <p:spPr>
          <a:xfrm>
            <a:off x="6738261" y="2235130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값"/>
          <p:cNvSpPr>
            <a:spLocks noGrp="1"/>
          </p:cNvSpPr>
          <p:nvPr>
            <p:ph type="body" sz="quarter" idx="53"/>
          </p:nvPr>
        </p:nvSpPr>
        <p:spPr>
          <a:xfrm>
            <a:off x="6595826" y="2059826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48</a:t>
            </a:r>
          </a:p>
        </p:txBody>
      </p:sp>
      <p:sp>
        <p:nvSpPr>
          <p:cNvPr id="77" name="연도"/>
          <p:cNvSpPr>
            <a:spLocks noGrp="1"/>
          </p:cNvSpPr>
          <p:nvPr>
            <p:ph type="body" sz="quarter" idx="54"/>
          </p:nvPr>
        </p:nvSpPr>
        <p:spPr>
          <a:xfrm>
            <a:off x="6617739" y="2454261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25</a:t>
            </a:r>
          </a:p>
        </p:txBody>
      </p:sp>
      <p:cxnSp>
        <p:nvCxnSpPr>
          <p:cNvPr id="78" name="Connector 63"/>
          <p:cNvCxnSpPr/>
          <p:nvPr/>
        </p:nvCxnSpPr>
        <p:spPr>
          <a:xfrm>
            <a:off x="4854177" y="2443304"/>
            <a:ext cx="1949823" cy="0"/>
          </a:xfrm>
          <a:prstGeom prst="line">
            <a:avLst/>
          </a:prstGeom>
          <a:ln w="12700">
            <a:solidFill>
              <a:srgbClr val="BDE0FF"/>
            </a:solidFill>
          </a:ln>
        </p:spPr>
      </p:cxnSp>
      <p:sp>
        <p:nvSpPr>
          <p:cNvPr id="79" name="레일"/>
          <p:cNvSpPr/>
          <p:nvPr/>
        </p:nvSpPr>
        <p:spPr>
          <a:xfrm>
            <a:off x="536870" y="2684348"/>
            <a:ext cx="602609" cy="61356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0" name="레일"/>
          <p:cNvSpPr>
            <a:spLocks noGrp="1"/>
          </p:cNvSpPr>
          <p:nvPr>
            <p:ph type="body" sz="quarter" idx="55"/>
          </p:nvPr>
        </p:nvSpPr>
        <p:spPr>
          <a:xfrm>
            <a:off x="536870" y="2684348"/>
            <a:ext cx="602609" cy="613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문화</a:t>
            </a:r>
          </a:p>
        </p:txBody>
      </p:sp>
      <p:sp>
        <p:nvSpPr>
          <p:cNvPr id="81" name="PI 글"/>
          <p:cNvSpPr>
            <a:spLocks noGrp="1"/>
          </p:cNvSpPr>
          <p:nvPr>
            <p:ph type="body" sz="quarter" idx="56"/>
          </p:nvPr>
        </p:nvSpPr>
        <p:spPr>
          <a:xfrm>
            <a:off x="1172348" y="2684348"/>
            <a:ext cx="1847598" cy="61356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직무별 교육 이수율 제고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제안 활성화</a:t>
            </a:r>
          </a:p>
        </p:txBody>
      </p:sp>
      <p:sp>
        <p:nvSpPr>
          <p:cNvPr id="82" name="KPI 칸"/>
          <p:cNvSpPr/>
          <p:nvPr/>
        </p:nvSpPr>
        <p:spPr>
          <a:xfrm>
            <a:off x="3052816" y="2684348"/>
            <a:ext cx="1735623" cy="613565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태그"/>
          <p:cNvSpPr/>
          <p:nvPr/>
        </p:nvSpPr>
        <p:spPr>
          <a:xfrm>
            <a:off x="3096642" y="2739130"/>
            <a:ext cx="329103" cy="153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4" name="태그"/>
          <p:cNvSpPr>
            <a:spLocks noGrp="1"/>
          </p:cNvSpPr>
          <p:nvPr>
            <p:ph type="body" sz="quarter" idx="57"/>
          </p:nvPr>
        </p:nvSpPr>
        <p:spPr>
          <a:xfrm>
            <a:off x="3096642" y="2739130"/>
            <a:ext cx="329103" cy="153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신설</a:t>
            </a:r>
          </a:p>
        </p:txBody>
      </p:sp>
      <p:sp>
        <p:nvSpPr>
          <p:cNvPr id="85" name="KPI 글"/>
          <p:cNvSpPr>
            <a:spLocks noGrp="1"/>
          </p:cNvSpPr>
          <p:nvPr>
            <p:ph type="body" sz="quarter" idx="58"/>
          </p:nvPr>
        </p:nvSpPr>
        <p:spPr>
          <a:xfrm>
            <a:off x="3458614" y="2717217"/>
            <a:ext cx="1296955" cy="339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교육 이수율</a:t>
            </a:r>
          </a:p>
        </p:txBody>
      </p:sp>
      <p:sp>
        <p:nvSpPr>
          <p:cNvPr id="86" name="KPI 결과"/>
          <p:cNvSpPr/>
          <p:nvPr/>
        </p:nvSpPr>
        <p:spPr>
          <a:xfrm>
            <a:off x="3063772" y="3078783"/>
            <a:ext cx="1713710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87" name="KPI 결과"/>
          <p:cNvSpPr>
            <a:spLocks noGrp="1"/>
          </p:cNvSpPr>
          <p:nvPr>
            <p:ph type="body" sz="quarter" idx="59"/>
          </p:nvPr>
        </p:nvSpPr>
        <p:spPr>
          <a:xfrm>
            <a:off x="3063772" y="3078783"/>
            <a:ext cx="1713710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98% (목표 90%)</a:t>
            </a:r>
          </a:p>
        </p:txBody>
      </p:sp>
      <p:sp>
        <p:nvSpPr>
          <p:cNvPr id="88" name="로드맵 칸"/>
          <p:cNvSpPr/>
          <p:nvPr/>
        </p:nvSpPr>
        <p:spPr>
          <a:xfrm>
            <a:off x="4821308" y="2684348"/>
            <a:ext cx="2015562" cy="613565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단위"/>
          <p:cNvSpPr>
            <a:spLocks noGrp="1"/>
          </p:cNvSpPr>
          <p:nvPr>
            <p:ph type="body" sz="quarter" idx="60"/>
          </p:nvPr>
        </p:nvSpPr>
        <p:spPr>
          <a:xfrm>
            <a:off x="4843221" y="2695304"/>
            <a:ext cx="799826" cy="131478"/>
          </a:xfrm>
          <a:prstGeom prst="rect">
            <a:avLst/>
          </a:prstGeom>
          <a:noFill/>
          <a:ln>
            <a:noFill/>
          </a:ln>
        </p:spPr>
        <p:txBody>
          <a:bodyPr wrap="square" lIns="1440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단위 : %</a:t>
            </a:r>
          </a:p>
        </p:txBody>
      </p:sp>
      <p:cxnSp>
        <p:nvCxnSpPr>
          <p:cNvPr id="90" name="Connector 72"/>
          <p:cNvCxnSpPr/>
          <p:nvPr/>
        </p:nvCxnSpPr>
        <p:spPr>
          <a:xfrm flipV="1">
            <a:off x="4898003" y="3005739"/>
            <a:ext cx="620724" cy="51131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cxnSp>
        <p:nvCxnSpPr>
          <p:cNvPr id="91" name="Connector 73"/>
          <p:cNvCxnSpPr/>
          <p:nvPr/>
        </p:nvCxnSpPr>
        <p:spPr>
          <a:xfrm flipV="1">
            <a:off x="5518727" y="2963130"/>
            <a:ext cx="620723" cy="42609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cxnSp>
        <p:nvCxnSpPr>
          <p:cNvPr id="92" name="Connector 74"/>
          <p:cNvCxnSpPr/>
          <p:nvPr/>
        </p:nvCxnSpPr>
        <p:spPr>
          <a:xfrm flipV="1">
            <a:off x="6139450" y="2903478"/>
            <a:ext cx="620724" cy="59652"/>
          </a:xfrm>
          <a:prstGeom prst="line">
            <a:avLst/>
          </a:prstGeom>
          <a:ln w="19050">
            <a:solidFill>
              <a:srgbClr val="008EFF"/>
            </a:solidFill>
          </a:ln>
        </p:spPr>
      </p:cxnSp>
      <p:sp>
        <p:nvSpPr>
          <p:cNvPr id="93" name="점"/>
          <p:cNvSpPr/>
          <p:nvPr/>
        </p:nvSpPr>
        <p:spPr>
          <a:xfrm>
            <a:off x="4876090" y="3034957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값"/>
          <p:cNvSpPr>
            <a:spLocks noGrp="1"/>
          </p:cNvSpPr>
          <p:nvPr>
            <p:ph type="body" sz="quarter" idx="61"/>
          </p:nvPr>
        </p:nvSpPr>
        <p:spPr>
          <a:xfrm>
            <a:off x="4733656" y="2859652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80</a:t>
            </a:r>
          </a:p>
        </p:txBody>
      </p:sp>
      <p:sp>
        <p:nvSpPr>
          <p:cNvPr id="95" name="연도"/>
          <p:cNvSpPr>
            <a:spLocks noGrp="1"/>
          </p:cNvSpPr>
          <p:nvPr>
            <p:ph type="body" sz="quarter" idx="62"/>
          </p:nvPr>
        </p:nvSpPr>
        <p:spPr>
          <a:xfrm>
            <a:off x="4755569" y="3100696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22</a:t>
            </a:r>
          </a:p>
        </p:txBody>
      </p:sp>
      <p:sp>
        <p:nvSpPr>
          <p:cNvPr id="96" name="점"/>
          <p:cNvSpPr/>
          <p:nvPr/>
        </p:nvSpPr>
        <p:spPr>
          <a:xfrm>
            <a:off x="5496814" y="2983826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값"/>
          <p:cNvSpPr>
            <a:spLocks noGrp="1"/>
          </p:cNvSpPr>
          <p:nvPr>
            <p:ph type="body" sz="quarter" idx="63"/>
          </p:nvPr>
        </p:nvSpPr>
        <p:spPr>
          <a:xfrm>
            <a:off x="5354379" y="2808522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86</a:t>
            </a:r>
          </a:p>
        </p:txBody>
      </p:sp>
      <p:sp>
        <p:nvSpPr>
          <p:cNvPr id="98" name="연도"/>
          <p:cNvSpPr>
            <a:spLocks noGrp="1"/>
          </p:cNvSpPr>
          <p:nvPr>
            <p:ph type="body" sz="quarter" idx="64"/>
          </p:nvPr>
        </p:nvSpPr>
        <p:spPr>
          <a:xfrm>
            <a:off x="5376292" y="3100696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23</a:t>
            </a:r>
          </a:p>
        </p:txBody>
      </p:sp>
      <p:sp>
        <p:nvSpPr>
          <p:cNvPr id="99" name="점"/>
          <p:cNvSpPr/>
          <p:nvPr/>
        </p:nvSpPr>
        <p:spPr>
          <a:xfrm>
            <a:off x="6117537" y="2941217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값"/>
          <p:cNvSpPr>
            <a:spLocks noGrp="1"/>
          </p:cNvSpPr>
          <p:nvPr>
            <p:ph type="body" sz="quarter" idx="65"/>
          </p:nvPr>
        </p:nvSpPr>
        <p:spPr>
          <a:xfrm>
            <a:off x="5975103" y="2765913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91</a:t>
            </a:r>
          </a:p>
        </p:txBody>
      </p:sp>
      <p:sp>
        <p:nvSpPr>
          <p:cNvPr id="101" name="연도"/>
          <p:cNvSpPr>
            <a:spLocks noGrp="1"/>
          </p:cNvSpPr>
          <p:nvPr>
            <p:ph type="body" sz="quarter" idx="66"/>
          </p:nvPr>
        </p:nvSpPr>
        <p:spPr>
          <a:xfrm>
            <a:off x="5997016" y="3100696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24</a:t>
            </a:r>
          </a:p>
        </p:txBody>
      </p:sp>
      <p:sp>
        <p:nvSpPr>
          <p:cNvPr id="102" name="점"/>
          <p:cNvSpPr/>
          <p:nvPr/>
        </p:nvSpPr>
        <p:spPr>
          <a:xfrm>
            <a:off x="6738261" y="2881565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값"/>
          <p:cNvSpPr>
            <a:spLocks noGrp="1"/>
          </p:cNvSpPr>
          <p:nvPr>
            <p:ph type="body" sz="quarter" idx="67"/>
          </p:nvPr>
        </p:nvSpPr>
        <p:spPr>
          <a:xfrm>
            <a:off x="6595826" y="2706261"/>
            <a:ext cx="32869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98</a:t>
            </a:r>
          </a:p>
        </p:txBody>
      </p:sp>
      <p:sp>
        <p:nvSpPr>
          <p:cNvPr id="104" name="연도"/>
          <p:cNvSpPr>
            <a:spLocks noGrp="1"/>
          </p:cNvSpPr>
          <p:nvPr>
            <p:ph type="body" sz="quarter" idx="68"/>
          </p:nvPr>
        </p:nvSpPr>
        <p:spPr>
          <a:xfrm>
            <a:off x="6617739" y="3100696"/>
            <a:ext cx="284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25</a:t>
            </a:r>
          </a:p>
        </p:txBody>
      </p:sp>
      <p:cxnSp>
        <p:nvCxnSpPr>
          <p:cNvPr id="105" name="Connector 87"/>
          <p:cNvCxnSpPr/>
          <p:nvPr/>
        </p:nvCxnSpPr>
        <p:spPr>
          <a:xfrm>
            <a:off x="4854177" y="3089739"/>
            <a:ext cx="1949823" cy="0"/>
          </a:xfrm>
          <a:prstGeom prst="line">
            <a:avLst/>
          </a:prstGeom>
          <a:ln w="12700">
            <a:solidFill>
              <a:srgbClr val="BDE0FF"/>
            </a:solidFill>
          </a:ln>
        </p:spPr>
      </p:cxnSp>
      <p:sp>
        <p:nvSpPr>
          <p:cNvPr id="106" name="주요성과 박스"/>
          <p:cNvSpPr/>
          <p:nvPr/>
        </p:nvSpPr>
        <p:spPr>
          <a:xfrm>
            <a:off x="536870" y="3385565"/>
            <a:ext cx="6300000" cy="524348"/>
          </a:xfrm>
          <a:prstGeom prst="rect">
            <a:avLst/>
          </a:prstGeom>
          <a:solidFill>
            <a:srgbClr val="EFF9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주요성과 라벨"/>
          <p:cNvSpPr/>
          <p:nvPr/>
        </p:nvSpPr>
        <p:spPr>
          <a:xfrm>
            <a:off x="569739" y="3418435"/>
            <a:ext cx="657391" cy="458609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08" name="주요성과 라벨"/>
          <p:cNvSpPr>
            <a:spLocks noGrp="1"/>
          </p:cNvSpPr>
          <p:nvPr>
            <p:ph type="body" sz="quarter" idx="69"/>
          </p:nvPr>
        </p:nvSpPr>
        <p:spPr>
          <a:xfrm>
            <a:off x="569739" y="3418435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주요성과</a:t>
            </a:r>
          </a:p>
        </p:txBody>
      </p:sp>
      <p:sp>
        <p:nvSpPr>
          <p:cNvPr id="109" name="주요성과 문구"/>
          <p:cNvSpPr>
            <a:spLocks noGrp="1"/>
          </p:cNvSpPr>
          <p:nvPr>
            <p:ph type="body" sz="quarter" idx="70"/>
          </p:nvPr>
        </p:nvSpPr>
        <p:spPr>
          <a:xfrm>
            <a:off x="1314783" y="3402000"/>
            <a:ext cx="5456348" cy="491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점검 이행률 100% 달성(목표 대비 +5%p)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협력사 합동점검 48건 시행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20 서사 · 분야별 지표 카드 → 성과 · 요약 ·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22952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</a:t>
            </a:r>
          </a:p>
        </p:txBody>
      </p:sp>
      <p:sp>
        <p:nvSpPr>
          <p:cNvPr id="10" name="분야 박스"/>
          <p:cNvSpPr/>
          <p:nvPr/>
        </p:nvSpPr>
        <p:spPr>
          <a:xfrm>
            <a:off x="952651" y="810783"/>
            <a:ext cx="1125929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분야 박스"/>
          <p:cNvSpPr>
            <a:spLocks noGrp="1"/>
          </p:cNvSpPr>
          <p:nvPr>
            <p:ph type="body" sz="quarter" idx="21"/>
          </p:nvPr>
        </p:nvSpPr>
        <p:spPr>
          <a:xfrm>
            <a:off x="952651" y="810783"/>
            <a:ext cx="112592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적극행정 · 규제개선</a:t>
            </a:r>
          </a:p>
        </p:txBody>
      </p:sp>
      <p:sp>
        <p:nvSpPr>
          <p:cNvPr id="12" name="형광 밑줄"/>
          <p:cNvSpPr/>
          <p:nvPr/>
        </p:nvSpPr>
        <p:spPr>
          <a:xfrm>
            <a:off x="2144319" y="931304"/>
            <a:ext cx="1576236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소제목"/>
          <p:cNvSpPr>
            <a:spLocks noGrp="1"/>
          </p:cNvSpPr>
          <p:nvPr>
            <p:ph type="body" sz="quarter" idx="22"/>
          </p:nvPr>
        </p:nvSpPr>
        <p:spPr>
          <a:xfrm>
            <a:off x="2144319" y="777913"/>
            <a:ext cx="4878811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현장 제안을 정책으로 연결</a:t>
            </a:r>
          </a:p>
        </p:txBody>
      </p:sp>
      <p:sp>
        <p:nvSpPr>
          <p:cNvPr id="14" name="태그칩"/>
          <p:cNvSpPr/>
          <p:nvPr/>
        </p:nvSpPr>
        <p:spPr>
          <a:xfrm>
            <a:off x="3819164" y="810783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태그칩"/>
          <p:cNvSpPr>
            <a:spLocks noGrp="1"/>
          </p:cNvSpPr>
          <p:nvPr>
            <p:ph type="body" sz="quarter" idx="23"/>
          </p:nvPr>
        </p:nvSpPr>
        <p:spPr>
          <a:xfrm>
            <a:off x="3819164" y="810783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16" name="행 틀"/>
          <p:cNvSpPr/>
          <p:nvPr/>
        </p:nvSpPr>
        <p:spPr>
          <a:xfrm>
            <a:off x="723130" y="1084696"/>
            <a:ext cx="6300000" cy="975130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분야 라벨"/>
          <p:cNvSpPr/>
          <p:nvPr/>
        </p:nvSpPr>
        <p:spPr>
          <a:xfrm>
            <a:off x="745043" y="1106609"/>
            <a:ext cx="712174" cy="28487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8" name="분야 라벨"/>
          <p:cNvSpPr>
            <a:spLocks noGrp="1"/>
          </p:cNvSpPr>
          <p:nvPr>
            <p:ph type="body" sz="quarter" idx="24"/>
          </p:nvPr>
        </p:nvSpPr>
        <p:spPr>
          <a:xfrm>
            <a:off x="745043" y="1106609"/>
            <a:ext cx="712174" cy="284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</a:t>
            </a:r>
          </a:p>
        </p:txBody>
      </p:sp>
      <p:sp>
        <p:nvSpPr>
          <p:cNvPr id="19" name="개수"/>
          <p:cNvSpPr>
            <a:spLocks noGrp="1"/>
          </p:cNvSpPr>
          <p:nvPr>
            <p:ph type="body" sz="quarter" idx="25"/>
          </p:nvPr>
        </p:nvSpPr>
        <p:spPr>
          <a:xfrm>
            <a:off x="745043" y="1413391"/>
            <a:ext cx="712174" cy="624522"/>
          </a:xfrm>
          <a:prstGeom prst="rect">
            <a:avLst/>
          </a:prstGeom>
          <a:noFill/>
          <a:ln>
            <a:noFill/>
          </a:ln>
        </p:spPr>
        <p:txBody>
          <a:bodyPr wrap="square" lIns="14400" tIns="0" rIns="144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신설 1개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강화 2개</a:t>
            </a:r>
          </a:p>
        </p:txBody>
      </p:sp>
      <p:sp>
        <p:nvSpPr>
          <p:cNvPr id="20" name="카드"/>
          <p:cNvSpPr/>
          <p:nvPr/>
        </p:nvSpPr>
        <p:spPr>
          <a:xfrm>
            <a:off x="1490087" y="1106609"/>
            <a:ext cx="2739130" cy="931304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카드 머리"/>
          <p:cNvSpPr/>
          <p:nvPr/>
        </p:nvSpPr>
        <p:spPr>
          <a:xfrm>
            <a:off x="1490087" y="1106609"/>
            <a:ext cx="2739130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태그"/>
          <p:cNvSpPr/>
          <p:nvPr/>
        </p:nvSpPr>
        <p:spPr>
          <a:xfrm>
            <a:off x="1522957" y="1128522"/>
            <a:ext cx="329103" cy="153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3" name="태그"/>
          <p:cNvSpPr>
            <a:spLocks noGrp="1"/>
          </p:cNvSpPr>
          <p:nvPr>
            <p:ph type="body" sz="quarter" idx="26"/>
          </p:nvPr>
        </p:nvSpPr>
        <p:spPr>
          <a:xfrm>
            <a:off x="1522957" y="1128522"/>
            <a:ext cx="329103" cy="153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신설</a:t>
            </a:r>
          </a:p>
        </p:txBody>
      </p:sp>
      <p:sp>
        <p:nvSpPr>
          <p:cNvPr id="24" name="카드 제목"/>
          <p:cNvSpPr>
            <a:spLocks noGrp="1"/>
          </p:cNvSpPr>
          <p:nvPr>
            <p:ph type="body" sz="quarter" idx="27"/>
          </p:nvPr>
        </p:nvSpPr>
        <p:spPr>
          <a:xfrm>
            <a:off x="1884929" y="1106609"/>
            <a:ext cx="2322376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중대재해 예방 점검</a:t>
            </a:r>
          </a:p>
        </p:txBody>
      </p:sp>
      <p:sp>
        <p:nvSpPr>
          <p:cNvPr id="25" name="카드 부제"/>
          <p:cNvSpPr>
            <a:spLocks noGrp="1"/>
          </p:cNvSpPr>
          <p:nvPr>
            <p:ph type="body" sz="quarter" idx="28"/>
          </p:nvPr>
        </p:nvSpPr>
        <p:spPr>
          <a:xfrm>
            <a:off x="1512000" y="1314783"/>
            <a:ext cx="2695304" cy="164348"/>
          </a:xfrm>
          <a:prstGeom prst="rect">
            <a:avLst/>
          </a:prstGeom>
          <a:noFill/>
          <a:ln>
            <a:noFill/>
          </a:ln>
        </p:spPr>
        <p:txBody>
          <a:bodyPr wrap="square" lIns="43200" tIns="0" rIns="14400" bIns="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 연계 · 안전한 일터</a:t>
            </a:r>
          </a:p>
        </p:txBody>
      </p:sp>
      <p:sp>
        <p:nvSpPr>
          <p:cNvPr id="26" name="막대"/>
          <p:cNvSpPr/>
          <p:nvPr/>
        </p:nvSpPr>
        <p:spPr>
          <a:xfrm>
            <a:off x="1654435" y="1774957"/>
            <a:ext cx="186261" cy="76696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값"/>
          <p:cNvSpPr>
            <a:spLocks noGrp="1"/>
          </p:cNvSpPr>
          <p:nvPr>
            <p:ph type="body" sz="quarter" idx="29"/>
          </p:nvPr>
        </p:nvSpPr>
        <p:spPr>
          <a:xfrm>
            <a:off x="1544870" y="1599652"/>
            <a:ext cx="405391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40</a:t>
            </a:r>
          </a:p>
        </p:txBody>
      </p:sp>
      <p:sp>
        <p:nvSpPr>
          <p:cNvPr id="28" name="연도"/>
          <p:cNvSpPr>
            <a:spLocks noGrp="1"/>
          </p:cNvSpPr>
          <p:nvPr>
            <p:ph type="body" sz="quarter" idx="30"/>
          </p:nvPr>
        </p:nvSpPr>
        <p:spPr>
          <a:xfrm>
            <a:off x="1544870" y="1851652"/>
            <a:ext cx="405391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23</a:t>
            </a:r>
          </a:p>
        </p:txBody>
      </p:sp>
      <p:sp>
        <p:nvSpPr>
          <p:cNvPr id="29" name="막대"/>
          <p:cNvSpPr/>
          <p:nvPr/>
        </p:nvSpPr>
        <p:spPr>
          <a:xfrm>
            <a:off x="2147478" y="1745983"/>
            <a:ext cx="186261" cy="105670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값"/>
          <p:cNvSpPr>
            <a:spLocks noGrp="1"/>
          </p:cNvSpPr>
          <p:nvPr>
            <p:ph type="body" sz="quarter" idx="31"/>
          </p:nvPr>
        </p:nvSpPr>
        <p:spPr>
          <a:xfrm>
            <a:off x="2037913" y="1570678"/>
            <a:ext cx="405391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62</a:t>
            </a:r>
          </a:p>
        </p:txBody>
      </p:sp>
      <p:sp>
        <p:nvSpPr>
          <p:cNvPr id="31" name="연도"/>
          <p:cNvSpPr>
            <a:spLocks noGrp="1"/>
          </p:cNvSpPr>
          <p:nvPr>
            <p:ph type="body" sz="quarter" idx="32"/>
          </p:nvPr>
        </p:nvSpPr>
        <p:spPr>
          <a:xfrm>
            <a:off x="2037913" y="1851652"/>
            <a:ext cx="405391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24</a:t>
            </a:r>
          </a:p>
        </p:txBody>
      </p:sp>
      <p:sp>
        <p:nvSpPr>
          <p:cNvPr id="32" name="막대"/>
          <p:cNvSpPr/>
          <p:nvPr/>
        </p:nvSpPr>
        <p:spPr>
          <a:xfrm>
            <a:off x="2640522" y="1698261"/>
            <a:ext cx="186261" cy="153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값"/>
          <p:cNvSpPr>
            <a:spLocks noGrp="1"/>
          </p:cNvSpPr>
          <p:nvPr>
            <p:ph type="body" sz="quarter" idx="33"/>
          </p:nvPr>
        </p:nvSpPr>
        <p:spPr>
          <a:xfrm>
            <a:off x="2530957" y="1522957"/>
            <a:ext cx="405391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90</a:t>
            </a:r>
          </a:p>
        </p:txBody>
      </p:sp>
      <p:sp>
        <p:nvSpPr>
          <p:cNvPr id="34" name="연도"/>
          <p:cNvSpPr>
            <a:spLocks noGrp="1"/>
          </p:cNvSpPr>
          <p:nvPr>
            <p:ph type="body" sz="quarter" idx="34"/>
          </p:nvPr>
        </p:nvSpPr>
        <p:spPr>
          <a:xfrm>
            <a:off x="2530957" y="1851652"/>
            <a:ext cx="405391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25</a:t>
            </a:r>
          </a:p>
        </p:txBody>
      </p:sp>
      <p:sp>
        <p:nvSpPr>
          <p:cNvPr id="35" name="카드"/>
          <p:cNvSpPr/>
          <p:nvPr/>
        </p:nvSpPr>
        <p:spPr>
          <a:xfrm>
            <a:off x="4262087" y="1106609"/>
            <a:ext cx="2739130" cy="931304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카드 머리"/>
          <p:cNvSpPr/>
          <p:nvPr/>
        </p:nvSpPr>
        <p:spPr>
          <a:xfrm>
            <a:off x="4262087" y="1106609"/>
            <a:ext cx="2739130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태그"/>
          <p:cNvSpPr/>
          <p:nvPr/>
        </p:nvSpPr>
        <p:spPr>
          <a:xfrm>
            <a:off x="4294957" y="1128522"/>
            <a:ext cx="329103" cy="153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8" name="태그"/>
          <p:cNvSpPr>
            <a:spLocks noGrp="1"/>
          </p:cNvSpPr>
          <p:nvPr>
            <p:ph type="body" sz="quarter" idx="35"/>
          </p:nvPr>
        </p:nvSpPr>
        <p:spPr>
          <a:xfrm>
            <a:off x="4294957" y="1128522"/>
            <a:ext cx="329103" cy="153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39" name="카드 제목"/>
          <p:cNvSpPr>
            <a:spLocks noGrp="1"/>
          </p:cNvSpPr>
          <p:nvPr>
            <p:ph type="body" sz="quarter" idx="36"/>
          </p:nvPr>
        </p:nvSpPr>
        <p:spPr>
          <a:xfrm>
            <a:off x="4656929" y="1106609"/>
            <a:ext cx="2322376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협력사 안전 지원</a:t>
            </a:r>
          </a:p>
        </p:txBody>
      </p:sp>
      <p:sp>
        <p:nvSpPr>
          <p:cNvPr id="40" name="카드 부제"/>
          <p:cNvSpPr>
            <a:spLocks noGrp="1"/>
          </p:cNvSpPr>
          <p:nvPr>
            <p:ph type="body" sz="quarter" idx="37"/>
          </p:nvPr>
        </p:nvSpPr>
        <p:spPr>
          <a:xfrm>
            <a:off x="4284000" y="1314783"/>
            <a:ext cx="2695304" cy="164348"/>
          </a:xfrm>
          <a:prstGeom prst="rect">
            <a:avLst/>
          </a:prstGeom>
          <a:noFill/>
          <a:ln>
            <a:noFill/>
          </a:ln>
        </p:spPr>
        <p:txBody>
          <a:bodyPr wrap="square" lIns="43200" tIns="0" rIns="14400" bIns="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 연계 · 상생 협력</a:t>
            </a:r>
          </a:p>
        </p:txBody>
      </p:sp>
      <p:sp>
        <p:nvSpPr>
          <p:cNvPr id="41" name="현재"/>
          <p:cNvSpPr/>
          <p:nvPr/>
        </p:nvSpPr>
        <p:spPr>
          <a:xfrm>
            <a:off x="4316870" y="1555826"/>
            <a:ext cx="1205217" cy="40539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42" name="현재"/>
          <p:cNvSpPr>
            <a:spLocks noGrp="1"/>
          </p:cNvSpPr>
          <p:nvPr>
            <p:ph type="body" sz="quarter" idx="38"/>
          </p:nvPr>
        </p:nvSpPr>
        <p:spPr>
          <a:xfrm>
            <a:off x="4316870" y="1555826"/>
            <a:ext cx="1205217" cy="405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85%</a:t>
            </a:r>
          </a:p>
        </p:txBody>
      </p:sp>
      <p:sp>
        <p:nvSpPr>
          <p:cNvPr id="43" name="삼각 화살표"/>
          <p:cNvSpPr/>
          <p:nvPr/>
        </p:nvSpPr>
        <p:spPr>
          <a:xfrm>
            <a:off x="5565913" y="1648956"/>
            <a:ext cx="131478" cy="219130"/>
          </a:xfrm>
          <a:custGeom>
            <a:avLst/>
            <a:gdLst/>
            <a:ahLst/>
            <a:cxnLst/>
            <a:rect l="l" t="t" r="r" b="b"/>
            <a:pathLst>
              <a:path w="131478" h="219130">
                <a:moveTo>
                  <a:pt x="0" y="0"/>
                </a:moveTo>
                <a:lnTo>
                  <a:pt x="0" y="219130"/>
                </a:lnTo>
                <a:lnTo>
                  <a:pt x="131478" y="10956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목표"/>
          <p:cNvSpPr/>
          <p:nvPr/>
        </p:nvSpPr>
        <p:spPr>
          <a:xfrm>
            <a:off x="5741217" y="1555826"/>
            <a:ext cx="1205217" cy="405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45" name="목표"/>
          <p:cNvSpPr>
            <a:spLocks noGrp="1"/>
          </p:cNvSpPr>
          <p:nvPr>
            <p:ph type="body" sz="quarter" idx="39"/>
          </p:nvPr>
        </p:nvSpPr>
        <p:spPr>
          <a:xfrm>
            <a:off x="5741217" y="1555826"/>
            <a:ext cx="1205217" cy="405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95%</a:t>
            </a:r>
          </a:p>
        </p:txBody>
      </p:sp>
      <p:sp>
        <p:nvSpPr>
          <p:cNvPr id="46" name="행 틀"/>
          <p:cNvSpPr/>
          <p:nvPr/>
        </p:nvSpPr>
        <p:spPr>
          <a:xfrm>
            <a:off x="723130" y="2081739"/>
            <a:ext cx="6300000" cy="975130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분야 라벨"/>
          <p:cNvSpPr/>
          <p:nvPr/>
        </p:nvSpPr>
        <p:spPr>
          <a:xfrm>
            <a:off x="745043" y="2103652"/>
            <a:ext cx="712174" cy="28487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48" name="분야 라벨"/>
          <p:cNvSpPr>
            <a:spLocks noGrp="1"/>
          </p:cNvSpPr>
          <p:nvPr>
            <p:ph type="body" sz="quarter" idx="40"/>
          </p:nvPr>
        </p:nvSpPr>
        <p:spPr>
          <a:xfrm>
            <a:off x="745043" y="2103652"/>
            <a:ext cx="712174" cy="284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윤리</a:t>
            </a:r>
          </a:p>
        </p:txBody>
      </p:sp>
      <p:sp>
        <p:nvSpPr>
          <p:cNvPr id="49" name="개수"/>
          <p:cNvSpPr>
            <a:spLocks noGrp="1"/>
          </p:cNvSpPr>
          <p:nvPr>
            <p:ph type="body" sz="quarter" idx="41"/>
          </p:nvPr>
        </p:nvSpPr>
        <p:spPr>
          <a:xfrm>
            <a:off x="745043" y="2410435"/>
            <a:ext cx="712174" cy="624522"/>
          </a:xfrm>
          <a:prstGeom prst="rect">
            <a:avLst/>
          </a:prstGeom>
          <a:noFill/>
          <a:ln>
            <a:noFill/>
          </a:ln>
        </p:spPr>
        <p:txBody>
          <a:bodyPr wrap="square" lIns="14400" tIns="0" rIns="144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유지 2개</a:t>
            </a:r>
          </a:p>
        </p:txBody>
      </p:sp>
      <p:sp>
        <p:nvSpPr>
          <p:cNvPr id="50" name="카드"/>
          <p:cNvSpPr/>
          <p:nvPr/>
        </p:nvSpPr>
        <p:spPr>
          <a:xfrm>
            <a:off x="1490087" y="2103652"/>
            <a:ext cx="2739130" cy="931304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카드 머리"/>
          <p:cNvSpPr/>
          <p:nvPr/>
        </p:nvSpPr>
        <p:spPr>
          <a:xfrm>
            <a:off x="1490087" y="2103652"/>
            <a:ext cx="2739130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태그"/>
          <p:cNvSpPr/>
          <p:nvPr/>
        </p:nvSpPr>
        <p:spPr>
          <a:xfrm>
            <a:off x="1522957" y="2125565"/>
            <a:ext cx="329103" cy="153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3" name="태그"/>
          <p:cNvSpPr>
            <a:spLocks noGrp="1"/>
          </p:cNvSpPr>
          <p:nvPr>
            <p:ph type="body" sz="quarter" idx="42"/>
          </p:nvPr>
        </p:nvSpPr>
        <p:spPr>
          <a:xfrm>
            <a:off x="1522957" y="2125565"/>
            <a:ext cx="329103" cy="153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유지</a:t>
            </a:r>
          </a:p>
        </p:txBody>
      </p:sp>
      <p:sp>
        <p:nvSpPr>
          <p:cNvPr id="54" name="카드 제목"/>
          <p:cNvSpPr>
            <a:spLocks noGrp="1"/>
          </p:cNvSpPr>
          <p:nvPr>
            <p:ph type="body" sz="quarter" idx="43"/>
          </p:nvPr>
        </p:nvSpPr>
        <p:spPr>
          <a:xfrm>
            <a:off x="1884929" y="2103652"/>
            <a:ext cx="2322376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청렴 자가진단</a:t>
            </a:r>
          </a:p>
        </p:txBody>
      </p:sp>
      <p:sp>
        <p:nvSpPr>
          <p:cNvPr id="55" name="카드 부제"/>
          <p:cNvSpPr>
            <a:spLocks noGrp="1"/>
          </p:cNvSpPr>
          <p:nvPr>
            <p:ph type="body" sz="quarter" idx="44"/>
          </p:nvPr>
        </p:nvSpPr>
        <p:spPr>
          <a:xfrm>
            <a:off x="1512000" y="2311826"/>
            <a:ext cx="2695304" cy="164348"/>
          </a:xfrm>
          <a:prstGeom prst="rect">
            <a:avLst/>
          </a:prstGeom>
          <a:noFill/>
          <a:ln>
            <a:noFill/>
          </a:ln>
        </p:spPr>
        <p:txBody>
          <a:bodyPr wrap="square" lIns="43200" tIns="0" rIns="14400" bIns="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 연계 · 투명 행정</a:t>
            </a:r>
          </a:p>
        </p:txBody>
      </p:sp>
      <p:sp>
        <p:nvSpPr>
          <p:cNvPr id="56" name="막대"/>
          <p:cNvSpPr/>
          <p:nvPr/>
        </p:nvSpPr>
        <p:spPr>
          <a:xfrm>
            <a:off x="1654435" y="2722373"/>
            <a:ext cx="186261" cy="126322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값"/>
          <p:cNvSpPr>
            <a:spLocks noGrp="1"/>
          </p:cNvSpPr>
          <p:nvPr>
            <p:ph type="body" sz="quarter" idx="45"/>
          </p:nvPr>
        </p:nvSpPr>
        <p:spPr>
          <a:xfrm>
            <a:off x="1544870" y="2547069"/>
            <a:ext cx="405391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70</a:t>
            </a:r>
          </a:p>
        </p:txBody>
      </p:sp>
      <p:sp>
        <p:nvSpPr>
          <p:cNvPr id="58" name="연도"/>
          <p:cNvSpPr>
            <a:spLocks noGrp="1"/>
          </p:cNvSpPr>
          <p:nvPr>
            <p:ph type="body" sz="quarter" idx="46"/>
          </p:nvPr>
        </p:nvSpPr>
        <p:spPr>
          <a:xfrm>
            <a:off x="1544870" y="2848696"/>
            <a:ext cx="405391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23</a:t>
            </a:r>
          </a:p>
        </p:txBody>
      </p:sp>
      <p:sp>
        <p:nvSpPr>
          <p:cNvPr id="59" name="막대"/>
          <p:cNvSpPr/>
          <p:nvPr/>
        </p:nvSpPr>
        <p:spPr>
          <a:xfrm>
            <a:off x="2147478" y="2704327"/>
            <a:ext cx="186261" cy="144368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값"/>
          <p:cNvSpPr>
            <a:spLocks noGrp="1"/>
          </p:cNvSpPr>
          <p:nvPr>
            <p:ph type="body" sz="quarter" idx="47"/>
          </p:nvPr>
        </p:nvSpPr>
        <p:spPr>
          <a:xfrm>
            <a:off x="2037913" y="2529023"/>
            <a:ext cx="405391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80</a:t>
            </a:r>
          </a:p>
        </p:txBody>
      </p:sp>
      <p:sp>
        <p:nvSpPr>
          <p:cNvPr id="61" name="연도"/>
          <p:cNvSpPr>
            <a:spLocks noGrp="1"/>
          </p:cNvSpPr>
          <p:nvPr>
            <p:ph type="body" sz="quarter" idx="48"/>
          </p:nvPr>
        </p:nvSpPr>
        <p:spPr>
          <a:xfrm>
            <a:off x="2037913" y="2848696"/>
            <a:ext cx="405391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24</a:t>
            </a:r>
          </a:p>
        </p:txBody>
      </p:sp>
      <p:sp>
        <p:nvSpPr>
          <p:cNvPr id="62" name="막대"/>
          <p:cNvSpPr/>
          <p:nvPr/>
        </p:nvSpPr>
        <p:spPr>
          <a:xfrm>
            <a:off x="2640522" y="2695304"/>
            <a:ext cx="186261" cy="153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값"/>
          <p:cNvSpPr>
            <a:spLocks noGrp="1"/>
          </p:cNvSpPr>
          <p:nvPr>
            <p:ph type="body" sz="quarter" idx="49"/>
          </p:nvPr>
        </p:nvSpPr>
        <p:spPr>
          <a:xfrm>
            <a:off x="2530957" y="2520000"/>
            <a:ext cx="405391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85</a:t>
            </a:r>
          </a:p>
        </p:txBody>
      </p:sp>
      <p:sp>
        <p:nvSpPr>
          <p:cNvPr id="64" name="연도"/>
          <p:cNvSpPr>
            <a:spLocks noGrp="1"/>
          </p:cNvSpPr>
          <p:nvPr>
            <p:ph type="body" sz="quarter" idx="50"/>
          </p:nvPr>
        </p:nvSpPr>
        <p:spPr>
          <a:xfrm>
            <a:off x="2530957" y="2848696"/>
            <a:ext cx="405391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25</a:t>
            </a:r>
          </a:p>
        </p:txBody>
      </p:sp>
      <p:sp>
        <p:nvSpPr>
          <p:cNvPr id="65" name="카드"/>
          <p:cNvSpPr/>
          <p:nvPr/>
        </p:nvSpPr>
        <p:spPr>
          <a:xfrm>
            <a:off x="4262087" y="2103652"/>
            <a:ext cx="2739130" cy="931304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카드 머리"/>
          <p:cNvSpPr/>
          <p:nvPr/>
        </p:nvSpPr>
        <p:spPr>
          <a:xfrm>
            <a:off x="4262087" y="2103652"/>
            <a:ext cx="2739130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태그"/>
          <p:cNvSpPr/>
          <p:nvPr/>
        </p:nvSpPr>
        <p:spPr>
          <a:xfrm>
            <a:off x="4294957" y="2125565"/>
            <a:ext cx="329103" cy="153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8" name="태그"/>
          <p:cNvSpPr>
            <a:spLocks noGrp="1"/>
          </p:cNvSpPr>
          <p:nvPr>
            <p:ph type="body" sz="quarter" idx="51"/>
          </p:nvPr>
        </p:nvSpPr>
        <p:spPr>
          <a:xfrm>
            <a:off x="4294957" y="2125565"/>
            <a:ext cx="329103" cy="153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유지</a:t>
            </a:r>
          </a:p>
        </p:txBody>
      </p:sp>
      <p:sp>
        <p:nvSpPr>
          <p:cNvPr id="69" name="카드 제목"/>
          <p:cNvSpPr>
            <a:spLocks noGrp="1"/>
          </p:cNvSpPr>
          <p:nvPr>
            <p:ph type="body" sz="quarter" idx="52"/>
          </p:nvPr>
        </p:nvSpPr>
        <p:spPr>
          <a:xfrm>
            <a:off x="4656929" y="2103652"/>
            <a:ext cx="2322376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부패 예방 교육</a:t>
            </a:r>
          </a:p>
        </p:txBody>
      </p:sp>
      <p:sp>
        <p:nvSpPr>
          <p:cNvPr id="70" name="카드 부제"/>
          <p:cNvSpPr>
            <a:spLocks noGrp="1"/>
          </p:cNvSpPr>
          <p:nvPr>
            <p:ph type="body" sz="quarter" idx="53"/>
          </p:nvPr>
        </p:nvSpPr>
        <p:spPr>
          <a:xfrm>
            <a:off x="4284000" y="2311826"/>
            <a:ext cx="2695304" cy="164348"/>
          </a:xfrm>
          <a:prstGeom prst="rect">
            <a:avLst/>
          </a:prstGeom>
          <a:noFill/>
          <a:ln>
            <a:noFill/>
          </a:ln>
        </p:spPr>
        <p:txBody>
          <a:bodyPr wrap="square" lIns="43200" tIns="0" rIns="14400" bIns="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 연계 · 투명 행정</a:t>
            </a:r>
          </a:p>
        </p:txBody>
      </p:sp>
      <p:sp>
        <p:nvSpPr>
          <p:cNvPr id="71" name="현재"/>
          <p:cNvSpPr/>
          <p:nvPr/>
        </p:nvSpPr>
        <p:spPr>
          <a:xfrm>
            <a:off x="4316870" y="2552870"/>
            <a:ext cx="1205217" cy="40539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72" name="현재"/>
          <p:cNvSpPr>
            <a:spLocks noGrp="1"/>
          </p:cNvSpPr>
          <p:nvPr>
            <p:ph type="body" sz="quarter" idx="54"/>
          </p:nvPr>
        </p:nvSpPr>
        <p:spPr>
          <a:xfrm>
            <a:off x="4316870" y="2552870"/>
            <a:ext cx="1205217" cy="405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90%</a:t>
            </a:r>
          </a:p>
        </p:txBody>
      </p:sp>
      <p:sp>
        <p:nvSpPr>
          <p:cNvPr id="73" name="삼각 화살표"/>
          <p:cNvSpPr/>
          <p:nvPr/>
        </p:nvSpPr>
        <p:spPr>
          <a:xfrm>
            <a:off x="5565913" y="2646000"/>
            <a:ext cx="131478" cy="219130"/>
          </a:xfrm>
          <a:custGeom>
            <a:avLst/>
            <a:gdLst/>
            <a:ahLst/>
            <a:cxnLst/>
            <a:rect l="l" t="t" r="r" b="b"/>
            <a:pathLst>
              <a:path w="131478" h="219130">
                <a:moveTo>
                  <a:pt x="0" y="0"/>
                </a:moveTo>
                <a:lnTo>
                  <a:pt x="0" y="219130"/>
                </a:lnTo>
                <a:lnTo>
                  <a:pt x="131478" y="10956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목표"/>
          <p:cNvSpPr/>
          <p:nvPr/>
        </p:nvSpPr>
        <p:spPr>
          <a:xfrm>
            <a:off x="5741217" y="2552870"/>
            <a:ext cx="1205217" cy="405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75" name="목표"/>
          <p:cNvSpPr>
            <a:spLocks noGrp="1"/>
          </p:cNvSpPr>
          <p:nvPr>
            <p:ph type="body" sz="quarter" idx="55"/>
          </p:nvPr>
        </p:nvSpPr>
        <p:spPr>
          <a:xfrm>
            <a:off x="5741217" y="2552870"/>
            <a:ext cx="1205217" cy="405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76" name="행 틀"/>
          <p:cNvSpPr/>
          <p:nvPr/>
        </p:nvSpPr>
        <p:spPr>
          <a:xfrm>
            <a:off x="723130" y="3122609"/>
            <a:ext cx="6300000" cy="591652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레일"/>
          <p:cNvSpPr/>
          <p:nvPr/>
        </p:nvSpPr>
        <p:spPr>
          <a:xfrm>
            <a:off x="734087" y="3133565"/>
            <a:ext cx="591652" cy="5697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8" name="레일"/>
          <p:cNvSpPr>
            <a:spLocks noGrp="1"/>
          </p:cNvSpPr>
          <p:nvPr>
            <p:ph type="body" sz="quarter" idx="56"/>
          </p:nvPr>
        </p:nvSpPr>
        <p:spPr>
          <a:xfrm>
            <a:off x="734087" y="3133565"/>
            <a:ext cx="591652" cy="5697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적극행정</a:t>
            </a:r>
          </a:p>
        </p:txBody>
      </p:sp>
      <p:sp>
        <p:nvSpPr>
          <p:cNvPr id="79" name="행 글"/>
          <p:cNvSpPr>
            <a:spLocks noGrp="1"/>
          </p:cNvSpPr>
          <p:nvPr>
            <p:ph type="body" sz="quarter" idx="57"/>
          </p:nvPr>
        </p:nvSpPr>
        <p:spPr>
          <a:xfrm>
            <a:off x="1358609" y="3122609"/>
            <a:ext cx="3247294" cy="59165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적극행정 우수사례 경진대회를 열어 현장 제안 12건 발굴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규제 개선 과제 5건 실행으로 민원 처리 기간 단축</a:t>
            </a:r>
          </a:p>
        </p:txBody>
      </p:sp>
      <p:sp>
        <p:nvSpPr>
          <p:cNvPr id="80" name="요약 박스"/>
          <p:cNvSpPr/>
          <p:nvPr/>
        </p:nvSpPr>
        <p:spPr>
          <a:xfrm>
            <a:off x="4638772" y="3155478"/>
            <a:ext cx="895805" cy="52591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81" name="요약 박스"/>
          <p:cNvSpPr>
            <a:spLocks noGrp="1"/>
          </p:cNvSpPr>
          <p:nvPr>
            <p:ph type="body" sz="quarter" idx="58"/>
          </p:nvPr>
        </p:nvSpPr>
        <p:spPr>
          <a:xfrm>
            <a:off x="4638772" y="3155478"/>
            <a:ext cx="895805" cy="525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처리기간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30% 단축</a:t>
            </a:r>
          </a:p>
        </p:txBody>
      </p:sp>
      <p:sp>
        <p:nvSpPr>
          <p:cNvPr id="82" name="사진 칸"/>
          <p:cNvSpPr/>
          <p:nvPr/>
        </p:nvSpPr>
        <p:spPr>
          <a:xfrm>
            <a:off x="5567447" y="3144522"/>
            <a:ext cx="1433770" cy="547826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83" name="사진 칸"/>
          <p:cNvSpPr>
            <a:spLocks noGrp="1"/>
          </p:cNvSpPr>
          <p:nvPr>
            <p:ph type="body" sz="quarter" idx="59"/>
          </p:nvPr>
        </p:nvSpPr>
        <p:spPr>
          <a:xfrm>
            <a:off x="5567447" y="3144522"/>
            <a:ext cx="1433770" cy="547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84" name="행 틀"/>
          <p:cNvSpPr/>
          <p:nvPr/>
        </p:nvSpPr>
        <p:spPr>
          <a:xfrm>
            <a:off x="723130" y="3736174"/>
            <a:ext cx="6300000" cy="591652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레일"/>
          <p:cNvSpPr/>
          <p:nvPr/>
        </p:nvSpPr>
        <p:spPr>
          <a:xfrm>
            <a:off x="734087" y="3747130"/>
            <a:ext cx="591652" cy="5697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6" name="레일"/>
          <p:cNvSpPr>
            <a:spLocks noGrp="1"/>
          </p:cNvSpPr>
          <p:nvPr>
            <p:ph type="body" sz="quarter" idx="60"/>
          </p:nvPr>
        </p:nvSpPr>
        <p:spPr>
          <a:xfrm>
            <a:off x="734087" y="3747130"/>
            <a:ext cx="591652" cy="5697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규제개선</a:t>
            </a:r>
          </a:p>
        </p:txBody>
      </p:sp>
      <p:sp>
        <p:nvSpPr>
          <p:cNvPr id="87" name="행 글"/>
          <p:cNvSpPr>
            <a:spLocks noGrp="1"/>
          </p:cNvSpPr>
          <p:nvPr>
            <p:ph type="body" sz="quarter" idx="61"/>
          </p:nvPr>
        </p:nvSpPr>
        <p:spPr>
          <a:xfrm>
            <a:off x="1358609" y="3736174"/>
            <a:ext cx="3247294" cy="59165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불필요한 인허가 서류 7종 폐지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온라인 일괄 접수 창구 개설</a:t>
            </a:r>
          </a:p>
        </p:txBody>
      </p:sp>
      <p:sp>
        <p:nvSpPr>
          <p:cNvPr id="88" name="요약 박스"/>
          <p:cNvSpPr/>
          <p:nvPr/>
        </p:nvSpPr>
        <p:spPr>
          <a:xfrm>
            <a:off x="4638772" y="3769043"/>
            <a:ext cx="895805" cy="52591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89" name="요약 박스"/>
          <p:cNvSpPr>
            <a:spLocks noGrp="1"/>
          </p:cNvSpPr>
          <p:nvPr>
            <p:ph type="body" sz="quarter" idx="62"/>
          </p:nvPr>
        </p:nvSpPr>
        <p:spPr>
          <a:xfrm>
            <a:off x="4638772" y="3769043"/>
            <a:ext cx="895805" cy="525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서류 부담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40% 감소</a:t>
            </a:r>
          </a:p>
        </p:txBody>
      </p:sp>
      <p:sp>
        <p:nvSpPr>
          <p:cNvPr id="90" name="사진 칸"/>
          <p:cNvSpPr/>
          <p:nvPr/>
        </p:nvSpPr>
        <p:spPr>
          <a:xfrm>
            <a:off x="5567447" y="3758087"/>
            <a:ext cx="1433770" cy="547826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91" name="사진 칸"/>
          <p:cNvSpPr>
            <a:spLocks noGrp="1"/>
          </p:cNvSpPr>
          <p:nvPr>
            <p:ph type="body" sz="quarter" idx="63"/>
          </p:nvPr>
        </p:nvSpPr>
        <p:spPr>
          <a:xfrm>
            <a:off x="5567447" y="3758087"/>
            <a:ext cx="1433770" cy="547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21 서사 · Best Practice 사례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현장 제안 기반 안전 문화 확산</a:t>
            </a:r>
          </a:p>
        </p:txBody>
      </p:sp>
      <p:sp>
        <p:nvSpPr>
          <p:cNvPr id="15" name="번호 띠 칩"/>
          <p:cNvSpPr/>
          <p:nvPr/>
        </p:nvSpPr>
        <p:spPr>
          <a:xfrm>
            <a:off x="6265613" y="832696"/>
            <a:ext cx="505517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번호 띠 칩"/>
          <p:cNvSpPr>
            <a:spLocks noGrp="1"/>
          </p:cNvSpPr>
          <p:nvPr>
            <p:ph type="body" sz="quarter" idx="22"/>
          </p:nvPr>
        </p:nvSpPr>
        <p:spPr>
          <a:xfrm>
            <a:off x="6265613" y="832696"/>
            <a:ext cx="50551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17" name="박스 외곽"/>
          <p:cNvSpPr/>
          <p:nvPr/>
        </p:nvSpPr>
        <p:spPr>
          <a:xfrm>
            <a:off x="536870" y="1150435"/>
            <a:ext cx="6300000" cy="1040870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BP 라벨"/>
          <p:cNvSpPr/>
          <p:nvPr/>
        </p:nvSpPr>
        <p:spPr>
          <a:xfrm>
            <a:off x="536870" y="1150435"/>
            <a:ext cx="712174" cy="10408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9" name="BP 라벨"/>
          <p:cNvSpPr>
            <a:spLocks noGrp="1"/>
          </p:cNvSpPr>
          <p:nvPr>
            <p:ph type="body" sz="quarter" idx="23"/>
          </p:nvPr>
        </p:nvSpPr>
        <p:spPr>
          <a:xfrm>
            <a:off x="536870" y="1150435"/>
            <a:ext cx="712174" cy="104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Best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Practice</a:t>
            </a:r>
          </a:p>
        </p:txBody>
      </p:sp>
      <p:sp>
        <p:nvSpPr>
          <p:cNvPr id="20" name="제목 띠"/>
          <p:cNvSpPr/>
          <p:nvPr/>
        </p:nvSpPr>
        <p:spPr>
          <a:xfrm>
            <a:off x="1270957" y="1172348"/>
            <a:ext cx="5544000" cy="306783"/>
          </a:xfrm>
          <a:prstGeom prst="rect">
            <a:avLst/>
          </a:pr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BP 제목"/>
          <p:cNvSpPr>
            <a:spLocks noGrp="1"/>
          </p:cNvSpPr>
          <p:nvPr>
            <p:ph type="body" sz="quarter" idx="24"/>
          </p:nvPr>
        </p:nvSpPr>
        <p:spPr>
          <a:xfrm>
            <a:off x="1358609" y="1172348"/>
            <a:ext cx="5412522" cy="30678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1" spc="-8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spc="-80" dirty="0">
                <a:solidFill>
                  <a:srgbClr val="000359"/>
                </a:solidFill>
                <a:latin typeface="Pretendard"/>
                <a:ea typeface="Pretendard"/>
              </a:rPr>
              <a:t>현장 제안 기반 위험요인 개선 사례</a:t>
            </a:r>
          </a:p>
        </p:txBody>
      </p:sp>
      <p:sp>
        <p:nvSpPr>
          <p:cNvPr id="22" name="BP 문장"/>
          <p:cNvSpPr>
            <a:spLocks noGrp="1"/>
          </p:cNvSpPr>
          <p:nvPr>
            <p:ph type="body" sz="quarter" idx="25"/>
          </p:nvPr>
        </p:nvSpPr>
        <p:spPr>
          <a:xfrm>
            <a:off x="1336696" y="1512000"/>
            <a:ext cx="5434435" cy="635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현장 근로자 제안을 모아 위험요인 개선 과제로 연결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개선 전후 사진과 점검표를 공유하는 사례집을 발간해 전 사업장으로 확산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재해 위험 신고 건수가 전년 대비 증가해 예방 문화가 정착</a:t>
            </a:r>
          </a:p>
        </p:txBody>
      </p:sp>
      <p:sp>
        <p:nvSpPr>
          <p:cNvPr id="23" name="행 틀"/>
          <p:cNvSpPr/>
          <p:nvPr/>
        </p:nvSpPr>
        <p:spPr>
          <a:xfrm>
            <a:off x="536870" y="2257043"/>
            <a:ext cx="6300000" cy="591652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레일"/>
          <p:cNvSpPr/>
          <p:nvPr/>
        </p:nvSpPr>
        <p:spPr>
          <a:xfrm>
            <a:off x="547826" y="2268000"/>
            <a:ext cx="591652" cy="5697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6"/>
          </p:nvPr>
        </p:nvSpPr>
        <p:spPr>
          <a:xfrm>
            <a:off x="547826" y="2268000"/>
            <a:ext cx="591652" cy="5697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적극행정</a:t>
            </a:r>
          </a:p>
        </p:txBody>
      </p:sp>
      <p:sp>
        <p:nvSpPr>
          <p:cNvPr id="26" name="행 글"/>
          <p:cNvSpPr>
            <a:spLocks noGrp="1"/>
          </p:cNvSpPr>
          <p:nvPr>
            <p:ph type="body" sz="quarter" idx="27"/>
          </p:nvPr>
        </p:nvSpPr>
        <p:spPr>
          <a:xfrm>
            <a:off x="1172348" y="2257043"/>
            <a:ext cx="3247294" cy="59165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적극행정 우수사례 경진대회를 열어 현장 제안 12건 발굴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규제 개선 과제 5건 실행으로 민원 처리 기간 단축</a:t>
            </a:r>
          </a:p>
        </p:txBody>
      </p:sp>
      <p:sp>
        <p:nvSpPr>
          <p:cNvPr id="27" name="요약 박스"/>
          <p:cNvSpPr/>
          <p:nvPr/>
        </p:nvSpPr>
        <p:spPr>
          <a:xfrm>
            <a:off x="4452511" y="2289913"/>
            <a:ext cx="895805" cy="52591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28" name="요약 박스"/>
          <p:cNvSpPr>
            <a:spLocks noGrp="1"/>
          </p:cNvSpPr>
          <p:nvPr>
            <p:ph type="body" sz="quarter" idx="28"/>
          </p:nvPr>
        </p:nvSpPr>
        <p:spPr>
          <a:xfrm>
            <a:off x="4452511" y="2289913"/>
            <a:ext cx="895805" cy="525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처리기간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30% 단축</a:t>
            </a:r>
          </a:p>
        </p:txBody>
      </p:sp>
      <p:sp>
        <p:nvSpPr>
          <p:cNvPr id="29" name="사진 칸"/>
          <p:cNvSpPr/>
          <p:nvPr/>
        </p:nvSpPr>
        <p:spPr>
          <a:xfrm>
            <a:off x="5381186" y="2278957"/>
            <a:ext cx="1433770" cy="547826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0" name="사진 칸"/>
          <p:cNvSpPr>
            <a:spLocks noGrp="1"/>
          </p:cNvSpPr>
          <p:nvPr>
            <p:ph type="body" sz="quarter" idx="29"/>
          </p:nvPr>
        </p:nvSpPr>
        <p:spPr>
          <a:xfrm>
            <a:off x="5381186" y="2278957"/>
            <a:ext cx="1433770" cy="547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31" name="행 틀"/>
          <p:cNvSpPr/>
          <p:nvPr/>
        </p:nvSpPr>
        <p:spPr>
          <a:xfrm>
            <a:off x="536870" y="2870609"/>
            <a:ext cx="6300000" cy="591652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레일"/>
          <p:cNvSpPr/>
          <p:nvPr/>
        </p:nvSpPr>
        <p:spPr>
          <a:xfrm>
            <a:off x="547826" y="2881565"/>
            <a:ext cx="591652" cy="56973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3" name="레일"/>
          <p:cNvSpPr>
            <a:spLocks noGrp="1"/>
          </p:cNvSpPr>
          <p:nvPr>
            <p:ph type="body" sz="quarter" idx="30"/>
          </p:nvPr>
        </p:nvSpPr>
        <p:spPr>
          <a:xfrm>
            <a:off x="547826" y="2881565"/>
            <a:ext cx="591652" cy="5697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규제개선</a:t>
            </a:r>
          </a:p>
        </p:txBody>
      </p:sp>
      <p:sp>
        <p:nvSpPr>
          <p:cNvPr id="34" name="행 글"/>
          <p:cNvSpPr>
            <a:spLocks noGrp="1"/>
          </p:cNvSpPr>
          <p:nvPr>
            <p:ph type="body" sz="quarter" idx="31"/>
          </p:nvPr>
        </p:nvSpPr>
        <p:spPr>
          <a:xfrm>
            <a:off x="1172348" y="2870609"/>
            <a:ext cx="3247294" cy="59165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불필요한 인허가 서류 7종 폐지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온라인 일괄 접수 창구 개설</a:t>
            </a:r>
          </a:p>
        </p:txBody>
      </p:sp>
      <p:sp>
        <p:nvSpPr>
          <p:cNvPr id="35" name="요약 박스"/>
          <p:cNvSpPr/>
          <p:nvPr/>
        </p:nvSpPr>
        <p:spPr>
          <a:xfrm>
            <a:off x="4452511" y="2903478"/>
            <a:ext cx="895805" cy="52591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36" name="요약 박스"/>
          <p:cNvSpPr>
            <a:spLocks noGrp="1"/>
          </p:cNvSpPr>
          <p:nvPr>
            <p:ph type="body" sz="quarter" idx="32"/>
          </p:nvPr>
        </p:nvSpPr>
        <p:spPr>
          <a:xfrm>
            <a:off x="4452511" y="2903478"/>
            <a:ext cx="895805" cy="525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서류 부담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40% 감소</a:t>
            </a:r>
          </a:p>
        </p:txBody>
      </p:sp>
      <p:sp>
        <p:nvSpPr>
          <p:cNvPr id="37" name="사진 칸"/>
          <p:cNvSpPr/>
          <p:nvPr/>
        </p:nvSpPr>
        <p:spPr>
          <a:xfrm>
            <a:off x="5381186" y="2892522"/>
            <a:ext cx="1433770" cy="547826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8" name="사진 칸"/>
          <p:cNvSpPr>
            <a:spLocks noGrp="1"/>
          </p:cNvSpPr>
          <p:nvPr>
            <p:ph type="body" sz="quarter" idx="33"/>
          </p:nvPr>
        </p:nvSpPr>
        <p:spPr>
          <a:xfrm>
            <a:off x="5381186" y="2892522"/>
            <a:ext cx="1433770" cy="547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22 서사 · 중점 과제 그룹 → 추진 조직 · 네트워크 → 대외 수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그룹 틀"/>
          <p:cNvSpPr/>
          <p:nvPr/>
        </p:nvSpPr>
        <p:spPr>
          <a:xfrm>
            <a:off x="723130" y="997043"/>
            <a:ext cx="6300000" cy="1764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캡션"/>
          <p:cNvSpPr/>
          <p:nvPr/>
        </p:nvSpPr>
        <p:spPr>
          <a:xfrm>
            <a:off x="1479130" y="777913"/>
            <a:ext cx="478800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1" name="캡션"/>
          <p:cNvSpPr>
            <a:spLocks noGrp="1"/>
          </p:cNvSpPr>
          <p:nvPr>
            <p:ph type="body" sz="quarter" idx="20"/>
          </p:nvPr>
        </p:nvSpPr>
        <p:spPr>
          <a:xfrm>
            <a:off x="1479130" y="777913"/>
            <a:ext cx="4788000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분야별 중점 과제</a:t>
            </a:r>
          </a:p>
        </p:txBody>
      </p:sp>
      <p:sp>
        <p:nvSpPr>
          <p:cNvPr id="12" name="분야 박스"/>
          <p:cNvSpPr/>
          <p:nvPr/>
        </p:nvSpPr>
        <p:spPr>
          <a:xfrm>
            <a:off x="777913" y="1062783"/>
            <a:ext cx="1525696" cy="1643478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분야 머리"/>
          <p:cNvSpPr>
            <a:spLocks noGrp="1"/>
          </p:cNvSpPr>
          <p:nvPr>
            <p:ph type="body" sz="quarter" idx="21"/>
          </p:nvPr>
        </p:nvSpPr>
        <p:spPr>
          <a:xfrm>
            <a:off x="777913" y="1073739"/>
            <a:ext cx="1525696" cy="23008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안전</a:t>
            </a:r>
          </a:p>
        </p:txBody>
      </p:sp>
      <p:sp>
        <p:nvSpPr>
          <p:cNvPr id="14" name="번호"/>
          <p:cNvSpPr/>
          <p:nvPr/>
        </p:nvSpPr>
        <p:spPr>
          <a:xfrm>
            <a:off x="821739" y="1566783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5" name="번호"/>
          <p:cNvSpPr>
            <a:spLocks noGrp="1"/>
          </p:cNvSpPr>
          <p:nvPr>
            <p:ph type="body" sz="quarter" idx="22"/>
          </p:nvPr>
        </p:nvSpPr>
        <p:spPr>
          <a:xfrm>
            <a:off x="821739" y="1566783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6" name="과제 글"/>
          <p:cNvSpPr>
            <a:spLocks noGrp="1"/>
          </p:cNvSpPr>
          <p:nvPr>
            <p:ph type="body" sz="quarter" idx="23"/>
          </p:nvPr>
        </p:nvSpPr>
        <p:spPr>
          <a:xfrm>
            <a:off x="1040870" y="1533913"/>
            <a:ext cx="119700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위험성 평가 체계 고도화</a:t>
            </a:r>
          </a:p>
        </p:txBody>
      </p:sp>
      <p:sp>
        <p:nvSpPr>
          <p:cNvPr id="17" name="번호"/>
          <p:cNvSpPr/>
          <p:nvPr/>
        </p:nvSpPr>
        <p:spPr>
          <a:xfrm>
            <a:off x="821739" y="1939304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8" name="번호"/>
          <p:cNvSpPr>
            <a:spLocks noGrp="1"/>
          </p:cNvSpPr>
          <p:nvPr>
            <p:ph type="body" sz="quarter" idx="24"/>
          </p:nvPr>
        </p:nvSpPr>
        <p:spPr>
          <a:xfrm>
            <a:off x="821739" y="1939304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9" name="과제 글"/>
          <p:cNvSpPr>
            <a:spLocks noGrp="1"/>
          </p:cNvSpPr>
          <p:nvPr>
            <p:ph type="body" sz="quarter" idx="25"/>
          </p:nvPr>
        </p:nvSpPr>
        <p:spPr>
          <a:xfrm>
            <a:off x="1040870" y="1906435"/>
            <a:ext cx="119700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협력사 합동점검 확대</a:t>
            </a:r>
          </a:p>
        </p:txBody>
      </p:sp>
      <p:sp>
        <p:nvSpPr>
          <p:cNvPr id="20" name="번호"/>
          <p:cNvSpPr/>
          <p:nvPr/>
        </p:nvSpPr>
        <p:spPr>
          <a:xfrm>
            <a:off x="821739" y="2311826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21" name="번호"/>
          <p:cNvSpPr>
            <a:spLocks noGrp="1"/>
          </p:cNvSpPr>
          <p:nvPr>
            <p:ph type="body" sz="quarter" idx="26"/>
          </p:nvPr>
        </p:nvSpPr>
        <p:spPr>
          <a:xfrm>
            <a:off x="821739" y="2311826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2" name="과제 글"/>
          <p:cNvSpPr>
            <a:spLocks noGrp="1"/>
          </p:cNvSpPr>
          <p:nvPr>
            <p:ph type="body" sz="quarter" idx="27"/>
          </p:nvPr>
        </p:nvSpPr>
        <p:spPr>
          <a:xfrm>
            <a:off x="1040870" y="2278957"/>
            <a:ext cx="119700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비상 대응훈련 정례화</a:t>
            </a:r>
          </a:p>
        </p:txBody>
      </p:sp>
      <p:sp>
        <p:nvSpPr>
          <p:cNvPr id="23" name="분야 박스"/>
          <p:cNvSpPr/>
          <p:nvPr/>
        </p:nvSpPr>
        <p:spPr>
          <a:xfrm>
            <a:off x="2347435" y="1062783"/>
            <a:ext cx="1525696" cy="1643478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분야 머리"/>
          <p:cNvSpPr>
            <a:spLocks noGrp="1"/>
          </p:cNvSpPr>
          <p:nvPr>
            <p:ph type="body" sz="quarter" idx="28"/>
          </p:nvPr>
        </p:nvSpPr>
        <p:spPr>
          <a:xfrm>
            <a:off x="2347435" y="1073739"/>
            <a:ext cx="1525696" cy="23008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윤리</a:t>
            </a:r>
          </a:p>
        </p:txBody>
      </p:sp>
      <p:sp>
        <p:nvSpPr>
          <p:cNvPr id="25" name="번호"/>
          <p:cNvSpPr/>
          <p:nvPr/>
        </p:nvSpPr>
        <p:spPr>
          <a:xfrm>
            <a:off x="2391261" y="1566783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26" name="번호"/>
          <p:cNvSpPr>
            <a:spLocks noGrp="1"/>
          </p:cNvSpPr>
          <p:nvPr>
            <p:ph type="body" sz="quarter" idx="29"/>
          </p:nvPr>
        </p:nvSpPr>
        <p:spPr>
          <a:xfrm>
            <a:off x="2391261" y="1566783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7" name="과제 글"/>
          <p:cNvSpPr>
            <a:spLocks noGrp="1"/>
          </p:cNvSpPr>
          <p:nvPr>
            <p:ph type="body" sz="quarter" idx="30"/>
          </p:nvPr>
        </p:nvSpPr>
        <p:spPr>
          <a:xfrm>
            <a:off x="2610391" y="1533913"/>
            <a:ext cx="119700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청렴 자가진단 상시화</a:t>
            </a:r>
          </a:p>
        </p:txBody>
      </p:sp>
      <p:sp>
        <p:nvSpPr>
          <p:cNvPr id="28" name="번호"/>
          <p:cNvSpPr/>
          <p:nvPr/>
        </p:nvSpPr>
        <p:spPr>
          <a:xfrm>
            <a:off x="2391261" y="1939304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29" name="번호"/>
          <p:cNvSpPr>
            <a:spLocks noGrp="1"/>
          </p:cNvSpPr>
          <p:nvPr>
            <p:ph type="body" sz="quarter" idx="31"/>
          </p:nvPr>
        </p:nvSpPr>
        <p:spPr>
          <a:xfrm>
            <a:off x="2391261" y="1939304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30" name="과제 글"/>
          <p:cNvSpPr>
            <a:spLocks noGrp="1"/>
          </p:cNvSpPr>
          <p:nvPr>
            <p:ph type="body" sz="quarter" idx="32"/>
          </p:nvPr>
        </p:nvSpPr>
        <p:spPr>
          <a:xfrm>
            <a:off x="2610391" y="1906435"/>
            <a:ext cx="119700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부패 취약분야 개선</a:t>
            </a:r>
          </a:p>
        </p:txBody>
      </p:sp>
      <p:sp>
        <p:nvSpPr>
          <p:cNvPr id="31" name="번호"/>
          <p:cNvSpPr/>
          <p:nvPr/>
        </p:nvSpPr>
        <p:spPr>
          <a:xfrm>
            <a:off x="2391261" y="2311826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2" name="번호"/>
          <p:cNvSpPr>
            <a:spLocks noGrp="1"/>
          </p:cNvSpPr>
          <p:nvPr>
            <p:ph type="body" sz="quarter" idx="33"/>
          </p:nvPr>
        </p:nvSpPr>
        <p:spPr>
          <a:xfrm>
            <a:off x="2391261" y="2311826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33" name="과제 글"/>
          <p:cNvSpPr>
            <a:spLocks noGrp="1"/>
          </p:cNvSpPr>
          <p:nvPr>
            <p:ph type="body" sz="quarter" idx="34"/>
          </p:nvPr>
        </p:nvSpPr>
        <p:spPr>
          <a:xfrm>
            <a:off x="2610391" y="2278957"/>
            <a:ext cx="119700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 신고 보호 강화</a:t>
            </a:r>
          </a:p>
        </p:txBody>
      </p:sp>
      <p:sp>
        <p:nvSpPr>
          <p:cNvPr id="34" name="분야 박스"/>
          <p:cNvSpPr/>
          <p:nvPr/>
        </p:nvSpPr>
        <p:spPr>
          <a:xfrm>
            <a:off x="3916957" y="1062783"/>
            <a:ext cx="3051391" cy="1643478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분야 머리"/>
          <p:cNvSpPr>
            <a:spLocks noGrp="1"/>
          </p:cNvSpPr>
          <p:nvPr>
            <p:ph type="body" sz="quarter" idx="35"/>
          </p:nvPr>
        </p:nvSpPr>
        <p:spPr>
          <a:xfrm>
            <a:off x="3916957" y="1073739"/>
            <a:ext cx="3051391" cy="23008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사회가치</a:t>
            </a:r>
          </a:p>
        </p:txBody>
      </p:sp>
      <p:sp>
        <p:nvSpPr>
          <p:cNvPr id="36" name="소분야"/>
          <p:cNvSpPr/>
          <p:nvPr/>
        </p:nvSpPr>
        <p:spPr>
          <a:xfrm>
            <a:off x="3949826" y="1314783"/>
            <a:ext cx="1470913" cy="186261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7" name="소분야"/>
          <p:cNvSpPr>
            <a:spLocks noGrp="1"/>
          </p:cNvSpPr>
          <p:nvPr>
            <p:ph type="body" sz="quarter" idx="36"/>
          </p:nvPr>
        </p:nvSpPr>
        <p:spPr>
          <a:xfrm>
            <a:off x="3949826" y="1314783"/>
            <a:ext cx="1470913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상생</a:t>
            </a:r>
          </a:p>
        </p:txBody>
      </p:sp>
      <p:sp>
        <p:nvSpPr>
          <p:cNvPr id="38" name="번호"/>
          <p:cNvSpPr/>
          <p:nvPr/>
        </p:nvSpPr>
        <p:spPr>
          <a:xfrm>
            <a:off x="3960783" y="1566783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9" name="번호"/>
          <p:cNvSpPr>
            <a:spLocks noGrp="1"/>
          </p:cNvSpPr>
          <p:nvPr>
            <p:ph type="body" sz="quarter" idx="37"/>
          </p:nvPr>
        </p:nvSpPr>
        <p:spPr>
          <a:xfrm>
            <a:off x="3960783" y="1566783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0" name="과제 글"/>
          <p:cNvSpPr>
            <a:spLocks noGrp="1"/>
          </p:cNvSpPr>
          <p:nvPr>
            <p:ph type="body" sz="quarter" idx="38"/>
          </p:nvPr>
        </p:nvSpPr>
        <p:spPr>
          <a:xfrm>
            <a:off x="4179913" y="1533913"/>
            <a:ext cx="122987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중소기업 판로 지원</a:t>
            </a:r>
          </a:p>
        </p:txBody>
      </p:sp>
      <p:sp>
        <p:nvSpPr>
          <p:cNvPr id="41" name="번호"/>
          <p:cNvSpPr/>
          <p:nvPr/>
        </p:nvSpPr>
        <p:spPr>
          <a:xfrm>
            <a:off x="3960783" y="1939304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42" name="번호"/>
          <p:cNvSpPr>
            <a:spLocks noGrp="1"/>
          </p:cNvSpPr>
          <p:nvPr>
            <p:ph type="body" sz="quarter" idx="39"/>
          </p:nvPr>
        </p:nvSpPr>
        <p:spPr>
          <a:xfrm>
            <a:off x="3960783" y="1939304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8</a:t>
            </a:r>
          </a:p>
        </p:txBody>
      </p:sp>
      <p:sp>
        <p:nvSpPr>
          <p:cNvPr id="43" name="과제 글"/>
          <p:cNvSpPr>
            <a:spLocks noGrp="1"/>
          </p:cNvSpPr>
          <p:nvPr>
            <p:ph type="body" sz="quarter" idx="40"/>
          </p:nvPr>
        </p:nvSpPr>
        <p:spPr>
          <a:xfrm>
            <a:off x="4179913" y="1906435"/>
            <a:ext cx="122987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지역 일자리 연계</a:t>
            </a:r>
          </a:p>
        </p:txBody>
      </p:sp>
      <p:sp>
        <p:nvSpPr>
          <p:cNvPr id="44" name="번호"/>
          <p:cNvSpPr/>
          <p:nvPr/>
        </p:nvSpPr>
        <p:spPr>
          <a:xfrm>
            <a:off x="3960783" y="2311826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45" name="번호"/>
          <p:cNvSpPr>
            <a:spLocks noGrp="1"/>
          </p:cNvSpPr>
          <p:nvPr>
            <p:ph type="body" sz="quarter" idx="41"/>
          </p:nvPr>
        </p:nvSpPr>
        <p:spPr>
          <a:xfrm>
            <a:off x="3960783" y="2311826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9</a:t>
            </a:r>
          </a:p>
        </p:txBody>
      </p:sp>
      <p:sp>
        <p:nvSpPr>
          <p:cNvPr id="46" name="과제 글"/>
          <p:cNvSpPr>
            <a:spLocks noGrp="1"/>
          </p:cNvSpPr>
          <p:nvPr>
            <p:ph type="body" sz="quarter" idx="42"/>
          </p:nvPr>
        </p:nvSpPr>
        <p:spPr>
          <a:xfrm>
            <a:off x="4179913" y="2278957"/>
            <a:ext cx="122987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 기금 운영</a:t>
            </a:r>
          </a:p>
        </p:txBody>
      </p:sp>
      <p:sp>
        <p:nvSpPr>
          <p:cNvPr id="47" name="소분야"/>
          <p:cNvSpPr/>
          <p:nvPr/>
        </p:nvSpPr>
        <p:spPr>
          <a:xfrm>
            <a:off x="5442652" y="1314783"/>
            <a:ext cx="1470913" cy="186261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8" name="소분야"/>
          <p:cNvSpPr>
            <a:spLocks noGrp="1"/>
          </p:cNvSpPr>
          <p:nvPr>
            <p:ph type="body" sz="quarter" idx="43"/>
          </p:nvPr>
        </p:nvSpPr>
        <p:spPr>
          <a:xfrm>
            <a:off x="5442652" y="1314783"/>
            <a:ext cx="1470913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환경</a:t>
            </a:r>
          </a:p>
        </p:txBody>
      </p:sp>
      <p:sp>
        <p:nvSpPr>
          <p:cNvPr id="49" name="번호"/>
          <p:cNvSpPr/>
          <p:nvPr/>
        </p:nvSpPr>
        <p:spPr>
          <a:xfrm>
            <a:off x="5453609" y="1566783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50" name="번호"/>
          <p:cNvSpPr>
            <a:spLocks noGrp="1"/>
          </p:cNvSpPr>
          <p:nvPr>
            <p:ph type="body" sz="quarter" idx="44"/>
          </p:nvPr>
        </p:nvSpPr>
        <p:spPr>
          <a:xfrm>
            <a:off x="5453609" y="1566783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1" name="과제 글"/>
          <p:cNvSpPr>
            <a:spLocks noGrp="1"/>
          </p:cNvSpPr>
          <p:nvPr>
            <p:ph type="body" sz="quarter" idx="45"/>
          </p:nvPr>
        </p:nvSpPr>
        <p:spPr>
          <a:xfrm>
            <a:off x="5672739" y="1533913"/>
            <a:ext cx="122987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탄소 감축 이행</a:t>
            </a:r>
          </a:p>
        </p:txBody>
      </p:sp>
      <p:sp>
        <p:nvSpPr>
          <p:cNvPr id="52" name="번호"/>
          <p:cNvSpPr/>
          <p:nvPr/>
        </p:nvSpPr>
        <p:spPr>
          <a:xfrm>
            <a:off x="5453609" y="1939304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53" name="번호"/>
          <p:cNvSpPr>
            <a:spLocks noGrp="1"/>
          </p:cNvSpPr>
          <p:nvPr>
            <p:ph type="body" sz="quarter" idx="46"/>
          </p:nvPr>
        </p:nvSpPr>
        <p:spPr>
          <a:xfrm>
            <a:off x="5453609" y="1939304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54" name="과제 글"/>
          <p:cNvSpPr>
            <a:spLocks noGrp="1"/>
          </p:cNvSpPr>
          <p:nvPr>
            <p:ph type="body" sz="quarter" idx="47"/>
          </p:nvPr>
        </p:nvSpPr>
        <p:spPr>
          <a:xfrm>
            <a:off x="5672739" y="1906435"/>
            <a:ext cx="122987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친환경 구매 확대</a:t>
            </a:r>
          </a:p>
        </p:txBody>
      </p:sp>
      <p:sp>
        <p:nvSpPr>
          <p:cNvPr id="55" name="번호"/>
          <p:cNvSpPr/>
          <p:nvPr/>
        </p:nvSpPr>
        <p:spPr>
          <a:xfrm>
            <a:off x="5453609" y="2311826"/>
            <a:ext cx="186261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56" name="번호"/>
          <p:cNvSpPr>
            <a:spLocks noGrp="1"/>
          </p:cNvSpPr>
          <p:nvPr>
            <p:ph type="body" sz="quarter" idx="48"/>
          </p:nvPr>
        </p:nvSpPr>
        <p:spPr>
          <a:xfrm>
            <a:off x="5453609" y="2311826"/>
            <a:ext cx="186261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12</a:t>
            </a:r>
          </a:p>
        </p:txBody>
      </p:sp>
      <p:sp>
        <p:nvSpPr>
          <p:cNvPr id="57" name="과제 글"/>
          <p:cNvSpPr>
            <a:spLocks noGrp="1"/>
          </p:cNvSpPr>
          <p:nvPr>
            <p:ph type="body" sz="quarter" idx="49"/>
          </p:nvPr>
        </p:nvSpPr>
        <p:spPr>
          <a:xfrm>
            <a:off x="5672739" y="2278957"/>
            <a:ext cx="1229870" cy="350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자원 순환 강화</a:t>
            </a:r>
          </a:p>
        </p:txBody>
      </p:sp>
      <p:sp>
        <p:nvSpPr>
          <p:cNvPr id="58" name="패널 외곽"/>
          <p:cNvSpPr/>
          <p:nvPr/>
        </p:nvSpPr>
        <p:spPr>
          <a:xfrm>
            <a:off x="723130" y="2826783"/>
            <a:ext cx="4158000" cy="1731130"/>
          </a:xfrm>
          <a:prstGeom prst="rect">
            <a:avLst/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패널 머리"/>
          <p:cNvSpPr/>
          <p:nvPr/>
        </p:nvSpPr>
        <p:spPr>
          <a:xfrm>
            <a:off x="723130" y="2826783"/>
            <a:ext cx="4158000" cy="241043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0" name="패널 머리"/>
          <p:cNvSpPr>
            <a:spLocks noGrp="1"/>
          </p:cNvSpPr>
          <p:nvPr>
            <p:ph type="body" sz="quarter" idx="50"/>
          </p:nvPr>
        </p:nvSpPr>
        <p:spPr>
          <a:xfrm>
            <a:off x="723130" y="2826783"/>
            <a:ext cx="415800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 조직</a:t>
            </a:r>
          </a:p>
        </p:txBody>
      </p:sp>
      <p:sp>
        <p:nvSpPr>
          <p:cNvPr id="61" name="패널 외곽"/>
          <p:cNvSpPr/>
          <p:nvPr/>
        </p:nvSpPr>
        <p:spPr>
          <a:xfrm>
            <a:off x="4924957" y="2826783"/>
            <a:ext cx="2098174" cy="1731130"/>
          </a:xfrm>
          <a:prstGeom prst="rect">
            <a:avLst/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패널 머리"/>
          <p:cNvSpPr/>
          <p:nvPr/>
        </p:nvSpPr>
        <p:spPr>
          <a:xfrm>
            <a:off x="4924957" y="2826783"/>
            <a:ext cx="2098174" cy="241043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3" name="패널 머리"/>
          <p:cNvSpPr>
            <a:spLocks noGrp="1"/>
          </p:cNvSpPr>
          <p:nvPr>
            <p:ph type="body" sz="quarter" idx="51"/>
          </p:nvPr>
        </p:nvSpPr>
        <p:spPr>
          <a:xfrm>
            <a:off x="4924957" y="2826783"/>
            <a:ext cx="2098174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협력 네트워크</a:t>
            </a:r>
          </a:p>
        </p:txBody>
      </p:sp>
      <p:sp>
        <p:nvSpPr>
          <p:cNvPr id="64" name="총괄"/>
          <p:cNvSpPr/>
          <p:nvPr/>
        </p:nvSpPr>
        <p:spPr>
          <a:xfrm>
            <a:off x="1626660" y="3133565"/>
            <a:ext cx="1912680" cy="21913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5" name="총괄"/>
          <p:cNvSpPr>
            <a:spLocks noGrp="1"/>
          </p:cNvSpPr>
          <p:nvPr>
            <p:ph type="body" sz="quarter" idx="52"/>
          </p:nvPr>
        </p:nvSpPr>
        <p:spPr>
          <a:xfrm>
            <a:off x="1626660" y="3133565"/>
            <a:ext cx="1912680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안전경영위원회</a:t>
            </a:r>
          </a:p>
        </p:txBody>
      </p:sp>
      <p:sp>
        <p:nvSpPr>
          <p:cNvPr id="66" name="총괄 설명"/>
          <p:cNvSpPr/>
          <p:nvPr/>
        </p:nvSpPr>
        <p:spPr>
          <a:xfrm>
            <a:off x="1626660" y="3352696"/>
            <a:ext cx="1912680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7" name="총괄 설명"/>
          <p:cNvSpPr>
            <a:spLocks noGrp="1"/>
          </p:cNvSpPr>
          <p:nvPr>
            <p:ph type="body" sz="quarter" idx="53"/>
          </p:nvPr>
        </p:nvSpPr>
        <p:spPr>
          <a:xfrm>
            <a:off x="1626660" y="3352696"/>
            <a:ext cx="1912680" cy="1972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위원장: 기관장</a:t>
            </a:r>
          </a:p>
        </p:txBody>
      </p:sp>
      <p:sp>
        <p:nvSpPr>
          <p:cNvPr id="68" name="보조 조직"/>
          <p:cNvSpPr/>
          <p:nvPr/>
        </p:nvSpPr>
        <p:spPr>
          <a:xfrm>
            <a:off x="4059391" y="3133565"/>
            <a:ext cx="756000" cy="19721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9" name="보조 조직"/>
          <p:cNvSpPr>
            <a:spLocks noGrp="1"/>
          </p:cNvSpPr>
          <p:nvPr>
            <p:ph type="body" sz="quarter" idx="54"/>
          </p:nvPr>
        </p:nvSpPr>
        <p:spPr>
          <a:xfrm>
            <a:off x="4059391" y="3133565"/>
            <a:ext cx="756000" cy="1972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자문단</a:t>
            </a:r>
          </a:p>
        </p:txBody>
      </p:sp>
      <p:sp>
        <p:nvSpPr>
          <p:cNvPr id="70" name="보조 글"/>
          <p:cNvSpPr>
            <a:spLocks noGrp="1"/>
          </p:cNvSpPr>
          <p:nvPr>
            <p:ph type="body" sz="quarter" idx="55"/>
          </p:nvPr>
        </p:nvSpPr>
        <p:spPr>
          <a:xfrm>
            <a:off x="4059391" y="3341739"/>
            <a:ext cx="756000" cy="361565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외부 전문가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대표</a:t>
            </a:r>
          </a:p>
        </p:txBody>
      </p:sp>
      <p:cxnSp>
        <p:nvCxnSpPr>
          <p:cNvPr id="71" name="Connector 45"/>
          <p:cNvCxnSpPr/>
          <p:nvPr/>
        </p:nvCxnSpPr>
        <p:spPr>
          <a:xfrm>
            <a:off x="1449000" y="3637565"/>
            <a:ext cx="2706261" cy="0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cxnSp>
        <p:nvCxnSpPr>
          <p:cNvPr id="72" name="Connector 46"/>
          <p:cNvCxnSpPr/>
          <p:nvPr/>
        </p:nvCxnSpPr>
        <p:spPr>
          <a:xfrm>
            <a:off x="2583000" y="3549913"/>
            <a:ext cx="0" cy="87652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cxnSp>
        <p:nvCxnSpPr>
          <p:cNvPr id="73" name="Connector 47"/>
          <p:cNvCxnSpPr/>
          <p:nvPr/>
        </p:nvCxnSpPr>
        <p:spPr>
          <a:xfrm>
            <a:off x="1449000" y="3637565"/>
            <a:ext cx="0" cy="65739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74" name="부서"/>
          <p:cNvSpPr/>
          <p:nvPr/>
        </p:nvSpPr>
        <p:spPr>
          <a:xfrm>
            <a:off x="788870" y="3703304"/>
            <a:ext cx="1320261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5" name="부서"/>
          <p:cNvSpPr>
            <a:spLocks noGrp="1"/>
          </p:cNvSpPr>
          <p:nvPr>
            <p:ph type="body" sz="quarter" idx="56"/>
          </p:nvPr>
        </p:nvSpPr>
        <p:spPr>
          <a:xfrm>
            <a:off x="788870" y="3703304"/>
            <a:ext cx="132026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안전기획부</a:t>
            </a:r>
          </a:p>
        </p:txBody>
      </p:sp>
      <p:sp>
        <p:nvSpPr>
          <p:cNvPr id="76" name="부서 글"/>
          <p:cNvSpPr>
            <a:spLocks noGrp="1"/>
          </p:cNvSpPr>
          <p:nvPr>
            <p:ph type="body" sz="quarter" idx="57"/>
          </p:nvPr>
        </p:nvSpPr>
        <p:spPr>
          <a:xfrm>
            <a:off x="788870" y="3889565"/>
            <a:ext cx="1320261" cy="383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계획 수립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 관리</a:t>
            </a:r>
          </a:p>
        </p:txBody>
      </p:sp>
      <p:cxnSp>
        <p:nvCxnSpPr>
          <p:cNvPr id="77" name="Connector 50"/>
          <p:cNvCxnSpPr/>
          <p:nvPr/>
        </p:nvCxnSpPr>
        <p:spPr>
          <a:xfrm>
            <a:off x="2802130" y="3637565"/>
            <a:ext cx="0" cy="65739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78" name="부서"/>
          <p:cNvSpPr/>
          <p:nvPr/>
        </p:nvSpPr>
        <p:spPr>
          <a:xfrm>
            <a:off x="2142000" y="3703304"/>
            <a:ext cx="1320261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9" name="부서"/>
          <p:cNvSpPr>
            <a:spLocks noGrp="1"/>
          </p:cNvSpPr>
          <p:nvPr>
            <p:ph type="body" sz="quarter" idx="58"/>
          </p:nvPr>
        </p:nvSpPr>
        <p:spPr>
          <a:xfrm>
            <a:off x="2142000" y="3703304"/>
            <a:ext cx="132026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현장지원부</a:t>
            </a:r>
          </a:p>
        </p:txBody>
      </p:sp>
      <p:sp>
        <p:nvSpPr>
          <p:cNvPr id="80" name="부서 글"/>
          <p:cNvSpPr>
            <a:spLocks noGrp="1"/>
          </p:cNvSpPr>
          <p:nvPr>
            <p:ph type="body" sz="quarter" idx="59"/>
          </p:nvPr>
        </p:nvSpPr>
        <p:spPr>
          <a:xfrm>
            <a:off x="2142000" y="3889565"/>
            <a:ext cx="1320261" cy="383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합동점검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교육 운영</a:t>
            </a:r>
          </a:p>
        </p:txBody>
      </p:sp>
      <p:cxnSp>
        <p:nvCxnSpPr>
          <p:cNvPr id="81" name="Connector 53"/>
          <p:cNvCxnSpPr/>
          <p:nvPr/>
        </p:nvCxnSpPr>
        <p:spPr>
          <a:xfrm>
            <a:off x="4155261" y="3637565"/>
            <a:ext cx="0" cy="65739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82" name="부서"/>
          <p:cNvSpPr/>
          <p:nvPr/>
        </p:nvSpPr>
        <p:spPr>
          <a:xfrm>
            <a:off x="3495130" y="3703304"/>
            <a:ext cx="1320261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3" name="부서"/>
          <p:cNvSpPr>
            <a:spLocks noGrp="1"/>
          </p:cNvSpPr>
          <p:nvPr>
            <p:ph type="body" sz="quarter" idx="60"/>
          </p:nvPr>
        </p:nvSpPr>
        <p:spPr>
          <a:xfrm>
            <a:off x="3495130" y="3703304"/>
            <a:ext cx="132026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비상대응부</a:t>
            </a:r>
          </a:p>
        </p:txBody>
      </p:sp>
      <p:sp>
        <p:nvSpPr>
          <p:cNvPr id="84" name="부서 글"/>
          <p:cNvSpPr>
            <a:spLocks noGrp="1"/>
          </p:cNvSpPr>
          <p:nvPr>
            <p:ph type="body" sz="quarter" idx="61"/>
          </p:nvPr>
        </p:nvSpPr>
        <p:spPr>
          <a:xfrm>
            <a:off x="3495130" y="3889565"/>
            <a:ext cx="1320261" cy="383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훈련 시행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상황 관리</a:t>
            </a:r>
          </a:p>
        </p:txBody>
      </p:sp>
      <p:sp>
        <p:nvSpPr>
          <p:cNvPr id="85" name="실행조직"/>
          <p:cNvSpPr/>
          <p:nvPr/>
        </p:nvSpPr>
        <p:spPr>
          <a:xfrm>
            <a:off x="788870" y="4305913"/>
            <a:ext cx="4026522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86" name="실행조직"/>
          <p:cNvSpPr>
            <a:spLocks noGrp="1"/>
          </p:cNvSpPr>
          <p:nvPr>
            <p:ph type="body" sz="quarter" idx="62"/>
          </p:nvPr>
        </p:nvSpPr>
        <p:spPr>
          <a:xfrm>
            <a:off x="788870" y="4305913"/>
            <a:ext cx="4026522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각 사업장 안전관리 책임자 · 현장 점검반</a:t>
            </a:r>
          </a:p>
        </p:txBody>
      </p:sp>
      <p:sp>
        <p:nvSpPr>
          <p:cNvPr id="87" name="분류"/>
          <p:cNvSpPr/>
          <p:nvPr/>
        </p:nvSpPr>
        <p:spPr>
          <a:xfrm>
            <a:off x="4957826" y="3122609"/>
            <a:ext cx="493043" cy="434609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8" name="분류"/>
          <p:cNvSpPr>
            <a:spLocks noGrp="1"/>
          </p:cNvSpPr>
          <p:nvPr>
            <p:ph type="body" sz="quarter" idx="63"/>
          </p:nvPr>
        </p:nvSpPr>
        <p:spPr>
          <a:xfrm>
            <a:off x="4957826" y="3122609"/>
            <a:ext cx="493043" cy="434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공공기관</a:t>
            </a:r>
          </a:p>
        </p:txBody>
      </p:sp>
      <p:sp>
        <p:nvSpPr>
          <p:cNvPr id="89" name="분류 글"/>
          <p:cNvSpPr>
            <a:spLocks noGrp="1"/>
          </p:cNvSpPr>
          <p:nvPr>
            <p:ph type="body" sz="quarter" idx="64"/>
          </p:nvPr>
        </p:nvSpPr>
        <p:spPr>
          <a:xfrm>
            <a:off x="5483739" y="3111652"/>
            <a:ext cx="1506522" cy="46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유관기관 협의회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정보 공유 채널</a:t>
            </a:r>
          </a:p>
        </p:txBody>
      </p:sp>
      <p:cxnSp>
        <p:nvCxnSpPr>
          <p:cNvPr id="90" name="Connector 59"/>
          <p:cNvCxnSpPr/>
          <p:nvPr/>
        </p:nvCxnSpPr>
        <p:spPr>
          <a:xfrm>
            <a:off x="4957826" y="3568174"/>
            <a:ext cx="203243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1" name="분류"/>
          <p:cNvSpPr/>
          <p:nvPr/>
        </p:nvSpPr>
        <p:spPr>
          <a:xfrm>
            <a:off x="4957826" y="3590087"/>
            <a:ext cx="493043" cy="434609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2" name="분류"/>
          <p:cNvSpPr>
            <a:spLocks noGrp="1"/>
          </p:cNvSpPr>
          <p:nvPr>
            <p:ph type="body" sz="quarter" idx="65"/>
          </p:nvPr>
        </p:nvSpPr>
        <p:spPr>
          <a:xfrm>
            <a:off x="4957826" y="3590087"/>
            <a:ext cx="493043" cy="434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학계</a:t>
            </a:r>
          </a:p>
        </p:txBody>
      </p:sp>
      <p:sp>
        <p:nvSpPr>
          <p:cNvPr id="93" name="분류 글"/>
          <p:cNvSpPr>
            <a:spLocks noGrp="1"/>
          </p:cNvSpPr>
          <p:nvPr>
            <p:ph type="body" sz="quarter" idx="66"/>
          </p:nvPr>
        </p:nvSpPr>
        <p:spPr>
          <a:xfrm>
            <a:off x="5483739" y="3579130"/>
            <a:ext cx="1506522" cy="46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대학 연구실 자문</a:t>
            </a:r>
          </a:p>
        </p:txBody>
      </p:sp>
      <p:cxnSp>
        <p:nvCxnSpPr>
          <p:cNvPr id="94" name="Connector 62"/>
          <p:cNvCxnSpPr/>
          <p:nvPr/>
        </p:nvCxnSpPr>
        <p:spPr>
          <a:xfrm>
            <a:off x="4957826" y="4035652"/>
            <a:ext cx="203243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5" name="분류"/>
          <p:cNvSpPr/>
          <p:nvPr/>
        </p:nvSpPr>
        <p:spPr>
          <a:xfrm>
            <a:off x="4957826" y="4057565"/>
            <a:ext cx="493043" cy="434609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6" name="분류"/>
          <p:cNvSpPr>
            <a:spLocks noGrp="1"/>
          </p:cNvSpPr>
          <p:nvPr>
            <p:ph type="body" sz="quarter" idx="67"/>
          </p:nvPr>
        </p:nvSpPr>
        <p:spPr>
          <a:xfrm>
            <a:off x="4957826" y="4057565"/>
            <a:ext cx="493043" cy="434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민간</a:t>
            </a:r>
          </a:p>
        </p:txBody>
      </p:sp>
      <p:sp>
        <p:nvSpPr>
          <p:cNvPr id="97" name="분류 글"/>
          <p:cNvSpPr>
            <a:spLocks noGrp="1"/>
          </p:cNvSpPr>
          <p:nvPr>
            <p:ph type="body" sz="quarter" idx="68"/>
          </p:nvPr>
        </p:nvSpPr>
        <p:spPr>
          <a:xfrm>
            <a:off x="5483739" y="4046609"/>
            <a:ext cx="1506522" cy="46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협력사 안전 협의체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시민단체 모니터링</a:t>
            </a:r>
          </a:p>
        </p:txBody>
      </p:sp>
      <p:cxnSp>
        <p:nvCxnSpPr>
          <p:cNvPr id="98" name="Connector 65"/>
          <p:cNvCxnSpPr/>
          <p:nvPr/>
        </p:nvCxnSpPr>
        <p:spPr>
          <a:xfrm>
            <a:off x="4957826" y="4503130"/>
            <a:ext cx="203243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9" name="행 틀"/>
          <p:cNvSpPr/>
          <p:nvPr/>
        </p:nvSpPr>
        <p:spPr>
          <a:xfrm>
            <a:off x="723130" y="4623652"/>
            <a:ext cx="6300000" cy="1073739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레일"/>
          <p:cNvSpPr/>
          <p:nvPr/>
        </p:nvSpPr>
        <p:spPr>
          <a:xfrm>
            <a:off x="734087" y="4634609"/>
            <a:ext cx="580696" cy="105182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01" name="레일"/>
          <p:cNvSpPr>
            <a:spLocks noGrp="1"/>
          </p:cNvSpPr>
          <p:nvPr>
            <p:ph type="body" sz="quarter" idx="69"/>
          </p:nvPr>
        </p:nvSpPr>
        <p:spPr>
          <a:xfrm>
            <a:off x="734087" y="4634609"/>
            <a:ext cx="580696" cy="1051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대외 수상</a:t>
            </a:r>
          </a:p>
        </p:txBody>
      </p:sp>
      <p:sp>
        <p:nvSpPr>
          <p:cNvPr id="102" name="사진 칸"/>
          <p:cNvSpPr/>
          <p:nvPr/>
        </p:nvSpPr>
        <p:spPr>
          <a:xfrm>
            <a:off x="1358609" y="4667478"/>
            <a:ext cx="1851652" cy="405391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03" name="사진 칸"/>
          <p:cNvSpPr>
            <a:spLocks noGrp="1"/>
          </p:cNvSpPr>
          <p:nvPr>
            <p:ph type="body" sz="quarter" idx="70"/>
          </p:nvPr>
        </p:nvSpPr>
        <p:spPr>
          <a:xfrm>
            <a:off x="1358609" y="4667478"/>
            <a:ext cx="1851652" cy="405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104" name="카드 제목"/>
          <p:cNvSpPr>
            <a:spLocks noGrp="1"/>
          </p:cNvSpPr>
          <p:nvPr>
            <p:ph type="body" sz="quarter" idx="71"/>
          </p:nvPr>
        </p:nvSpPr>
        <p:spPr>
          <a:xfrm>
            <a:off x="1358609" y="5094783"/>
            <a:ext cx="1851652" cy="230087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 경영 대상</a:t>
            </a:r>
          </a:p>
        </p:txBody>
      </p:sp>
      <p:sp>
        <p:nvSpPr>
          <p:cNvPr id="105" name="카드 설명"/>
          <p:cNvSpPr>
            <a:spLocks noGrp="1"/>
          </p:cNvSpPr>
          <p:nvPr>
            <p:ph type="body" sz="quarter" idx="72"/>
          </p:nvPr>
        </p:nvSpPr>
        <p:spPr>
          <a:xfrm>
            <a:off x="1358609" y="5313913"/>
            <a:ext cx="1851652" cy="361565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주관: 안전보건 협회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2025.05</a:t>
            </a:r>
          </a:p>
        </p:txBody>
      </p:sp>
      <p:sp>
        <p:nvSpPr>
          <p:cNvPr id="106" name="사진 칸"/>
          <p:cNvSpPr/>
          <p:nvPr/>
        </p:nvSpPr>
        <p:spPr>
          <a:xfrm>
            <a:off x="3243130" y="4667478"/>
            <a:ext cx="1851652" cy="405391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07" name="사진 칸"/>
          <p:cNvSpPr>
            <a:spLocks noGrp="1"/>
          </p:cNvSpPr>
          <p:nvPr>
            <p:ph type="body" sz="quarter" idx="73"/>
          </p:nvPr>
        </p:nvSpPr>
        <p:spPr>
          <a:xfrm>
            <a:off x="3243130" y="4667478"/>
            <a:ext cx="1851652" cy="405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108" name="카드 제목"/>
          <p:cNvSpPr>
            <a:spLocks noGrp="1"/>
          </p:cNvSpPr>
          <p:nvPr>
            <p:ph type="body" sz="quarter" idx="74"/>
          </p:nvPr>
        </p:nvSpPr>
        <p:spPr>
          <a:xfrm>
            <a:off x="3243130" y="5094783"/>
            <a:ext cx="1851652" cy="230087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청렴 우수기관</a:t>
            </a:r>
          </a:p>
        </p:txBody>
      </p:sp>
      <p:sp>
        <p:nvSpPr>
          <p:cNvPr id="109" name="카드 설명"/>
          <p:cNvSpPr>
            <a:spLocks noGrp="1"/>
          </p:cNvSpPr>
          <p:nvPr>
            <p:ph type="body" sz="quarter" idx="75"/>
          </p:nvPr>
        </p:nvSpPr>
        <p:spPr>
          <a:xfrm>
            <a:off x="3243130" y="5313913"/>
            <a:ext cx="1851652" cy="361565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주관: 권익 위원회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2025.09</a:t>
            </a:r>
          </a:p>
        </p:txBody>
      </p:sp>
      <p:sp>
        <p:nvSpPr>
          <p:cNvPr id="110" name="사진 칸"/>
          <p:cNvSpPr/>
          <p:nvPr/>
        </p:nvSpPr>
        <p:spPr>
          <a:xfrm>
            <a:off x="5127652" y="4667478"/>
            <a:ext cx="1851652" cy="405391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11" name="사진 칸"/>
          <p:cNvSpPr>
            <a:spLocks noGrp="1"/>
          </p:cNvSpPr>
          <p:nvPr>
            <p:ph type="body" sz="quarter" idx="76"/>
          </p:nvPr>
        </p:nvSpPr>
        <p:spPr>
          <a:xfrm>
            <a:off x="5127652" y="4667478"/>
            <a:ext cx="1851652" cy="405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112" name="카드 제목"/>
          <p:cNvSpPr>
            <a:spLocks noGrp="1"/>
          </p:cNvSpPr>
          <p:nvPr>
            <p:ph type="body" sz="quarter" idx="77"/>
          </p:nvPr>
        </p:nvSpPr>
        <p:spPr>
          <a:xfrm>
            <a:off x="5127652" y="5094783"/>
            <a:ext cx="1851652" cy="230087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상생협력 인증</a:t>
            </a:r>
          </a:p>
        </p:txBody>
      </p:sp>
      <p:sp>
        <p:nvSpPr>
          <p:cNvPr id="113" name="카드 설명"/>
          <p:cNvSpPr>
            <a:spLocks noGrp="1"/>
          </p:cNvSpPr>
          <p:nvPr>
            <p:ph type="body" sz="quarter" idx="78"/>
          </p:nvPr>
        </p:nvSpPr>
        <p:spPr>
          <a:xfrm>
            <a:off x="5127652" y="5313913"/>
            <a:ext cx="1851652" cy="361565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주관: 상생 재단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2025.11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23 서사 · 환경진단 → 기존 해석 → 설립목적 재정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새 정책 출범에 따른 중장기 전략 기본 나침반 재설정</a:t>
            </a:r>
          </a:p>
        </p:txBody>
      </p:sp>
      <p:sp>
        <p:nvSpPr>
          <p:cNvPr id="15" name="번호 띠 칩"/>
          <p:cNvSpPr/>
          <p:nvPr/>
        </p:nvSpPr>
        <p:spPr>
          <a:xfrm>
            <a:off x="6265613" y="832696"/>
            <a:ext cx="505517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번호 띠 칩"/>
          <p:cNvSpPr>
            <a:spLocks noGrp="1"/>
          </p:cNvSpPr>
          <p:nvPr>
            <p:ph type="body" sz="quarter" idx="22"/>
          </p:nvPr>
        </p:nvSpPr>
        <p:spPr>
          <a:xfrm>
            <a:off x="6265613" y="832696"/>
            <a:ext cx="50551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17" name="형광 밑줄"/>
          <p:cNvSpPr/>
          <p:nvPr/>
        </p:nvSpPr>
        <p:spPr>
          <a:xfrm>
            <a:off x="536870" y="1347652"/>
            <a:ext cx="3037015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소제목"/>
          <p:cNvSpPr>
            <a:spLocks noGrp="1"/>
          </p:cNvSpPr>
          <p:nvPr>
            <p:ph type="body" sz="quarter" idx="23"/>
          </p:nvPr>
        </p:nvSpPr>
        <p:spPr>
          <a:xfrm>
            <a:off x="536870" y="1194261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경영환경 변화와 국정과제 기반 설립목적 재정의</a:t>
            </a:r>
          </a:p>
        </p:txBody>
      </p:sp>
      <p:sp>
        <p:nvSpPr>
          <p:cNvPr id="19" name="패널 외곽"/>
          <p:cNvSpPr/>
          <p:nvPr/>
        </p:nvSpPr>
        <p:spPr>
          <a:xfrm>
            <a:off x="536870" y="1501043"/>
            <a:ext cx="6300000" cy="264052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레일"/>
          <p:cNvSpPr/>
          <p:nvPr/>
        </p:nvSpPr>
        <p:spPr>
          <a:xfrm>
            <a:off x="547826" y="1512000"/>
            <a:ext cx="580696" cy="26186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512000"/>
            <a:ext cx="580696" cy="261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진단</a:t>
            </a:r>
          </a:p>
        </p:txBody>
      </p:sp>
      <p:sp>
        <p:nvSpPr>
          <p:cNvPr id="22" name="소제목 띠"/>
          <p:cNvSpPr/>
          <p:nvPr/>
        </p:nvSpPr>
        <p:spPr>
          <a:xfrm>
            <a:off x="1183304" y="1533913"/>
            <a:ext cx="2103652" cy="262957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띠 제목"/>
          <p:cNvSpPr>
            <a:spLocks noGrp="1"/>
          </p:cNvSpPr>
          <p:nvPr>
            <p:ph type="body" sz="quarter" idx="25"/>
          </p:nvPr>
        </p:nvSpPr>
        <p:spPr>
          <a:xfrm>
            <a:off x="1457217" y="1533913"/>
            <a:ext cx="1796870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기후재난의 현실화</a:t>
            </a:r>
          </a:p>
        </p:txBody>
      </p:sp>
      <p:sp>
        <p:nvSpPr>
          <p:cNvPr id="24" name="아이콘 칸"/>
          <p:cNvSpPr/>
          <p:nvPr/>
        </p:nvSpPr>
        <p:spPr>
          <a:xfrm>
            <a:off x="1205217" y="1555826"/>
            <a:ext cx="197217" cy="219130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25" name="소제목 띠"/>
          <p:cNvSpPr/>
          <p:nvPr/>
        </p:nvSpPr>
        <p:spPr>
          <a:xfrm>
            <a:off x="4700348" y="1533913"/>
            <a:ext cx="2103652" cy="262957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1080000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띠 제목"/>
          <p:cNvSpPr>
            <a:spLocks noGrp="1"/>
          </p:cNvSpPr>
          <p:nvPr>
            <p:ph type="body" sz="quarter" idx="26"/>
          </p:nvPr>
        </p:nvSpPr>
        <p:spPr>
          <a:xfrm>
            <a:off x="4733217" y="1533913"/>
            <a:ext cx="1796870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정부 핵심 국정과제</a:t>
            </a:r>
          </a:p>
        </p:txBody>
      </p:sp>
      <p:sp>
        <p:nvSpPr>
          <p:cNvPr id="27" name="아이콘 칸"/>
          <p:cNvSpPr/>
          <p:nvPr/>
        </p:nvSpPr>
        <p:spPr>
          <a:xfrm>
            <a:off x="6584870" y="1555826"/>
            <a:ext cx="197217" cy="219130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27"/>
          </p:nvPr>
        </p:nvSpPr>
        <p:spPr>
          <a:xfrm>
            <a:off x="1183304" y="1818783"/>
            <a:ext cx="2103652" cy="9313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t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기후변화 한계선 돌파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상승 전망치 보충 문구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극한 가뭄·홍수 빈번·심화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관리 복잡성·불확실성 가중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8"/>
          </p:nvPr>
        </p:nvSpPr>
        <p:spPr>
          <a:xfrm>
            <a:off x="4700348" y="1818783"/>
            <a:ext cx="2103652" cy="9313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t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기후안전망 구축·재생e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글로벌 AI 강국 진입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국가 핵심 전략산업 육성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➡ 공공기관의 선도적 역할 당부</a:t>
            </a:r>
          </a:p>
        </p:txBody>
      </p:sp>
      <p:sp>
        <p:nvSpPr>
          <p:cNvPr id="30" name="사진 칸"/>
          <p:cNvSpPr/>
          <p:nvPr/>
        </p:nvSpPr>
        <p:spPr>
          <a:xfrm>
            <a:off x="3319826" y="1698261"/>
            <a:ext cx="662870" cy="1040870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1" name="사진 칸"/>
          <p:cNvSpPr>
            <a:spLocks noGrp="1"/>
          </p:cNvSpPr>
          <p:nvPr>
            <p:ph type="body" sz="quarter" idx="29"/>
          </p:nvPr>
        </p:nvSpPr>
        <p:spPr>
          <a:xfrm>
            <a:off x="3319826" y="1698261"/>
            <a:ext cx="662870" cy="104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32" name="태그"/>
          <p:cNvSpPr/>
          <p:nvPr/>
        </p:nvSpPr>
        <p:spPr>
          <a:xfrm>
            <a:off x="3385565" y="1566783"/>
            <a:ext cx="548640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3" name="태그"/>
          <p:cNvSpPr>
            <a:spLocks noGrp="1"/>
          </p:cNvSpPr>
          <p:nvPr>
            <p:ph type="body" sz="quarter" idx="30"/>
          </p:nvPr>
        </p:nvSpPr>
        <p:spPr>
          <a:xfrm>
            <a:off x="3385565" y="1566783"/>
            <a:ext cx="548640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기후위기</a:t>
            </a:r>
          </a:p>
        </p:txBody>
      </p:sp>
      <p:sp>
        <p:nvSpPr>
          <p:cNvPr id="34" name="사진 칸"/>
          <p:cNvSpPr/>
          <p:nvPr/>
        </p:nvSpPr>
        <p:spPr>
          <a:xfrm>
            <a:off x="4004609" y="1698261"/>
            <a:ext cx="662870" cy="1040870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5" name="사진 칸"/>
          <p:cNvSpPr>
            <a:spLocks noGrp="1"/>
          </p:cNvSpPr>
          <p:nvPr>
            <p:ph type="body" sz="quarter" idx="31"/>
          </p:nvPr>
        </p:nvSpPr>
        <p:spPr>
          <a:xfrm>
            <a:off x="4004609" y="1698261"/>
            <a:ext cx="662870" cy="104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36" name="태그"/>
          <p:cNvSpPr/>
          <p:nvPr/>
        </p:nvSpPr>
        <p:spPr>
          <a:xfrm>
            <a:off x="4070348" y="1566783"/>
            <a:ext cx="716951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7" name="태그"/>
          <p:cNvSpPr>
            <a:spLocks noGrp="1"/>
          </p:cNvSpPr>
          <p:nvPr>
            <p:ph type="body" sz="quarter" idx="32"/>
          </p:nvPr>
        </p:nvSpPr>
        <p:spPr>
          <a:xfrm>
            <a:off x="4070348" y="1566783"/>
            <a:ext cx="716951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새 정부 출범</a:t>
            </a:r>
          </a:p>
        </p:txBody>
      </p:sp>
      <p:cxnSp>
        <p:nvCxnSpPr>
          <p:cNvPr id="38" name="Connector 28"/>
          <p:cNvCxnSpPr/>
          <p:nvPr/>
        </p:nvCxnSpPr>
        <p:spPr>
          <a:xfrm>
            <a:off x="1183304" y="2782957"/>
            <a:ext cx="5620696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삼각 화살표"/>
          <p:cNvSpPr/>
          <p:nvPr/>
        </p:nvSpPr>
        <p:spPr>
          <a:xfrm>
            <a:off x="2180347" y="2750086"/>
            <a:ext cx="131479" cy="65740"/>
          </a:xfrm>
          <a:custGeom>
            <a:avLst/>
            <a:gdLst/>
            <a:ahLst/>
            <a:cxnLst/>
            <a:rect l="l" t="t" r="r" b="b"/>
            <a:pathLst>
              <a:path w="131479" h="65740">
                <a:moveTo>
                  <a:pt x="0" y="0"/>
                </a:moveTo>
                <a:lnTo>
                  <a:pt x="131479" y="0"/>
                </a:lnTo>
                <a:lnTo>
                  <a:pt x="65739" y="65740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삼각 화살표"/>
          <p:cNvSpPr/>
          <p:nvPr/>
        </p:nvSpPr>
        <p:spPr>
          <a:xfrm>
            <a:off x="5675478" y="2750086"/>
            <a:ext cx="131478" cy="65740"/>
          </a:xfrm>
          <a:custGeom>
            <a:avLst/>
            <a:gdLst/>
            <a:ahLst/>
            <a:cxnLst/>
            <a:rect l="l" t="t" r="r" b="b"/>
            <a:pathLst>
              <a:path w="131478" h="65740">
                <a:moveTo>
                  <a:pt x="0" y="0"/>
                </a:moveTo>
                <a:lnTo>
                  <a:pt x="131478" y="0"/>
                </a:lnTo>
                <a:lnTo>
                  <a:pt x="65739" y="65740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소제목 띠"/>
          <p:cNvSpPr/>
          <p:nvPr/>
        </p:nvSpPr>
        <p:spPr>
          <a:xfrm>
            <a:off x="1183304" y="2826783"/>
            <a:ext cx="2103652" cy="262957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띠 제목"/>
          <p:cNvSpPr>
            <a:spLocks noGrp="1"/>
          </p:cNvSpPr>
          <p:nvPr>
            <p:ph type="body" sz="quarter" idx="33"/>
          </p:nvPr>
        </p:nvSpPr>
        <p:spPr>
          <a:xfrm>
            <a:off x="1457217" y="2826783"/>
            <a:ext cx="1796870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AI 초가속 성장 + 물 수요 급증</a:t>
            </a:r>
          </a:p>
        </p:txBody>
      </p:sp>
      <p:sp>
        <p:nvSpPr>
          <p:cNvPr id="43" name="아이콘 칸"/>
          <p:cNvSpPr/>
          <p:nvPr/>
        </p:nvSpPr>
        <p:spPr>
          <a:xfrm>
            <a:off x="1205217" y="2848696"/>
            <a:ext cx="197217" cy="219130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44" name="소제목 띠"/>
          <p:cNvSpPr/>
          <p:nvPr/>
        </p:nvSpPr>
        <p:spPr>
          <a:xfrm>
            <a:off x="4700348" y="2826783"/>
            <a:ext cx="2103652" cy="262957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1080000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띠 제목"/>
          <p:cNvSpPr>
            <a:spLocks noGrp="1"/>
          </p:cNvSpPr>
          <p:nvPr>
            <p:ph type="body" sz="quarter" idx="34"/>
          </p:nvPr>
        </p:nvSpPr>
        <p:spPr>
          <a:xfrm>
            <a:off x="4733217" y="2826783"/>
            <a:ext cx="1796870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공공기관 혁신 방향</a:t>
            </a:r>
          </a:p>
        </p:txBody>
      </p:sp>
      <p:sp>
        <p:nvSpPr>
          <p:cNvPr id="46" name="아이콘 칸"/>
          <p:cNvSpPr/>
          <p:nvPr/>
        </p:nvSpPr>
        <p:spPr>
          <a:xfrm>
            <a:off x="6584870" y="2848696"/>
            <a:ext cx="197217" cy="219130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5"/>
          </p:nvPr>
        </p:nvSpPr>
        <p:spPr>
          <a:xfrm>
            <a:off x="1183304" y="3111652"/>
            <a:ext cx="2103652" cy="9313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t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첨단산업 물 사용량 폭증 전망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반도체 산단, 데이터센터 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물산업에도 AI 활용 확대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36"/>
          </p:nvPr>
        </p:nvSpPr>
        <p:spPr>
          <a:xfrm>
            <a:off x="4700348" y="3111652"/>
            <a:ext cx="2103652" cy="9313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t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‘성장과 민생에 기여하는 혁신’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공공기관 본연의 역할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윤리·ESG·안전경영 강화</a:t>
            </a:r>
          </a:p>
        </p:txBody>
      </p:sp>
      <p:sp>
        <p:nvSpPr>
          <p:cNvPr id="49" name="사진 칸"/>
          <p:cNvSpPr/>
          <p:nvPr/>
        </p:nvSpPr>
        <p:spPr>
          <a:xfrm>
            <a:off x="3319826" y="2991130"/>
            <a:ext cx="662870" cy="1040870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50" name="사진 칸"/>
          <p:cNvSpPr>
            <a:spLocks noGrp="1"/>
          </p:cNvSpPr>
          <p:nvPr>
            <p:ph type="body" sz="quarter" idx="37"/>
          </p:nvPr>
        </p:nvSpPr>
        <p:spPr>
          <a:xfrm>
            <a:off x="3319826" y="2991130"/>
            <a:ext cx="662870" cy="104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51" name="태그"/>
          <p:cNvSpPr/>
          <p:nvPr/>
        </p:nvSpPr>
        <p:spPr>
          <a:xfrm>
            <a:off x="3385565" y="2859652"/>
            <a:ext cx="548640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2" name="태그"/>
          <p:cNvSpPr>
            <a:spLocks noGrp="1"/>
          </p:cNvSpPr>
          <p:nvPr>
            <p:ph type="body" sz="quarter" idx="38"/>
          </p:nvPr>
        </p:nvSpPr>
        <p:spPr>
          <a:xfrm>
            <a:off x="3385565" y="2859652"/>
            <a:ext cx="548640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산업동향</a:t>
            </a:r>
          </a:p>
        </p:txBody>
      </p:sp>
      <p:sp>
        <p:nvSpPr>
          <p:cNvPr id="53" name="사진 칸"/>
          <p:cNvSpPr/>
          <p:nvPr/>
        </p:nvSpPr>
        <p:spPr>
          <a:xfrm>
            <a:off x="4004609" y="2991130"/>
            <a:ext cx="662870" cy="1040870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54" name="사진 칸"/>
          <p:cNvSpPr>
            <a:spLocks noGrp="1"/>
          </p:cNvSpPr>
          <p:nvPr>
            <p:ph type="body" sz="quarter" idx="39"/>
          </p:nvPr>
        </p:nvSpPr>
        <p:spPr>
          <a:xfrm>
            <a:off x="4004609" y="2991130"/>
            <a:ext cx="662870" cy="104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55" name="태그"/>
          <p:cNvSpPr/>
          <p:nvPr/>
        </p:nvSpPr>
        <p:spPr>
          <a:xfrm>
            <a:off x="4070348" y="2859652"/>
            <a:ext cx="797448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6" name="태그"/>
          <p:cNvSpPr>
            <a:spLocks noGrp="1"/>
          </p:cNvSpPr>
          <p:nvPr>
            <p:ph type="body" sz="quarter" idx="40"/>
          </p:nvPr>
        </p:nvSpPr>
        <p:spPr>
          <a:xfrm>
            <a:off x="4070348" y="2859652"/>
            <a:ext cx="797448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바라는 기업상</a:t>
            </a:r>
          </a:p>
        </p:txBody>
      </p:sp>
      <p:sp>
        <p:nvSpPr>
          <p:cNvPr id="57" name="배너"/>
          <p:cNvSpPr/>
          <p:nvPr/>
        </p:nvSpPr>
        <p:spPr>
          <a:xfrm>
            <a:off x="536869" y="4185391"/>
            <a:ext cx="6300000" cy="273913"/>
          </a:xfrm>
          <a:custGeom>
            <a:avLst/>
            <a:gdLst/>
            <a:ahLst/>
            <a:cxnLst/>
            <a:rect l="l" t="t" r="r" b="b"/>
            <a:pathLst>
              <a:path w="6300000" h="273913">
                <a:moveTo>
                  <a:pt x="0" y="0"/>
                </a:moveTo>
                <a:lnTo>
                  <a:pt x="6300000" y="0"/>
                </a:lnTo>
                <a:lnTo>
                  <a:pt x="6234261" y="273913"/>
                </a:lnTo>
                <a:lnTo>
                  <a:pt x="65739" y="273913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태그"/>
          <p:cNvSpPr/>
          <p:nvPr/>
        </p:nvSpPr>
        <p:spPr>
          <a:xfrm>
            <a:off x="756000" y="4240174"/>
            <a:ext cx="520732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9" name="태그"/>
          <p:cNvSpPr>
            <a:spLocks noGrp="1"/>
          </p:cNvSpPr>
          <p:nvPr>
            <p:ph type="body" sz="quarter" idx="41"/>
          </p:nvPr>
        </p:nvSpPr>
        <p:spPr>
          <a:xfrm>
            <a:off x="756000" y="4240174"/>
            <a:ext cx="520732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Insight</a:t>
            </a:r>
          </a:p>
        </p:txBody>
      </p:sp>
      <p:sp>
        <p:nvSpPr>
          <p:cNvPr id="60" name="배너 글"/>
          <p:cNvSpPr>
            <a:spLocks noGrp="1"/>
          </p:cNvSpPr>
          <p:nvPr>
            <p:ph type="body" sz="quarter" idx="42"/>
          </p:nvPr>
        </p:nvSpPr>
        <p:spPr>
          <a:xfrm>
            <a:off x="1331514" y="4185391"/>
            <a:ext cx="5341007" cy="27391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복합적 환경변화와 시대적 요구 부응을 위해 ‘기관의 정체성’ 재정의 필요</a:t>
            </a:r>
          </a:p>
        </p:txBody>
      </p:sp>
      <p:sp>
        <p:nvSpPr>
          <p:cNvPr id="61" name="틀"/>
          <p:cNvSpPr/>
          <p:nvPr/>
        </p:nvSpPr>
        <p:spPr>
          <a:xfrm>
            <a:off x="536870" y="4525043"/>
            <a:ext cx="6300000" cy="3067826"/>
          </a:xfrm>
          <a:prstGeom prst="rect">
            <a:avLst/>
          </a:prstGeom>
          <a:solidFill>
            <a:srgbClr val="EFF9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상단 칸"/>
          <p:cNvSpPr/>
          <p:nvPr/>
        </p:nvSpPr>
        <p:spPr>
          <a:xfrm>
            <a:off x="1183304" y="4557913"/>
            <a:ext cx="2700783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3" name="상단 칸"/>
          <p:cNvSpPr>
            <a:spLocks noGrp="1"/>
          </p:cNvSpPr>
          <p:nvPr>
            <p:ph type="body" sz="quarter" idx="43"/>
          </p:nvPr>
        </p:nvSpPr>
        <p:spPr>
          <a:xfrm>
            <a:off x="1183304" y="4557913"/>
            <a:ext cx="2700783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설립 근거 법률 제1조(목적)</a:t>
            </a:r>
          </a:p>
        </p:txBody>
      </p:sp>
      <p:sp>
        <p:nvSpPr>
          <p:cNvPr id="64" name="상단 칸"/>
          <p:cNvSpPr/>
          <p:nvPr/>
        </p:nvSpPr>
        <p:spPr>
          <a:xfrm>
            <a:off x="4103217" y="4557913"/>
            <a:ext cx="2700783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5" name="상단 칸"/>
          <p:cNvSpPr>
            <a:spLocks noGrp="1"/>
          </p:cNvSpPr>
          <p:nvPr>
            <p:ph type="body" sz="quarter" idx="44"/>
          </p:nvPr>
        </p:nvSpPr>
        <p:spPr>
          <a:xfrm>
            <a:off x="4103217" y="4557913"/>
            <a:ext cx="2700783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기관 정관 제2조(목적)</a:t>
            </a:r>
          </a:p>
        </p:txBody>
      </p:sp>
      <p:sp>
        <p:nvSpPr>
          <p:cNvPr id="66" name="더하기"/>
          <p:cNvSpPr/>
          <p:nvPr/>
        </p:nvSpPr>
        <p:spPr>
          <a:xfrm>
            <a:off x="3895043" y="4568870"/>
            <a:ext cx="197217" cy="18626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67" name="더하기"/>
          <p:cNvSpPr>
            <a:spLocks noGrp="1"/>
          </p:cNvSpPr>
          <p:nvPr>
            <p:ph type="body" sz="quarter" idx="45"/>
          </p:nvPr>
        </p:nvSpPr>
        <p:spPr>
          <a:xfrm>
            <a:off x="3895043" y="4568870"/>
            <a:ext cx="197217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+</a:t>
            </a:r>
          </a:p>
        </p:txBody>
      </p:sp>
      <p:sp>
        <p:nvSpPr>
          <p:cNvPr id="68" name="레일"/>
          <p:cNvSpPr/>
          <p:nvPr/>
        </p:nvSpPr>
        <p:spPr>
          <a:xfrm>
            <a:off x="547826" y="4798957"/>
            <a:ext cx="580696" cy="109565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9" name="레일"/>
          <p:cNvSpPr>
            <a:spLocks noGrp="1"/>
          </p:cNvSpPr>
          <p:nvPr>
            <p:ph type="body" sz="quarter" idx="46"/>
          </p:nvPr>
        </p:nvSpPr>
        <p:spPr>
          <a:xfrm>
            <a:off x="547826" y="4798957"/>
            <a:ext cx="580696" cy="109565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해석</a:t>
            </a:r>
          </a:p>
        </p:txBody>
      </p:sp>
      <p:sp>
        <p:nvSpPr>
          <p:cNvPr id="70" name="카드"/>
          <p:cNvSpPr/>
          <p:nvPr/>
        </p:nvSpPr>
        <p:spPr>
          <a:xfrm>
            <a:off x="1183304" y="4798957"/>
            <a:ext cx="1858957" cy="59165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아이콘 칸"/>
          <p:cNvSpPr/>
          <p:nvPr/>
        </p:nvSpPr>
        <p:spPr>
          <a:xfrm>
            <a:off x="1216174" y="4853739"/>
            <a:ext cx="416348" cy="482087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72" name="카드 글"/>
          <p:cNvSpPr>
            <a:spLocks noGrp="1"/>
          </p:cNvSpPr>
          <p:nvPr>
            <p:ph type="body" sz="quarter" idx="47"/>
          </p:nvPr>
        </p:nvSpPr>
        <p:spPr>
          <a:xfrm>
            <a:off x="1665391" y="4798957"/>
            <a:ext cx="1354957" cy="591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수자원의
종합적 개발관리</a:t>
            </a:r>
          </a:p>
        </p:txBody>
      </p:sp>
      <p:sp>
        <p:nvSpPr>
          <p:cNvPr id="73" name="카드"/>
          <p:cNvSpPr/>
          <p:nvPr/>
        </p:nvSpPr>
        <p:spPr>
          <a:xfrm>
            <a:off x="3064174" y="4798957"/>
            <a:ext cx="1858957" cy="59165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아이콘 칸"/>
          <p:cNvSpPr/>
          <p:nvPr/>
        </p:nvSpPr>
        <p:spPr>
          <a:xfrm>
            <a:off x="3097043" y="4853739"/>
            <a:ext cx="416348" cy="482087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75" name="카드 글"/>
          <p:cNvSpPr>
            <a:spLocks noGrp="1"/>
          </p:cNvSpPr>
          <p:nvPr>
            <p:ph type="body" sz="quarter" idx="48"/>
          </p:nvPr>
        </p:nvSpPr>
        <p:spPr>
          <a:xfrm>
            <a:off x="3546261" y="4798957"/>
            <a:ext cx="1354957" cy="591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안정적 용수공급
및 수질개선</a:t>
            </a:r>
          </a:p>
        </p:txBody>
      </p:sp>
      <p:sp>
        <p:nvSpPr>
          <p:cNvPr id="76" name="카드"/>
          <p:cNvSpPr/>
          <p:nvPr/>
        </p:nvSpPr>
        <p:spPr>
          <a:xfrm>
            <a:off x="4945043" y="4798957"/>
            <a:ext cx="1858957" cy="59165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아이콘 칸"/>
          <p:cNvSpPr/>
          <p:nvPr/>
        </p:nvSpPr>
        <p:spPr>
          <a:xfrm>
            <a:off x="4977913" y="4853739"/>
            <a:ext cx="416348" cy="482087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78" name="카드 글"/>
          <p:cNvSpPr>
            <a:spLocks noGrp="1"/>
          </p:cNvSpPr>
          <p:nvPr>
            <p:ph type="body" sz="quarter" idx="49"/>
          </p:nvPr>
        </p:nvSpPr>
        <p:spPr>
          <a:xfrm>
            <a:off x="5427130" y="4798957"/>
            <a:ext cx="1354957" cy="591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국민생활 향상
및 공공복리 증진</a:t>
            </a:r>
          </a:p>
        </p:txBody>
      </p:sp>
      <p:sp>
        <p:nvSpPr>
          <p:cNvPr id="79" name="설명 글"/>
          <p:cNvSpPr>
            <a:spLocks noGrp="1"/>
          </p:cNvSpPr>
          <p:nvPr>
            <p:ph type="body" sz="quarter" idx="50"/>
          </p:nvPr>
        </p:nvSpPr>
        <p:spPr>
          <a:xfrm>
            <a:off x="1183304" y="5412522"/>
            <a:ext cx="1858957" cy="438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spc="-55" dirty="0">
                <a:solidFill>
                  <a:srgbClr val="000359"/>
                </a:solidFill>
                <a:latin typeface="Pretendard"/>
                <a:ea typeface="Pretendard"/>
              </a:rPr>
              <a:t>물문제 주도적 해결 및
선제적 대응방안 모색</a:t>
            </a:r>
          </a:p>
        </p:txBody>
      </p:sp>
      <p:sp>
        <p:nvSpPr>
          <p:cNvPr id="80" name="설명 글"/>
          <p:cNvSpPr>
            <a:spLocks noGrp="1"/>
          </p:cNvSpPr>
          <p:nvPr>
            <p:ph type="body" sz="quarter" idx="51"/>
          </p:nvPr>
        </p:nvSpPr>
        <p:spPr>
          <a:xfrm>
            <a:off x="3064174" y="5412522"/>
            <a:ext cx="1858957" cy="438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spc="-55" dirty="0">
                <a:solidFill>
                  <a:srgbClr val="000359"/>
                </a:solidFill>
                <a:latin typeface="Pretendard"/>
                <a:ea typeface="Pretendard"/>
              </a:rPr>
              <a:t>국민·지역·산업에 연계
안정적 용수 제공</a:t>
            </a:r>
          </a:p>
        </p:txBody>
      </p:sp>
      <p:cxnSp>
        <p:nvCxnSpPr>
          <p:cNvPr id="81" name="Connector 62"/>
          <p:cNvCxnSpPr/>
          <p:nvPr/>
        </p:nvCxnSpPr>
        <p:spPr>
          <a:xfrm>
            <a:off x="3053217" y="5445391"/>
            <a:ext cx="0" cy="37252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2" name="설명 글"/>
          <p:cNvSpPr>
            <a:spLocks noGrp="1"/>
          </p:cNvSpPr>
          <p:nvPr>
            <p:ph type="body" sz="quarter" idx="52"/>
          </p:nvPr>
        </p:nvSpPr>
        <p:spPr>
          <a:xfrm>
            <a:off x="4945043" y="5412522"/>
            <a:ext cx="1858957" cy="438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spc="-55" dirty="0">
                <a:solidFill>
                  <a:srgbClr val="000359"/>
                </a:solidFill>
                <a:latin typeface="Pretendard"/>
                <a:ea typeface="Pretendard"/>
              </a:rPr>
              <a:t>산업 생태계 육성, 안전·
사회적 책임 경영 선도</a:t>
            </a:r>
          </a:p>
        </p:txBody>
      </p:sp>
      <p:cxnSp>
        <p:nvCxnSpPr>
          <p:cNvPr id="83" name="Connector 64"/>
          <p:cNvCxnSpPr/>
          <p:nvPr/>
        </p:nvCxnSpPr>
        <p:spPr>
          <a:xfrm>
            <a:off x="4934087" y="5445391"/>
            <a:ext cx="0" cy="37252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4" name="레일"/>
          <p:cNvSpPr/>
          <p:nvPr/>
        </p:nvSpPr>
        <p:spPr>
          <a:xfrm>
            <a:off x="547826" y="5916522"/>
            <a:ext cx="580696" cy="712174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5" name="레일"/>
          <p:cNvSpPr>
            <a:spLocks noGrp="1"/>
          </p:cNvSpPr>
          <p:nvPr>
            <p:ph type="body" sz="quarter" idx="53"/>
          </p:nvPr>
        </p:nvSpPr>
        <p:spPr>
          <a:xfrm>
            <a:off x="547826" y="5916522"/>
            <a:ext cx="580696" cy="712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변화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필요성</a:t>
            </a:r>
          </a:p>
        </p:txBody>
      </p:sp>
      <p:sp>
        <p:nvSpPr>
          <p:cNvPr id="86" name="열 머리"/>
          <p:cNvSpPr/>
          <p:nvPr/>
        </p:nvSpPr>
        <p:spPr>
          <a:xfrm>
            <a:off x="1183304" y="5916522"/>
            <a:ext cx="1858957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87" name="열 머리"/>
          <p:cNvSpPr>
            <a:spLocks noGrp="1"/>
          </p:cNvSpPr>
          <p:nvPr>
            <p:ph type="body" sz="quarter" idx="54"/>
          </p:nvPr>
        </p:nvSpPr>
        <p:spPr>
          <a:xfrm>
            <a:off x="1183304" y="5916522"/>
            <a:ext cx="185895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AI 3대 강국 ＋ 재생e 100GW</a:t>
            </a:r>
          </a:p>
        </p:txBody>
      </p:sp>
      <p:sp>
        <p:nvSpPr>
          <p:cNvPr id="88" name="열 머리"/>
          <p:cNvSpPr/>
          <p:nvPr/>
        </p:nvSpPr>
        <p:spPr>
          <a:xfrm>
            <a:off x="3064174" y="5916522"/>
            <a:ext cx="1858957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89" name="열 머리"/>
          <p:cNvSpPr>
            <a:spLocks noGrp="1"/>
          </p:cNvSpPr>
          <p:nvPr>
            <p:ph type="body" sz="quarter" idx="55"/>
          </p:nvPr>
        </p:nvSpPr>
        <p:spPr>
          <a:xfrm>
            <a:off x="3064174" y="5916522"/>
            <a:ext cx="185895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반도체 수출 1,700억불</a:t>
            </a:r>
          </a:p>
        </p:txBody>
      </p:sp>
      <p:sp>
        <p:nvSpPr>
          <p:cNvPr id="90" name="열 머리"/>
          <p:cNvSpPr/>
          <p:nvPr/>
        </p:nvSpPr>
        <p:spPr>
          <a:xfrm>
            <a:off x="4945043" y="5916522"/>
            <a:ext cx="1858957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91" name="열 머리"/>
          <p:cNvSpPr>
            <a:spLocks noGrp="1"/>
          </p:cNvSpPr>
          <p:nvPr>
            <p:ph type="body" sz="quarter" idx="56"/>
          </p:nvPr>
        </p:nvSpPr>
        <p:spPr>
          <a:xfrm>
            <a:off x="4945043" y="5916522"/>
            <a:ext cx="185895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녹색 전환 및 ESG·안전 최우선</a:t>
            </a:r>
          </a:p>
        </p:txBody>
      </p:sp>
      <p:sp>
        <p:nvSpPr>
          <p:cNvPr id="92" name="설명 글"/>
          <p:cNvSpPr>
            <a:spLocks noGrp="1"/>
          </p:cNvSpPr>
          <p:nvPr>
            <p:ph type="body" sz="quarter" idx="57"/>
          </p:nvPr>
        </p:nvSpPr>
        <p:spPr>
          <a:xfrm>
            <a:off x="1183304" y="6146609"/>
            <a:ext cx="1858957" cy="438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spc="-55" dirty="0">
                <a:solidFill>
                  <a:srgbClr val="000359"/>
                </a:solidFill>
                <a:latin typeface="Pretendard"/>
                <a:ea typeface="Pretendard"/>
              </a:rPr>
              <a:t>기후변화 적응·완화를 위한
물관리 인프라 대전환 요구</a:t>
            </a:r>
          </a:p>
        </p:txBody>
      </p:sp>
      <p:sp>
        <p:nvSpPr>
          <p:cNvPr id="93" name="설명 글"/>
          <p:cNvSpPr>
            <a:spLocks noGrp="1"/>
          </p:cNvSpPr>
          <p:nvPr>
            <p:ph type="body" sz="quarter" idx="58"/>
          </p:nvPr>
        </p:nvSpPr>
        <p:spPr>
          <a:xfrm>
            <a:off x="3064174" y="6146609"/>
            <a:ext cx="1858957" cy="438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spc="-55" dirty="0">
                <a:solidFill>
                  <a:srgbClr val="000359"/>
                </a:solidFill>
                <a:latin typeface="Pretendard"/>
                <a:ea typeface="Pretendard"/>
              </a:rPr>
              <a:t>AI 전환 등 다양한 첨단용수
폭발적 수요 적기 대응</a:t>
            </a:r>
          </a:p>
        </p:txBody>
      </p:sp>
      <p:cxnSp>
        <p:nvCxnSpPr>
          <p:cNvPr id="94" name="Connector 71"/>
          <p:cNvCxnSpPr/>
          <p:nvPr/>
        </p:nvCxnSpPr>
        <p:spPr>
          <a:xfrm>
            <a:off x="3053217" y="6179478"/>
            <a:ext cx="0" cy="37252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5" name="설명 글"/>
          <p:cNvSpPr>
            <a:spLocks noGrp="1"/>
          </p:cNvSpPr>
          <p:nvPr>
            <p:ph type="body" sz="quarter" idx="59"/>
          </p:nvPr>
        </p:nvSpPr>
        <p:spPr>
          <a:xfrm>
            <a:off x="4945043" y="6146609"/>
            <a:ext cx="1858957" cy="438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spc="-55" dirty="0">
                <a:solidFill>
                  <a:srgbClr val="000359"/>
                </a:solidFill>
                <a:latin typeface="Pretendard"/>
                <a:ea typeface="Pretendard"/>
              </a:rPr>
              <a:t>기후테크 도약 교두보 필요
국민 눈높이 체질혁신</a:t>
            </a:r>
          </a:p>
        </p:txBody>
      </p:sp>
      <p:cxnSp>
        <p:nvCxnSpPr>
          <p:cNvPr id="96" name="Connector 73"/>
          <p:cNvCxnSpPr/>
          <p:nvPr/>
        </p:nvCxnSpPr>
        <p:spPr>
          <a:xfrm>
            <a:off x="4934087" y="6179478"/>
            <a:ext cx="0" cy="37252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7" name="레일"/>
          <p:cNvSpPr/>
          <p:nvPr/>
        </p:nvSpPr>
        <p:spPr>
          <a:xfrm>
            <a:off x="547826" y="6650609"/>
            <a:ext cx="580696" cy="635478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8" name="레일"/>
          <p:cNvSpPr>
            <a:spLocks noGrp="1"/>
          </p:cNvSpPr>
          <p:nvPr>
            <p:ph type="body" sz="quarter" idx="60"/>
          </p:nvPr>
        </p:nvSpPr>
        <p:spPr>
          <a:xfrm>
            <a:off x="547826" y="6650609"/>
            <a:ext cx="580696" cy="63547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설립목적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재정의</a:t>
            </a:r>
          </a:p>
        </p:txBody>
      </p:sp>
      <p:sp>
        <p:nvSpPr>
          <p:cNvPr id="99" name="카드"/>
          <p:cNvSpPr/>
          <p:nvPr/>
        </p:nvSpPr>
        <p:spPr>
          <a:xfrm>
            <a:off x="1183304" y="6650609"/>
            <a:ext cx="1858957" cy="59165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아이콘 칸"/>
          <p:cNvSpPr/>
          <p:nvPr/>
        </p:nvSpPr>
        <p:spPr>
          <a:xfrm>
            <a:off x="1216174" y="6705391"/>
            <a:ext cx="416348" cy="482087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01" name="카드 글"/>
          <p:cNvSpPr>
            <a:spLocks noGrp="1"/>
          </p:cNvSpPr>
          <p:nvPr>
            <p:ph type="body" sz="quarter" idx="61"/>
          </p:nvPr>
        </p:nvSpPr>
        <p:spPr>
          <a:xfrm>
            <a:off x="1665391" y="6650609"/>
            <a:ext cx="1354957" cy="591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AI 기반 기후안전망
구축 및 에너지 전환</a:t>
            </a:r>
          </a:p>
        </p:txBody>
      </p:sp>
      <p:sp>
        <p:nvSpPr>
          <p:cNvPr id="102" name="카드"/>
          <p:cNvSpPr/>
          <p:nvPr/>
        </p:nvSpPr>
        <p:spPr>
          <a:xfrm>
            <a:off x="3064174" y="6650609"/>
            <a:ext cx="1858957" cy="59165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아이콘 칸"/>
          <p:cNvSpPr/>
          <p:nvPr/>
        </p:nvSpPr>
        <p:spPr>
          <a:xfrm>
            <a:off x="3097043" y="6705391"/>
            <a:ext cx="416348" cy="482087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04" name="카드 글"/>
          <p:cNvSpPr>
            <a:spLocks noGrp="1"/>
          </p:cNvSpPr>
          <p:nvPr>
            <p:ph type="body" sz="quarter" idx="62"/>
          </p:nvPr>
        </p:nvSpPr>
        <p:spPr>
          <a:xfrm>
            <a:off x="3546261" y="6650609"/>
            <a:ext cx="1354957" cy="591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국가 첨단산업 성장 견인
고순도 산업용수 공급</a:t>
            </a:r>
          </a:p>
        </p:txBody>
      </p:sp>
      <p:sp>
        <p:nvSpPr>
          <p:cNvPr id="105" name="카드"/>
          <p:cNvSpPr/>
          <p:nvPr/>
        </p:nvSpPr>
        <p:spPr>
          <a:xfrm>
            <a:off x="4945043" y="6650609"/>
            <a:ext cx="1858957" cy="59165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아이콘 칸"/>
          <p:cNvSpPr/>
          <p:nvPr/>
        </p:nvSpPr>
        <p:spPr>
          <a:xfrm>
            <a:off x="4977913" y="6705391"/>
            <a:ext cx="416348" cy="482087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07" name="카드 글"/>
          <p:cNvSpPr>
            <a:spLocks noGrp="1"/>
          </p:cNvSpPr>
          <p:nvPr>
            <p:ph type="body" sz="quarter" idx="63"/>
          </p:nvPr>
        </p:nvSpPr>
        <p:spPr>
          <a:xfrm>
            <a:off x="5427130" y="6650609"/>
            <a:ext cx="1354957" cy="59165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K-기후테크 육성 및
국민체감형 ESG·안전경영</a:t>
            </a:r>
          </a:p>
        </p:txBody>
      </p:sp>
      <p:sp>
        <p:nvSpPr>
          <p:cNvPr id="108" name="요약 바"/>
          <p:cNvSpPr/>
          <p:nvPr/>
        </p:nvSpPr>
        <p:spPr>
          <a:xfrm>
            <a:off x="1183304" y="7329913"/>
            <a:ext cx="5620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09" name="요약 바"/>
          <p:cNvSpPr>
            <a:spLocks noGrp="1"/>
          </p:cNvSpPr>
          <p:nvPr>
            <p:ph type="body" sz="quarter" idx="64"/>
          </p:nvPr>
        </p:nvSpPr>
        <p:spPr>
          <a:xfrm>
            <a:off x="1183304" y="7329913"/>
            <a:ext cx="5620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 법상 설립목적에 더해 국정과제 및 미래성장을 선도하는 주체로 재정의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24 서사 · 이해관계자 재분류 → 가치전략 진단 → 체계 롤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931304"/>
            <a:ext cx="323898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사업별 이해관계자 재분류 및 기존 체계 유효성 검증</a:t>
            </a:r>
          </a:p>
        </p:txBody>
      </p:sp>
      <p:sp>
        <p:nvSpPr>
          <p:cNvPr id="11" name="패널 외곽"/>
          <p:cNvSpPr/>
          <p:nvPr/>
        </p:nvSpPr>
        <p:spPr>
          <a:xfrm>
            <a:off x="723130" y="1084696"/>
            <a:ext cx="6300000" cy="249808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레일"/>
          <p:cNvSpPr/>
          <p:nvPr/>
        </p:nvSpPr>
        <p:spPr>
          <a:xfrm>
            <a:off x="734087" y="1095652"/>
            <a:ext cx="580696" cy="247617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레일"/>
          <p:cNvSpPr>
            <a:spLocks noGrp="1"/>
          </p:cNvSpPr>
          <p:nvPr>
            <p:ph type="body" sz="quarter" idx="21"/>
          </p:nvPr>
        </p:nvSpPr>
        <p:spPr>
          <a:xfrm>
            <a:off x="734087" y="1095652"/>
            <a:ext cx="580696" cy="2476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관계자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재분류</a:t>
            </a:r>
          </a:p>
        </p:txBody>
      </p:sp>
      <p:sp>
        <p:nvSpPr>
          <p:cNvPr id="14" name="배너"/>
          <p:cNvSpPr/>
          <p:nvPr/>
        </p:nvSpPr>
        <p:spPr>
          <a:xfrm>
            <a:off x="1369565" y="1117565"/>
            <a:ext cx="5620696" cy="21913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5" name="배너"/>
          <p:cNvSpPr>
            <a:spLocks noGrp="1"/>
          </p:cNvSpPr>
          <p:nvPr>
            <p:ph type="body" sz="quarter" idx="22"/>
          </p:nvPr>
        </p:nvSpPr>
        <p:spPr>
          <a:xfrm>
            <a:off x="1369565" y="1117565"/>
            <a:ext cx="5620696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 이해관계자를 수혜자 중심에서 전문·산업파트너까지 확장</a:t>
            </a:r>
          </a:p>
        </p:txBody>
      </p:sp>
      <p:sp>
        <p:nvSpPr>
          <p:cNvPr id="16" name="단계"/>
          <p:cNvSpPr/>
          <p:nvPr/>
        </p:nvSpPr>
        <p:spPr>
          <a:xfrm>
            <a:off x="1369565" y="1369565"/>
            <a:ext cx="1405174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7" name="단계"/>
          <p:cNvSpPr>
            <a:spLocks noGrp="1"/>
          </p:cNvSpPr>
          <p:nvPr>
            <p:ph type="body" sz="quarter" idx="23"/>
          </p:nvPr>
        </p:nvSpPr>
        <p:spPr>
          <a:xfrm>
            <a:off x="1369565" y="1369565"/>
            <a:ext cx="1405174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 진단(5월)</a:t>
            </a:r>
          </a:p>
        </p:txBody>
      </p:sp>
      <p:sp>
        <p:nvSpPr>
          <p:cNvPr id="18" name="단계"/>
          <p:cNvSpPr/>
          <p:nvPr/>
        </p:nvSpPr>
        <p:spPr>
          <a:xfrm>
            <a:off x="2774739" y="1369565"/>
            <a:ext cx="1405174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9" name="단계"/>
          <p:cNvSpPr>
            <a:spLocks noGrp="1"/>
          </p:cNvSpPr>
          <p:nvPr>
            <p:ph type="body" sz="quarter" idx="24"/>
          </p:nvPr>
        </p:nvSpPr>
        <p:spPr>
          <a:xfrm>
            <a:off x="2774739" y="1369565"/>
            <a:ext cx="1405174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 의견수렴(5월)</a:t>
            </a:r>
          </a:p>
        </p:txBody>
      </p:sp>
      <p:sp>
        <p:nvSpPr>
          <p:cNvPr id="20" name="단계"/>
          <p:cNvSpPr/>
          <p:nvPr/>
        </p:nvSpPr>
        <p:spPr>
          <a:xfrm>
            <a:off x="4179913" y="1369565"/>
            <a:ext cx="1405174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1" name="단계"/>
          <p:cNvSpPr>
            <a:spLocks noGrp="1"/>
          </p:cNvSpPr>
          <p:nvPr>
            <p:ph type="body" sz="quarter" idx="25"/>
          </p:nvPr>
        </p:nvSpPr>
        <p:spPr>
          <a:xfrm>
            <a:off x="4179913" y="1369565"/>
            <a:ext cx="1405174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전문가 컨설팅(6월)</a:t>
            </a:r>
          </a:p>
        </p:txBody>
      </p:sp>
      <p:sp>
        <p:nvSpPr>
          <p:cNvPr id="22" name="단계"/>
          <p:cNvSpPr/>
          <p:nvPr/>
        </p:nvSpPr>
        <p:spPr>
          <a:xfrm>
            <a:off x="5585087" y="1369565"/>
            <a:ext cx="1405174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3" name="단계"/>
          <p:cNvSpPr>
            <a:spLocks noGrp="1"/>
          </p:cNvSpPr>
          <p:nvPr>
            <p:ph type="body" sz="quarter" idx="26"/>
          </p:nvPr>
        </p:nvSpPr>
        <p:spPr>
          <a:xfrm>
            <a:off x="5585087" y="1369565"/>
            <a:ext cx="1405174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재구성(7월)</a:t>
            </a:r>
          </a:p>
        </p:txBody>
      </p:sp>
      <p:sp>
        <p:nvSpPr>
          <p:cNvPr id="24" name="단계 삼각형"/>
          <p:cNvSpPr/>
          <p:nvPr/>
        </p:nvSpPr>
        <p:spPr>
          <a:xfrm>
            <a:off x="2774739" y="1369565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단계 삼각형"/>
          <p:cNvSpPr/>
          <p:nvPr/>
        </p:nvSpPr>
        <p:spPr>
          <a:xfrm>
            <a:off x="4179913" y="1369565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단계 삼각형"/>
          <p:cNvSpPr/>
          <p:nvPr/>
        </p:nvSpPr>
        <p:spPr>
          <a:xfrm>
            <a:off x="5585086" y="1369565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카드"/>
          <p:cNvSpPr/>
          <p:nvPr/>
        </p:nvSpPr>
        <p:spPr>
          <a:xfrm>
            <a:off x="1369565" y="1643478"/>
            <a:ext cx="2788435" cy="909391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아이콘 칸"/>
          <p:cNvSpPr/>
          <p:nvPr/>
        </p:nvSpPr>
        <p:spPr>
          <a:xfrm>
            <a:off x="1402435" y="1687304"/>
            <a:ext cx="427304" cy="427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/>
        </p:txBody>
      </p:sp>
      <p:sp>
        <p:nvSpPr>
          <p:cNvPr id="29" name="아이콘 칸"/>
          <p:cNvSpPr>
            <a:spLocks noGrp="1"/>
          </p:cNvSpPr>
          <p:nvPr>
            <p:ph type="body" sz="quarter" idx="27"/>
          </p:nvPr>
        </p:nvSpPr>
        <p:spPr>
          <a:xfrm>
            <a:off x="1402435" y="1687304"/>
            <a:ext cx="427304" cy="427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3600" rIns="3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분야 A</a:t>
            </a:r>
          </a:p>
        </p:txBody>
      </p:sp>
      <p:sp>
        <p:nvSpPr>
          <p:cNvPr id="30" name="구분 칩"/>
          <p:cNvSpPr/>
          <p:nvPr/>
        </p:nvSpPr>
        <p:spPr>
          <a:xfrm>
            <a:off x="1873565" y="1687304"/>
            <a:ext cx="284870" cy="186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1" name="구분 칩"/>
          <p:cNvSpPr>
            <a:spLocks noGrp="1"/>
          </p:cNvSpPr>
          <p:nvPr>
            <p:ph type="body" sz="quarter" idx="28"/>
          </p:nvPr>
        </p:nvSpPr>
        <p:spPr>
          <a:xfrm>
            <a:off x="1873565" y="1687304"/>
            <a:ext cx="284870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</a:t>
            </a:r>
          </a:p>
        </p:txBody>
      </p:sp>
      <p:sp>
        <p:nvSpPr>
          <p:cNvPr id="32" name="칩 줄 글"/>
          <p:cNvSpPr>
            <a:spLocks noGrp="1"/>
          </p:cNvSpPr>
          <p:nvPr>
            <p:ph type="body" sz="quarter" idx="29"/>
          </p:nvPr>
        </p:nvSpPr>
        <p:spPr>
          <a:xfrm>
            <a:off x="2191304" y="1687304"/>
            <a:ext cx="1944783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국민, 주변 주민·지자체</a:t>
            </a:r>
          </a:p>
        </p:txBody>
      </p:sp>
      <p:sp>
        <p:nvSpPr>
          <p:cNvPr id="33" name="구분 칩"/>
          <p:cNvSpPr/>
          <p:nvPr/>
        </p:nvSpPr>
        <p:spPr>
          <a:xfrm>
            <a:off x="1873565" y="1906435"/>
            <a:ext cx="284870" cy="186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4" name="구분 칩"/>
          <p:cNvSpPr>
            <a:spLocks noGrp="1"/>
          </p:cNvSpPr>
          <p:nvPr>
            <p:ph type="body" sz="quarter" idx="30"/>
          </p:nvPr>
        </p:nvSpPr>
        <p:spPr>
          <a:xfrm>
            <a:off x="1873565" y="1906435"/>
            <a:ext cx="284870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확장</a:t>
            </a:r>
          </a:p>
        </p:txBody>
      </p:sp>
      <p:sp>
        <p:nvSpPr>
          <p:cNvPr id="35" name="칩 줄 글"/>
          <p:cNvSpPr>
            <a:spLocks noGrp="1"/>
          </p:cNvSpPr>
          <p:nvPr>
            <p:ph type="body" sz="quarter" idx="31"/>
          </p:nvPr>
        </p:nvSpPr>
        <p:spPr>
          <a:xfrm>
            <a:off x="2191304" y="1906435"/>
            <a:ext cx="1944783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글로벌기업, 전문가 등</a:t>
            </a:r>
          </a:p>
        </p:txBody>
      </p:sp>
      <p:sp>
        <p:nvSpPr>
          <p:cNvPr id="36" name="카드 요약"/>
          <p:cNvSpPr/>
          <p:nvPr/>
        </p:nvSpPr>
        <p:spPr>
          <a:xfrm>
            <a:off x="1391478" y="2169391"/>
            <a:ext cx="2744609" cy="361565"/>
          </a:xfrm>
          <a:prstGeom prst="rect">
            <a:avLst/>
          </a:prstGeom>
          <a:solidFill>
            <a:srgbClr val="EFF9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37" name="카드 요약"/>
          <p:cNvSpPr>
            <a:spLocks noGrp="1"/>
          </p:cNvSpPr>
          <p:nvPr>
            <p:ph type="body" sz="quarter" idx="32"/>
          </p:nvPr>
        </p:nvSpPr>
        <p:spPr>
          <a:xfrm>
            <a:off x="1391478" y="2169391"/>
            <a:ext cx="2744609" cy="361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핵심 파트너 등 추가</a:t>
            </a:r>
          </a:p>
        </p:txBody>
      </p:sp>
      <p:sp>
        <p:nvSpPr>
          <p:cNvPr id="38" name="카드"/>
          <p:cNvSpPr/>
          <p:nvPr/>
        </p:nvSpPr>
        <p:spPr>
          <a:xfrm>
            <a:off x="4201826" y="1643478"/>
            <a:ext cx="2788435" cy="909391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아이콘 칸"/>
          <p:cNvSpPr/>
          <p:nvPr/>
        </p:nvSpPr>
        <p:spPr>
          <a:xfrm>
            <a:off x="4234696" y="1687304"/>
            <a:ext cx="427304" cy="427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/>
        </p:txBody>
      </p:sp>
      <p:sp>
        <p:nvSpPr>
          <p:cNvPr id="40" name="아이콘 칸"/>
          <p:cNvSpPr>
            <a:spLocks noGrp="1"/>
          </p:cNvSpPr>
          <p:nvPr>
            <p:ph type="body" sz="quarter" idx="33"/>
          </p:nvPr>
        </p:nvSpPr>
        <p:spPr>
          <a:xfrm>
            <a:off x="4234696" y="1687304"/>
            <a:ext cx="427304" cy="427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3600" rIns="3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분야 B</a:t>
            </a:r>
          </a:p>
        </p:txBody>
      </p:sp>
      <p:sp>
        <p:nvSpPr>
          <p:cNvPr id="41" name="구분 칩"/>
          <p:cNvSpPr/>
          <p:nvPr/>
        </p:nvSpPr>
        <p:spPr>
          <a:xfrm>
            <a:off x="4705826" y="1687304"/>
            <a:ext cx="284870" cy="186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2" name="구분 칩"/>
          <p:cNvSpPr>
            <a:spLocks noGrp="1"/>
          </p:cNvSpPr>
          <p:nvPr>
            <p:ph type="body" sz="quarter" idx="34"/>
          </p:nvPr>
        </p:nvSpPr>
        <p:spPr>
          <a:xfrm>
            <a:off x="4705826" y="1687304"/>
            <a:ext cx="284870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</a:t>
            </a:r>
          </a:p>
        </p:txBody>
      </p:sp>
      <p:sp>
        <p:nvSpPr>
          <p:cNvPr id="43" name="칩 줄 글"/>
          <p:cNvSpPr>
            <a:spLocks noGrp="1"/>
          </p:cNvSpPr>
          <p:nvPr>
            <p:ph type="body" sz="quarter" idx="35"/>
          </p:nvPr>
        </p:nvSpPr>
        <p:spPr>
          <a:xfrm>
            <a:off x="5023565" y="1687304"/>
            <a:ext cx="1944783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국민, 기업, 지자체</a:t>
            </a:r>
          </a:p>
        </p:txBody>
      </p:sp>
      <p:sp>
        <p:nvSpPr>
          <p:cNvPr id="44" name="구분 칩"/>
          <p:cNvSpPr/>
          <p:nvPr/>
        </p:nvSpPr>
        <p:spPr>
          <a:xfrm>
            <a:off x="4705826" y="1906435"/>
            <a:ext cx="284870" cy="186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5" name="구분 칩"/>
          <p:cNvSpPr>
            <a:spLocks noGrp="1"/>
          </p:cNvSpPr>
          <p:nvPr>
            <p:ph type="body" sz="quarter" idx="36"/>
          </p:nvPr>
        </p:nvSpPr>
        <p:spPr>
          <a:xfrm>
            <a:off x="4705826" y="1906435"/>
            <a:ext cx="284870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확장</a:t>
            </a:r>
          </a:p>
        </p:txBody>
      </p:sp>
      <p:sp>
        <p:nvSpPr>
          <p:cNvPr id="46" name="칩 줄 글"/>
          <p:cNvSpPr>
            <a:spLocks noGrp="1"/>
          </p:cNvSpPr>
          <p:nvPr>
            <p:ph type="body" sz="quarter" idx="37"/>
          </p:nvPr>
        </p:nvSpPr>
        <p:spPr>
          <a:xfrm>
            <a:off x="5023565" y="1906435"/>
            <a:ext cx="1944783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협력기업, 신산업 기업 등</a:t>
            </a:r>
          </a:p>
        </p:txBody>
      </p:sp>
      <p:sp>
        <p:nvSpPr>
          <p:cNvPr id="47" name="카드 요약"/>
          <p:cNvSpPr/>
          <p:nvPr/>
        </p:nvSpPr>
        <p:spPr>
          <a:xfrm>
            <a:off x="4223739" y="2169391"/>
            <a:ext cx="2744609" cy="361565"/>
          </a:xfrm>
          <a:prstGeom prst="rect">
            <a:avLst/>
          </a:prstGeom>
          <a:solidFill>
            <a:srgbClr val="EFF9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48" name="카드 요약"/>
          <p:cNvSpPr>
            <a:spLocks noGrp="1"/>
          </p:cNvSpPr>
          <p:nvPr>
            <p:ph type="body" sz="quarter" idx="38"/>
          </p:nvPr>
        </p:nvSpPr>
        <p:spPr>
          <a:xfrm>
            <a:off x="4223739" y="2169391"/>
            <a:ext cx="2744609" cy="361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공급 파트너까지 확대</a:t>
            </a:r>
          </a:p>
        </p:txBody>
      </p:sp>
      <p:sp>
        <p:nvSpPr>
          <p:cNvPr id="49" name="카드"/>
          <p:cNvSpPr/>
          <p:nvPr/>
        </p:nvSpPr>
        <p:spPr>
          <a:xfrm>
            <a:off x="1369565" y="2585739"/>
            <a:ext cx="2788435" cy="909391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아이콘 칸"/>
          <p:cNvSpPr/>
          <p:nvPr/>
        </p:nvSpPr>
        <p:spPr>
          <a:xfrm>
            <a:off x="1402435" y="2629565"/>
            <a:ext cx="427304" cy="427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/>
        </p:txBody>
      </p:sp>
      <p:sp>
        <p:nvSpPr>
          <p:cNvPr id="51" name="아이콘 칸"/>
          <p:cNvSpPr>
            <a:spLocks noGrp="1"/>
          </p:cNvSpPr>
          <p:nvPr>
            <p:ph type="body" sz="quarter" idx="39"/>
          </p:nvPr>
        </p:nvSpPr>
        <p:spPr>
          <a:xfrm>
            <a:off x="1402435" y="2629565"/>
            <a:ext cx="427304" cy="427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3600" rIns="3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분야 C</a:t>
            </a:r>
          </a:p>
        </p:txBody>
      </p:sp>
      <p:sp>
        <p:nvSpPr>
          <p:cNvPr id="52" name="구분 칩"/>
          <p:cNvSpPr/>
          <p:nvPr/>
        </p:nvSpPr>
        <p:spPr>
          <a:xfrm>
            <a:off x="1873565" y="2629565"/>
            <a:ext cx="284870" cy="186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3" name="구분 칩"/>
          <p:cNvSpPr>
            <a:spLocks noGrp="1"/>
          </p:cNvSpPr>
          <p:nvPr>
            <p:ph type="body" sz="quarter" idx="40"/>
          </p:nvPr>
        </p:nvSpPr>
        <p:spPr>
          <a:xfrm>
            <a:off x="1873565" y="2629565"/>
            <a:ext cx="284870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</a:t>
            </a:r>
          </a:p>
        </p:txBody>
      </p:sp>
      <p:sp>
        <p:nvSpPr>
          <p:cNvPr id="54" name="칩 줄 글"/>
          <p:cNvSpPr>
            <a:spLocks noGrp="1"/>
          </p:cNvSpPr>
          <p:nvPr>
            <p:ph type="body" sz="quarter" idx="41"/>
          </p:nvPr>
        </p:nvSpPr>
        <p:spPr>
          <a:xfrm>
            <a:off x="2191304" y="2629565"/>
            <a:ext cx="1944783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주민·건설기업·지자체</a:t>
            </a:r>
          </a:p>
        </p:txBody>
      </p:sp>
      <p:sp>
        <p:nvSpPr>
          <p:cNvPr id="55" name="구분 칩"/>
          <p:cNvSpPr/>
          <p:nvPr/>
        </p:nvSpPr>
        <p:spPr>
          <a:xfrm>
            <a:off x="1873565" y="2848696"/>
            <a:ext cx="284870" cy="186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6" name="구분 칩"/>
          <p:cNvSpPr>
            <a:spLocks noGrp="1"/>
          </p:cNvSpPr>
          <p:nvPr>
            <p:ph type="body" sz="quarter" idx="42"/>
          </p:nvPr>
        </p:nvSpPr>
        <p:spPr>
          <a:xfrm>
            <a:off x="1873565" y="2848696"/>
            <a:ext cx="284870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확장</a:t>
            </a:r>
          </a:p>
        </p:txBody>
      </p:sp>
      <p:sp>
        <p:nvSpPr>
          <p:cNvPr id="57" name="칩 줄 글"/>
          <p:cNvSpPr>
            <a:spLocks noGrp="1"/>
          </p:cNvSpPr>
          <p:nvPr>
            <p:ph type="body" sz="quarter" idx="43"/>
          </p:nvPr>
        </p:nvSpPr>
        <p:spPr>
          <a:xfrm>
            <a:off x="2191304" y="2848696"/>
            <a:ext cx="1944783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정부, 수요기업 등</a:t>
            </a:r>
          </a:p>
        </p:txBody>
      </p:sp>
      <p:sp>
        <p:nvSpPr>
          <p:cNvPr id="58" name="카드 요약"/>
          <p:cNvSpPr/>
          <p:nvPr/>
        </p:nvSpPr>
        <p:spPr>
          <a:xfrm>
            <a:off x="1391478" y="3111652"/>
            <a:ext cx="2744609" cy="361565"/>
          </a:xfrm>
          <a:prstGeom prst="rect">
            <a:avLst/>
          </a:prstGeom>
          <a:solidFill>
            <a:srgbClr val="EFF9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59" name="카드 요약"/>
          <p:cNvSpPr>
            <a:spLocks noGrp="1"/>
          </p:cNvSpPr>
          <p:nvPr>
            <p:ph type="body" sz="quarter" idx="44"/>
          </p:nvPr>
        </p:nvSpPr>
        <p:spPr>
          <a:xfrm>
            <a:off x="1391478" y="3111652"/>
            <a:ext cx="2744609" cy="361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정부·기업 협력 필요</a:t>
            </a:r>
          </a:p>
        </p:txBody>
      </p:sp>
      <p:sp>
        <p:nvSpPr>
          <p:cNvPr id="60" name="카드"/>
          <p:cNvSpPr/>
          <p:nvPr/>
        </p:nvSpPr>
        <p:spPr>
          <a:xfrm>
            <a:off x="4201826" y="2585739"/>
            <a:ext cx="2788435" cy="909391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아이콘 칸"/>
          <p:cNvSpPr/>
          <p:nvPr/>
        </p:nvSpPr>
        <p:spPr>
          <a:xfrm>
            <a:off x="4234696" y="2629565"/>
            <a:ext cx="427304" cy="427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/>
        </p:txBody>
      </p:sp>
      <p:sp>
        <p:nvSpPr>
          <p:cNvPr id="62" name="아이콘 칸"/>
          <p:cNvSpPr>
            <a:spLocks noGrp="1"/>
          </p:cNvSpPr>
          <p:nvPr>
            <p:ph type="body" sz="quarter" idx="45"/>
          </p:nvPr>
        </p:nvSpPr>
        <p:spPr>
          <a:xfrm>
            <a:off x="4234696" y="2629565"/>
            <a:ext cx="427304" cy="427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3600" rIns="3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분야 D</a:t>
            </a:r>
          </a:p>
        </p:txBody>
      </p:sp>
      <p:sp>
        <p:nvSpPr>
          <p:cNvPr id="63" name="구분 칩"/>
          <p:cNvSpPr/>
          <p:nvPr/>
        </p:nvSpPr>
        <p:spPr>
          <a:xfrm>
            <a:off x="4705826" y="2629565"/>
            <a:ext cx="284870" cy="186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4" name="구분 칩"/>
          <p:cNvSpPr>
            <a:spLocks noGrp="1"/>
          </p:cNvSpPr>
          <p:nvPr>
            <p:ph type="body" sz="quarter" idx="46"/>
          </p:nvPr>
        </p:nvSpPr>
        <p:spPr>
          <a:xfrm>
            <a:off x="4705826" y="2629565"/>
            <a:ext cx="284870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</a:t>
            </a:r>
          </a:p>
        </p:txBody>
      </p:sp>
      <p:sp>
        <p:nvSpPr>
          <p:cNvPr id="65" name="칩 줄 글"/>
          <p:cNvSpPr>
            <a:spLocks noGrp="1"/>
          </p:cNvSpPr>
          <p:nvPr>
            <p:ph type="body" sz="quarter" idx="47"/>
          </p:nvPr>
        </p:nvSpPr>
        <p:spPr>
          <a:xfrm>
            <a:off x="5023565" y="2629565"/>
            <a:ext cx="1944783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유관기관, 지자체, 기업</a:t>
            </a:r>
          </a:p>
        </p:txBody>
      </p:sp>
      <p:sp>
        <p:nvSpPr>
          <p:cNvPr id="66" name="구분 칩"/>
          <p:cNvSpPr/>
          <p:nvPr/>
        </p:nvSpPr>
        <p:spPr>
          <a:xfrm>
            <a:off x="4705826" y="2848696"/>
            <a:ext cx="284870" cy="186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7" name="구분 칩"/>
          <p:cNvSpPr>
            <a:spLocks noGrp="1"/>
          </p:cNvSpPr>
          <p:nvPr>
            <p:ph type="body" sz="quarter" idx="48"/>
          </p:nvPr>
        </p:nvSpPr>
        <p:spPr>
          <a:xfrm>
            <a:off x="4705826" y="2848696"/>
            <a:ext cx="284870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확장</a:t>
            </a:r>
          </a:p>
        </p:txBody>
      </p:sp>
      <p:sp>
        <p:nvSpPr>
          <p:cNvPr id="68" name="칩 줄 글"/>
          <p:cNvSpPr>
            <a:spLocks noGrp="1"/>
          </p:cNvSpPr>
          <p:nvPr>
            <p:ph type="body" sz="quarter" idx="49"/>
          </p:nvPr>
        </p:nvSpPr>
        <p:spPr>
          <a:xfrm>
            <a:off x="5023565" y="2848696"/>
            <a:ext cx="1944783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신산업 기업, 해외 정부</a:t>
            </a:r>
          </a:p>
        </p:txBody>
      </p:sp>
      <p:sp>
        <p:nvSpPr>
          <p:cNvPr id="69" name="카드 요약"/>
          <p:cNvSpPr/>
          <p:nvPr/>
        </p:nvSpPr>
        <p:spPr>
          <a:xfrm>
            <a:off x="4223739" y="3111652"/>
            <a:ext cx="2744609" cy="361565"/>
          </a:xfrm>
          <a:prstGeom prst="rect">
            <a:avLst/>
          </a:prstGeom>
          <a:solidFill>
            <a:srgbClr val="EFF9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70" name="카드 요약"/>
          <p:cNvSpPr>
            <a:spLocks noGrp="1"/>
          </p:cNvSpPr>
          <p:nvPr>
            <p:ph type="body" sz="quarter" idx="50"/>
          </p:nvPr>
        </p:nvSpPr>
        <p:spPr>
          <a:xfrm>
            <a:off x="4223739" y="3111652"/>
            <a:ext cx="2744609" cy="361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글로벌 협력주체 확대</a:t>
            </a:r>
          </a:p>
        </p:txBody>
      </p:sp>
      <p:sp>
        <p:nvSpPr>
          <p:cNvPr id="71" name="캡션 띠"/>
          <p:cNvSpPr/>
          <p:nvPr/>
        </p:nvSpPr>
        <p:spPr>
          <a:xfrm>
            <a:off x="723130" y="3604695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캡션"/>
          <p:cNvSpPr>
            <a:spLocks noGrp="1"/>
          </p:cNvSpPr>
          <p:nvPr>
            <p:ph type="body" sz="quarter" idx="51"/>
          </p:nvPr>
        </p:nvSpPr>
        <p:spPr>
          <a:xfrm>
            <a:off x="942261" y="3604696"/>
            <a:ext cx="5861739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【 재분류된 이해관계자 대상 현 미션·비전·가치 유효성 검증 】</a:t>
            </a:r>
          </a:p>
        </p:txBody>
      </p:sp>
      <p:sp>
        <p:nvSpPr>
          <p:cNvPr id="73" name="패널 외곽"/>
          <p:cNvSpPr/>
          <p:nvPr/>
        </p:nvSpPr>
        <p:spPr>
          <a:xfrm>
            <a:off x="723130" y="3933391"/>
            <a:ext cx="6300000" cy="224608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레일"/>
          <p:cNvSpPr/>
          <p:nvPr/>
        </p:nvSpPr>
        <p:spPr>
          <a:xfrm>
            <a:off x="734087" y="3944348"/>
            <a:ext cx="580696" cy="222417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5" name="레일"/>
          <p:cNvSpPr>
            <a:spLocks noGrp="1"/>
          </p:cNvSpPr>
          <p:nvPr>
            <p:ph type="body" sz="quarter" idx="52"/>
          </p:nvPr>
        </p:nvSpPr>
        <p:spPr>
          <a:xfrm>
            <a:off x="734087" y="3944348"/>
            <a:ext cx="580696" cy="2224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가치전략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진단</a:t>
            </a:r>
          </a:p>
        </p:txBody>
      </p:sp>
      <p:sp>
        <p:nvSpPr>
          <p:cNvPr id="76" name="도입 글"/>
          <p:cNvSpPr>
            <a:spLocks noGrp="1"/>
          </p:cNvSpPr>
          <p:nvPr>
            <p:ph type="body" sz="quarter" idx="53"/>
          </p:nvPr>
        </p:nvSpPr>
        <p:spPr>
          <a:xfrm>
            <a:off x="1369565" y="3955304"/>
            <a:ext cx="5620696" cy="383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 소통은 세분화하고, 외부 소통은 대폭 확대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정책 반영 과정에서 나온 정보를 지속 공유</a:t>
            </a:r>
          </a:p>
        </p:txBody>
      </p:sp>
      <p:sp>
        <p:nvSpPr>
          <p:cNvPr id="77" name="열 머리"/>
          <p:cNvSpPr/>
          <p:nvPr/>
        </p:nvSpPr>
        <p:spPr>
          <a:xfrm>
            <a:off x="1369565" y="4349739"/>
            <a:ext cx="1858957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78" name="열 머리"/>
          <p:cNvSpPr>
            <a:spLocks noGrp="1"/>
          </p:cNvSpPr>
          <p:nvPr>
            <p:ph type="body" sz="quarter" idx="54"/>
          </p:nvPr>
        </p:nvSpPr>
        <p:spPr>
          <a:xfrm>
            <a:off x="1369565" y="4349739"/>
            <a:ext cx="1858957" cy="1972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직원·전문가 설문(1차, 7월)</a:t>
            </a:r>
          </a:p>
        </p:txBody>
      </p:sp>
      <p:sp>
        <p:nvSpPr>
          <p:cNvPr id="79" name="열 본문"/>
          <p:cNvSpPr>
            <a:spLocks noGrp="1"/>
          </p:cNvSpPr>
          <p:nvPr>
            <p:ph type="body" sz="quarter" idx="55"/>
          </p:nvPr>
        </p:nvSpPr>
        <p:spPr>
          <a:xfrm>
            <a:off x="1369565" y="4557913"/>
            <a:ext cx="1858957" cy="460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가치·전략체계 격차 진단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임직원·외부전문가 대상</a:t>
            </a:r>
          </a:p>
        </p:txBody>
      </p:sp>
      <p:sp>
        <p:nvSpPr>
          <p:cNvPr id="80" name="열 머리"/>
          <p:cNvSpPr/>
          <p:nvPr/>
        </p:nvSpPr>
        <p:spPr>
          <a:xfrm>
            <a:off x="3250435" y="4349739"/>
            <a:ext cx="1858957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81" name="열 머리"/>
          <p:cNvSpPr>
            <a:spLocks noGrp="1"/>
          </p:cNvSpPr>
          <p:nvPr>
            <p:ph type="body" sz="quarter" idx="56"/>
          </p:nvPr>
        </p:nvSpPr>
        <p:spPr>
          <a:xfrm>
            <a:off x="3250435" y="4349739"/>
            <a:ext cx="1858957" cy="1972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이해관계자 소통(2차, 7~10월)</a:t>
            </a:r>
          </a:p>
        </p:txBody>
      </p:sp>
      <p:sp>
        <p:nvSpPr>
          <p:cNvPr id="82" name="열 본문"/>
          <p:cNvSpPr>
            <a:spLocks noGrp="1"/>
          </p:cNvSpPr>
          <p:nvPr>
            <p:ph type="body" sz="quarter" idx="57"/>
          </p:nvPr>
        </p:nvSpPr>
        <p:spPr>
          <a:xfrm>
            <a:off x="3250435" y="4557913"/>
            <a:ext cx="1858957" cy="460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정부·지자체 의견 수렴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면담 12회</a:t>
            </a:r>
          </a:p>
        </p:txBody>
      </p:sp>
      <p:sp>
        <p:nvSpPr>
          <p:cNvPr id="83" name="열 머리"/>
          <p:cNvSpPr/>
          <p:nvPr/>
        </p:nvSpPr>
        <p:spPr>
          <a:xfrm>
            <a:off x="5131304" y="4349739"/>
            <a:ext cx="1858957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84" name="열 머리"/>
          <p:cNvSpPr>
            <a:spLocks noGrp="1"/>
          </p:cNvSpPr>
          <p:nvPr>
            <p:ph type="body" sz="quarter" idx="58"/>
          </p:nvPr>
        </p:nvSpPr>
        <p:spPr>
          <a:xfrm>
            <a:off x="5131304" y="4349739"/>
            <a:ext cx="1858957" cy="1972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직원·국민 설문(3차, 11월)</a:t>
            </a:r>
          </a:p>
        </p:txBody>
      </p:sp>
      <p:sp>
        <p:nvSpPr>
          <p:cNvPr id="85" name="열 본문"/>
          <p:cNvSpPr>
            <a:spLocks noGrp="1"/>
          </p:cNvSpPr>
          <p:nvPr>
            <p:ph type="body" sz="quarter" idx="59"/>
          </p:nvPr>
        </p:nvSpPr>
        <p:spPr>
          <a:xfrm>
            <a:off x="5131304" y="4557913"/>
            <a:ext cx="1858957" cy="460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가치·전략체계 변화방향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직원·국민 대상 온라인 등</a:t>
            </a:r>
          </a:p>
        </p:txBody>
      </p:sp>
      <p:sp>
        <p:nvSpPr>
          <p:cNvPr id="86" name="강조 띠"/>
          <p:cNvSpPr/>
          <p:nvPr/>
        </p:nvSpPr>
        <p:spPr>
          <a:xfrm>
            <a:off x="1369565" y="5040000"/>
            <a:ext cx="5620696" cy="21913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87" name="강조 띠"/>
          <p:cNvSpPr>
            <a:spLocks noGrp="1"/>
          </p:cNvSpPr>
          <p:nvPr>
            <p:ph type="body" sz="quarter" idx="60"/>
          </p:nvPr>
        </p:nvSpPr>
        <p:spPr>
          <a:xfrm>
            <a:off x="1369565" y="5040000"/>
            <a:ext cx="5620696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큰 틀은 유지하되 새 요구 및 국정과제 반영·세부 의미 재해석</a:t>
            </a:r>
          </a:p>
        </p:txBody>
      </p:sp>
      <p:sp>
        <p:nvSpPr>
          <p:cNvPr id="88" name="행 라벨"/>
          <p:cNvSpPr/>
          <p:nvPr/>
        </p:nvSpPr>
        <p:spPr>
          <a:xfrm>
            <a:off x="1369565" y="5292000"/>
            <a:ext cx="350609" cy="38347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9" name="행 라벨"/>
          <p:cNvSpPr>
            <a:spLocks noGrp="1"/>
          </p:cNvSpPr>
          <p:nvPr>
            <p:ph type="body" sz="quarter" idx="61"/>
          </p:nvPr>
        </p:nvSpPr>
        <p:spPr>
          <a:xfrm>
            <a:off x="1369565" y="5292000"/>
            <a:ext cx="350609" cy="38347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가치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체계</a:t>
            </a:r>
          </a:p>
        </p:txBody>
      </p:sp>
      <p:sp>
        <p:nvSpPr>
          <p:cNvPr id="90" name="지표"/>
          <p:cNvSpPr>
            <a:spLocks noGrp="1"/>
          </p:cNvSpPr>
          <p:nvPr>
            <p:ph type="body" sz="quarter" idx="62"/>
          </p:nvPr>
        </p:nvSpPr>
        <p:spPr>
          <a:xfrm>
            <a:off x="1753043" y="5292000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설립목적 부합</a:t>
            </a:r>
          </a:p>
        </p:txBody>
      </p:sp>
      <p:sp>
        <p:nvSpPr>
          <p:cNvPr id="91" name="수치"/>
          <p:cNvSpPr>
            <a:spLocks noGrp="1"/>
          </p:cNvSpPr>
          <p:nvPr>
            <p:ph type="body" sz="quarter" idx="63"/>
          </p:nvPr>
        </p:nvSpPr>
        <p:spPr>
          <a:xfrm>
            <a:off x="1753043" y="5489217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 95.5%  외 97.3%</a:t>
            </a:r>
          </a:p>
        </p:txBody>
      </p:sp>
      <p:sp>
        <p:nvSpPr>
          <p:cNvPr id="92" name="지표"/>
          <p:cNvSpPr>
            <a:spLocks noGrp="1"/>
          </p:cNvSpPr>
          <p:nvPr>
            <p:ph type="body" sz="quarter" idx="64"/>
          </p:nvPr>
        </p:nvSpPr>
        <p:spPr>
          <a:xfrm>
            <a:off x="2936713" y="5292000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환경변화 부합</a:t>
            </a:r>
          </a:p>
        </p:txBody>
      </p:sp>
      <p:sp>
        <p:nvSpPr>
          <p:cNvPr id="93" name="수치"/>
          <p:cNvSpPr>
            <a:spLocks noGrp="1"/>
          </p:cNvSpPr>
          <p:nvPr>
            <p:ph type="body" sz="quarter" idx="65"/>
          </p:nvPr>
        </p:nvSpPr>
        <p:spPr>
          <a:xfrm>
            <a:off x="2936713" y="5489217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 97.4%  외 98.4%</a:t>
            </a:r>
          </a:p>
        </p:txBody>
      </p:sp>
      <p:sp>
        <p:nvSpPr>
          <p:cNvPr id="94" name="지표"/>
          <p:cNvSpPr>
            <a:spLocks noGrp="1"/>
          </p:cNvSpPr>
          <p:nvPr>
            <p:ph type="body" sz="quarter" idx="66"/>
          </p:nvPr>
        </p:nvSpPr>
        <p:spPr>
          <a:xfrm>
            <a:off x="4120383" y="5292000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장기적 유지·확산</a:t>
            </a:r>
          </a:p>
        </p:txBody>
      </p:sp>
      <p:sp>
        <p:nvSpPr>
          <p:cNvPr id="95" name="수치"/>
          <p:cNvSpPr>
            <a:spLocks noGrp="1"/>
          </p:cNvSpPr>
          <p:nvPr>
            <p:ph type="body" sz="quarter" idx="67"/>
          </p:nvPr>
        </p:nvSpPr>
        <p:spPr>
          <a:xfrm>
            <a:off x="4120383" y="5489217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 97.2%  외 98.9%</a:t>
            </a:r>
          </a:p>
        </p:txBody>
      </p:sp>
      <p:cxnSp>
        <p:nvCxnSpPr>
          <p:cNvPr id="96" name="Connector 62"/>
          <p:cNvCxnSpPr/>
          <p:nvPr/>
        </p:nvCxnSpPr>
        <p:spPr>
          <a:xfrm>
            <a:off x="1753043" y="5483739"/>
            <a:ext cx="3551009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7" name="행 라벨"/>
          <p:cNvSpPr/>
          <p:nvPr/>
        </p:nvSpPr>
        <p:spPr>
          <a:xfrm>
            <a:off x="1369565" y="5708348"/>
            <a:ext cx="350609" cy="38347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98" name="행 라벨"/>
          <p:cNvSpPr>
            <a:spLocks noGrp="1"/>
          </p:cNvSpPr>
          <p:nvPr>
            <p:ph type="body" sz="quarter" idx="68"/>
          </p:nvPr>
        </p:nvSpPr>
        <p:spPr>
          <a:xfrm>
            <a:off x="1369565" y="5708348"/>
            <a:ext cx="350609" cy="38347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체계</a:t>
            </a:r>
          </a:p>
        </p:txBody>
      </p:sp>
      <p:sp>
        <p:nvSpPr>
          <p:cNvPr id="99" name="지표"/>
          <p:cNvSpPr>
            <a:spLocks noGrp="1"/>
          </p:cNvSpPr>
          <p:nvPr>
            <p:ph type="body" sz="quarter" idx="69"/>
          </p:nvPr>
        </p:nvSpPr>
        <p:spPr>
          <a:xfrm>
            <a:off x="1753043" y="5708348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전략체계 변화 필요</a:t>
            </a:r>
          </a:p>
        </p:txBody>
      </p:sp>
      <p:sp>
        <p:nvSpPr>
          <p:cNvPr id="100" name="수치"/>
          <p:cNvSpPr>
            <a:spLocks noGrp="1"/>
          </p:cNvSpPr>
          <p:nvPr>
            <p:ph type="body" sz="quarter" idx="70"/>
          </p:nvPr>
        </p:nvSpPr>
        <p:spPr>
          <a:xfrm>
            <a:off x="1753043" y="5905565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 97.2%</a:t>
            </a:r>
          </a:p>
        </p:txBody>
      </p:sp>
      <p:sp>
        <p:nvSpPr>
          <p:cNvPr id="101" name="지표"/>
          <p:cNvSpPr>
            <a:spLocks noGrp="1"/>
          </p:cNvSpPr>
          <p:nvPr>
            <p:ph type="body" sz="quarter" idx="71"/>
          </p:nvPr>
        </p:nvSpPr>
        <p:spPr>
          <a:xfrm>
            <a:off x="2936713" y="5708348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직관적 이해도 향상</a:t>
            </a:r>
          </a:p>
        </p:txBody>
      </p:sp>
      <p:sp>
        <p:nvSpPr>
          <p:cNvPr id="102" name="수치"/>
          <p:cNvSpPr>
            <a:spLocks noGrp="1"/>
          </p:cNvSpPr>
          <p:nvPr>
            <p:ph type="body" sz="quarter" idx="72"/>
          </p:nvPr>
        </p:nvSpPr>
        <p:spPr>
          <a:xfrm>
            <a:off x="2936713" y="5905565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 92.6%  외 91.1%</a:t>
            </a:r>
          </a:p>
        </p:txBody>
      </p:sp>
      <p:sp>
        <p:nvSpPr>
          <p:cNvPr id="103" name="지표"/>
          <p:cNvSpPr>
            <a:spLocks noGrp="1"/>
          </p:cNvSpPr>
          <p:nvPr>
            <p:ph type="body" sz="quarter" idx="73"/>
          </p:nvPr>
        </p:nvSpPr>
        <p:spPr>
          <a:xfrm>
            <a:off x="4120383" y="5708348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국정과제 연계 변경</a:t>
            </a:r>
          </a:p>
        </p:txBody>
      </p:sp>
      <p:sp>
        <p:nvSpPr>
          <p:cNvPr id="104" name="수치"/>
          <p:cNvSpPr>
            <a:spLocks noGrp="1"/>
          </p:cNvSpPr>
          <p:nvPr>
            <p:ph type="body" sz="quarter" idx="74"/>
          </p:nvPr>
        </p:nvSpPr>
        <p:spPr>
          <a:xfrm>
            <a:off x="4120383" y="5905565"/>
            <a:ext cx="1161757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 95.0%  외 93.3%</a:t>
            </a:r>
          </a:p>
        </p:txBody>
      </p:sp>
      <p:cxnSp>
        <p:nvCxnSpPr>
          <p:cNvPr id="105" name="Connector 70"/>
          <p:cNvCxnSpPr/>
          <p:nvPr/>
        </p:nvCxnSpPr>
        <p:spPr>
          <a:xfrm>
            <a:off x="1753043" y="5900087"/>
            <a:ext cx="3551009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6" name="판단 글"/>
          <p:cNvSpPr>
            <a:spLocks noGrp="1"/>
          </p:cNvSpPr>
          <p:nvPr>
            <p:ph type="body" sz="quarter" idx="75"/>
          </p:nvPr>
        </p:nvSpPr>
        <p:spPr>
          <a:xfrm>
            <a:off x="5347878" y="5292000"/>
            <a:ext cx="1642383" cy="383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☑ 국민 기대·역할 기본방향은 전반적 적합</a:t>
            </a:r>
          </a:p>
        </p:txBody>
      </p:sp>
      <p:sp>
        <p:nvSpPr>
          <p:cNvPr id="107" name="판단 글"/>
          <p:cNvSpPr>
            <a:spLocks noGrp="1"/>
          </p:cNvSpPr>
          <p:nvPr>
            <p:ph type="body" sz="quarter" idx="76"/>
          </p:nvPr>
        </p:nvSpPr>
        <p:spPr>
          <a:xfrm>
            <a:off x="5347878" y="5708348"/>
            <a:ext cx="1642383" cy="383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☑ 새 정부 출범·여건 변화 반영 필요</a:t>
            </a:r>
          </a:p>
        </p:txBody>
      </p:sp>
      <p:sp>
        <p:nvSpPr>
          <p:cNvPr id="108" name="캡션 띠"/>
          <p:cNvSpPr/>
          <p:nvPr/>
        </p:nvSpPr>
        <p:spPr>
          <a:xfrm>
            <a:off x="723130" y="6201391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캡션"/>
          <p:cNvSpPr>
            <a:spLocks noGrp="1"/>
          </p:cNvSpPr>
          <p:nvPr>
            <p:ph type="body" sz="quarter" idx="77"/>
          </p:nvPr>
        </p:nvSpPr>
        <p:spPr>
          <a:xfrm>
            <a:off x="942261" y="6201391"/>
            <a:ext cx="5861739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【 가치 전략체계 롤링 】</a:t>
            </a:r>
          </a:p>
        </p:txBody>
      </p:sp>
      <p:sp>
        <p:nvSpPr>
          <p:cNvPr id="110" name="틀"/>
          <p:cNvSpPr/>
          <p:nvPr/>
        </p:nvSpPr>
        <p:spPr>
          <a:xfrm>
            <a:off x="723130" y="6530087"/>
            <a:ext cx="6300000" cy="1566783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단계"/>
          <p:cNvSpPr/>
          <p:nvPr/>
        </p:nvSpPr>
        <p:spPr>
          <a:xfrm>
            <a:off x="723130" y="6530087"/>
            <a:ext cx="2100000" cy="25200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12" name="단계"/>
          <p:cNvSpPr>
            <a:spLocks noGrp="1"/>
          </p:cNvSpPr>
          <p:nvPr>
            <p:ph type="body" sz="quarter" idx="78"/>
          </p:nvPr>
        </p:nvSpPr>
        <p:spPr>
          <a:xfrm>
            <a:off x="723130" y="6530087"/>
            <a:ext cx="2100000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미션 [재해석]</a:t>
            </a:r>
          </a:p>
        </p:txBody>
      </p:sp>
      <p:sp>
        <p:nvSpPr>
          <p:cNvPr id="113" name="단계"/>
          <p:cNvSpPr/>
          <p:nvPr/>
        </p:nvSpPr>
        <p:spPr>
          <a:xfrm>
            <a:off x="2823130" y="6530087"/>
            <a:ext cx="2100000" cy="252000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14" name="단계"/>
          <p:cNvSpPr>
            <a:spLocks noGrp="1"/>
          </p:cNvSpPr>
          <p:nvPr>
            <p:ph type="body" sz="quarter" idx="79"/>
          </p:nvPr>
        </p:nvSpPr>
        <p:spPr>
          <a:xfrm>
            <a:off x="2823130" y="6530087"/>
            <a:ext cx="2100000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비전 [재해석] 목표 [강화]</a:t>
            </a:r>
          </a:p>
        </p:txBody>
      </p:sp>
      <p:sp>
        <p:nvSpPr>
          <p:cNvPr id="115" name="단계"/>
          <p:cNvSpPr/>
          <p:nvPr/>
        </p:nvSpPr>
        <p:spPr>
          <a:xfrm>
            <a:off x="4923130" y="6530087"/>
            <a:ext cx="2100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16" name="단계"/>
          <p:cNvSpPr>
            <a:spLocks noGrp="1"/>
          </p:cNvSpPr>
          <p:nvPr>
            <p:ph type="body" sz="quarter" idx="80"/>
          </p:nvPr>
        </p:nvSpPr>
        <p:spPr>
          <a:xfrm>
            <a:off x="4923130" y="6530087"/>
            <a:ext cx="2100000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핵심가치 [재해석]</a:t>
            </a:r>
          </a:p>
        </p:txBody>
      </p:sp>
      <p:sp>
        <p:nvSpPr>
          <p:cNvPr id="117" name="단계 삼각형"/>
          <p:cNvSpPr/>
          <p:nvPr/>
        </p:nvSpPr>
        <p:spPr>
          <a:xfrm>
            <a:off x="2823130" y="6530086"/>
            <a:ext cx="109565" cy="252000"/>
          </a:xfrm>
          <a:custGeom>
            <a:avLst/>
            <a:gdLst/>
            <a:ahLst/>
            <a:cxnLst/>
            <a:rect l="l" t="t" r="r" b="b"/>
            <a:pathLst>
              <a:path w="109565" h="252000">
                <a:moveTo>
                  <a:pt x="0" y="0"/>
                </a:moveTo>
                <a:lnTo>
                  <a:pt x="109565" y="126000"/>
                </a:lnTo>
                <a:lnTo>
                  <a:pt x="0" y="252000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단계 삼각형"/>
          <p:cNvSpPr/>
          <p:nvPr/>
        </p:nvSpPr>
        <p:spPr>
          <a:xfrm>
            <a:off x="4923130" y="6530086"/>
            <a:ext cx="109565" cy="252000"/>
          </a:xfrm>
          <a:custGeom>
            <a:avLst/>
            <a:gdLst/>
            <a:ahLst/>
            <a:cxnLst/>
            <a:rect l="l" t="t" r="r" b="b"/>
            <a:pathLst>
              <a:path w="109565" h="252000">
                <a:moveTo>
                  <a:pt x="0" y="0"/>
                </a:moveTo>
                <a:lnTo>
                  <a:pt x="109565" y="126000"/>
                </a:lnTo>
                <a:lnTo>
                  <a:pt x="0" y="252000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아이콘 칸"/>
          <p:cNvSpPr/>
          <p:nvPr/>
        </p:nvSpPr>
        <p:spPr>
          <a:xfrm>
            <a:off x="777913" y="6836870"/>
            <a:ext cx="416348" cy="438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20" name="큰 문구"/>
          <p:cNvSpPr>
            <a:spLocks noGrp="1"/>
          </p:cNvSpPr>
          <p:nvPr>
            <p:ph type="body" sz="quarter" idx="81"/>
          </p:nvPr>
        </p:nvSpPr>
        <p:spPr>
          <a:xfrm>
            <a:off x="1227130" y="6804000"/>
            <a:ext cx="1552174" cy="624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물이 여는 미래,
물로 나누는 행복</a:t>
            </a:r>
          </a:p>
        </p:txBody>
      </p:sp>
      <p:sp>
        <p:nvSpPr>
          <p:cNvPr id="121" name="요약 줄"/>
          <p:cNvSpPr/>
          <p:nvPr/>
        </p:nvSpPr>
        <p:spPr>
          <a:xfrm>
            <a:off x="745043" y="7439478"/>
            <a:ext cx="2056174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22" name="요약 줄"/>
          <p:cNvSpPr>
            <a:spLocks noGrp="1"/>
          </p:cNvSpPr>
          <p:nvPr>
            <p:ph type="body" sz="quarter" idx="82"/>
          </p:nvPr>
        </p:nvSpPr>
        <p:spPr>
          <a:xfrm>
            <a:off x="745043" y="7439478"/>
            <a:ext cx="2056174" cy="1972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물의 가치로 열린 미래와 행복 나눔</a:t>
            </a:r>
          </a:p>
        </p:txBody>
      </p:sp>
      <p:sp>
        <p:nvSpPr>
          <p:cNvPr id="123" name="불릿"/>
          <p:cNvSpPr>
            <a:spLocks noGrp="1"/>
          </p:cNvSpPr>
          <p:nvPr>
            <p:ph type="body" sz="quarter" idx="83"/>
          </p:nvPr>
        </p:nvSpPr>
        <p:spPr>
          <a:xfrm>
            <a:off x="745043" y="7658609"/>
            <a:ext cx="2056174" cy="41634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물관리·녹색전환 지원 등 의미 보완</a:t>
            </a:r>
          </a:p>
        </p:txBody>
      </p:sp>
      <p:sp>
        <p:nvSpPr>
          <p:cNvPr id="124" name="아이콘 칸"/>
          <p:cNvSpPr/>
          <p:nvPr/>
        </p:nvSpPr>
        <p:spPr>
          <a:xfrm>
            <a:off x="2877913" y="6836870"/>
            <a:ext cx="416348" cy="438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25" name="큰 문구"/>
          <p:cNvSpPr>
            <a:spLocks noGrp="1"/>
          </p:cNvSpPr>
          <p:nvPr>
            <p:ph type="body" sz="quarter" idx="84"/>
          </p:nvPr>
        </p:nvSpPr>
        <p:spPr>
          <a:xfrm>
            <a:off x="3327130" y="6804000"/>
            <a:ext cx="1552174" cy="624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기후위기 대응을 선도하는 글로벌 물기업</a:t>
            </a:r>
          </a:p>
        </p:txBody>
      </p:sp>
      <p:sp>
        <p:nvSpPr>
          <p:cNvPr id="126" name="요약 줄"/>
          <p:cNvSpPr/>
          <p:nvPr/>
        </p:nvSpPr>
        <p:spPr>
          <a:xfrm>
            <a:off x="2845043" y="7439478"/>
            <a:ext cx="2056174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27" name="요약 줄"/>
          <p:cNvSpPr>
            <a:spLocks noGrp="1"/>
          </p:cNvSpPr>
          <p:nvPr>
            <p:ph type="body" sz="quarter" idx="85"/>
          </p:nvPr>
        </p:nvSpPr>
        <p:spPr>
          <a:xfrm>
            <a:off x="2845043" y="7439478"/>
            <a:ext cx="2056174" cy="1972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새로운 시대, 기후위기 대응 솔루션 구현</a:t>
            </a:r>
          </a:p>
        </p:txBody>
      </p:sp>
      <p:sp>
        <p:nvSpPr>
          <p:cNvPr id="128" name="불릿"/>
          <p:cNvSpPr>
            <a:spLocks noGrp="1"/>
          </p:cNvSpPr>
          <p:nvPr>
            <p:ph type="body" sz="quarter" idx="86"/>
          </p:nvPr>
        </p:nvSpPr>
        <p:spPr>
          <a:xfrm>
            <a:off x="2845043" y="7658609"/>
            <a:ext cx="2056174" cy="41634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기후안전망 강화 ＋ AI·기후테크 역량 구체화</a:t>
            </a:r>
          </a:p>
        </p:txBody>
      </p:sp>
      <p:cxnSp>
        <p:nvCxnSpPr>
          <p:cNvPr id="129" name="Connector 89"/>
          <p:cNvCxnSpPr/>
          <p:nvPr/>
        </p:nvCxnSpPr>
        <p:spPr>
          <a:xfrm>
            <a:off x="2823130" y="6836870"/>
            <a:ext cx="0" cy="121617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30" name="아이콘 칸"/>
          <p:cNvSpPr/>
          <p:nvPr/>
        </p:nvSpPr>
        <p:spPr>
          <a:xfrm>
            <a:off x="4977913" y="6836870"/>
            <a:ext cx="416348" cy="438261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31" name="큰 문구"/>
          <p:cNvSpPr>
            <a:spLocks noGrp="1"/>
          </p:cNvSpPr>
          <p:nvPr>
            <p:ph type="body" sz="quarter" idx="87"/>
          </p:nvPr>
        </p:nvSpPr>
        <p:spPr>
          <a:xfrm>
            <a:off x="5427130" y="6804000"/>
            <a:ext cx="1552174" cy="624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안전 · 역동 · 공정</a:t>
            </a:r>
          </a:p>
        </p:txBody>
      </p:sp>
      <p:sp>
        <p:nvSpPr>
          <p:cNvPr id="132" name="요약 줄"/>
          <p:cNvSpPr/>
          <p:nvPr/>
        </p:nvSpPr>
        <p:spPr>
          <a:xfrm>
            <a:off x="4945043" y="7439478"/>
            <a:ext cx="2056174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33" name="요약 줄"/>
          <p:cNvSpPr>
            <a:spLocks noGrp="1"/>
          </p:cNvSpPr>
          <p:nvPr>
            <p:ph type="body" sz="quarter" idx="88"/>
          </p:nvPr>
        </p:nvSpPr>
        <p:spPr>
          <a:xfrm>
            <a:off x="4945043" y="7439478"/>
            <a:ext cx="2056174" cy="1972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국가 안전망, 세계 일류기업, 국민 공기업</a:t>
            </a:r>
          </a:p>
        </p:txBody>
      </p:sp>
      <p:sp>
        <p:nvSpPr>
          <p:cNvPr id="134" name="불릿"/>
          <p:cNvSpPr>
            <a:spLocks noGrp="1"/>
          </p:cNvSpPr>
          <p:nvPr>
            <p:ph type="body" sz="quarter" idx="89"/>
          </p:nvPr>
        </p:nvSpPr>
        <p:spPr>
          <a:xfrm>
            <a:off x="4945043" y="7658609"/>
            <a:ext cx="2056174" cy="41634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 최우선, ESG 경영 등 중심 실천기준 재해석</a:t>
            </a:r>
          </a:p>
        </p:txBody>
      </p:sp>
      <p:cxnSp>
        <p:nvCxnSpPr>
          <p:cNvPr id="135" name="Connector 94"/>
          <p:cNvCxnSpPr/>
          <p:nvPr/>
        </p:nvCxnSpPr>
        <p:spPr>
          <a:xfrm>
            <a:off x="4923130" y="6836870"/>
            <a:ext cx="0" cy="121617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25 서사 · 유형 분류 → 맞춤형 소통 · 전방위 확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466947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이해관계자 대상 가치전략 체계 적극 공유·확산으로 공감대 및 추진동력 확보</a:t>
            </a:r>
          </a:p>
        </p:txBody>
      </p:sp>
      <p:sp>
        <p:nvSpPr>
          <p:cNvPr id="12" name="분류 패널"/>
          <p:cNvSpPr/>
          <p:nvPr/>
        </p:nvSpPr>
        <p:spPr>
          <a:xfrm>
            <a:off x="536870" y="1073739"/>
            <a:ext cx="2142000" cy="2246087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4분면"/>
          <p:cNvSpPr/>
          <p:nvPr/>
        </p:nvSpPr>
        <p:spPr>
          <a:xfrm>
            <a:off x="701217" y="1128522"/>
            <a:ext cx="1922870" cy="1742087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4" name="Connector 10"/>
          <p:cNvCxnSpPr/>
          <p:nvPr/>
        </p:nvCxnSpPr>
        <p:spPr>
          <a:xfrm>
            <a:off x="1662652" y="1128522"/>
            <a:ext cx="0" cy="1742087"/>
          </a:xfrm>
          <a:prstGeom prst="line">
            <a:avLst/>
          </a:prstGeom>
          <a:ln w="9525">
            <a:solidFill>
              <a:srgbClr val="30C2FF"/>
            </a:solidFill>
          </a:ln>
        </p:spPr>
      </p:cxnSp>
      <p:cxnSp>
        <p:nvCxnSpPr>
          <p:cNvPr id="15" name="Connector 11"/>
          <p:cNvCxnSpPr/>
          <p:nvPr/>
        </p:nvCxnSpPr>
        <p:spPr>
          <a:xfrm>
            <a:off x="701217" y="1999565"/>
            <a:ext cx="1922870" cy="0"/>
          </a:xfrm>
          <a:prstGeom prst="line">
            <a:avLst/>
          </a:prstGeom>
          <a:ln w="9525">
            <a:solidFill>
              <a:srgbClr val="30C2FF"/>
            </a:solidFill>
          </a:ln>
        </p:spPr>
      </p:cxnSp>
      <p:sp>
        <p:nvSpPr>
          <p:cNvPr id="16" name="분면 이름"/>
          <p:cNvSpPr/>
          <p:nvPr/>
        </p:nvSpPr>
        <p:spPr>
          <a:xfrm>
            <a:off x="723130" y="1150435"/>
            <a:ext cx="917609" cy="16434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7" name="분면 이름"/>
          <p:cNvSpPr>
            <a:spLocks noGrp="1"/>
          </p:cNvSpPr>
          <p:nvPr>
            <p:ph type="body" sz="quarter" idx="21"/>
          </p:nvPr>
        </p:nvSpPr>
        <p:spPr>
          <a:xfrm>
            <a:off x="723130" y="1150435"/>
            <a:ext cx="917609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② 상세 설명·자료</a:t>
            </a:r>
          </a:p>
        </p:txBody>
      </p:sp>
      <p:sp>
        <p:nvSpPr>
          <p:cNvPr id="18" name="분면 글"/>
          <p:cNvSpPr>
            <a:spLocks noGrp="1"/>
          </p:cNvSpPr>
          <p:nvPr>
            <p:ph type="body" sz="quarter" idx="22"/>
          </p:nvPr>
        </p:nvSpPr>
        <p:spPr>
          <a:xfrm>
            <a:off x="723130" y="1325739"/>
            <a:ext cx="917609" cy="651913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전문가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해외정부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유관기관</a:t>
            </a:r>
          </a:p>
        </p:txBody>
      </p:sp>
      <p:sp>
        <p:nvSpPr>
          <p:cNvPr id="19" name="분면 이름"/>
          <p:cNvSpPr/>
          <p:nvPr/>
        </p:nvSpPr>
        <p:spPr>
          <a:xfrm>
            <a:off x="1684565" y="1150435"/>
            <a:ext cx="917609" cy="16434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0" name="분면 이름"/>
          <p:cNvSpPr>
            <a:spLocks noGrp="1"/>
          </p:cNvSpPr>
          <p:nvPr>
            <p:ph type="body" sz="quarter" idx="23"/>
          </p:nvPr>
        </p:nvSpPr>
        <p:spPr>
          <a:xfrm>
            <a:off x="1684565" y="1150435"/>
            <a:ext cx="917609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① 적극·대면 설명</a:t>
            </a:r>
          </a:p>
        </p:txBody>
      </p:sp>
      <p:sp>
        <p:nvSpPr>
          <p:cNvPr id="21" name="분면 글"/>
          <p:cNvSpPr>
            <a:spLocks noGrp="1"/>
          </p:cNvSpPr>
          <p:nvPr>
            <p:ph type="body" sz="quarter" idx="24"/>
          </p:nvPr>
        </p:nvSpPr>
        <p:spPr>
          <a:xfrm>
            <a:off x="1684565" y="1325739"/>
            <a:ext cx="917609" cy="651913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정부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주변 주민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지자체</a:t>
            </a:r>
          </a:p>
        </p:txBody>
      </p:sp>
      <p:sp>
        <p:nvSpPr>
          <p:cNvPr id="22" name="분면 이름"/>
          <p:cNvSpPr/>
          <p:nvPr/>
        </p:nvSpPr>
        <p:spPr>
          <a:xfrm>
            <a:off x="723130" y="2684348"/>
            <a:ext cx="917609" cy="16434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3" name="분면 이름"/>
          <p:cNvSpPr>
            <a:spLocks noGrp="1"/>
          </p:cNvSpPr>
          <p:nvPr>
            <p:ph type="body" sz="quarter" idx="25"/>
          </p:nvPr>
        </p:nvSpPr>
        <p:spPr>
          <a:xfrm>
            <a:off x="723130" y="2684348"/>
            <a:ext cx="917609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③ 전방위 확산</a:t>
            </a:r>
          </a:p>
        </p:txBody>
      </p:sp>
      <p:sp>
        <p:nvSpPr>
          <p:cNvPr id="24" name="분면 글"/>
          <p:cNvSpPr>
            <a:spLocks noGrp="1"/>
          </p:cNvSpPr>
          <p:nvPr>
            <p:ph type="body" sz="quarter" idx="26"/>
          </p:nvPr>
        </p:nvSpPr>
        <p:spPr>
          <a:xfrm>
            <a:off x="723130" y="2021478"/>
            <a:ext cx="917609" cy="651913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국민(대중)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기업·연구기관</a:t>
            </a:r>
          </a:p>
        </p:txBody>
      </p:sp>
      <p:sp>
        <p:nvSpPr>
          <p:cNvPr id="25" name="분면 이름"/>
          <p:cNvSpPr/>
          <p:nvPr/>
        </p:nvSpPr>
        <p:spPr>
          <a:xfrm>
            <a:off x="1684565" y="2684348"/>
            <a:ext cx="917609" cy="16434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6" name="분면 이름"/>
          <p:cNvSpPr>
            <a:spLocks noGrp="1"/>
          </p:cNvSpPr>
          <p:nvPr>
            <p:ph type="body" sz="quarter" idx="27"/>
          </p:nvPr>
        </p:nvSpPr>
        <p:spPr>
          <a:xfrm>
            <a:off x="1684565" y="2684348"/>
            <a:ext cx="917609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④ 사업연계 홍보</a:t>
            </a:r>
          </a:p>
        </p:txBody>
      </p:sp>
      <p:sp>
        <p:nvSpPr>
          <p:cNvPr id="27" name="분면 글"/>
          <p:cNvSpPr>
            <a:spLocks noGrp="1"/>
          </p:cNvSpPr>
          <p:nvPr>
            <p:ph type="body" sz="quarter" idx="28"/>
          </p:nvPr>
        </p:nvSpPr>
        <p:spPr>
          <a:xfrm>
            <a:off x="1684565" y="2021478"/>
            <a:ext cx="917609" cy="651913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협력 기업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000359"/>
                </a:solidFill>
                <a:latin typeface="Pretendard"/>
                <a:ea typeface="Pretendard"/>
              </a:rPr>
              <a:t>신산업 기업</a:t>
            </a:r>
          </a:p>
        </p:txBody>
      </p:sp>
      <p:sp>
        <p:nvSpPr>
          <p:cNvPr id="28" name="세로축"/>
          <p:cNvSpPr>
            <a:spLocks noGrp="1"/>
          </p:cNvSpPr>
          <p:nvPr>
            <p:ph type="body" sz="quarter" idx="29"/>
          </p:nvPr>
        </p:nvSpPr>
        <p:spPr>
          <a:xfrm>
            <a:off x="547826" y="1128522"/>
            <a:ext cx="142435" cy="1687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영향력</a:t>
            </a:r>
          </a:p>
        </p:txBody>
      </p:sp>
      <p:sp>
        <p:nvSpPr>
          <p:cNvPr id="29" name="가로축"/>
          <p:cNvSpPr>
            <a:spLocks noGrp="1"/>
          </p:cNvSpPr>
          <p:nvPr>
            <p:ph type="body" sz="quarter" idx="30"/>
          </p:nvPr>
        </p:nvSpPr>
        <p:spPr>
          <a:xfrm>
            <a:off x="701217" y="2881565"/>
            <a:ext cx="1922870" cy="175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관심도 ▶</a:t>
            </a:r>
          </a:p>
        </p:txBody>
      </p:sp>
      <p:sp>
        <p:nvSpPr>
          <p:cNvPr id="30" name="분류 설명"/>
          <p:cNvSpPr/>
          <p:nvPr/>
        </p:nvSpPr>
        <p:spPr>
          <a:xfrm>
            <a:off x="569739" y="3034957"/>
            <a:ext cx="2076261" cy="25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31" name="분류 설명"/>
          <p:cNvSpPr>
            <a:spLocks noGrp="1"/>
          </p:cNvSpPr>
          <p:nvPr>
            <p:ph type="body" sz="quarter" idx="31"/>
          </p:nvPr>
        </p:nvSpPr>
        <p:spPr>
          <a:xfrm>
            <a:off x="569739" y="3034957"/>
            <a:ext cx="2076261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영향력·관심도 기반 유형 분류</a:t>
            </a:r>
          </a:p>
        </p:txBody>
      </p:sp>
      <p:sp>
        <p:nvSpPr>
          <p:cNvPr id="32" name="소통 패널"/>
          <p:cNvSpPr/>
          <p:nvPr/>
        </p:nvSpPr>
        <p:spPr>
          <a:xfrm>
            <a:off x="2722696" y="1073739"/>
            <a:ext cx="4114174" cy="2246087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패널 머리"/>
          <p:cNvSpPr/>
          <p:nvPr/>
        </p:nvSpPr>
        <p:spPr>
          <a:xfrm>
            <a:off x="2722696" y="1073739"/>
            <a:ext cx="2468504" cy="24104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34" name="패널 머리"/>
          <p:cNvSpPr>
            <a:spLocks noGrp="1"/>
          </p:cNvSpPr>
          <p:nvPr>
            <p:ph type="body" sz="quarter" idx="32"/>
          </p:nvPr>
        </p:nvSpPr>
        <p:spPr>
          <a:xfrm>
            <a:off x="2722696" y="1073739"/>
            <a:ext cx="2468504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유형별 맞춤형 소통</a:t>
            </a:r>
          </a:p>
        </p:txBody>
      </p:sp>
      <p:sp>
        <p:nvSpPr>
          <p:cNvPr id="35" name="패널 머리"/>
          <p:cNvSpPr/>
          <p:nvPr/>
        </p:nvSpPr>
        <p:spPr>
          <a:xfrm>
            <a:off x="5224070" y="1073739"/>
            <a:ext cx="1612800" cy="241043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36" name="패널 머리"/>
          <p:cNvSpPr>
            <a:spLocks noGrp="1"/>
          </p:cNvSpPr>
          <p:nvPr>
            <p:ph type="body" sz="quarter" idx="33"/>
          </p:nvPr>
        </p:nvSpPr>
        <p:spPr>
          <a:xfrm>
            <a:off x="5224070" y="1073739"/>
            <a:ext cx="161280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＋ 전방위 확산(조회수 518만)</a:t>
            </a:r>
          </a:p>
        </p:txBody>
      </p:sp>
      <p:sp>
        <p:nvSpPr>
          <p:cNvPr id="37" name="번호"/>
          <p:cNvSpPr>
            <a:spLocks noGrp="1"/>
          </p:cNvSpPr>
          <p:nvPr>
            <p:ph type="body" sz="quarter" idx="34"/>
          </p:nvPr>
        </p:nvSpPr>
        <p:spPr>
          <a:xfrm>
            <a:off x="2733652" y="1347652"/>
            <a:ext cx="175304" cy="490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BDE0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BDE0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38" name="소통 이름"/>
          <p:cNvSpPr>
            <a:spLocks noGrp="1"/>
          </p:cNvSpPr>
          <p:nvPr>
            <p:ph type="body" sz="quarter" idx="35"/>
          </p:nvPr>
        </p:nvSpPr>
        <p:spPr>
          <a:xfrm>
            <a:off x="2930870" y="1347652"/>
            <a:ext cx="1102774" cy="220637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소통회의</a:t>
            </a:r>
          </a:p>
        </p:txBody>
      </p:sp>
      <p:sp>
        <p:nvSpPr>
          <p:cNvPr id="39" name="소통 칩"/>
          <p:cNvSpPr/>
          <p:nvPr/>
        </p:nvSpPr>
        <p:spPr>
          <a:xfrm>
            <a:off x="2930870" y="1582998"/>
            <a:ext cx="1102774" cy="2220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0" name="소통 칩"/>
          <p:cNvSpPr>
            <a:spLocks noGrp="1"/>
          </p:cNvSpPr>
          <p:nvPr>
            <p:ph type="body" sz="quarter" idx="36"/>
          </p:nvPr>
        </p:nvSpPr>
        <p:spPr>
          <a:xfrm>
            <a:off x="2930870" y="1582998"/>
            <a:ext cx="1102774" cy="2220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정책 대응 체계</a:t>
            </a:r>
          </a:p>
        </p:txBody>
      </p:sp>
      <p:sp>
        <p:nvSpPr>
          <p:cNvPr id="41" name="소통 이름"/>
          <p:cNvSpPr>
            <a:spLocks noGrp="1"/>
          </p:cNvSpPr>
          <p:nvPr>
            <p:ph type="body" sz="quarter" idx="37"/>
          </p:nvPr>
        </p:nvSpPr>
        <p:spPr>
          <a:xfrm>
            <a:off x="4055557" y="1347652"/>
            <a:ext cx="1102774" cy="220637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종합포털</a:t>
            </a:r>
          </a:p>
        </p:txBody>
      </p:sp>
      <p:sp>
        <p:nvSpPr>
          <p:cNvPr id="42" name="소통 칩"/>
          <p:cNvSpPr/>
          <p:nvPr/>
        </p:nvSpPr>
        <p:spPr>
          <a:xfrm>
            <a:off x="4055557" y="1582998"/>
            <a:ext cx="1102774" cy="2220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3" name="소통 칩"/>
          <p:cNvSpPr>
            <a:spLocks noGrp="1"/>
          </p:cNvSpPr>
          <p:nvPr>
            <p:ph type="body" sz="quarter" idx="38"/>
          </p:nvPr>
        </p:nvSpPr>
        <p:spPr>
          <a:xfrm>
            <a:off x="4055557" y="1582998"/>
            <a:ext cx="1102774" cy="2220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정보 제공</a:t>
            </a:r>
          </a:p>
        </p:txBody>
      </p:sp>
      <p:sp>
        <p:nvSpPr>
          <p:cNvPr id="44" name="번호"/>
          <p:cNvSpPr>
            <a:spLocks noGrp="1"/>
          </p:cNvSpPr>
          <p:nvPr>
            <p:ph type="body" sz="quarter" idx="39"/>
          </p:nvPr>
        </p:nvSpPr>
        <p:spPr>
          <a:xfrm>
            <a:off x="2733652" y="1837957"/>
            <a:ext cx="175304" cy="490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BDE0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BDE0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45" name="소통 이름"/>
          <p:cNvSpPr>
            <a:spLocks noGrp="1"/>
          </p:cNvSpPr>
          <p:nvPr>
            <p:ph type="body" sz="quarter" idx="40"/>
          </p:nvPr>
        </p:nvSpPr>
        <p:spPr>
          <a:xfrm>
            <a:off x="2930870" y="1837957"/>
            <a:ext cx="1102774" cy="220637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협력위원회</a:t>
            </a:r>
          </a:p>
        </p:txBody>
      </p:sp>
      <p:sp>
        <p:nvSpPr>
          <p:cNvPr id="46" name="소통 칩"/>
          <p:cNvSpPr/>
          <p:nvPr/>
        </p:nvSpPr>
        <p:spPr>
          <a:xfrm>
            <a:off x="2930870" y="2073303"/>
            <a:ext cx="1102774" cy="2220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7" name="소통 칩"/>
          <p:cNvSpPr>
            <a:spLocks noGrp="1"/>
          </p:cNvSpPr>
          <p:nvPr>
            <p:ph type="body" sz="quarter" idx="41"/>
          </p:nvPr>
        </p:nvSpPr>
        <p:spPr>
          <a:xfrm>
            <a:off x="2930870" y="2073303"/>
            <a:ext cx="1102774" cy="2220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미래자문위</a:t>
            </a:r>
          </a:p>
        </p:txBody>
      </p:sp>
      <p:sp>
        <p:nvSpPr>
          <p:cNvPr id="48" name="소통 이름"/>
          <p:cNvSpPr>
            <a:spLocks noGrp="1"/>
          </p:cNvSpPr>
          <p:nvPr>
            <p:ph type="body" sz="quarter" idx="42"/>
          </p:nvPr>
        </p:nvSpPr>
        <p:spPr>
          <a:xfrm>
            <a:off x="4055557" y="1837957"/>
            <a:ext cx="1102774" cy="220637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경영·정책 제언</a:t>
            </a:r>
          </a:p>
        </p:txBody>
      </p:sp>
      <p:sp>
        <p:nvSpPr>
          <p:cNvPr id="49" name="소통 칩"/>
          <p:cNvSpPr/>
          <p:nvPr/>
        </p:nvSpPr>
        <p:spPr>
          <a:xfrm>
            <a:off x="4055557" y="2073303"/>
            <a:ext cx="1102774" cy="2220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0" name="소통 칩"/>
          <p:cNvSpPr>
            <a:spLocks noGrp="1"/>
          </p:cNvSpPr>
          <p:nvPr>
            <p:ph type="body" sz="quarter" idx="43"/>
          </p:nvPr>
        </p:nvSpPr>
        <p:spPr>
          <a:xfrm>
            <a:off x="4055557" y="2073303"/>
            <a:ext cx="1102774" cy="2220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전략 소통</a:t>
            </a:r>
          </a:p>
        </p:txBody>
      </p:sp>
      <p:sp>
        <p:nvSpPr>
          <p:cNvPr id="51" name="번호"/>
          <p:cNvSpPr>
            <a:spLocks noGrp="1"/>
          </p:cNvSpPr>
          <p:nvPr>
            <p:ph type="body" sz="quarter" idx="44"/>
          </p:nvPr>
        </p:nvSpPr>
        <p:spPr>
          <a:xfrm>
            <a:off x="2733652" y="2328261"/>
            <a:ext cx="175304" cy="490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BDE0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BDE0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52" name="소통 이름"/>
          <p:cNvSpPr>
            <a:spLocks noGrp="1"/>
          </p:cNvSpPr>
          <p:nvPr>
            <p:ph type="body" sz="quarter" idx="45"/>
          </p:nvPr>
        </p:nvSpPr>
        <p:spPr>
          <a:xfrm>
            <a:off x="2930870" y="2328261"/>
            <a:ext cx="1102774" cy="220637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라운드</a:t>
            </a:r>
          </a:p>
        </p:txBody>
      </p:sp>
      <p:sp>
        <p:nvSpPr>
          <p:cNvPr id="53" name="소통 칩"/>
          <p:cNvSpPr/>
          <p:nvPr/>
        </p:nvSpPr>
        <p:spPr>
          <a:xfrm>
            <a:off x="2930870" y="2563607"/>
            <a:ext cx="1102774" cy="2220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4" name="소통 칩"/>
          <p:cNvSpPr>
            <a:spLocks noGrp="1"/>
          </p:cNvSpPr>
          <p:nvPr>
            <p:ph type="body" sz="quarter" idx="46"/>
          </p:nvPr>
        </p:nvSpPr>
        <p:spPr>
          <a:xfrm>
            <a:off x="2930870" y="2563607"/>
            <a:ext cx="1102774" cy="2220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해외 박람회</a:t>
            </a:r>
          </a:p>
        </p:txBody>
      </p:sp>
      <p:sp>
        <p:nvSpPr>
          <p:cNvPr id="55" name="소통 이름"/>
          <p:cNvSpPr>
            <a:spLocks noGrp="1"/>
          </p:cNvSpPr>
          <p:nvPr>
            <p:ph type="body" sz="quarter" idx="47"/>
          </p:nvPr>
        </p:nvSpPr>
        <p:spPr>
          <a:xfrm>
            <a:off x="4055557" y="2328261"/>
            <a:ext cx="1102774" cy="220637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산업 육성</a:t>
            </a:r>
          </a:p>
        </p:txBody>
      </p:sp>
      <p:sp>
        <p:nvSpPr>
          <p:cNvPr id="56" name="소통 칩"/>
          <p:cNvSpPr/>
          <p:nvPr/>
        </p:nvSpPr>
        <p:spPr>
          <a:xfrm>
            <a:off x="4055557" y="2563607"/>
            <a:ext cx="1102774" cy="2220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7" name="소통 칩"/>
          <p:cNvSpPr>
            <a:spLocks noGrp="1"/>
          </p:cNvSpPr>
          <p:nvPr>
            <p:ph type="body" sz="quarter" idx="48"/>
          </p:nvPr>
        </p:nvSpPr>
        <p:spPr>
          <a:xfrm>
            <a:off x="4055557" y="2563607"/>
            <a:ext cx="1102774" cy="2220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해외진출 지원</a:t>
            </a:r>
          </a:p>
        </p:txBody>
      </p:sp>
      <p:sp>
        <p:nvSpPr>
          <p:cNvPr id="58" name="번호"/>
          <p:cNvSpPr>
            <a:spLocks noGrp="1"/>
          </p:cNvSpPr>
          <p:nvPr>
            <p:ph type="body" sz="quarter" idx="49"/>
          </p:nvPr>
        </p:nvSpPr>
        <p:spPr>
          <a:xfrm>
            <a:off x="2733652" y="2818565"/>
            <a:ext cx="175304" cy="490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BDE0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BDE0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59" name="소통 이름"/>
          <p:cNvSpPr>
            <a:spLocks noGrp="1"/>
          </p:cNvSpPr>
          <p:nvPr>
            <p:ph type="body" sz="quarter" idx="50"/>
          </p:nvPr>
        </p:nvSpPr>
        <p:spPr>
          <a:xfrm>
            <a:off x="2930870" y="2818565"/>
            <a:ext cx="1102774" cy="220637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소통센터</a:t>
            </a:r>
          </a:p>
        </p:txBody>
      </p:sp>
      <p:sp>
        <p:nvSpPr>
          <p:cNvPr id="60" name="소통 칩"/>
          <p:cNvSpPr/>
          <p:nvPr/>
        </p:nvSpPr>
        <p:spPr>
          <a:xfrm>
            <a:off x="2930870" y="3053911"/>
            <a:ext cx="1102774" cy="2220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1" name="소통 칩"/>
          <p:cNvSpPr>
            <a:spLocks noGrp="1"/>
          </p:cNvSpPr>
          <p:nvPr>
            <p:ph type="body" sz="quarter" idx="51"/>
          </p:nvPr>
        </p:nvSpPr>
        <p:spPr>
          <a:xfrm>
            <a:off x="2930870" y="3053911"/>
            <a:ext cx="1102774" cy="2220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국민 교육</a:t>
            </a:r>
          </a:p>
        </p:txBody>
      </p:sp>
      <p:sp>
        <p:nvSpPr>
          <p:cNvPr id="62" name="소통 이름"/>
          <p:cNvSpPr>
            <a:spLocks noGrp="1"/>
          </p:cNvSpPr>
          <p:nvPr>
            <p:ph type="body" sz="quarter" idx="52"/>
          </p:nvPr>
        </p:nvSpPr>
        <p:spPr>
          <a:xfrm>
            <a:off x="4055557" y="2818565"/>
            <a:ext cx="1102774" cy="220637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VoC 창구</a:t>
            </a:r>
          </a:p>
        </p:txBody>
      </p:sp>
      <p:sp>
        <p:nvSpPr>
          <p:cNvPr id="63" name="소통 칩"/>
          <p:cNvSpPr/>
          <p:nvPr/>
        </p:nvSpPr>
        <p:spPr>
          <a:xfrm>
            <a:off x="4055557" y="3053911"/>
            <a:ext cx="1102774" cy="2220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4" name="소통 칩"/>
          <p:cNvSpPr>
            <a:spLocks noGrp="1"/>
          </p:cNvSpPr>
          <p:nvPr>
            <p:ph type="body" sz="quarter" idx="53"/>
          </p:nvPr>
        </p:nvSpPr>
        <p:spPr>
          <a:xfrm>
            <a:off x="4055557" y="3053911"/>
            <a:ext cx="1102774" cy="2220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인식 제고</a:t>
            </a:r>
          </a:p>
        </p:txBody>
      </p:sp>
      <p:sp>
        <p:nvSpPr>
          <p:cNvPr id="65" name="사진 칸"/>
          <p:cNvSpPr/>
          <p:nvPr/>
        </p:nvSpPr>
        <p:spPr>
          <a:xfrm>
            <a:off x="5235026" y="1347652"/>
            <a:ext cx="634163" cy="620870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66" name="사진 칸"/>
          <p:cNvSpPr>
            <a:spLocks noGrp="1"/>
          </p:cNvSpPr>
          <p:nvPr>
            <p:ph type="body" sz="quarter" idx="54"/>
          </p:nvPr>
        </p:nvSpPr>
        <p:spPr>
          <a:xfrm>
            <a:off x="5235026" y="1347652"/>
            <a:ext cx="634163" cy="62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67" name="태그"/>
          <p:cNvSpPr/>
          <p:nvPr/>
        </p:nvSpPr>
        <p:spPr>
          <a:xfrm>
            <a:off x="5901446" y="1369565"/>
            <a:ext cx="329103" cy="1424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8" name="태그"/>
          <p:cNvSpPr>
            <a:spLocks noGrp="1"/>
          </p:cNvSpPr>
          <p:nvPr>
            <p:ph type="body" sz="quarter" idx="55"/>
          </p:nvPr>
        </p:nvSpPr>
        <p:spPr>
          <a:xfrm>
            <a:off x="5901446" y="1369565"/>
            <a:ext cx="329103" cy="142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확산</a:t>
            </a:r>
          </a:p>
        </p:txBody>
      </p:sp>
      <p:sp>
        <p:nvSpPr>
          <p:cNvPr id="69" name="확산 글"/>
          <p:cNvSpPr>
            <a:spLocks noGrp="1"/>
          </p:cNvSpPr>
          <p:nvPr>
            <p:ph type="body" sz="quarter" idx="56"/>
          </p:nvPr>
        </p:nvSpPr>
        <p:spPr>
          <a:xfrm>
            <a:off x="5901446" y="1512000"/>
            <a:ext cx="913511" cy="456522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영상 채널 협업</a:t>
            </a:r>
          </a:p>
        </p:txBody>
      </p:sp>
      <p:sp>
        <p:nvSpPr>
          <p:cNvPr id="70" name="사진 칸"/>
          <p:cNvSpPr/>
          <p:nvPr/>
        </p:nvSpPr>
        <p:spPr>
          <a:xfrm>
            <a:off x="5235026" y="2001391"/>
            <a:ext cx="634163" cy="620870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71" name="사진 칸"/>
          <p:cNvSpPr>
            <a:spLocks noGrp="1"/>
          </p:cNvSpPr>
          <p:nvPr>
            <p:ph type="body" sz="quarter" idx="57"/>
          </p:nvPr>
        </p:nvSpPr>
        <p:spPr>
          <a:xfrm>
            <a:off x="5235026" y="2001391"/>
            <a:ext cx="634163" cy="62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72" name="태그"/>
          <p:cNvSpPr/>
          <p:nvPr/>
        </p:nvSpPr>
        <p:spPr>
          <a:xfrm>
            <a:off x="5901446" y="2023304"/>
            <a:ext cx="329103" cy="1424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3" name="태그"/>
          <p:cNvSpPr>
            <a:spLocks noGrp="1"/>
          </p:cNvSpPr>
          <p:nvPr>
            <p:ph type="body" sz="quarter" idx="58"/>
          </p:nvPr>
        </p:nvSpPr>
        <p:spPr>
          <a:xfrm>
            <a:off x="5901446" y="2023304"/>
            <a:ext cx="329103" cy="142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</a:t>
            </a:r>
          </a:p>
        </p:txBody>
      </p:sp>
      <p:sp>
        <p:nvSpPr>
          <p:cNvPr id="74" name="확산 글"/>
          <p:cNvSpPr>
            <a:spLocks noGrp="1"/>
          </p:cNvSpPr>
          <p:nvPr>
            <p:ph type="body" sz="quarter" idx="59"/>
          </p:nvPr>
        </p:nvSpPr>
        <p:spPr>
          <a:xfrm>
            <a:off x="5901446" y="2165739"/>
            <a:ext cx="913511" cy="456522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AI 콘텐츠 도입</a:t>
            </a:r>
          </a:p>
        </p:txBody>
      </p:sp>
      <p:sp>
        <p:nvSpPr>
          <p:cNvPr id="75" name="사진 칸"/>
          <p:cNvSpPr/>
          <p:nvPr/>
        </p:nvSpPr>
        <p:spPr>
          <a:xfrm>
            <a:off x="5235026" y="2655130"/>
            <a:ext cx="634163" cy="620870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76" name="사진 칸"/>
          <p:cNvSpPr>
            <a:spLocks noGrp="1"/>
          </p:cNvSpPr>
          <p:nvPr>
            <p:ph type="body" sz="quarter" idx="60"/>
          </p:nvPr>
        </p:nvSpPr>
        <p:spPr>
          <a:xfrm>
            <a:off x="5235026" y="2655130"/>
            <a:ext cx="634163" cy="62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77" name="태그"/>
          <p:cNvSpPr/>
          <p:nvPr/>
        </p:nvSpPr>
        <p:spPr>
          <a:xfrm>
            <a:off x="5901446" y="2677043"/>
            <a:ext cx="329103" cy="1424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8" name="태그"/>
          <p:cNvSpPr>
            <a:spLocks noGrp="1"/>
          </p:cNvSpPr>
          <p:nvPr>
            <p:ph type="body" sz="quarter" idx="61"/>
          </p:nvPr>
        </p:nvSpPr>
        <p:spPr>
          <a:xfrm>
            <a:off x="5901446" y="2677043"/>
            <a:ext cx="329103" cy="142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몰입</a:t>
            </a:r>
          </a:p>
        </p:txBody>
      </p:sp>
      <p:sp>
        <p:nvSpPr>
          <p:cNvPr id="79" name="확산 글"/>
          <p:cNvSpPr>
            <a:spLocks noGrp="1"/>
          </p:cNvSpPr>
          <p:nvPr>
            <p:ph type="body" sz="quarter" idx="62"/>
          </p:nvPr>
        </p:nvSpPr>
        <p:spPr>
          <a:xfrm>
            <a:off x="5901446" y="2819478"/>
            <a:ext cx="913511" cy="456522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숏폼 등 확대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26 서사 · 혁신연계 → 3대 TF(전략·실행·2030 미래상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설립목적·가치체계 등 본격 이행을 위한 3대 TF 운영</a:t>
            </a:r>
          </a:p>
        </p:txBody>
      </p:sp>
      <p:sp>
        <p:nvSpPr>
          <p:cNvPr id="14" name="번호 띠 칩"/>
          <p:cNvSpPr/>
          <p:nvPr/>
        </p:nvSpPr>
        <p:spPr>
          <a:xfrm>
            <a:off x="6428183" y="843652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번호 띠 칩"/>
          <p:cNvSpPr>
            <a:spLocks noGrp="1"/>
          </p:cNvSpPr>
          <p:nvPr>
            <p:ph type="body" sz="quarter" idx="22"/>
          </p:nvPr>
        </p:nvSpPr>
        <p:spPr>
          <a:xfrm>
            <a:off x="6428183" y="843652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6" name="표 외곽"/>
          <p:cNvSpPr/>
          <p:nvPr/>
        </p:nvSpPr>
        <p:spPr>
          <a:xfrm>
            <a:off x="723130" y="1128522"/>
            <a:ext cx="6300000" cy="89029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레일"/>
          <p:cNvSpPr/>
          <p:nvPr/>
        </p:nvSpPr>
        <p:spPr>
          <a:xfrm>
            <a:off x="734087" y="1144957"/>
            <a:ext cx="580696" cy="85742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3"/>
          </p:nvPr>
        </p:nvSpPr>
        <p:spPr>
          <a:xfrm>
            <a:off x="734087" y="1144957"/>
            <a:ext cx="580696" cy="8574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그간의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혁신연계</a:t>
            </a:r>
          </a:p>
        </p:txBody>
      </p:sp>
      <p:sp>
        <p:nvSpPr>
          <p:cNvPr id="19" name="배너"/>
          <p:cNvSpPr/>
          <p:nvPr/>
        </p:nvSpPr>
        <p:spPr>
          <a:xfrm>
            <a:off x="1347652" y="1166870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0" name="배너"/>
          <p:cNvSpPr>
            <a:spLocks noGrp="1"/>
          </p:cNvSpPr>
          <p:nvPr>
            <p:ph type="body" sz="quarter" idx="24"/>
          </p:nvPr>
        </p:nvSpPr>
        <p:spPr>
          <a:xfrm>
            <a:off x="1347652" y="1166870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그동안 다져온 역량과 기술력을 기반으로 선제적 실행엔진 가동</a:t>
            </a:r>
          </a:p>
        </p:txBody>
      </p:sp>
      <p:sp>
        <p:nvSpPr>
          <p:cNvPr id="21" name="단계"/>
          <p:cNvSpPr/>
          <p:nvPr/>
        </p:nvSpPr>
        <p:spPr>
          <a:xfrm>
            <a:off x="1347652" y="1402435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2" name="단계"/>
          <p:cNvSpPr>
            <a:spLocks noGrp="1"/>
          </p:cNvSpPr>
          <p:nvPr>
            <p:ph type="body" sz="quarter" idx="25"/>
          </p:nvPr>
        </p:nvSpPr>
        <p:spPr>
          <a:xfrm>
            <a:off x="1347652" y="14024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’23년 새로운 전략</a:t>
            </a:r>
          </a:p>
        </p:txBody>
      </p:sp>
      <p:sp>
        <p:nvSpPr>
          <p:cNvPr id="23" name="단계"/>
          <p:cNvSpPr/>
          <p:nvPr/>
        </p:nvSpPr>
        <p:spPr>
          <a:xfrm>
            <a:off x="3230348" y="1402435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4" name="단계"/>
          <p:cNvSpPr>
            <a:spLocks noGrp="1"/>
          </p:cNvSpPr>
          <p:nvPr>
            <p:ph type="body" sz="quarter" idx="26"/>
          </p:nvPr>
        </p:nvSpPr>
        <p:spPr>
          <a:xfrm>
            <a:off x="3230348" y="14024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’24년 재도약의 원년</a:t>
            </a:r>
          </a:p>
        </p:txBody>
      </p:sp>
      <p:sp>
        <p:nvSpPr>
          <p:cNvPr id="25" name="단계"/>
          <p:cNvSpPr/>
          <p:nvPr/>
        </p:nvSpPr>
        <p:spPr>
          <a:xfrm>
            <a:off x="5113043" y="1402435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6" name="단계"/>
          <p:cNvSpPr>
            <a:spLocks noGrp="1"/>
          </p:cNvSpPr>
          <p:nvPr>
            <p:ph type="body" sz="quarter" idx="27"/>
          </p:nvPr>
        </p:nvSpPr>
        <p:spPr>
          <a:xfrm>
            <a:off x="5113043" y="14024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’25년 핵심과제로 구체화</a:t>
            </a:r>
          </a:p>
        </p:txBody>
      </p:sp>
      <p:sp>
        <p:nvSpPr>
          <p:cNvPr id="27" name="단계 삼각형"/>
          <p:cNvSpPr/>
          <p:nvPr/>
        </p:nvSpPr>
        <p:spPr>
          <a:xfrm>
            <a:off x="3230347" y="1402434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단계 삼각형"/>
          <p:cNvSpPr/>
          <p:nvPr/>
        </p:nvSpPr>
        <p:spPr>
          <a:xfrm>
            <a:off x="5113043" y="140243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8"/>
          </p:nvPr>
        </p:nvSpPr>
        <p:spPr>
          <a:xfrm>
            <a:off x="1358609" y="1654435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추진단 출범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「비전」 선포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29"/>
          </p:nvPr>
        </p:nvSpPr>
        <p:spPr>
          <a:xfrm>
            <a:off x="3241304" y="1654435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사업규모와 시장을 넓히는 추진단</a:t>
            </a:r>
          </a:p>
        </p:txBody>
      </p:sp>
      <p:cxnSp>
        <p:nvCxnSpPr>
          <p:cNvPr id="31" name="Connector 19"/>
          <p:cNvCxnSpPr/>
          <p:nvPr/>
        </p:nvCxnSpPr>
        <p:spPr>
          <a:xfrm>
            <a:off x="3230348" y="1687304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칸 본문"/>
          <p:cNvSpPr>
            <a:spLocks noGrp="1"/>
          </p:cNvSpPr>
          <p:nvPr>
            <p:ph type="body" sz="quarter" idx="30"/>
          </p:nvPr>
        </p:nvSpPr>
        <p:spPr>
          <a:xfrm>
            <a:off x="5124000" y="1654435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전략기획단 ＋ TF 신설</a:t>
            </a:r>
          </a:p>
        </p:txBody>
      </p:sp>
      <p:cxnSp>
        <p:nvCxnSpPr>
          <p:cNvPr id="33" name="Connector 21"/>
          <p:cNvCxnSpPr/>
          <p:nvPr/>
        </p:nvCxnSpPr>
        <p:spPr>
          <a:xfrm>
            <a:off x="5113043" y="1687304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캡션 띠"/>
          <p:cNvSpPr/>
          <p:nvPr/>
        </p:nvSpPr>
        <p:spPr>
          <a:xfrm>
            <a:off x="723130" y="2040730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태그"/>
          <p:cNvSpPr/>
          <p:nvPr/>
        </p:nvSpPr>
        <p:spPr>
          <a:xfrm>
            <a:off x="1051826" y="2084557"/>
            <a:ext cx="483274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6" name="태그"/>
          <p:cNvSpPr>
            <a:spLocks noGrp="1"/>
          </p:cNvSpPr>
          <p:nvPr>
            <p:ph type="body" sz="quarter" idx="31"/>
          </p:nvPr>
        </p:nvSpPr>
        <p:spPr>
          <a:xfrm>
            <a:off x="1051826" y="2084557"/>
            <a:ext cx="483274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AI 전환</a:t>
            </a:r>
          </a:p>
        </p:txBody>
      </p:sp>
      <p:sp>
        <p:nvSpPr>
          <p:cNvPr id="37" name="캡션"/>
          <p:cNvSpPr>
            <a:spLocks noGrp="1"/>
          </p:cNvSpPr>
          <p:nvPr>
            <p:ph type="body" sz="quarter" idx="32"/>
          </p:nvPr>
        </p:nvSpPr>
        <p:spPr>
          <a:xfrm>
            <a:off x="1589883" y="2040730"/>
            <a:ext cx="5214117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정부는 글로벌 AI 3대 강국, 우리는 2030 1위 도약</a:t>
            </a:r>
          </a:p>
        </p:txBody>
      </p:sp>
      <p:sp>
        <p:nvSpPr>
          <p:cNvPr id="38" name="표 외곽"/>
          <p:cNvSpPr/>
          <p:nvPr/>
        </p:nvSpPr>
        <p:spPr>
          <a:xfrm>
            <a:off x="723130" y="2347513"/>
            <a:ext cx="6300000" cy="203133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레일"/>
          <p:cNvSpPr/>
          <p:nvPr/>
        </p:nvSpPr>
        <p:spPr>
          <a:xfrm>
            <a:off x="734087" y="2363948"/>
            <a:ext cx="580696" cy="9698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0" name="레일"/>
          <p:cNvSpPr>
            <a:spLocks noGrp="1"/>
          </p:cNvSpPr>
          <p:nvPr>
            <p:ph type="body" sz="quarter" idx="33"/>
          </p:nvPr>
        </p:nvSpPr>
        <p:spPr>
          <a:xfrm>
            <a:off x="734087" y="2363948"/>
            <a:ext cx="580696" cy="9698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기획단</a:t>
            </a:r>
          </a:p>
        </p:txBody>
      </p:sp>
      <p:sp>
        <p:nvSpPr>
          <p:cNvPr id="41" name="단계"/>
          <p:cNvSpPr/>
          <p:nvPr/>
        </p:nvSpPr>
        <p:spPr>
          <a:xfrm>
            <a:off x="1347652" y="2385861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2" name="단계"/>
          <p:cNvSpPr>
            <a:spLocks noGrp="1"/>
          </p:cNvSpPr>
          <p:nvPr>
            <p:ph type="body" sz="quarter" idx="34"/>
          </p:nvPr>
        </p:nvSpPr>
        <p:spPr>
          <a:xfrm>
            <a:off x="1347652" y="2385861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입증된 AI 글로벌 역량</a:t>
            </a:r>
          </a:p>
        </p:txBody>
      </p:sp>
      <p:sp>
        <p:nvSpPr>
          <p:cNvPr id="43" name="단계"/>
          <p:cNvSpPr/>
          <p:nvPr/>
        </p:nvSpPr>
        <p:spPr>
          <a:xfrm>
            <a:off x="3230348" y="2385861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4" name="단계"/>
          <p:cNvSpPr>
            <a:spLocks noGrp="1"/>
          </p:cNvSpPr>
          <p:nvPr>
            <p:ph type="body" sz="quarter" idx="35"/>
          </p:nvPr>
        </p:nvSpPr>
        <p:spPr>
          <a:xfrm>
            <a:off x="3230348" y="2385861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’25–’29 전략환류</a:t>
            </a:r>
          </a:p>
        </p:txBody>
      </p:sp>
      <p:sp>
        <p:nvSpPr>
          <p:cNvPr id="45" name="단계"/>
          <p:cNvSpPr/>
          <p:nvPr/>
        </p:nvSpPr>
        <p:spPr>
          <a:xfrm>
            <a:off x="5113043" y="2385861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6" name="단계"/>
          <p:cNvSpPr>
            <a:spLocks noGrp="1"/>
          </p:cNvSpPr>
          <p:nvPr>
            <p:ph type="body" sz="quarter" idx="36"/>
          </p:nvPr>
        </p:nvSpPr>
        <p:spPr>
          <a:xfrm>
            <a:off x="5113043" y="2385861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성장 연계 전략기획단</a:t>
            </a:r>
          </a:p>
        </p:txBody>
      </p:sp>
      <p:sp>
        <p:nvSpPr>
          <p:cNvPr id="47" name="단계 삼각형"/>
          <p:cNvSpPr/>
          <p:nvPr/>
        </p:nvSpPr>
        <p:spPr>
          <a:xfrm>
            <a:off x="3230347" y="2385860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단계 삼각형"/>
          <p:cNvSpPr/>
          <p:nvPr/>
        </p:nvSpPr>
        <p:spPr>
          <a:xfrm>
            <a:off x="5113043" y="2385860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칸 본문"/>
          <p:cNvSpPr>
            <a:spLocks noGrp="1"/>
          </p:cNvSpPr>
          <p:nvPr>
            <p:ph type="body" sz="quarter" idx="37"/>
          </p:nvPr>
        </p:nvSpPr>
        <p:spPr>
          <a:xfrm>
            <a:off x="1358609" y="2637861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선정 사례(최초)</a:t>
            </a:r>
          </a:p>
        </p:txBody>
      </p:sp>
      <p:sp>
        <p:nvSpPr>
          <p:cNvPr id="50" name="칸 본문"/>
          <p:cNvSpPr>
            <a:spLocks noGrp="1"/>
          </p:cNvSpPr>
          <p:nvPr>
            <p:ph type="body" sz="quarter" idx="38"/>
          </p:nvPr>
        </p:nvSpPr>
        <p:spPr>
          <a:xfrm>
            <a:off x="3241304" y="2637861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초격차 기술로 글로벌 선도</a:t>
            </a:r>
          </a:p>
        </p:txBody>
      </p:sp>
      <p:cxnSp>
        <p:nvCxnSpPr>
          <p:cNvPr id="51" name="Connector 34"/>
          <p:cNvCxnSpPr/>
          <p:nvPr/>
        </p:nvCxnSpPr>
        <p:spPr>
          <a:xfrm>
            <a:off x="3230348" y="2670730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칸 본문"/>
          <p:cNvSpPr>
            <a:spLocks noGrp="1"/>
          </p:cNvSpPr>
          <p:nvPr>
            <p:ph type="body" sz="quarter" idx="39"/>
          </p:nvPr>
        </p:nvSpPr>
        <p:spPr>
          <a:xfrm>
            <a:off x="5124000" y="2637861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‘3대 목표 – 7대 전략 – 132개 과제’ 수립</a:t>
            </a:r>
          </a:p>
        </p:txBody>
      </p:sp>
      <p:cxnSp>
        <p:nvCxnSpPr>
          <p:cNvPr id="53" name="Connector 36"/>
          <p:cNvCxnSpPr/>
          <p:nvPr/>
        </p:nvCxnSpPr>
        <p:spPr>
          <a:xfrm>
            <a:off x="5113043" y="2670730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칸 본문"/>
          <p:cNvSpPr>
            <a:spLocks noGrp="1"/>
          </p:cNvSpPr>
          <p:nvPr>
            <p:ph type="body" sz="quarter" idx="40"/>
          </p:nvPr>
        </p:nvSpPr>
        <p:spPr>
          <a:xfrm>
            <a:off x="1358609" y="2991287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전략방향: AI 확산 본격화</a:t>
            </a:r>
          </a:p>
        </p:txBody>
      </p:sp>
      <p:sp>
        <p:nvSpPr>
          <p:cNvPr id="55" name="칸 본문"/>
          <p:cNvSpPr>
            <a:spLocks noGrp="1"/>
          </p:cNvSpPr>
          <p:nvPr>
            <p:ph type="body" sz="quarter" idx="41"/>
          </p:nvPr>
        </p:nvSpPr>
        <p:spPr>
          <a:xfrm>
            <a:off x="3241304" y="2991287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국정과제: AI 3대 강국 도약</a:t>
            </a:r>
          </a:p>
        </p:txBody>
      </p:sp>
      <p:cxnSp>
        <p:nvCxnSpPr>
          <p:cNvPr id="56" name="Connector 39"/>
          <p:cNvCxnSpPr/>
          <p:nvPr/>
        </p:nvCxnSpPr>
        <p:spPr>
          <a:xfrm>
            <a:off x="3230348" y="3024157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7" name="칸 본문"/>
          <p:cNvSpPr>
            <a:spLocks noGrp="1"/>
          </p:cNvSpPr>
          <p:nvPr>
            <p:ph type="body" sz="quarter" idx="42"/>
          </p:nvPr>
        </p:nvSpPr>
        <p:spPr>
          <a:xfrm>
            <a:off x="5124000" y="2991287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초연결 업무환경 · 완전 자율운영 · 생태계</a:t>
            </a:r>
          </a:p>
        </p:txBody>
      </p:sp>
      <p:cxnSp>
        <p:nvCxnSpPr>
          <p:cNvPr id="58" name="Connector 41"/>
          <p:cNvCxnSpPr/>
          <p:nvPr/>
        </p:nvCxnSpPr>
        <p:spPr>
          <a:xfrm>
            <a:off x="5113043" y="3024157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9" name="레일"/>
          <p:cNvSpPr/>
          <p:nvPr/>
        </p:nvSpPr>
        <p:spPr>
          <a:xfrm>
            <a:off x="734087" y="3350191"/>
            <a:ext cx="580696" cy="1012226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0" name="레일"/>
          <p:cNvSpPr>
            <a:spLocks noGrp="1"/>
          </p:cNvSpPr>
          <p:nvPr>
            <p:ph type="body" sz="quarter" idx="43"/>
          </p:nvPr>
        </p:nvSpPr>
        <p:spPr>
          <a:xfrm>
            <a:off x="734087" y="3350191"/>
            <a:ext cx="580696" cy="10122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2030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미래상</a:t>
            </a:r>
          </a:p>
        </p:txBody>
      </p:sp>
      <p:sp>
        <p:nvSpPr>
          <p:cNvPr id="61" name="레일 삼각형"/>
          <p:cNvSpPr/>
          <p:nvPr/>
        </p:nvSpPr>
        <p:spPr>
          <a:xfrm>
            <a:off x="734086" y="3350191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배너"/>
          <p:cNvSpPr/>
          <p:nvPr/>
        </p:nvSpPr>
        <p:spPr>
          <a:xfrm>
            <a:off x="1347652" y="3372104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3" name="배너"/>
          <p:cNvSpPr>
            <a:spLocks noGrp="1"/>
          </p:cNvSpPr>
          <p:nvPr>
            <p:ph type="body" sz="quarter" idx="44"/>
          </p:nvPr>
        </p:nvSpPr>
        <p:spPr>
          <a:xfrm>
            <a:off x="1347652" y="3372104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2030년까지 AI분야 글로벌 Top1 달성을 위한 전략·실행로드맵 수립</a:t>
            </a:r>
          </a:p>
        </p:txBody>
      </p:sp>
      <p:sp>
        <p:nvSpPr>
          <p:cNvPr id="64" name="단계"/>
          <p:cNvSpPr/>
          <p:nvPr/>
        </p:nvSpPr>
        <p:spPr>
          <a:xfrm>
            <a:off x="1347652" y="3607670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5" name="단계"/>
          <p:cNvSpPr>
            <a:spLocks noGrp="1"/>
          </p:cNvSpPr>
          <p:nvPr>
            <p:ph type="body" sz="quarter" idx="45"/>
          </p:nvPr>
        </p:nvSpPr>
        <p:spPr>
          <a:xfrm>
            <a:off x="1347652" y="360767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금년(’25)</a:t>
            </a:r>
          </a:p>
        </p:txBody>
      </p:sp>
      <p:sp>
        <p:nvSpPr>
          <p:cNvPr id="66" name="단계"/>
          <p:cNvSpPr/>
          <p:nvPr/>
        </p:nvSpPr>
        <p:spPr>
          <a:xfrm>
            <a:off x="3230348" y="3607670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7" name="단계"/>
          <p:cNvSpPr>
            <a:spLocks noGrp="1"/>
          </p:cNvSpPr>
          <p:nvPr>
            <p:ph type="body" sz="quarter" idx="46"/>
          </p:nvPr>
        </p:nvSpPr>
        <p:spPr>
          <a:xfrm>
            <a:off x="3230348" y="360767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단기(’28)</a:t>
            </a:r>
          </a:p>
        </p:txBody>
      </p:sp>
      <p:sp>
        <p:nvSpPr>
          <p:cNvPr id="68" name="단계"/>
          <p:cNvSpPr/>
          <p:nvPr/>
        </p:nvSpPr>
        <p:spPr>
          <a:xfrm>
            <a:off x="5113043" y="3607670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9" name="단계"/>
          <p:cNvSpPr>
            <a:spLocks noGrp="1"/>
          </p:cNvSpPr>
          <p:nvPr>
            <p:ph type="body" sz="quarter" idx="47"/>
          </p:nvPr>
        </p:nvSpPr>
        <p:spPr>
          <a:xfrm>
            <a:off x="5113043" y="360767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장기(’30)</a:t>
            </a:r>
          </a:p>
        </p:txBody>
      </p:sp>
      <p:sp>
        <p:nvSpPr>
          <p:cNvPr id="70" name="단계 삼각형"/>
          <p:cNvSpPr/>
          <p:nvPr/>
        </p:nvSpPr>
        <p:spPr>
          <a:xfrm>
            <a:off x="3230347" y="3607669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단계 삼각형"/>
          <p:cNvSpPr/>
          <p:nvPr/>
        </p:nvSpPr>
        <p:spPr>
          <a:xfrm>
            <a:off x="5113043" y="3607669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칸 본문"/>
          <p:cNvSpPr>
            <a:spLocks noGrp="1"/>
          </p:cNvSpPr>
          <p:nvPr>
            <p:ph type="body" sz="quarter" idx="48"/>
          </p:nvPr>
        </p:nvSpPr>
        <p:spPr>
          <a:xfrm>
            <a:off x="1358609" y="3859670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First 전략 수립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기술·인적·제도적 토대 구축</a:t>
            </a:r>
          </a:p>
        </p:txBody>
      </p:sp>
      <p:sp>
        <p:nvSpPr>
          <p:cNvPr id="73" name="칸 본문"/>
          <p:cNvSpPr>
            <a:spLocks noGrp="1"/>
          </p:cNvSpPr>
          <p:nvPr>
            <p:ph type="body" sz="quarter" idx="49"/>
          </p:nvPr>
        </p:nvSpPr>
        <p:spPr>
          <a:xfrm>
            <a:off x="3241304" y="3859670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솔루션 도입 및 확산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국제 표준화 글로벌 확산기반 마련</a:t>
            </a:r>
          </a:p>
        </p:txBody>
      </p:sp>
      <p:cxnSp>
        <p:nvCxnSpPr>
          <p:cNvPr id="74" name="Connector 52"/>
          <p:cNvCxnSpPr/>
          <p:nvPr/>
        </p:nvCxnSpPr>
        <p:spPr>
          <a:xfrm>
            <a:off x="3230348" y="3892539"/>
            <a:ext cx="0" cy="4315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5" name="칸 본문"/>
          <p:cNvSpPr>
            <a:spLocks noGrp="1"/>
          </p:cNvSpPr>
          <p:nvPr>
            <p:ph type="body" sz="quarter" idx="50"/>
          </p:nvPr>
        </p:nvSpPr>
        <p:spPr>
          <a:xfrm>
            <a:off x="5124000" y="3859670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자율형 시스템 완성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세계 시장 리더십 확보</a:t>
            </a:r>
          </a:p>
        </p:txBody>
      </p:sp>
      <p:cxnSp>
        <p:nvCxnSpPr>
          <p:cNvPr id="76" name="Connector 54"/>
          <p:cNvCxnSpPr/>
          <p:nvPr/>
        </p:nvCxnSpPr>
        <p:spPr>
          <a:xfrm>
            <a:off x="5113043" y="3892539"/>
            <a:ext cx="0" cy="4315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7" name="캡션 띠"/>
          <p:cNvSpPr/>
          <p:nvPr/>
        </p:nvSpPr>
        <p:spPr>
          <a:xfrm>
            <a:off x="723130" y="4400765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태그"/>
          <p:cNvSpPr/>
          <p:nvPr/>
        </p:nvSpPr>
        <p:spPr>
          <a:xfrm>
            <a:off x="1051826" y="4444591"/>
            <a:ext cx="40203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9" name="태그"/>
          <p:cNvSpPr>
            <a:spLocks noGrp="1"/>
          </p:cNvSpPr>
          <p:nvPr>
            <p:ph type="body" sz="quarter" idx="51"/>
          </p:nvPr>
        </p:nvSpPr>
        <p:spPr>
          <a:xfrm>
            <a:off x="1051826" y="4444591"/>
            <a:ext cx="40203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재생e</a:t>
            </a:r>
          </a:p>
        </p:txBody>
      </p:sp>
      <p:sp>
        <p:nvSpPr>
          <p:cNvPr id="80" name="캡션"/>
          <p:cNvSpPr>
            <a:spLocks noGrp="1"/>
          </p:cNvSpPr>
          <p:nvPr>
            <p:ph type="body" sz="quarter" idx="52"/>
          </p:nvPr>
        </p:nvSpPr>
        <p:spPr>
          <a:xfrm>
            <a:off x="1508642" y="4400765"/>
            <a:ext cx="5295358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재생에너지 100GW 국정과제 동행, 인프라로 10GW 조기확보</a:t>
            </a:r>
          </a:p>
        </p:txBody>
      </p:sp>
      <p:sp>
        <p:nvSpPr>
          <p:cNvPr id="81" name="표 외곽"/>
          <p:cNvSpPr/>
          <p:nvPr/>
        </p:nvSpPr>
        <p:spPr>
          <a:xfrm>
            <a:off x="723130" y="4707548"/>
            <a:ext cx="6300000" cy="174756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레일"/>
          <p:cNvSpPr/>
          <p:nvPr/>
        </p:nvSpPr>
        <p:spPr>
          <a:xfrm>
            <a:off x="734087" y="4723983"/>
            <a:ext cx="580696" cy="86556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3" name="레일"/>
          <p:cNvSpPr>
            <a:spLocks noGrp="1"/>
          </p:cNvSpPr>
          <p:nvPr>
            <p:ph type="body" sz="quarter" idx="53"/>
          </p:nvPr>
        </p:nvSpPr>
        <p:spPr>
          <a:xfrm>
            <a:off x="734087" y="4723983"/>
            <a:ext cx="580696" cy="865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에너지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TF</a:t>
            </a:r>
          </a:p>
        </p:txBody>
      </p:sp>
      <p:sp>
        <p:nvSpPr>
          <p:cNvPr id="84" name="단계"/>
          <p:cNvSpPr/>
          <p:nvPr/>
        </p:nvSpPr>
        <p:spPr>
          <a:xfrm>
            <a:off x="1347652" y="4745896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5" name="단계"/>
          <p:cNvSpPr>
            <a:spLocks noGrp="1"/>
          </p:cNvSpPr>
          <p:nvPr>
            <p:ph type="body" sz="quarter" idx="54"/>
          </p:nvPr>
        </p:nvSpPr>
        <p:spPr>
          <a:xfrm>
            <a:off x="1347652" y="474589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국내 설비용량 1위</a:t>
            </a:r>
          </a:p>
        </p:txBody>
      </p:sp>
      <p:sp>
        <p:nvSpPr>
          <p:cNvPr id="86" name="단계"/>
          <p:cNvSpPr/>
          <p:nvPr/>
        </p:nvSpPr>
        <p:spPr>
          <a:xfrm>
            <a:off x="3230348" y="4745896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7" name="단계"/>
          <p:cNvSpPr>
            <a:spLocks noGrp="1"/>
          </p:cNvSpPr>
          <p:nvPr>
            <p:ph type="body" sz="quarter" idx="55"/>
          </p:nvPr>
        </p:nvSpPr>
        <p:spPr>
          <a:xfrm>
            <a:off x="3230348" y="474589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’25–’29 전략환류</a:t>
            </a:r>
          </a:p>
        </p:txBody>
      </p:sp>
      <p:sp>
        <p:nvSpPr>
          <p:cNvPr id="88" name="단계"/>
          <p:cNvSpPr/>
          <p:nvPr/>
        </p:nvSpPr>
        <p:spPr>
          <a:xfrm>
            <a:off x="5113043" y="4745896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9" name="단계"/>
          <p:cNvSpPr>
            <a:spLocks noGrp="1"/>
          </p:cNvSpPr>
          <p:nvPr>
            <p:ph type="body" sz="quarter" idx="56"/>
          </p:nvPr>
        </p:nvSpPr>
        <p:spPr>
          <a:xfrm>
            <a:off x="5113043" y="474589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속도감 있는 도전</a:t>
            </a:r>
          </a:p>
        </p:txBody>
      </p:sp>
      <p:sp>
        <p:nvSpPr>
          <p:cNvPr id="90" name="단계 삼각형"/>
          <p:cNvSpPr/>
          <p:nvPr/>
        </p:nvSpPr>
        <p:spPr>
          <a:xfrm>
            <a:off x="3230347" y="4745895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단계 삼각형"/>
          <p:cNvSpPr/>
          <p:nvPr/>
        </p:nvSpPr>
        <p:spPr>
          <a:xfrm>
            <a:off x="5113043" y="4745895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칸 본문"/>
          <p:cNvSpPr>
            <a:spLocks noGrp="1"/>
          </p:cNvSpPr>
          <p:nvPr>
            <p:ph type="body" sz="quarter" idx="57"/>
          </p:nvPr>
        </p:nvSpPr>
        <p:spPr>
          <a:xfrm>
            <a:off x="1358609" y="4997896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성장 정체 우려</a:t>
            </a:r>
          </a:p>
        </p:txBody>
      </p:sp>
      <p:sp>
        <p:nvSpPr>
          <p:cNvPr id="93" name="칸 본문"/>
          <p:cNvSpPr>
            <a:spLocks noGrp="1"/>
          </p:cNvSpPr>
          <p:nvPr>
            <p:ph type="body" sz="quarter" idx="58"/>
          </p:nvPr>
        </p:nvSpPr>
        <p:spPr>
          <a:xfrm>
            <a:off x="3241304" y="4997896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저탄소 에너지 전환</a:t>
            </a:r>
          </a:p>
        </p:txBody>
      </p:sp>
      <p:cxnSp>
        <p:nvCxnSpPr>
          <p:cNvPr id="94" name="Connector 67"/>
          <p:cNvCxnSpPr/>
          <p:nvPr/>
        </p:nvCxnSpPr>
        <p:spPr>
          <a:xfrm>
            <a:off x="3230348" y="5030765"/>
            <a:ext cx="0" cy="24104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5" name="칸 본문"/>
          <p:cNvSpPr>
            <a:spLocks noGrp="1"/>
          </p:cNvSpPr>
          <p:nvPr>
            <p:ph type="body" sz="quarter" idx="59"/>
          </p:nvPr>
        </p:nvSpPr>
        <p:spPr>
          <a:xfrm>
            <a:off x="5124000" y="4997896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‘2030년까지 10GW(누적) 개발’</a:t>
            </a:r>
          </a:p>
        </p:txBody>
      </p:sp>
      <p:cxnSp>
        <p:nvCxnSpPr>
          <p:cNvPr id="96" name="Connector 69"/>
          <p:cNvCxnSpPr/>
          <p:nvPr/>
        </p:nvCxnSpPr>
        <p:spPr>
          <a:xfrm>
            <a:off x="5113043" y="5030765"/>
            <a:ext cx="0" cy="24104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7" name="칸 본문"/>
          <p:cNvSpPr>
            <a:spLocks noGrp="1"/>
          </p:cNvSpPr>
          <p:nvPr>
            <p:ph type="body" sz="quarter" idx="60"/>
          </p:nvPr>
        </p:nvSpPr>
        <p:spPr>
          <a:xfrm>
            <a:off x="1358609" y="5321113"/>
            <a:ext cx="1860783" cy="26295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이익공유형 태양광</a:t>
            </a:r>
          </a:p>
        </p:txBody>
      </p:sp>
      <p:sp>
        <p:nvSpPr>
          <p:cNvPr id="98" name="칸 본문"/>
          <p:cNvSpPr>
            <a:spLocks noGrp="1"/>
          </p:cNvSpPr>
          <p:nvPr>
            <p:ph type="body" sz="quarter" idx="61"/>
          </p:nvPr>
        </p:nvSpPr>
        <p:spPr>
          <a:xfrm>
            <a:off x="3241304" y="5321113"/>
            <a:ext cx="1860783" cy="26295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재생e 개발 확대</a:t>
            </a:r>
          </a:p>
        </p:txBody>
      </p:sp>
      <p:cxnSp>
        <p:nvCxnSpPr>
          <p:cNvPr id="99" name="Connector 72"/>
          <p:cNvCxnSpPr/>
          <p:nvPr/>
        </p:nvCxnSpPr>
        <p:spPr>
          <a:xfrm>
            <a:off x="3230348" y="5353983"/>
            <a:ext cx="0" cy="19721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0" name="칸 본문"/>
          <p:cNvSpPr>
            <a:spLocks noGrp="1"/>
          </p:cNvSpPr>
          <p:nvPr>
            <p:ph type="body" sz="quarter" idx="62"/>
          </p:nvPr>
        </p:nvSpPr>
        <p:spPr>
          <a:xfrm>
            <a:off x="5124000" y="5321113"/>
            <a:ext cx="1860783" cy="26295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기업 RE100 확산</a:t>
            </a:r>
          </a:p>
        </p:txBody>
      </p:sp>
      <p:cxnSp>
        <p:nvCxnSpPr>
          <p:cNvPr id="101" name="Connector 74"/>
          <p:cNvCxnSpPr/>
          <p:nvPr/>
        </p:nvCxnSpPr>
        <p:spPr>
          <a:xfrm>
            <a:off x="5113043" y="5353983"/>
            <a:ext cx="0" cy="19721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2" name="레일"/>
          <p:cNvSpPr/>
          <p:nvPr/>
        </p:nvSpPr>
        <p:spPr>
          <a:xfrm>
            <a:off x="734087" y="5605983"/>
            <a:ext cx="580696" cy="832696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03" name="레일"/>
          <p:cNvSpPr>
            <a:spLocks noGrp="1"/>
          </p:cNvSpPr>
          <p:nvPr>
            <p:ph type="body" sz="quarter" idx="63"/>
          </p:nvPr>
        </p:nvSpPr>
        <p:spPr>
          <a:xfrm>
            <a:off x="734087" y="5605983"/>
            <a:ext cx="580696" cy="832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2030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미래상</a:t>
            </a:r>
          </a:p>
        </p:txBody>
      </p:sp>
      <p:sp>
        <p:nvSpPr>
          <p:cNvPr id="104" name="레일 삼각형"/>
          <p:cNvSpPr/>
          <p:nvPr/>
        </p:nvSpPr>
        <p:spPr>
          <a:xfrm>
            <a:off x="734086" y="5605982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배너"/>
          <p:cNvSpPr/>
          <p:nvPr/>
        </p:nvSpPr>
        <p:spPr>
          <a:xfrm>
            <a:off x="1347652" y="5627896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06" name="배너"/>
          <p:cNvSpPr>
            <a:spLocks noGrp="1"/>
          </p:cNvSpPr>
          <p:nvPr>
            <p:ph type="body" sz="quarter" idx="64"/>
          </p:nvPr>
        </p:nvSpPr>
        <p:spPr>
          <a:xfrm>
            <a:off x="1347652" y="5627896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10년의 기반 위에 재생e 국가목표의 10% 10GW 도약·달성</a:t>
            </a:r>
          </a:p>
        </p:txBody>
      </p:sp>
      <p:sp>
        <p:nvSpPr>
          <p:cNvPr id="107" name="머리칸"/>
          <p:cNvSpPr/>
          <p:nvPr/>
        </p:nvSpPr>
        <p:spPr>
          <a:xfrm>
            <a:off x="1347652" y="586346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08" name="머리칸"/>
          <p:cNvSpPr>
            <a:spLocks noGrp="1"/>
          </p:cNvSpPr>
          <p:nvPr>
            <p:ph type="body" sz="quarter" idx="65"/>
          </p:nvPr>
        </p:nvSpPr>
        <p:spPr>
          <a:xfrm>
            <a:off x="1347652" y="586346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주민이익 공유형 마을</a:t>
            </a:r>
          </a:p>
        </p:txBody>
      </p:sp>
      <p:sp>
        <p:nvSpPr>
          <p:cNvPr id="109" name="머리칸"/>
          <p:cNvSpPr/>
          <p:nvPr/>
        </p:nvSpPr>
        <p:spPr>
          <a:xfrm>
            <a:off x="3230348" y="586346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10" name="머리칸"/>
          <p:cNvSpPr>
            <a:spLocks noGrp="1"/>
          </p:cNvSpPr>
          <p:nvPr>
            <p:ph type="body" sz="quarter" idx="66"/>
          </p:nvPr>
        </p:nvSpPr>
        <p:spPr>
          <a:xfrm>
            <a:off x="3230348" y="586346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직접공급(PPA)</a:t>
            </a:r>
          </a:p>
        </p:txBody>
      </p:sp>
      <p:sp>
        <p:nvSpPr>
          <p:cNvPr id="111" name="머리칸"/>
          <p:cNvSpPr/>
          <p:nvPr/>
        </p:nvSpPr>
        <p:spPr>
          <a:xfrm>
            <a:off x="5113043" y="586346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12" name="머리칸"/>
          <p:cNvSpPr>
            <a:spLocks noGrp="1"/>
          </p:cNvSpPr>
          <p:nvPr>
            <p:ph type="body" sz="quarter" idx="67"/>
          </p:nvPr>
        </p:nvSpPr>
        <p:spPr>
          <a:xfrm>
            <a:off x="5113043" y="586346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 → 확대</a:t>
            </a:r>
          </a:p>
        </p:txBody>
      </p:sp>
      <p:sp>
        <p:nvSpPr>
          <p:cNvPr id="113" name="칸 본문"/>
          <p:cNvSpPr>
            <a:spLocks noGrp="1"/>
          </p:cNvSpPr>
          <p:nvPr>
            <p:ph type="body" sz="quarter" idx="68"/>
          </p:nvPr>
        </p:nvSpPr>
        <p:spPr>
          <a:xfrm>
            <a:off x="1358609" y="6104504"/>
            <a:ext cx="1860783" cy="32869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총 32개소 마을 조성</a:t>
            </a:r>
          </a:p>
        </p:txBody>
      </p:sp>
      <p:sp>
        <p:nvSpPr>
          <p:cNvPr id="114" name="칸 본문"/>
          <p:cNvSpPr>
            <a:spLocks noGrp="1"/>
          </p:cNvSpPr>
          <p:nvPr>
            <p:ph type="body" sz="quarter" idx="69"/>
          </p:nvPr>
        </p:nvSpPr>
        <p:spPr>
          <a:xfrm>
            <a:off x="3241304" y="6104504"/>
            <a:ext cx="1860783" cy="32869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소수력 등 444MW</a:t>
            </a:r>
          </a:p>
        </p:txBody>
      </p:sp>
      <p:cxnSp>
        <p:nvCxnSpPr>
          <p:cNvPr id="115" name="Connector 83"/>
          <p:cNvCxnSpPr/>
          <p:nvPr/>
        </p:nvCxnSpPr>
        <p:spPr>
          <a:xfrm>
            <a:off x="3230348" y="6137374"/>
            <a:ext cx="0" cy="26295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6" name="칸 본문"/>
          <p:cNvSpPr>
            <a:spLocks noGrp="1"/>
          </p:cNvSpPr>
          <p:nvPr>
            <p:ph type="body" sz="quarter" idx="70"/>
          </p:nvPr>
        </p:nvSpPr>
        <p:spPr>
          <a:xfrm>
            <a:off x="5124000" y="6104504"/>
            <a:ext cx="1860783" cy="32869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대수력 포함 975MW</a:t>
            </a:r>
          </a:p>
        </p:txBody>
      </p:sp>
      <p:cxnSp>
        <p:nvCxnSpPr>
          <p:cNvPr id="117" name="Connector 85"/>
          <p:cNvCxnSpPr/>
          <p:nvPr/>
        </p:nvCxnSpPr>
        <p:spPr>
          <a:xfrm>
            <a:off x="5113043" y="6137374"/>
            <a:ext cx="0" cy="26295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8" name="캡션 띠"/>
          <p:cNvSpPr/>
          <p:nvPr/>
        </p:nvSpPr>
        <p:spPr>
          <a:xfrm>
            <a:off x="723130" y="6477026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태그"/>
          <p:cNvSpPr/>
          <p:nvPr/>
        </p:nvSpPr>
        <p:spPr>
          <a:xfrm>
            <a:off x="1051826" y="6520852"/>
            <a:ext cx="548640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20" name="태그"/>
          <p:cNvSpPr>
            <a:spLocks noGrp="1"/>
          </p:cNvSpPr>
          <p:nvPr>
            <p:ph type="body" sz="quarter" idx="71"/>
          </p:nvPr>
        </p:nvSpPr>
        <p:spPr>
          <a:xfrm>
            <a:off x="1051826" y="6520852"/>
            <a:ext cx="548640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산업용수</a:t>
            </a:r>
          </a:p>
        </p:txBody>
      </p:sp>
      <p:sp>
        <p:nvSpPr>
          <p:cNvPr id="121" name="캡션"/>
          <p:cNvSpPr>
            <a:spLocks noGrp="1"/>
          </p:cNvSpPr>
          <p:nvPr>
            <p:ph type="body" sz="quarter" idx="72"/>
          </p:nvPr>
        </p:nvSpPr>
        <p:spPr>
          <a:xfrm>
            <a:off x="1655249" y="6477026"/>
            <a:ext cx="5148751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첨단산업 초격차를 지키는 생명수 공급</a:t>
            </a:r>
          </a:p>
        </p:txBody>
      </p:sp>
      <p:sp>
        <p:nvSpPr>
          <p:cNvPr id="122" name="표 외곽"/>
          <p:cNvSpPr/>
          <p:nvPr/>
        </p:nvSpPr>
        <p:spPr>
          <a:xfrm>
            <a:off x="723130" y="6783809"/>
            <a:ext cx="6300000" cy="131478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3" name="레일"/>
          <p:cNvSpPr/>
          <p:nvPr/>
        </p:nvSpPr>
        <p:spPr>
          <a:xfrm>
            <a:off x="734087" y="6800243"/>
            <a:ext cx="580696" cy="58617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4" name="레일"/>
          <p:cNvSpPr>
            <a:spLocks noGrp="1"/>
          </p:cNvSpPr>
          <p:nvPr>
            <p:ph type="body" sz="quarter" idx="73"/>
          </p:nvPr>
        </p:nvSpPr>
        <p:spPr>
          <a:xfrm>
            <a:off x="734087" y="6800243"/>
            <a:ext cx="580696" cy="586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산업용수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TF</a:t>
            </a:r>
          </a:p>
        </p:txBody>
      </p:sp>
      <p:sp>
        <p:nvSpPr>
          <p:cNvPr id="125" name="단계"/>
          <p:cNvSpPr/>
          <p:nvPr/>
        </p:nvSpPr>
        <p:spPr>
          <a:xfrm>
            <a:off x="1347652" y="6822157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26" name="단계"/>
          <p:cNvSpPr>
            <a:spLocks noGrp="1"/>
          </p:cNvSpPr>
          <p:nvPr>
            <p:ph type="body" sz="quarter" idx="74"/>
          </p:nvPr>
        </p:nvSpPr>
        <p:spPr>
          <a:xfrm>
            <a:off x="1347652" y="682215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초순수 4대 강국 도약</a:t>
            </a:r>
          </a:p>
        </p:txBody>
      </p:sp>
      <p:sp>
        <p:nvSpPr>
          <p:cNvPr id="127" name="단계"/>
          <p:cNvSpPr/>
          <p:nvPr/>
        </p:nvSpPr>
        <p:spPr>
          <a:xfrm>
            <a:off x="3230348" y="6822157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28" name="단계"/>
          <p:cNvSpPr>
            <a:spLocks noGrp="1"/>
          </p:cNvSpPr>
          <p:nvPr>
            <p:ph type="body" sz="quarter" idx="75"/>
          </p:nvPr>
        </p:nvSpPr>
        <p:spPr>
          <a:xfrm>
            <a:off x="3230348" y="682215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’25–’29 전략환류</a:t>
            </a:r>
          </a:p>
        </p:txBody>
      </p:sp>
      <p:sp>
        <p:nvSpPr>
          <p:cNvPr id="129" name="단계"/>
          <p:cNvSpPr/>
          <p:nvPr/>
        </p:nvSpPr>
        <p:spPr>
          <a:xfrm>
            <a:off x="5113043" y="6822157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30" name="단계"/>
          <p:cNvSpPr>
            <a:spLocks noGrp="1"/>
          </p:cNvSpPr>
          <p:nvPr>
            <p:ph type="body" sz="quarter" idx="76"/>
          </p:nvPr>
        </p:nvSpPr>
        <p:spPr>
          <a:xfrm>
            <a:off x="5113043" y="682215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산업용수 활성화</a:t>
            </a:r>
          </a:p>
        </p:txBody>
      </p:sp>
      <p:sp>
        <p:nvSpPr>
          <p:cNvPr id="131" name="단계 삼각형"/>
          <p:cNvSpPr/>
          <p:nvPr/>
        </p:nvSpPr>
        <p:spPr>
          <a:xfrm>
            <a:off x="3230347" y="682215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단계 삼각형"/>
          <p:cNvSpPr/>
          <p:nvPr/>
        </p:nvSpPr>
        <p:spPr>
          <a:xfrm>
            <a:off x="5113043" y="682215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칸 본문"/>
          <p:cNvSpPr>
            <a:spLocks noGrp="1"/>
          </p:cNvSpPr>
          <p:nvPr>
            <p:ph type="body" sz="quarter" idx="77"/>
          </p:nvPr>
        </p:nvSpPr>
        <p:spPr>
          <a:xfrm>
            <a:off x="1358609" y="7074157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글로벌·R&amp;D 진출</a:t>
            </a:r>
          </a:p>
        </p:txBody>
      </p:sp>
      <p:sp>
        <p:nvSpPr>
          <p:cNvPr id="134" name="칸 본문"/>
          <p:cNvSpPr>
            <a:spLocks noGrp="1"/>
          </p:cNvSpPr>
          <p:nvPr>
            <p:ph type="body" sz="quarter" idx="78"/>
          </p:nvPr>
        </p:nvSpPr>
        <p:spPr>
          <a:xfrm>
            <a:off x="3241304" y="7074157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첨단산업 적기 용수공급</a:t>
            </a:r>
          </a:p>
        </p:txBody>
      </p:sp>
      <p:cxnSp>
        <p:nvCxnSpPr>
          <p:cNvPr id="135" name="Connector 98"/>
          <p:cNvCxnSpPr/>
          <p:nvPr/>
        </p:nvCxnSpPr>
        <p:spPr>
          <a:xfrm>
            <a:off x="3230348" y="7107026"/>
            <a:ext cx="0" cy="24104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36" name="칸 본문"/>
          <p:cNvSpPr>
            <a:spLocks noGrp="1"/>
          </p:cNvSpPr>
          <p:nvPr>
            <p:ph type="body" sz="quarter" idx="79"/>
          </p:nvPr>
        </p:nvSpPr>
        <p:spPr>
          <a:xfrm>
            <a:off x="5124000" y="7074157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‘2030년까지 일 87만㎥ 공급’</a:t>
            </a:r>
          </a:p>
        </p:txBody>
      </p:sp>
      <p:cxnSp>
        <p:nvCxnSpPr>
          <p:cNvPr id="137" name="Connector 100"/>
          <p:cNvCxnSpPr/>
          <p:nvPr/>
        </p:nvCxnSpPr>
        <p:spPr>
          <a:xfrm>
            <a:off x="5113043" y="7107026"/>
            <a:ext cx="0" cy="24104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38" name="레일"/>
          <p:cNvSpPr/>
          <p:nvPr/>
        </p:nvSpPr>
        <p:spPr>
          <a:xfrm>
            <a:off x="734087" y="7402852"/>
            <a:ext cx="580696" cy="679304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9" name="레일"/>
          <p:cNvSpPr>
            <a:spLocks noGrp="1"/>
          </p:cNvSpPr>
          <p:nvPr>
            <p:ph type="body" sz="quarter" idx="80"/>
          </p:nvPr>
        </p:nvSpPr>
        <p:spPr>
          <a:xfrm>
            <a:off x="734087" y="7402852"/>
            <a:ext cx="580696" cy="679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2030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미래상</a:t>
            </a:r>
          </a:p>
        </p:txBody>
      </p:sp>
      <p:sp>
        <p:nvSpPr>
          <p:cNvPr id="140" name="레일 삼각형"/>
          <p:cNvSpPr/>
          <p:nvPr/>
        </p:nvSpPr>
        <p:spPr>
          <a:xfrm>
            <a:off x="734086" y="7402852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배너"/>
          <p:cNvSpPr/>
          <p:nvPr/>
        </p:nvSpPr>
        <p:spPr>
          <a:xfrm>
            <a:off x="1347652" y="7424765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42" name="배너"/>
          <p:cNvSpPr>
            <a:spLocks noGrp="1"/>
          </p:cNvSpPr>
          <p:nvPr>
            <p:ph type="body" sz="quarter" idx="81"/>
          </p:nvPr>
        </p:nvSpPr>
        <p:spPr>
          <a:xfrm>
            <a:off x="1347652" y="7424765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첨단수처리 사업·기술·인적 역량 강화로 물산업 글로벌 진출 촉진</a:t>
            </a:r>
          </a:p>
        </p:txBody>
      </p:sp>
      <p:sp>
        <p:nvSpPr>
          <p:cNvPr id="143" name="태그"/>
          <p:cNvSpPr/>
          <p:nvPr/>
        </p:nvSpPr>
        <p:spPr>
          <a:xfrm>
            <a:off x="1347652" y="7682243"/>
            <a:ext cx="581509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44" name="태그"/>
          <p:cNvSpPr>
            <a:spLocks noGrp="1"/>
          </p:cNvSpPr>
          <p:nvPr>
            <p:ph type="body" sz="quarter" idx="82"/>
          </p:nvPr>
        </p:nvSpPr>
        <p:spPr>
          <a:xfrm>
            <a:off x="1347652" y="7682243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초순수</a:t>
            </a:r>
          </a:p>
        </p:txBody>
      </p:sp>
      <p:sp>
        <p:nvSpPr>
          <p:cNvPr id="145" name="태그 설명"/>
          <p:cNvSpPr>
            <a:spLocks noGrp="1"/>
          </p:cNvSpPr>
          <p:nvPr>
            <p:ph type="body" sz="quarter" idx="83"/>
          </p:nvPr>
        </p:nvSpPr>
        <p:spPr>
          <a:xfrm>
            <a:off x="1972988" y="7671287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운영관리에서 건설운영까지 국내 시장 14% 진출</a:t>
            </a:r>
          </a:p>
        </p:txBody>
      </p:sp>
      <p:sp>
        <p:nvSpPr>
          <p:cNvPr id="146" name="태그"/>
          <p:cNvSpPr/>
          <p:nvPr/>
        </p:nvSpPr>
        <p:spPr>
          <a:xfrm>
            <a:off x="1347652" y="7879461"/>
            <a:ext cx="581509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47" name="태그"/>
          <p:cNvSpPr>
            <a:spLocks noGrp="1"/>
          </p:cNvSpPr>
          <p:nvPr>
            <p:ph type="body" sz="quarter" idx="84"/>
          </p:nvPr>
        </p:nvSpPr>
        <p:spPr>
          <a:xfrm>
            <a:off x="1347652" y="7879461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물재이용</a:t>
            </a:r>
          </a:p>
        </p:txBody>
      </p:sp>
      <p:sp>
        <p:nvSpPr>
          <p:cNvPr id="148" name="태그 설명"/>
          <p:cNvSpPr>
            <a:spLocks noGrp="1"/>
          </p:cNvSpPr>
          <p:nvPr>
            <p:ph type="body" sz="quarter" idx="85"/>
          </p:nvPr>
        </p:nvSpPr>
        <p:spPr>
          <a:xfrm>
            <a:off x="1972988" y="7868504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공공주도 사업 다각화로 시장 30% 진출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27 서사 · 프로세스 로드맵 → 정책 제안 → 과제 지도 → 방향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새 정책 제안·반영으로 임무지향성 확보</a:t>
            </a:r>
          </a:p>
        </p:txBody>
      </p:sp>
      <p:sp>
        <p:nvSpPr>
          <p:cNvPr id="15" name="번호 띠 칩"/>
          <p:cNvSpPr/>
          <p:nvPr/>
        </p:nvSpPr>
        <p:spPr>
          <a:xfrm>
            <a:off x="6241922" y="832696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번호 띠 칩"/>
          <p:cNvSpPr>
            <a:spLocks noGrp="1"/>
          </p:cNvSpPr>
          <p:nvPr>
            <p:ph type="body" sz="quarter" idx="22"/>
          </p:nvPr>
        </p:nvSpPr>
        <p:spPr>
          <a:xfrm>
            <a:off x="6241922" y="832696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7" name="배너"/>
          <p:cNvSpPr/>
          <p:nvPr/>
        </p:nvSpPr>
        <p:spPr>
          <a:xfrm>
            <a:off x="536869" y="1117565"/>
            <a:ext cx="6300000" cy="273913"/>
          </a:xfrm>
          <a:custGeom>
            <a:avLst/>
            <a:gdLst/>
            <a:ahLst/>
            <a:cxnLst/>
            <a:rect l="l" t="t" r="r" b="b"/>
            <a:pathLst>
              <a:path w="6300000" h="273913">
                <a:moveTo>
                  <a:pt x="0" y="0"/>
                </a:moveTo>
                <a:lnTo>
                  <a:pt x="6300000" y="0"/>
                </a:lnTo>
                <a:lnTo>
                  <a:pt x="6234261" y="273913"/>
                </a:lnTo>
                <a:lnTo>
                  <a:pt x="65739" y="273913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태그"/>
          <p:cNvSpPr/>
          <p:nvPr/>
        </p:nvSpPr>
        <p:spPr>
          <a:xfrm>
            <a:off x="756000" y="1172348"/>
            <a:ext cx="548640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9" name="태그"/>
          <p:cNvSpPr>
            <a:spLocks noGrp="1"/>
          </p:cNvSpPr>
          <p:nvPr>
            <p:ph type="body" sz="quarter" idx="23"/>
          </p:nvPr>
        </p:nvSpPr>
        <p:spPr>
          <a:xfrm>
            <a:off x="756000" y="1172348"/>
            <a:ext cx="548640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프로세스</a:t>
            </a:r>
          </a:p>
        </p:txBody>
      </p:sp>
      <p:sp>
        <p:nvSpPr>
          <p:cNvPr id="20" name="배너 글"/>
          <p:cNvSpPr>
            <a:spLocks noGrp="1"/>
          </p:cNvSpPr>
          <p:nvPr>
            <p:ph type="body" sz="quarter" idx="24"/>
          </p:nvPr>
        </p:nvSpPr>
        <p:spPr>
          <a:xfrm>
            <a:off x="1359422" y="1117565"/>
            <a:ext cx="5313099" cy="27391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공약 단계부터 국정과제 이행계획 수립 및 전략 반영까지 로드맵</a:t>
            </a:r>
          </a:p>
        </p:txBody>
      </p:sp>
      <p:sp>
        <p:nvSpPr>
          <p:cNvPr id="21" name="주체 박스"/>
          <p:cNvSpPr/>
          <p:nvPr/>
        </p:nvSpPr>
        <p:spPr>
          <a:xfrm>
            <a:off x="536870" y="1446261"/>
            <a:ext cx="1197000" cy="127095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22" name="주체 박스"/>
          <p:cNvSpPr>
            <a:spLocks noGrp="1"/>
          </p:cNvSpPr>
          <p:nvPr>
            <p:ph type="body" sz="quarter" idx="25"/>
          </p:nvPr>
        </p:nvSpPr>
        <p:spPr>
          <a:xfrm>
            <a:off x="536870" y="1446261"/>
            <a:ext cx="1197000" cy="1270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AI First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전략기획단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＋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에너지 TF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산업용수 TF</a:t>
            </a:r>
          </a:p>
        </p:txBody>
      </p:sp>
      <p:sp>
        <p:nvSpPr>
          <p:cNvPr id="23" name="시작"/>
          <p:cNvSpPr>
            <a:spLocks noGrp="1"/>
          </p:cNvSpPr>
          <p:nvPr>
            <p:ph type="body" sz="quarter" idx="26"/>
          </p:nvPr>
        </p:nvSpPr>
        <p:spPr>
          <a:xfrm>
            <a:off x="1755783" y="2005043"/>
            <a:ext cx="449217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START</a:t>
            </a:r>
          </a:p>
        </p:txBody>
      </p:sp>
      <p:sp>
        <p:nvSpPr>
          <p:cNvPr id="24" name="로드맵 선"/>
          <p:cNvSpPr/>
          <p:nvPr/>
        </p:nvSpPr>
        <p:spPr>
          <a:xfrm>
            <a:off x="2226913" y="2065304"/>
            <a:ext cx="4577087" cy="3287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위 마디"/>
          <p:cNvSpPr/>
          <p:nvPr/>
        </p:nvSpPr>
        <p:spPr>
          <a:xfrm>
            <a:off x="2237870" y="1446261"/>
            <a:ext cx="882548" cy="350609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6" name="위 마디"/>
          <p:cNvSpPr>
            <a:spLocks noGrp="1"/>
          </p:cNvSpPr>
          <p:nvPr>
            <p:ph type="body" sz="quarter" idx="27"/>
          </p:nvPr>
        </p:nvSpPr>
        <p:spPr>
          <a:xfrm>
            <a:off x="2237870" y="1446261"/>
            <a:ext cx="882548" cy="350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공약분석</a:t>
            </a:r>
          </a:p>
        </p:txBody>
      </p:sp>
      <p:sp>
        <p:nvSpPr>
          <p:cNvPr id="27" name="삼각 화살표"/>
          <p:cNvSpPr/>
          <p:nvPr/>
        </p:nvSpPr>
        <p:spPr>
          <a:xfrm>
            <a:off x="2635317" y="1816043"/>
            <a:ext cx="87652" cy="49304"/>
          </a:xfrm>
          <a:custGeom>
            <a:avLst/>
            <a:gdLst/>
            <a:ahLst/>
            <a:cxnLst/>
            <a:rect l="l" t="t" r="r" b="b"/>
            <a:pathLst>
              <a:path w="87652" h="49304">
                <a:moveTo>
                  <a:pt x="0" y="0"/>
                </a:moveTo>
                <a:lnTo>
                  <a:pt x="87652" y="0"/>
                </a:lnTo>
                <a:lnTo>
                  <a:pt x="43826" y="4930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날짜"/>
          <p:cNvSpPr>
            <a:spLocks noGrp="1"/>
          </p:cNvSpPr>
          <p:nvPr>
            <p:ph type="body" sz="quarter" idx="28"/>
          </p:nvPr>
        </p:nvSpPr>
        <p:spPr>
          <a:xfrm>
            <a:off x="2226913" y="1862609"/>
            <a:ext cx="904461" cy="1862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~5월</a:t>
            </a:r>
          </a:p>
        </p:txBody>
      </p:sp>
      <p:sp>
        <p:nvSpPr>
          <p:cNvPr id="29" name="마디 점"/>
          <p:cNvSpPr/>
          <p:nvPr/>
        </p:nvSpPr>
        <p:spPr>
          <a:xfrm>
            <a:off x="2646274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위 마디"/>
          <p:cNvSpPr/>
          <p:nvPr/>
        </p:nvSpPr>
        <p:spPr>
          <a:xfrm>
            <a:off x="3153287" y="1446261"/>
            <a:ext cx="882548" cy="350609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1" name="위 마디"/>
          <p:cNvSpPr>
            <a:spLocks noGrp="1"/>
          </p:cNvSpPr>
          <p:nvPr>
            <p:ph type="body" sz="quarter" idx="29"/>
          </p:nvPr>
        </p:nvSpPr>
        <p:spPr>
          <a:xfrm>
            <a:off x="3153287" y="1446261"/>
            <a:ext cx="882548" cy="350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새 정부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출범</a:t>
            </a:r>
          </a:p>
        </p:txBody>
      </p:sp>
      <p:sp>
        <p:nvSpPr>
          <p:cNvPr id="32" name="삼각 화살표"/>
          <p:cNvSpPr/>
          <p:nvPr/>
        </p:nvSpPr>
        <p:spPr>
          <a:xfrm>
            <a:off x="3550734" y="1816043"/>
            <a:ext cx="87652" cy="49304"/>
          </a:xfrm>
          <a:custGeom>
            <a:avLst/>
            <a:gdLst/>
            <a:ahLst/>
            <a:cxnLst/>
            <a:rect l="l" t="t" r="r" b="b"/>
            <a:pathLst>
              <a:path w="87652" h="49304">
                <a:moveTo>
                  <a:pt x="0" y="0"/>
                </a:moveTo>
                <a:lnTo>
                  <a:pt x="87652" y="0"/>
                </a:lnTo>
                <a:lnTo>
                  <a:pt x="43826" y="4930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날짜"/>
          <p:cNvSpPr>
            <a:spLocks noGrp="1"/>
          </p:cNvSpPr>
          <p:nvPr>
            <p:ph type="body" sz="quarter" idx="30"/>
          </p:nvPr>
        </p:nvSpPr>
        <p:spPr>
          <a:xfrm>
            <a:off x="3142330" y="1862609"/>
            <a:ext cx="904461" cy="1862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6.4</a:t>
            </a:r>
          </a:p>
        </p:txBody>
      </p:sp>
      <p:sp>
        <p:nvSpPr>
          <p:cNvPr id="34" name="마디 점"/>
          <p:cNvSpPr/>
          <p:nvPr/>
        </p:nvSpPr>
        <p:spPr>
          <a:xfrm>
            <a:off x="3561691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위 마디"/>
          <p:cNvSpPr/>
          <p:nvPr/>
        </p:nvSpPr>
        <p:spPr>
          <a:xfrm>
            <a:off x="4068704" y="1446261"/>
            <a:ext cx="882548" cy="350609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6" name="위 마디"/>
          <p:cNvSpPr>
            <a:spLocks noGrp="1"/>
          </p:cNvSpPr>
          <p:nvPr>
            <p:ph type="body" sz="quarter" idx="31"/>
          </p:nvPr>
        </p:nvSpPr>
        <p:spPr>
          <a:xfrm>
            <a:off x="4068704" y="1446261"/>
            <a:ext cx="882548" cy="350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중장기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계획 수립</a:t>
            </a:r>
          </a:p>
        </p:txBody>
      </p:sp>
      <p:sp>
        <p:nvSpPr>
          <p:cNvPr id="37" name="삼각 화살표"/>
          <p:cNvSpPr/>
          <p:nvPr/>
        </p:nvSpPr>
        <p:spPr>
          <a:xfrm>
            <a:off x="4466152" y="1816043"/>
            <a:ext cx="87652" cy="49304"/>
          </a:xfrm>
          <a:custGeom>
            <a:avLst/>
            <a:gdLst/>
            <a:ahLst/>
            <a:cxnLst/>
            <a:rect l="l" t="t" r="r" b="b"/>
            <a:pathLst>
              <a:path w="87652" h="49304">
                <a:moveTo>
                  <a:pt x="0" y="0"/>
                </a:moveTo>
                <a:lnTo>
                  <a:pt x="87652" y="0"/>
                </a:lnTo>
                <a:lnTo>
                  <a:pt x="43826" y="4930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날짜"/>
          <p:cNvSpPr>
            <a:spLocks noGrp="1"/>
          </p:cNvSpPr>
          <p:nvPr>
            <p:ph type="body" sz="quarter" idx="32"/>
          </p:nvPr>
        </p:nvSpPr>
        <p:spPr>
          <a:xfrm>
            <a:off x="4057748" y="1862609"/>
            <a:ext cx="904461" cy="1862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6월</a:t>
            </a:r>
          </a:p>
        </p:txBody>
      </p:sp>
      <p:sp>
        <p:nvSpPr>
          <p:cNvPr id="39" name="마디 점"/>
          <p:cNvSpPr/>
          <p:nvPr/>
        </p:nvSpPr>
        <p:spPr>
          <a:xfrm>
            <a:off x="4477109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위 마디"/>
          <p:cNvSpPr/>
          <p:nvPr/>
        </p:nvSpPr>
        <p:spPr>
          <a:xfrm>
            <a:off x="4984122" y="1446261"/>
            <a:ext cx="882548" cy="350609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1" name="위 마디"/>
          <p:cNvSpPr>
            <a:spLocks noGrp="1"/>
          </p:cNvSpPr>
          <p:nvPr>
            <p:ph type="body" sz="quarter" idx="33"/>
          </p:nvPr>
        </p:nvSpPr>
        <p:spPr>
          <a:xfrm>
            <a:off x="4984122" y="1446261"/>
            <a:ext cx="882548" cy="350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5개년 계획</a:t>
            </a:r>
          </a:p>
        </p:txBody>
      </p:sp>
      <p:sp>
        <p:nvSpPr>
          <p:cNvPr id="42" name="삼각 화살표"/>
          <p:cNvSpPr/>
          <p:nvPr/>
        </p:nvSpPr>
        <p:spPr>
          <a:xfrm>
            <a:off x="5381569" y="1816043"/>
            <a:ext cx="87652" cy="49304"/>
          </a:xfrm>
          <a:custGeom>
            <a:avLst/>
            <a:gdLst/>
            <a:ahLst/>
            <a:cxnLst/>
            <a:rect l="l" t="t" r="r" b="b"/>
            <a:pathLst>
              <a:path w="87652" h="49304">
                <a:moveTo>
                  <a:pt x="0" y="0"/>
                </a:moveTo>
                <a:lnTo>
                  <a:pt x="87652" y="0"/>
                </a:lnTo>
                <a:lnTo>
                  <a:pt x="43826" y="4930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날짜"/>
          <p:cNvSpPr>
            <a:spLocks noGrp="1"/>
          </p:cNvSpPr>
          <p:nvPr>
            <p:ph type="body" sz="quarter" idx="34"/>
          </p:nvPr>
        </p:nvSpPr>
        <p:spPr>
          <a:xfrm>
            <a:off x="4973165" y="1862609"/>
            <a:ext cx="904461" cy="1862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~8월</a:t>
            </a:r>
          </a:p>
        </p:txBody>
      </p:sp>
      <p:sp>
        <p:nvSpPr>
          <p:cNvPr id="44" name="마디 점"/>
          <p:cNvSpPr/>
          <p:nvPr/>
        </p:nvSpPr>
        <p:spPr>
          <a:xfrm>
            <a:off x="5392526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위 마디"/>
          <p:cNvSpPr/>
          <p:nvPr/>
        </p:nvSpPr>
        <p:spPr>
          <a:xfrm>
            <a:off x="5899539" y="1446261"/>
            <a:ext cx="882548" cy="350609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6" name="위 마디"/>
          <p:cNvSpPr>
            <a:spLocks noGrp="1"/>
          </p:cNvSpPr>
          <p:nvPr>
            <p:ph type="body" sz="quarter" idx="35"/>
          </p:nvPr>
        </p:nvSpPr>
        <p:spPr>
          <a:xfrm>
            <a:off x="5899539" y="1446261"/>
            <a:ext cx="882548" cy="350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 확정</a:t>
            </a:r>
          </a:p>
        </p:txBody>
      </p:sp>
      <p:sp>
        <p:nvSpPr>
          <p:cNvPr id="47" name="삼각 화살표"/>
          <p:cNvSpPr/>
          <p:nvPr/>
        </p:nvSpPr>
        <p:spPr>
          <a:xfrm>
            <a:off x="6296986" y="1816043"/>
            <a:ext cx="87653" cy="49304"/>
          </a:xfrm>
          <a:custGeom>
            <a:avLst/>
            <a:gdLst/>
            <a:ahLst/>
            <a:cxnLst/>
            <a:rect l="l" t="t" r="r" b="b"/>
            <a:pathLst>
              <a:path w="87653" h="49304">
                <a:moveTo>
                  <a:pt x="0" y="0"/>
                </a:moveTo>
                <a:lnTo>
                  <a:pt x="87653" y="0"/>
                </a:lnTo>
                <a:lnTo>
                  <a:pt x="43827" y="4930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날짜"/>
          <p:cNvSpPr>
            <a:spLocks noGrp="1"/>
          </p:cNvSpPr>
          <p:nvPr>
            <p:ph type="body" sz="quarter" idx="36"/>
          </p:nvPr>
        </p:nvSpPr>
        <p:spPr>
          <a:xfrm>
            <a:off x="5888583" y="1862609"/>
            <a:ext cx="904461" cy="1862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9.16</a:t>
            </a:r>
          </a:p>
        </p:txBody>
      </p:sp>
      <p:sp>
        <p:nvSpPr>
          <p:cNvPr id="49" name="마디 점"/>
          <p:cNvSpPr/>
          <p:nvPr/>
        </p:nvSpPr>
        <p:spPr>
          <a:xfrm>
            <a:off x="6307943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마디 점"/>
          <p:cNvSpPr/>
          <p:nvPr/>
        </p:nvSpPr>
        <p:spPr>
          <a:xfrm>
            <a:off x="2760701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날짜"/>
          <p:cNvSpPr>
            <a:spLocks noGrp="1"/>
          </p:cNvSpPr>
          <p:nvPr>
            <p:ph type="body" sz="quarter" idx="37"/>
          </p:nvPr>
        </p:nvSpPr>
        <p:spPr>
          <a:xfrm>
            <a:off x="2226913" y="2136522"/>
            <a:ext cx="1133315" cy="197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12월</a:t>
            </a:r>
          </a:p>
        </p:txBody>
      </p:sp>
      <p:sp>
        <p:nvSpPr>
          <p:cNvPr id="52" name="아래 마디"/>
          <p:cNvSpPr/>
          <p:nvPr/>
        </p:nvSpPr>
        <p:spPr>
          <a:xfrm>
            <a:off x="2237870" y="2355652"/>
            <a:ext cx="1111402" cy="361565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3" name="아래 마디"/>
          <p:cNvSpPr>
            <a:spLocks noGrp="1"/>
          </p:cNvSpPr>
          <p:nvPr>
            <p:ph type="body" sz="quarter" idx="38"/>
          </p:nvPr>
        </p:nvSpPr>
        <p:spPr>
          <a:xfrm>
            <a:off x="2237870" y="2355652"/>
            <a:ext cx="1111402" cy="361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경영방향 시행</a:t>
            </a:r>
          </a:p>
        </p:txBody>
      </p:sp>
      <p:sp>
        <p:nvSpPr>
          <p:cNvPr id="54" name="마디 점"/>
          <p:cNvSpPr/>
          <p:nvPr/>
        </p:nvSpPr>
        <p:spPr>
          <a:xfrm>
            <a:off x="3904973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날짜"/>
          <p:cNvSpPr>
            <a:spLocks noGrp="1"/>
          </p:cNvSpPr>
          <p:nvPr>
            <p:ph type="body" sz="quarter" idx="39"/>
          </p:nvPr>
        </p:nvSpPr>
        <p:spPr>
          <a:xfrm>
            <a:off x="3371185" y="2136522"/>
            <a:ext cx="1133315" cy="197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11월</a:t>
            </a:r>
          </a:p>
        </p:txBody>
      </p:sp>
      <p:sp>
        <p:nvSpPr>
          <p:cNvPr id="56" name="아래 마디"/>
          <p:cNvSpPr/>
          <p:nvPr/>
        </p:nvSpPr>
        <p:spPr>
          <a:xfrm>
            <a:off x="3382141" y="2355652"/>
            <a:ext cx="1111402" cy="361565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7" name="아래 마디"/>
          <p:cNvSpPr>
            <a:spLocks noGrp="1"/>
          </p:cNvSpPr>
          <p:nvPr>
            <p:ph type="body" sz="quarter" idx="40"/>
          </p:nvPr>
        </p:nvSpPr>
        <p:spPr>
          <a:xfrm>
            <a:off x="3382141" y="2355652"/>
            <a:ext cx="1111402" cy="361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중장기 전략경영계획</a:t>
            </a:r>
          </a:p>
        </p:txBody>
      </p:sp>
      <p:sp>
        <p:nvSpPr>
          <p:cNvPr id="58" name="마디 점"/>
          <p:cNvSpPr/>
          <p:nvPr/>
        </p:nvSpPr>
        <p:spPr>
          <a:xfrm>
            <a:off x="5049245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날짜"/>
          <p:cNvSpPr>
            <a:spLocks noGrp="1"/>
          </p:cNvSpPr>
          <p:nvPr>
            <p:ph type="body" sz="quarter" idx="41"/>
          </p:nvPr>
        </p:nvSpPr>
        <p:spPr>
          <a:xfrm>
            <a:off x="4515457" y="2136522"/>
            <a:ext cx="1133315" cy="197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10월</a:t>
            </a:r>
          </a:p>
        </p:txBody>
      </p:sp>
      <p:sp>
        <p:nvSpPr>
          <p:cNvPr id="60" name="아래 마디"/>
          <p:cNvSpPr/>
          <p:nvPr/>
        </p:nvSpPr>
        <p:spPr>
          <a:xfrm>
            <a:off x="4526413" y="2355652"/>
            <a:ext cx="1111402" cy="361565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1" name="아래 마디"/>
          <p:cNvSpPr>
            <a:spLocks noGrp="1"/>
          </p:cNvSpPr>
          <p:nvPr>
            <p:ph type="body" sz="quarter" idx="42"/>
          </p:nvPr>
        </p:nvSpPr>
        <p:spPr>
          <a:xfrm>
            <a:off x="4526413" y="2355652"/>
            <a:ext cx="1111402" cy="361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경영목표 수립</a:t>
            </a:r>
          </a:p>
        </p:txBody>
      </p:sp>
      <p:sp>
        <p:nvSpPr>
          <p:cNvPr id="62" name="마디 점"/>
          <p:cNvSpPr/>
          <p:nvPr/>
        </p:nvSpPr>
        <p:spPr>
          <a:xfrm>
            <a:off x="6193516" y="2043391"/>
            <a:ext cx="65739" cy="76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날짜"/>
          <p:cNvSpPr>
            <a:spLocks noGrp="1"/>
          </p:cNvSpPr>
          <p:nvPr>
            <p:ph type="body" sz="quarter" idx="43"/>
          </p:nvPr>
        </p:nvSpPr>
        <p:spPr>
          <a:xfrm>
            <a:off x="5659728" y="2136522"/>
            <a:ext cx="1133315" cy="197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~9월</a:t>
            </a:r>
          </a:p>
        </p:txBody>
      </p:sp>
      <p:sp>
        <p:nvSpPr>
          <p:cNvPr id="64" name="아래 마디"/>
          <p:cNvSpPr/>
          <p:nvPr/>
        </p:nvSpPr>
        <p:spPr>
          <a:xfrm>
            <a:off x="5670685" y="2355652"/>
            <a:ext cx="1111402" cy="361565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5" name="아래 마디"/>
          <p:cNvSpPr>
            <a:spLocks noGrp="1"/>
          </p:cNvSpPr>
          <p:nvPr>
            <p:ph type="body" sz="quarter" idx="44"/>
          </p:nvPr>
        </p:nvSpPr>
        <p:spPr>
          <a:xfrm>
            <a:off x="5670685" y="2355652"/>
            <a:ext cx="1111402" cy="361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이행계획 수립</a:t>
            </a:r>
          </a:p>
        </p:txBody>
      </p:sp>
      <p:sp>
        <p:nvSpPr>
          <p:cNvPr id="66" name="배너"/>
          <p:cNvSpPr/>
          <p:nvPr/>
        </p:nvSpPr>
        <p:spPr>
          <a:xfrm>
            <a:off x="536869" y="2772000"/>
            <a:ext cx="6300000" cy="273913"/>
          </a:xfrm>
          <a:custGeom>
            <a:avLst/>
            <a:gdLst/>
            <a:ahLst/>
            <a:cxnLst/>
            <a:rect l="l" t="t" r="r" b="b"/>
            <a:pathLst>
              <a:path w="6300000" h="273913">
                <a:moveTo>
                  <a:pt x="0" y="0"/>
                </a:moveTo>
                <a:lnTo>
                  <a:pt x="6300000" y="0"/>
                </a:lnTo>
                <a:lnTo>
                  <a:pt x="6234261" y="273913"/>
                </a:lnTo>
                <a:lnTo>
                  <a:pt x="65739" y="273913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태그"/>
          <p:cNvSpPr/>
          <p:nvPr/>
        </p:nvSpPr>
        <p:spPr>
          <a:xfrm>
            <a:off x="756000" y="2826783"/>
            <a:ext cx="577911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8" name="태그"/>
          <p:cNvSpPr>
            <a:spLocks noGrp="1"/>
          </p:cNvSpPr>
          <p:nvPr>
            <p:ph type="body" sz="quarter" idx="45"/>
          </p:nvPr>
        </p:nvSpPr>
        <p:spPr>
          <a:xfrm>
            <a:off x="756000" y="2826783"/>
            <a:ext cx="577911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정책 제안</a:t>
            </a:r>
          </a:p>
        </p:txBody>
      </p:sp>
      <p:sp>
        <p:nvSpPr>
          <p:cNvPr id="69" name="배너 글"/>
          <p:cNvSpPr>
            <a:spLocks noGrp="1"/>
          </p:cNvSpPr>
          <p:nvPr>
            <p:ph type="body" sz="quarter" idx="46"/>
          </p:nvPr>
        </p:nvSpPr>
        <p:spPr>
          <a:xfrm>
            <a:off x="1388694" y="2772000"/>
            <a:ext cx="5283828" cy="27391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국정기획위원회 및 정부부처 대상 핵심 솔루션 과제 반영 설득</a:t>
            </a:r>
          </a:p>
        </p:txBody>
      </p:sp>
      <p:sp>
        <p:nvSpPr>
          <p:cNvPr id="70" name="머리"/>
          <p:cNvSpPr/>
          <p:nvPr/>
        </p:nvSpPr>
        <p:spPr>
          <a:xfrm>
            <a:off x="536870" y="3089739"/>
            <a:ext cx="2078087" cy="24104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태그"/>
          <p:cNvSpPr/>
          <p:nvPr/>
        </p:nvSpPr>
        <p:spPr>
          <a:xfrm>
            <a:off x="591652" y="3128087"/>
            <a:ext cx="292389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2" name="태그"/>
          <p:cNvSpPr>
            <a:spLocks noGrp="1"/>
          </p:cNvSpPr>
          <p:nvPr>
            <p:ph type="body" sz="quarter" idx="47"/>
          </p:nvPr>
        </p:nvSpPr>
        <p:spPr>
          <a:xfrm>
            <a:off x="591652" y="3128087"/>
            <a:ext cx="292389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7월</a:t>
            </a:r>
          </a:p>
        </p:txBody>
      </p:sp>
      <p:sp>
        <p:nvSpPr>
          <p:cNvPr id="73" name="머리 글"/>
          <p:cNvSpPr>
            <a:spLocks noGrp="1"/>
          </p:cNvSpPr>
          <p:nvPr>
            <p:ph type="body" sz="quarter" idx="48"/>
          </p:nvPr>
        </p:nvSpPr>
        <p:spPr>
          <a:xfrm>
            <a:off x="916911" y="3089739"/>
            <a:ext cx="1676132" cy="24104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국정기획위 보고</a:t>
            </a:r>
          </a:p>
        </p:txBody>
      </p:sp>
      <p:sp>
        <p:nvSpPr>
          <p:cNvPr id="74" name="본문"/>
          <p:cNvSpPr>
            <a:spLocks noGrp="1"/>
          </p:cNvSpPr>
          <p:nvPr>
            <p:ph type="body" sz="quarter" idx="49"/>
          </p:nvPr>
        </p:nvSpPr>
        <p:spPr>
          <a:xfrm>
            <a:off x="536870" y="3352696"/>
            <a:ext cx="2078087" cy="40539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주요사업 3개 국정과제화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물관리, 에너지 등</a:t>
            </a:r>
          </a:p>
        </p:txBody>
      </p:sp>
      <p:sp>
        <p:nvSpPr>
          <p:cNvPr id="75" name="머리"/>
          <p:cNvSpPr/>
          <p:nvPr/>
        </p:nvSpPr>
        <p:spPr>
          <a:xfrm>
            <a:off x="2636870" y="3089739"/>
            <a:ext cx="2078087" cy="24104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태그"/>
          <p:cNvSpPr/>
          <p:nvPr/>
        </p:nvSpPr>
        <p:spPr>
          <a:xfrm>
            <a:off x="2691652" y="3128087"/>
            <a:ext cx="301071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7" name="태그"/>
          <p:cNvSpPr>
            <a:spLocks noGrp="1"/>
          </p:cNvSpPr>
          <p:nvPr>
            <p:ph type="body" sz="quarter" idx="50"/>
          </p:nvPr>
        </p:nvSpPr>
        <p:spPr>
          <a:xfrm>
            <a:off x="2691652" y="3128087"/>
            <a:ext cx="301071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8월</a:t>
            </a:r>
          </a:p>
        </p:txBody>
      </p:sp>
      <p:sp>
        <p:nvSpPr>
          <p:cNvPr id="78" name="머리 글"/>
          <p:cNvSpPr>
            <a:spLocks noGrp="1"/>
          </p:cNvSpPr>
          <p:nvPr>
            <p:ph type="body" sz="quarter" idx="51"/>
          </p:nvPr>
        </p:nvSpPr>
        <p:spPr>
          <a:xfrm>
            <a:off x="3025593" y="3089739"/>
            <a:ext cx="1667450" cy="24104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국정운영계획 발표</a:t>
            </a:r>
          </a:p>
        </p:txBody>
      </p:sp>
      <p:sp>
        <p:nvSpPr>
          <p:cNvPr id="79" name="본문"/>
          <p:cNvSpPr>
            <a:spLocks noGrp="1"/>
          </p:cNvSpPr>
          <p:nvPr>
            <p:ph type="body" sz="quarter" idx="52"/>
          </p:nvPr>
        </p:nvSpPr>
        <p:spPr>
          <a:xfrm>
            <a:off x="2636870" y="3352696"/>
            <a:ext cx="2078087" cy="40539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사업·기능 14개 국정과제화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AI·재생e 지원 정책</a:t>
            </a:r>
          </a:p>
        </p:txBody>
      </p:sp>
      <p:cxnSp>
        <p:nvCxnSpPr>
          <p:cNvPr id="80" name="Connector 61"/>
          <p:cNvCxnSpPr/>
          <p:nvPr/>
        </p:nvCxnSpPr>
        <p:spPr>
          <a:xfrm>
            <a:off x="2625913" y="3374609"/>
            <a:ext cx="0" cy="3615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1" name="머리"/>
          <p:cNvSpPr/>
          <p:nvPr/>
        </p:nvSpPr>
        <p:spPr>
          <a:xfrm>
            <a:off x="4736870" y="3089739"/>
            <a:ext cx="2078087" cy="24104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태그"/>
          <p:cNvSpPr/>
          <p:nvPr/>
        </p:nvSpPr>
        <p:spPr>
          <a:xfrm>
            <a:off x="4791652" y="3128087"/>
            <a:ext cx="300946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3" name="태그"/>
          <p:cNvSpPr>
            <a:spLocks noGrp="1"/>
          </p:cNvSpPr>
          <p:nvPr>
            <p:ph type="body" sz="quarter" idx="53"/>
          </p:nvPr>
        </p:nvSpPr>
        <p:spPr>
          <a:xfrm>
            <a:off x="4791652" y="3128087"/>
            <a:ext cx="300946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9월</a:t>
            </a:r>
          </a:p>
        </p:txBody>
      </p:sp>
      <p:sp>
        <p:nvSpPr>
          <p:cNvPr id="84" name="머리 글"/>
          <p:cNvSpPr>
            <a:spLocks noGrp="1"/>
          </p:cNvSpPr>
          <p:nvPr>
            <p:ph type="body" sz="quarter" idx="54"/>
          </p:nvPr>
        </p:nvSpPr>
        <p:spPr>
          <a:xfrm>
            <a:off x="5125468" y="3089739"/>
            <a:ext cx="1667575" cy="24104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123대 국정과제 확정</a:t>
            </a:r>
          </a:p>
        </p:txBody>
      </p:sp>
      <p:sp>
        <p:nvSpPr>
          <p:cNvPr id="85" name="본문"/>
          <p:cNvSpPr>
            <a:spLocks noGrp="1"/>
          </p:cNvSpPr>
          <p:nvPr>
            <p:ph type="body" sz="quarter" idx="55"/>
          </p:nvPr>
        </p:nvSpPr>
        <p:spPr>
          <a:xfrm>
            <a:off x="4736870" y="3352696"/>
            <a:ext cx="2078087" cy="40539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추가 15개 국정과제화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성과 구체화 가능 과제 확장</a:t>
            </a:r>
          </a:p>
        </p:txBody>
      </p:sp>
      <p:cxnSp>
        <p:nvCxnSpPr>
          <p:cNvPr id="86" name="Connector 66"/>
          <p:cNvCxnSpPr/>
          <p:nvPr/>
        </p:nvCxnSpPr>
        <p:spPr>
          <a:xfrm>
            <a:off x="4725913" y="3374609"/>
            <a:ext cx="0" cy="3615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7" name="단계"/>
          <p:cNvSpPr/>
          <p:nvPr/>
        </p:nvSpPr>
        <p:spPr>
          <a:xfrm>
            <a:off x="1062783" y="3801913"/>
            <a:ext cx="287608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8" name="단계"/>
          <p:cNvSpPr>
            <a:spLocks noGrp="1"/>
          </p:cNvSpPr>
          <p:nvPr>
            <p:ph type="body" sz="quarter" idx="56"/>
          </p:nvPr>
        </p:nvSpPr>
        <p:spPr>
          <a:xfrm>
            <a:off x="1062783" y="3801913"/>
            <a:ext cx="287608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사업·기능 직접반영 과제(14개)</a:t>
            </a:r>
          </a:p>
        </p:txBody>
      </p:sp>
      <p:sp>
        <p:nvSpPr>
          <p:cNvPr id="89" name="단계"/>
          <p:cNvSpPr/>
          <p:nvPr/>
        </p:nvSpPr>
        <p:spPr>
          <a:xfrm>
            <a:off x="3938870" y="3801913"/>
            <a:ext cx="2898000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90" name="단계"/>
          <p:cNvSpPr>
            <a:spLocks noGrp="1"/>
          </p:cNvSpPr>
          <p:nvPr>
            <p:ph type="body" sz="quarter" idx="57"/>
          </p:nvPr>
        </p:nvSpPr>
        <p:spPr>
          <a:xfrm>
            <a:off x="3938870" y="3801913"/>
            <a:ext cx="2898000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국민·기업·지역체감 확장반영 과제(15개)</a:t>
            </a:r>
          </a:p>
        </p:txBody>
      </p:sp>
      <p:sp>
        <p:nvSpPr>
          <p:cNvPr id="91" name="단계 삼각형"/>
          <p:cNvSpPr/>
          <p:nvPr/>
        </p:nvSpPr>
        <p:spPr>
          <a:xfrm>
            <a:off x="3938869" y="380191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행 틀"/>
          <p:cNvSpPr/>
          <p:nvPr/>
        </p:nvSpPr>
        <p:spPr>
          <a:xfrm>
            <a:off x="536870" y="4053913"/>
            <a:ext cx="6300000" cy="405391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레일"/>
          <p:cNvSpPr/>
          <p:nvPr/>
        </p:nvSpPr>
        <p:spPr>
          <a:xfrm>
            <a:off x="547826" y="4064870"/>
            <a:ext cx="493043" cy="383478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4" name="레일"/>
          <p:cNvSpPr>
            <a:spLocks noGrp="1"/>
          </p:cNvSpPr>
          <p:nvPr>
            <p:ph type="body" sz="quarter" idx="58"/>
          </p:nvPr>
        </p:nvSpPr>
        <p:spPr>
          <a:xfrm>
            <a:off x="547826" y="4064870"/>
            <a:ext cx="493043" cy="38347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수자원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</a:t>
            </a:r>
          </a:p>
        </p:txBody>
      </p:sp>
      <p:sp>
        <p:nvSpPr>
          <p:cNvPr id="95" name="번호 칩"/>
          <p:cNvSpPr/>
          <p:nvPr/>
        </p:nvSpPr>
        <p:spPr>
          <a:xfrm>
            <a:off x="1084696" y="4103217"/>
            <a:ext cx="224827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96" name="번호 칩"/>
          <p:cNvSpPr>
            <a:spLocks noGrp="1"/>
          </p:cNvSpPr>
          <p:nvPr>
            <p:ph type="body" sz="quarter" idx="59"/>
          </p:nvPr>
        </p:nvSpPr>
        <p:spPr>
          <a:xfrm>
            <a:off x="1084696" y="4103217"/>
            <a:ext cx="224827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43</a:t>
            </a:r>
          </a:p>
        </p:txBody>
      </p:sp>
      <p:sp>
        <p:nvSpPr>
          <p:cNvPr id="97" name="과제명"/>
          <p:cNvSpPr>
            <a:spLocks noGrp="1"/>
          </p:cNvSpPr>
          <p:nvPr>
            <p:ph type="body" sz="quarter" idx="60"/>
          </p:nvPr>
        </p:nvSpPr>
        <p:spPr>
          <a:xfrm>
            <a:off x="1342392" y="4086783"/>
            <a:ext cx="2574564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댐 안전성 강화</a:t>
            </a:r>
          </a:p>
        </p:txBody>
      </p:sp>
      <p:sp>
        <p:nvSpPr>
          <p:cNvPr id="98" name="번호 칩"/>
          <p:cNvSpPr/>
          <p:nvPr/>
        </p:nvSpPr>
        <p:spPr>
          <a:xfrm>
            <a:off x="1084696" y="4273043"/>
            <a:ext cx="213554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99" name="번호 칩"/>
          <p:cNvSpPr>
            <a:spLocks noGrp="1"/>
          </p:cNvSpPr>
          <p:nvPr>
            <p:ph type="body" sz="quarter" idx="61"/>
          </p:nvPr>
        </p:nvSpPr>
        <p:spPr>
          <a:xfrm>
            <a:off x="1084696" y="4273043"/>
            <a:ext cx="213554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73</a:t>
            </a:r>
          </a:p>
        </p:txBody>
      </p:sp>
      <p:sp>
        <p:nvSpPr>
          <p:cNvPr id="100" name="과제명"/>
          <p:cNvSpPr>
            <a:spLocks noGrp="1"/>
          </p:cNvSpPr>
          <p:nvPr>
            <p:ph type="body" sz="quarter" idx="62"/>
          </p:nvPr>
        </p:nvSpPr>
        <p:spPr>
          <a:xfrm>
            <a:off x="1331119" y="4256609"/>
            <a:ext cx="2585838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워터그리드</a:t>
            </a:r>
          </a:p>
        </p:txBody>
      </p:sp>
      <p:sp>
        <p:nvSpPr>
          <p:cNvPr id="101" name="번호 칩"/>
          <p:cNvSpPr/>
          <p:nvPr/>
        </p:nvSpPr>
        <p:spPr>
          <a:xfrm>
            <a:off x="3960783" y="4103217"/>
            <a:ext cx="221591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02" name="번호 칩"/>
          <p:cNvSpPr>
            <a:spLocks noGrp="1"/>
          </p:cNvSpPr>
          <p:nvPr>
            <p:ph type="body" sz="quarter" idx="63"/>
          </p:nvPr>
        </p:nvSpPr>
        <p:spPr>
          <a:xfrm>
            <a:off x="3960783" y="4103217"/>
            <a:ext cx="221591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42</a:t>
            </a:r>
          </a:p>
        </p:txBody>
      </p:sp>
      <p:sp>
        <p:nvSpPr>
          <p:cNvPr id="103" name="과제명"/>
          <p:cNvSpPr>
            <a:spLocks noGrp="1"/>
          </p:cNvSpPr>
          <p:nvPr>
            <p:ph type="body" sz="quarter" idx="64"/>
          </p:nvPr>
        </p:nvSpPr>
        <p:spPr>
          <a:xfrm>
            <a:off x="4215243" y="4086783"/>
            <a:ext cx="2577801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활성탄 자원순환</a:t>
            </a:r>
          </a:p>
        </p:txBody>
      </p:sp>
      <p:sp>
        <p:nvSpPr>
          <p:cNvPr id="104" name="번호 칩"/>
          <p:cNvSpPr/>
          <p:nvPr/>
        </p:nvSpPr>
        <p:spPr>
          <a:xfrm>
            <a:off x="3960783" y="4273043"/>
            <a:ext cx="226949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05" name="번호 칩"/>
          <p:cNvSpPr>
            <a:spLocks noGrp="1"/>
          </p:cNvSpPr>
          <p:nvPr>
            <p:ph type="body" sz="quarter" idx="65"/>
          </p:nvPr>
        </p:nvSpPr>
        <p:spPr>
          <a:xfrm>
            <a:off x="3960783" y="4273043"/>
            <a:ext cx="226949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44</a:t>
            </a:r>
          </a:p>
        </p:txBody>
      </p:sp>
      <p:sp>
        <p:nvSpPr>
          <p:cNvPr id="106" name="과제명"/>
          <p:cNvSpPr>
            <a:spLocks noGrp="1"/>
          </p:cNvSpPr>
          <p:nvPr>
            <p:ph type="body" sz="quarter" idx="66"/>
          </p:nvPr>
        </p:nvSpPr>
        <p:spPr>
          <a:xfrm>
            <a:off x="4220601" y="4256609"/>
            <a:ext cx="2572442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물환경 DT, 녹조 대응</a:t>
            </a:r>
          </a:p>
        </p:txBody>
      </p:sp>
      <p:cxnSp>
        <p:nvCxnSpPr>
          <p:cNvPr id="107" name="Connector 80"/>
          <p:cNvCxnSpPr/>
          <p:nvPr/>
        </p:nvCxnSpPr>
        <p:spPr>
          <a:xfrm>
            <a:off x="3927913" y="4075826"/>
            <a:ext cx="0" cy="361565"/>
          </a:xfrm>
          <a:prstGeom prst="line">
            <a:avLst/>
          </a:prstGeom>
          <a:ln w="9525">
            <a:solidFill>
              <a:srgbClr val="30C2FF"/>
            </a:solidFill>
          </a:ln>
        </p:spPr>
      </p:cxnSp>
      <p:sp>
        <p:nvSpPr>
          <p:cNvPr id="108" name="행 틀"/>
          <p:cNvSpPr/>
          <p:nvPr/>
        </p:nvSpPr>
        <p:spPr>
          <a:xfrm>
            <a:off x="536870" y="4459304"/>
            <a:ext cx="6300000" cy="405391"/>
          </a:xfrm>
          <a:prstGeom prst="rect">
            <a:avLst/>
          </a:prstGeom>
          <a:solidFill>
            <a:srgbClr val="EFF9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레일"/>
          <p:cNvSpPr/>
          <p:nvPr/>
        </p:nvSpPr>
        <p:spPr>
          <a:xfrm>
            <a:off x="547826" y="4470261"/>
            <a:ext cx="493043" cy="383478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0" name="레일"/>
          <p:cNvSpPr>
            <a:spLocks noGrp="1"/>
          </p:cNvSpPr>
          <p:nvPr>
            <p:ph type="body" sz="quarter" idx="67"/>
          </p:nvPr>
        </p:nvSpPr>
        <p:spPr>
          <a:xfrm>
            <a:off x="547826" y="4470261"/>
            <a:ext cx="493043" cy="38347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 도</a:t>
            </a:r>
          </a:p>
        </p:txBody>
      </p:sp>
      <p:sp>
        <p:nvSpPr>
          <p:cNvPr id="111" name="번호 칩"/>
          <p:cNvSpPr/>
          <p:nvPr/>
        </p:nvSpPr>
        <p:spPr>
          <a:xfrm>
            <a:off x="1084696" y="4508609"/>
            <a:ext cx="200046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12" name="번호 칩"/>
          <p:cNvSpPr>
            <a:spLocks noGrp="1"/>
          </p:cNvSpPr>
          <p:nvPr>
            <p:ph type="body" sz="quarter" idx="68"/>
          </p:nvPr>
        </p:nvSpPr>
        <p:spPr>
          <a:xfrm>
            <a:off x="1084696" y="4508609"/>
            <a:ext cx="200046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21</a:t>
            </a:r>
          </a:p>
        </p:txBody>
      </p:sp>
      <p:sp>
        <p:nvSpPr>
          <p:cNvPr id="113" name="과제명"/>
          <p:cNvSpPr>
            <a:spLocks noGrp="1"/>
          </p:cNvSpPr>
          <p:nvPr>
            <p:ph type="body" sz="quarter" idx="69"/>
          </p:nvPr>
        </p:nvSpPr>
        <p:spPr>
          <a:xfrm>
            <a:off x="1317611" y="4492174"/>
            <a:ext cx="2599346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정수장</a:t>
            </a:r>
          </a:p>
        </p:txBody>
      </p:sp>
      <p:sp>
        <p:nvSpPr>
          <p:cNvPr id="114" name="번호 칩"/>
          <p:cNvSpPr/>
          <p:nvPr/>
        </p:nvSpPr>
        <p:spPr>
          <a:xfrm>
            <a:off x="1084696" y="4678435"/>
            <a:ext cx="212214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15" name="번호 칩"/>
          <p:cNvSpPr>
            <a:spLocks noGrp="1"/>
          </p:cNvSpPr>
          <p:nvPr>
            <p:ph type="body" sz="quarter" idx="70"/>
          </p:nvPr>
        </p:nvSpPr>
        <p:spPr>
          <a:xfrm>
            <a:off x="1084696" y="4678435"/>
            <a:ext cx="212214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72</a:t>
            </a:r>
          </a:p>
        </p:txBody>
      </p:sp>
      <p:sp>
        <p:nvSpPr>
          <p:cNvPr id="116" name="과제명"/>
          <p:cNvSpPr>
            <a:spLocks noGrp="1"/>
          </p:cNvSpPr>
          <p:nvPr>
            <p:ph type="body" sz="quarter" idx="71"/>
          </p:nvPr>
        </p:nvSpPr>
        <p:spPr>
          <a:xfrm>
            <a:off x="1329779" y="4662000"/>
            <a:ext cx="2587177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노후 상수도관 정비</a:t>
            </a:r>
          </a:p>
        </p:txBody>
      </p:sp>
      <p:sp>
        <p:nvSpPr>
          <p:cNvPr id="117" name="번호 칩"/>
          <p:cNvSpPr/>
          <p:nvPr/>
        </p:nvSpPr>
        <p:spPr>
          <a:xfrm>
            <a:off x="3960783" y="4508609"/>
            <a:ext cx="225161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18" name="번호 칩"/>
          <p:cNvSpPr>
            <a:spLocks noGrp="1"/>
          </p:cNvSpPr>
          <p:nvPr>
            <p:ph type="body" sz="quarter" idx="72"/>
          </p:nvPr>
        </p:nvSpPr>
        <p:spPr>
          <a:xfrm>
            <a:off x="3960783" y="4508609"/>
            <a:ext cx="225161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30</a:t>
            </a:r>
          </a:p>
        </p:txBody>
      </p:sp>
      <p:sp>
        <p:nvSpPr>
          <p:cNvPr id="119" name="과제명"/>
          <p:cNvSpPr>
            <a:spLocks noGrp="1"/>
          </p:cNvSpPr>
          <p:nvPr>
            <p:ph type="body" sz="quarter" idx="73"/>
          </p:nvPr>
        </p:nvSpPr>
        <p:spPr>
          <a:xfrm>
            <a:off x="4218813" y="4492174"/>
            <a:ext cx="2574230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초순수 운영관리, 기술 국산화</a:t>
            </a:r>
          </a:p>
        </p:txBody>
      </p:sp>
      <p:sp>
        <p:nvSpPr>
          <p:cNvPr id="120" name="번호 칩"/>
          <p:cNvSpPr/>
          <p:nvPr/>
        </p:nvSpPr>
        <p:spPr>
          <a:xfrm>
            <a:off x="3960783" y="4678435"/>
            <a:ext cx="212214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21" name="번호 칩"/>
          <p:cNvSpPr>
            <a:spLocks noGrp="1"/>
          </p:cNvSpPr>
          <p:nvPr>
            <p:ph type="body" sz="quarter" idx="74"/>
          </p:nvPr>
        </p:nvSpPr>
        <p:spPr>
          <a:xfrm>
            <a:off x="3960783" y="4678435"/>
            <a:ext cx="212214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72</a:t>
            </a:r>
          </a:p>
        </p:txBody>
      </p:sp>
      <p:sp>
        <p:nvSpPr>
          <p:cNvPr id="122" name="과제명"/>
          <p:cNvSpPr>
            <a:spLocks noGrp="1"/>
          </p:cNvSpPr>
          <p:nvPr>
            <p:ph type="body" sz="quarter" idx="75"/>
          </p:nvPr>
        </p:nvSpPr>
        <p:spPr>
          <a:xfrm>
            <a:off x="4205866" y="4662000"/>
            <a:ext cx="2587177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광역 복선화 및 노후관 개량</a:t>
            </a:r>
          </a:p>
        </p:txBody>
      </p:sp>
      <p:cxnSp>
        <p:nvCxnSpPr>
          <p:cNvPr id="123" name="Connector 91"/>
          <p:cNvCxnSpPr/>
          <p:nvPr/>
        </p:nvCxnSpPr>
        <p:spPr>
          <a:xfrm>
            <a:off x="3927913" y="4481217"/>
            <a:ext cx="0" cy="361566"/>
          </a:xfrm>
          <a:prstGeom prst="line">
            <a:avLst/>
          </a:prstGeom>
          <a:ln w="9525">
            <a:solidFill>
              <a:srgbClr val="30C2FF"/>
            </a:solidFill>
          </a:ln>
        </p:spPr>
      </p:cxnSp>
      <p:sp>
        <p:nvSpPr>
          <p:cNvPr id="124" name="행 틀"/>
          <p:cNvSpPr/>
          <p:nvPr/>
        </p:nvSpPr>
        <p:spPr>
          <a:xfrm>
            <a:off x="536870" y="4864696"/>
            <a:ext cx="6300000" cy="405391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5" name="레일"/>
          <p:cNvSpPr/>
          <p:nvPr/>
        </p:nvSpPr>
        <p:spPr>
          <a:xfrm>
            <a:off x="547826" y="4875652"/>
            <a:ext cx="493043" cy="383478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6" name="레일"/>
          <p:cNvSpPr>
            <a:spLocks noGrp="1"/>
          </p:cNvSpPr>
          <p:nvPr>
            <p:ph type="body" sz="quarter" idx="76"/>
          </p:nvPr>
        </p:nvSpPr>
        <p:spPr>
          <a:xfrm>
            <a:off x="547826" y="4875652"/>
            <a:ext cx="493043" cy="38347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에너지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도 시</a:t>
            </a:r>
          </a:p>
        </p:txBody>
      </p:sp>
      <p:sp>
        <p:nvSpPr>
          <p:cNvPr id="127" name="번호 칩"/>
          <p:cNvSpPr/>
          <p:nvPr/>
        </p:nvSpPr>
        <p:spPr>
          <a:xfrm>
            <a:off x="1084696" y="4914000"/>
            <a:ext cx="223152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28" name="번호 칩"/>
          <p:cNvSpPr>
            <a:spLocks noGrp="1"/>
          </p:cNvSpPr>
          <p:nvPr>
            <p:ph type="body" sz="quarter" idx="77"/>
          </p:nvPr>
        </p:nvSpPr>
        <p:spPr>
          <a:xfrm>
            <a:off x="1084696" y="4914000"/>
            <a:ext cx="223152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39</a:t>
            </a:r>
          </a:p>
        </p:txBody>
      </p:sp>
      <p:sp>
        <p:nvSpPr>
          <p:cNvPr id="129" name="과제명"/>
          <p:cNvSpPr>
            <a:spLocks noGrp="1"/>
          </p:cNvSpPr>
          <p:nvPr>
            <p:ph type="body" sz="quarter" idx="78"/>
          </p:nvPr>
        </p:nvSpPr>
        <p:spPr>
          <a:xfrm>
            <a:off x="1340717" y="4897565"/>
            <a:ext cx="2576240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태양광 확대</a:t>
            </a:r>
          </a:p>
        </p:txBody>
      </p:sp>
      <p:sp>
        <p:nvSpPr>
          <p:cNvPr id="130" name="번호 칩"/>
          <p:cNvSpPr/>
          <p:nvPr/>
        </p:nvSpPr>
        <p:spPr>
          <a:xfrm>
            <a:off x="1084696" y="5083826"/>
            <a:ext cx="227283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31" name="번호 칩"/>
          <p:cNvSpPr>
            <a:spLocks noGrp="1"/>
          </p:cNvSpPr>
          <p:nvPr>
            <p:ph type="body" sz="quarter" idx="79"/>
          </p:nvPr>
        </p:nvSpPr>
        <p:spPr>
          <a:xfrm>
            <a:off x="1084696" y="5083826"/>
            <a:ext cx="227283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40</a:t>
            </a:r>
          </a:p>
        </p:txBody>
      </p:sp>
      <p:sp>
        <p:nvSpPr>
          <p:cNvPr id="132" name="과제명"/>
          <p:cNvSpPr>
            <a:spLocks noGrp="1"/>
          </p:cNvSpPr>
          <p:nvPr>
            <p:ph type="body" sz="quarter" idx="80"/>
          </p:nvPr>
        </p:nvSpPr>
        <p:spPr>
          <a:xfrm>
            <a:off x="1344848" y="5067391"/>
            <a:ext cx="2572108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탄소중립도시</a:t>
            </a:r>
          </a:p>
        </p:txBody>
      </p:sp>
      <p:sp>
        <p:nvSpPr>
          <p:cNvPr id="133" name="번호 칩"/>
          <p:cNvSpPr/>
          <p:nvPr/>
        </p:nvSpPr>
        <p:spPr>
          <a:xfrm>
            <a:off x="3960783" y="4914000"/>
            <a:ext cx="203282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34" name="번호 칩"/>
          <p:cNvSpPr>
            <a:spLocks noGrp="1"/>
          </p:cNvSpPr>
          <p:nvPr>
            <p:ph type="body" sz="quarter" idx="81"/>
          </p:nvPr>
        </p:nvSpPr>
        <p:spPr>
          <a:xfrm>
            <a:off x="3960783" y="4914000"/>
            <a:ext cx="203282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31</a:t>
            </a:r>
          </a:p>
        </p:txBody>
      </p:sp>
      <p:sp>
        <p:nvSpPr>
          <p:cNvPr id="135" name="과제명"/>
          <p:cNvSpPr>
            <a:spLocks noGrp="1"/>
          </p:cNvSpPr>
          <p:nvPr>
            <p:ph type="body" sz="quarter" idx="82"/>
          </p:nvPr>
        </p:nvSpPr>
        <p:spPr>
          <a:xfrm>
            <a:off x="4196934" y="4897565"/>
            <a:ext cx="2596109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‘AI시티’ 실증</a:t>
            </a:r>
          </a:p>
        </p:txBody>
      </p:sp>
      <p:sp>
        <p:nvSpPr>
          <p:cNvPr id="136" name="번호 칩"/>
          <p:cNvSpPr/>
          <p:nvPr/>
        </p:nvSpPr>
        <p:spPr>
          <a:xfrm>
            <a:off x="3960783" y="5083826"/>
            <a:ext cx="391599" cy="13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51BC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37" name="번호 칩"/>
          <p:cNvSpPr>
            <a:spLocks noGrp="1"/>
          </p:cNvSpPr>
          <p:nvPr>
            <p:ph type="body" sz="quarter" idx="83"/>
          </p:nvPr>
        </p:nvSpPr>
        <p:spPr>
          <a:xfrm>
            <a:off x="3960783" y="5083826"/>
            <a:ext cx="391599" cy="13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39·70</a:t>
            </a:r>
          </a:p>
        </p:txBody>
      </p:sp>
      <p:sp>
        <p:nvSpPr>
          <p:cNvPr id="138" name="과제명"/>
          <p:cNvSpPr>
            <a:spLocks noGrp="1"/>
          </p:cNvSpPr>
          <p:nvPr>
            <p:ph type="body" sz="quarter" idx="84"/>
          </p:nvPr>
        </p:nvSpPr>
        <p:spPr>
          <a:xfrm>
            <a:off x="4385252" y="5067391"/>
            <a:ext cx="2407792" cy="169826"/>
          </a:xfrm>
          <a:prstGeom prst="rect">
            <a:avLst/>
          </a:prstGeom>
          <a:noFill/>
          <a:ln>
            <a:noFill/>
          </a:ln>
        </p:spPr>
        <p:txBody>
          <a:bodyPr wrap="square" lIns="7200" tIns="0" rIns="72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주민 이익공유형 에너지사업</a:t>
            </a:r>
          </a:p>
        </p:txBody>
      </p:sp>
      <p:cxnSp>
        <p:nvCxnSpPr>
          <p:cNvPr id="139" name="Connector 102"/>
          <p:cNvCxnSpPr/>
          <p:nvPr/>
        </p:nvCxnSpPr>
        <p:spPr>
          <a:xfrm>
            <a:off x="3927913" y="4886609"/>
            <a:ext cx="0" cy="361565"/>
          </a:xfrm>
          <a:prstGeom prst="line">
            <a:avLst/>
          </a:prstGeom>
          <a:ln w="9525">
            <a:solidFill>
              <a:srgbClr val="30C2FF"/>
            </a:solidFill>
          </a:ln>
        </p:spPr>
      </p:cxnSp>
      <p:sp>
        <p:nvSpPr>
          <p:cNvPr id="140" name="배너"/>
          <p:cNvSpPr/>
          <p:nvPr/>
        </p:nvSpPr>
        <p:spPr>
          <a:xfrm>
            <a:off x="536869" y="5313913"/>
            <a:ext cx="6300000" cy="273913"/>
          </a:xfrm>
          <a:custGeom>
            <a:avLst/>
            <a:gdLst/>
            <a:ahLst/>
            <a:cxnLst/>
            <a:rect l="l" t="t" r="r" b="b"/>
            <a:pathLst>
              <a:path w="6300000" h="273913">
                <a:moveTo>
                  <a:pt x="0" y="0"/>
                </a:moveTo>
                <a:lnTo>
                  <a:pt x="6300000" y="0"/>
                </a:lnTo>
                <a:lnTo>
                  <a:pt x="6234261" y="273913"/>
                </a:lnTo>
                <a:lnTo>
                  <a:pt x="65739" y="273913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태그"/>
          <p:cNvSpPr/>
          <p:nvPr/>
        </p:nvSpPr>
        <p:spPr>
          <a:xfrm>
            <a:off x="756000" y="5368696"/>
            <a:ext cx="577911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42" name="태그"/>
          <p:cNvSpPr>
            <a:spLocks noGrp="1"/>
          </p:cNvSpPr>
          <p:nvPr>
            <p:ph type="body" sz="quarter" idx="85"/>
          </p:nvPr>
        </p:nvSpPr>
        <p:spPr>
          <a:xfrm>
            <a:off x="756000" y="5368696"/>
            <a:ext cx="577911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방향 설정</a:t>
            </a:r>
          </a:p>
        </p:txBody>
      </p:sp>
      <p:sp>
        <p:nvSpPr>
          <p:cNvPr id="143" name="배너 글"/>
          <p:cNvSpPr>
            <a:spLocks noGrp="1"/>
          </p:cNvSpPr>
          <p:nvPr>
            <p:ph type="body" sz="quarter" idx="86"/>
          </p:nvPr>
        </p:nvSpPr>
        <p:spPr>
          <a:xfrm>
            <a:off x="1388694" y="5313913"/>
            <a:ext cx="5283828" cy="27391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확정된 국정목표·과제 분석을 통한 ‘국정기조’ 도출로 미래 방향성 구체화</a:t>
            </a:r>
          </a:p>
        </p:txBody>
      </p:sp>
      <p:sp>
        <p:nvSpPr>
          <p:cNvPr id="144" name="머리"/>
          <p:cNvSpPr/>
          <p:nvPr/>
        </p:nvSpPr>
        <p:spPr>
          <a:xfrm>
            <a:off x="536870" y="5631652"/>
            <a:ext cx="3117130" cy="241043"/>
          </a:xfrm>
          <a:prstGeom prst="rect">
            <a:avLst/>
          </a:pr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5" name="태그"/>
          <p:cNvSpPr/>
          <p:nvPr/>
        </p:nvSpPr>
        <p:spPr>
          <a:xfrm>
            <a:off x="580696" y="5670000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46" name="태그"/>
          <p:cNvSpPr>
            <a:spLocks noGrp="1"/>
          </p:cNvSpPr>
          <p:nvPr>
            <p:ph type="body" sz="quarter" idx="87"/>
          </p:nvPr>
        </p:nvSpPr>
        <p:spPr>
          <a:xfrm>
            <a:off x="580696" y="5670000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사업</a:t>
            </a:r>
          </a:p>
        </p:txBody>
      </p:sp>
      <p:sp>
        <p:nvSpPr>
          <p:cNvPr id="147" name="머리 글"/>
          <p:cNvSpPr>
            <a:spLocks noGrp="1"/>
          </p:cNvSpPr>
          <p:nvPr>
            <p:ph type="body" sz="quarter" idx="88"/>
          </p:nvPr>
        </p:nvSpPr>
        <p:spPr>
          <a:xfrm>
            <a:off x="942668" y="5631652"/>
            <a:ext cx="2601767" cy="24104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추진사업 재구성 방향</a:t>
            </a:r>
          </a:p>
        </p:txBody>
      </p:sp>
      <p:sp>
        <p:nvSpPr>
          <p:cNvPr id="148" name="삼각 화살표"/>
          <p:cNvSpPr/>
          <p:nvPr/>
        </p:nvSpPr>
        <p:spPr>
          <a:xfrm>
            <a:off x="3560869" y="5686434"/>
            <a:ext cx="76696" cy="131479"/>
          </a:xfrm>
          <a:custGeom>
            <a:avLst/>
            <a:gdLst/>
            <a:ahLst/>
            <a:cxnLst/>
            <a:rect l="l" t="t" r="r" b="b"/>
            <a:pathLst>
              <a:path w="76696" h="131479">
                <a:moveTo>
                  <a:pt x="0" y="0"/>
                </a:moveTo>
                <a:lnTo>
                  <a:pt x="0" y="131479"/>
                </a:lnTo>
                <a:lnTo>
                  <a:pt x="76696" y="65739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알약 칸"/>
          <p:cNvSpPr/>
          <p:nvPr/>
        </p:nvSpPr>
        <p:spPr>
          <a:xfrm>
            <a:off x="536870" y="5927478"/>
            <a:ext cx="1402709" cy="29582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50" name="알약 칸"/>
          <p:cNvSpPr>
            <a:spLocks noGrp="1"/>
          </p:cNvSpPr>
          <p:nvPr>
            <p:ph type="body" sz="quarter" idx="89"/>
          </p:nvPr>
        </p:nvSpPr>
        <p:spPr>
          <a:xfrm>
            <a:off x="536870" y="5927478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 최우선 일터</a:t>
            </a:r>
          </a:p>
        </p:txBody>
      </p:sp>
      <p:cxnSp>
        <p:nvCxnSpPr>
          <p:cNvPr id="151" name="Connector 111"/>
          <p:cNvCxnSpPr/>
          <p:nvPr/>
        </p:nvCxnSpPr>
        <p:spPr>
          <a:xfrm>
            <a:off x="1939578" y="6075391"/>
            <a:ext cx="311713" cy="0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152" name="연결 점"/>
          <p:cNvSpPr/>
          <p:nvPr/>
        </p:nvSpPr>
        <p:spPr>
          <a:xfrm>
            <a:off x="1917665" y="6053478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" name="상자"/>
          <p:cNvSpPr/>
          <p:nvPr/>
        </p:nvSpPr>
        <p:spPr>
          <a:xfrm>
            <a:off x="2251291" y="5927478"/>
            <a:ext cx="1402709" cy="295826"/>
          </a:xfrm>
          <a:prstGeom prst="rect">
            <a:avLst/>
          </a:prstGeom>
          <a:solidFill>
            <a:srgbClr val="FFFFFF"/>
          </a:solidFill>
          <a:ln w="15875">
            <a:solidFill>
              <a:srgbClr val="0051BC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54" name="상자"/>
          <p:cNvSpPr>
            <a:spLocks noGrp="1"/>
          </p:cNvSpPr>
          <p:nvPr>
            <p:ph type="body" sz="quarter" idx="90"/>
          </p:nvPr>
        </p:nvSpPr>
        <p:spPr>
          <a:xfrm>
            <a:off x="2251291" y="5927478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안전경영</a:t>
            </a:r>
          </a:p>
        </p:txBody>
      </p:sp>
      <p:sp>
        <p:nvSpPr>
          <p:cNvPr id="155" name="알약 칸"/>
          <p:cNvSpPr/>
          <p:nvPr/>
        </p:nvSpPr>
        <p:spPr>
          <a:xfrm>
            <a:off x="536870" y="6267130"/>
            <a:ext cx="1402709" cy="29582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56" name="알약 칸"/>
          <p:cNvSpPr>
            <a:spLocks noGrp="1"/>
          </p:cNvSpPr>
          <p:nvPr>
            <p:ph type="body" sz="quarter" idx="91"/>
          </p:nvPr>
        </p:nvSpPr>
        <p:spPr>
          <a:xfrm>
            <a:off x="536870" y="6267130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3대 강국 도약</a:t>
            </a:r>
          </a:p>
        </p:txBody>
      </p:sp>
      <p:cxnSp>
        <p:nvCxnSpPr>
          <p:cNvPr id="157" name="Connector 115"/>
          <p:cNvCxnSpPr/>
          <p:nvPr/>
        </p:nvCxnSpPr>
        <p:spPr>
          <a:xfrm>
            <a:off x="1939578" y="6415043"/>
            <a:ext cx="311713" cy="0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158" name="연결 점"/>
          <p:cNvSpPr/>
          <p:nvPr/>
        </p:nvSpPr>
        <p:spPr>
          <a:xfrm>
            <a:off x="1917665" y="6393130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9" name="상자"/>
          <p:cNvSpPr/>
          <p:nvPr/>
        </p:nvSpPr>
        <p:spPr>
          <a:xfrm>
            <a:off x="2251291" y="6267130"/>
            <a:ext cx="1402709" cy="295826"/>
          </a:xfrm>
          <a:prstGeom prst="rect">
            <a:avLst/>
          </a:prstGeom>
          <a:solidFill>
            <a:srgbClr val="FFFFFF"/>
          </a:solidFill>
          <a:ln w="15875">
            <a:solidFill>
              <a:srgbClr val="0051BC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60" name="상자"/>
          <p:cNvSpPr>
            <a:spLocks noGrp="1"/>
          </p:cNvSpPr>
          <p:nvPr>
            <p:ph type="body" sz="quarter" idx="92"/>
          </p:nvPr>
        </p:nvSpPr>
        <p:spPr>
          <a:xfrm>
            <a:off x="2251291" y="6267130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AI전환</a:t>
            </a:r>
          </a:p>
        </p:txBody>
      </p:sp>
      <p:sp>
        <p:nvSpPr>
          <p:cNvPr id="161" name="알약 칸"/>
          <p:cNvSpPr/>
          <p:nvPr/>
        </p:nvSpPr>
        <p:spPr>
          <a:xfrm>
            <a:off x="536870" y="6606783"/>
            <a:ext cx="1402709" cy="29582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62" name="알약 칸"/>
          <p:cNvSpPr>
            <a:spLocks noGrp="1"/>
          </p:cNvSpPr>
          <p:nvPr>
            <p:ph type="body" sz="quarter" idx="93"/>
          </p:nvPr>
        </p:nvSpPr>
        <p:spPr>
          <a:xfrm>
            <a:off x="536870" y="6606783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물관리 기본 책무 충실</a:t>
            </a:r>
          </a:p>
        </p:txBody>
      </p:sp>
      <p:cxnSp>
        <p:nvCxnSpPr>
          <p:cNvPr id="163" name="Connector 119"/>
          <p:cNvCxnSpPr/>
          <p:nvPr/>
        </p:nvCxnSpPr>
        <p:spPr>
          <a:xfrm>
            <a:off x="1939578" y="6754696"/>
            <a:ext cx="311713" cy="0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164" name="연결 점"/>
          <p:cNvSpPr/>
          <p:nvPr/>
        </p:nvSpPr>
        <p:spPr>
          <a:xfrm>
            <a:off x="1917665" y="6732783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5" name="상자"/>
          <p:cNvSpPr/>
          <p:nvPr/>
        </p:nvSpPr>
        <p:spPr>
          <a:xfrm>
            <a:off x="2251291" y="6606783"/>
            <a:ext cx="1402709" cy="295826"/>
          </a:xfrm>
          <a:prstGeom prst="rect">
            <a:avLst/>
          </a:prstGeom>
          <a:solidFill>
            <a:srgbClr val="FFFFFF"/>
          </a:solidFill>
          <a:ln w="15875">
            <a:solidFill>
              <a:srgbClr val="0051BC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66" name="상자"/>
          <p:cNvSpPr>
            <a:spLocks noGrp="1"/>
          </p:cNvSpPr>
          <p:nvPr>
            <p:ph type="body" sz="quarter" idx="94"/>
          </p:nvPr>
        </p:nvSpPr>
        <p:spPr>
          <a:xfrm>
            <a:off x="2251291" y="6606783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물관리 강화</a:t>
            </a:r>
          </a:p>
        </p:txBody>
      </p:sp>
      <p:sp>
        <p:nvSpPr>
          <p:cNvPr id="167" name="머리"/>
          <p:cNvSpPr/>
          <p:nvPr/>
        </p:nvSpPr>
        <p:spPr>
          <a:xfrm>
            <a:off x="3719739" y="5631652"/>
            <a:ext cx="3117130" cy="241043"/>
          </a:xfrm>
          <a:prstGeom prst="rect">
            <a:avLst/>
          </a:pr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8" name="태그"/>
          <p:cNvSpPr/>
          <p:nvPr/>
        </p:nvSpPr>
        <p:spPr>
          <a:xfrm>
            <a:off x="3763565" y="5670000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69" name="태그"/>
          <p:cNvSpPr>
            <a:spLocks noGrp="1"/>
          </p:cNvSpPr>
          <p:nvPr>
            <p:ph type="body" sz="quarter" idx="95"/>
          </p:nvPr>
        </p:nvSpPr>
        <p:spPr>
          <a:xfrm>
            <a:off x="3763565" y="5670000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기능</a:t>
            </a:r>
          </a:p>
        </p:txBody>
      </p:sp>
      <p:sp>
        <p:nvSpPr>
          <p:cNvPr id="170" name="머리 글"/>
          <p:cNvSpPr>
            <a:spLocks noGrp="1"/>
          </p:cNvSpPr>
          <p:nvPr>
            <p:ph type="body" sz="quarter" idx="96"/>
          </p:nvPr>
        </p:nvSpPr>
        <p:spPr>
          <a:xfrm>
            <a:off x="4125537" y="5631652"/>
            <a:ext cx="2601767" cy="24104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경영체계 고도화 방향</a:t>
            </a:r>
          </a:p>
        </p:txBody>
      </p:sp>
      <p:sp>
        <p:nvSpPr>
          <p:cNvPr id="171" name="삼각 화살표"/>
          <p:cNvSpPr/>
          <p:nvPr/>
        </p:nvSpPr>
        <p:spPr>
          <a:xfrm>
            <a:off x="6743739" y="5686434"/>
            <a:ext cx="76695" cy="131479"/>
          </a:xfrm>
          <a:custGeom>
            <a:avLst/>
            <a:gdLst/>
            <a:ahLst/>
            <a:cxnLst/>
            <a:rect l="l" t="t" r="r" b="b"/>
            <a:pathLst>
              <a:path w="76695" h="131479">
                <a:moveTo>
                  <a:pt x="0" y="0"/>
                </a:moveTo>
                <a:lnTo>
                  <a:pt x="0" y="131479"/>
                </a:lnTo>
                <a:lnTo>
                  <a:pt x="76695" y="65739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알약 칸"/>
          <p:cNvSpPr/>
          <p:nvPr/>
        </p:nvSpPr>
        <p:spPr>
          <a:xfrm>
            <a:off x="3719739" y="5927478"/>
            <a:ext cx="1402709" cy="29582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73" name="알약 칸"/>
          <p:cNvSpPr>
            <a:spLocks noGrp="1"/>
          </p:cNvSpPr>
          <p:nvPr>
            <p:ph type="body" sz="quarter" idx="97"/>
          </p:nvPr>
        </p:nvSpPr>
        <p:spPr>
          <a:xfrm>
            <a:off x="3719739" y="5927478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3대 강국 도약</a:t>
            </a:r>
          </a:p>
        </p:txBody>
      </p:sp>
      <p:cxnSp>
        <p:nvCxnSpPr>
          <p:cNvPr id="174" name="Connector 127"/>
          <p:cNvCxnSpPr/>
          <p:nvPr/>
        </p:nvCxnSpPr>
        <p:spPr>
          <a:xfrm>
            <a:off x="5122448" y="6075391"/>
            <a:ext cx="311713" cy="0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175" name="연결 점"/>
          <p:cNvSpPr/>
          <p:nvPr/>
        </p:nvSpPr>
        <p:spPr>
          <a:xfrm>
            <a:off x="5100535" y="6053478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6" name="상자"/>
          <p:cNvSpPr/>
          <p:nvPr/>
        </p:nvSpPr>
        <p:spPr>
          <a:xfrm>
            <a:off x="5434161" y="5927478"/>
            <a:ext cx="1402709" cy="295826"/>
          </a:xfrm>
          <a:prstGeom prst="rect">
            <a:avLst/>
          </a:prstGeom>
          <a:solidFill>
            <a:srgbClr val="FFFFFF"/>
          </a:solidFill>
          <a:ln w="15875">
            <a:solidFill>
              <a:srgbClr val="0051BC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77" name="상자"/>
          <p:cNvSpPr>
            <a:spLocks noGrp="1"/>
          </p:cNvSpPr>
          <p:nvPr>
            <p:ph type="body" sz="quarter" idx="98"/>
          </p:nvPr>
        </p:nvSpPr>
        <p:spPr>
          <a:xfrm>
            <a:off x="5434161" y="5927478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AI·디지털 인프라 강화</a:t>
            </a:r>
          </a:p>
        </p:txBody>
      </p:sp>
      <p:sp>
        <p:nvSpPr>
          <p:cNvPr id="178" name="알약 칸"/>
          <p:cNvSpPr/>
          <p:nvPr/>
        </p:nvSpPr>
        <p:spPr>
          <a:xfrm>
            <a:off x="3719739" y="6267130"/>
            <a:ext cx="1402709" cy="29582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79" name="알약 칸"/>
          <p:cNvSpPr>
            <a:spLocks noGrp="1"/>
          </p:cNvSpPr>
          <p:nvPr>
            <p:ph type="body" sz="quarter" idx="99"/>
          </p:nvPr>
        </p:nvSpPr>
        <p:spPr>
          <a:xfrm>
            <a:off x="3719739" y="6267130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국민이 주인인 나라</a:t>
            </a:r>
          </a:p>
        </p:txBody>
      </p:sp>
      <p:cxnSp>
        <p:nvCxnSpPr>
          <p:cNvPr id="180" name="Connector 131"/>
          <p:cNvCxnSpPr/>
          <p:nvPr/>
        </p:nvCxnSpPr>
        <p:spPr>
          <a:xfrm>
            <a:off x="5122448" y="6415043"/>
            <a:ext cx="311713" cy="0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181" name="연결 점"/>
          <p:cNvSpPr/>
          <p:nvPr/>
        </p:nvSpPr>
        <p:spPr>
          <a:xfrm>
            <a:off x="5100535" y="6393130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2" name="상자"/>
          <p:cNvSpPr/>
          <p:nvPr/>
        </p:nvSpPr>
        <p:spPr>
          <a:xfrm>
            <a:off x="5434161" y="6267130"/>
            <a:ext cx="1402709" cy="295826"/>
          </a:xfrm>
          <a:prstGeom prst="rect">
            <a:avLst/>
          </a:prstGeom>
          <a:solidFill>
            <a:srgbClr val="FFFFFF"/>
          </a:solidFill>
          <a:ln w="15875">
            <a:solidFill>
              <a:srgbClr val="0051BC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83" name="상자"/>
          <p:cNvSpPr>
            <a:spLocks noGrp="1"/>
          </p:cNvSpPr>
          <p:nvPr>
            <p:ph type="body" sz="quarter" idx="100"/>
          </p:nvPr>
        </p:nvSpPr>
        <p:spPr>
          <a:xfrm>
            <a:off x="5434161" y="6267130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신뢰 기반 성장 조직</a:t>
            </a:r>
          </a:p>
        </p:txBody>
      </p:sp>
      <p:sp>
        <p:nvSpPr>
          <p:cNvPr id="184" name="알약 칸"/>
          <p:cNvSpPr/>
          <p:nvPr/>
        </p:nvSpPr>
        <p:spPr>
          <a:xfrm>
            <a:off x="3719739" y="6606783"/>
            <a:ext cx="1402709" cy="29582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85" name="알약 칸"/>
          <p:cNvSpPr>
            <a:spLocks noGrp="1"/>
          </p:cNvSpPr>
          <p:nvPr>
            <p:ph type="body" sz="quarter" idx="101"/>
          </p:nvPr>
        </p:nvSpPr>
        <p:spPr>
          <a:xfrm>
            <a:off x="3719739" y="6606783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공공기관 ESG 경영</a:t>
            </a:r>
          </a:p>
        </p:txBody>
      </p:sp>
      <p:cxnSp>
        <p:nvCxnSpPr>
          <p:cNvPr id="186" name="Connector 135"/>
          <p:cNvCxnSpPr/>
          <p:nvPr/>
        </p:nvCxnSpPr>
        <p:spPr>
          <a:xfrm>
            <a:off x="5122448" y="6754696"/>
            <a:ext cx="311713" cy="0"/>
          </a:xfrm>
          <a:prstGeom prst="line">
            <a:avLst/>
          </a:prstGeom>
          <a:ln w="15875">
            <a:solidFill>
              <a:srgbClr val="0051BC"/>
            </a:solidFill>
          </a:ln>
        </p:spPr>
      </p:cxnSp>
      <p:sp>
        <p:nvSpPr>
          <p:cNvPr id="187" name="연결 점"/>
          <p:cNvSpPr/>
          <p:nvPr/>
        </p:nvSpPr>
        <p:spPr>
          <a:xfrm>
            <a:off x="5100535" y="6732783"/>
            <a:ext cx="43826" cy="43826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8" name="상자"/>
          <p:cNvSpPr/>
          <p:nvPr/>
        </p:nvSpPr>
        <p:spPr>
          <a:xfrm>
            <a:off x="5434161" y="6606783"/>
            <a:ext cx="1402709" cy="295826"/>
          </a:xfrm>
          <a:prstGeom prst="rect">
            <a:avLst/>
          </a:prstGeom>
          <a:solidFill>
            <a:srgbClr val="FFFFFF"/>
          </a:solidFill>
          <a:ln w="15875">
            <a:solidFill>
              <a:srgbClr val="0051BC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89" name="상자"/>
          <p:cNvSpPr>
            <a:spLocks noGrp="1"/>
          </p:cNvSpPr>
          <p:nvPr>
            <p:ph type="body" sz="quarter" idx="102"/>
          </p:nvPr>
        </p:nvSpPr>
        <p:spPr>
          <a:xfrm>
            <a:off x="5434161" y="6606783"/>
            <a:ext cx="1402709" cy="295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지속가능 경영체계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28 서사 · 추진배경 → E·S·G 3축 실천 → 주요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ESG LEAD 독보적 ESG 모델로 여는 새 이정표</a:t>
            </a:r>
          </a:p>
        </p:txBody>
      </p:sp>
      <p:sp>
        <p:nvSpPr>
          <p:cNvPr id="14" name="번호 띠 칩"/>
          <p:cNvSpPr/>
          <p:nvPr/>
        </p:nvSpPr>
        <p:spPr>
          <a:xfrm>
            <a:off x="6451874" y="843652"/>
            <a:ext cx="505517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번호 띠 칩"/>
          <p:cNvSpPr>
            <a:spLocks noGrp="1"/>
          </p:cNvSpPr>
          <p:nvPr>
            <p:ph type="body" sz="quarter" idx="22"/>
          </p:nvPr>
        </p:nvSpPr>
        <p:spPr>
          <a:xfrm>
            <a:off x="6451874" y="843652"/>
            <a:ext cx="50551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16" name="번호 띠 칩"/>
          <p:cNvSpPr/>
          <p:nvPr/>
        </p:nvSpPr>
        <p:spPr>
          <a:xfrm>
            <a:off x="5878840" y="843652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번호 띠 칩"/>
          <p:cNvSpPr>
            <a:spLocks noGrp="1"/>
          </p:cNvSpPr>
          <p:nvPr>
            <p:ph type="body" sz="quarter" idx="23"/>
          </p:nvPr>
        </p:nvSpPr>
        <p:spPr>
          <a:xfrm>
            <a:off x="5878840" y="843652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8" name="형광 밑줄"/>
          <p:cNvSpPr/>
          <p:nvPr/>
        </p:nvSpPr>
        <p:spPr>
          <a:xfrm>
            <a:off x="723130" y="1358609"/>
            <a:ext cx="4044505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소제목"/>
          <p:cNvSpPr>
            <a:spLocks noGrp="1"/>
          </p:cNvSpPr>
          <p:nvPr>
            <p:ph type="body" sz="quarter" idx="24"/>
          </p:nvPr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자연을 되살리고, 이익은 공유하며, 신뢰는 올리는 ESG 경영 혁신</a:t>
            </a:r>
          </a:p>
        </p:txBody>
      </p:sp>
      <p:sp>
        <p:nvSpPr>
          <p:cNvPr id="20" name="표 외곽"/>
          <p:cNvSpPr/>
          <p:nvPr/>
        </p:nvSpPr>
        <p:spPr>
          <a:xfrm>
            <a:off x="723130" y="1490087"/>
            <a:ext cx="6300000" cy="385967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레일"/>
          <p:cNvSpPr/>
          <p:nvPr/>
        </p:nvSpPr>
        <p:spPr>
          <a:xfrm>
            <a:off x="734087" y="1506522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2" name="레일"/>
          <p:cNvSpPr>
            <a:spLocks noGrp="1"/>
          </p:cNvSpPr>
          <p:nvPr>
            <p:ph type="body" sz="quarter" idx="25"/>
          </p:nvPr>
        </p:nvSpPr>
        <p:spPr>
          <a:xfrm>
            <a:off x="734087" y="1506522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23" name="칸 본문"/>
          <p:cNvSpPr>
            <a:spLocks noGrp="1"/>
          </p:cNvSpPr>
          <p:nvPr>
            <p:ph type="body" sz="quarter" idx="26"/>
          </p:nvPr>
        </p:nvSpPr>
        <p:spPr>
          <a:xfrm>
            <a:off x="1358609" y="1528435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’24년 기후대응 사업 등 위기 대응 ESG 경영 집중</a:t>
            </a:r>
          </a:p>
        </p:txBody>
      </p:sp>
      <p:sp>
        <p:nvSpPr>
          <p:cNvPr id="24" name="칸 본문"/>
          <p:cNvSpPr>
            <a:spLocks noGrp="1"/>
          </p:cNvSpPr>
          <p:nvPr>
            <p:ph type="body" sz="quarter" idx="27"/>
          </p:nvPr>
        </p:nvSpPr>
        <p:spPr>
          <a:xfrm>
            <a:off x="4182652" y="1528435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’25년 평가 제언을 바탕으로 전 분야 ESG 경영 혁신</a:t>
            </a:r>
          </a:p>
        </p:txBody>
      </p:sp>
      <p:cxnSp>
        <p:nvCxnSpPr>
          <p:cNvPr id="25" name="Connector 16"/>
          <p:cNvCxnSpPr/>
          <p:nvPr/>
        </p:nvCxnSpPr>
        <p:spPr>
          <a:xfrm>
            <a:off x="4171696" y="1561304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6" name="레일"/>
          <p:cNvSpPr/>
          <p:nvPr/>
        </p:nvSpPr>
        <p:spPr>
          <a:xfrm>
            <a:off x="734087" y="1931165"/>
            <a:ext cx="580696" cy="105464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레일 태그"/>
          <p:cNvSpPr/>
          <p:nvPr/>
        </p:nvSpPr>
        <p:spPr>
          <a:xfrm>
            <a:off x="926778" y="2095513"/>
            <a:ext cx="195314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8" name="레일 태그"/>
          <p:cNvSpPr>
            <a:spLocks noGrp="1"/>
          </p:cNvSpPr>
          <p:nvPr>
            <p:ph type="body" sz="quarter" idx="28"/>
          </p:nvPr>
        </p:nvSpPr>
        <p:spPr>
          <a:xfrm>
            <a:off x="926778" y="2095513"/>
            <a:ext cx="195314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E</a:t>
            </a:r>
          </a:p>
        </p:txBody>
      </p:sp>
      <p:sp>
        <p:nvSpPr>
          <p:cNvPr id="29" name="레일 라벨"/>
          <p:cNvSpPr>
            <a:spLocks noGrp="1"/>
          </p:cNvSpPr>
          <p:nvPr>
            <p:ph type="body" sz="quarter" idx="29"/>
          </p:nvPr>
        </p:nvSpPr>
        <p:spPr>
          <a:xfrm>
            <a:off x="734087" y="2281774"/>
            <a:ext cx="580696" cy="682122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Water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Positive</a:t>
            </a:r>
          </a:p>
        </p:txBody>
      </p:sp>
      <p:sp>
        <p:nvSpPr>
          <p:cNvPr id="30" name="레일 삼각형"/>
          <p:cNvSpPr/>
          <p:nvPr/>
        </p:nvSpPr>
        <p:spPr>
          <a:xfrm>
            <a:off x="734086" y="1931165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태그"/>
          <p:cNvSpPr/>
          <p:nvPr/>
        </p:nvSpPr>
        <p:spPr>
          <a:xfrm>
            <a:off x="1347652" y="1974991"/>
            <a:ext cx="610781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2" name="태그"/>
          <p:cNvSpPr>
            <a:spLocks noGrp="1"/>
          </p:cNvSpPr>
          <p:nvPr>
            <p:ph type="body" sz="quarter" idx="30"/>
          </p:nvPr>
        </p:nvSpPr>
        <p:spPr>
          <a:xfrm>
            <a:off x="1347652" y="1974991"/>
            <a:ext cx="61078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기업 니즈</a:t>
            </a:r>
          </a:p>
        </p:txBody>
      </p:sp>
      <p:sp>
        <p:nvSpPr>
          <p:cNvPr id="33" name="태그 설명"/>
          <p:cNvSpPr>
            <a:spLocks noGrp="1"/>
          </p:cNvSpPr>
          <p:nvPr>
            <p:ph type="body" sz="quarter" idx="31"/>
          </p:nvPr>
        </p:nvSpPr>
        <p:spPr>
          <a:xfrm>
            <a:off x="2002259" y="1964035"/>
            <a:ext cx="4993480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기후위기로 사용 가능한 물의 양 감소, 수량 확보 필요</a:t>
            </a:r>
          </a:p>
        </p:txBody>
      </p:sp>
      <p:sp>
        <p:nvSpPr>
          <p:cNvPr id="34" name="태그"/>
          <p:cNvSpPr/>
          <p:nvPr/>
        </p:nvSpPr>
        <p:spPr>
          <a:xfrm>
            <a:off x="1347652" y="2172209"/>
            <a:ext cx="610781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5" name="태그"/>
          <p:cNvSpPr>
            <a:spLocks noGrp="1"/>
          </p:cNvSpPr>
          <p:nvPr>
            <p:ph type="body" sz="quarter" idx="32"/>
          </p:nvPr>
        </p:nvSpPr>
        <p:spPr>
          <a:xfrm>
            <a:off x="1347652" y="2172209"/>
            <a:ext cx="61078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강점</a:t>
            </a:r>
          </a:p>
        </p:txBody>
      </p:sp>
      <p:sp>
        <p:nvSpPr>
          <p:cNvPr id="36" name="태그 설명"/>
          <p:cNvSpPr>
            <a:spLocks noGrp="1"/>
          </p:cNvSpPr>
          <p:nvPr>
            <p:ph type="body" sz="quarter" idx="33"/>
          </p:nvPr>
        </p:nvSpPr>
        <p:spPr>
          <a:xfrm>
            <a:off x="2002259" y="2161252"/>
            <a:ext cx="4993480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저류지 설치, 하수 재이용 등 물관리 전반 최적화 수행 중</a:t>
            </a:r>
          </a:p>
        </p:txBody>
      </p:sp>
      <p:sp>
        <p:nvSpPr>
          <p:cNvPr id="37" name="단계"/>
          <p:cNvSpPr/>
          <p:nvPr/>
        </p:nvSpPr>
        <p:spPr>
          <a:xfrm>
            <a:off x="1347652" y="2385861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8" name="단계"/>
          <p:cNvSpPr>
            <a:spLocks noGrp="1"/>
          </p:cNvSpPr>
          <p:nvPr>
            <p:ph type="body" sz="quarter" idx="34"/>
          </p:nvPr>
        </p:nvSpPr>
        <p:spPr>
          <a:xfrm>
            <a:off x="1347652" y="2385861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’25년 준공 A사</a:t>
            </a:r>
          </a:p>
        </p:txBody>
      </p:sp>
      <p:sp>
        <p:nvSpPr>
          <p:cNvPr id="39" name="단계"/>
          <p:cNvSpPr/>
          <p:nvPr/>
        </p:nvSpPr>
        <p:spPr>
          <a:xfrm>
            <a:off x="3230348" y="2385861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0" name="단계"/>
          <p:cNvSpPr>
            <a:spLocks noGrp="1"/>
          </p:cNvSpPr>
          <p:nvPr>
            <p:ph type="body" sz="quarter" idx="35"/>
          </p:nvPr>
        </p:nvSpPr>
        <p:spPr>
          <a:xfrm>
            <a:off x="3230348" y="2385861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’25년 착수 B사 본사</a:t>
            </a:r>
          </a:p>
        </p:txBody>
      </p:sp>
      <p:sp>
        <p:nvSpPr>
          <p:cNvPr id="41" name="단계"/>
          <p:cNvSpPr/>
          <p:nvPr/>
        </p:nvSpPr>
        <p:spPr>
          <a:xfrm>
            <a:off x="5113043" y="2385861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2" name="단계"/>
          <p:cNvSpPr>
            <a:spLocks noGrp="1"/>
          </p:cNvSpPr>
          <p:nvPr>
            <p:ph type="body" sz="quarter" idx="36"/>
          </p:nvPr>
        </p:nvSpPr>
        <p:spPr>
          <a:xfrm>
            <a:off x="5113043" y="2385861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’26년 예정 A사</a:t>
            </a:r>
          </a:p>
        </p:txBody>
      </p:sp>
      <p:sp>
        <p:nvSpPr>
          <p:cNvPr id="43" name="단계 삼각형"/>
          <p:cNvSpPr/>
          <p:nvPr/>
        </p:nvSpPr>
        <p:spPr>
          <a:xfrm>
            <a:off x="3230347" y="2385860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단계 삼각형"/>
          <p:cNvSpPr/>
          <p:nvPr/>
        </p:nvSpPr>
        <p:spPr>
          <a:xfrm>
            <a:off x="5113043" y="2385860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칸 본문"/>
          <p:cNvSpPr>
            <a:spLocks noGrp="1"/>
          </p:cNvSpPr>
          <p:nvPr>
            <p:ph type="body" sz="quarter" idx="37"/>
          </p:nvPr>
        </p:nvSpPr>
        <p:spPr>
          <a:xfrm>
            <a:off x="1358609" y="2637861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상류 노후 습지 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2천명/연 사용분 복원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38"/>
          </p:nvPr>
        </p:nvSpPr>
        <p:spPr>
          <a:xfrm>
            <a:off x="3241304" y="2637861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댐 상류 인공습지 조성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2천명/연 사용분 복원</a:t>
            </a:r>
          </a:p>
        </p:txBody>
      </p:sp>
      <p:cxnSp>
        <p:nvCxnSpPr>
          <p:cNvPr id="47" name="Connector 32"/>
          <p:cNvCxnSpPr/>
          <p:nvPr/>
        </p:nvCxnSpPr>
        <p:spPr>
          <a:xfrm>
            <a:off x="3230348" y="2670730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8" name="칸 본문"/>
          <p:cNvSpPr>
            <a:spLocks noGrp="1"/>
          </p:cNvSpPr>
          <p:nvPr>
            <p:ph type="body" sz="quarter" idx="39"/>
          </p:nvPr>
        </p:nvSpPr>
        <p:spPr>
          <a:xfrm>
            <a:off x="5124000" y="2637861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식수원 확보 모래샘 조성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700명/일 사용분 복원</a:t>
            </a:r>
          </a:p>
        </p:txBody>
      </p:sp>
      <p:cxnSp>
        <p:nvCxnSpPr>
          <p:cNvPr id="49" name="Connector 34"/>
          <p:cNvCxnSpPr/>
          <p:nvPr/>
        </p:nvCxnSpPr>
        <p:spPr>
          <a:xfrm>
            <a:off x="5113043" y="2670730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레일"/>
          <p:cNvSpPr/>
          <p:nvPr/>
        </p:nvSpPr>
        <p:spPr>
          <a:xfrm>
            <a:off x="734087" y="3002243"/>
            <a:ext cx="580696" cy="105464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레일 태그"/>
          <p:cNvSpPr/>
          <p:nvPr/>
        </p:nvSpPr>
        <p:spPr>
          <a:xfrm>
            <a:off x="924173" y="3046070"/>
            <a:ext cx="200523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2" name="레일 태그"/>
          <p:cNvSpPr>
            <a:spLocks noGrp="1"/>
          </p:cNvSpPr>
          <p:nvPr>
            <p:ph type="body" sz="quarter" idx="40"/>
          </p:nvPr>
        </p:nvSpPr>
        <p:spPr>
          <a:xfrm>
            <a:off x="924173" y="3046070"/>
            <a:ext cx="200523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S</a:t>
            </a:r>
          </a:p>
        </p:txBody>
      </p:sp>
      <p:sp>
        <p:nvSpPr>
          <p:cNvPr id="53" name="레일 라벨"/>
          <p:cNvSpPr>
            <a:spLocks noGrp="1"/>
          </p:cNvSpPr>
          <p:nvPr>
            <p:ph type="body" sz="quarter" idx="41"/>
          </p:nvPr>
        </p:nvSpPr>
        <p:spPr>
          <a:xfrm>
            <a:off x="734087" y="3232330"/>
            <a:ext cx="580696" cy="80264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주민이익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공유모델</a:t>
            </a:r>
          </a:p>
        </p:txBody>
      </p:sp>
      <p:sp>
        <p:nvSpPr>
          <p:cNvPr id="54" name="태그"/>
          <p:cNvSpPr/>
          <p:nvPr/>
        </p:nvSpPr>
        <p:spPr>
          <a:xfrm>
            <a:off x="1347652" y="3046070"/>
            <a:ext cx="621696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5" name="태그"/>
          <p:cNvSpPr>
            <a:spLocks noGrp="1"/>
          </p:cNvSpPr>
          <p:nvPr>
            <p:ph type="body" sz="quarter" idx="42"/>
          </p:nvPr>
        </p:nvSpPr>
        <p:spPr>
          <a:xfrm>
            <a:off x="1347652" y="3046070"/>
            <a:ext cx="62169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K-water</a:t>
            </a:r>
          </a:p>
        </p:txBody>
      </p:sp>
      <p:sp>
        <p:nvSpPr>
          <p:cNvPr id="56" name="태그 설명"/>
          <p:cNvSpPr>
            <a:spLocks noGrp="1"/>
          </p:cNvSpPr>
          <p:nvPr>
            <p:ph type="body" sz="quarter" idx="43"/>
          </p:nvPr>
        </p:nvSpPr>
        <p:spPr>
          <a:xfrm>
            <a:off x="2013174" y="3035113"/>
            <a:ext cx="4982565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여의도 17배에 달하는 풍부한 활용 가능 수면 보유</a:t>
            </a:r>
          </a:p>
        </p:txBody>
      </p:sp>
      <p:sp>
        <p:nvSpPr>
          <p:cNvPr id="57" name="태그"/>
          <p:cNvSpPr/>
          <p:nvPr/>
        </p:nvSpPr>
        <p:spPr>
          <a:xfrm>
            <a:off x="1347652" y="3243287"/>
            <a:ext cx="621696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8" name="태그"/>
          <p:cNvSpPr>
            <a:spLocks noGrp="1"/>
          </p:cNvSpPr>
          <p:nvPr>
            <p:ph type="body" sz="quarter" idx="44"/>
          </p:nvPr>
        </p:nvSpPr>
        <p:spPr>
          <a:xfrm>
            <a:off x="1347652" y="3243287"/>
            <a:ext cx="62169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지역주민</a:t>
            </a:r>
          </a:p>
        </p:txBody>
      </p:sp>
      <p:sp>
        <p:nvSpPr>
          <p:cNvPr id="59" name="태그 설명"/>
          <p:cNvSpPr>
            <a:spLocks noGrp="1"/>
          </p:cNvSpPr>
          <p:nvPr>
            <p:ph type="body" sz="quarter" idx="45"/>
          </p:nvPr>
        </p:nvSpPr>
        <p:spPr>
          <a:xfrm>
            <a:off x="2013174" y="3232330"/>
            <a:ext cx="4982565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피해의식으로 보상심리 및 지역 활성화 요구 강함</a:t>
            </a:r>
          </a:p>
        </p:txBody>
      </p:sp>
      <p:sp>
        <p:nvSpPr>
          <p:cNvPr id="60" name="단계"/>
          <p:cNvSpPr/>
          <p:nvPr/>
        </p:nvSpPr>
        <p:spPr>
          <a:xfrm>
            <a:off x="1347652" y="3456939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1" name="단계"/>
          <p:cNvSpPr>
            <a:spLocks noGrp="1"/>
          </p:cNvSpPr>
          <p:nvPr>
            <p:ph type="body" sz="quarter" idx="46"/>
          </p:nvPr>
        </p:nvSpPr>
        <p:spPr>
          <a:xfrm>
            <a:off x="1347652" y="34569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A댐 수상태양광</a:t>
            </a:r>
          </a:p>
        </p:txBody>
      </p:sp>
      <p:sp>
        <p:nvSpPr>
          <p:cNvPr id="62" name="단계"/>
          <p:cNvSpPr/>
          <p:nvPr/>
        </p:nvSpPr>
        <p:spPr>
          <a:xfrm>
            <a:off x="3230348" y="3456939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3" name="단계"/>
          <p:cNvSpPr>
            <a:spLocks noGrp="1"/>
          </p:cNvSpPr>
          <p:nvPr>
            <p:ph type="body" sz="quarter" idx="47"/>
          </p:nvPr>
        </p:nvSpPr>
        <p:spPr>
          <a:xfrm>
            <a:off x="3230348" y="34569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’25년 준공 이익환원 시작</a:t>
            </a:r>
          </a:p>
        </p:txBody>
      </p:sp>
      <p:sp>
        <p:nvSpPr>
          <p:cNvPr id="64" name="단계"/>
          <p:cNvSpPr/>
          <p:nvPr/>
        </p:nvSpPr>
        <p:spPr>
          <a:xfrm>
            <a:off x="5113043" y="3456939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5" name="단계"/>
          <p:cNvSpPr>
            <a:spLocks noGrp="1"/>
          </p:cNvSpPr>
          <p:nvPr>
            <p:ph type="body" sz="quarter" idx="48"/>
          </p:nvPr>
        </p:nvSpPr>
        <p:spPr>
          <a:xfrm>
            <a:off x="5113043" y="34569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’25년 착수 B댐 수상태양광</a:t>
            </a:r>
          </a:p>
        </p:txBody>
      </p:sp>
      <p:sp>
        <p:nvSpPr>
          <p:cNvPr id="66" name="단계 삼각형"/>
          <p:cNvSpPr/>
          <p:nvPr/>
        </p:nvSpPr>
        <p:spPr>
          <a:xfrm>
            <a:off x="3230347" y="3456939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단계 삼각형"/>
          <p:cNvSpPr/>
          <p:nvPr/>
        </p:nvSpPr>
        <p:spPr>
          <a:xfrm>
            <a:off x="5113043" y="3456939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칸 본문"/>
          <p:cNvSpPr>
            <a:spLocks noGrp="1"/>
          </p:cNvSpPr>
          <p:nvPr>
            <p:ph type="body" sz="quarter" idx="49"/>
          </p:nvPr>
        </p:nvSpPr>
        <p:spPr>
          <a:xfrm>
            <a:off x="1358609" y="3708939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사업구조 도해 자리</a:t>
            </a:r>
          </a:p>
        </p:txBody>
      </p:sp>
      <p:sp>
        <p:nvSpPr>
          <p:cNvPr id="69" name="칸 본문"/>
          <p:cNvSpPr>
            <a:spLocks noGrp="1"/>
          </p:cNvSpPr>
          <p:nvPr>
            <p:ph type="body" sz="quarter" idx="50"/>
          </p:nvPr>
        </p:nvSpPr>
        <p:spPr>
          <a:xfrm>
            <a:off x="3241304" y="3708939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33개 마을 2,600가구 참여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20년간 222억원 지급</a:t>
            </a:r>
          </a:p>
        </p:txBody>
      </p:sp>
      <p:cxnSp>
        <p:nvCxnSpPr>
          <p:cNvPr id="70" name="Connector 49"/>
          <p:cNvCxnSpPr/>
          <p:nvPr/>
        </p:nvCxnSpPr>
        <p:spPr>
          <a:xfrm>
            <a:off x="3230348" y="3741809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1" name="칸 본문"/>
          <p:cNvSpPr>
            <a:spLocks noGrp="1"/>
          </p:cNvSpPr>
          <p:nvPr>
            <p:ph type="body" sz="quarter" idx="51"/>
          </p:nvPr>
        </p:nvSpPr>
        <p:spPr>
          <a:xfrm>
            <a:off x="5124000" y="3708939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합동 주민 설명회(7회)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주민주도 협의체 발족</a:t>
            </a:r>
          </a:p>
        </p:txBody>
      </p:sp>
      <p:cxnSp>
        <p:nvCxnSpPr>
          <p:cNvPr id="72" name="Connector 51"/>
          <p:cNvCxnSpPr/>
          <p:nvPr/>
        </p:nvCxnSpPr>
        <p:spPr>
          <a:xfrm>
            <a:off x="5113043" y="3741809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3" name="레일"/>
          <p:cNvSpPr/>
          <p:nvPr/>
        </p:nvSpPr>
        <p:spPr>
          <a:xfrm>
            <a:off x="734087" y="4073322"/>
            <a:ext cx="580696" cy="1260000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레일 태그"/>
          <p:cNvSpPr/>
          <p:nvPr/>
        </p:nvSpPr>
        <p:spPr>
          <a:xfrm>
            <a:off x="917662" y="4237670"/>
            <a:ext cx="213545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5" name="레일 태그"/>
          <p:cNvSpPr>
            <a:spLocks noGrp="1"/>
          </p:cNvSpPr>
          <p:nvPr>
            <p:ph type="body" sz="quarter" idx="52"/>
          </p:nvPr>
        </p:nvSpPr>
        <p:spPr>
          <a:xfrm>
            <a:off x="917662" y="4237670"/>
            <a:ext cx="213545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G</a:t>
            </a:r>
          </a:p>
        </p:txBody>
      </p:sp>
      <p:sp>
        <p:nvSpPr>
          <p:cNvPr id="76" name="레일 라벨"/>
          <p:cNvSpPr>
            <a:spLocks noGrp="1"/>
          </p:cNvSpPr>
          <p:nvPr>
            <p:ph type="body" sz="quarter" idx="53"/>
          </p:nvPr>
        </p:nvSpPr>
        <p:spPr>
          <a:xfrm>
            <a:off x="734087" y="4423930"/>
            <a:ext cx="580696" cy="887478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청렴도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1등급</a:t>
            </a:r>
          </a:p>
        </p:txBody>
      </p:sp>
      <p:sp>
        <p:nvSpPr>
          <p:cNvPr id="77" name="레일 삼각형"/>
          <p:cNvSpPr/>
          <p:nvPr/>
        </p:nvSpPr>
        <p:spPr>
          <a:xfrm>
            <a:off x="734086" y="4073321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단계"/>
          <p:cNvSpPr/>
          <p:nvPr/>
        </p:nvSpPr>
        <p:spPr>
          <a:xfrm>
            <a:off x="1347652" y="4095235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79" name="단계"/>
          <p:cNvSpPr>
            <a:spLocks noGrp="1"/>
          </p:cNvSpPr>
          <p:nvPr>
            <p:ph type="body" sz="quarter" idx="54"/>
          </p:nvPr>
        </p:nvSpPr>
        <p:spPr>
          <a:xfrm>
            <a:off x="1347652" y="40952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’24년 윤리경영체계 고도화</a:t>
            </a:r>
          </a:p>
        </p:txBody>
      </p:sp>
      <p:sp>
        <p:nvSpPr>
          <p:cNvPr id="80" name="단계"/>
          <p:cNvSpPr/>
          <p:nvPr/>
        </p:nvSpPr>
        <p:spPr>
          <a:xfrm>
            <a:off x="3230348" y="4095235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1" name="단계"/>
          <p:cNvSpPr>
            <a:spLocks noGrp="1"/>
          </p:cNvSpPr>
          <p:nvPr>
            <p:ph type="body" sz="quarter" idx="55"/>
          </p:nvPr>
        </p:nvSpPr>
        <p:spPr>
          <a:xfrm>
            <a:off x="3230348" y="40952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’25년 공공 윤리경영 선도</a:t>
            </a:r>
          </a:p>
        </p:txBody>
      </p:sp>
      <p:sp>
        <p:nvSpPr>
          <p:cNvPr id="82" name="단계"/>
          <p:cNvSpPr/>
          <p:nvPr/>
        </p:nvSpPr>
        <p:spPr>
          <a:xfrm>
            <a:off x="5113043" y="4095235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3" name="단계"/>
          <p:cNvSpPr>
            <a:spLocks noGrp="1"/>
          </p:cNvSpPr>
          <p:nvPr>
            <p:ph type="body" sz="quarter" idx="56"/>
          </p:nvPr>
        </p:nvSpPr>
        <p:spPr>
          <a:xfrm>
            <a:off x="5113043" y="40952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’26년~ 지속가능한 윤리경영</a:t>
            </a:r>
          </a:p>
        </p:txBody>
      </p:sp>
      <p:sp>
        <p:nvSpPr>
          <p:cNvPr id="84" name="단계 삼각형"/>
          <p:cNvSpPr/>
          <p:nvPr/>
        </p:nvSpPr>
        <p:spPr>
          <a:xfrm>
            <a:off x="3230347" y="4095234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단계 삼각형"/>
          <p:cNvSpPr/>
          <p:nvPr/>
        </p:nvSpPr>
        <p:spPr>
          <a:xfrm>
            <a:off x="5113043" y="409523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칸 본문"/>
          <p:cNvSpPr>
            <a:spLocks noGrp="1"/>
          </p:cNvSpPr>
          <p:nvPr>
            <p:ph type="body" sz="quarter" idx="57"/>
          </p:nvPr>
        </p:nvSpPr>
        <p:spPr>
          <a:xfrm>
            <a:off x="1358609" y="4347235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CEO 청렴혁신단 구성·운영</a:t>
            </a:r>
          </a:p>
        </p:txBody>
      </p:sp>
      <p:sp>
        <p:nvSpPr>
          <p:cNvPr id="87" name="칸 본문"/>
          <p:cNvSpPr>
            <a:spLocks noGrp="1"/>
          </p:cNvSpPr>
          <p:nvPr>
            <p:ph type="body" sz="quarter" idx="58"/>
          </p:nvPr>
        </p:nvSpPr>
        <p:spPr>
          <a:xfrm>
            <a:off x="3241304" y="4347235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내재화·확산, 디지털 내부통제</a:t>
            </a:r>
          </a:p>
        </p:txBody>
      </p:sp>
      <p:cxnSp>
        <p:nvCxnSpPr>
          <p:cNvPr id="88" name="Connector 63"/>
          <p:cNvCxnSpPr/>
          <p:nvPr/>
        </p:nvCxnSpPr>
        <p:spPr>
          <a:xfrm>
            <a:off x="3230348" y="4380104"/>
            <a:ext cx="0" cy="24104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9" name="칸 본문"/>
          <p:cNvSpPr>
            <a:spLocks noGrp="1"/>
          </p:cNvSpPr>
          <p:nvPr>
            <p:ph type="body" sz="quarter" idx="59"/>
          </p:nvPr>
        </p:nvSpPr>
        <p:spPr>
          <a:xfrm>
            <a:off x="5124000" y="4347235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청렴 최우수기업 지속</a:t>
            </a:r>
          </a:p>
        </p:txBody>
      </p:sp>
      <p:cxnSp>
        <p:nvCxnSpPr>
          <p:cNvPr id="90" name="Connector 65"/>
          <p:cNvCxnSpPr/>
          <p:nvPr/>
        </p:nvCxnSpPr>
        <p:spPr>
          <a:xfrm>
            <a:off x="5113043" y="4380104"/>
            <a:ext cx="0" cy="24104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1" name="머리칸"/>
          <p:cNvSpPr/>
          <p:nvPr/>
        </p:nvSpPr>
        <p:spPr>
          <a:xfrm>
            <a:off x="1347652" y="4670452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92" name="머리칸"/>
          <p:cNvSpPr>
            <a:spLocks noGrp="1"/>
          </p:cNvSpPr>
          <p:nvPr>
            <p:ph type="body" sz="quarter" idx="60"/>
          </p:nvPr>
        </p:nvSpPr>
        <p:spPr>
          <a:xfrm>
            <a:off x="1347652" y="4670452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청렴의식 내재화</a:t>
            </a:r>
          </a:p>
        </p:txBody>
      </p:sp>
      <p:sp>
        <p:nvSpPr>
          <p:cNvPr id="93" name="머리칸"/>
          <p:cNvSpPr/>
          <p:nvPr/>
        </p:nvSpPr>
        <p:spPr>
          <a:xfrm>
            <a:off x="3230348" y="4670452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94" name="머리칸"/>
          <p:cNvSpPr>
            <a:spLocks noGrp="1"/>
          </p:cNvSpPr>
          <p:nvPr>
            <p:ph type="body" sz="quarter" idx="61"/>
          </p:nvPr>
        </p:nvSpPr>
        <p:spPr>
          <a:xfrm>
            <a:off x="3230348" y="4670452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현장중심 리스크관리</a:t>
            </a:r>
          </a:p>
        </p:txBody>
      </p:sp>
      <p:sp>
        <p:nvSpPr>
          <p:cNvPr id="95" name="머리칸"/>
          <p:cNvSpPr/>
          <p:nvPr/>
        </p:nvSpPr>
        <p:spPr>
          <a:xfrm>
            <a:off x="5113043" y="4670452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96" name="머리칸"/>
          <p:cNvSpPr>
            <a:spLocks noGrp="1"/>
          </p:cNvSpPr>
          <p:nvPr>
            <p:ph type="body" sz="quarter" idx="62"/>
          </p:nvPr>
        </p:nvSpPr>
        <p:spPr>
          <a:xfrm>
            <a:off x="5113043" y="4670452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전문적 모니터링 체계</a:t>
            </a:r>
          </a:p>
        </p:txBody>
      </p:sp>
      <p:sp>
        <p:nvSpPr>
          <p:cNvPr id="97" name="칸 본문"/>
          <p:cNvSpPr>
            <a:spLocks noGrp="1"/>
          </p:cNvSpPr>
          <p:nvPr>
            <p:ph type="body" sz="quarter" idx="63"/>
          </p:nvPr>
        </p:nvSpPr>
        <p:spPr>
          <a:xfrm>
            <a:off x="1358609" y="4911496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의식확립 청렴의지 전사전파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관리체계 본사·현장 협력강화</a:t>
            </a:r>
          </a:p>
        </p:txBody>
      </p:sp>
      <p:sp>
        <p:nvSpPr>
          <p:cNvPr id="98" name="칸 본문"/>
          <p:cNvSpPr>
            <a:spLocks noGrp="1"/>
          </p:cNvSpPr>
          <p:nvPr>
            <p:ph type="body" sz="quarter" idx="64"/>
          </p:nvPr>
        </p:nvSpPr>
        <p:spPr>
          <a:xfrm>
            <a:off x="3241304" y="4911496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위험식별 현업 위험관리 확산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현장통제 고객체감 통제활동</a:t>
            </a:r>
          </a:p>
        </p:txBody>
      </p:sp>
      <p:cxnSp>
        <p:nvCxnSpPr>
          <p:cNvPr id="99" name="Connector 71"/>
          <p:cNvCxnSpPr/>
          <p:nvPr/>
        </p:nvCxnSpPr>
        <p:spPr>
          <a:xfrm>
            <a:off x="3230348" y="4944365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0" name="칸 본문"/>
          <p:cNvSpPr>
            <a:spLocks noGrp="1"/>
          </p:cNvSpPr>
          <p:nvPr>
            <p:ph type="body" sz="quarter" idx="65"/>
          </p:nvPr>
        </p:nvSpPr>
        <p:spPr>
          <a:xfrm>
            <a:off x="5124000" y="4911496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신고제도 내부신고 활성화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모니터링 AI 기술활용 선진화</a:t>
            </a:r>
          </a:p>
        </p:txBody>
      </p:sp>
      <p:cxnSp>
        <p:nvCxnSpPr>
          <p:cNvPr id="101" name="Connector 73"/>
          <p:cNvCxnSpPr/>
          <p:nvPr/>
        </p:nvCxnSpPr>
        <p:spPr>
          <a:xfrm>
            <a:off x="5113043" y="4944365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2" name="주요성과 박스"/>
          <p:cNvSpPr/>
          <p:nvPr/>
        </p:nvSpPr>
        <p:spPr>
          <a:xfrm>
            <a:off x="723130" y="5426452"/>
            <a:ext cx="6300000" cy="737217"/>
          </a:xfrm>
          <a:prstGeom prst="rect">
            <a:avLst/>
          </a:prstGeom>
          <a:solidFill>
            <a:srgbClr val="EFF9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주요성과 라벨"/>
          <p:cNvSpPr/>
          <p:nvPr/>
        </p:nvSpPr>
        <p:spPr>
          <a:xfrm>
            <a:off x="756000" y="5459322"/>
            <a:ext cx="657391" cy="67147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04" name="주요성과 라벨"/>
          <p:cNvSpPr>
            <a:spLocks noGrp="1"/>
          </p:cNvSpPr>
          <p:nvPr>
            <p:ph type="body" sz="quarter" idx="66"/>
          </p:nvPr>
        </p:nvSpPr>
        <p:spPr>
          <a:xfrm>
            <a:off x="756000" y="5459322"/>
            <a:ext cx="657391" cy="67147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주요성과</a:t>
            </a:r>
          </a:p>
        </p:txBody>
      </p:sp>
      <p:sp>
        <p:nvSpPr>
          <p:cNvPr id="105" name="주요성과 문구"/>
          <p:cNvSpPr>
            <a:spLocks noGrp="1"/>
          </p:cNvSpPr>
          <p:nvPr>
            <p:ph type="body" sz="quarter" idx="67"/>
          </p:nvPr>
        </p:nvSpPr>
        <p:spPr>
          <a:xfrm>
            <a:off x="1501043" y="5442887"/>
            <a:ext cx="5456348" cy="70434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WP 누적 물 복원 4,000명분 달성, 국정과제 선도적 이행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주민이익 공유 주민공감대 형성으로 마을 조성(총 3개소)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청렴도 강도 높은 노력으로 종합청렴도 최고·최초 1등급 결실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29 서사 · 추진배경 → 분야 3개(각각 주요성과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기술로 세우는 국가의 기반, 혁신으로 빛나는 행복</a:t>
            </a:r>
          </a:p>
        </p:txBody>
      </p:sp>
      <p:sp>
        <p:nvSpPr>
          <p:cNvPr id="15" name="번호 띠 칩"/>
          <p:cNvSpPr/>
          <p:nvPr/>
        </p:nvSpPr>
        <p:spPr>
          <a:xfrm>
            <a:off x="6241922" y="832696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번호 띠 칩"/>
          <p:cNvSpPr>
            <a:spLocks noGrp="1"/>
          </p:cNvSpPr>
          <p:nvPr>
            <p:ph type="body" sz="quarter" idx="22"/>
          </p:nvPr>
        </p:nvSpPr>
        <p:spPr>
          <a:xfrm>
            <a:off x="6241922" y="832696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7" name="번호 띠 칩"/>
          <p:cNvSpPr/>
          <p:nvPr/>
        </p:nvSpPr>
        <p:spPr>
          <a:xfrm>
            <a:off x="5668888" y="832696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번호 띠 칩"/>
          <p:cNvSpPr>
            <a:spLocks noGrp="1"/>
          </p:cNvSpPr>
          <p:nvPr>
            <p:ph type="body" sz="quarter" idx="23"/>
          </p:nvPr>
        </p:nvSpPr>
        <p:spPr>
          <a:xfrm>
            <a:off x="5668888" y="832696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신규</a:t>
            </a:r>
          </a:p>
        </p:txBody>
      </p:sp>
      <p:sp>
        <p:nvSpPr>
          <p:cNvPr id="19" name="형광 밑줄"/>
          <p:cNvSpPr/>
          <p:nvPr/>
        </p:nvSpPr>
        <p:spPr>
          <a:xfrm>
            <a:off x="536870" y="1347652"/>
            <a:ext cx="311106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소제목"/>
          <p:cNvSpPr>
            <a:spLocks noGrp="1"/>
          </p:cNvSpPr>
          <p:nvPr>
            <p:ph type="body" sz="quarter" idx="24"/>
          </p:nvPr>
        </p:nvSpPr>
        <p:spPr>
          <a:xfrm>
            <a:off x="536870" y="1194261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보이지 않는 미래의 행복을 위해, 자율적 기술혁신</a:t>
            </a:r>
          </a:p>
        </p:txBody>
      </p:sp>
      <p:sp>
        <p:nvSpPr>
          <p:cNvPr id="21" name="표 외곽"/>
          <p:cNvSpPr/>
          <p:nvPr/>
        </p:nvSpPr>
        <p:spPr>
          <a:xfrm>
            <a:off x="536870" y="1479130"/>
            <a:ext cx="6300000" cy="174490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"/>
          <p:cNvSpPr/>
          <p:nvPr/>
        </p:nvSpPr>
        <p:spPr>
          <a:xfrm>
            <a:off x="547826" y="1495565"/>
            <a:ext cx="580696" cy="640957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1495565"/>
            <a:ext cx="580696" cy="640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24" name="태그"/>
          <p:cNvSpPr/>
          <p:nvPr/>
        </p:nvSpPr>
        <p:spPr>
          <a:xfrm>
            <a:off x="1161391" y="1539391"/>
            <a:ext cx="596641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태그"/>
          <p:cNvSpPr>
            <a:spLocks noGrp="1"/>
          </p:cNvSpPr>
          <p:nvPr>
            <p:ph type="body" sz="quarter" idx="26"/>
          </p:nvPr>
        </p:nvSpPr>
        <p:spPr>
          <a:xfrm>
            <a:off x="1161391" y="1539391"/>
            <a:ext cx="59664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AI정수장</a:t>
            </a:r>
          </a:p>
        </p:txBody>
      </p:sp>
      <p:sp>
        <p:nvSpPr>
          <p:cNvPr id="26" name="태그 설명"/>
          <p:cNvSpPr>
            <a:spLocks noGrp="1"/>
          </p:cNvSpPr>
          <p:nvPr>
            <p:ph type="body" sz="quarter" idx="27"/>
          </p:nvPr>
        </p:nvSpPr>
        <p:spPr>
          <a:xfrm>
            <a:off x="1801859" y="1528435"/>
            <a:ext cx="5007620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불확실성 심화 ➡ 일관된 안정적 물 공급 위한 혁신 긴요</a:t>
            </a:r>
          </a:p>
        </p:txBody>
      </p:sp>
      <p:sp>
        <p:nvSpPr>
          <p:cNvPr id="27" name="태그"/>
          <p:cNvSpPr/>
          <p:nvPr/>
        </p:nvSpPr>
        <p:spPr>
          <a:xfrm>
            <a:off x="1161391" y="1736609"/>
            <a:ext cx="596641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8" name="태그"/>
          <p:cNvSpPr>
            <a:spLocks noGrp="1"/>
          </p:cNvSpPr>
          <p:nvPr>
            <p:ph type="body" sz="quarter" idx="28"/>
          </p:nvPr>
        </p:nvSpPr>
        <p:spPr>
          <a:xfrm>
            <a:off x="1161391" y="1736609"/>
            <a:ext cx="59664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자원순환</a:t>
            </a:r>
          </a:p>
        </p:txBody>
      </p:sp>
      <p:sp>
        <p:nvSpPr>
          <p:cNvPr id="29" name="태그 설명"/>
          <p:cNvSpPr>
            <a:spLocks noGrp="1"/>
          </p:cNvSpPr>
          <p:nvPr>
            <p:ph type="body" sz="quarter" idx="29"/>
          </p:nvPr>
        </p:nvSpPr>
        <p:spPr>
          <a:xfrm>
            <a:off x="1801859" y="1725652"/>
            <a:ext cx="5007620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친환경 규제 강화 ➡ 선제적 기술 도입으로 마중물 역할 필요</a:t>
            </a:r>
          </a:p>
        </p:txBody>
      </p:sp>
      <p:sp>
        <p:nvSpPr>
          <p:cNvPr id="30" name="태그"/>
          <p:cNvSpPr/>
          <p:nvPr/>
        </p:nvSpPr>
        <p:spPr>
          <a:xfrm>
            <a:off x="1161391" y="1933826"/>
            <a:ext cx="596641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1" name="태그"/>
          <p:cNvSpPr>
            <a:spLocks noGrp="1"/>
          </p:cNvSpPr>
          <p:nvPr>
            <p:ph type="body" sz="quarter" idx="30"/>
          </p:nvPr>
        </p:nvSpPr>
        <p:spPr>
          <a:xfrm>
            <a:off x="1161391" y="1933826"/>
            <a:ext cx="59664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산업기반</a:t>
            </a:r>
          </a:p>
        </p:txBody>
      </p:sp>
      <p:sp>
        <p:nvSpPr>
          <p:cNvPr id="32" name="태그 설명"/>
          <p:cNvSpPr>
            <a:spLocks noGrp="1"/>
          </p:cNvSpPr>
          <p:nvPr>
            <p:ph type="body" sz="quarter" idx="31"/>
          </p:nvPr>
        </p:nvSpPr>
        <p:spPr>
          <a:xfrm>
            <a:off x="1801859" y="1922870"/>
            <a:ext cx="5007620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진입장벽으로 신기술 도입 어려움 ➡ 공공중심 기술 활성화</a:t>
            </a:r>
          </a:p>
        </p:txBody>
      </p:sp>
      <p:sp>
        <p:nvSpPr>
          <p:cNvPr id="33" name="레일"/>
          <p:cNvSpPr/>
          <p:nvPr/>
        </p:nvSpPr>
        <p:spPr>
          <a:xfrm>
            <a:off x="547826" y="2152957"/>
            <a:ext cx="580696" cy="1054643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레일 태그"/>
          <p:cNvSpPr/>
          <p:nvPr/>
        </p:nvSpPr>
        <p:spPr>
          <a:xfrm>
            <a:off x="481290" y="2317304"/>
            <a:ext cx="713768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5" name="레일 태그"/>
          <p:cNvSpPr>
            <a:spLocks noGrp="1"/>
          </p:cNvSpPr>
          <p:nvPr>
            <p:ph type="body" sz="quarter" idx="32"/>
          </p:nvPr>
        </p:nvSpPr>
        <p:spPr>
          <a:xfrm>
            <a:off x="481290" y="2317304"/>
            <a:ext cx="713768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국가AI 선도</a:t>
            </a:r>
          </a:p>
        </p:txBody>
      </p:sp>
      <p:sp>
        <p:nvSpPr>
          <p:cNvPr id="36" name="레일 라벨"/>
          <p:cNvSpPr>
            <a:spLocks noGrp="1"/>
          </p:cNvSpPr>
          <p:nvPr>
            <p:ph type="body" sz="quarter" idx="33"/>
          </p:nvPr>
        </p:nvSpPr>
        <p:spPr>
          <a:xfrm>
            <a:off x="547826" y="2503565"/>
            <a:ext cx="580696" cy="682122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AI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정수장</a:t>
            </a:r>
          </a:p>
        </p:txBody>
      </p:sp>
      <p:sp>
        <p:nvSpPr>
          <p:cNvPr id="37" name="레일 삼각형"/>
          <p:cNvSpPr/>
          <p:nvPr/>
        </p:nvSpPr>
        <p:spPr>
          <a:xfrm>
            <a:off x="547826" y="2152956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태그"/>
          <p:cNvSpPr/>
          <p:nvPr/>
        </p:nvSpPr>
        <p:spPr>
          <a:xfrm>
            <a:off x="1161391" y="2196783"/>
            <a:ext cx="361972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태그"/>
          <p:cNvSpPr>
            <a:spLocks noGrp="1"/>
          </p:cNvSpPr>
          <p:nvPr>
            <p:ph type="body" sz="quarter" idx="34"/>
          </p:nvPr>
        </p:nvSpPr>
        <p:spPr>
          <a:xfrm>
            <a:off x="1161391" y="2196783"/>
            <a:ext cx="36197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정책</a:t>
            </a:r>
          </a:p>
        </p:txBody>
      </p:sp>
      <p:sp>
        <p:nvSpPr>
          <p:cNvPr id="40" name="태그 설명"/>
          <p:cNvSpPr>
            <a:spLocks noGrp="1"/>
          </p:cNvSpPr>
          <p:nvPr>
            <p:ph type="body" sz="quarter" idx="35"/>
          </p:nvPr>
        </p:nvSpPr>
        <p:spPr>
          <a:xfrm>
            <a:off x="1567189" y="2185826"/>
            <a:ext cx="5242289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국가 AI 대전환 촉구</a:t>
            </a:r>
          </a:p>
        </p:txBody>
      </p:sp>
      <p:sp>
        <p:nvSpPr>
          <p:cNvPr id="41" name="태그"/>
          <p:cNvSpPr/>
          <p:nvPr/>
        </p:nvSpPr>
        <p:spPr>
          <a:xfrm>
            <a:off x="1161391" y="2394000"/>
            <a:ext cx="361972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2" name="태그"/>
          <p:cNvSpPr>
            <a:spLocks noGrp="1"/>
          </p:cNvSpPr>
          <p:nvPr>
            <p:ph type="body" sz="quarter" idx="36"/>
          </p:nvPr>
        </p:nvSpPr>
        <p:spPr>
          <a:xfrm>
            <a:off x="1161391" y="2394000"/>
            <a:ext cx="36197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43" name="태그 설명"/>
          <p:cNvSpPr>
            <a:spLocks noGrp="1"/>
          </p:cNvSpPr>
          <p:nvPr>
            <p:ph type="body" sz="quarter" idx="37"/>
          </p:nvPr>
        </p:nvSpPr>
        <p:spPr>
          <a:xfrm>
            <a:off x="1567189" y="2383043"/>
            <a:ext cx="5242289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수도 전 과정 AI 내재화</a:t>
            </a:r>
          </a:p>
        </p:txBody>
      </p:sp>
      <p:sp>
        <p:nvSpPr>
          <p:cNvPr id="44" name="단계"/>
          <p:cNvSpPr/>
          <p:nvPr/>
        </p:nvSpPr>
        <p:spPr>
          <a:xfrm>
            <a:off x="1161391" y="2607652"/>
            <a:ext cx="282404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5" name="단계"/>
          <p:cNvSpPr>
            <a:spLocks noGrp="1"/>
          </p:cNvSpPr>
          <p:nvPr>
            <p:ph type="body" sz="quarter" idx="38"/>
          </p:nvPr>
        </p:nvSpPr>
        <p:spPr>
          <a:xfrm>
            <a:off x="1161391" y="2607652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~’24년 세계적으로 인정받은 AI정수장</a:t>
            </a:r>
          </a:p>
        </p:txBody>
      </p:sp>
      <p:sp>
        <p:nvSpPr>
          <p:cNvPr id="46" name="단계"/>
          <p:cNvSpPr/>
          <p:nvPr/>
        </p:nvSpPr>
        <p:spPr>
          <a:xfrm>
            <a:off x="3985435" y="2607652"/>
            <a:ext cx="282404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7" name="단계"/>
          <p:cNvSpPr>
            <a:spLocks noGrp="1"/>
          </p:cNvSpPr>
          <p:nvPr>
            <p:ph type="body" sz="quarter" idx="39"/>
          </p:nvPr>
        </p:nvSpPr>
        <p:spPr>
          <a:xfrm>
            <a:off x="3985435" y="2607652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’25년 행동하는 Physical AI로 진화</a:t>
            </a:r>
          </a:p>
        </p:txBody>
      </p:sp>
      <p:sp>
        <p:nvSpPr>
          <p:cNvPr id="48" name="단계 삼각형"/>
          <p:cNvSpPr/>
          <p:nvPr/>
        </p:nvSpPr>
        <p:spPr>
          <a:xfrm>
            <a:off x="3985434" y="2607652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칸 본문"/>
          <p:cNvSpPr>
            <a:spLocks noGrp="1"/>
          </p:cNvSpPr>
          <p:nvPr>
            <p:ph type="body" sz="quarter" idx="40"/>
          </p:nvPr>
        </p:nvSpPr>
        <p:spPr>
          <a:xfrm>
            <a:off x="1172348" y="2859652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세계 물기업 최초 등대공장 선정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평시 수질관리·최적 의사결정 지원</a:t>
            </a:r>
          </a:p>
        </p:txBody>
      </p:sp>
      <p:sp>
        <p:nvSpPr>
          <p:cNvPr id="50" name="칸 본문"/>
          <p:cNvSpPr>
            <a:spLocks noGrp="1"/>
          </p:cNvSpPr>
          <p:nvPr>
            <p:ph type="body" sz="quarter" idx="41"/>
          </p:nvPr>
        </p:nvSpPr>
        <p:spPr>
          <a:xfrm>
            <a:off x="3996391" y="2859652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공정 스스로 움직이는 AI 접목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의사결정 제시 → 위기시 직접 제어</a:t>
            </a:r>
          </a:p>
        </p:txBody>
      </p:sp>
      <p:cxnSp>
        <p:nvCxnSpPr>
          <p:cNvPr id="51" name="Connector 36"/>
          <p:cNvCxnSpPr/>
          <p:nvPr/>
        </p:nvCxnSpPr>
        <p:spPr>
          <a:xfrm>
            <a:off x="3985435" y="2892522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주요성과 박스"/>
          <p:cNvSpPr/>
          <p:nvPr/>
        </p:nvSpPr>
        <p:spPr>
          <a:xfrm>
            <a:off x="536870" y="3300730"/>
            <a:ext cx="6300000" cy="524348"/>
          </a:xfrm>
          <a:prstGeom prst="rect">
            <a:avLst/>
          </a:prstGeom>
          <a:solidFill>
            <a:srgbClr val="EFF9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주요성과 라벨"/>
          <p:cNvSpPr/>
          <p:nvPr/>
        </p:nvSpPr>
        <p:spPr>
          <a:xfrm>
            <a:off x="569739" y="3333600"/>
            <a:ext cx="657391" cy="458609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54" name="주요성과 라벨"/>
          <p:cNvSpPr>
            <a:spLocks noGrp="1"/>
          </p:cNvSpPr>
          <p:nvPr>
            <p:ph type="body" sz="quarter" idx="42"/>
          </p:nvPr>
        </p:nvSpPr>
        <p:spPr>
          <a:xfrm>
            <a:off x="569739" y="3333600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주요성과</a:t>
            </a:r>
          </a:p>
        </p:txBody>
      </p:sp>
      <p:sp>
        <p:nvSpPr>
          <p:cNvPr id="55" name="주요성과 문구"/>
          <p:cNvSpPr>
            <a:spLocks noGrp="1"/>
          </p:cNvSpPr>
          <p:nvPr>
            <p:ph type="body" sz="quarter" idx="43"/>
          </p:nvPr>
        </p:nvSpPr>
        <p:spPr>
          <a:xfrm>
            <a:off x="1314783" y="3317165"/>
            <a:ext cx="5456348" cy="491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AI정수장 국제표준인증 기술위원회 참여완료, 원가 110억원 절감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우수성 인증, 동반성장 기업 기술이전 35건 등 AI 기술 선도</a:t>
            </a:r>
          </a:p>
        </p:txBody>
      </p:sp>
      <p:sp>
        <p:nvSpPr>
          <p:cNvPr id="56" name="표 외곽"/>
          <p:cNvSpPr/>
          <p:nvPr/>
        </p:nvSpPr>
        <p:spPr>
          <a:xfrm>
            <a:off x="536870" y="3868904"/>
            <a:ext cx="6300000" cy="108203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레일"/>
          <p:cNvSpPr/>
          <p:nvPr/>
        </p:nvSpPr>
        <p:spPr>
          <a:xfrm>
            <a:off x="547826" y="3885339"/>
            <a:ext cx="580696" cy="104916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레일 태그"/>
          <p:cNvSpPr/>
          <p:nvPr/>
        </p:nvSpPr>
        <p:spPr>
          <a:xfrm>
            <a:off x="433971" y="3929165"/>
            <a:ext cx="808405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9" name="레일 태그"/>
          <p:cNvSpPr>
            <a:spLocks noGrp="1"/>
          </p:cNvSpPr>
          <p:nvPr>
            <p:ph type="body" sz="quarter" idx="44"/>
          </p:nvPr>
        </p:nvSpPr>
        <p:spPr>
          <a:xfrm>
            <a:off x="433971" y="3929165"/>
            <a:ext cx="808405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자원순환 리딩</a:t>
            </a:r>
          </a:p>
        </p:txBody>
      </p:sp>
      <p:sp>
        <p:nvSpPr>
          <p:cNvPr id="60" name="레일 라벨"/>
          <p:cNvSpPr>
            <a:spLocks noGrp="1"/>
          </p:cNvSpPr>
          <p:nvPr>
            <p:ph type="body" sz="quarter" idx="45"/>
          </p:nvPr>
        </p:nvSpPr>
        <p:spPr>
          <a:xfrm>
            <a:off x="547826" y="4115426"/>
            <a:ext cx="580696" cy="797165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재생 100%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병입수돗물</a:t>
            </a:r>
          </a:p>
        </p:txBody>
      </p:sp>
      <p:sp>
        <p:nvSpPr>
          <p:cNvPr id="61" name="태그"/>
          <p:cNvSpPr/>
          <p:nvPr/>
        </p:nvSpPr>
        <p:spPr>
          <a:xfrm>
            <a:off x="1161391" y="3929165"/>
            <a:ext cx="720549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2" name="태그"/>
          <p:cNvSpPr>
            <a:spLocks noGrp="1"/>
          </p:cNvSpPr>
          <p:nvPr>
            <p:ph type="body" sz="quarter" idx="46"/>
          </p:nvPr>
        </p:nvSpPr>
        <p:spPr>
          <a:xfrm>
            <a:off x="1161391" y="3929165"/>
            <a:ext cx="72054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정책</a:t>
            </a:r>
          </a:p>
        </p:txBody>
      </p:sp>
      <p:sp>
        <p:nvSpPr>
          <p:cNvPr id="63" name="태그 설명"/>
          <p:cNvSpPr>
            <a:spLocks noGrp="1"/>
          </p:cNvSpPr>
          <p:nvPr>
            <p:ph type="body" sz="quarter" idx="47"/>
          </p:nvPr>
        </p:nvSpPr>
        <p:spPr>
          <a:xfrm>
            <a:off x="1925767" y="3918209"/>
            <a:ext cx="488371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재생 원료 의무 사용</a:t>
            </a:r>
          </a:p>
        </p:txBody>
      </p:sp>
      <p:sp>
        <p:nvSpPr>
          <p:cNvPr id="64" name="태그"/>
          <p:cNvSpPr/>
          <p:nvPr/>
        </p:nvSpPr>
        <p:spPr>
          <a:xfrm>
            <a:off x="1161391" y="4126383"/>
            <a:ext cx="720549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5" name="태그"/>
          <p:cNvSpPr>
            <a:spLocks noGrp="1"/>
          </p:cNvSpPr>
          <p:nvPr>
            <p:ph type="body" sz="quarter" idx="48"/>
          </p:nvPr>
        </p:nvSpPr>
        <p:spPr>
          <a:xfrm>
            <a:off x="1161391" y="4126383"/>
            <a:ext cx="72054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선제적 도입</a:t>
            </a:r>
          </a:p>
        </p:txBody>
      </p:sp>
      <p:sp>
        <p:nvSpPr>
          <p:cNvPr id="66" name="태그 설명"/>
          <p:cNvSpPr>
            <a:spLocks noGrp="1"/>
          </p:cNvSpPr>
          <p:nvPr>
            <p:ph type="body" sz="quarter" idx="49"/>
          </p:nvPr>
        </p:nvSpPr>
        <p:spPr>
          <a:xfrm>
            <a:off x="1925767" y="4115426"/>
            <a:ext cx="488371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재생 원료 100% 활용</a:t>
            </a:r>
          </a:p>
        </p:txBody>
      </p:sp>
      <p:sp>
        <p:nvSpPr>
          <p:cNvPr id="67" name="단계"/>
          <p:cNvSpPr/>
          <p:nvPr/>
        </p:nvSpPr>
        <p:spPr>
          <a:xfrm>
            <a:off x="1161391" y="4340035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8" name="단계"/>
          <p:cNvSpPr>
            <a:spLocks noGrp="1"/>
          </p:cNvSpPr>
          <p:nvPr>
            <p:ph type="body" sz="quarter" idx="50"/>
          </p:nvPr>
        </p:nvSpPr>
        <p:spPr>
          <a:xfrm>
            <a:off x="1161391" y="43400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시제품 제작 ➡ 검증</a:t>
            </a:r>
          </a:p>
        </p:txBody>
      </p:sp>
      <p:sp>
        <p:nvSpPr>
          <p:cNvPr id="69" name="단계"/>
          <p:cNvSpPr/>
          <p:nvPr/>
        </p:nvSpPr>
        <p:spPr>
          <a:xfrm>
            <a:off x="3044087" y="4340035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70" name="단계"/>
          <p:cNvSpPr>
            <a:spLocks noGrp="1"/>
          </p:cNvSpPr>
          <p:nvPr>
            <p:ph type="body" sz="quarter" idx="51"/>
          </p:nvPr>
        </p:nvSpPr>
        <p:spPr>
          <a:xfrm>
            <a:off x="3044087" y="43400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재생원료 인식조사</a:t>
            </a:r>
          </a:p>
        </p:txBody>
      </p:sp>
      <p:sp>
        <p:nvSpPr>
          <p:cNvPr id="71" name="단계"/>
          <p:cNvSpPr/>
          <p:nvPr/>
        </p:nvSpPr>
        <p:spPr>
          <a:xfrm>
            <a:off x="4926783" y="4340035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72" name="단계"/>
          <p:cNvSpPr>
            <a:spLocks noGrp="1"/>
          </p:cNvSpPr>
          <p:nvPr>
            <p:ph type="body" sz="quarter" idx="52"/>
          </p:nvPr>
        </p:nvSpPr>
        <p:spPr>
          <a:xfrm>
            <a:off x="4926783" y="43400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재생100% 병입수돗물 생산</a:t>
            </a:r>
          </a:p>
        </p:txBody>
      </p:sp>
      <p:sp>
        <p:nvSpPr>
          <p:cNvPr id="73" name="단계 삼각형"/>
          <p:cNvSpPr/>
          <p:nvPr/>
        </p:nvSpPr>
        <p:spPr>
          <a:xfrm>
            <a:off x="3044086" y="4340034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단계 삼각형"/>
          <p:cNvSpPr/>
          <p:nvPr/>
        </p:nvSpPr>
        <p:spPr>
          <a:xfrm>
            <a:off x="4926782" y="434003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칸 본문"/>
          <p:cNvSpPr>
            <a:spLocks noGrp="1"/>
          </p:cNvSpPr>
          <p:nvPr>
            <p:ph type="body" sz="quarter" idx="53"/>
          </p:nvPr>
        </p:nvSpPr>
        <p:spPr>
          <a:xfrm>
            <a:off x="1172348" y="4592035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생산·비축 공급 위한 품질 안정성 확인</a:t>
            </a:r>
          </a:p>
        </p:txBody>
      </p:sp>
      <p:sp>
        <p:nvSpPr>
          <p:cNvPr id="76" name="칸 본문"/>
          <p:cNvSpPr>
            <a:spLocks noGrp="1"/>
          </p:cNvSpPr>
          <p:nvPr>
            <p:ph type="body" sz="quarter" idx="54"/>
          </p:nvPr>
        </p:nvSpPr>
        <p:spPr>
          <a:xfrm>
            <a:off x="3055043" y="4592035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내부직원 대상 시제품 의견 조사</a:t>
            </a:r>
          </a:p>
        </p:txBody>
      </p:sp>
      <p:cxnSp>
        <p:nvCxnSpPr>
          <p:cNvPr id="77" name="Connector 55"/>
          <p:cNvCxnSpPr/>
          <p:nvPr/>
        </p:nvCxnSpPr>
        <p:spPr>
          <a:xfrm>
            <a:off x="3044087" y="4624904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8" name="칸 본문"/>
          <p:cNvSpPr>
            <a:spLocks noGrp="1"/>
          </p:cNvSpPr>
          <p:nvPr>
            <p:ph type="body" sz="quarter" idx="55"/>
          </p:nvPr>
        </p:nvSpPr>
        <p:spPr>
          <a:xfrm>
            <a:off x="4937739" y="4592035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재생 원료 100% 병입 수돗물 생산</a:t>
            </a:r>
          </a:p>
        </p:txBody>
      </p:sp>
      <p:cxnSp>
        <p:nvCxnSpPr>
          <p:cNvPr id="79" name="Connector 57"/>
          <p:cNvCxnSpPr/>
          <p:nvPr/>
        </p:nvCxnSpPr>
        <p:spPr>
          <a:xfrm>
            <a:off x="4926783" y="4624904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0" name="주요성과 박스"/>
          <p:cNvSpPr/>
          <p:nvPr/>
        </p:nvSpPr>
        <p:spPr>
          <a:xfrm>
            <a:off x="536870" y="5027635"/>
            <a:ext cx="6300000" cy="311478"/>
          </a:xfrm>
          <a:prstGeom prst="rect">
            <a:avLst/>
          </a:prstGeom>
          <a:solidFill>
            <a:srgbClr val="EFF9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주요성과 라벨"/>
          <p:cNvSpPr/>
          <p:nvPr/>
        </p:nvSpPr>
        <p:spPr>
          <a:xfrm>
            <a:off x="569739" y="5060504"/>
            <a:ext cx="657391" cy="245739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82" name="주요성과 라벨"/>
          <p:cNvSpPr>
            <a:spLocks noGrp="1"/>
          </p:cNvSpPr>
          <p:nvPr>
            <p:ph type="body" sz="quarter" idx="56"/>
          </p:nvPr>
        </p:nvSpPr>
        <p:spPr>
          <a:xfrm>
            <a:off x="569739" y="5060504"/>
            <a:ext cx="657391" cy="2457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주요성과</a:t>
            </a:r>
          </a:p>
        </p:txBody>
      </p:sp>
      <p:sp>
        <p:nvSpPr>
          <p:cNvPr id="83" name="주요성과 문구"/>
          <p:cNvSpPr>
            <a:spLocks noGrp="1"/>
          </p:cNvSpPr>
          <p:nvPr>
            <p:ph type="body" sz="quarter" idx="57"/>
          </p:nvPr>
        </p:nvSpPr>
        <p:spPr>
          <a:xfrm>
            <a:off x="1314783" y="5044070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지정 공공부문 수도사업자 중 재생원료 100% 활용 선도 기관 선정</a:t>
            </a:r>
          </a:p>
        </p:txBody>
      </p:sp>
      <p:sp>
        <p:nvSpPr>
          <p:cNvPr id="84" name="표 외곽"/>
          <p:cNvSpPr/>
          <p:nvPr/>
        </p:nvSpPr>
        <p:spPr>
          <a:xfrm>
            <a:off x="536870" y="5382939"/>
            <a:ext cx="6300000" cy="108751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레일"/>
          <p:cNvSpPr/>
          <p:nvPr/>
        </p:nvSpPr>
        <p:spPr>
          <a:xfrm>
            <a:off x="547826" y="5399374"/>
            <a:ext cx="580696" cy="105464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레일 태그"/>
          <p:cNvSpPr/>
          <p:nvPr/>
        </p:nvSpPr>
        <p:spPr>
          <a:xfrm>
            <a:off x="324203" y="5443200"/>
            <a:ext cx="1027942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7" name="레일 태그"/>
          <p:cNvSpPr>
            <a:spLocks noGrp="1"/>
          </p:cNvSpPr>
          <p:nvPr>
            <p:ph type="body" sz="quarter" idx="58"/>
          </p:nvPr>
        </p:nvSpPr>
        <p:spPr>
          <a:xfrm>
            <a:off x="324203" y="5443200"/>
            <a:ext cx="1027942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기업성장 응답센터</a:t>
            </a:r>
          </a:p>
        </p:txBody>
      </p:sp>
      <p:sp>
        <p:nvSpPr>
          <p:cNvPr id="88" name="레일 라벨"/>
          <p:cNvSpPr>
            <a:spLocks noGrp="1"/>
          </p:cNvSpPr>
          <p:nvPr>
            <p:ph type="body" sz="quarter" idx="59"/>
          </p:nvPr>
        </p:nvSpPr>
        <p:spPr>
          <a:xfrm>
            <a:off x="547826" y="5629461"/>
            <a:ext cx="580696" cy="80264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AI실증랩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기술나눔</a:t>
            </a:r>
          </a:p>
        </p:txBody>
      </p:sp>
      <p:sp>
        <p:nvSpPr>
          <p:cNvPr id="89" name="태그"/>
          <p:cNvSpPr/>
          <p:nvPr/>
        </p:nvSpPr>
        <p:spPr>
          <a:xfrm>
            <a:off x="1161391" y="5443200"/>
            <a:ext cx="361972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0" name="태그"/>
          <p:cNvSpPr>
            <a:spLocks noGrp="1"/>
          </p:cNvSpPr>
          <p:nvPr>
            <p:ph type="body" sz="quarter" idx="60"/>
          </p:nvPr>
        </p:nvSpPr>
        <p:spPr>
          <a:xfrm>
            <a:off x="1161391" y="5443200"/>
            <a:ext cx="36197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고민</a:t>
            </a:r>
          </a:p>
        </p:txBody>
      </p:sp>
      <p:sp>
        <p:nvSpPr>
          <p:cNvPr id="91" name="태그 설명"/>
          <p:cNvSpPr>
            <a:spLocks noGrp="1"/>
          </p:cNvSpPr>
          <p:nvPr>
            <p:ph type="body" sz="quarter" idx="61"/>
          </p:nvPr>
        </p:nvSpPr>
        <p:spPr>
          <a:xfrm>
            <a:off x="1567189" y="5432243"/>
            <a:ext cx="5242289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규제보다 무서운 신기술 도입 난제</a:t>
            </a:r>
          </a:p>
        </p:txBody>
      </p:sp>
      <p:sp>
        <p:nvSpPr>
          <p:cNvPr id="92" name="태그"/>
          <p:cNvSpPr/>
          <p:nvPr/>
        </p:nvSpPr>
        <p:spPr>
          <a:xfrm>
            <a:off x="1161391" y="5640417"/>
            <a:ext cx="361972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3" name="태그"/>
          <p:cNvSpPr>
            <a:spLocks noGrp="1"/>
          </p:cNvSpPr>
          <p:nvPr>
            <p:ph type="body" sz="quarter" idx="62"/>
          </p:nvPr>
        </p:nvSpPr>
        <p:spPr>
          <a:xfrm>
            <a:off x="1161391" y="5640417"/>
            <a:ext cx="36197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94" name="태그 설명"/>
          <p:cNvSpPr>
            <a:spLocks noGrp="1"/>
          </p:cNvSpPr>
          <p:nvPr>
            <p:ph type="body" sz="quarter" idx="63"/>
          </p:nvPr>
        </p:nvSpPr>
        <p:spPr>
          <a:xfrm>
            <a:off x="1567189" y="5629461"/>
            <a:ext cx="5242289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물산업 AI발전 위한 선도역할 수행</a:t>
            </a:r>
          </a:p>
        </p:txBody>
      </p:sp>
      <p:sp>
        <p:nvSpPr>
          <p:cNvPr id="95" name="단계"/>
          <p:cNvSpPr/>
          <p:nvPr/>
        </p:nvSpPr>
        <p:spPr>
          <a:xfrm>
            <a:off x="1161391" y="5854070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96" name="단계"/>
          <p:cNvSpPr>
            <a:spLocks noGrp="1"/>
          </p:cNvSpPr>
          <p:nvPr>
            <p:ph type="body" sz="quarter" idx="64"/>
          </p:nvPr>
        </p:nvSpPr>
        <p:spPr>
          <a:xfrm>
            <a:off x="1161391" y="585407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디지털 실증랩 구축</a:t>
            </a:r>
          </a:p>
        </p:txBody>
      </p:sp>
      <p:sp>
        <p:nvSpPr>
          <p:cNvPr id="97" name="단계"/>
          <p:cNvSpPr/>
          <p:nvPr/>
        </p:nvSpPr>
        <p:spPr>
          <a:xfrm>
            <a:off x="3044087" y="5854070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98" name="단계"/>
          <p:cNvSpPr>
            <a:spLocks noGrp="1"/>
          </p:cNvSpPr>
          <p:nvPr>
            <p:ph type="body" sz="quarter" idx="65"/>
          </p:nvPr>
        </p:nvSpPr>
        <p:spPr>
          <a:xfrm>
            <a:off x="3044087" y="585407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기업 맞춤형 고도화</a:t>
            </a:r>
          </a:p>
        </p:txBody>
      </p:sp>
      <p:sp>
        <p:nvSpPr>
          <p:cNvPr id="99" name="단계"/>
          <p:cNvSpPr/>
          <p:nvPr/>
        </p:nvSpPr>
        <p:spPr>
          <a:xfrm>
            <a:off x="4926783" y="5854070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00" name="단계"/>
          <p:cNvSpPr>
            <a:spLocks noGrp="1"/>
          </p:cNvSpPr>
          <p:nvPr>
            <p:ph type="body" sz="quarter" idx="66"/>
          </p:nvPr>
        </p:nvSpPr>
        <p:spPr>
          <a:xfrm>
            <a:off x="4926783" y="585407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안정성·시장진출 확보</a:t>
            </a:r>
          </a:p>
        </p:txBody>
      </p:sp>
      <p:sp>
        <p:nvSpPr>
          <p:cNvPr id="101" name="단계 삼각형"/>
          <p:cNvSpPr/>
          <p:nvPr/>
        </p:nvSpPr>
        <p:spPr>
          <a:xfrm>
            <a:off x="3044086" y="5854069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단계 삼각형"/>
          <p:cNvSpPr/>
          <p:nvPr/>
        </p:nvSpPr>
        <p:spPr>
          <a:xfrm>
            <a:off x="4926782" y="5854069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칸 본문"/>
          <p:cNvSpPr>
            <a:spLocks noGrp="1"/>
          </p:cNvSpPr>
          <p:nvPr>
            <p:ph type="body" sz="quarter" idx="67"/>
          </p:nvPr>
        </p:nvSpPr>
        <p:spPr>
          <a:xfrm>
            <a:off x="1172348" y="6106070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서비스 플랫폼 활용 실증랩 완성</a:t>
            </a:r>
          </a:p>
        </p:txBody>
      </p:sp>
      <p:sp>
        <p:nvSpPr>
          <p:cNvPr id="104" name="칸 본문"/>
          <p:cNvSpPr>
            <a:spLocks noGrp="1"/>
          </p:cNvSpPr>
          <p:nvPr>
            <p:ph type="body" sz="quarter" idx="68"/>
          </p:nvPr>
        </p:nvSpPr>
        <p:spPr>
          <a:xfrm>
            <a:off x="3055043" y="6106070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참여 기업 선정·컨설팅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GPU 자원 할당</a:t>
            </a:r>
          </a:p>
        </p:txBody>
      </p:sp>
      <p:cxnSp>
        <p:nvCxnSpPr>
          <p:cNvPr id="105" name="Connector 76"/>
          <p:cNvCxnSpPr/>
          <p:nvPr/>
        </p:nvCxnSpPr>
        <p:spPr>
          <a:xfrm>
            <a:off x="3044087" y="6138939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6" name="칸 본문"/>
          <p:cNvSpPr>
            <a:spLocks noGrp="1"/>
          </p:cNvSpPr>
          <p:nvPr>
            <p:ph type="body" sz="quarter" idx="69"/>
          </p:nvPr>
        </p:nvSpPr>
        <p:spPr>
          <a:xfrm>
            <a:off x="4937739" y="6106070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개발 환경 안정화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우수 개발성과 지원</a:t>
            </a:r>
          </a:p>
        </p:txBody>
      </p:sp>
      <p:cxnSp>
        <p:nvCxnSpPr>
          <p:cNvPr id="107" name="Connector 78"/>
          <p:cNvCxnSpPr/>
          <p:nvPr/>
        </p:nvCxnSpPr>
        <p:spPr>
          <a:xfrm>
            <a:off x="4926783" y="6138939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8" name="주요성과 박스"/>
          <p:cNvSpPr/>
          <p:nvPr/>
        </p:nvSpPr>
        <p:spPr>
          <a:xfrm>
            <a:off x="536870" y="6547148"/>
            <a:ext cx="6300000" cy="311478"/>
          </a:xfrm>
          <a:prstGeom prst="rect">
            <a:avLst/>
          </a:prstGeom>
          <a:solidFill>
            <a:srgbClr val="EFF9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주요성과 라벨"/>
          <p:cNvSpPr/>
          <p:nvPr/>
        </p:nvSpPr>
        <p:spPr>
          <a:xfrm>
            <a:off x="569739" y="6580017"/>
            <a:ext cx="657391" cy="245739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10" name="주요성과 라벨"/>
          <p:cNvSpPr>
            <a:spLocks noGrp="1"/>
          </p:cNvSpPr>
          <p:nvPr>
            <p:ph type="body" sz="quarter" idx="70"/>
          </p:nvPr>
        </p:nvSpPr>
        <p:spPr>
          <a:xfrm>
            <a:off x="569739" y="6580017"/>
            <a:ext cx="657391" cy="2457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주요성과</a:t>
            </a:r>
          </a:p>
        </p:txBody>
      </p:sp>
      <p:sp>
        <p:nvSpPr>
          <p:cNvPr id="111" name="주요성과 문구"/>
          <p:cNvSpPr>
            <a:spLocks noGrp="1"/>
          </p:cNvSpPr>
          <p:nvPr>
            <p:ph type="body" sz="quarter" idx="71"/>
          </p:nvPr>
        </p:nvSpPr>
        <p:spPr>
          <a:xfrm>
            <a:off x="1314783" y="6563583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참여기업 SaaS형 플랫폼 제작, 대상 수상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0 서사 · 환경분석 → 추진방향 → 질·양 개선 → 추진성과 사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한 조각의 생각이 만드는 단단한 미래, 20년 혁신챌린지의 재도약</a:t>
            </a:r>
          </a:p>
        </p:txBody>
      </p:sp>
      <p:sp>
        <p:nvSpPr>
          <p:cNvPr id="14" name="번호 띠 칩"/>
          <p:cNvSpPr/>
          <p:nvPr/>
        </p:nvSpPr>
        <p:spPr>
          <a:xfrm>
            <a:off x="6208646" y="843652"/>
            <a:ext cx="74874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번호 띠 칩"/>
          <p:cNvSpPr>
            <a:spLocks noGrp="1"/>
          </p:cNvSpPr>
          <p:nvPr>
            <p:ph type="body" sz="quarter" idx="22"/>
          </p:nvPr>
        </p:nvSpPr>
        <p:spPr>
          <a:xfrm>
            <a:off x="6208646" y="843652"/>
            <a:ext cx="74874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평가지적</a:t>
            </a:r>
          </a:p>
        </p:txBody>
      </p:sp>
      <p:sp>
        <p:nvSpPr>
          <p:cNvPr id="16" name="표 외곽"/>
          <p:cNvSpPr/>
          <p:nvPr/>
        </p:nvSpPr>
        <p:spPr>
          <a:xfrm>
            <a:off x="723130" y="1128522"/>
            <a:ext cx="6300000" cy="44107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레일"/>
          <p:cNvSpPr/>
          <p:nvPr/>
        </p:nvSpPr>
        <p:spPr>
          <a:xfrm>
            <a:off x="734087" y="1144957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3"/>
          </p:nvPr>
        </p:nvSpPr>
        <p:spPr>
          <a:xfrm>
            <a:off x="734087" y="1144957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챌린지</a:t>
            </a:r>
          </a:p>
        </p:txBody>
      </p:sp>
      <p:sp>
        <p:nvSpPr>
          <p:cNvPr id="19" name="배너"/>
          <p:cNvSpPr/>
          <p:nvPr/>
        </p:nvSpPr>
        <p:spPr>
          <a:xfrm>
            <a:off x="1347652" y="1166870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0" name="배너"/>
          <p:cNvSpPr>
            <a:spLocks noGrp="1"/>
          </p:cNvSpPr>
          <p:nvPr>
            <p:ph type="body" sz="quarter" idx="24"/>
          </p:nvPr>
        </p:nvSpPr>
        <p:spPr>
          <a:xfrm>
            <a:off x="1347652" y="1166870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’05년 자유 제안에서 시작되어 20년간 고유 ‘자율 혁신’으로 정착</a:t>
            </a:r>
          </a:p>
        </p:txBody>
      </p:sp>
      <p:sp>
        <p:nvSpPr>
          <p:cNvPr id="21" name="틀"/>
          <p:cNvSpPr/>
          <p:nvPr/>
        </p:nvSpPr>
        <p:spPr>
          <a:xfrm>
            <a:off x="723130" y="1624383"/>
            <a:ext cx="6300000" cy="115043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"/>
          <p:cNvSpPr/>
          <p:nvPr/>
        </p:nvSpPr>
        <p:spPr>
          <a:xfrm>
            <a:off x="734087" y="1635339"/>
            <a:ext cx="580696" cy="112852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5"/>
          </p:nvPr>
        </p:nvSpPr>
        <p:spPr>
          <a:xfrm>
            <a:off x="734087" y="1635339"/>
            <a:ext cx="580696" cy="112852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2025년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4" name="칸 제목 띠"/>
          <p:cNvSpPr/>
          <p:nvPr/>
        </p:nvSpPr>
        <p:spPr>
          <a:xfrm>
            <a:off x="1380522" y="1657252"/>
            <a:ext cx="1833391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칸 제목"/>
          <p:cNvSpPr>
            <a:spLocks noGrp="1"/>
          </p:cNvSpPr>
          <p:nvPr>
            <p:ph type="body" sz="quarter" idx="26"/>
          </p:nvPr>
        </p:nvSpPr>
        <p:spPr>
          <a:xfrm>
            <a:off x="1380522" y="1657252"/>
            <a:ext cx="1833391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새 정부 ‘국정기조’ 반영</a:t>
            </a:r>
          </a:p>
        </p:txBody>
      </p:sp>
      <p:sp>
        <p:nvSpPr>
          <p:cNvPr id="26" name="삼각 화살표"/>
          <p:cNvSpPr/>
          <p:nvPr/>
        </p:nvSpPr>
        <p:spPr>
          <a:xfrm>
            <a:off x="2236956" y="1854469"/>
            <a:ext cx="120522" cy="54783"/>
          </a:xfrm>
          <a:custGeom>
            <a:avLst/>
            <a:gdLst/>
            <a:ahLst/>
            <a:cxnLst/>
            <a:rect l="l" t="t" r="r" b="b"/>
            <a:pathLst>
              <a:path w="120522" h="54783">
                <a:moveTo>
                  <a:pt x="0" y="0"/>
                </a:moveTo>
                <a:lnTo>
                  <a:pt x="120522" y="0"/>
                </a:lnTo>
                <a:lnTo>
                  <a:pt x="60261" y="54783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7"/>
          </p:nvPr>
        </p:nvSpPr>
        <p:spPr>
          <a:xfrm>
            <a:off x="1391478" y="1920209"/>
            <a:ext cx="1811478" cy="799826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국가 발전을 위한 공공의 혁신 노력 강조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국민이 체감할 수 있는 서비스 최우선</a:t>
            </a:r>
          </a:p>
        </p:txBody>
      </p:sp>
      <p:sp>
        <p:nvSpPr>
          <p:cNvPr id="28" name="칸 제목 띠"/>
          <p:cNvSpPr/>
          <p:nvPr/>
        </p:nvSpPr>
        <p:spPr>
          <a:xfrm>
            <a:off x="3257739" y="1657252"/>
            <a:ext cx="1833391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칸 제목"/>
          <p:cNvSpPr>
            <a:spLocks noGrp="1"/>
          </p:cNvSpPr>
          <p:nvPr>
            <p:ph type="body" sz="quarter" idx="28"/>
          </p:nvPr>
        </p:nvSpPr>
        <p:spPr>
          <a:xfrm>
            <a:off x="3257739" y="1657252"/>
            <a:ext cx="1833391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전문가 ‘혁신발전 제언’</a:t>
            </a:r>
          </a:p>
        </p:txBody>
      </p:sp>
      <p:sp>
        <p:nvSpPr>
          <p:cNvPr id="30" name="삼각 화살표"/>
          <p:cNvSpPr/>
          <p:nvPr/>
        </p:nvSpPr>
        <p:spPr>
          <a:xfrm>
            <a:off x="4114173" y="1854469"/>
            <a:ext cx="120522" cy="54783"/>
          </a:xfrm>
          <a:custGeom>
            <a:avLst/>
            <a:gdLst/>
            <a:ahLst/>
            <a:cxnLst/>
            <a:rect l="l" t="t" r="r" b="b"/>
            <a:pathLst>
              <a:path w="120522" h="54783">
                <a:moveTo>
                  <a:pt x="0" y="0"/>
                </a:moveTo>
                <a:lnTo>
                  <a:pt x="120522" y="0"/>
                </a:lnTo>
                <a:lnTo>
                  <a:pt x="60261" y="54783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사진 칸"/>
          <p:cNvSpPr/>
          <p:nvPr/>
        </p:nvSpPr>
        <p:spPr>
          <a:xfrm>
            <a:off x="4211979" y="1931165"/>
            <a:ext cx="868195" cy="766957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2" name="사진 칸"/>
          <p:cNvSpPr>
            <a:spLocks noGrp="1"/>
          </p:cNvSpPr>
          <p:nvPr>
            <p:ph type="body" sz="quarter" idx="29"/>
          </p:nvPr>
        </p:nvSpPr>
        <p:spPr>
          <a:xfrm>
            <a:off x="4211979" y="1931165"/>
            <a:ext cx="868195" cy="76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인물 사진</a:t>
            </a:r>
          </a:p>
        </p:txBody>
      </p:sp>
      <p:sp>
        <p:nvSpPr>
          <p:cNvPr id="33" name="칸 본문"/>
          <p:cNvSpPr>
            <a:spLocks noGrp="1"/>
          </p:cNvSpPr>
          <p:nvPr>
            <p:ph type="body" sz="quarter" idx="30"/>
          </p:nvPr>
        </p:nvSpPr>
        <p:spPr>
          <a:xfrm>
            <a:off x="3268696" y="1920209"/>
            <a:ext cx="905739" cy="799826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혁신의 질과 양을 높일 수 있는 고민이 필요</a:t>
            </a:r>
          </a:p>
        </p:txBody>
      </p:sp>
      <p:cxnSp>
        <p:nvCxnSpPr>
          <p:cNvPr id="34" name="Connector 23"/>
          <p:cNvCxnSpPr/>
          <p:nvPr/>
        </p:nvCxnSpPr>
        <p:spPr>
          <a:xfrm>
            <a:off x="3235826" y="1909252"/>
            <a:ext cx="0" cy="821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5" name="칸 제목 띠"/>
          <p:cNvSpPr/>
          <p:nvPr/>
        </p:nvSpPr>
        <p:spPr>
          <a:xfrm>
            <a:off x="5134957" y="1657252"/>
            <a:ext cx="1833391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칸 제목"/>
          <p:cNvSpPr>
            <a:spLocks noGrp="1"/>
          </p:cNvSpPr>
          <p:nvPr>
            <p:ph type="body" sz="quarter" idx="31"/>
          </p:nvPr>
        </p:nvSpPr>
        <p:spPr>
          <a:xfrm>
            <a:off x="5134957" y="1657252"/>
            <a:ext cx="1833391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구성원의 ‘관심과 니즈’</a:t>
            </a:r>
          </a:p>
        </p:txBody>
      </p:sp>
      <p:sp>
        <p:nvSpPr>
          <p:cNvPr id="37" name="삼각 화살표"/>
          <p:cNvSpPr/>
          <p:nvPr/>
        </p:nvSpPr>
        <p:spPr>
          <a:xfrm>
            <a:off x="5991391" y="1854469"/>
            <a:ext cx="120522" cy="54783"/>
          </a:xfrm>
          <a:custGeom>
            <a:avLst/>
            <a:gdLst/>
            <a:ahLst/>
            <a:cxnLst/>
            <a:rect l="l" t="t" r="r" b="b"/>
            <a:pathLst>
              <a:path w="120522" h="54783">
                <a:moveTo>
                  <a:pt x="0" y="0"/>
                </a:moveTo>
                <a:lnTo>
                  <a:pt x="120522" y="0"/>
                </a:lnTo>
                <a:lnTo>
                  <a:pt x="60261" y="54783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칸 본문"/>
          <p:cNvSpPr>
            <a:spLocks noGrp="1"/>
          </p:cNvSpPr>
          <p:nvPr>
            <p:ph type="body" sz="quarter" idx="32"/>
          </p:nvPr>
        </p:nvSpPr>
        <p:spPr>
          <a:xfrm>
            <a:off x="5145913" y="1920209"/>
            <a:ext cx="1811478" cy="799826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예산·지원 부족 ➡ 실행 지원제도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기대심리 ➡ 성과 보상체계 확대</a:t>
            </a:r>
          </a:p>
        </p:txBody>
      </p:sp>
      <p:cxnSp>
        <p:nvCxnSpPr>
          <p:cNvPr id="39" name="Connector 28"/>
          <p:cNvCxnSpPr/>
          <p:nvPr/>
        </p:nvCxnSpPr>
        <p:spPr>
          <a:xfrm>
            <a:off x="5113043" y="1909252"/>
            <a:ext cx="0" cy="821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0" name="배너"/>
          <p:cNvSpPr/>
          <p:nvPr/>
        </p:nvSpPr>
        <p:spPr>
          <a:xfrm>
            <a:off x="723130" y="2818643"/>
            <a:ext cx="6300000" cy="273913"/>
          </a:xfrm>
          <a:custGeom>
            <a:avLst/>
            <a:gdLst/>
            <a:ahLst/>
            <a:cxnLst/>
            <a:rect l="l" t="t" r="r" b="b"/>
            <a:pathLst>
              <a:path w="6300000" h="273913">
                <a:moveTo>
                  <a:pt x="0" y="0"/>
                </a:moveTo>
                <a:lnTo>
                  <a:pt x="6300000" y="0"/>
                </a:lnTo>
                <a:lnTo>
                  <a:pt x="6234261" y="273913"/>
                </a:lnTo>
                <a:lnTo>
                  <a:pt x="65739" y="273913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태그"/>
          <p:cNvSpPr/>
          <p:nvPr/>
        </p:nvSpPr>
        <p:spPr>
          <a:xfrm>
            <a:off x="942261" y="2873426"/>
            <a:ext cx="878317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2" name="태그"/>
          <p:cNvSpPr>
            <a:spLocks noGrp="1"/>
          </p:cNvSpPr>
          <p:nvPr>
            <p:ph type="body" sz="quarter" idx="33"/>
          </p:nvPr>
        </p:nvSpPr>
        <p:spPr>
          <a:xfrm>
            <a:off x="942261" y="2873426"/>
            <a:ext cx="878317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’25년 추진방향</a:t>
            </a:r>
          </a:p>
        </p:txBody>
      </p:sp>
      <p:sp>
        <p:nvSpPr>
          <p:cNvPr id="43" name="배너 글"/>
          <p:cNvSpPr>
            <a:spLocks noGrp="1"/>
          </p:cNvSpPr>
          <p:nvPr>
            <p:ph type="body" sz="quarter" idx="34"/>
          </p:nvPr>
        </p:nvSpPr>
        <p:spPr>
          <a:xfrm>
            <a:off x="1875360" y="2818643"/>
            <a:ext cx="4983422" cy="27391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혁신이 제대로 작동하여 ‘질과 양을 높이는’ 혁신챌린지 제도 운영</a:t>
            </a:r>
          </a:p>
        </p:txBody>
      </p:sp>
      <p:sp>
        <p:nvSpPr>
          <p:cNvPr id="44" name="표 외곽"/>
          <p:cNvSpPr/>
          <p:nvPr/>
        </p:nvSpPr>
        <p:spPr>
          <a:xfrm>
            <a:off x="723130" y="3136383"/>
            <a:ext cx="6300000" cy="144782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레일"/>
          <p:cNvSpPr/>
          <p:nvPr/>
        </p:nvSpPr>
        <p:spPr>
          <a:xfrm>
            <a:off x="734087" y="3152817"/>
            <a:ext cx="580696" cy="7766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6" name="레일"/>
          <p:cNvSpPr>
            <a:spLocks noGrp="1"/>
          </p:cNvSpPr>
          <p:nvPr>
            <p:ph type="body" sz="quarter" idx="35"/>
          </p:nvPr>
        </p:nvSpPr>
        <p:spPr>
          <a:xfrm>
            <a:off x="734087" y="3152817"/>
            <a:ext cx="580696" cy="7766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혁신의 質</a:t>
            </a:r>
          </a:p>
        </p:txBody>
      </p:sp>
      <p:sp>
        <p:nvSpPr>
          <p:cNvPr id="47" name="단계"/>
          <p:cNvSpPr/>
          <p:nvPr/>
        </p:nvSpPr>
        <p:spPr>
          <a:xfrm>
            <a:off x="1347652" y="3174730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8" name="단계"/>
          <p:cNvSpPr>
            <a:spLocks noGrp="1"/>
          </p:cNvSpPr>
          <p:nvPr>
            <p:ph type="body" sz="quarter" idx="36"/>
          </p:nvPr>
        </p:nvSpPr>
        <p:spPr>
          <a:xfrm>
            <a:off x="1347652" y="317473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</a:t>
            </a:r>
          </a:p>
        </p:txBody>
      </p:sp>
      <p:sp>
        <p:nvSpPr>
          <p:cNvPr id="49" name="단계"/>
          <p:cNvSpPr/>
          <p:nvPr/>
        </p:nvSpPr>
        <p:spPr>
          <a:xfrm>
            <a:off x="3230348" y="3174730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0" name="단계"/>
          <p:cNvSpPr>
            <a:spLocks noGrp="1"/>
          </p:cNvSpPr>
          <p:nvPr>
            <p:ph type="body" sz="quarter" idx="37"/>
          </p:nvPr>
        </p:nvSpPr>
        <p:spPr>
          <a:xfrm>
            <a:off x="3230348" y="317473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개선 ① 과제선정의 방향성 제안</a:t>
            </a:r>
          </a:p>
        </p:txBody>
      </p:sp>
      <p:sp>
        <p:nvSpPr>
          <p:cNvPr id="51" name="단계"/>
          <p:cNvSpPr/>
          <p:nvPr/>
        </p:nvSpPr>
        <p:spPr>
          <a:xfrm>
            <a:off x="5113043" y="3174730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2" name="단계"/>
          <p:cNvSpPr>
            <a:spLocks noGrp="1"/>
          </p:cNvSpPr>
          <p:nvPr>
            <p:ph type="body" sz="quarter" idx="38"/>
          </p:nvPr>
        </p:nvSpPr>
        <p:spPr>
          <a:xfrm>
            <a:off x="5113043" y="317473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② 혁신인재 육성·성과 고도화</a:t>
            </a:r>
          </a:p>
        </p:txBody>
      </p:sp>
      <p:sp>
        <p:nvSpPr>
          <p:cNvPr id="53" name="단계 삼각형"/>
          <p:cNvSpPr/>
          <p:nvPr/>
        </p:nvSpPr>
        <p:spPr>
          <a:xfrm>
            <a:off x="3230347" y="3174730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단계 삼각형"/>
          <p:cNvSpPr/>
          <p:nvPr/>
        </p:nvSpPr>
        <p:spPr>
          <a:xfrm>
            <a:off x="5113043" y="3174730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칸 본문"/>
          <p:cNvSpPr>
            <a:spLocks noGrp="1"/>
          </p:cNvSpPr>
          <p:nvPr>
            <p:ph type="body" sz="quarter" idx="39"/>
          </p:nvPr>
        </p:nvSpPr>
        <p:spPr>
          <a:xfrm>
            <a:off x="1358609" y="3426730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자율성에 기반을 둔 제도 운영</a:t>
            </a:r>
          </a:p>
        </p:txBody>
      </p:sp>
      <p:sp>
        <p:nvSpPr>
          <p:cNvPr id="56" name="칸 본문"/>
          <p:cNvSpPr>
            <a:spLocks noGrp="1"/>
          </p:cNvSpPr>
          <p:nvPr>
            <p:ph type="body" sz="quarter" idx="40"/>
          </p:nvPr>
        </p:nvSpPr>
        <p:spPr>
          <a:xfrm>
            <a:off x="3241304" y="3426730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자율 제안에서 정책 연계 ‘중점 분야’를 설정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’25년 중점 분야 52건 발굴</a:t>
            </a:r>
          </a:p>
        </p:txBody>
      </p:sp>
      <p:cxnSp>
        <p:nvCxnSpPr>
          <p:cNvPr id="57" name="Connector 41"/>
          <p:cNvCxnSpPr/>
          <p:nvPr/>
        </p:nvCxnSpPr>
        <p:spPr>
          <a:xfrm>
            <a:off x="3230348" y="3459600"/>
            <a:ext cx="0" cy="4315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8" name="칸 본문"/>
          <p:cNvSpPr>
            <a:spLocks noGrp="1"/>
          </p:cNvSpPr>
          <p:nvPr>
            <p:ph type="body" sz="quarter" idx="41"/>
          </p:nvPr>
        </p:nvSpPr>
        <p:spPr>
          <a:xfrm>
            <a:off x="5124000" y="3426730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역량교육(6회)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‘Step-Up’ 제도 도입으로 단계 점검</a:t>
            </a:r>
          </a:p>
        </p:txBody>
      </p:sp>
      <p:cxnSp>
        <p:nvCxnSpPr>
          <p:cNvPr id="59" name="Connector 43"/>
          <p:cNvCxnSpPr/>
          <p:nvPr/>
        </p:nvCxnSpPr>
        <p:spPr>
          <a:xfrm>
            <a:off x="5113043" y="3459600"/>
            <a:ext cx="0" cy="4315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0" name="레일"/>
          <p:cNvSpPr/>
          <p:nvPr/>
        </p:nvSpPr>
        <p:spPr>
          <a:xfrm>
            <a:off x="734087" y="3945913"/>
            <a:ext cx="580696" cy="621861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1" name="레일"/>
          <p:cNvSpPr>
            <a:spLocks noGrp="1"/>
          </p:cNvSpPr>
          <p:nvPr>
            <p:ph type="body" sz="quarter" idx="42"/>
          </p:nvPr>
        </p:nvSpPr>
        <p:spPr>
          <a:xfrm>
            <a:off x="734087" y="3945913"/>
            <a:ext cx="580696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혁신의 量</a:t>
            </a:r>
          </a:p>
        </p:txBody>
      </p:sp>
      <p:sp>
        <p:nvSpPr>
          <p:cNvPr id="62" name="레일 삼각형"/>
          <p:cNvSpPr/>
          <p:nvPr/>
        </p:nvSpPr>
        <p:spPr>
          <a:xfrm>
            <a:off x="734086" y="3945913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단계"/>
          <p:cNvSpPr/>
          <p:nvPr/>
        </p:nvSpPr>
        <p:spPr>
          <a:xfrm>
            <a:off x="1347652" y="3967826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4" name="단계"/>
          <p:cNvSpPr>
            <a:spLocks noGrp="1"/>
          </p:cNvSpPr>
          <p:nvPr>
            <p:ph type="body" sz="quarter" idx="43"/>
          </p:nvPr>
        </p:nvSpPr>
        <p:spPr>
          <a:xfrm>
            <a:off x="1347652" y="396782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</a:t>
            </a:r>
          </a:p>
        </p:txBody>
      </p:sp>
      <p:sp>
        <p:nvSpPr>
          <p:cNvPr id="65" name="단계"/>
          <p:cNvSpPr/>
          <p:nvPr/>
        </p:nvSpPr>
        <p:spPr>
          <a:xfrm>
            <a:off x="3230348" y="3967826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6" name="단계"/>
          <p:cNvSpPr>
            <a:spLocks noGrp="1"/>
          </p:cNvSpPr>
          <p:nvPr>
            <p:ph type="body" sz="quarter" idx="44"/>
          </p:nvPr>
        </p:nvSpPr>
        <p:spPr>
          <a:xfrm>
            <a:off x="3230348" y="396782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개선 ① 과제 완성지원 강화</a:t>
            </a:r>
          </a:p>
        </p:txBody>
      </p:sp>
      <p:sp>
        <p:nvSpPr>
          <p:cNvPr id="67" name="단계"/>
          <p:cNvSpPr/>
          <p:nvPr/>
        </p:nvSpPr>
        <p:spPr>
          <a:xfrm>
            <a:off x="5113043" y="3967826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8" name="단계"/>
          <p:cNvSpPr>
            <a:spLocks noGrp="1"/>
          </p:cNvSpPr>
          <p:nvPr>
            <p:ph type="body" sz="quarter" idx="45"/>
          </p:nvPr>
        </p:nvSpPr>
        <p:spPr>
          <a:xfrm>
            <a:off x="5113043" y="396782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② 혁신의 주역에게 명예보상 강화</a:t>
            </a:r>
          </a:p>
        </p:txBody>
      </p:sp>
      <p:sp>
        <p:nvSpPr>
          <p:cNvPr id="69" name="단계 삼각형"/>
          <p:cNvSpPr/>
          <p:nvPr/>
        </p:nvSpPr>
        <p:spPr>
          <a:xfrm>
            <a:off x="3230347" y="396782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단계 삼각형"/>
          <p:cNvSpPr/>
          <p:nvPr/>
        </p:nvSpPr>
        <p:spPr>
          <a:xfrm>
            <a:off x="5113043" y="396782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칸 본문"/>
          <p:cNvSpPr>
            <a:spLocks noGrp="1"/>
          </p:cNvSpPr>
          <p:nvPr>
            <p:ph type="body" sz="quarter" idx="46"/>
          </p:nvPr>
        </p:nvSpPr>
        <p:spPr>
          <a:xfrm>
            <a:off x="1358609" y="4219826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지원제도 점검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명예보상 부재</a:t>
            </a:r>
          </a:p>
        </p:txBody>
      </p:sp>
      <p:sp>
        <p:nvSpPr>
          <p:cNvPr id="72" name="칸 본문"/>
          <p:cNvSpPr>
            <a:spLocks noGrp="1"/>
          </p:cNvSpPr>
          <p:nvPr>
            <p:ph type="body" sz="quarter" idx="47"/>
          </p:nvPr>
        </p:nvSpPr>
        <p:spPr>
          <a:xfrm>
            <a:off x="3241304" y="4219826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방향성을 고려한 지원제도 고도화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플랫폼 참여 43팀, 7억원 지원</a:t>
            </a:r>
          </a:p>
        </p:txBody>
      </p:sp>
      <p:cxnSp>
        <p:nvCxnSpPr>
          <p:cNvPr id="73" name="Connector 53"/>
          <p:cNvCxnSpPr/>
          <p:nvPr/>
        </p:nvCxnSpPr>
        <p:spPr>
          <a:xfrm>
            <a:off x="3230348" y="4252696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4" name="칸 본문"/>
          <p:cNvSpPr>
            <a:spLocks noGrp="1"/>
          </p:cNvSpPr>
          <p:nvPr>
            <p:ph type="body" sz="quarter" idx="48"/>
          </p:nvPr>
        </p:nvSpPr>
        <p:spPr>
          <a:xfrm>
            <a:off x="5124000" y="4219826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‘혁신챌린지 특별승진’ 제도화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1명 특별승진</a:t>
            </a:r>
          </a:p>
        </p:txBody>
      </p:sp>
      <p:cxnSp>
        <p:nvCxnSpPr>
          <p:cNvPr id="75" name="Connector 55"/>
          <p:cNvCxnSpPr/>
          <p:nvPr/>
        </p:nvCxnSpPr>
        <p:spPr>
          <a:xfrm>
            <a:off x="5113043" y="4252696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6" name="캡션 띠"/>
          <p:cNvSpPr/>
          <p:nvPr/>
        </p:nvSpPr>
        <p:spPr>
          <a:xfrm>
            <a:off x="723130" y="4606121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태그"/>
          <p:cNvSpPr/>
          <p:nvPr/>
        </p:nvSpPr>
        <p:spPr>
          <a:xfrm>
            <a:off x="1051826" y="4649948"/>
            <a:ext cx="548640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8" name="태그"/>
          <p:cNvSpPr>
            <a:spLocks noGrp="1"/>
          </p:cNvSpPr>
          <p:nvPr>
            <p:ph type="body" sz="quarter" idx="49"/>
          </p:nvPr>
        </p:nvSpPr>
        <p:spPr>
          <a:xfrm>
            <a:off x="1051826" y="4649948"/>
            <a:ext cx="548640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79" name="캡션"/>
          <p:cNvSpPr>
            <a:spLocks noGrp="1"/>
          </p:cNvSpPr>
          <p:nvPr>
            <p:ph type="body" sz="quarter" idx="50"/>
          </p:nvPr>
        </p:nvSpPr>
        <p:spPr>
          <a:xfrm>
            <a:off x="1655249" y="4606122"/>
            <a:ext cx="5148751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AI 활용, 국민안전, 공공서비스 향상 등 정책 방향성을 담은 과제 52건 발굴</a:t>
            </a:r>
          </a:p>
        </p:txBody>
      </p:sp>
      <p:sp>
        <p:nvSpPr>
          <p:cNvPr id="80" name="표 외곽"/>
          <p:cNvSpPr/>
          <p:nvPr/>
        </p:nvSpPr>
        <p:spPr>
          <a:xfrm>
            <a:off x="723130" y="4912904"/>
            <a:ext cx="6300000" cy="190252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레일"/>
          <p:cNvSpPr/>
          <p:nvPr/>
        </p:nvSpPr>
        <p:spPr>
          <a:xfrm>
            <a:off x="734087" y="4929339"/>
            <a:ext cx="580696" cy="1231357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2" name="레일"/>
          <p:cNvSpPr>
            <a:spLocks noGrp="1"/>
          </p:cNvSpPr>
          <p:nvPr>
            <p:ph type="body" sz="quarter" idx="51"/>
          </p:nvPr>
        </p:nvSpPr>
        <p:spPr>
          <a:xfrm>
            <a:off x="734087" y="4929339"/>
            <a:ext cx="580696" cy="12313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AI·안전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위험제거</a:t>
            </a:r>
          </a:p>
        </p:txBody>
      </p:sp>
      <p:sp>
        <p:nvSpPr>
          <p:cNvPr id="83" name="단계"/>
          <p:cNvSpPr/>
          <p:nvPr/>
        </p:nvSpPr>
        <p:spPr>
          <a:xfrm>
            <a:off x="1347652" y="4951252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4" name="단계"/>
          <p:cNvSpPr>
            <a:spLocks noGrp="1"/>
          </p:cNvSpPr>
          <p:nvPr>
            <p:ph type="body" sz="quarter" idx="52"/>
          </p:nvPr>
        </p:nvSpPr>
        <p:spPr>
          <a:xfrm>
            <a:off x="1347652" y="4951252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발밑의 습격</a:t>
            </a:r>
          </a:p>
        </p:txBody>
      </p:sp>
      <p:sp>
        <p:nvSpPr>
          <p:cNvPr id="85" name="단계"/>
          <p:cNvSpPr/>
          <p:nvPr/>
        </p:nvSpPr>
        <p:spPr>
          <a:xfrm>
            <a:off x="3230348" y="4951252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6" name="단계"/>
          <p:cNvSpPr>
            <a:spLocks noGrp="1"/>
          </p:cNvSpPr>
          <p:nvPr>
            <p:ph type="body" sz="quarter" idx="53"/>
          </p:nvPr>
        </p:nvSpPr>
        <p:spPr>
          <a:xfrm>
            <a:off x="3230348" y="4951252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AI 기술 활용 위험 제거</a:t>
            </a:r>
          </a:p>
        </p:txBody>
      </p:sp>
      <p:sp>
        <p:nvSpPr>
          <p:cNvPr id="87" name="단계"/>
          <p:cNvSpPr/>
          <p:nvPr/>
        </p:nvSpPr>
        <p:spPr>
          <a:xfrm>
            <a:off x="5113043" y="4951252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88" name="단계"/>
          <p:cNvSpPr>
            <a:spLocks noGrp="1"/>
          </p:cNvSpPr>
          <p:nvPr>
            <p:ph type="body" sz="quarter" idx="54"/>
          </p:nvPr>
        </p:nvSpPr>
        <p:spPr>
          <a:xfrm>
            <a:off x="5113043" y="4951252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관로주변 위험 제거</a:t>
            </a:r>
          </a:p>
        </p:txBody>
      </p:sp>
      <p:sp>
        <p:nvSpPr>
          <p:cNvPr id="89" name="단계 삼각형"/>
          <p:cNvSpPr/>
          <p:nvPr/>
        </p:nvSpPr>
        <p:spPr>
          <a:xfrm>
            <a:off x="3230347" y="4951252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단계 삼각형"/>
          <p:cNvSpPr/>
          <p:nvPr/>
        </p:nvSpPr>
        <p:spPr>
          <a:xfrm>
            <a:off x="5113043" y="4951252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칸 본문"/>
          <p:cNvSpPr>
            <a:spLocks noGrp="1"/>
          </p:cNvSpPr>
          <p:nvPr>
            <p:ph type="body" sz="quarter" idx="55"/>
          </p:nvPr>
        </p:nvSpPr>
        <p:spPr>
          <a:xfrm>
            <a:off x="1358609" y="5203252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주요원인은 상·하수관 손상 50.2%</a:t>
            </a:r>
          </a:p>
        </p:txBody>
      </p:sp>
      <p:sp>
        <p:nvSpPr>
          <p:cNvPr id="92" name="칸 본문"/>
          <p:cNvSpPr>
            <a:spLocks noGrp="1"/>
          </p:cNvSpPr>
          <p:nvPr>
            <p:ph type="body" sz="quarter" idx="56"/>
          </p:nvPr>
        </p:nvSpPr>
        <p:spPr>
          <a:xfrm>
            <a:off x="3241304" y="5203252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침하영향 AI 학습으로 위험등급 시각화</a:t>
            </a:r>
          </a:p>
        </p:txBody>
      </p:sp>
      <p:cxnSp>
        <p:nvCxnSpPr>
          <p:cNvPr id="93" name="Connector 68"/>
          <p:cNvCxnSpPr/>
          <p:nvPr/>
        </p:nvCxnSpPr>
        <p:spPr>
          <a:xfrm>
            <a:off x="3230348" y="5236122"/>
            <a:ext cx="0" cy="4315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4" name="칸 본문"/>
          <p:cNvSpPr>
            <a:spLocks noGrp="1"/>
          </p:cNvSpPr>
          <p:nvPr>
            <p:ph type="body" sz="quarter" idx="57"/>
          </p:nvPr>
        </p:nvSpPr>
        <p:spPr>
          <a:xfrm>
            <a:off x="5124000" y="5203252"/>
            <a:ext cx="1860783" cy="4972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44개 지점, 관로 78.5km 시범운영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예측정확도 73.9% 달성</a:t>
            </a:r>
          </a:p>
        </p:txBody>
      </p:sp>
      <p:cxnSp>
        <p:nvCxnSpPr>
          <p:cNvPr id="95" name="Connector 70"/>
          <p:cNvCxnSpPr/>
          <p:nvPr/>
        </p:nvCxnSpPr>
        <p:spPr>
          <a:xfrm>
            <a:off x="5113043" y="5236122"/>
            <a:ext cx="0" cy="4315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6" name="칸 본문"/>
          <p:cNvSpPr>
            <a:spLocks noGrp="1"/>
          </p:cNvSpPr>
          <p:nvPr>
            <p:ph type="body" sz="quarter" idx="58"/>
          </p:nvPr>
        </p:nvSpPr>
        <p:spPr>
          <a:xfrm>
            <a:off x="1358609" y="5716957"/>
            <a:ext cx="4514087" cy="43826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 사진 자리: 점검 전후</a:t>
            </a:r>
          </a:p>
        </p:txBody>
      </p:sp>
      <p:sp>
        <p:nvSpPr>
          <p:cNvPr id="97" name="사진 칸"/>
          <p:cNvSpPr/>
          <p:nvPr/>
        </p:nvSpPr>
        <p:spPr>
          <a:xfrm>
            <a:off x="5916522" y="5722435"/>
            <a:ext cx="1079217" cy="427304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98" name="사진 칸"/>
          <p:cNvSpPr>
            <a:spLocks noGrp="1"/>
          </p:cNvSpPr>
          <p:nvPr>
            <p:ph type="body" sz="quarter" idx="59"/>
          </p:nvPr>
        </p:nvSpPr>
        <p:spPr>
          <a:xfrm>
            <a:off x="5916522" y="5722435"/>
            <a:ext cx="1079217" cy="427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</a:t>
            </a:r>
          </a:p>
        </p:txBody>
      </p:sp>
      <p:sp>
        <p:nvSpPr>
          <p:cNvPr id="99" name="레일"/>
          <p:cNvSpPr/>
          <p:nvPr/>
        </p:nvSpPr>
        <p:spPr>
          <a:xfrm>
            <a:off x="734087" y="6177130"/>
            <a:ext cx="580696" cy="621861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00" name="레일"/>
          <p:cNvSpPr>
            <a:spLocks noGrp="1"/>
          </p:cNvSpPr>
          <p:nvPr>
            <p:ph type="body" sz="quarter" idx="60"/>
          </p:nvPr>
        </p:nvSpPr>
        <p:spPr>
          <a:xfrm>
            <a:off x="734087" y="6177130"/>
            <a:ext cx="580696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업무효율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예방</a:t>
            </a:r>
          </a:p>
        </p:txBody>
      </p:sp>
      <p:sp>
        <p:nvSpPr>
          <p:cNvPr id="101" name="레일 삼각형"/>
          <p:cNvSpPr/>
          <p:nvPr/>
        </p:nvSpPr>
        <p:spPr>
          <a:xfrm>
            <a:off x="734086" y="6177130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단계"/>
          <p:cNvSpPr/>
          <p:nvPr/>
        </p:nvSpPr>
        <p:spPr>
          <a:xfrm>
            <a:off x="1347652" y="6199043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03" name="단계"/>
          <p:cNvSpPr>
            <a:spLocks noGrp="1"/>
          </p:cNvSpPr>
          <p:nvPr>
            <p:ph type="body" sz="quarter" idx="61"/>
          </p:nvPr>
        </p:nvSpPr>
        <p:spPr>
          <a:xfrm>
            <a:off x="1347652" y="619904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담당자가 공사 개별 확인</a:t>
            </a:r>
          </a:p>
        </p:txBody>
      </p:sp>
      <p:sp>
        <p:nvSpPr>
          <p:cNvPr id="104" name="단계"/>
          <p:cNvSpPr/>
          <p:nvPr/>
        </p:nvSpPr>
        <p:spPr>
          <a:xfrm>
            <a:off x="3230348" y="6199043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05" name="단계"/>
          <p:cNvSpPr>
            <a:spLocks noGrp="1"/>
          </p:cNvSpPr>
          <p:nvPr>
            <p:ph type="body" sz="quarter" idx="62"/>
          </p:nvPr>
        </p:nvSpPr>
        <p:spPr>
          <a:xfrm>
            <a:off x="3230348" y="619904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집중 검토 대상을 한 곳에</a:t>
            </a:r>
          </a:p>
        </p:txBody>
      </p:sp>
      <p:sp>
        <p:nvSpPr>
          <p:cNvPr id="106" name="단계"/>
          <p:cNvSpPr/>
          <p:nvPr/>
        </p:nvSpPr>
        <p:spPr>
          <a:xfrm>
            <a:off x="5113043" y="6199043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07" name="단계"/>
          <p:cNvSpPr>
            <a:spLocks noGrp="1"/>
          </p:cNvSpPr>
          <p:nvPr>
            <p:ph type="body" sz="quarter" idx="63"/>
          </p:nvPr>
        </p:nvSpPr>
        <p:spPr>
          <a:xfrm>
            <a:off x="5113043" y="619904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통합플랫폼 구축</a:t>
            </a:r>
          </a:p>
        </p:txBody>
      </p:sp>
      <p:sp>
        <p:nvSpPr>
          <p:cNvPr id="108" name="단계 삼각형"/>
          <p:cNvSpPr/>
          <p:nvPr/>
        </p:nvSpPr>
        <p:spPr>
          <a:xfrm>
            <a:off x="3230347" y="6199043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단계 삼각형"/>
          <p:cNvSpPr/>
          <p:nvPr/>
        </p:nvSpPr>
        <p:spPr>
          <a:xfrm>
            <a:off x="5113043" y="619904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칸 본문"/>
          <p:cNvSpPr>
            <a:spLocks noGrp="1"/>
          </p:cNvSpPr>
          <p:nvPr>
            <p:ph type="body" sz="quarter" idx="64"/>
          </p:nvPr>
        </p:nvSpPr>
        <p:spPr>
          <a:xfrm>
            <a:off x="1358609" y="645104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도시 개발로 저촉 공사 과다</a:t>
            </a:r>
          </a:p>
        </p:txBody>
      </p:sp>
      <p:sp>
        <p:nvSpPr>
          <p:cNvPr id="111" name="칸 본문"/>
          <p:cNvSpPr>
            <a:spLocks noGrp="1"/>
          </p:cNvSpPr>
          <p:nvPr>
            <p:ph type="body" sz="quarter" idx="65"/>
          </p:nvPr>
        </p:nvSpPr>
        <p:spPr>
          <a:xfrm>
            <a:off x="3241304" y="645104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저촉 여부 판별 시스템 개발</a:t>
            </a:r>
          </a:p>
        </p:txBody>
      </p:sp>
      <p:cxnSp>
        <p:nvCxnSpPr>
          <p:cNvPr id="112" name="Connector 82"/>
          <p:cNvCxnSpPr/>
          <p:nvPr/>
        </p:nvCxnSpPr>
        <p:spPr>
          <a:xfrm>
            <a:off x="3230348" y="6483913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3" name="칸 본문"/>
          <p:cNvSpPr>
            <a:spLocks noGrp="1"/>
          </p:cNvSpPr>
          <p:nvPr>
            <p:ph type="body" sz="quarter" idx="66"/>
          </p:nvPr>
        </p:nvSpPr>
        <p:spPr>
          <a:xfrm>
            <a:off x="5124000" y="645104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검토시간 83% 단축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안정적 물 공급 실현</a:t>
            </a:r>
          </a:p>
        </p:txBody>
      </p:sp>
      <p:cxnSp>
        <p:nvCxnSpPr>
          <p:cNvPr id="114" name="Connector 84"/>
          <p:cNvCxnSpPr/>
          <p:nvPr/>
        </p:nvCxnSpPr>
        <p:spPr>
          <a:xfrm>
            <a:off x="5113043" y="6483913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31 서사 · 환경·성과분석 → 시사점 → 로드맵 → 추진체계 → 종합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한 마음으로 이뤄낸 최고의 결실, 청렴도 1위 달성</a:t>
            </a:r>
          </a:p>
        </p:txBody>
      </p:sp>
      <p:sp>
        <p:nvSpPr>
          <p:cNvPr id="15" name="번호 띠 칩"/>
          <p:cNvSpPr/>
          <p:nvPr/>
        </p:nvSpPr>
        <p:spPr>
          <a:xfrm>
            <a:off x="6265613" y="832696"/>
            <a:ext cx="505517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번호 띠 칩"/>
          <p:cNvSpPr>
            <a:spLocks noGrp="1"/>
          </p:cNvSpPr>
          <p:nvPr>
            <p:ph type="body" sz="quarter" idx="22"/>
          </p:nvPr>
        </p:nvSpPr>
        <p:spPr>
          <a:xfrm>
            <a:off x="6265613" y="832696"/>
            <a:ext cx="50551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17" name="번호 띠 칩"/>
          <p:cNvSpPr/>
          <p:nvPr/>
        </p:nvSpPr>
        <p:spPr>
          <a:xfrm>
            <a:off x="5692579" y="832696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번호 띠 칩"/>
          <p:cNvSpPr>
            <a:spLocks noGrp="1"/>
          </p:cNvSpPr>
          <p:nvPr>
            <p:ph type="body" sz="quarter" idx="23"/>
          </p:nvPr>
        </p:nvSpPr>
        <p:spPr>
          <a:xfrm>
            <a:off x="5692579" y="832696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9" name="표 외곽"/>
          <p:cNvSpPr/>
          <p:nvPr/>
        </p:nvSpPr>
        <p:spPr>
          <a:xfrm>
            <a:off x="536870" y="1117565"/>
            <a:ext cx="6300000" cy="126970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레일"/>
          <p:cNvSpPr/>
          <p:nvPr/>
        </p:nvSpPr>
        <p:spPr>
          <a:xfrm>
            <a:off x="547826" y="1134000"/>
            <a:ext cx="580696" cy="2534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134000"/>
            <a:ext cx="580696" cy="2534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C E O</a:t>
            </a:r>
          </a:p>
        </p:txBody>
      </p:sp>
      <p:sp>
        <p:nvSpPr>
          <p:cNvPr id="22" name="배너"/>
          <p:cNvSpPr/>
          <p:nvPr/>
        </p:nvSpPr>
        <p:spPr>
          <a:xfrm>
            <a:off x="1161391" y="1155913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3" name="배너"/>
          <p:cNvSpPr>
            <a:spLocks noGrp="1"/>
          </p:cNvSpPr>
          <p:nvPr>
            <p:ph type="body" sz="quarter" idx="25"/>
          </p:nvPr>
        </p:nvSpPr>
        <p:spPr>
          <a:xfrm>
            <a:off x="1161391" y="1155913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“청렴은 가장 기본, 강력한 내부통제 기반 윤리경영으로 청렴도 제고”(’25 신년사)</a:t>
            </a:r>
          </a:p>
        </p:txBody>
      </p:sp>
      <p:sp>
        <p:nvSpPr>
          <p:cNvPr id="24" name="레일"/>
          <p:cNvSpPr/>
          <p:nvPr/>
        </p:nvSpPr>
        <p:spPr>
          <a:xfrm>
            <a:off x="547826" y="1403843"/>
            <a:ext cx="580696" cy="410870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6"/>
          </p:nvPr>
        </p:nvSpPr>
        <p:spPr>
          <a:xfrm>
            <a:off x="547826" y="1403843"/>
            <a:ext cx="580696" cy="41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6" name="레일 삼각형"/>
          <p:cNvSpPr/>
          <p:nvPr/>
        </p:nvSpPr>
        <p:spPr>
          <a:xfrm>
            <a:off x="547826" y="1403843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7"/>
          </p:nvPr>
        </p:nvSpPr>
        <p:spPr>
          <a:xfrm>
            <a:off x="1172348" y="1425757"/>
            <a:ext cx="448761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외부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28"/>
          </p:nvPr>
        </p:nvSpPr>
        <p:spPr>
          <a:xfrm>
            <a:off x="1643022" y="1425757"/>
            <a:ext cx="2331457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정부목표 국가청렴도 20위 달성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 반부패 개혁</a:t>
            </a:r>
          </a:p>
        </p:txBody>
      </p:sp>
      <p:cxnSp>
        <p:nvCxnSpPr>
          <p:cNvPr id="29" name="Connector 20"/>
          <p:cNvCxnSpPr/>
          <p:nvPr/>
        </p:nvCxnSpPr>
        <p:spPr>
          <a:xfrm>
            <a:off x="1632065" y="1458626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칸 본문"/>
          <p:cNvSpPr>
            <a:spLocks noGrp="1"/>
          </p:cNvSpPr>
          <p:nvPr>
            <p:ph type="body" sz="quarter" idx="29"/>
          </p:nvPr>
        </p:nvSpPr>
        <p:spPr>
          <a:xfrm>
            <a:off x="3996391" y="1425757"/>
            <a:ext cx="448761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</a:t>
            </a:r>
          </a:p>
        </p:txBody>
      </p:sp>
      <p:cxnSp>
        <p:nvCxnSpPr>
          <p:cNvPr id="31" name="Connector 22"/>
          <p:cNvCxnSpPr/>
          <p:nvPr/>
        </p:nvCxnSpPr>
        <p:spPr>
          <a:xfrm>
            <a:off x="3985435" y="1458626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칸 본문"/>
          <p:cNvSpPr>
            <a:spLocks noGrp="1"/>
          </p:cNvSpPr>
          <p:nvPr>
            <p:ph type="body" sz="quarter" idx="30"/>
          </p:nvPr>
        </p:nvSpPr>
        <p:spPr>
          <a:xfrm>
            <a:off x="4467065" y="1425757"/>
            <a:ext cx="2331457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내부체감 소폭 반등에도 60점대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외부체감 평균 하회</a:t>
            </a:r>
          </a:p>
        </p:txBody>
      </p:sp>
      <p:cxnSp>
        <p:nvCxnSpPr>
          <p:cNvPr id="33" name="Connector 24"/>
          <p:cNvCxnSpPr/>
          <p:nvPr/>
        </p:nvCxnSpPr>
        <p:spPr>
          <a:xfrm>
            <a:off x="4456109" y="1458626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레일"/>
          <p:cNvSpPr/>
          <p:nvPr/>
        </p:nvSpPr>
        <p:spPr>
          <a:xfrm>
            <a:off x="547826" y="1831148"/>
            <a:ext cx="580696" cy="53968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5" name="레일"/>
          <p:cNvSpPr>
            <a:spLocks noGrp="1"/>
          </p:cNvSpPr>
          <p:nvPr>
            <p:ph type="body" sz="quarter" idx="31"/>
          </p:nvPr>
        </p:nvSpPr>
        <p:spPr>
          <a:xfrm>
            <a:off x="547826" y="1831148"/>
            <a:ext cx="580696" cy="5396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성과분석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(~’24년)</a:t>
            </a:r>
          </a:p>
        </p:txBody>
      </p:sp>
      <p:sp>
        <p:nvSpPr>
          <p:cNvPr id="36" name="레일 삼각형"/>
          <p:cNvSpPr/>
          <p:nvPr/>
        </p:nvSpPr>
        <p:spPr>
          <a:xfrm>
            <a:off x="547826" y="1831147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칸 본문"/>
          <p:cNvSpPr>
            <a:spLocks noGrp="1"/>
          </p:cNvSpPr>
          <p:nvPr>
            <p:ph type="body" sz="quarter" idx="32"/>
          </p:nvPr>
        </p:nvSpPr>
        <p:spPr>
          <a:xfrm>
            <a:off x="1172348" y="1853061"/>
            <a:ext cx="448761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38" name="칸 본문"/>
          <p:cNvSpPr>
            <a:spLocks noGrp="1"/>
          </p:cNvSpPr>
          <p:nvPr>
            <p:ph type="body" sz="quarter" idx="33"/>
          </p:nvPr>
        </p:nvSpPr>
        <p:spPr>
          <a:xfrm>
            <a:off x="1643022" y="1853061"/>
            <a:ext cx="2331457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’23년 표준모델 선제 도입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’24년 실행조직 발족</a:t>
            </a:r>
          </a:p>
        </p:txBody>
      </p:sp>
      <p:cxnSp>
        <p:nvCxnSpPr>
          <p:cNvPr id="39" name="Connector 29"/>
          <p:cNvCxnSpPr/>
          <p:nvPr/>
        </p:nvCxnSpPr>
        <p:spPr>
          <a:xfrm>
            <a:off x="1632065" y="1885930"/>
            <a:ext cx="0" cy="31774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0" name="칸 본문"/>
          <p:cNvSpPr>
            <a:spLocks noGrp="1"/>
          </p:cNvSpPr>
          <p:nvPr>
            <p:ph type="body" sz="quarter" idx="34"/>
          </p:nvPr>
        </p:nvSpPr>
        <p:spPr>
          <a:xfrm>
            <a:off x="3996391" y="1853061"/>
            <a:ext cx="448761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한계</a:t>
            </a:r>
          </a:p>
        </p:txBody>
      </p:sp>
      <p:cxnSp>
        <p:nvCxnSpPr>
          <p:cNvPr id="41" name="Connector 31"/>
          <p:cNvCxnSpPr/>
          <p:nvPr/>
        </p:nvCxnSpPr>
        <p:spPr>
          <a:xfrm>
            <a:off x="3985435" y="1885930"/>
            <a:ext cx="0" cy="31774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2" name="칸 본문"/>
          <p:cNvSpPr>
            <a:spLocks noGrp="1"/>
          </p:cNvSpPr>
          <p:nvPr>
            <p:ph type="body" sz="quarter" idx="35"/>
          </p:nvPr>
        </p:nvSpPr>
        <p:spPr>
          <a:xfrm>
            <a:off x="4467065" y="1853061"/>
            <a:ext cx="2331457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본사 중심 활동, 현장 반영 부족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현안과 단기 성과 집중</a:t>
            </a:r>
          </a:p>
        </p:txBody>
      </p:sp>
      <p:cxnSp>
        <p:nvCxnSpPr>
          <p:cNvPr id="43" name="Connector 33"/>
          <p:cNvCxnSpPr/>
          <p:nvPr/>
        </p:nvCxnSpPr>
        <p:spPr>
          <a:xfrm>
            <a:off x="4456109" y="1885930"/>
            <a:ext cx="0" cy="31774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4" name="캡션 띠"/>
          <p:cNvSpPr/>
          <p:nvPr/>
        </p:nvSpPr>
        <p:spPr>
          <a:xfrm>
            <a:off x="536869" y="2409182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태그"/>
          <p:cNvSpPr/>
          <p:nvPr/>
        </p:nvSpPr>
        <p:spPr>
          <a:xfrm>
            <a:off x="865565" y="2453009"/>
            <a:ext cx="438871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6" name="태그"/>
          <p:cNvSpPr>
            <a:spLocks noGrp="1"/>
          </p:cNvSpPr>
          <p:nvPr>
            <p:ph type="body" sz="quarter" idx="36"/>
          </p:nvPr>
        </p:nvSpPr>
        <p:spPr>
          <a:xfrm>
            <a:off x="865565" y="2453009"/>
            <a:ext cx="438871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47" name="캡션"/>
          <p:cNvSpPr>
            <a:spLocks noGrp="1"/>
          </p:cNvSpPr>
          <p:nvPr>
            <p:ph type="body" sz="quarter" idx="37"/>
          </p:nvPr>
        </p:nvSpPr>
        <p:spPr>
          <a:xfrm>
            <a:off x="1359219" y="2409183"/>
            <a:ext cx="5258520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국민·구성원이 체감 가능한, 청렴위기 극복 위한 뼈를 깎는 노력 필요</a:t>
            </a:r>
          </a:p>
        </p:txBody>
      </p:sp>
      <p:sp>
        <p:nvSpPr>
          <p:cNvPr id="48" name="표 외곽"/>
          <p:cNvSpPr/>
          <p:nvPr/>
        </p:nvSpPr>
        <p:spPr>
          <a:xfrm>
            <a:off x="536870" y="2715965"/>
            <a:ext cx="6300000" cy="61904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레일"/>
          <p:cNvSpPr/>
          <p:nvPr/>
        </p:nvSpPr>
        <p:spPr>
          <a:xfrm>
            <a:off x="547826" y="2732400"/>
            <a:ext cx="580696" cy="58617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0" name="레일"/>
          <p:cNvSpPr>
            <a:spLocks noGrp="1"/>
          </p:cNvSpPr>
          <p:nvPr>
            <p:ph type="body" sz="quarter" idx="38"/>
          </p:nvPr>
        </p:nvSpPr>
        <p:spPr>
          <a:xfrm>
            <a:off x="547826" y="2732400"/>
            <a:ext cx="580696" cy="586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로 드 맵</a:t>
            </a:r>
          </a:p>
        </p:txBody>
      </p:sp>
      <p:sp>
        <p:nvSpPr>
          <p:cNvPr id="51" name="단계"/>
          <p:cNvSpPr/>
          <p:nvPr/>
        </p:nvSpPr>
        <p:spPr>
          <a:xfrm>
            <a:off x="1161391" y="2754313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2" name="단계"/>
          <p:cNvSpPr>
            <a:spLocks noGrp="1"/>
          </p:cNvSpPr>
          <p:nvPr>
            <p:ph type="body" sz="quarter" idx="39"/>
          </p:nvPr>
        </p:nvSpPr>
        <p:spPr>
          <a:xfrm>
            <a:off x="1161391" y="275431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’24년 윤리경영체계 고도화</a:t>
            </a:r>
          </a:p>
        </p:txBody>
      </p:sp>
      <p:sp>
        <p:nvSpPr>
          <p:cNvPr id="53" name="단계"/>
          <p:cNvSpPr/>
          <p:nvPr/>
        </p:nvSpPr>
        <p:spPr>
          <a:xfrm>
            <a:off x="3044087" y="2754313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4" name="단계"/>
          <p:cNvSpPr>
            <a:spLocks noGrp="1"/>
          </p:cNvSpPr>
          <p:nvPr>
            <p:ph type="body" sz="quarter" idx="40"/>
          </p:nvPr>
        </p:nvSpPr>
        <p:spPr>
          <a:xfrm>
            <a:off x="3044087" y="275431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’25년 공공 윤리경영 선도</a:t>
            </a:r>
          </a:p>
        </p:txBody>
      </p:sp>
      <p:sp>
        <p:nvSpPr>
          <p:cNvPr id="55" name="단계"/>
          <p:cNvSpPr/>
          <p:nvPr/>
        </p:nvSpPr>
        <p:spPr>
          <a:xfrm>
            <a:off x="4926783" y="2754313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6" name="단계"/>
          <p:cNvSpPr>
            <a:spLocks noGrp="1"/>
          </p:cNvSpPr>
          <p:nvPr>
            <p:ph type="body" sz="quarter" idx="41"/>
          </p:nvPr>
        </p:nvSpPr>
        <p:spPr>
          <a:xfrm>
            <a:off x="4926783" y="275431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’26년~ 지속가능한 윤리경영</a:t>
            </a:r>
          </a:p>
        </p:txBody>
      </p:sp>
      <p:sp>
        <p:nvSpPr>
          <p:cNvPr id="57" name="단계 삼각형"/>
          <p:cNvSpPr/>
          <p:nvPr/>
        </p:nvSpPr>
        <p:spPr>
          <a:xfrm>
            <a:off x="3044086" y="2754313"/>
            <a:ext cx="109566" cy="230086"/>
          </a:xfrm>
          <a:custGeom>
            <a:avLst/>
            <a:gdLst/>
            <a:ahLst/>
            <a:cxnLst/>
            <a:rect l="l" t="t" r="r" b="b"/>
            <a:pathLst>
              <a:path w="109566" h="230086">
                <a:moveTo>
                  <a:pt x="0" y="0"/>
                </a:moveTo>
                <a:lnTo>
                  <a:pt x="109566" y="115043"/>
                </a:lnTo>
                <a:lnTo>
                  <a:pt x="0" y="23008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단계 삼각형"/>
          <p:cNvSpPr/>
          <p:nvPr/>
        </p:nvSpPr>
        <p:spPr>
          <a:xfrm>
            <a:off x="4926782" y="2754313"/>
            <a:ext cx="109565" cy="230086"/>
          </a:xfrm>
          <a:custGeom>
            <a:avLst/>
            <a:gdLst/>
            <a:ahLst/>
            <a:cxnLst/>
            <a:rect l="l" t="t" r="r" b="b"/>
            <a:pathLst>
              <a:path w="109565" h="230086">
                <a:moveTo>
                  <a:pt x="0" y="0"/>
                </a:moveTo>
                <a:lnTo>
                  <a:pt x="109565" y="115043"/>
                </a:lnTo>
                <a:lnTo>
                  <a:pt x="0" y="230086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칸 본문"/>
          <p:cNvSpPr>
            <a:spLocks noGrp="1"/>
          </p:cNvSpPr>
          <p:nvPr>
            <p:ph type="body" sz="quarter" idx="42"/>
          </p:nvPr>
        </p:nvSpPr>
        <p:spPr>
          <a:xfrm>
            <a:off x="1172348" y="3006313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CEO 청렴혁신단 구성·운영</a:t>
            </a:r>
          </a:p>
        </p:txBody>
      </p:sp>
      <p:sp>
        <p:nvSpPr>
          <p:cNvPr id="60" name="칸 본문"/>
          <p:cNvSpPr>
            <a:spLocks noGrp="1"/>
          </p:cNvSpPr>
          <p:nvPr>
            <p:ph type="body" sz="quarter" idx="43"/>
          </p:nvPr>
        </p:nvSpPr>
        <p:spPr>
          <a:xfrm>
            <a:off x="3055043" y="3006313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내재화·확산, 디지털 내부통제</a:t>
            </a:r>
          </a:p>
        </p:txBody>
      </p:sp>
      <p:cxnSp>
        <p:nvCxnSpPr>
          <p:cNvPr id="61" name="Connector 46"/>
          <p:cNvCxnSpPr/>
          <p:nvPr/>
        </p:nvCxnSpPr>
        <p:spPr>
          <a:xfrm>
            <a:off x="3044087" y="3039183"/>
            <a:ext cx="0" cy="2410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2" name="칸 본문"/>
          <p:cNvSpPr>
            <a:spLocks noGrp="1"/>
          </p:cNvSpPr>
          <p:nvPr>
            <p:ph type="body" sz="quarter" idx="44"/>
          </p:nvPr>
        </p:nvSpPr>
        <p:spPr>
          <a:xfrm>
            <a:off x="4937739" y="3006313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청렴 최우수기업 지속</a:t>
            </a:r>
          </a:p>
        </p:txBody>
      </p:sp>
      <p:cxnSp>
        <p:nvCxnSpPr>
          <p:cNvPr id="63" name="Connector 48"/>
          <p:cNvCxnSpPr/>
          <p:nvPr/>
        </p:nvCxnSpPr>
        <p:spPr>
          <a:xfrm>
            <a:off x="4926783" y="3039183"/>
            <a:ext cx="0" cy="2410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4" name="삼각 화살표"/>
          <p:cNvSpPr/>
          <p:nvPr/>
        </p:nvSpPr>
        <p:spPr>
          <a:xfrm>
            <a:off x="3823826" y="3378834"/>
            <a:ext cx="350608" cy="142435"/>
          </a:xfrm>
          <a:custGeom>
            <a:avLst/>
            <a:gdLst/>
            <a:ahLst/>
            <a:cxnLst/>
            <a:rect l="l" t="t" r="r" b="b"/>
            <a:pathLst>
              <a:path w="350608" h="142435">
                <a:moveTo>
                  <a:pt x="0" y="0"/>
                </a:moveTo>
                <a:lnTo>
                  <a:pt x="350608" y="0"/>
                </a:lnTo>
                <a:lnTo>
                  <a:pt x="175304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표 외곽"/>
          <p:cNvSpPr/>
          <p:nvPr/>
        </p:nvSpPr>
        <p:spPr>
          <a:xfrm>
            <a:off x="536870" y="3592487"/>
            <a:ext cx="6300000" cy="232700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레일"/>
          <p:cNvSpPr/>
          <p:nvPr/>
        </p:nvSpPr>
        <p:spPr>
          <a:xfrm>
            <a:off x="547826" y="3608922"/>
            <a:ext cx="580696" cy="2534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7" name="레일"/>
          <p:cNvSpPr>
            <a:spLocks noGrp="1"/>
          </p:cNvSpPr>
          <p:nvPr>
            <p:ph type="body" sz="quarter" idx="45"/>
          </p:nvPr>
        </p:nvSpPr>
        <p:spPr>
          <a:xfrm>
            <a:off x="547826" y="3608922"/>
            <a:ext cx="580696" cy="2534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목 표</a:t>
            </a:r>
          </a:p>
        </p:txBody>
      </p:sp>
      <p:sp>
        <p:nvSpPr>
          <p:cNvPr id="68" name="배너"/>
          <p:cNvSpPr/>
          <p:nvPr/>
        </p:nvSpPr>
        <p:spPr>
          <a:xfrm>
            <a:off x="1161391" y="3630835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9" name="배너"/>
          <p:cNvSpPr>
            <a:spLocks noGrp="1"/>
          </p:cNvSpPr>
          <p:nvPr>
            <p:ph type="body" sz="quarter" idx="46"/>
          </p:nvPr>
        </p:nvSpPr>
        <p:spPr>
          <a:xfrm>
            <a:off x="1161391" y="3630835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최고수준의 청렴기관으로서 국민 눈높이에 부합하는 윤리경영 실천</a:t>
            </a:r>
          </a:p>
        </p:txBody>
      </p:sp>
      <p:sp>
        <p:nvSpPr>
          <p:cNvPr id="70" name="레일"/>
          <p:cNvSpPr/>
          <p:nvPr/>
        </p:nvSpPr>
        <p:spPr>
          <a:xfrm>
            <a:off x="547826" y="3878765"/>
            <a:ext cx="580696" cy="68478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1" name="레일"/>
          <p:cNvSpPr>
            <a:spLocks noGrp="1"/>
          </p:cNvSpPr>
          <p:nvPr>
            <p:ph type="body" sz="quarter" idx="47"/>
          </p:nvPr>
        </p:nvSpPr>
        <p:spPr>
          <a:xfrm>
            <a:off x="547826" y="3878765"/>
            <a:ext cx="580696" cy="6847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(표준모델)</a:t>
            </a:r>
          </a:p>
        </p:txBody>
      </p:sp>
      <p:sp>
        <p:nvSpPr>
          <p:cNvPr id="72" name="레일 삼각형"/>
          <p:cNvSpPr/>
          <p:nvPr/>
        </p:nvSpPr>
        <p:spPr>
          <a:xfrm>
            <a:off x="547826" y="3878765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머리칸"/>
          <p:cNvSpPr/>
          <p:nvPr/>
        </p:nvSpPr>
        <p:spPr>
          <a:xfrm>
            <a:off x="1161391" y="390067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74" name="머리칸"/>
          <p:cNvSpPr>
            <a:spLocks noGrp="1"/>
          </p:cNvSpPr>
          <p:nvPr>
            <p:ph type="body" sz="quarter" idx="48"/>
          </p:nvPr>
        </p:nvSpPr>
        <p:spPr>
          <a:xfrm>
            <a:off x="1161391" y="390067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① 청렴의식 내재화</a:t>
            </a:r>
          </a:p>
        </p:txBody>
      </p:sp>
      <p:sp>
        <p:nvSpPr>
          <p:cNvPr id="75" name="머리칸"/>
          <p:cNvSpPr/>
          <p:nvPr/>
        </p:nvSpPr>
        <p:spPr>
          <a:xfrm>
            <a:off x="3044087" y="390067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76" name="머리칸"/>
          <p:cNvSpPr>
            <a:spLocks noGrp="1"/>
          </p:cNvSpPr>
          <p:nvPr>
            <p:ph type="body" sz="quarter" idx="49"/>
          </p:nvPr>
        </p:nvSpPr>
        <p:spPr>
          <a:xfrm>
            <a:off x="3044087" y="390067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② 현장 중심 리스크관리</a:t>
            </a:r>
          </a:p>
        </p:txBody>
      </p:sp>
      <p:sp>
        <p:nvSpPr>
          <p:cNvPr id="77" name="머리칸"/>
          <p:cNvSpPr/>
          <p:nvPr/>
        </p:nvSpPr>
        <p:spPr>
          <a:xfrm>
            <a:off x="4926783" y="390067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78" name="머리칸"/>
          <p:cNvSpPr>
            <a:spLocks noGrp="1"/>
          </p:cNvSpPr>
          <p:nvPr>
            <p:ph type="body" sz="quarter" idx="50"/>
          </p:nvPr>
        </p:nvSpPr>
        <p:spPr>
          <a:xfrm>
            <a:off x="4926783" y="390067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③ 전문적 모니터링 체계</a:t>
            </a:r>
          </a:p>
        </p:txBody>
      </p:sp>
      <p:sp>
        <p:nvSpPr>
          <p:cNvPr id="79" name="칸 본문"/>
          <p:cNvSpPr>
            <a:spLocks noGrp="1"/>
          </p:cNvSpPr>
          <p:nvPr>
            <p:ph type="body" sz="quarter" idx="51"/>
          </p:nvPr>
        </p:nvSpPr>
        <p:spPr>
          <a:xfrm>
            <a:off x="1172348" y="414172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의식확립 청렴의지 전사 전파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관리체계 본사·현장 협력 강화</a:t>
            </a:r>
          </a:p>
        </p:txBody>
      </p:sp>
      <p:sp>
        <p:nvSpPr>
          <p:cNvPr id="80" name="칸 본문"/>
          <p:cNvSpPr>
            <a:spLocks noGrp="1"/>
          </p:cNvSpPr>
          <p:nvPr>
            <p:ph type="body" sz="quarter" idx="52"/>
          </p:nvPr>
        </p:nvSpPr>
        <p:spPr>
          <a:xfrm>
            <a:off x="3055043" y="414172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위험식별 현업 위험관리 확산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위험통제 고객체감 통제활동</a:t>
            </a:r>
          </a:p>
        </p:txBody>
      </p:sp>
      <p:cxnSp>
        <p:nvCxnSpPr>
          <p:cNvPr id="81" name="Connector 60"/>
          <p:cNvCxnSpPr/>
          <p:nvPr/>
        </p:nvCxnSpPr>
        <p:spPr>
          <a:xfrm>
            <a:off x="3044087" y="4174591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2" name="칸 본문"/>
          <p:cNvSpPr>
            <a:spLocks noGrp="1"/>
          </p:cNvSpPr>
          <p:nvPr>
            <p:ph type="body" sz="quarter" idx="53"/>
          </p:nvPr>
        </p:nvSpPr>
        <p:spPr>
          <a:xfrm>
            <a:off x="4937739" y="414172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신고제도 내부신고 활성화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모니터링 AI 기술활용</a:t>
            </a:r>
          </a:p>
        </p:txBody>
      </p:sp>
      <p:cxnSp>
        <p:nvCxnSpPr>
          <p:cNvPr id="83" name="Connector 62"/>
          <p:cNvCxnSpPr/>
          <p:nvPr/>
        </p:nvCxnSpPr>
        <p:spPr>
          <a:xfrm>
            <a:off x="4926783" y="4174591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4" name="레일"/>
          <p:cNvSpPr/>
          <p:nvPr/>
        </p:nvSpPr>
        <p:spPr>
          <a:xfrm>
            <a:off x="547826" y="4579983"/>
            <a:ext cx="580696" cy="68478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5" name="레일"/>
          <p:cNvSpPr>
            <a:spLocks noGrp="1"/>
          </p:cNvSpPr>
          <p:nvPr>
            <p:ph type="body" sz="quarter" idx="54"/>
          </p:nvPr>
        </p:nvSpPr>
        <p:spPr>
          <a:xfrm>
            <a:off x="547826" y="4579983"/>
            <a:ext cx="580696" cy="6847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추진체계</a:t>
            </a:r>
          </a:p>
        </p:txBody>
      </p:sp>
      <p:sp>
        <p:nvSpPr>
          <p:cNvPr id="86" name="머리칸"/>
          <p:cNvSpPr/>
          <p:nvPr/>
        </p:nvSpPr>
        <p:spPr>
          <a:xfrm>
            <a:off x="1161391" y="460189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87" name="머리칸"/>
          <p:cNvSpPr>
            <a:spLocks noGrp="1"/>
          </p:cNvSpPr>
          <p:nvPr>
            <p:ph type="body" sz="quarter" idx="55"/>
          </p:nvPr>
        </p:nvSpPr>
        <p:spPr>
          <a:xfrm>
            <a:off x="1161391" y="460189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청렴내부통제위원회</a:t>
            </a:r>
          </a:p>
        </p:txBody>
      </p:sp>
      <p:sp>
        <p:nvSpPr>
          <p:cNvPr id="88" name="머리칸"/>
          <p:cNvSpPr/>
          <p:nvPr/>
        </p:nvSpPr>
        <p:spPr>
          <a:xfrm>
            <a:off x="3044087" y="460189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89" name="머리칸"/>
          <p:cNvSpPr>
            <a:spLocks noGrp="1"/>
          </p:cNvSpPr>
          <p:nvPr>
            <p:ph type="body" sz="quarter" idx="56"/>
          </p:nvPr>
        </p:nvSpPr>
        <p:spPr>
          <a:xfrm>
            <a:off x="3044087" y="460189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청렴혁신 DRIVE 추진단</a:t>
            </a:r>
          </a:p>
        </p:txBody>
      </p:sp>
      <p:sp>
        <p:nvSpPr>
          <p:cNvPr id="90" name="머리칸"/>
          <p:cNvSpPr/>
          <p:nvPr/>
        </p:nvSpPr>
        <p:spPr>
          <a:xfrm>
            <a:off x="4926783" y="460189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91" name="머리칸"/>
          <p:cNvSpPr>
            <a:spLocks noGrp="1"/>
          </p:cNvSpPr>
          <p:nvPr>
            <p:ph type="body" sz="quarter" idx="57"/>
          </p:nvPr>
        </p:nvSpPr>
        <p:spPr>
          <a:xfrm>
            <a:off x="4926783" y="460189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내부통제 3단계 방어선</a:t>
            </a:r>
          </a:p>
        </p:txBody>
      </p:sp>
      <p:sp>
        <p:nvSpPr>
          <p:cNvPr id="92" name="칸 본문"/>
          <p:cNvSpPr>
            <a:spLocks noGrp="1"/>
          </p:cNvSpPr>
          <p:nvPr>
            <p:ph type="body" sz="quarter" idx="58"/>
          </p:nvPr>
        </p:nvSpPr>
        <p:spPr>
          <a:xfrm>
            <a:off x="1172348" y="4842939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윤리경영 최고 의사결정기구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CEO, 임원, 비상임이사 등</a:t>
            </a:r>
          </a:p>
        </p:txBody>
      </p:sp>
      <p:sp>
        <p:nvSpPr>
          <p:cNvPr id="93" name="칸 본문"/>
          <p:cNvSpPr>
            <a:spLocks noGrp="1"/>
          </p:cNvSpPr>
          <p:nvPr>
            <p:ph type="body" sz="quarter" idx="59"/>
          </p:nvPr>
        </p:nvSpPr>
        <p:spPr>
          <a:xfrm>
            <a:off x="3055043" y="4842939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청렴혁신활동 전사협의체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3개 분과 26개 개선과제 이행</a:t>
            </a:r>
          </a:p>
        </p:txBody>
      </p:sp>
      <p:cxnSp>
        <p:nvCxnSpPr>
          <p:cNvPr id="94" name="Connector 69"/>
          <p:cNvCxnSpPr/>
          <p:nvPr/>
        </p:nvCxnSpPr>
        <p:spPr>
          <a:xfrm>
            <a:off x="3044087" y="4875809"/>
            <a:ext cx="0" cy="35060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5" name="칸 본문"/>
          <p:cNvSpPr>
            <a:spLocks noGrp="1"/>
          </p:cNvSpPr>
          <p:nvPr>
            <p:ph type="body" sz="quarter" idx="60"/>
          </p:nvPr>
        </p:nvSpPr>
        <p:spPr>
          <a:xfrm>
            <a:off x="4937739" y="4842939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1선 실무부서 자율점검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2선 통제부서 모니터링</a:t>
            </a:r>
          </a:p>
        </p:txBody>
      </p:sp>
      <p:cxnSp>
        <p:nvCxnSpPr>
          <p:cNvPr id="96" name="Connector 71"/>
          <p:cNvCxnSpPr/>
          <p:nvPr/>
        </p:nvCxnSpPr>
        <p:spPr>
          <a:xfrm>
            <a:off x="4926783" y="4875809"/>
            <a:ext cx="0" cy="35060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7" name="레일"/>
          <p:cNvSpPr/>
          <p:nvPr/>
        </p:nvSpPr>
        <p:spPr>
          <a:xfrm>
            <a:off x="547826" y="5281200"/>
            <a:ext cx="580696" cy="621861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8" name="레일"/>
          <p:cNvSpPr>
            <a:spLocks noGrp="1"/>
          </p:cNvSpPr>
          <p:nvPr>
            <p:ph type="body" sz="quarter" idx="61"/>
          </p:nvPr>
        </p:nvSpPr>
        <p:spPr>
          <a:xfrm>
            <a:off x="547826" y="5281200"/>
            <a:ext cx="580696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모니터링</a:t>
            </a:r>
          </a:p>
        </p:txBody>
      </p:sp>
      <p:sp>
        <p:nvSpPr>
          <p:cNvPr id="99" name="레일 삼각형"/>
          <p:cNvSpPr/>
          <p:nvPr/>
        </p:nvSpPr>
        <p:spPr>
          <a:xfrm>
            <a:off x="547826" y="528120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단계"/>
          <p:cNvSpPr/>
          <p:nvPr/>
        </p:nvSpPr>
        <p:spPr>
          <a:xfrm>
            <a:off x="1161391" y="5303113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01" name="단계"/>
          <p:cNvSpPr>
            <a:spLocks noGrp="1"/>
          </p:cNvSpPr>
          <p:nvPr>
            <p:ph type="body" sz="quarter" idx="62"/>
          </p:nvPr>
        </p:nvSpPr>
        <p:spPr>
          <a:xfrm>
            <a:off x="1161391" y="530311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협력·자문</a:t>
            </a:r>
          </a:p>
        </p:txBody>
      </p:sp>
      <p:sp>
        <p:nvSpPr>
          <p:cNvPr id="102" name="단계"/>
          <p:cNvSpPr/>
          <p:nvPr/>
        </p:nvSpPr>
        <p:spPr>
          <a:xfrm>
            <a:off x="3044087" y="5303113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03" name="단계"/>
          <p:cNvSpPr>
            <a:spLocks noGrp="1"/>
          </p:cNvSpPr>
          <p:nvPr>
            <p:ph type="body" sz="quarter" idx="63"/>
          </p:nvPr>
        </p:nvSpPr>
        <p:spPr>
          <a:xfrm>
            <a:off x="3044087" y="530311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 소통·확산</a:t>
            </a:r>
          </a:p>
        </p:txBody>
      </p:sp>
      <p:sp>
        <p:nvSpPr>
          <p:cNvPr id="104" name="단계"/>
          <p:cNvSpPr/>
          <p:nvPr/>
        </p:nvSpPr>
        <p:spPr>
          <a:xfrm>
            <a:off x="4926783" y="5303113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05" name="단계"/>
          <p:cNvSpPr>
            <a:spLocks noGrp="1"/>
          </p:cNvSpPr>
          <p:nvPr>
            <p:ph type="body" sz="quarter" idx="64"/>
          </p:nvPr>
        </p:nvSpPr>
        <p:spPr>
          <a:xfrm>
            <a:off x="4926783" y="530311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진단 및 환류</a:t>
            </a:r>
          </a:p>
        </p:txBody>
      </p:sp>
      <p:sp>
        <p:nvSpPr>
          <p:cNvPr id="106" name="단계 삼각형"/>
          <p:cNvSpPr/>
          <p:nvPr/>
        </p:nvSpPr>
        <p:spPr>
          <a:xfrm>
            <a:off x="3044086" y="5303113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단계 삼각형"/>
          <p:cNvSpPr/>
          <p:nvPr/>
        </p:nvSpPr>
        <p:spPr>
          <a:xfrm>
            <a:off x="4926782" y="530311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칸 본문"/>
          <p:cNvSpPr>
            <a:spLocks noGrp="1"/>
          </p:cNvSpPr>
          <p:nvPr>
            <p:ph type="body" sz="quarter" idx="65"/>
          </p:nvPr>
        </p:nvSpPr>
        <p:spPr>
          <a:xfrm>
            <a:off x="1172348" y="555511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공기업 청렴협의회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청렴시민감사관</a:t>
            </a:r>
          </a:p>
        </p:txBody>
      </p:sp>
      <p:sp>
        <p:nvSpPr>
          <p:cNvPr id="109" name="칸 본문"/>
          <p:cNvSpPr>
            <a:spLocks noGrp="1"/>
          </p:cNvSpPr>
          <p:nvPr>
            <p:ph type="body" sz="quarter" idx="66"/>
          </p:nvPr>
        </p:nvSpPr>
        <p:spPr>
          <a:xfrm>
            <a:off x="3055043" y="555511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청렴 프로모터 활동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고충 모니터링 담당</a:t>
            </a:r>
          </a:p>
        </p:txBody>
      </p:sp>
      <p:cxnSp>
        <p:nvCxnSpPr>
          <p:cNvPr id="110" name="Connector 81"/>
          <p:cNvCxnSpPr/>
          <p:nvPr/>
        </p:nvCxnSpPr>
        <p:spPr>
          <a:xfrm>
            <a:off x="3044087" y="5587983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1" name="칸 본문"/>
          <p:cNvSpPr>
            <a:spLocks noGrp="1"/>
          </p:cNvSpPr>
          <p:nvPr>
            <p:ph type="body" sz="quarter" idx="67"/>
          </p:nvPr>
        </p:nvSpPr>
        <p:spPr>
          <a:xfrm>
            <a:off x="4937739" y="5555113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외부 청렴도 평가, 전문가 자문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 윤리자수, 상위직 청렴도</a:t>
            </a:r>
          </a:p>
        </p:txBody>
      </p:sp>
      <p:cxnSp>
        <p:nvCxnSpPr>
          <p:cNvPr id="112" name="Connector 83"/>
          <p:cNvCxnSpPr/>
          <p:nvPr/>
        </p:nvCxnSpPr>
        <p:spPr>
          <a:xfrm>
            <a:off x="4926783" y="5587983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3" name="틀"/>
          <p:cNvSpPr/>
          <p:nvPr/>
        </p:nvSpPr>
        <p:spPr>
          <a:xfrm>
            <a:off x="536870" y="5985235"/>
            <a:ext cx="6300000" cy="1051826"/>
          </a:xfrm>
          <a:prstGeom prst="rect">
            <a:avLst/>
          </a:prstGeom>
          <a:solidFill>
            <a:srgbClr val="FFFFFF"/>
          </a:solidFill>
          <a:ln w="12700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4" name="성과 라벨"/>
          <p:cNvSpPr/>
          <p:nvPr/>
        </p:nvSpPr>
        <p:spPr>
          <a:xfrm>
            <a:off x="547826" y="5996191"/>
            <a:ext cx="580696" cy="102991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15" name="성과 라벨"/>
          <p:cNvSpPr>
            <a:spLocks noGrp="1"/>
          </p:cNvSpPr>
          <p:nvPr>
            <p:ph type="body" sz="quarter" idx="68"/>
          </p:nvPr>
        </p:nvSpPr>
        <p:spPr>
          <a:xfrm>
            <a:off x="547826" y="5996191"/>
            <a:ext cx="580696" cy="1029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종합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16" name="성과 띠"/>
          <p:cNvSpPr/>
          <p:nvPr/>
        </p:nvSpPr>
        <p:spPr>
          <a:xfrm>
            <a:off x="1172348" y="6018104"/>
            <a:ext cx="5631652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17" name="성과 띠"/>
          <p:cNvSpPr>
            <a:spLocks noGrp="1"/>
          </p:cNvSpPr>
          <p:nvPr>
            <p:ph type="body" sz="quarter" idx="69"/>
          </p:nvPr>
        </p:nvSpPr>
        <p:spPr>
          <a:xfrm>
            <a:off x="1172348" y="6018104"/>
            <a:ext cx="5631652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강도 높은 노력으로 ’25년 종합청렴도 역대 최고 점수, 최초 1등급 결실</a:t>
            </a:r>
          </a:p>
        </p:txBody>
      </p:sp>
      <p:sp>
        <p:nvSpPr>
          <p:cNvPr id="118" name="카드"/>
          <p:cNvSpPr/>
          <p:nvPr/>
        </p:nvSpPr>
        <p:spPr>
          <a:xfrm>
            <a:off x="1172348" y="6259148"/>
            <a:ext cx="1848000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9" name="카드 문구"/>
          <p:cNvSpPr>
            <a:spLocks noGrp="1"/>
          </p:cNvSpPr>
          <p:nvPr>
            <p:ph type="body" sz="quarter" idx="70"/>
          </p:nvPr>
        </p:nvSpPr>
        <p:spPr>
          <a:xfrm>
            <a:off x="1194261" y="6270104"/>
            <a:ext cx="828167" cy="72313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종합청렴도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최초 1등급</a:t>
            </a:r>
          </a:p>
        </p:txBody>
      </p:sp>
      <p:sp>
        <p:nvSpPr>
          <p:cNvPr id="120" name="막대"/>
          <p:cNvSpPr/>
          <p:nvPr/>
        </p:nvSpPr>
        <p:spPr>
          <a:xfrm>
            <a:off x="2077210" y="6653106"/>
            <a:ext cx="164348" cy="197694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1" name="값"/>
          <p:cNvSpPr>
            <a:spLocks noGrp="1"/>
          </p:cNvSpPr>
          <p:nvPr>
            <p:ph type="body" sz="quarter" idx="71"/>
          </p:nvPr>
        </p:nvSpPr>
        <p:spPr>
          <a:xfrm>
            <a:off x="1989558" y="6477802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83.3점</a:t>
            </a:r>
          </a:p>
        </p:txBody>
      </p:sp>
      <p:sp>
        <p:nvSpPr>
          <p:cNvPr id="122" name="연도"/>
          <p:cNvSpPr>
            <a:spLocks noGrp="1"/>
          </p:cNvSpPr>
          <p:nvPr>
            <p:ph type="body" sz="quarter" idx="72"/>
          </p:nvPr>
        </p:nvSpPr>
        <p:spPr>
          <a:xfrm>
            <a:off x="1989558" y="6861757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’23</a:t>
            </a:r>
          </a:p>
        </p:txBody>
      </p:sp>
      <p:sp>
        <p:nvSpPr>
          <p:cNvPr id="123" name="막대"/>
          <p:cNvSpPr/>
          <p:nvPr/>
        </p:nvSpPr>
        <p:spPr>
          <a:xfrm>
            <a:off x="2373329" y="6641197"/>
            <a:ext cx="164348" cy="209603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4" name="값"/>
          <p:cNvSpPr>
            <a:spLocks noGrp="1"/>
          </p:cNvSpPr>
          <p:nvPr>
            <p:ph type="body" sz="quarter" idx="73"/>
          </p:nvPr>
        </p:nvSpPr>
        <p:spPr>
          <a:xfrm>
            <a:off x="2285677" y="6465893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88.1점</a:t>
            </a:r>
          </a:p>
        </p:txBody>
      </p:sp>
      <p:sp>
        <p:nvSpPr>
          <p:cNvPr id="125" name="연도"/>
          <p:cNvSpPr>
            <a:spLocks noGrp="1"/>
          </p:cNvSpPr>
          <p:nvPr>
            <p:ph type="body" sz="quarter" idx="74"/>
          </p:nvPr>
        </p:nvSpPr>
        <p:spPr>
          <a:xfrm>
            <a:off x="2285677" y="6861757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’24</a:t>
            </a:r>
          </a:p>
        </p:txBody>
      </p:sp>
      <p:sp>
        <p:nvSpPr>
          <p:cNvPr id="126" name="막대"/>
          <p:cNvSpPr/>
          <p:nvPr/>
        </p:nvSpPr>
        <p:spPr>
          <a:xfrm>
            <a:off x="2669447" y="6631670"/>
            <a:ext cx="164348" cy="21913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7" name="값"/>
          <p:cNvSpPr>
            <a:spLocks noGrp="1"/>
          </p:cNvSpPr>
          <p:nvPr>
            <p:ph type="body" sz="quarter" idx="75"/>
          </p:nvPr>
        </p:nvSpPr>
        <p:spPr>
          <a:xfrm>
            <a:off x="2581795" y="6456365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92.2점</a:t>
            </a:r>
          </a:p>
        </p:txBody>
      </p:sp>
      <p:sp>
        <p:nvSpPr>
          <p:cNvPr id="128" name="연도"/>
          <p:cNvSpPr>
            <a:spLocks noGrp="1"/>
          </p:cNvSpPr>
          <p:nvPr>
            <p:ph type="body" sz="quarter" idx="76"/>
          </p:nvPr>
        </p:nvSpPr>
        <p:spPr>
          <a:xfrm>
            <a:off x="2581795" y="6861757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’25</a:t>
            </a:r>
          </a:p>
        </p:txBody>
      </p:sp>
      <p:sp>
        <p:nvSpPr>
          <p:cNvPr id="129" name="카드"/>
          <p:cNvSpPr/>
          <p:nvPr/>
        </p:nvSpPr>
        <p:spPr>
          <a:xfrm>
            <a:off x="3064174" y="6259148"/>
            <a:ext cx="1848000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0" name="카드 문구"/>
          <p:cNvSpPr>
            <a:spLocks noGrp="1"/>
          </p:cNvSpPr>
          <p:nvPr>
            <p:ph type="body" sz="quarter" idx="77"/>
          </p:nvPr>
        </p:nvSpPr>
        <p:spPr>
          <a:xfrm>
            <a:off x="3086087" y="6270104"/>
            <a:ext cx="828167" cy="72313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청렴체감도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공기업 유일 1등급</a:t>
            </a:r>
          </a:p>
        </p:txBody>
      </p:sp>
      <p:sp>
        <p:nvSpPr>
          <p:cNvPr id="131" name="막대"/>
          <p:cNvSpPr/>
          <p:nvPr/>
        </p:nvSpPr>
        <p:spPr>
          <a:xfrm>
            <a:off x="3969037" y="6650724"/>
            <a:ext cx="164348" cy="200076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2" name="값"/>
          <p:cNvSpPr>
            <a:spLocks noGrp="1"/>
          </p:cNvSpPr>
          <p:nvPr>
            <p:ph type="body" sz="quarter" idx="78"/>
          </p:nvPr>
        </p:nvSpPr>
        <p:spPr>
          <a:xfrm>
            <a:off x="3881384" y="6475420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84.0점</a:t>
            </a:r>
          </a:p>
        </p:txBody>
      </p:sp>
      <p:sp>
        <p:nvSpPr>
          <p:cNvPr id="133" name="연도"/>
          <p:cNvSpPr>
            <a:spLocks noGrp="1"/>
          </p:cNvSpPr>
          <p:nvPr>
            <p:ph type="body" sz="quarter" idx="79"/>
          </p:nvPr>
        </p:nvSpPr>
        <p:spPr>
          <a:xfrm>
            <a:off x="3881384" y="6861757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’23</a:t>
            </a:r>
          </a:p>
        </p:txBody>
      </p:sp>
      <p:sp>
        <p:nvSpPr>
          <p:cNvPr id="134" name="막대"/>
          <p:cNvSpPr/>
          <p:nvPr/>
        </p:nvSpPr>
        <p:spPr>
          <a:xfrm>
            <a:off x="4265155" y="6648343"/>
            <a:ext cx="164348" cy="20245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5" name="값"/>
          <p:cNvSpPr>
            <a:spLocks noGrp="1"/>
          </p:cNvSpPr>
          <p:nvPr>
            <p:ph type="body" sz="quarter" idx="80"/>
          </p:nvPr>
        </p:nvSpPr>
        <p:spPr>
          <a:xfrm>
            <a:off x="4177503" y="6473038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85.1점</a:t>
            </a:r>
          </a:p>
        </p:txBody>
      </p:sp>
      <p:sp>
        <p:nvSpPr>
          <p:cNvPr id="136" name="연도"/>
          <p:cNvSpPr>
            <a:spLocks noGrp="1"/>
          </p:cNvSpPr>
          <p:nvPr>
            <p:ph type="body" sz="quarter" idx="81"/>
          </p:nvPr>
        </p:nvSpPr>
        <p:spPr>
          <a:xfrm>
            <a:off x="4177503" y="6861757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’24</a:t>
            </a:r>
          </a:p>
        </p:txBody>
      </p:sp>
      <p:sp>
        <p:nvSpPr>
          <p:cNvPr id="137" name="막대"/>
          <p:cNvSpPr/>
          <p:nvPr/>
        </p:nvSpPr>
        <p:spPr>
          <a:xfrm>
            <a:off x="4561273" y="6631670"/>
            <a:ext cx="164348" cy="21913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8" name="값"/>
          <p:cNvSpPr>
            <a:spLocks noGrp="1"/>
          </p:cNvSpPr>
          <p:nvPr>
            <p:ph type="body" sz="quarter" idx="82"/>
          </p:nvPr>
        </p:nvSpPr>
        <p:spPr>
          <a:xfrm>
            <a:off x="4473621" y="6456365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91.6점</a:t>
            </a:r>
          </a:p>
        </p:txBody>
      </p:sp>
      <p:sp>
        <p:nvSpPr>
          <p:cNvPr id="139" name="연도"/>
          <p:cNvSpPr>
            <a:spLocks noGrp="1"/>
          </p:cNvSpPr>
          <p:nvPr>
            <p:ph type="body" sz="quarter" idx="83"/>
          </p:nvPr>
        </p:nvSpPr>
        <p:spPr>
          <a:xfrm>
            <a:off x="4473621" y="6861757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’25</a:t>
            </a:r>
          </a:p>
        </p:txBody>
      </p:sp>
      <p:sp>
        <p:nvSpPr>
          <p:cNvPr id="140" name="카드"/>
          <p:cNvSpPr/>
          <p:nvPr/>
        </p:nvSpPr>
        <p:spPr>
          <a:xfrm>
            <a:off x="4956000" y="6259148"/>
            <a:ext cx="1848000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1" name="카드 문구"/>
          <p:cNvSpPr>
            <a:spLocks noGrp="1"/>
          </p:cNvSpPr>
          <p:nvPr>
            <p:ph type="body" sz="quarter" idx="84"/>
          </p:nvPr>
        </p:nvSpPr>
        <p:spPr>
          <a:xfrm>
            <a:off x="4977913" y="6270104"/>
            <a:ext cx="1826087" cy="72313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외부기관 부패적발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2년 연속 Zero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2 서사 · 경영진 의지 → 전직원 확산 → 추진성과(막대 카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CEO의 윤리의지가 전사에 스며들고, 실행되도록 추진력 확보</a:t>
            </a:r>
          </a:p>
        </p:txBody>
      </p:sp>
      <p:sp>
        <p:nvSpPr>
          <p:cNvPr id="14" name="번호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22952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</a:t>
            </a:r>
          </a:p>
        </p:txBody>
      </p:sp>
      <p:sp>
        <p:nvSpPr>
          <p:cNvPr id="15" name="분야 박스"/>
          <p:cNvSpPr/>
          <p:nvPr/>
        </p:nvSpPr>
        <p:spPr>
          <a:xfrm>
            <a:off x="952651" y="1238087"/>
            <a:ext cx="592466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분야 박스"/>
          <p:cNvSpPr>
            <a:spLocks noGrp="1"/>
          </p:cNvSpPr>
          <p:nvPr>
            <p:ph type="body" sz="quarter" idx="23"/>
          </p:nvPr>
        </p:nvSpPr>
        <p:spPr>
          <a:xfrm>
            <a:off x="952651" y="1238087"/>
            <a:ext cx="59246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의식확립</a:t>
            </a:r>
          </a:p>
        </p:txBody>
      </p:sp>
      <p:sp>
        <p:nvSpPr>
          <p:cNvPr id="17" name="형광 밑줄"/>
          <p:cNvSpPr/>
          <p:nvPr/>
        </p:nvSpPr>
        <p:spPr>
          <a:xfrm>
            <a:off x="1610856" y="1358609"/>
            <a:ext cx="347921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소제목"/>
          <p:cNvSpPr>
            <a:spLocks noGrp="1"/>
          </p:cNvSpPr>
          <p:nvPr>
            <p:ph type="body" sz="quarter" idx="24"/>
          </p:nvPr>
        </p:nvSpPr>
        <p:spPr>
          <a:xfrm>
            <a:off x="1610856" y="1205217"/>
            <a:ext cx="5412275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선언적 구호 탈피, ‘CEO＋청렴 프로모터’가 전사 공감 형성</a:t>
            </a:r>
          </a:p>
        </p:txBody>
      </p:sp>
      <p:sp>
        <p:nvSpPr>
          <p:cNvPr id="19" name="태그칩"/>
          <p:cNvSpPr/>
          <p:nvPr/>
        </p:nvSpPr>
        <p:spPr>
          <a:xfrm>
            <a:off x="5188677" y="1238087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태그칩"/>
          <p:cNvSpPr>
            <a:spLocks noGrp="1"/>
          </p:cNvSpPr>
          <p:nvPr>
            <p:ph type="body" sz="quarter" idx="25"/>
          </p:nvPr>
        </p:nvSpPr>
        <p:spPr>
          <a:xfrm>
            <a:off x="5188677" y="1238087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신규</a:t>
            </a:r>
          </a:p>
        </p:txBody>
      </p:sp>
      <p:sp>
        <p:nvSpPr>
          <p:cNvPr id="21" name="태그칩"/>
          <p:cNvSpPr/>
          <p:nvPr/>
        </p:nvSpPr>
        <p:spPr>
          <a:xfrm>
            <a:off x="5739798" y="1238087"/>
            <a:ext cx="483604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2" name="태그칩"/>
          <p:cNvSpPr>
            <a:spLocks noGrp="1"/>
          </p:cNvSpPr>
          <p:nvPr>
            <p:ph type="body" sz="quarter" idx="26"/>
          </p:nvPr>
        </p:nvSpPr>
        <p:spPr>
          <a:xfrm>
            <a:off x="5739798" y="1238087"/>
            <a:ext cx="483604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23" name="표 외곽"/>
          <p:cNvSpPr/>
          <p:nvPr/>
        </p:nvSpPr>
        <p:spPr>
          <a:xfrm>
            <a:off x="723130" y="1490087"/>
            <a:ext cx="6300000" cy="20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레일"/>
          <p:cNvSpPr/>
          <p:nvPr/>
        </p:nvSpPr>
        <p:spPr>
          <a:xfrm>
            <a:off x="734087" y="1506522"/>
            <a:ext cx="580696" cy="90939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734087" y="1506522"/>
            <a:ext cx="580696" cy="909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경영진의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강력한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의지가</a:t>
            </a:r>
          </a:p>
        </p:txBody>
      </p:sp>
      <p:sp>
        <p:nvSpPr>
          <p:cNvPr id="26" name="머리칸"/>
          <p:cNvSpPr/>
          <p:nvPr/>
        </p:nvSpPr>
        <p:spPr>
          <a:xfrm>
            <a:off x="1347652" y="152843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8"/>
          </p:nvPr>
        </p:nvSpPr>
        <p:spPr>
          <a:xfrm>
            <a:off x="1347652" y="1528435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CEO 의지 표명과 지원</a:t>
            </a:r>
          </a:p>
        </p:txBody>
      </p:sp>
      <p:sp>
        <p:nvSpPr>
          <p:cNvPr id="28" name="머리칸"/>
          <p:cNvSpPr/>
          <p:nvPr/>
        </p:nvSpPr>
        <p:spPr>
          <a:xfrm>
            <a:off x="4171696" y="152843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9" name="머리칸"/>
          <p:cNvSpPr>
            <a:spLocks noGrp="1"/>
          </p:cNvSpPr>
          <p:nvPr>
            <p:ph type="body" sz="quarter" idx="29"/>
          </p:nvPr>
        </p:nvSpPr>
        <p:spPr>
          <a:xfrm>
            <a:off x="4171696" y="1528435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상위직 특별 교육 및 규정 강화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1358609" y="1769478"/>
            <a:ext cx="2802130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“청렴과 안전 최우선 가치로…”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“솔선수범”(전사회의)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1"/>
          </p:nvPr>
        </p:nvSpPr>
        <p:spPr>
          <a:xfrm>
            <a:off x="4182652" y="1769478"/>
            <a:ext cx="2802130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특강 확대(연 1회→연 2회)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직무청렴계약 규정 개정 추진중</a:t>
            </a:r>
          </a:p>
        </p:txBody>
      </p:sp>
      <p:cxnSp>
        <p:nvCxnSpPr>
          <p:cNvPr id="32" name="Connector 20"/>
          <p:cNvCxnSpPr/>
          <p:nvPr/>
        </p:nvCxnSpPr>
        <p:spPr>
          <a:xfrm>
            <a:off x="4171696" y="1802348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칸 본문"/>
          <p:cNvSpPr>
            <a:spLocks noGrp="1"/>
          </p:cNvSpPr>
          <p:nvPr>
            <p:ph type="body" sz="quarter" idx="32"/>
          </p:nvPr>
        </p:nvSpPr>
        <p:spPr>
          <a:xfrm>
            <a:off x="1358609" y="2169391"/>
            <a:ext cx="2802130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청렴실천 확산 노사 공동 핵심가치 선언</a:t>
            </a:r>
          </a:p>
        </p:txBody>
      </p:sp>
      <p:sp>
        <p:nvSpPr>
          <p:cNvPr id="34" name="칸 본문"/>
          <p:cNvSpPr>
            <a:spLocks noGrp="1"/>
          </p:cNvSpPr>
          <p:nvPr>
            <p:ph type="body" sz="quarter" idx="33"/>
          </p:nvPr>
        </p:nvSpPr>
        <p:spPr>
          <a:xfrm>
            <a:off x="4182652" y="2169391"/>
            <a:ext cx="2802130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상위직 청렴의무 위반 징계 Zero</a:t>
            </a:r>
          </a:p>
        </p:txBody>
      </p:sp>
      <p:cxnSp>
        <p:nvCxnSpPr>
          <p:cNvPr id="35" name="Connector 23"/>
          <p:cNvCxnSpPr/>
          <p:nvPr/>
        </p:nvCxnSpPr>
        <p:spPr>
          <a:xfrm>
            <a:off x="4171696" y="2202261"/>
            <a:ext cx="0" cy="17530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6" name="레일"/>
          <p:cNvSpPr/>
          <p:nvPr/>
        </p:nvSpPr>
        <p:spPr>
          <a:xfrm>
            <a:off x="734087" y="2432348"/>
            <a:ext cx="580696" cy="1057304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7" name="레일"/>
          <p:cNvSpPr>
            <a:spLocks noGrp="1"/>
          </p:cNvSpPr>
          <p:nvPr>
            <p:ph type="body" sz="quarter" idx="34"/>
          </p:nvPr>
        </p:nvSpPr>
        <p:spPr>
          <a:xfrm>
            <a:off x="734087" y="2432348"/>
            <a:ext cx="580696" cy="1057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전직원에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닿도록</a:t>
            </a:r>
          </a:p>
        </p:txBody>
      </p:sp>
      <p:sp>
        <p:nvSpPr>
          <p:cNvPr id="38" name="레일 삼각형"/>
          <p:cNvSpPr/>
          <p:nvPr/>
        </p:nvSpPr>
        <p:spPr>
          <a:xfrm>
            <a:off x="734086" y="2432347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배너"/>
          <p:cNvSpPr/>
          <p:nvPr/>
        </p:nvSpPr>
        <p:spPr>
          <a:xfrm>
            <a:off x="1347652" y="2454261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40" name="배너"/>
          <p:cNvSpPr>
            <a:spLocks noGrp="1"/>
          </p:cNvSpPr>
          <p:nvPr>
            <p:ph type="body" sz="quarter" idx="35"/>
          </p:nvPr>
        </p:nvSpPr>
        <p:spPr>
          <a:xfrm>
            <a:off x="1347652" y="2454261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워킹그룹 ‘청렴 프로모터’ 출범, 전국 곳곳으로 의지·개선과제 전파</a:t>
            </a:r>
          </a:p>
        </p:txBody>
      </p:sp>
      <p:sp>
        <p:nvSpPr>
          <p:cNvPr id="41" name="단계"/>
          <p:cNvSpPr/>
          <p:nvPr/>
        </p:nvSpPr>
        <p:spPr>
          <a:xfrm>
            <a:off x="1347652" y="2689826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2" name="단계"/>
          <p:cNvSpPr>
            <a:spLocks noGrp="1"/>
          </p:cNvSpPr>
          <p:nvPr>
            <p:ph type="body" sz="quarter" idx="36"/>
          </p:nvPr>
        </p:nvSpPr>
        <p:spPr>
          <a:xfrm>
            <a:off x="1347652" y="268982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 참여</a:t>
            </a:r>
          </a:p>
        </p:txBody>
      </p:sp>
      <p:sp>
        <p:nvSpPr>
          <p:cNvPr id="43" name="단계"/>
          <p:cNvSpPr/>
          <p:nvPr/>
        </p:nvSpPr>
        <p:spPr>
          <a:xfrm>
            <a:off x="3230348" y="2689826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4" name="단계"/>
          <p:cNvSpPr>
            <a:spLocks noGrp="1"/>
          </p:cNvSpPr>
          <p:nvPr>
            <p:ph type="body" sz="quarter" idx="37"/>
          </p:nvPr>
        </p:nvSpPr>
        <p:spPr>
          <a:xfrm>
            <a:off x="3230348" y="268982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필요한 교육</a:t>
            </a:r>
          </a:p>
        </p:txBody>
      </p:sp>
      <p:sp>
        <p:nvSpPr>
          <p:cNvPr id="45" name="단계"/>
          <p:cNvSpPr/>
          <p:nvPr/>
        </p:nvSpPr>
        <p:spPr>
          <a:xfrm>
            <a:off x="5113043" y="2689826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6" name="단계"/>
          <p:cNvSpPr>
            <a:spLocks noGrp="1"/>
          </p:cNvSpPr>
          <p:nvPr>
            <p:ph type="body" sz="quarter" idx="38"/>
          </p:nvPr>
        </p:nvSpPr>
        <p:spPr>
          <a:xfrm>
            <a:off x="5113043" y="268982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 소통</a:t>
            </a:r>
          </a:p>
        </p:txBody>
      </p:sp>
      <p:sp>
        <p:nvSpPr>
          <p:cNvPr id="47" name="단계 삼각형"/>
          <p:cNvSpPr/>
          <p:nvPr/>
        </p:nvSpPr>
        <p:spPr>
          <a:xfrm>
            <a:off x="3230347" y="268982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단계 삼각형"/>
          <p:cNvSpPr/>
          <p:nvPr/>
        </p:nvSpPr>
        <p:spPr>
          <a:xfrm>
            <a:off x="5113043" y="268982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칸 본문"/>
          <p:cNvSpPr>
            <a:spLocks noGrp="1"/>
          </p:cNvSpPr>
          <p:nvPr>
            <p:ph type="body" sz="quarter" idx="39"/>
          </p:nvPr>
        </p:nvSpPr>
        <p:spPr>
          <a:xfrm>
            <a:off x="1358609" y="2941826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‘우리부서 청렴 루틴’ 도출</a:t>
            </a:r>
          </a:p>
        </p:txBody>
      </p:sp>
      <p:sp>
        <p:nvSpPr>
          <p:cNvPr id="50" name="칸 본문"/>
          <p:cNvSpPr>
            <a:spLocks noGrp="1"/>
          </p:cNvSpPr>
          <p:nvPr>
            <p:ph type="body" sz="quarter" idx="40"/>
          </p:nvPr>
        </p:nvSpPr>
        <p:spPr>
          <a:xfrm>
            <a:off x="3241304" y="2941826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직군·직급별 맞춤형 교육</a:t>
            </a:r>
          </a:p>
        </p:txBody>
      </p:sp>
      <p:cxnSp>
        <p:nvCxnSpPr>
          <p:cNvPr id="51" name="Connector 34"/>
          <p:cNvCxnSpPr/>
          <p:nvPr/>
        </p:nvCxnSpPr>
        <p:spPr>
          <a:xfrm>
            <a:off x="3230348" y="2974696"/>
            <a:ext cx="0" cy="2410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칸 본문"/>
          <p:cNvSpPr>
            <a:spLocks noGrp="1"/>
          </p:cNvSpPr>
          <p:nvPr>
            <p:ph type="body" sz="quarter" idx="41"/>
          </p:nvPr>
        </p:nvSpPr>
        <p:spPr>
          <a:xfrm>
            <a:off x="5124000" y="2941826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다양한 직급 직접 소통</a:t>
            </a:r>
          </a:p>
        </p:txBody>
      </p:sp>
      <p:cxnSp>
        <p:nvCxnSpPr>
          <p:cNvPr id="53" name="Connector 36"/>
          <p:cNvCxnSpPr/>
          <p:nvPr/>
        </p:nvCxnSpPr>
        <p:spPr>
          <a:xfrm>
            <a:off x="5113043" y="2974696"/>
            <a:ext cx="0" cy="2410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배너"/>
          <p:cNvSpPr/>
          <p:nvPr/>
        </p:nvSpPr>
        <p:spPr>
          <a:xfrm>
            <a:off x="1347652" y="3265043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55" name="배너"/>
          <p:cNvSpPr>
            <a:spLocks noGrp="1"/>
          </p:cNvSpPr>
          <p:nvPr>
            <p:ph type="body" sz="quarter" idx="42"/>
          </p:nvPr>
        </p:nvSpPr>
        <p:spPr>
          <a:xfrm>
            <a:off x="1347652" y="3265043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“같은 업무고민을 하는 직원이 청렴교육을 하니 더욱 와닿아” – 사후설문 응답</a:t>
            </a:r>
          </a:p>
        </p:txBody>
      </p:sp>
      <p:sp>
        <p:nvSpPr>
          <p:cNvPr id="56" name="틀"/>
          <p:cNvSpPr/>
          <p:nvPr/>
        </p:nvSpPr>
        <p:spPr>
          <a:xfrm>
            <a:off x="723130" y="3571826"/>
            <a:ext cx="6300000" cy="1051826"/>
          </a:xfrm>
          <a:prstGeom prst="rect">
            <a:avLst/>
          </a:prstGeom>
          <a:solidFill>
            <a:srgbClr val="FFFFFF"/>
          </a:solidFill>
          <a:ln w="12700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성과 라벨"/>
          <p:cNvSpPr/>
          <p:nvPr/>
        </p:nvSpPr>
        <p:spPr>
          <a:xfrm>
            <a:off x="734087" y="3582783"/>
            <a:ext cx="580696" cy="102991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58" name="성과 라벨"/>
          <p:cNvSpPr>
            <a:spLocks noGrp="1"/>
          </p:cNvSpPr>
          <p:nvPr>
            <p:ph type="body" sz="quarter" idx="43"/>
          </p:nvPr>
        </p:nvSpPr>
        <p:spPr>
          <a:xfrm>
            <a:off x="734087" y="3582783"/>
            <a:ext cx="580696" cy="1029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59" name="성과 띠"/>
          <p:cNvSpPr/>
          <p:nvPr/>
        </p:nvSpPr>
        <p:spPr>
          <a:xfrm>
            <a:off x="1358609" y="3604696"/>
            <a:ext cx="5631652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60" name="성과 띠"/>
          <p:cNvSpPr>
            <a:spLocks noGrp="1"/>
          </p:cNvSpPr>
          <p:nvPr>
            <p:ph type="body" sz="quarter" idx="44"/>
          </p:nvPr>
        </p:nvSpPr>
        <p:spPr>
          <a:xfrm>
            <a:off x="1358609" y="3604696"/>
            <a:ext cx="5631652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구성원 청렴 공감 형성으로 정부평가 우수 성과 획득</a:t>
            </a:r>
          </a:p>
        </p:txBody>
      </p:sp>
      <p:sp>
        <p:nvSpPr>
          <p:cNvPr id="61" name="카드"/>
          <p:cNvSpPr/>
          <p:nvPr/>
        </p:nvSpPr>
        <p:spPr>
          <a:xfrm>
            <a:off x="1358609" y="3845739"/>
            <a:ext cx="2793913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카드 문구"/>
          <p:cNvSpPr>
            <a:spLocks noGrp="1"/>
          </p:cNvSpPr>
          <p:nvPr>
            <p:ph type="body" sz="quarter" idx="45"/>
          </p:nvPr>
        </p:nvSpPr>
        <p:spPr>
          <a:xfrm>
            <a:off x="1380522" y="3856696"/>
            <a:ext cx="1263287" cy="72313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청렴노력도 평가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4등급 ➡ 1등급, 만점 획득</a:t>
            </a:r>
          </a:p>
        </p:txBody>
      </p:sp>
      <p:sp>
        <p:nvSpPr>
          <p:cNvPr id="63" name="막대"/>
          <p:cNvSpPr/>
          <p:nvPr/>
        </p:nvSpPr>
        <p:spPr>
          <a:xfrm>
            <a:off x="2698591" y="4327826"/>
            <a:ext cx="164348" cy="109565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값"/>
          <p:cNvSpPr>
            <a:spLocks noGrp="1"/>
          </p:cNvSpPr>
          <p:nvPr>
            <p:ph type="body" sz="quarter" idx="46"/>
          </p:nvPr>
        </p:nvSpPr>
        <p:spPr>
          <a:xfrm>
            <a:off x="2610939" y="4152522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4등급</a:t>
            </a:r>
          </a:p>
        </p:txBody>
      </p:sp>
      <p:sp>
        <p:nvSpPr>
          <p:cNvPr id="65" name="연도"/>
          <p:cNvSpPr>
            <a:spLocks noGrp="1"/>
          </p:cNvSpPr>
          <p:nvPr>
            <p:ph type="body" sz="quarter" idx="47"/>
          </p:nvPr>
        </p:nvSpPr>
        <p:spPr>
          <a:xfrm>
            <a:off x="2610939" y="4448348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’24</a:t>
            </a:r>
          </a:p>
        </p:txBody>
      </p:sp>
      <p:sp>
        <p:nvSpPr>
          <p:cNvPr id="66" name="막대"/>
          <p:cNvSpPr/>
          <p:nvPr/>
        </p:nvSpPr>
        <p:spPr>
          <a:xfrm>
            <a:off x="3398165" y="4218261"/>
            <a:ext cx="164348" cy="21913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값"/>
          <p:cNvSpPr>
            <a:spLocks noGrp="1"/>
          </p:cNvSpPr>
          <p:nvPr>
            <p:ph type="body" sz="quarter" idx="48"/>
          </p:nvPr>
        </p:nvSpPr>
        <p:spPr>
          <a:xfrm>
            <a:off x="3310513" y="4042957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1등급</a:t>
            </a:r>
          </a:p>
        </p:txBody>
      </p:sp>
      <p:sp>
        <p:nvSpPr>
          <p:cNvPr id="68" name="연도"/>
          <p:cNvSpPr>
            <a:spLocks noGrp="1"/>
          </p:cNvSpPr>
          <p:nvPr>
            <p:ph type="body" sz="quarter" idx="49"/>
          </p:nvPr>
        </p:nvSpPr>
        <p:spPr>
          <a:xfrm>
            <a:off x="3310513" y="4448348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’25</a:t>
            </a:r>
          </a:p>
        </p:txBody>
      </p:sp>
      <p:sp>
        <p:nvSpPr>
          <p:cNvPr id="69" name="카드"/>
          <p:cNvSpPr/>
          <p:nvPr/>
        </p:nvSpPr>
        <p:spPr>
          <a:xfrm>
            <a:off x="4196348" y="3845739"/>
            <a:ext cx="2793913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카드 문구"/>
          <p:cNvSpPr>
            <a:spLocks noGrp="1"/>
          </p:cNvSpPr>
          <p:nvPr>
            <p:ph type="body" sz="quarter" idx="50"/>
          </p:nvPr>
        </p:nvSpPr>
        <p:spPr>
          <a:xfrm>
            <a:off x="4218261" y="3856696"/>
            <a:ext cx="1263287" cy="72313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산하기관 내부체감도 1위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평균대비 20.1점 상회</a:t>
            </a:r>
          </a:p>
        </p:txBody>
      </p:sp>
      <p:sp>
        <p:nvSpPr>
          <p:cNvPr id="71" name="막대"/>
          <p:cNvSpPr/>
          <p:nvPr/>
        </p:nvSpPr>
        <p:spPr>
          <a:xfrm>
            <a:off x="5536330" y="4273043"/>
            <a:ext cx="164348" cy="164348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값"/>
          <p:cNvSpPr>
            <a:spLocks noGrp="1"/>
          </p:cNvSpPr>
          <p:nvPr>
            <p:ph type="body" sz="quarter" idx="51"/>
          </p:nvPr>
        </p:nvSpPr>
        <p:spPr>
          <a:xfrm>
            <a:off x="5448678" y="4097739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59.6점</a:t>
            </a:r>
          </a:p>
        </p:txBody>
      </p:sp>
      <p:sp>
        <p:nvSpPr>
          <p:cNvPr id="73" name="연도"/>
          <p:cNvSpPr>
            <a:spLocks noGrp="1"/>
          </p:cNvSpPr>
          <p:nvPr>
            <p:ph type="body" sz="quarter" idx="52"/>
          </p:nvPr>
        </p:nvSpPr>
        <p:spPr>
          <a:xfrm>
            <a:off x="5448678" y="4448348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평균</a:t>
            </a:r>
          </a:p>
        </p:txBody>
      </p:sp>
      <p:sp>
        <p:nvSpPr>
          <p:cNvPr id="74" name="막대"/>
          <p:cNvSpPr/>
          <p:nvPr/>
        </p:nvSpPr>
        <p:spPr>
          <a:xfrm>
            <a:off x="6235904" y="4218261"/>
            <a:ext cx="164348" cy="21913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값"/>
          <p:cNvSpPr>
            <a:spLocks noGrp="1"/>
          </p:cNvSpPr>
          <p:nvPr>
            <p:ph type="body" sz="quarter" idx="53"/>
          </p:nvPr>
        </p:nvSpPr>
        <p:spPr>
          <a:xfrm>
            <a:off x="6148252" y="4042957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79.7점</a:t>
            </a:r>
          </a:p>
        </p:txBody>
      </p:sp>
      <p:sp>
        <p:nvSpPr>
          <p:cNvPr id="76" name="연도"/>
          <p:cNvSpPr>
            <a:spLocks noGrp="1"/>
          </p:cNvSpPr>
          <p:nvPr>
            <p:ph type="body" sz="quarter" idx="54"/>
          </p:nvPr>
        </p:nvSpPr>
        <p:spPr>
          <a:xfrm>
            <a:off x="6148252" y="4448348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우리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33 서사 · 추진배경 → 의결기구 → 과제실행(괄호 머리) → 추진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22952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</a:t>
            </a:r>
          </a:p>
        </p:txBody>
      </p:sp>
      <p:sp>
        <p:nvSpPr>
          <p:cNvPr id="11" name="분야 박스"/>
          <p:cNvSpPr/>
          <p:nvPr/>
        </p:nvSpPr>
        <p:spPr>
          <a:xfrm>
            <a:off x="766390" y="799826"/>
            <a:ext cx="592466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분야 박스"/>
          <p:cNvSpPr>
            <a:spLocks noGrp="1"/>
          </p:cNvSpPr>
          <p:nvPr>
            <p:ph type="body" sz="quarter" idx="21"/>
          </p:nvPr>
        </p:nvSpPr>
        <p:spPr>
          <a:xfrm>
            <a:off x="766390" y="799826"/>
            <a:ext cx="59246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관리체계</a:t>
            </a:r>
          </a:p>
        </p:txBody>
      </p:sp>
      <p:sp>
        <p:nvSpPr>
          <p:cNvPr id="13" name="형광 밑줄"/>
          <p:cNvSpPr/>
          <p:nvPr/>
        </p:nvSpPr>
        <p:spPr>
          <a:xfrm>
            <a:off x="1424595" y="920348"/>
            <a:ext cx="2308895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소제목"/>
          <p:cNvSpPr>
            <a:spLocks noGrp="1"/>
          </p:cNvSpPr>
          <p:nvPr>
            <p:ph type="body" sz="quarter" idx="22"/>
          </p:nvPr>
        </p:nvSpPr>
        <p:spPr>
          <a:xfrm>
            <a:off x="1424595" y="766957"/>
            <a:ext cx="5412275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위원회가 의결, 청렴혁신 추진단이 실행</a:t>
            </a:r>
          </a:p>
        </p:txBody>
      </p:sp>
      <p:sp>
        <p:nvSpPr>
          <p:cNvPr id="15" name="태그칩"/>
          <p:cNvSpPr/>
          <p:nvPr/>
        </p:nvSpPr>
        <p:spPr>
          <a:xfrm>
            <a:off x="3832099" y="799826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태그칩"/>
          <p:cNvSpPr>
            <a:spLocks noGrp="1"/>
          </p:cNvSpPr>
          <p:nvPr>
            <p:ph type="body" sz="quarter" idx="23"/>
          </p:nvPr>
        </p:nvSpPr>
        <p:spPr>
          <a:xfrm>
            <a:off x="3832099" y="799826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7" name="태그칩"/>
          <p:cNvSpPr/>
          <p:nvPr/>
        </p:nvSpPr>
        <p:spPr>
          <a:xfrm>
            <a:off x="4383220" y="799826"/>
            <a:ext cx="726832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태그칩"/>
          <p:cNvSpPr>
            <a:spLocks noGrp="1"/>
          </p:cNvSpPr>
          <p:nvPr>
            <p:ph type="body" sz="quarter" idx="24"/>
          </p:nvPr>
        </p:nvSpPr>
        <p:spPr>
          <a:xfrm>
            <a:off x="4383220" y="799826"/>
            <a:ext cx="72683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평가지적</a:t>
            </a:r>
          </a:p>
        </p:txBody>
      </p:sp>
      <p:sp>
        <p:nvSpPr>
          <p:cNvPr id="19" name="표 외곽"/>
          <p:cNvSpPr/>
          <p:nvPr/>
        </p:nvSpPr>
        <p:spPr>
          <a:xfrm>
            <a:off x="536870" y="1051826"/>
            <a:ext cx="6300000" cy="13559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레일"/>
          <p:cNvSpPr/>
          <p:nvPr/>
        </p:nvSpPr>
        <p:spPr>
          <a:xfrm>
            <a:off x="547826" y="1068261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1068261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6"/>
          </p:nvPr>
        </p:nvSpPr>
        <p:spPr>
          <a:xfrm>
            <a:off x="1172348" y="1090174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평가단 제언 강력한 내부통제 구축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감사원 내부통제 운영 미흡</a:t>
            </a:r>
          </a:p>
        </p:txBody>
      </p:sp>
      <p:sp>
        <p:nvSpPr>
          <p:cNvPr id="23" name="칸 본문"/>
          <p:cNvSpPr>
            <a:spLocks noGrp="1"/>
          </p:cNvSpPr>
          <p:nvPr>
            <p:ph type="body" sz="quarter" idx="27"/>
          </p:nvPr>
        </p:nvSpPr>
        <p:spPr>
          <a:xfrm>
            <a:off x="3996391" y="1090174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윤리경영 관리 전문역량 높여 위상 제고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이해관계자 공감 윤리문화 내재화</a:t>
            </a:r>
          </a:p>
        </p:txBody>
      </p:sp>
      <p:cxnSp>
        <p:nvCxnSpPr>
          <p:cNvPr id="24" name="Connector 16"/>
          <p:cNvCxnSpPr/>
          <p:nvPr/>
        </p:nvCxnSpPr>
        <p:spPr>
          <a:xfrm>
            <a:off x="3985435" y="1123043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5" name="레일"/>
          <p:cNvSpPr/>
          <p:nvPr/>
        </p:nvSpPr>
        <p:spPr>
          <a:xfrm>
            <a:off x="547826" y="1492904"/>
            <a:ext cx="580696" cy="898435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레일 태그"/>
          <p:cNvSpPr/>
          <p:nvPr/>
        </p:nvSpPr>
        <p:spPr>
          <a:xfrm>
            <a:off x="558376" y="1657252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7" name="레일 태그"/>
          <p:cNvSpPr>
            <a:spLocks noGrp="1"/>
          </p:cNvSpPr>
          <p:nvPr>
            <p:ph type="body" sz="quarter" idx="28"/>
          </p:nvPr>
        </p:nvSpPr>
        <p:spPr>
          <a:xfrm>
            <a:off x="558376" y="1657252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의결기구</a:t>
            </a:r>
          </a:p>
        </p:txBody>
      </p:sp>
      <p:sp>
        <p:nvSpPr>
          <p:cNvPr id="28" name="레일 라벨"/>
          <p:cNvSpPr>
            <a:spLocks noGrp="1"/>
          </p:cNvSpPr>
          <p:nvPr>
            <p:ph type="body" sz="quarter" idx="29"/>
          </p:nvPr>
        </p:nvSpPr>
        <p:spPr>
          <a:xfrm>
            <a:off x="547826" y="1843513"/>
            <a:ext cx="580696" cy="52591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외부위원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참여보장</a:t>
            </a:r>
          </a:p>
        </p:txBody>
      </p:sp>
      <p:sp>
        <p:nvSpPr>
          <p:cNvPr id="29" name="레일 삼각형"/>
          <p:cNvSpPr/>
          <p:nvPr/>
        </p:nvSpPr>
        <p:spPr>
          <a:xfrm>
            <a:off x="547826" y="1492904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배너"/>
          <p:cNvSpPr/>
          <p:nvPr/>
        </p:nvSpPr>
        <p:spPr>
          <a:xfrm>
            <a:off x="1161391" y="1514817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1" name="배너"/>
          <p:cNvSpPr>
            <a:spLocks noGrp="1"/>
          </p:cNvSpPr>
          <p:nvPr>
            <p:ph type="body" sz="quarter" idx="30"/>
          </p:nvPr>
        </p:nvSpPr>
        <p:spPr>
          <a:xfrm>
            <a:off x="1161391" y="1514817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견제와 균형 원칙에 따른 CEO의 결단, 최고 의결기구에 독립성과 전문성 확보</a:t>
            </a:r>
          </a:p>
        </p:txBody>
      </p:sp>
      <p:sp>
        <p:nvSpPr>
          <p:cNvPr id="32" name="단계"/>
          <p:cNvSpPr/>
          <p:nvPr/>
        </p:nvSpPr>
        <p:spPr>
          <a:xfrm>
            <a:off x="1161391" y="1750383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3" name="단계"/>
          <p:cNvSpPr>
            <a:spLocks noGrp="1"/>
          </p:cNvSpPr>
          <p:nvPr>
            <p:ph type="body" sz="quarter" idx="31"/>
          </p:nvPr>
        </p:nvSpPr>
        <p:spPr>
          <a:xfrm>
            <a:off x="1161391" y="175038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CEO 제언</a:t>
            </a:r>
          </a:p>
        </p:txBody>
      </p:sp>
      <p:sp>
        <p:nvSpPr>
          <p:cNvPr id="34" name="단계"/>
          <p:cNvSpPr/>
          <p:nvPr/>
        </p:nvSpPr>
        <p:spPr>
          <a:xfrm>
            <a:off x="3044087" y="1750383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5" name="단계"/>
          <p:cNvSpPr>
            <a:spLocks noGrp="1"/>
          </p:cNvSpPr>
          <p:nvPr>
            <p:ph type="body" sz="quarter" idx="32"/>
          </p:nvPr>
        </p:nvSpPr>
        <p:spPr>
          <a:xfrm>
            <a:off x="3044087" y="175038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외부위원 추가 선임</a:t>
            </a:r>
          </a:p>
        </p:txBody>
      </p:sp>
      <p:sp>
        <p:nvSpPr>
          <p:cNvPr id="36" name="단계"/>
          <p:cNvSpPr/>
          <p:nvPr/>
        </p:nvSpPr>
        <p:spPr>
          <a:xfrm>
            <a:off x="4926783" y="1750383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7" name="단계"/>
          <p:cNvSpPr>
            <a:spLocks noGrp="1"/>
          </p:cNvSpPr>
          <p:nvPr>
            <p:ph type="body" sz="quarter" idx="33"/>
          </p:nvPr>
        </p:nvSpPr>
        <p:spPr>
          <a:xfrm>
            <a:off x="4926783" y="1750383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실적</a:t>
            </a:r>
          </a:p>
        </p:txBody>
      </p:sp>
      <p:sp>
        <p:nvSpPr>
          <p:cNvPr id="38" name="단계 삼각형"/>
          <p:cNvSpPr/>
          <p:nvPr/>
        </p:nvSpPr>
        <p:spPr>
          <a:xfrm>
            <a:off x="3044086" y="1750382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단계 삼각형"/>
          <p:cNvSpPr/>
          <p:nvPr/>
        </p:nvSpPr>
        <p:spPr>
          <a:xfrm>
            <a:off x="4926782" y="1750382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4"/>
          </p:nvPr>
        </p:nvSpPr>
        <p:spPr>
          <a:xfrm>
            <a:off x="1172348" y="2002383"/>
            <a:ext cx="1860783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“나도 견제 받을 수 있게 외부위원이 직접 참여”</a:t>
            </a:r>
          </a:p>
        </p:txBody>
      </p:sp>
      <p:sp>
        <p:nvSpPr>
          <p:cNvPr id="41" name="칸 본문"/>
          <p:cNvSpPr>
            <a:spLocks noGrp="1"/>
          </p:cNvSpPr>
          <p:nvPr>
            <p:ph type="body" sz="quarter" idx="35"/>
          </p:nvPr>
        </p:nvSpPr>
        <p:spPr>
          <a:xfrm>
            <a:off x="3055043" y="2002383"/>
            <a:ext cx="1860783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비상임이사 2명 외부위원 참여</a:t>
            </a:r>
          </a:p>
        </p:txBody>
      </p:sp>
      <p:cxnSp>
        <p:nvCxnSpPr>
          <p:cNvPr id="42" name="Connector 29"/>
          <p:cNvCxnSpPr/>
          <p:nvPr/>
        </p:nvCxnSpPr>
        <p:spPr>
          <a:xfrm>
            <a:off x="3044087" y="2035252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칸 본문"/>
          <p:cNvSpPr>
            <a:spLocks noGrp="1"/>
          </p:cNvSpPr>
          <p:nvPr>
            <p:ph type="body" sz="quarter" idx="36"/>
          </p:nvPr>
        </p:nvSpPr>
        <p:spPr>
          <a:xfrm>
            <a:off x="4937739" y="2002383"/>
            <a:ext cx="1860783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안건 의견 보완 및 의결(5건)</a:t>
            </a:r>
          </a:p>
        </p:txBody>
      </p:sp>
      <p:cxnSp>
        <p:nvCxnSpPr>
          <p:cNvPr id="44" name="Connector 31"/>
          <p:cNvCxnSpPr/>
          <p:nvPr/>
        </p:nvCxnSpPr>
        <p:spPr>
          <a:xfrm>
            <a:off x="4926783" y="2035252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틀"/>
          <p:cNvSpPr/>
          <p:nvPr/>
        </p:nvSpPr>
        <p:spPr>
          <a:xfrm>
            <a:off x="536870" y="2462557"/>
            <a:ext cx="6300000" cy="115043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레일"/>
          <p:cNvSpPr/>
          <p:nvPr/>
        </p:nvSpPr>
        <p:spPr>
          <a:xfrm>
            <a:off x="547826" y="2473513"/>
            <a:ext cx="580696" cy="112852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7" name="레일"/>
          <p:cNvSpPr>
            <a:spLocks noGrp="1"/>
          </p:cNvSpPr>
          <p:nvPr>
            <p:ph type="body" sz="quarter" idx="37"/>
          </p:nvPr>
        </p:nvSpPr>
        <p:spPr>
          <a:xfrm>
            <a:off x="547826" y="2473513"/>
            <a:ext cx="580696" cy="112852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전사확산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가속화</a:t>
            </a:r>
          </a:p>
        </p:txBody>
      </p:sp>
      <p:sp>
        <p:nvSpPr>
          <p:cNvPr id="48" name="칸 제목 띠"/>
          <p:cNvSpPr/>
          <p:nvPr/>
        </p:nvSpPr>
        <p:spPr>
          <a:xfrm>
            <a:off x="1194261" y="2495426"/>
            <a:ext cx="2772000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칸 제목"/>
          <p:cNvSpPr>
            <a:spLocks noGrp="1"/>
          </p:cNvSpPr>
          <p:nvPr>
            <p:ph type="body" sz="quarter" idx="38"/>
          </p:nvPr>
        </p:nvSpPr>
        <p:spPr>
          <a:xfrm>
            <a:off x="1194261" y="2495426"/>
            <a:ext cx="2772000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구성 현장부서 참여로 체감·파급력 향상</a:t>
            </a:r>
          </a:p>
        </p:txBody>
      </p:sp>
      <p:sp>
        <p:nvSpPr>
          <p:cNvPr id="50" name="삼각 화살표"/>
          <p:cNvSpPr/>
          <p:nvPr/>
        </p:nvSpPr>
        <p:spPr>
          <a:xfrm>
            <a:off x="2520000" y="2692643"/>
            <a:ext cx="120521" cy="54783"/>
          </a:xfrm>
          <a:custGeom>
            <a:avLst/>
            <a:gdLst/>
            <a:ahLst/>
            <a:cxnLst/>
            <a:rect l="l" t="t" r="r" b="b"/>
            <a:pathLst>
              <a:path w="120521" h="54783">
                <a:moveTo>
                  <a:pt x="0" y="0"/>
                </a:moveTo>
                <a:lnTo>
                  <a:pt x="120521" y="0"/>
                </a:lnTo>
                <a:lnTo>
                  <a:pt x="60260" y="54783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칸 본문"/>
          <p:cNvSpPr>
            <a:spLocks noGrp="1"/>
          </p:cNvSpPr>
          <p:nvPr>
            <p:ph type="body" sz="quarter" idx="39"/>
          </p:nvPr>
        </p:nvSpPr>
        <p:spPr>
          <a:xfrm>
            <a:off x="1205217" y="2758383"/>
            <a:ext cx="2750087" cy="799826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CEO＋기획 상임이사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본사(18개)·현장(5개) 참여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참여부서 확대(14→23개 부서)</a:t>
            </a:r>
          </a:p>
        </p:txBody>
      </p:sp>
      <p:sp>
        <p:nvSpPr>
          <p:cNvPr id="52" name="칸 제목 띠"/>
          <p:cNvSpPr/>
          <p:nvPr/>
        </p:nvSpPr>
        <p:spPr>
          <a:xfrm>
            <a:off x="4010087" y="2495426"/>
            <a:ext cx="2772000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칸 제목"/>
          <p:cNvSpPr>
            <a:spLocks noGrp="1"/>
          </p:cNvSpPr>
          <p:nvPr>
            <p:ph type="body" sz="quarter" idx="40"/>
          </p:nvPr>
        </p:nvSpPr>
        <p:spPr>
          <a:xfrm>
            <a:off x="4010087" y="2495426"/>
            <a:ext cx="2772000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제도화 단발성 개선이 아닌 시스템으로 정착</a:t>
            </a:r>
          </a:p>
        </p:txBody>
      </p:sp>
      <p:sp>
        <p:nvSpPr>
          <p:cNvPr id="54" name="삼각 화살표"/>
          <p:cNvSpPr/>
          <p:nvPr/>
        </p:nvSpPr>
        <p:spPr>
          <a:xfrm>
            <a:off x="5335826" y="2692643"/>
            <a:ext cx="120521" cy="54783"/>
          </a:xfrm>
          <a:custGeom>
            <a:avLst/>
            <a:gdLst/>
            <a:ahLst/>
            <a:cxnLst/>
            <a:rect l="l" t="t" r="r" b="b"/>
            <a:pathLst>
              <a:path w="120521" h="54783">
                <a:moveTo>
                  <a:pt x="0" y="0"/>
                </a:moveTo>
                <a:lnTo>
                  <a:pt x="120521" y="0"/>
                </a:lnTo>
                <a:lnTo>
                  <a:pt x="60260" y="54783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사진 칸"/>
          <p:cNvSpPr/>
          <p:nvPr/>
        </p:nvSpPr>
        <p:spPr>
          <a:xfrm>
            <a:off x="5452403" y="2769339"/>
            <a:ext cx="1318727" cy="766957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56" name="사진 칸"/>
          <p:cNvSpPr>
            <a:spLocks noGrp="1"/>
          </p:cNvSpPr>
          <p:nvPr>
            <p:ph type="body" sz="quarter" idx="41"/>
          </p:nvPr>
        </p:nvSpPr>
        <p:spPr>
          <a:xfrm>
            <a:off x="5452403" y="2769339"/>
            <a:ext cx="1318727" cy="766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도해 자리</a:t>
            </a:r>
          </a:p>
        </p:txBody>
      </p:sp>
      <p:sp>
        <p:nvSpPr>
          <p:cNvPr id="57" name="칸 본문"/>
          <p:cNvSpPr>
            <a:spLocks noGrp="1"/>
          </p:cNvSpPr>
          <p:nvPr>
            <p:ph type="body" sz="quarter" idx="42"/>
          </p:nvPr>
        </p:nvSpPr>
        <p:spPr>
          <a:xfrm>
            <a:off x="4021043" y="2758383"/>
            <a:ext cx="1375043" cy="799826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토지보상·조직개편·건설공사·수도보수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청렴혁신 추진단 중심 시스템화</a:t>
            </a:r>
          </a:p>
        </p:txBody>
      </p:sp>
      <p:cxnSp>
        <p:nvCxnSpPr>
          <p:cNvPr id="58" name="Connector 43"/>
          <p:cNvCxnSpPr/>
          <p:nvPr/>
        </p:nvCxnSpPr>
        <p:spPr>
          <a:xfrm>
            <a:off x="3988174" y="2747426"/>
            <a:ext cx="0" cy="821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9" name="핵심성과 박스"/>
          <p:cNvSpPr/>
          <p:nvPr/>
        </p:nvSpPr>
        <p:spPr>
          <a:xfrm>
            <a:off x="536870" y="3700643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핵심성과 라벨"/>
          <p:cNvSpPr/>
          <p:nvPr/>
        </p:nvSpPr>
        <p:spPr>
          <a:xfrm>
            <a:off x="569739" y="3733513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1" name="핵심성과 라벨"/>
          <p:cNvSpPr>
            <a:spLocks noGrp="1"/>
          </p:cNvSpPr>
          <p:nvPr>
            <p:ph type="body" sz="quarter" idx="43"/>
          </p:nvPr>
        </p:nvSpPr>
        <p:spPr>
          <a:xfrm>
            <a:off x="569739" y="3733513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62" name="핵심성과 문구"/>
          <p:cNvSpPr>
            <a:spLocks noGrp="1"/>
          </p:cNvSpPr>
          <p:nvPr>
            <p:ph type="body" sz="quarter" idx="44"/>
          </p:nvPr>
        </p:nvSpPr>
        <p:spPr>
          <a:xfrm>
            <a:off x="1314783" y="3722557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탄탄한 윤리경영 체계로 권익위 청렴노력도 공사 최고 94.7점 달성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부패 취약분야 집중개선 대표사례 수행기관 중 1위 획득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4 서사 · 추진배경 → 현장 의견 → 위험 경감 → 핵심위험 선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전 부서 ‘위험관리’를 통한 핵심위험 선정, 체감가능한 개선 이행</a:t>
            </a:r>
          </a:p>
        </p:txBody>
      </p:sp>
      <p:sp>
        <p:nvSpPr>
          <p:cNvPr id="14" name="번호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22952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</a:t>
            </a:r>
          </a:p>
        </p:txBody>
      </p:sp>
      <p:sp>
        <p:nvSpPr>
          <p:cNvPr id="15" name="분야 박스"/>
          <p:cNvSpPr/>
          <p:nvPr/>
        </p:nvSpPr>
        <p:spPr>
          <a:xfrm>
            <a:off x="952651" y="1238087"/>
            <a:ext cx="592466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분야 박스"/>
          <p:cNvSpPr>
            <a:spLocks noGrp="1"/>
          </p:cNvSpPr>
          <p:nvPr>
            <p:ph type="body" sz="quarter" idx="23"/>
          </p:nvPr>
        </p:nvSpPr>
        <p:spPr>
          <a:xfrm>
            <a:off x="952651" y="1238087"/>
            <a:ext cx="59246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위험식별</a:t>
            </a:r>
          </a:p>
        </p:txBody>
      </p:sp>
      <p:sp>
        <p:nvSpPr>
          <p:cNvPr id="17" name="형광 밑줄"/>
          <p:cNvSpPr/>
          <p:nvPr/>
        </p:nvSpPr>
        <p:spPr>
          <a:xfrm>
            <a:off x="1610856" y="1358609"/>
            <a:ext cx="3200811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소제목"/>
          <p:cNvSpPr>
            <a:spLocks noGrp="1"/>
          </p:cNvSpPr>
          <p:nvPr>
            <p:ph type="body" sz="quarter" idx="24"/>
          </p:nvPr>
        </p:nvSpPr>
        <p:spPr>
          <a:xfrm>
            <a:off x="1610856" y="1205217"/>
            <a:ext cx="5412275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현장 곳곳에 숨은 위험이 없도록 더 넓고 확실하게 예방</a:t>
            </a:r>
          </a:p>
        </p:txBody>
      </p:sp>
      <p:sp>
        <p:nvSpPr>
          <p:cNvPr id="19" name="태그칩"/>
          <p:cNvSpPr/>
          <p:nvPr/>
        </p:nvSpPr>
        <p:spPr>
          <a:xfrm>
            <a:off x="4910275" y="1238087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태그칩"/>
          <p:cNvSpPr>
            <a:spLocks noGrp="1"/>
          </p:cNvSpPr>
          <p:nvPr>
            <p:ph type="body" sz="quarter" idx="25"/>
          </p:nvPr>
        </p:nvSpPr>
        <p:spPr>
          <a:xfrm>
            <a:off x="4910275" y="1238087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21" name="표 외곽"/>
          <p:cNvSpPr/>
          <p:nvPr/>
        </p:nvSpPr>
        <p:spPr>
          <a:xfrm>
            <a:off x="723130" y="1490087"/>
            <a:ext cx="6300000" cy="249699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"/>
          <p:cNvSpPr/>
          <p:nvPr/>
        </p:nvSpPr>
        <p:spPr>
          <a:xfrm>
            <a:off x="734087" y="1506522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506522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24" name="칸 본문"/>
          <p:cNvSpPr>
            <a:spLocks noGrp="1"/>
          </p:cNvSpPr>
          <p:nvPr>
            <p:ph type="body" sz="quarter" idx="27"/>
          </p:nvPr>
        </p:nvSpPr>
        <p:spPr>
          <a:xfrm>
            <a:off x="1358609" y="1528435"/>
            <a:ext cx="2802130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더 많은 부서 위험관리 필요(’24년 권고)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8"/>
          </p:nvPr>
        </p:nvSpPr>
        <p:spPr>
          <a:xfrm>
            <a:off x="4182652" y="1528435"/>
            <a:ext cx="2802130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현업부서 위험 관리 프로세스 확대</a:t>
            </a:r>
          </a:p>
        </p:txBody>
      </p:sp>
      <p:cxnSp>
        <p:nvCxnSpPr>
          <p:cNvPr id="26" name="Connector 17"/>
          <p:cNvCxnSpPr/>
          <p:nvPr/>
        </p:nvCxnSpPr>
        <p:spPr>
          <a:xfrm>
            <a:off x="4171696" y="1561304"/>
            <a:ext cx="0" cy="17530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7" name="레일"/>
          <p:cNvSpPr/>
          <p:nvPr/>
        </p:nvSpPr>
        <p:spPr>
          <a:xfrm>
            <a:off x="734087" y="1931165"/>
            <a:ext cx="580696" cy="68478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8" name="레일"/>
          <p:cNvSpPr>
            <a:spLocks noGrp="1"/>
          </p:cNvSpPr>
          <p:nvPr>
            <p:ph type="body" sz="quarter" idx="29"/>
          </p:nvPr>
        </p:nvSpPr>
        <p:spPr>
          <a:xfrm>
            <a:off x="734087" y="1931165"/>
            <a:ext cx="580696" cy="6847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현장에서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답을 찾아</a:t>
            </a:r>
          </a:p>
        </p:txBody>
      </p:sp>
      <p:sp>
        <p:nvSpPr>
          <p:cNvPr id="29" name="레일 삼각형"/>
          <p:cNvSpPr/>
          <p:nvPr/>
        </p:nvSpPr>
        <p:spPr>
          <a:xfrm>
            <a:off x="734086" y="1931165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머리칸"/>
          <p:cNvSpPr/>
          <p:nvPr/>
        </p:nvSpPr>
        <p:spPr>
          <a:xfrm>
            <a:off x="1347652" y="195307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1" name="머리칸"/>
          <p:cNvSpPr>
            <a:spLocks noGrp="1"/>
          </p:cNvSpPr>
          <p:nvPr>
            <p:ph type="body" sz="quarter" idx="30"/>
          </p:nvPr>
        </p:nvSpPr>
        <p:spPr>
          <a:xfrm>
            <a:off x="1347652" y="195307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국민 눈높이에 맞추고</a:t>
            </a:r>
          </a:p>
        </p:txBody>
      </p:sp>
      <p:sp>
        <p:nvSpPr>
          <p:cNvPr id="32" name="머리칸"/>
          <p:cNvSpPr/>
          <p:nvPr/>
        </p:nvSpPr>
        <p:spPr>
          <a:xfrm>
            <a:off x="3230348" y="195307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3" name="머리칸"/>
          <p:cNvSpPr>
            <a:spLocks noGrp="1"/>
          </p:cNvSpPr>
          <p:nvPr>
            <p:ph type="body" sz="quarter" idx="31"/>
          </p:nvPr>
        </p:nvSpPr>
        <p:spPr>
          <a:xfrm>
            <a:off x="3230348" y="195307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고객 목소리를 귀담아</a:t>
            </a:r>
          </a:p>
        </p:txBody>
      </p:sp>
      <p:sp>
        <p:nvSpPr>
          <p:cNvPr id="34" name="머리칸"/>
          <p:cNvSpPr/>
          <p:nvPr/>
        </p:nvSpPr>
        <p:spPr>
          <a:xfrm>
            <a:off x="5113043" y="195307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5" name="머리칸"/>
          <p:cNvSpPr>
            <a:spLocks noGrp="1"/>
          </p:cNvSpPr>
          <p:nvPr>
            <p:ph type="body" sz="quarter" idx="32"/>
          </p:nvPr>
        </p:nvSpPr>
        <p:spPr>
          <a:xfrm>
            <a:off x="5113043" y="195307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직원과 함께 위험을 감지</a:t>
            </a:r>
          </a:p>
        </p:txBody>
      </p:sp>
      <p:sp>
        <p:nvSpPr>
          <p:cNvPr id="36" name="칸 본문"/>
          <p:cNvSpPr>
            <a:spLocks noGrp="1"/>
          </p:cNvSpPr>
          <p:nvPr>
            <p:ph type="body" sz="quarter" idx="33"/>
          </p:nvPr>
        </p:nvSpPr>
        <p:spPr>
          <a:xfrm>
            <a:off x="1358609" y="219412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의견수렴(’25.5, 1천명)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윤리실천 의지 표명(’25.9)</a:t>
            </a:r>
          </a:p>
        </p:txBody>
      </p:sp>
      <p:sp>
        <p:nvSpPr>
          <p:cNvPr id="37" name="칸 본문"/>
          <p:cNvSpPr>
            <a:spLocks noGrp="1"/>
          </p:cNvSpPr>
          <p:nvPr>
            <p:ph type="body" sz="quarter" idx="34"/>
          </p:nvPr>
        </p:nvSpPr>
        <p:spPr>
          <a:xfrm>
            <a:off x="3241304" y="219412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고객 청렴도 진단(’25.4, 2천명)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자회사 청렴도 조사(반기)</a:t>
            </a:r>
          </a:p>
        </p:txBody>
      </p:sp>
      <p:cxnSp>
        <p:nvCxnSpPr>
          <p:cNvPr id="38" name="Connector 25"/>
          <p:cNvCxnSpPr/>
          <p:nvPr/>
        </p:nvCxnSpPr>
        <p:spPr>
          <a:xfrm>
            <a:off x="3230348" y="2226991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칸 본문"/>
          <p:cNvSpPr>
            <a:spLocks noGrp="1"/>
          </p:cNvSpPr>
          <p:nvPr>
            <p:ph type="body" sz="quarter" idx="35"/>
          </p:nvPr>
        </p:nvSpPr>
        <p:spPr>
          <a:xfrm>
            <a:off x="5124000" y="219412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내부통제 실무협의회(38명)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위험관리 파트너 양성(13명)</a:t>
            </a:r>
          </a:p>
        </p:txBody>
      </p:sp>
      <p:cxnSp>
        <p:nvCxnSpPr>
          <p:cNvPr id="40" name="Connector 27"/>
          <p:cNvCxnSpPr/>
          <p:nvPr/>
        </p:nvCxnSpPr>
        <p:spPr>
          <a:xfrm>
            <a:off x="5113043" y="2226991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레일"/>
          <p:cNvSpPr/>
          <p:nvPr/>
        </p:nvSpPr>
        <p:spPr>
          <a:xfrm>
            <a:off x="734087" y="2632383"/>
            <a:ext cx="580696" cy="78213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2" name="레일"/>
          <p:cNvSpPr>
            <a:spLocks noGrp="1"/>
          </p:cNvSpPr>
          <p:nvPr>
            <p:ph type="body" sz="quarter" idx="36"/>
          </p:nvPr>
        </p:nvSpPr>
        <p:spPr>
          <a:xfrm>
            <a:off x="734087" y="2632383"/>
            <a:ext cx="580696" cy="78213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위험을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경감하고</a:t>
            </a:r>
          </a:p>
        </p:txBody>
      </p:sp>
      <p:sp>
        <p:nvSpPr>
          <p:cNvPr id="43" name="단계"/>
          <p:cNvSpPr/>
          <p:nvPr/>
        </p:nvSpPr>
        <p:spPr>
          <a:xfrm>
            <a:off x="1347652" y="2654296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4" name="단계"/>
          <p:cNvSpPr>
            <a:spLocks noGrp="1"/>
          </p:cNvSpPr>
          <p:nvPr>
            <p:ph type="body" sz="quarter" idx="37"/>
          </p:nvPr>
        </p:nvSpPr>
        <p:spPr>
          <a:xfrm>
            <a:off x="1347652" y="265429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부서별 위험식별</a:t>
            </a:r>
          </a:p>
        </p:txBody>
      </p:sp>
      <p:sp>
        <p:nvSpPr>
          <p:cNvPr id="45" name="단계"/>
          <p:cNvSpPr/>
          <p:nvPr/>
        </p:nvSpPr>
        <p:spPr>
          <a:xfrm>
            <a:off x="3230348" y="2654296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6" name="단계"/>
          <p:cNvSpPr>
            <a:spLocks noGrp="1"/>
          </p:cNvSpPr>
          <p:nvPr>
            <p:ph type="body" sz="quarter" idx="38"/>
          </p:nvPr>
        </p:nvSpPr>
        <p:spPr>
          <a:xfrm>
            <a:off x="3230348" y="265429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위험수준 평가</a:t>
            </a:r>
          </a:p>
        </p:txBody>
      </p:sp>
      <p:sp>
        <p:nvSpPr>
          <p:cNvPr id="47" name="단계"/>
          <p:cNvSpPr/>
          <p:nvPr/>
        </p:nvSpPr>
        <p:spPr>
          <a:xfrm>
            <a:off x="5113043" y="2654296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8" name="단계"/>
          <p:cNvSpPr>
            <a:spLocks noGrp="1"/>
          </p:cNvSpPr>
          <p:nvPr>
            <p:ph type="body" sz="quarter" idx="39"/>
          </p:nvPr>
        </p:nvSpPr>
        <p:spPr>
          <a:xfrm>
            <a:off x="5113043" y="2654296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위험수준별 경감</a:t>
            </a:r>
          </a:p>
        </p:txBody>
      </p:sp>
      <p:sp>
        <p:nvSpPr>
          <p:cNvPr id="49" name="단계 삼각형"/>
          <p:cNvSpPr/>
          <p:nvPr/>
        </p:nvSpPr>
        <p:spPr>
          <a:xfrm>
            <a:off x="3230347" y="2654295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단계 삼각형"/>
          <p:cNvSpPr/>
          <p:nvPr/>
        </p:nvSpPr>
        <p:spPr>
          <a:xfrm>
            <a:off x="5113043" y="2654295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칸 본문"/>
          <p:cNvSpPr>
            <a:spLocks noGrp="1"/>
          </p:cNvSpPr>
          <p:nvPr>
            <p:ph type="body" sz="quarter" idx="40"/>
          </p:nvPr>
        </p:nvSpPr>
        <p:spPr>
          <a:xfrm>
            <a:off x="1358609" y="2906296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위험관리 프로세스 전부서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* ’23년 32개 → ’25년 전부서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고유위험 1,243개 식별</a:t>
            </a:r>
          </a:p>
        </p:txBody>
      </p:sp>
      <p:sp>
        <p:nvSpPr>
          <p:cNvPr id="52" name="칸 본문"/>
          <p:cNvSpPr>
            <a:spLocks noGrp="1"/>
          </p:cNvSpPr>
          <p:nvPr>
            <p:ph type="body" sz="quarter" idx="41"/>
          </p:nvPr>
        </p:nvSpPr>
        <p:spPr>
          <a:xfrm>
            <a:off x="3241304" y="2906296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 평가기준 상향 조정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* 영향력 4점 이상 고위험 분류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13대 위험 유형 선정</a:t>
            </a:r>
          </a:p>
        </p:txBody>
      </p:sp>
      <p:cxnSp>
        <p:nvCxnSpPr>
          <p:cNvPr id="53" name="Connector 36"/>
          <p:cNvCxnSpPr/>
          <p:nvPr/>
        </p:nvCxnSpPr>
        <p:spPr>
          <a:xfrm>
            <a:off x="3230348" y="2939165"/>
            <a:ext cx="0" cy="4370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칸 본문"/>
          <p:cNvSpPr>
            <a:spLocks noGrp="1"/>
          </p:cNvSpPr>
          <p:nvPr>
            <p:ph type="body" sz="quarter" idx="42"/>
          </p:nvPr>
        </p:nvSpPr>
        <p:spPr>
          <a:xfrm>
            <a:off x="5124000" y="2906296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고위험 통제활동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중위험 교차심사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저위험 자체점검(상시)</a:t>
            </a:r>
          </a:p>
        </p:txBody>
      </p:sp>
      <p:cxnSp>
        <p:nvCxnSpPr>
          <p:cNvPr id="55" name="Connector 38"/>
          <p:cNvCxnSpPr/>
          <p:nvPr/>
        </p:nvCxnSpPr>
        <p:spPr>
          <a:xfrm>
            <a:off x="5113043" y="2939165"/>
            <a:ext cx="0" cy="4370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6" name="레일"/>
          <p:cNvSpPr/>
          <p:nvPr/>
        </p:nvSpPr>
        <p:spPr>
          <a:xfrm>
            <a:off x="734087" y="3430957"/>
            <a:ext cx="580696" cy="53968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7" name="레일"/>
          <p:cNvSpPr>
            <a:spLocks noGrp="1"/>
          </p:cNvSpPr>
          <p:nvPr>
            <p:ph type="body" sz="quarter" idx="43"/>
          </p:nvPr>
        </p:nvSpPr>
        <p:spPr>
          <a:xfrm>
            <a:off x="734087" y="3430957"/>
            <a:ext cx="580696" cy="5396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핵심위험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 정</a:t>
            </a:r>
          </a:p>
        </p:txBody>
      </p:sp>
      <p:sp>
        <p:nvSpPr>
          <p:cNvPr id="58" name="레일 삼각형"/>
          <p:cNvSpPr/>
          <p:nvPr/>
        </p:nvSpPr>
        <p:spPr>
          <a:xfrm>
            <a:off x="734086" y="3430956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태그"/>
          <p:cNvSpPr/>
          <p:nvPr/>
        </p:nvSpPr>
        <p:spPr>
          <a:xfrm>
            <a:off x="1347652" y="3474783"/>
            <a:ext cx="361972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0" name="태그"/>
          <p:cNvSpPr>
            <a:spLocks noGrp="1"/>
          </p:cNvSpPr>
          <p:nvPr>
            <p:ph type="body" sz="quarter" idx="44"/>
          </p:nvPr>
        </p:nvSpPr>
        <p:spPr>
          <a:xfrm>
            <a:off x="1347652" y="3474783"/>
            <a:ext cx="36197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핵심</a:t>
            </a:r>
          </a:p>
        </p:txBody>
      </p:sp>
      <p:sp>
        <p:nvSpPr>
          <p:cNvPr id="61" name="태그 설명"/>
          <p:cNvSpPr>
            <a:spLocks noGrp="1"/>
          </p:cNvSpPr>
          <p:nvPr>
            <p:ph type="body" sz="quarter" idx="45"/>
          </p:nvPr>
        </p:nvSpPr>
        <p:spPr>
          <a:xfrm>
            <a:off x="1753450" y="3463826"/>
            <a:ext cx="5242289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외부고객 관련 위험(2개)을 추가 선정한 ’25년 7대 핵심 윤리위험 선정</a:t>
            </a:r>
          </a:p>
        </p:txBody>
      </p:sp>
      <p:sp>
        <p:nvSpPr>
          <p:cNvPr id="62" name="태그"/>
          <p:cNvSpPr/>
          <p:nvPr/>
        </p:nvSpPr>
        <p:spPr>
          <a:xfrm>
            <a:off x="1347652" y="3672000"/>
            <a:ext cx="361972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3" name="태그"/>
          <p:cNvSpPr>
            <a:spLocks noGrp="1"/>
          </p:cNvSpPr>
          <p:nvPr>
            <p:ph type="body" sz="quarter" idx="46"/>
          </p:nvPr>
        </p:nvSpPr>
        <p:spPr>
          <a:xfrm>
            <a:off x="1347652" y="3672000"/>
            <a:ext cx="36197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</a:t>
            </a:r>
          </a:p>
        </p:txBody>
      </p:sp>
      <p:sp>
        <p:nvSpPr>
          <p:cNvPr id="64" name="태그 설명"/>
          <p:cNvSpPr>
            <a:spLocks noGrp="1"/>
          </p:cNvSpPr>
          <p:nvPr>
            <p:ph type="body" sz="quarter" idx="47"/>
          </p:nvPr>
        </p:nvSpPr>
        <p:spPr>
          <a:xfrm>
            <a:off x="1753450" y="3661043"/>
            <a:ext cx="5242289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특혜제공 · 예산낭비 · 회계부정 · 정보보안 / 외부 소극행정 · 갑질행위 / 자회사 운영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35 서사 · 통제활동 → 내부 임직원 · 외부 고객 · 자회사 카드 격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22952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</a:t>
            </a:r>
          </a:p>
        </p:txBody>
      </p:sp>
      <p:sp>
        <p:nvSpPr>
          <p:cNvPr id="11" name="분야 박스"/>
          <p:cNvSpPr/>
          <p:nvPr/>
        </p:nvSpPr>
        <p:spPr>
          <a:xfrm>
            <a:off x="766390" y="799826"/>
            <a:ext cx="592466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분야 박스"/>
          <p:cNvSpPr>
            <a:spLocks noGrp="1"/>
          </p:cNvSpPr>
          <p:nvPr>
            <p:ph type="body" sz="quarter" idx="21"/>
          </p:nvPr>
        </p:nvSpPr>
        <p:spPr>
          <a:xfrm>
            <a:off x="766390" y="799826"/>
            <a:ext cx="59246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통제활동</a:t>
            </a:r>
          </a:p>
        </p:txBody>
      </p:sp>
      <p:sp>
        <p:nvSpPr>
          <p:cNvPr id="13" name="형광 밑줄"/>
          <p:cNvSpPr/>
          <p:nvPr/>
        </p:nvSpPr>
        <p:spPr>
          <a:xfrm>
            <a:off x="1424595" y="920348"/>
            <a:ext cx="303396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소제목"/>
          <p:cNvSpPr>
            <a:spLocks noGrp="1"/>
          </p:cNvSpPr>
          <p:nvPr>
            <p:ph type="body" sz="quarter" idx="22"/>
          </p:nvPr>
        </p:nvSpPr>
        <p:spPr>
          <a:xfrm>
            <a:off x="1424595" y="766957"/>
            <a:ext cx="5412275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구성원과 고객이 실제 체감할 수 있는 부패저감 활동</a:t>
            </a:r>
          </a:p>
        </p:txBody>
      </p:sp>
      <p:sp>
        <p:nvSpPr>
          <p:cNvPr id="15" name="태그칩"/>
          <p:cNvSpPr/>
          <p:nvPr/>
        </p:nvSpPr>
        <p:spPr>
          <a:xfrm>
            <a:off x="4557166" y="799826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태그칩"/>
          <p:cNvSpPr>
            <a:spLocks noGrp="1"/>
          </p:cNvSpPr>
          <p:nvPr>
            <p:ph type="body" sz="quarter" idx="23"/>
          </p:nvPr>
        </p:nvSpPr>
        <p:spPr>
          <a:xfrm>
            <a:off x="4557166" y="799826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7" name="태그칩"/>
          <p:cNvSpPr/>
          <p:nvPr/>
        </p:nvSpPr>
        <p:spPr>
          <a:xfrm>
            <a:off x="5108287" y="799826"/>
            <a:ext cx="726832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태그칩"/>
          <p:cNvSpPr>
            <a:spLocks noGrp="1"/>
          </p:cNvSpPr>
          <p:nvPr>
            <p:ph type="body" sz="quarter" idx="24"/>
          </p:nvPr>
        </p:nvSpPr>
        <p:spPr>
          <a:xfrm>
            <a:off x="5108287" y="799826"/>
            <a:ext cx="72683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평가지적</a:t>
            </a:r>
          </a:p>
        </p:txBody>
      </p:sp>
      <p:sp>
        <p:nvSpPr>
          <p:cNvPr id="19" name="아이콘 칸"/>
          <p:cNvSpPr/>
          <p:nvPr/>
        </p:nvSpPr>
        <p:spPr>
          <a:xfrm>
            <a:off x="536870" y="1106609"/>
            <a:ext cx="175304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20" name="태그"/>
          <p:cNvSpPr/>
          <p:nvPr/>
        </p:nvSpPr>
        <p:spPr>
          <a:xfrm>
            <a:off x="756000" y="1106609"/>
            <a:ext cx="687680" cy="1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1" name="태그"/>
          <p:cNvSpPr>
            <a:spLocks noGrp="1"/>
          </p:cNvSpPr>
          <p:nvPr>
            <p:ph type="body" sz="quarter" idx="25"/>
          </p:nvPr>
        </p:nvSpPr>
        <p:spPr>
          <a:xfrm>
            <a:off x="756000" y="1106609"/>
            <a:ext cx="687680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 임직원</a:t>
            </a:r>
          </a:p>
        </p:txBody>
      </p:sp>
      <p:sp>
        <p:nvSpPr>
          <p:cNvPr id="22" name="그룹 제목"/>
          <p:cNvSpPr>
            <a:spLocks noGrp="1"/>
          </p:cNvSpPr>
          <p:nvPr>
            <p:ph type="body" sz="quarter" idx="26"/>
          </p:nvPr>
        </p:nvSpPr>
        <p:spPr>
          <a:xfrm>
            <a:off x="1487506" y="1084696"/>
            <a:ext cx="5327451" cy="219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직원이 직접 마주하는 인사·복지 등 부패위험 통제, 제도 전면 개선</a:t>
            </a:r>
          </a:p>
        </p:txBody>
      </p:sp>
      <p:sp>
        <p:nvSpPr>
          <p:cNvPr id="23" name="그룹 틀"/>
          <p:cNvSpPr/>
          <p:nvPr/>
        </p:nvSpPr>
        <p:spPr>
          <a:xfrm>
            <a:off x="536870" y="1325739"/>
            <a:ext cx="6300000" cy="1873565"/>
          </a:xfrm>
          <a:prstGeom prst="rect">
            <a:avLst/>
          </a:prstGeom>
          <a:solidFill>
            <a:srgbClr val="FFFFFF"/>
          </a:solidFill>
          <a:ln w="1587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카드 머리"/>
          <p:cNvSpPr/>
          <p:nvPr/>
        </p:nvSpPr>
        <p:spPr>
          <a:xfrm>
            <a:off x="569739" y="1347652"/>
            <a:ext cx="3095217" cy="208174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태그"/>
          <p:cNvSpPr/>
          <p:nvPr/>
        </p:nvSpPr>
        <p:spPr>
          <a:xfrm>
            <a:off x="613565" y="1369565"/>
            <a:ext cx="691524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6" name="태그"/>
          <p:cNvSpPr>
            <a:spLocks noGrp="1"/>
          </p:cNvSpPr>
          <p:nvPr>
            <p:ph type="body" sz="quarter" idx="27"/>
          </p:nvPr>
        </p:nvSpPr>
        <p:spPr>
          <a:xfrm>
            <a:off x="613565" y="1369565"/>
            <a:ext cx="691524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❶ 특혜제공</a:t>
            </a:r>
          </a:p>
        </p:txBody>
      </p:sp>
      <p:sp>
        <p:nvSpPr>
          <p:cNvPr id="27" name="카드 제목"/>
          <p:cNvSpPr>
            <a:spLocks noGrp="1"/>
          </p:cNvSpPr>
          <p:nvPr>
            <p:ph type="body" sz="quarter" idx="28"/>
          </p:nvPr>
        </p:nvSpPr>
        <p:spPr>
          <a:xfrm>
            <a:off x="1337959" y="1347652"/>
            <a:ext cx="2305085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객관적 인사운영으로 특혜 차단</a:t>
            </a:r>
          </a:p>
        </p:txBody>
      </p:sp>
      <p:sp>
        <p:nvSpPr>
          <p:cNvPr id="28" name="카드 본문"/>
          <p:cNvSpPr>
            <a:spLocks noGrp="1"/>
          </p:cNvSpPr>
          <p:nvPr>
            <p:ph type="body" sz="quarter" idx="29"/>
          </p:nvPr>
        </p:nvSpPr>
        <p:spPr>
          <a:xfrm>
            <a:off x="569739" y="1566783"/>
            <a:ext cx="1905449" cy="646435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승진 시험제도, 직무 중심 인사평가 도입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전사 TF, 설명회 등 점진적 조성</a:t>
            </a:r>
          </a:p>
        </p:txBody>
      </p:sp>
      <p:sp>
        <p:nvSpPr>
          <p:cNvPr id="29" name="도표 제목"/>
          <p:cNvSpPr>
            <a:spLocks noGrp="1"/>
          </p:cNvSpPr>
          <p:nvPr>
            <p:ph type="body" sz="quarter" idx="30"/>
          </p:nvPr>
        </p:nvSpPr>
        <p:spPr>
          <a:xfrm>
            <a:off x="2475188" y="1566783"/>
            <a:ext cx="116785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내부체감도</a:t>
            </a:r>
          </a:p>
        </p:txBody>
      </p:sp>
      <p:sp>
        <p:nvSpPr>
          <p:cNvPr id="30" name="막대"/>
          <p:cNvSpPr/>
          <p:nvPr/>
        </p:nvSpPr>
        <p:spPr>
          <a:xfrm>
            <a:off x="2551883" y="1974212"/>
            <a:ext cx="142435" cy="85614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값"/>
          <p:cNvSpPr>
            <a:spLocks noGrp="1"/>
          </p:cNvSpPr>
          <p:nvPr>
            <p:ph type="body" sz="quarter" idx="31"/>
          </p:nvPr>
        </p:nvSpPr>
        <p:spPr>
          <a:xfrm>
            <a:off x="2409449" y="1798908"/>
            <a:ext cx="427304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56.0점</a:t>
            </a:r>
          </a:p>
        </p:txBody>
      </p:sp>
      <p:sp>
        <p:nvSpPr>
          <p:cNvPr id="32" name="연도"/>
          <p:cNvSpPr>
            <a:spLocks noGrp="1"/>
          </p:cNvSpPr>
          <p:nvPr>
            <p:ph type="body" sz="quarter" idx="32"/>
          </p:nvPr>
        </p:nvSpPr>
        <p:spPr>
          <a:xfrm>
            <a:off x="2409449" y="2070783"/>
            <a:ext cx="427304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’24</a:t>
            </a:r>
          </a:p>
        </p:txBody>
      </p:sp>
      <p:sp>
        <p:nvSpPr>
          <p:cNvPr id="33" name="막대"/>
          <p:cNvSpPr/>
          <p:nvPr/>
        </p:nvSpPr>
        <p:spPr>
          <a:xfrm>
            <a:off x="3081029" y="1928348"/>
            <a:ext cx="142435" cy="13147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값"/>
          <p:cNvSpPr>
            <a:spLocks noGrp="1"/>
          </p:cNvSpPr>
          <p:nvPr>
            <p:ph type="body" sz="quarter" idx="33"/>
          </p:nvPr>
        </p:nvSpPr>
        <p:spPr>
          <a:xfrm>
            <a:off x="2938594" y="1753043"/>
            <a:ext cx="427304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86.3점</a:t>
            </a:r>
          </a:p>
        </p:txBody>
      </p:sp>
      <p:sp>
        <p:nvSpPr>
          <p:cNvPr id="35" name="연도"/>
          <p:cNvSpPr>
            <a:spLocks noGrp="1"/>
          </p:cNvSpPr>
          <p:nvPr>
            <p:ph type="body" sz="quarter" idx="34"/>
          </p:nvPr>
        </p:nvSpPr>
        <p:spPr>
          <a:xfrm>
            <a:off x="2938594" y="2070783"/>
            <a:ext cx="427304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’25</a:t>
            </a:r>
          </a:p>
        </p:txBody>
      </p:sp>
      <p:cxnSp>
        <p:nvCxnSpPr>
          <p:cNvPr id="36" name="Connector 27"/>
          <p:cNvCxnSpPr/>
          <p:nvPr/>
        </p:nvCxnSpPr>
        <p:spPr>
          <a:xfrm>
            <a:off x="3675913" y="1380522"/>
            <a:ext cx="0" cy="821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7" name="카드 머리"/>
          <p:cNvSpPr/>
          <p:nvPr/>
        </p:nvSpPr>
        <p:spPr>
          <a:xfrm>
            <a:off x="3686870" y="1347652"/>
            <a:ext cx="3095217" cy="208174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태그"/>
          <p:cNvSpPr/>
          <p:nvPr/>
        </p:nvSpPr>
        <p:spPr>
          <a:xfrm>
            <a:off x="3730696" y="1369565"/>
            <a:ext cx="691524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9" name="태그"/>
          <p:cNvSpPr>
            <a:spLocks noGrp="1"/>
          </p:cNvSpPr>
          <p:nvPr>
            <p:ph type="body" sz="quarter" idx="35"/>
          </p:nvPr>
        </p:nvSpPr>
        <p:spPr>
          <a:xfrm>
            <a:off x="3730696" y="1369565"/>
            <a:ext cx="691524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❷ 예산낭비</a:t>
            </a:r>
          </a:p>
        </p:txBody>
      </p:sp>
      <p:sp>
        <p:nvSpPr>
          <p:cNvPr id="40" name="카드 제목"/>
          <p:cNvSpPr>
            <a:spLocks noGrp="1"/>
          </p:cNvSpPr>
          <p:nvPr>
            <p:ph type="body" sz="quarter" idx="36"/>
          </p:nvPr>
        </p:nvSpPr>
        <p:spPr>
          <a:xfrm>
            <a:off x="4455089" y="1347652"/>
            <a:ext cx="2305085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관행적 복지예산 집행 효율화</a:t>
            </a:r>
          </a:p>
        </p:txBody>
      </p:sp>
      <p:sp>
        <p:nvSpPr>
          <p:cNvPr id="41" name="카드 본문"/>
          <p:cNvSpPr>
            <a:spLocks noGrp="1"/>
          </p:cNvSpPr>
          <p:nvPr>
            <p:ph type="body" sz="quarter" idx="37"/>
          </p:nvPr>
        </p:nvSpPr>
        <p:spPr>
          <a:xfrm>
            <a:off x="3686870" y="1566783"/>
            <a:ext cx="1905449" cy="646435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모바일 특근 식권제도 전면 도입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노조 합동설명회 등 갈등 극복</a:t>
            </a:r>
          </a:p>
        </p:txBody>
      </p:sp>
      <p:sp>
        <p:nvSpPr>
          <p:cNvPr id="42" name="요약 칸"/>
          <p:cNvSpPr/>
          <p:nvPr/>
        </p:nvSpPr>
        <p:spPr>
          <a:xfrm>
            <a:off x="5636144" y="1599652"/>
            <a:ext cx="1102117" cy="580696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43" name="요약 칸"/>
          <p:cNvSpPr>
            <a:spLocks noGrp="1"/>
          </p:cNvSpPr>
          <p:nvPr>
            <p:ph type="body" sz="quarter" idx="38"/>
          </p:nvPr>
        </p:nvSpPr>
        <p:spPr>
          <a:xfrm>
            <a:off x="5636144" y="1599652"/>
            <a:ext cx="1102117" cy="580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예산 절감 5억원</a:t>
            </a:r>
          </a:p>
        </p:txBody>
      </p:sp>
      <p:sp>
        <p:nvSpPr>
          <p:cNvPr id="44" name="카드 머리"/>
          <p:cNvSpPr/>
          <p:nvPr/>
        </p:nvSpPr>
        <p:spPr>
          <a:xfrm>
            <a:off x="569739" y="2246087"/>
            <a:ext cx="3095217" cy="208174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태그"/>
          <p:cNvSpPr/>
          <p:nvPr/>
        </p:nvSpPr>
        <p:spPr>
          <a:xfrm>
            <a:off x="613565" y="2268000"/>
            <a:ext cx="691524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6" name="태그"/>
          <p:cNvSpPr>
            <a:spLocks noGrp="1"/>
          </p:cNvSpPr>
          <p:nvPr>
            <p:ph type="body" sz="quarter" idx="39"/>
          </p:nvPr>
        </p:nvSpPr>
        <p:spPr>
          <a:xfrm>
            <a:off x="613565" y="2268000"/>
            <a:ext cx="691524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❸ 회계부정</a:t>
            </a:r>
          </a:p>
        </p:txBody>
      </p:sp>
      <p:sp>
        <p:nvSpPr>
          <p:cNvPr id="47" name="카드 제목"/>
          <p:cNvSpPr>
            <a:spLocks noGrp="1"/>
          </p:cNvSpPr>
          <p:nvPr>
            <p:ph type="body" sz="quarter" idx="40"/>
          </p:nvPr>
        </p:nvSpPr>
        <p:spPr>
          <a:xfrm>
            <a:off x="1337959" y="2246087"/>
            <a:ext cx="2305085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회계투명성 강화 관리체계 구축</a:t>
            </a:r>
          </a:p>
        </p:txBody>
      </p:sp>
      <p:sp>
        <p:nvSpPr>
          <p:cNvPr id="48" name="카드 본문"/>
          <p:cNvSpPr>
            <a:spLocks noGrp="1"/>
          </p:cNvSpPr>
          <p:nvPr>
            <p:ph type="body" sz="quarter" idx="41"/>
          </p:nvPr>
        </p:nvSpPr>
        <p:spPr>
          <a:xfrm>
            <a:off x="569739" y="2465217"/>
            <a:ext cx="1905449" cy="646435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교육 유형별 교육, 관리자교육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지침 해외 경비정산 가이드 신설</a:t>
            </a:r>
          </a:p>
        </p:txBody>
      </p:sp>
      <p:sp>
        <p:nvSpPr>
          <p:cNvPr id="49" name="도표 제목"/>
          <p:cNvSpPr>
            <a:spLocks noGrp="1"/>
          </p:cNvSpPr>
          <p:nvPr>
            <p:ph type="body" sz="quarter" idx="42"/>
          </p:nvPr>
        </p:nvSpPr>
        <p:spPr>
          <a:xfrm>
            <a:off x="2475188" y="2465217"/>
            <a:ext cx="116785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점검대상</a:t>
            </a:r>
          </a:p>
        </p:txBody>
      </p:sp>
      <p:sp>
        <p:nvSpPr>
          <p:cNvPr id="50" name="막대"/>
          <p:cNvSpPr/>
          <p:nvPr/>
        </p:nvSpPr>
        <p:spPr>
          <a:xfrm>
            <a:off x="2551883" y="2826783"/>
            <a:ext cx="142435" cy="131478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값"/>
          <p:cNvSpPr>
            <a:spLocks noGrp="1"/>
          </p:cNvSpPr>
          <p:nvPr>
            <p:ph type="body" sz="quarter" idx="43"/>
          </p:nvPr>
        </p:nvSpPr>
        <p:spPr>
          <a:xfrm>
            <a:off x="2409449" y="2651478"/>
            <a:ext cx="427304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상</a:t>
            </a:r>
          </a:p>
        </p:txBody>
      </p:sp>
      <p:sp>
        <p:nvSpPr>
          <p:cNvPr id="52" name="연도"/>
          <p:cNvSpPr>
            <a:spLocks noGrp="1"/>
          </p:cNvSpPr>
          <p:nvPr>
            <p:ph type="body" sz="quarter" idx="44"/>
          </p:nvPr>
        </p:nvSpPr>
        <p:spPr>
          <a:xfrm>
            <a:off x="2409449" y="2969217"/>
            <a:ext cx="427304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상</a:t>
            </a:r>
          </a:p>
        </p:txBody>
      </p:sp>
      <p:sp>
        <p:nvSpPr>
          <p:cNvPr id="53" name="막대"/>
          <p:cNvSpPr/>
          <p:nvPr/>
        </p:nvSpPr>
        <p:spPr>
          <a:xfrm>
            <a:off x="3081029" y="2883130"/>
            <a:ext cx="142435" cy="7513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값"/>
          <p:cNvSpPr>
            <a:spLocks noGrp="1"/>
          </p:cNvSpPr>
          <p:nvPr>
            <p:ph type="body" sz="quarter" idx="45"/>
          </p:nvPr>
        </p:nvSpPr>
        <p:spPr>
          <a:xfrm>
            <a:off x="2938594" y="2707826"/>
            <a:ext cx="427304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24%↓</a:t>
            </a:r>
          </a:p>
        </p:txBody>
      </p:sp>
      <p:sp>
        <p:nvSpPr>
          <p:cNvPr id="55" name="연도"/>
          <p:cNvSpPr>
            <a:spLocks noGrp="1"/>
          </p:cNvSpPr>
          <p:nvPr>
            <p:ph type="body" sz="quarter" idx="46"/>
          </p:nvPr>
        </p:nvSpPr>
        <p:spPr>
          <a:xfrm>
            <a:off x="2938594" y="2969217"/>
            <a:ext cx="427304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하</a:t>
            </a:r>
          </a:p>
        </p:txBody>
      </p:sp>
      <p:cxnSp>
        <p:nvCxnSpPr>
          <p:cNvPr id="56" name="Connector 44"/>
          <p:cNvCxnSpPr/>
          <p:nvPr/>
        </p:nvCxnSpPr>
        <p:spPr>
          <a:xfrm>
            <a:off x="3675913" y="2278957"/>
            <a:ext cx="0" cy="821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7" name="카드 머리"/>
          <p:cNvSpPr/>
          <p:nvPr/>
        </p:nvSpPr>
        <p:spPr>
          <a:xfrm>
            <a:off x="3686870" y="2246087"/>
            <a:ext cx="3095217" cy="208174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태그"/>
          <p:cNvSpPr/>
          <p:nvPr/>
        </p:nvSpPr>
        <p:spPr>
          <a:xfrm>
            <a:off x="3730696" y="2268000"/>
            <a:ext cx="691524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9" name="태그"/>
          <p:cNvSpPr>
            <a:spLocks noGrp="1"/>
          </p:cNvSpPr>
          <p:nvPr>
            <p:ph type="body" sz="quarter" idx="47"/>
          </p:nvPr>
        </p:nvSpPr>
        <p:spPr>
          <a:xfrm>
            <a:off x="3730696" y="2268000"/>
            <a:ext cx="691524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❹ 정보보안</a:t>
            </a:r>
          </a:p>
        </p:txBody>
      </p:sp>
      <p:sp>
        <p:nvSpPr>
          <p:cNvPr id="60" name="카드 제목"/>
          <p:cNvSpPr>
            <a:spLocks noGrp="1"/>
          </p:cNvSpPr>
          <p:nvPr>
            <p:ph type="body" sz="quarter" idx="48"/>
          </p:nvPr>
        </p:nvSpPr>
        <p:spPr>
          <a:xfrm>
            <a:off x="4455089" y="2246087"/>
            <a:ext cx="2305085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기록물 유출 없는 환경 조성</a:t>
            </a:r>
          </a:p>
        </p:txBody>
      </p:sp>
      <p:sp>
        <p:nvSpPr>
          <p:cNvPr id="61" name="카드 본문"/>
          <p:cNvSpPr>
            <a:spLocks noGrp="1"/>
          </p:cNvSpPr>
          <p:nvPr>
            <p:ph type="body" sz="quarter" idx="49"/>
          </p:nvPr>
        </p:nvSpPr>
        <p:spPr>
          <a:xfrm>
            <a:off x="3686870" y="2465217"/>
            <a:ext cx="1905449" cy="646435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정보보호 중장기 전략수립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민감정보 가명화·합성데이터 생성</a:t>
            </a:r>
          </a:p>
        </p:txBody>
      </p:sp>
      <p:sp>
        <p:nvSpPr>
          <p:cNvPr id="62" name="요약 칸"/>
          <p:cNvSpPr/>
          <p:nvPr/>
        </p:nvSpPr>
        <p:spPr>
          <a:xfrm>
            <a:off x="5636144" y="2498087"/>
            <a:ext cx="1102117" cy="580696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3" name="요약 칸"/>
          <p:cNvSpPr>
            <a:spLocks noGrp="1"/>
          </p:cNvSpPr>
          <p:nvPr>
            <p:ph type="body" sz="quarter" idx="50"/>
          </p:nvPr>
        </p:nvSpPr>
        <p:spPr>
          <a:xfrm>
            <a:off x="5636144" y="2498087"/>
            <a:ext cx="1102117" cy="580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기록관리 평가 9년 연속 최고등급</a:t>
            </a:r>
          </a:p>
        </p:txBody>
      </p:sp>
      <p:sp>
        <p:nvSpPr>
          <p:cNvPr id="64" name="아이콘 칸"/>
          <p:cNvSpPr/>
          <p:nvPr/>
        </p:nvSpPr>
        <p:spPr>
          <a:xfrm>
            <a:off x="536870" y="3286957"/>
            <a:ext cx="175304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65" name="태그"/>
          <p:cNvSpPr/>
          <p:nvPr/>
        </p:nvSpPr>
        <p:spPr>
          <a:xfrm>
            <a:off x="756000" y="3286957"/>
            <a:ext cx="577911" cy="1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6" name="태그"/>
          <p:cNvSpPr>
            <a:spLocks noGrp="1"/>
          </p:cNvSpPr>
          <p:nvPr>
            <p:ph type="body" sz="quarter" idx="51"/>
          </p:nvPr>
        </p:nvSpPr>
        <p:spPr>
          <a:xfrm>
            <a:off x="756000" y="3286957"/>
            <a:ext cx="57791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고객</a:t>
            </a:r>
          </a:p>
        </p:txBody>
      </p:sp>
      <p:sp>
        <p:nvSpPr>
          <p:cNvPr id="67" name="그룹 제목"/>
          <p:cNvSpPr>
            <a:spLocks noGrp="1"/>
          </p:cNvSpPr>
          <p:nvPr>
            <p:ph type="body" sz="quarter" idx="52"/>
          </p:nvPr>
        </p:nvSpPr>
        <p:spPr>
          <a:xfrm>
            <a:off x="1377737" y="3265043"/>
            <a:ext cx="5437219" cy="219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고객이 불편하고 불안한 요인을 선제적으로 해소</a:t>
            </a:r>
          </a:p>
        </p:txBody>
      </p:sp>
      <p:sp>
        <p:nvSpPr>
          <p:cNvPr id="68" name="그룹 틀"/>
          <p:cNvSpPr/>
          <p:nvPr/>
        </p:nvSpPr>
        <p:spPr>
          <a:xfrm>
            <a:off x="536870" y="3506087"/>
            <a:ext cx="6300000" cy="975130"/>
          </a:xfrm>
          <a:prstGeom prst="rect">
            <a:avLst/>
          </a:prstGeom>
          <a:solidFill>
            <a:srgbClr val="FFFFFF"/>
          </a:solidFill>
          <a:ln w="1587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카드 머리"/>
          <p:cNvSpPr/>
          <p:nvPr/>
        </p:nvSpPr>
        <p:spPr>
          <a:xfrm>
            <a:off x="569739" y="3528000"/>
            <a:ext cx="3095217" cy="208174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태그"/>
          <p:cNvSpPr/>
          <p:nvPr/>
        </p:nvSpPr>
        <p:spPr>
          <a:xfrm>
            <a:off x="613565" y="3549913"/>
            <a:ext cx="691524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1" name="태그"/>
          <p:cNvSpPr>
            <a:spLocks noGrp="1"/>
          </p:cNvSpPr>
          <p:nvPr>
            <p:ph type="body" sz="quarter" idx="53"/>
          </p:nvPr>
        </p:nvSpPr>
        <p:spPr>
          <a:xfrm>
            <a:off x="613565" y="3549913"/>
            <a:ext cx="691524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❺ 소극행정</a:t>
            </a:r>
          </a:p>
        </p:txBody>
      </p:sp>
      <p:sp>
        <p:nvSpPr>
          <p:cNvPr id="72" name="카드 제목"/>
          <p:cNvSpPr>
            <a:spLocks noGrp="1"/>
          </p:cNvSpPr>
          <p:nvPr>
            <p:ph type="body" sz="quarter" idx="54"/>
          </p:nvPr>
        </p:nvSpPr>
        <p:spPr>
          <a:xfrm>
            <a:off x="1337959" y="3528000"/>
            <a:ext cx="2305085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토지보상 고객 불편 해소</a:t>
            </a:r>
          </a:p>
        </p:txBody>
      </p:sp>
      <p:sp>
        <p:nvSpPr>
          <p:cNvPr id="73" name="카드 본문"/>
          <p:cNvSpPr>
            <a:spLocks noGrp="1"/>
          </p:cNvSpPr>
          <p:nvPr>
            <p:ph type="body" sz="quarter" idx="55"/>
          </p:nvPr>
        </p:nvSpPr>
        <p:spPr>
          <a:xfrm>
            <a:off x="569739" y="3747130"/>
            <a:ext cx="1905449" cy="646435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아날로그 업무, 체감도 하락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디지털 전환 ➡ 실시간 서비스</a:t>
            </a:r>
          </a:p>
        </p:txBody>
      </p:sp>
      <p:sp>
        <p:nvSpPr>
          <p:cNvPr id="74" name="도표 제목"/>
          <p:cNvSpPr>
            <a:spLocks noGrp="1"/>
          </p:cNvSpPr>
          <p:nvPr>
            <p:ph type="body" sz="quarter" idx="56"/>
          </p:nvPr>
        </p:nvSpPr>
        <p:spPr>
          <a:xfrm>
            <a:off x="2475188" y="3747130"/>
            <a:ext cx="116785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외부체감도</a:t>
            </a:r>
          </a:p>
        </p:txBody>
      </p:sp>
      <p:sp>
        <p:nvSpPr>
          <p:cNvPr id="75" name="막대"/>
          <p:cNvSpPr/>
          <p:nvPr/>
        </p:nvSpPr>
        <p:spPr>
          <a:xfrm>
            <a:off x="2551883" y="4127274"/>
            <a:ext cx="142435" cy="112900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값"/>
          <p:cNvSpPr>
            <a:spLocks noGrp="1"/>
          </p:cNvSpPr>
          <p:nvPr>
            <p:ph type="body" sz="quarter" idx="57"/>
          </p:nvPr>
        </p:nvSpPr>
        <p:spPr>
          <a:xfrm>
            <a:off x="2409449" y="3951970"/>
            <a:ext cx="427304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79.1점</a:t>
            </a:r>
          </a:p>
        </p:txBody>
      </p:sp>
      <p:sp>
        <p:nvSpPr>
          <p:cNvPr id="77" name="연도"/>
          <p:cNvSpPr>
            <a:spLocks noGrp="1"/>
          </p:cNvSpPr>
          <p:nvPr>
            <p:ph type="body" sz="quarter" idx="58"/>
          </p:nvPr>
        </p:nvSpPr>
        <p:spPr>
          <a:xfrm>
            <a:off x="2409449" y="4251130"/>
            <a:ext cx="427304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’24</a:t>
            </a:r>
          </a:p>
        </p:txBody>
      </p:sp>
      <p:sp>
        <p:nvSpPr>
          <p:cNvPr id="78" name="막대"/>
          <p:cNvSpPr/>
          <p:nvPr/>
        </p:nvSpPr>
        <p:spPr>
          <a:xfrm>
            <a:off x="3081029" y="4108696"/>
            <a:ext cx="142435" cy="13147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값"/>
          <p:cNvSpPr>
            <a:spLocks noGrp="1"/>
          </p:cNvSpPr>
          <p:nvPr>
            <p:ph type="body" sz="quarter" idx="59"/>
          </p:nvPr>
        </p:nvSpPr>
        <p:spPr>
          <a:xfrm>
            <a:off x="2938594" y="3933391"/>
            <a:ext cx="427304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92.4점</a:t>
            </a:r>
          </a:p>
        </p:txBody>
      </p:sp>
      <p:sp>
        <p:nvSpPr>
          <p:cNvPr id="80" name="연도"/>
          <p:cNvSpPr>
            <a:spLocks noGrp="1"/>
          </p:cNvSpPr>
          <p:nvPr>
            <p:ph type="body" sz="quarter" idx="60"/>
          </p:nvPr>
        </p:nvSpPr>
        <p:spPr>
          <a:xfrm>
            <a:off x="2938594" y="4251130"/>
            <a:ext cx="427304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’25</a:t>
            </a:r>
          </a:p>
        </p:txBody>
      </p:sp>
      <p:cxnSp>
        <p:nvCxnSpPr>
          <p:cNvPr id="81" name="Connector 65"/>
          <p:cNvCxnSpPr/>
          <p:nvPr/>
        </p:nvCxnSpPr>
        <p:spPr>
          <a:xfrm>
            <a:off x="3675913" y="3560870"/>
            <a:ext cx="0" cy="821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2" name="카드 머리"/>
          <p:cNvSpPr/>
          <p:nvPr/>
        </p:nvSpPr>
        <p:spPr>
          <a:xfrm>
            <a:off x="3686870" y="3528000"/>
            <a:ext cx="3095217" cy="208174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태그"/>
          <p:cNvSpPr/>
          <p:nvPr/>
        </p:nvSpPr>
        <p:spPr>
          <a:xfrm>
            <a:off x="3730696" y="3549913"/>
            <a:ext cx="691524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4" name="태그"/>
          <p:cNvSpPr>
            <a:spLocks noGrp="1"/>
          </p:cNvSpPr>
          <p:nvPr>
            <p:ph type="body" sz="quarter" idx="61"/>
          </p:nvPr>
        </p:nvSpPr>
        <p:spPr>
          <a:xfrm>
            <a:off x="3730696" y="3549913"/>
            <a:ext cx="691524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❻ 갑질행위</a:t>
            </a:r>
          </a:p>
        </p:txBody>
      </p:sp>
      <p:sp>
        <p:nvSpPr>
          <p:cNvPr id="85" name="카드 제목"/>
          <p:cNvSpPr>
            <a:spLocks noGrp="1"/>
          </p:cNvSpPr>
          <p:nvPr>
            <p:ph type="body" sz="quarter" idx="62"/>
          </p:nvPr>
        </p:nvSpPr>
        <p:spPr>
          <a:xfrm>
            <a:off x="4455089" y="3528000"/>
            <a:ext cx="2305085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갑질예방 프로세스 개선</a:t>
            </a:r>
          </a:p>
        </p:txBody>
      </p:sp>
      <p:sp>
        <p:nvSpPr>
          <p:cNvPr id="86" name="카드 본문"/>
          <p:cNvSpPr>
            <a:spLocks noGrp="1"/>
          </p:cNvSpPr>
          <p:nvPr>
            <p:ph type="body" sz="quarter" idx="63"/>
          </p:nvPr>
        </p:nvSpPr>
        <p:spPr>
          <a:xfrm>
            <a:off x="3686870" y="3747130"/>
            <a:ext cx="1905449" cy="646435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전방위 갑질근절 대책 수립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하도급실태 점검, 불공정 계약 개선</a:t>
            </a:r>
          </a:p>
        </p:txBody>
      </p:sp>
      <p:sp>
        <p:nvSpPr>
          <p:cNvPr id="87" name="도표 제목"/>
          <p:cNvSpPr>
            <a:spLocks noGrp="1"/>
          </p:cNvSpPr>
          <p:nvPr>
            <p:ph type="body" sz="quarter" idx="64"/>
          </p:nvPr>
        </p:nvSpPr>
        <p:spPr>
          <a:xfrm>
            <a:off x="5592318" y="3747130"/>
            <a:ext cx="1167856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외부체감도</a:t>
            </a:r>
          </a:p>
        </p:txBody>
      </p:sp>
      <p:sp>
        <p:nvSpPr>
          <p:cNvPr id="88" name="막대"/>
          <p:cNvSpPr/>
          <p:nvPr/>
        </p:nvSpPr>
        <p:spPr>
          <a:xfrm>
            <a:off x="5669014" y="4111379"/>
            <a:ext cx="142435" cy="128795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값"/>
          <p:cNvSpPr>
            <a:spLocks noGrp="1"/>
          </p:cNvSpPr>
          <p:nvPr>
            <p:ph type="body" sz="quarter" idx="65"/>
          </p:nvPr>
        </p:nvSpPr>
        <p:spPr>
          <a:xfrm>
            <a:off x="5526579" y="3936075"/>
            <a:ext cx="427304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96.2점</a:t>
            </a:r>
          </a:p>
        </p:txBody>
      </p:sp>
      <p:sp>
        <p:nvSpPr>
          <p:cNvPr id="90" name="연도"/>
          <p:cNvSpPr>
            <a:spLocks noGrp="1"/>
          </p:cNvSpPr>
          <p:nvPr>
            <p:ph type="body" sz="quarter" idx="66"/>
          </p:nvPr>
        </p:nvSpPr>
        <p:spPr>
          <a:xfrm>
            <a:off x="5526579" y="4251130"/>
            <a:ext cx="427304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’24</a:t>
            </a:r>
          </a:p>
        </p:txBody>
      </p:sp>
      <p:sp>
        <p:nvSpPr>
          <p:cNvPr id="91" name="막대"/>
          <p:cNvSpPr/>
          <p:nvPr/>
        </p:nvSpPr>
        <p:spPr>
          <a:xfrm>
            <a:off x="6198159" y="4108696"/>
            <a:ext cx="142435" cy="13147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값"/>
          <p:cNvSpPr>
            <a:spLocks noGrp="1"/>
          </p:cNvSpPr>
          <p:nvPr>
            <p:ph type="body" sz="quarter" idx="67"/>
          </p:nvPr>
        </p:nvSpPr>
        <p:spPr>
          <a:xfrm>
            <a:off x="6055724" y="3933391"/>
            <a:ext cx="427304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98.0점</a:t>
            </a:r>
          </a:p>
        </p:txBody>
      </p:sp>
      <p:sp>
        <p:nvSpPr>
          <p:cNvPr id="93" name="연도"/>
          <p:cNvSpPr>
            <a:spLocks noGrp="1"/>
          </p:cNvSpPr>
          <p:nvPr>
            <p:ph type="body" sz="quarter" idx="68"/>
          </p:nvPr>
        </p:nvSpPr>
        <p:spPr>
          <a:xfrm>
            <a:off x="6055724" y="4251130"/>
            <a:ext cx="427304" cy="153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’25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6 서사 · 환경분석 → 신고채널 안심 → 자정기능 → 추진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신고채널은 집중적으로, 모니터링은 전문화하여 실효적 윤리경영</a:t>
            </a:r>
          </a:p>
        </p:txBody>
      </p:sp>
      <p:sp>
        <p:nvSpPr>
          <p:cNvPr id="14" name="번호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22952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</a:t>
            </a:r>
          </a:p>
        </p:txBody>
      </p:sp>
      <p:sp>
        <p:nvSpPr>
          <p:cNvPr id="15" name="분야 박스"/>
          <p:cNvSpPr/>
          <p:nvPr/>
        </p:nvSpPr>
        <p:spPr>
          <a:xfrm>
            <a:off x="952651" y="1238087"/>
            <a:ext cx="592466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분야 박스"/>
          <p:cNvSpPr>
            <a:spLocks noGrp="1"/>
          </p:cNvSpPr>
          <p:nvPr>
            <p:ph type="body" sz="quarter" idx="23"/>
          </p:nvPr>
        </p:nvSpPr>
        <p:spPr>
          <a:xfrm>
            <a:off x="952651" y="1238087"/>
            <a:ext cx="59246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신고제도</a:t>
            </a:r>
          </a:p>
        </p:txBody>
      </p:sp>
      <p:sp>
        <p:nvSpPr>
          <p:cNvPr id="17" name="형광 밑줄"/>
          <p:cNvSpPr/>
          <p:nvPr/>
        </p:nvSpPr>
        <p:spPr>
          <a:xfrm>
            <a:off x="1610856" y="1358609"/>
            <a:ext cx="3464255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소제목"/>
          <p:cNvSpPr>
            <a:spLocks noGrp="1"/>
          </p:cNvSpPr>
          <p:nvPr>
            <p:ph type="body" sz="quarter" idx="24"/>
          </p:nvPr>
        </p:nvSpPr>
        <p:spPr>
          <a:xfrm>
            <a:off x="1610856" y="1205217"/>
            <a:ext cx="5412275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부정행위에는 한 치의 망설임 없이 쉽고 안전한 신고로 대응</a:t>
            </a:r>
          </a:p>
        </p:txBody>
      </p:sp>
      <p:sp>
        <p:nvSpPr>
          <p:cNvPr id="19" name="태그칩"/>
          <p:cNvSpPr/>
          <p:nvPr/>
        </p:nvSpPr>
        <p:spPr>
          <a:xfrm>
            <a:off x="5173720" y="1238087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태그칩"/>
          <p:cNvSpPr>
            <a:spLocks noGrp="1"/>
          </p:cNvSpPr>
          <p:nvPr>
            <p:ph type="body" sz="quarter" idx="25"/>
          </p:nvPr>
        </p:nvSpPr>
        <p:spPr>
          <a:xfrm>
            <a:off x="5173720" y="1238087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21" name="표 외곽"/>
          <p:cNvSpPr/>
          <p:nvPr/>
        </p:nvSpPr>
        <p:spPr>
          <a:xfrm>
            <a:off x="723130" y="1490087"/>
            <a:ext cx="6300000" cy="65473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"/>
          <p:cNvSpPr/>
          <p:nvPr/>
        </p:nvSpPr>
        <p:spPr>
          <a:xfrm>
            <a:off x="734087" y="1506522"/>
            <a:ext cx="580696" cy="6218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506522"/>
            <a:ext cx="580696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및 진단</a:t>
            </a:r>
          </a:p>
        </p:txBody>
      </p:sp>
      <p:sp>
        <p:nvSpPr>
          <p:cNvPr id="24" name="단계"/>
          <p:cNvSpPr/>
          <p:nvPr/>
        </p:nvSpPr>
        <p:spPr>
          <a:xfrm>
            <a:off x="1347652" y="1528435"/>
            <a:ext cx="282404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5" name="단계"/>
          <p:cNvSpPr>
            <a:spLocks noGrp="1"/>
          </p:cNvSpPr>
          <p:nvPr>
            <p:ph type="body" sz="quarter" idx="27"/>
          </p:nvPr>
        </p:nvSpPr>
        <p:spPr>
          <a:xfrm>
            <a:off x="1347652" y="1528435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환경분석 및 진단</a:t>
            </a:r>
          </a:p>
        </p:txBody>
      </p:sp>
      <p:sp>
        <p:nvSpPr>
          <p:cNvPr id="26" name="단계"/>
          <p:cNvSpPr/>
          <p:nvPr/>
        </p:nvSpPr>
        <p:spPr>
          <a:xfrm>
            <a:off x="4171696" y="1528435"/>
            <a:ext cx="282404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7" name="단계"/>
          <p:cNvSpPr>
            <a:spLocks noGrp="1"/>
          </p:cNvSpPr>
          <p:nvPr>
            <p:ph type="body" sz="quarter" idx="28"/>
          </p:nvPr>
        </p:nvSpPr>
        <p:spPr>
          <a:xfrm>
            <a:off x="4171696" y="1528435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개선과제 도출</a:t>
            </a:r>
          </a:p>
        </p:txBody>
      </p:sp>
      <p:sp>
        <p:nvSpPr>
          <p:cNvPr id="28" name="단계 삼각형"/>
          <p:cNvSpPr/>
          <p:nvPr/>
        </p:nvSpPr>
        <p:spPr>
          <a:xfrm>
            <a:off x="4171695" y="152843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9"/>
          </p:nvPr>
        </p:nvSpPr>
        <p:spPr>
          <a:xfrm>
            <a:off x="1358609" y="1780435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직원설문 다양한 신고채널 사용 어려움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평가단 감사 처분 결과 징계 발생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4182652" y="1780435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홍보강화 신고제도 홍보·효과성 제고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특별신고 제보 의존 탈피</a:t>
            </a:r>
          </a:p>
        </p:txBody>
      </p:sp>
      <p:cxnSp>
        <p:nvCxnSpPr>
          <p:cNvPr id="31" name="Connector 20"/>
          <p:cNvCxnSpPr/>
          <p:nvPr/>
        </p:nvCxnSpPr>
        <p:spPr>
          <a:xfrm>
            <a:off x="4171696" y="1813304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삼각 화살표"/>
          <p:cNvSpPr/>
          <p:nvPr/>
        </p:nvSpPr>
        <p:spPr>
          <a:xfrm>
            <a:off x="4010086" y="2188643"/>
            <a:ext cx="350609" cy="142435"/>
          </a:xfrm>
          <a:custGeom>
            <a:avLst/>
            <a:gdLst/>
            <a:ahLst/>
            <a:cxnLst/>
            <a:rect l="l" t="t" r="r" b="b"/>
            <a:pathLst>
              <a:path w="350609" h="142435">
                <a:moveTo>
                  <a:pt x="0" y="0"/>
                </a:moveTo>
                <a:lnTo>
                  <a:pt x="350609" y="0"/>
                </a:lnTo>
                <a:lnTo>
                  <a:pt x="17530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표 외곽"/>
          <p:cNvSpPr/>
          <p:nvPr/>
        </p:nvSpPr>
        <p:spPr>
          <a:xfrm>
            <a:off x="723130" y="2402296"/>
            <a:ext cx="6300000" cy="18461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레일"/>
          <p:cNvSpPr/>
          <p:nvPr/>
        </p:nvSpPr>
        <p:spPr>
          <a:xfrm>
            <a:off x="734087" y="2418730"/>
            <a:ext cx="580696" cy="89843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5" name="레일"/>
          <p:cNvSpPr>
            <a:spLocks noGrp="1"/>
          </p:cNvSpPr>
          <p:nvPr>
            <p:ph type="body" sz="quarter" idx="31"/>
          </p:nvPr>
        </p:nvSpPr>
        <p:spPr>
          <a:xfrm>
            <a:off x="734087" y="2418730"/>
            <a:ext cx="580696" cy="89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신고는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 심</a:t>
            </a:r>
          </a:p>
        </p:txBody>
      </p:sp>
      <p:sp>
        <p:nvSpPr>
          <p:cNvPr id="36" name="머리칸"/>
          <p:cNvSpPr/>
          <p:nvPr/>
        </p:nvSpPr>
        <p:spPr>
          <a:xfrm>
            <a:off x="1347652" y="24406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7" name="머리칸"/>
          <p:cNvSpPr>
            <a:spLocks noGrp="1"/>
          </p:cNvSpPr>
          <p:nvPr>
            <p:ph type="body" sz="quarter" idx="32"/>
          </p:nvPr>
        </p:nvSpPr>
        <p:spPr>
          <a:xfrm>
            <a:off x="1347652" y="244064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내·외부 신고채널 일원화</a:t>
            </a:r>
          </a:p>
        </p:txBody>
      </p:sp>
      <p:sp>
        <p:nvSpPr>
          <p:cNvPr id="38" name="머리칸"/>
          <p:cNvSpPr/>
          <p:nvPr/>
        </p:nvSpPr>
        <p:spPr>
          <a:xfrm>
            <a:off x="4171696" y="24406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9" name="머리칸"/>
          <p:cNvSpPr>
            <a:spLocks noGrp="1"/>
          </p:cNvSpPr>
          <p:nvPr>
            <p:ph type="body" sz="quarter" idx="33"/>
          </p:nvPr>
        </p:nvSpPr>
        <p:spPr>
          <a:xfrm>
            <a:off x="4171696" y="244064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내부신고 오해와 불신 해소</a:t>
            </a:r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4"/>
          </p:nvPr>
        </p:nvSpPr>
        <p:spPr>
          <a:xfrm>
            <a:off x="1358609" y="2681687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다양한 신고채널 카카오톡 통합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포스터, QR 등 고객 홍보 강화</a:t>
            </a:r>
          </a:p>
        </p:txBody>
      </p:sp>
      <p:sp>
        <p:nvSpPr>
          <p:cNvPr id="41" name="칸 본문"/>
          <p:cNvSpPr>
            <a:spLocks noGrp="1"/>
          </p:cNvSpPr>
          <p:nvPr>
            <p:ph type="body" sz="quarter" idx="35"/>
          </p:nvPr>
        </p:nvSpPr>
        <p:spPr>
          <a:xfrm>
            <a:off x="4182652" y="2681687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기관 특성 반영 신고 모의훈련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자진신고 인센티브 및 예방감시관 운영</a:t>
            </a:r>
          </a:p>
        </p:txBody>
      </p:sp>
      <p:cxnSp>
        <p:nvCxnSpPr>
          <p:cNvPr id="42" name="Connector 28"/>
          <p:cNvCxnSpPr/>
          <p:nvPr/>
        </p:nvCxnSpPr>
        <p:spPr>
          <a:xfrm>
            <a:off x="4171696" y="2714557"/>
            <a:ext cx="0" cy="32869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칸 본문"/>
          <p:cNvSpPr>
            <a:spLocks noGrp="1"/>
          </p:cNvSpPr>
          <p:nvPr>
            <p:ph type="body" sz="quarter" idx="36"/>
          </p:nvPr>
        </p:nvSpPr>
        <p:spPr>
          <a:xfrm>
            <a:off x="1358609" y="3092557"/>
            <a:ext cx="2802130" cy="21913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통합신고채널 가입자 1.4배 증가</a:t>
            </a:r>
          </a:p>
        </p:txBody>
      </p:sp>
      <p:sp>
        <p:nvSpPr>
          <p:cNvPr id="44" name="칸 본문"/>
          <p:cNvSpPr>
            <a:spLocks noGrp="1"/>
          </p:cNvSpPr>
          <p:nvPr>
            <p:ph type="body" sz="quarter" idx="37"/>
          </p:nvPr>
        </p:nvSpPr>
        <p:spPr>
          <a:xfrm>
            <a:off x="4182652" y="3092557"/>
            <a:ext cx="2802130" cy="21913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신고 접근성 제고 및 신뢰 상승</a:t>
            </a:r>
          </a:p>
        </p:txBody>
      </p:sp>
      <p:cxnSp>
        <p:nvCxnSpPr>
          <p:cNvPr id="45" name="Connector 31"/>
          <p:cNvCxnSpPr/>
          <p:nvPr/>
        </p:nvCxnSpPr>
        <p:spPr>
          <a:xfrm>
            <a:off x="4171696" y="3125426"/>
            <a:ext cx="0" cy="15339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6" name="레일"/>
          <p:cNvSpPr/>
          <p:nvPr/>
        </p:nvSpPr>
        <p:spPr>
          <a:xfrm>
            <a:off x="734087" y="3333600"/>
            <a:ext cx="580696" cy="898435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7" name="레일"/>
          <p:cNvSpPr>
            <a:spLocks noGrp="1"/>
          </p:cNvSpPr>
          <p:nvPr>
            <p:ph type="body" sz="quarter" idx="38"/>
          </p:nvPr>
        </p:nvSpPr>
        <p:spPr>
          <a:xfrm>
            <a:off x="734087" y="3333600"/>
            <a:ext cx="580696" cy="89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자정기능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작동에는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진 심</a:t>
            </a:r>
          </a:p>
        </p:txBody>
      </p:sp>
      <p:sp>
        <p:nvSpPr>
          <p:cNvPr id="48" name="레일 삼각형"/>
          <p:cNvSpPr/>
          <p:nvPr/>
        </p:nvSpPr>
        <p:spPr>
          <a:xfrm>
            <a:off x="734086" y="3333600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머리칸"/>
          <p:cNvSpPr/>
          <p:nvPr/>
        </p:nvSpPr>
        <p:spPr>
          <a:xfrm>
            <a:off x="1347652" y="335551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0" name="머리칸"/>
          <p:cNvSpPr>
            <a:spLocks noGrp="1"/>
          </p:cNvSpPr>
          <p:nvPr>
            <p:ph type="body" sz="quarter" idx="39"/>
          </p:nvPr>
        </p:nvSpPr>
        <p:spPr>
          <a:xfrm>
            <a:off x="1347652" y="335551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취약분야 특화 신고채널</a:t>
            </a:r>
          </a:p>
        </p:txBody>
      </p:sp>
      <p:sp>
        <p:nvSpPr>
          <p:cNvPr id="51" name="머리칸"/>
          <p:cNvSpPr/>
          <p:nvPr/>
        </p:nvSpPr>
        <p:spPr>
          <a:xfrm>
            <a:off x="4171696" y="335551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2" name="머리칸"/>
          <p:cNvSpPr>
            <a:spLocks noGrp="1"/>
          </p:cNvSpPr>
          <p:nvPr>
            <p:ph type="body" sz="quarter" idx="40"/>
          </p:nvPr>
        </p:nvSpPr>
        <p:spPr>
          <a:xfrm>
            <a:off x="4171696" y="335551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전직원 및 고객 무기명 특별신고</a:t>
            </a:r>
          </a:p>
        </p:txBody>
      </p:sp>
      <p:sp>
        <p:nvSpPr>
          <p:cNvPr id="53" name="칸 본문"/>
          <p:cNvSpPr>
            <a:spLocks noGrp="1"/>
          </p:cNvSpPr>
          <p:nvPr>
            <p:ph type="body" sz="quarter" idx="41"/>
          </p:nvPr>
        </p:nvSpPr>
        <p:spPr>
          <a:xfrm>
            <a:off x="1358609" y="3596557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배경 ’24년 우호적 인사평가 강요 사건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평가질서 저해 단독신고 채널 운영</a:t>
            </a:r>
          </a:p>
        </p:txBody>
      </p:sp>
      <p:sp>
        <p:nvSpPr>
          <p:cNvPr id="54" name="칸 본문"/>
          <p:cNvSpPr>
            <a:spLocks noGrp="1"/>
          </p:cNvSpPr>
          <p:nvPr>
            <p:ph type="body" sz="quarter" idx="42"/>
          </p:nvPr>
        </p:nvSpPr>
        <p:spPr>
          <a:xfrm>
            <a:off x="4182652" y="3596557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취약시기 SMS 발송 익명신고 접수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외부 위탁 설문조사로 비밀 보장</a:t>
            </a:r>
          </a:p>
        </p:txBody>
      </p:sp>
      <p:cxnSp>
        <p:nvCxnSpPr>
          <p:cNvPr id="55" name="Connector 38"/>
          <p:cNvCxnSpPr/>
          <p:nvPr/>
        </p:nvCxnSpPr>
        <p:spPr>
          <a:xfrm>
            <a:off x="4171696" y="3629426"/>
            <a:ext cx="0" cy="32869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6" name="칸 본문"/>
          <p:cNvSpPr>
            <a:spLocks noGrp="1"/>
          </p:cNvSpPr>
          <p:nvPr>
            <p:ph type="body" sz="quarter" idx="43"/>
          </p:nvPr>
        </p:nvSpPr>
        <p:spPr>
          <a:xfrm>
            <a:off x="1358609" y="4007426"/>
            <a:ext cx="2802130" cy="21913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경각심 제고로 유사 부정행위 Zero</a:t>
            </a:r>
          </a:p>
        </p:txBody>
      </p:sp>
      <p:sp>
        <p:nvSpPr>
          <p:cNvPr id="57" name="칸 본문"/>
          <p:cNvSpPr>
            <a:spLocks noGrp="1"/>
          </p:cNvSpPr>
          <p:nvPr>
            <p:ph type="body" sz="quarter" idx="44"/>
          </p:nvPr>
        </p:nvSpPr>
        <p:spPr>
          <a:xfrm>
            <a:off x="4182652" y="4007426"/>
            <a:ext cx="2802130" cy="21913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23건 신고 접수, 정식 조사 전환 3건</a:t>
            </a:r>
          </a:p>
        </p:txBody>
      </p:sp>
      <p:cxnSp>
        <p:nvCxnSpPr>
          <p:cNvPr id="58" name="Connector 41"/>
          <p:cNvCxnSpPr/>
          <p:nvPr/>
        </p:nvCxnSpPr>
        <p:spPr>
          <a:xfrm>
            <a:off x="4171696" y="4040296"/>
            <a:ext cx="0" cy="15339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9" name="핵심성과 박스"/>
          <p:cNvSpPr/>
          <p:nvPr/>
        </p:nvSpPr>
        <p:spPr>
          <a:xfrm>
            <a:off x="723130" y="4336122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핵심성과 라벨"/>
          <p:cNvSpPr/>
          <p:nvPr/>
        </p:nvSpPr>
        <p:spPr>
          <a:xfrm>
            <a:off x="756000" y="4368991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1" name="핵심성과 라벨"/>
          <p:cNvSpPr>
            <a:spLocks noGrp="1"/>
          </p:cNvSpPr>
          <p:nvPr>
            <p:ph type="body" sz="quarter" idx="45"/>
          </p:nvPr>
        </p:nvSpPr>
        <p:spPr>
          <a:xfrm>
            <a:off x="756000" y="4368991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62" name="핵심성과 문구"/>
          <p:cNvSpPr>
            <a:spLocks noGrp="1"/>
          </p:cNvSpPr>
          <p:nvPr>
            <p:ph type="body" sz="quarter" idx="46"/>
          </p:nvPr>
        </p:nvSpPr>
        <p:spPr>
          <a:xfrm>
            <a:off x="1501043" y="4358035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권익위 부패방지시책 평가 ‘신고자 보호 노력’ 90.9점으로 대폭 상승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’25년 신뢰경영지수 조사 결과 ‘공정성’ 5점 상승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37 서사 · 추진배경 → AI 활용 선진감사(기존·개선·효과) → 위험관리 전문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22952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</a:t>
            </a:r>
          </a:p>
        </p:txBody>
      </p:sp>
      <p:sp>
        <p:nvSpPr>
          <p:cNvPr id="11" name="분야 박스"/>
          <p:cNvSpPr/>
          <p:nvPr/>
        </p:nvSpPr>
        <p:spPr>
          <a:xfrm>
            <a:off x="766390" y="799826"/>
            <a:ext cx="592466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분야 박스"/>
          <p:cNvSpPr>
            <a:spLocks noGrp="1"/>
          </p:cNvSpPr>
          <p:nvPr>
            <p:ph type="body" sz="quarter" idx="21"/>
          </p:nvPr>
        </p:nvSpPr>
        <p:spPr>
          <a:xfrm>
            <a:off x="766390" y="799826"/>
            <a:ext cx="59246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모니터링</a:t>
            </a:r>
          </a:p>
        </p:txBody>
      </p:sp>
      <p:sp>
        <p:nvSpPr>
          <p:cNvPr id="13" name="형광 밑줄"/>
          <p:cNvSpPr/>
          <p:nvPr/>
        </p:nvSpPr>
        <p:spPr>
          <a:xfrm>
            <a:off x="1424595" y="920348"/>
            <a:ext cx="3227156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소제목"/>
          <p:cNvSpPr>
            <a:spLocks noGrp="1"/>
          </p:cNvSpPr>
          <p:nvPr>
            <p:ph type="body" sz="quarter" idx="22"/>
          </p:nvPr>
        </p:nvSpPr>
        <p:spPr>
          <a:xfrm>
            <a:off x="1424595" y="766957"/>
            <a:ext cx="5412275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디지털 기술과 전문가가 점검하는 지속가능한 윤리경영</a:t>
            </a:r>
          </a:p>
        </p:txBody>
      </p:sp>
      <p:sp>
        <p:nvSpPr>
          <p:cNvPr id="15" name="태그칩"/>
          <p:cNvSpPr/>
          <p:nvPr/>
        </p:nvSpPr>
        <p:spPr>
          <a:xfrm>
            <a:off x="4750359" y="799826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태그칩"/>
          <p:cNvSpPr>
            <a:spLocks noGrp="1"/>
          </p:cNvSpPr>
          <p:nvPr>
            <p:ph type="body" sz="quarter" idx="23"/>
          </p:nvPr>
        </p:nvSpPr>
        <p:spPr>
          <a:xfrm>
            <a:off x="4750359" y="799826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7" name="표 외곽"/>
          <p:cNvSpPr/>
          <p:nvPr/>
        </p:nvSpPr>
        <p:spPr>
          <a:xfrm>
            <a:off x="536870" y="1051826"/>
            <a:ext cx="6300000" cy="237631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레일"/>
          <p:cNvSpPr/>
          <p:nvPr/>
        </p:nvSpPr>
        <p:spPr>
          <a:xfrm>
            <a:off x="547826" y="1068261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9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068261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5"/>
          </p:nvPr>
        </p:nvSpPr>
        <p:spPr>
          <a:xfrm>
            <a:off x="1172348" y="1090174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자체점검 윤리경영 체계 자체 모니터링 객관성·신뢰성 확보 한계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6"/>
          </p:nvPr>
        </p:nvSpPr>
        <p:spPr>
          <a:xfrm>
            <a:off x="3996391" y="1090174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디지털 활용 감사 고도화 및 대외 전문가 시각 반영</a:t>
            </a:r>
          </a:p>
        </p:txBody>
      </p:sp>
      <p:cxnSp>
        <p:nvCxnSpPr>
          <p:cNvPr id="22" name="Connector 15"/>
          <p:cNvCxnSpPr/>
          <p:nvPr/>
        </p:nvCxnSpPr>
        <p:spPr>
          <a:xfrm>
            <a:off x="3985435" y="1123043"/>
            <a:ext cx="0" cy="2712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3" name="레일"/>
          <p:cNvSpPr/>
          <p:nvPr/>
        </p:nvSpPr>
        <p:spPr>
          <a:xfrm>
            <a:off x="547826" y="1492904"/>
            <a:ext cx="580696" cy="1108017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4" name="레일"/>
          <p:cNvSpPr>
            <a:spLocks noGrp="1"/>
          </p:cNvSpPr>
          <p:nvPr>
            <p:ph type="body" sz="quarter" idx="27"/>
          </p:nvPr>
        </p:nvSpPr>
        <p:spPr>
          <a:xfrm>
            <a:off x="547826" y="1492904"/>
            <a:ext cx="580696" cy="110801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AI 활용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선진감사</a:t>
            </a:r>
          </a:p>
        </p:txBody>
      </p:sp>
      <p:sp>
        <p:nvSpPr>
          <p:cNvPr id="25" name="레일 삼각형"/>
          <p:cNvSpPr/>
          <p:nvPr/>
        </p:nvSpPr>
        <p:spPr>
          <a:xfrm>
            <a:off x="547826" y="1492904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머리칸"/>
          <p:cNvSpPr/>
          <p:nvPr/>
        </p:nvSpPr>
        <p:spPr>
          <a:xfrm>
            <a:off x="1161391" y="1514817"/>
            <a:ext cx="401791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8"/>
          </p:nvPr>
        </p:nvSpPr>
        <p:spPr>
          <a:xfrm>
            <a:off x="1161391" y="1514817"/>
            <a:ext cx="401791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공기업 최초 디지털 기반 감사기법 연구</a:t>
            </a:r>
          </a:p>
        </p:txBody>
      </p:sp>
      <p:sp>
        <p:nvSpPr>
          <p:cNvPr id="28" name="머리칸"/>
          <p:cNvSpPr/>
          <p:nvPr/>
        </p:nvSpPr>
        <p:spPr>
          <a:xfrm>
            <a:off x="5195739" y="1514817"/>
            <a:ext cx="1597304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9" name="머리칸"/>
          <p:cNvSpPr>
            <a:spLocks noGrp="1"/>
          </p:cNvSpPr>
          <p:nvPr>
            <p:ph type="body" sz="quarter" idx="29"/>
          </p:nvPr>
        </p:nvSpPr>
        <p:spPr>
          <a:xfrm>
            <a:off x="5195739" y="1514817"/>
            <a:ext cx="1597304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추진실적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1172348" y="1755861"/>
            <a:ext cx="4012435" cy="1876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내부감사 전주기 AI 활용체계 마련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1"/>
          </p:nvPr>
        </p:nvSpPr>
        <p:spPr>
          <a:xfrm>
            <a:off x="5206696" y="1755861"/>
            <a:ext cx="1591826" cy="8395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감사연구원 논문 게재(’25.12)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활용사례 벤치마킹 등 타 기관 확산</a:t>
            </a:r>
          </a:p>
        </p:txBody>
      </p:sp>
      <p:cxnSp>
        <p:nvCxnSpPr>
          <p:cNvPr id="32" name="Connector 23"/>
          <p:cNvCxnSpPr/>
          <p:nvPr/>
        </p:nvCxnSpPr>
        <p:spPr>
          <a:xfrm>
            <a:off x="5195739" y="1788730"/>
            <a:ext cx="0" cy="77384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레일"/>
          <p:cNvSpPr/>
          <p:nvPr/>
        </p:nvSpPr>
        <p:spPr>
          <a:xfrm>
            <a:off x="547826" y="2617357"/>
            <a:ext cx="580696" cy="794348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2"/>
          </p:nvPr>
        </p:nvSpPr>
        <p:spPr>
          <a:xfrm>
            <a:off x="547826" y="2617357"/>
            <a:ext cx="580696" cy="79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위험관리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 문 화</a:t>
            </a:r>
          </a:p>
        </p:txBody>
      </p:sp>
      <p:sp>
        <p:nvSpPr>
          <p:cNvPr id="35" name="레일 삼각형"/>
          <p:cNvSpPr/>
          <p:nvPr/>
        </p:nvSpPr>
        <p:spPr>
          <a:xfrm>
            <a:off x="547826" y="2617356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머리칸"/>
          <p:cNvSpPr/>
          <p:nvPr/>
        </p:nvSpPr>
        <p:spPr>
          <a:xfrm>
            <a:off x="1161391" y="263927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7" name="머리칸"/>
          <p:cNvSpPr>
            <a:spLocks noGrp="1"/>
          </p:cNvSpPr>
          <p:nvPr>
            <p:ph type="body" sz="quarter" idx="33"/>
          </p:nvPr>
        </p:nvSpPr>
        <p:spPr>
          <a:xfrm>
            <a:off x="1161391" y="263927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ISO 국제표준 기반 모니터링</a:t>
            </a:r>
          </a:p>
        </p:txBody>
      </p:sp>
      <p:sp>
        <p:nvSpPr>
          <p:cNvPr id="38" name="머리칸"/>
          <p:cNvSpPr/>
          <p:nvPr/>
        </p:nvSpPr>
        <p:spPr>
          <a:xfrm>
            <a:off x="3985435" y="263927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9" name="머리칸"/>
          <p:cNvSpPr>
            <a:spLocks noGrp="1"/>
          </p:cNvSpPr>
          <p:nvPr>
            <p:ph type="body" sz="quarter" idx="34"/>
          </p:nvPr>
        </p:nvSpPr>
        <p:spPr>
          <a:xfrm>
            <a:off x="3985435" y="263927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전문가 내부통제 고도화 컨설팅</a:t>
            </a:r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5"/>
          </p:nvPr>
        </p:nvSpPr>
        <p:spPr>
          <a:xfrm>
            <a:off x="1172348" y="2880313"/>
            <a:ext cx="2802130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부패방지·규범준수경영 국제표준 점검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대표사례 위험관리 내부심사원 선발(13명)</a:t>
            </a:r>
          </a:p>
        </p:txBody>
      </p:sp>
      <p:sp>
        <p:nvSpPr>
          <p:cNvPr id="41" name="칸 본문"/>
          <p:cNvSpPr>
            <a:spLocks noGrp="1"/>
          </p:cNvSpPr>
          <p:nvPr>
            <p:ph type="body" sz="quarter" idx="36"/>
          </p:nvPr>
        </p:nvSpPr>
        <p:spPr>
          <a:xfrm>
            <a:off x="3996391" y="2880313"/>
            <a:ext cx="2802130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전문기관 내부통제 수준 진단, 개선 발굴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대표사례 부패위험 범위 확대·규정 개정</a:t>
            </a:r>
          </a:p>
        </p:txBody>
      </p:sp>
      <p:cxnSp>
        <p:nvCxnSpPr>
          <p:cNvPr id="42" name="Connector 30"/>
          <p:cNvCxnSpPr/>
          <p:nvPr/>
        </p:nvCxnSpPr>
        <p:spPr>
          <a:xfrm>
            <a:off x="3985435" y="2913183"/>
            <a:ext cx="0" cy="46017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핵심성과 박스"/>
          <p:cNvSpPr/>
          <p:nvPr/>
        </p:nvSpPr>
        <p:spPr>
          <a:xfrm>
            <a:off x="536870" y="3515791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핵심성과 라벨"/>
          <p:cNvSpPr/>
          <p:nvPr/>
        </p:nvSpPr>
        <p:spPr>
          <a:xfrm>
            <a:off x="569739" y="3548661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45" name="핵심성과 라벨"/>
          <p:cNvSpPr>
            <a:spLocks noGrp="1"/>
          </p:cNvSpPr>
          <p:nvPr>
            <p:ph type="body" sz="quarter" idx="37"/>
          </p:nvPr>
        </p:nvSpPr>
        <p:spPr>
          <a:xfrm>
            <a:off x="569739" y="3548661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6" name="핵심성과 문구"/>
          <p:cNvSpPr>
            <a:spLocks noGrp="1"/>
          </p:cNvSpPr>
          <p:nvPr>
            <p:ph type="body" sz="quarter" idx="38"/>
          </p:nvPr>
        </p:nvSpPr>
        <p:spPr>
          <a:xfrm>
            <a:off x="1314783" y="3537704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대외인정 ISO 37001·37301 통합인증(’25.10)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대내효과 자체 설문조사 결과 ‘내부통제 효과성’ 긍정적 인식 94.5%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8 서사 · 환경분석 → 로드맵(도입·성숙·확산기) → 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더 촘촘하고 더 확실한 다층적 이해충돌 예방체계 구축</a:t>
            </a:r>
          </a:p>
        </p:txBody>
      </p:sp>
      <p:sp>
        <p:nvSpPr>
          <p:cNvPr id="14" name="형광 밑줄"/>
          <p:cNvSpPr/>
          <p:nvPr/>
        </p:nvSpPr>
        <p:spPr>
          <a:xfrm>
            <a:off x="723130" y="1358609"/>
            <a:ext cx="3839926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소제목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인식수준 진단, 취약분야 선제적 관리 등 맞춤형 개선방향 수립</a:t>
            </a:r>
          </a:p>
        </p:txBody>
      </p:sp>
      <p:sp>
        <p:nvSpPr>
          <p:cNvPr id="16" name="태그칩"/>
          <p:cNvSpPr/>
          <p:nvPr/>
        </p:nvSpPr>
        <p:spPr>
          <a:xfrm>
            <a:off x="4661665" y="1238087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태그칩"/>
          <p:cNvSpPr>
            <a:spLocks noGrp="1"/>
          </p:cNvSpPr>
          <p:nvPr>
            <p:ph type="body" sz="quarter" idx="23"/>
          </p:nvPr>
        </p:nvSpPr>
        <p:spPr>
          <a:xfrm>
            <a:off x="4661665" y="1238087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8" name="표 외곽"/>
          <p:cNvSpPr/>
          <p:nvPr/>
        </p:nvSpPr>
        <p:spPr>
          <a:xfrm>
            <a:off x="723130" y="1490087"/>
            <a:ext cx="6300000" cy="168464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레일"/>
          <p:cNvSpPr/>
          <p:nvPr/>
        </p:nvSpPr>
        <p:spPr>
          <a:xfrm>
            <a:off x="734087" y="1506522"/>
            <a:ext cx="580696" cy="410870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4"/>
          </p:nvPr>
        </p:nvSpPr>
        <p:spPr>
          <a:xfrm>
            <a:off x="734087" y="1506522"/>
            <a:ext cx="580696" cy="410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5"/>
          </p:nvPr>
        </p:nvSpPr>
        <p:spPr>
          <a:xfrm>
            <a:off x="1358609" y="1528435"/>
            <a:ext cx="448761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외부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6"/>
          </p:nvPr>
        </p:nvSpPr>
        <p:spPr>
          <a:xfrm>
            <a:off x="1829283" y="1528435"/>
            <a:ext cx="2331457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신유형 부패 통제로 국민 신뢰 확보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공직자 사적 이해관계 실효적 관리</a:t>
            </a:r>
          </a:p>
        </p:txBody>
      </p:sp>
      <p:cxnSp>
        <p:nvCxnSpPr>
          <p:cNvPr id="23" name="Connector 15"/>
          <p:cNvCxnSpPr/>
          <p:nvPr/>
        </p:nvCxnSpPr>
        <p:spPr>
          <a:xfrm>
            <a:off x="1818326" y="1561304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칸 본문"/>
          <p:cNvSpPr>
            <a:spLocks noGrp="1"/>
          </p:cNvSpPr>
          <p:nvPr>
            <p:ph type="body" sz="quarter" idx="27"/>
          </p:nvPr>
        </p:nvSpPr>
        <p:spPr>
          <a:xfrm>
            <a:off x="4182652" y="1528435"/>
            <a:ext cx="448761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</a:t>
            </a:r>
          </a:p>
        </p:txBody>
      </p:sp>
      <p:cxnSp>
        <p:nvCxnSpPr>
          <p:cNvPr id="25" name="Connector 17"/>
          <p:cNvCxnSpPr/>
          <p:nvPr/>
        </p:nvCxnSpPr>
        <p:spPr>
          <a:xfrm>
            <a:off x="4171696" y="1561304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4653326" y="1528435"/>
            <a:ext cx="2331457" cy="38347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이해충돌 징계 처분 발생(’24년)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‘법 인식 수준’ 저조(53점)</a:t>
            </a:r>
          </a:p>
        </p:txBody>
      </p:sp>
      <p:cxnSp>
        <p:nvCxnSpPr>
          <p:cNvPr id="27" name="Connector 19"/>
          <p:cNvCxnSpPr/>
          <p:nvPr/>
        </p:nvCxnSpPr>
        <p:spPr>
          <a:xfrm>
            <a:off x="4642370" y="1561304"/>
            <a:ext cx="0" cy="317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레일"/>
          <p:cNvSpPr/>
          <p:nvPr/>
        </p:nvSpPr>
        <p:spPr>
          <a:xfrm>
            <a:off x="734087" y="1933826"/>
            <a:ext cx="580696" cy="586174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레일"/>
          <p:cNvSpPr>
            <a:spLocks noGrp="1"/>
          </p:cNvSpPr>
          <p:nvPr>
            <p:ph type="body" sz="quarter" idx="29"/>
          </p:nvPr>
        </p:nvSpPr>
        <p:spPr>
          <a:xfrm>
            <a:off x="734087" y="1933826"/>
            <a:ext cx="580696" cy="586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로 드 맵</a:t>
            </a:r>
          </a:p>
        </p:txBody>
      </p:sp>
      <p:sp>
        <p:nvSpPr>
          <p:cNvPr id="30" name="레일 삼각형"/>
          <p:cNvSpPr/>
          <p:nvPr/>
        </p:nvSpPr>
        <p:spPr>
          <a:xfrm>
            <a:off x="734086" y="1933826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단계"/>
          <p:cNvSpPr/>
          <p:nvPr/>
        </p:nvSpPr>
        <p:spPr>
          <a:xfrm>
            <a:off x="1347652" y="1955739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2" name="단계"/>
          <p:cNvSpPr>
            <a:spLocks noGrp="1"/>
          </p:cNvSpPr>
          <p:nvPr>
            <p:ph type="body" sz="quarter" idx="30"/>
          </p:nvPr>
        </p:nvSpPr>
        <p:spPr>
          <a:xfrm>
            <a:off x="1347652" y="19557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도입기(’21~’23년)</a:t>
            </a:r>
          </a:p>
        </p:txBody>
      </p:sp>
      <p:sp>
        <p:nvSpPr>
          <p:cNvPr id="33" name="단계"/>
          <p:cNvSpPr/>
          <p:nvPr/>
        </p:nvSpPr>
        <p:spPr>
          <a:xfrm>
            <a:off x="3230348" y="1955739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4" name="단계"/>
          <p:cNvSpPr>
            <a:spLocks noGrp="1"/>
          </p:cNvSpPr>
          <p:nvPr>
            <p:ph type="body" sz="quarter" idx="31"/>
          </p:nvPr>
        </p:nvSpPr>
        <p:spPr>
          <a:xfrm>
            <a:off x="3230348" y="19557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성숙기(’24년)</a:t>
            </a:r>
          </a:p>
        </p:txBody>
      </p:sp>
      <p:sp>
        <p:nvSpPr>
          <p:cNvPr id="35" name="단계"/>
          <p:cNvSpPr/>
          <p:nvPr/>
        </p:nvSpPr>
        <p:spPr>
          <a:xfrm>
            <a:off x="5113043" y="1955739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6" name="단계"/>
          <p:cNvSpPr>
            <a:spLocks noGrp="1"/>
          </p:cNvSpPr>
          <p:nvPr>
            <p:ph type="body" sz="quarter" idx="32"/>
          </p:nvPr>
        </p:nvSpPr>
        <p:spPr>
          <a:xfrm>
            <a:off x="5113043" y="19557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확산기(’25년~)</a:t>
            </a:r>
          </a:p>
        </p:txBody>
      </p:sp>
      <p:sp>
        <p:nvSpPr>
          <p:cNvPr id="37" name="단계 삼각형"/>
          <p:cNvSpPr/>
          <p:nvPr/>
        </p:nvSpPr>
        <p:spPr>
          <a:xfrm>
            <a:off x="3230347" y="1955739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단계 삼각형"/>
          <p:cNvSpPr/>
          <p:nvPr/>
        </p:nvSpPr>
        <p:spPr>
          <a:xfrm>
            <a:off x="5113043" y="1955739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칸 본문"/>
          <p:cNvSpPr>
            <a:spLocks noGrp="1"/>
          </p:cNvSpPr>
          <p:nvPr>
            <p:ph type="body" sz="quarter" idx="33"/>
          </p:nvPr>
        </p:nvSpPr>
        <p:spPr>
          <a:xfrm>
            <a:off x="1358609" y="2207739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충돌방지 시스템 구축</a:t>
            </a:r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4"/>
          </p:nvPr>
        </p:nvSpPr>
        <p:spPr>
          <a:xfrm>
            <a:off x="3241304" y="2207739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이행체계·제도 고도화</a:t>
            </a:r>
          </a:p>
        </p:txBody>
      </p:sp>
      <p:cxnSp>
        <p:nvCxnSpPr>
          <p:cNvPr id="41" name="Connector 29"/>
          <p:cNvCxnSpPr/>
          <p:nvPr/>
        </p:nvCxnSpPr>
        <p:spPr>
          <a:xfrm>
            <a:off x="3230348" y="2240609"/>
            <a:ext cx="0" cy="2410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2" name="칸 본문"/>
          <p:cNvSpPr>
            <a:spLocks noGrp="1"/>
          </p:cNvSpPr>
          <p:nvPr>
            <p:ph type="body" sz="quarter" idx="35"/>
          </p:nvPr>
        </p:nvSpPr>
        <p:spPr>
          <a:xfrm>
            <a:off x="5124000" y="2207739"/>
            <a:ext cx="1860783" cy="30678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이해충돌방지법 준수 일상화</a:t>
            </a:r>
          </a:p>
        </p:txBody>
      </p:sp>
      <p:cxnSp>
        <p:nvCxnSpPr>
          <p:cNvPr id="43" name="Connector 31"/>
          <p:cNvCxnSpPr/>
          <p:nvPr/>
        </p:nvCxnSpPr>
        <p:spPr>
          <a:xfrm>
            <a:off x="5113043" y="2240609"/>
            <a:ext cx="0" cy="2410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4" name="레일"/>
          <p:cNvSpPr/>
          <p:nvPr/>
        </p:nvSpPr>
        <p:spPr>
          <a:xfrm>
            <a:off x="734087" y="2536435"/>
            <a:ext cx="580696" cy="621861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5" name="레일"/>
          <p:cNvSpPr>
            <a:spLocks noGrp="1"/>
          </p:cNvSpPr>
          <p:nvPr>
            <p:ph type="body" sz="quarter" idx="36"/>
          </p:nvPr>
        </p:nvSpPr>
        <p:spPr>
          <a:xfrm>
            <a:off x="734087" y="2536435"/>
            <a:ext cx="580696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46" name="레일 삼각형"/>
          <p:cNvSpPr/>
          <p:nvPr/>
        </p:nvSpPr>
        <p:spPr>
          <a:xfrm>
            <a:off x="734086" y="2536434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단계"/>
          <p:cNvSpPr/>
          <p:nvPr/>
        </p:nvSpPr>
        <p:spPr>
          <a:xfrm>
            <a:off x="1347652" y="2558348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8" name="단계"/>
          <p:cNvSpPr>
            <a:spLocks noGrp="1"/>
          </p:cNvSpPr>
          <p:nvPr>
            <p:ph type="body" sz="quarter" idx="37"/>
          </p:nvPr>
        </p:nvSpPr>
        <p:spPr>
          <a:xfrm>
            <a:off x="1347652" y="2558348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자율적 내부통제 전환</a:t>
            </a:r>
          </a:p>
        </p:txBody>
      </p:sp>
      <p:sp>
        <p:nvSpPr>
          <p:cNvPr id="49" name="단계"/>
          <p:cNvSpPr/>
          <p:nvPr/>
        </p:nvSpPr>
        <p:spPr>
          <a:xfrm>
            <a:off x="3230348" y="2558348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0" name="단계"/>
          <p:cNvSpPr>
            <a:spLocks noGrp="1"/>
          </p:cNvSpPr>
          <p:nvPr>
            <p:ph type="body" sz="quarter" idx="38"/>
          </p:nvPr>
        </p:nvSpPr>
        <p:spPr>
          <a:xfrm>
            <a:off x="3230348" y="2558348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취약분야 발굴 및 해소</a:t>
            </a:r>
          </a:p>
        </p:txBody>
      </p:sp>
      <p:sp>
        <p:nvSpPr>
          <p:cNvPr id="51" name="단계"/>
          <p:cNvSpPr/>
          <p:nvPr/>
        </p:nvSpPr>
        <p:spPr>
          <a:xfrm>
            <a:off x="5113043" y="2558348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2" name="단계"/>
          <p:cNvSpPr>
            <a:spLocks noGrp="1"/>
          </p:cNvSpPr>
          <p:nvPr>
            <p:ph type="body" sz="quarter" idx="39"/>
          </p:nvPr>
        </p:nvSpPr>
        <p:spPr>
          <a:xfrm>
            <a:off x="5113043" y="2558348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전직원 인식 확산</a:t>
            </a:r>
          </a:p>
        </p:txBody>
      </p:sp>
      <p:sp>
        <p:nvSpPr>
          <p:cNvPr id="53" name="단계 삼각형"/>
          <p:cNvSpPr/>
          <p:nvPr/>
        </p:nvSpPr>
        <p:spPr>
          <a:xfrm>
            <a:off x="3230347" y="2558347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단계 삼각형"/>
          <p:cNvSpPr/>
          <p:nvPr/>
        </p:nvSpPr>
        <p:spPr>
          <a:xfrm>
            <a:off x="5113043" y="2558347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칸 본문"/>
          <p:cNvSpPr>
            <a:spLocks noGrp="1"/>
          </p:cNvSpPr>
          <p:nvPr>
            <p:ph type="body" sz="quarter" idx="40"/>
          </p:nvPr>
        </p:nvSpPr>
        <p:spPr>
          <a:xfrm>
            <a:off x="1358609" y="2810348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 대응체계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자율규율 행위규범 내재화</a:t>
            </a:r>
          </a:p>
        </p:txBody>
      </p:sp>
      <p:sp>
        <p:nvSpPr>
          <p:cNvPr id="56" name="칸 본문"/>
          <p:cNvSpPr>
            <a:spLocks noGrp="1"/>
          </p:cNvSpPr>
          <p:nvPr>
            <p:ph type="body" sz="quarter" idx="41"/>
          </p:nvPr>
        </p:nvSpPr>
        <p:spPr>
          <a:xfrm>
            <a:off x="3241304" y="2810348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리스크 기반 취약요소 발굴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원인분석 및 개선 조치</a:t>
            </a:r>
          </a:p>
        </p:txBody>
      </p:sp>
      <p:cxnSp>
        <p:nvCxnSpPr>
          <p:cNvPr id="57" name="Connector 41"/>
          <p:cNvCxnSpPr/>
          <p:nvPr/>
        </p:nvCxnSpPr>
        <p:spPr>
          <a:xfrm>
            <a:off x="3230348" y="2843217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8" name="칸 본문"/>
          <p:cNvSpPr>
            <a:spLocks noGrp="1"/>
          </p:cNvSpPr>
          <p:nvPr>
            <p:ph type="body" sz="quarter" idx="42"/>
          </p:nvPr>
        </p:nvSpPr>
        <p:spPr>
          <a:xfrm>
            <a:off x="5124000" y="2810348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이해충돌 정보 공유 지속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생애주기 맞춤형 교육</a:t>
            </a:r>
          </a:p>
        </p:txBody>
      </p:sp>
      <p:cxnSp>
        <p:nvCxnSpPr>
          <p:cNvPr id="59" name="Connector 43"/>
          <p:cNvCxnSpPr/>
          <p:nvPr/>
        </p:nvCxnSpPr>
        <p:spPr>
          <a:xfrm>
            <a:off x="5113043" y="2843217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39 서사 · 추진배경 → 자율예방 → 충돌방지 → 바로알기 → 추진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3695627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이해충돌방지법이 일상에 스며들도록 자율적 예방체계 운영</a:t>
            </a:r>
          </a:p>
        </p:txBody>
      </p:sp>
      <p:sp>
        <p:nvSpPr>
          <p:cNvPr id="12" name="태그칩"/>
          <p:cNvSpPr/>
          <p:nvPr/>
        </p:nvSpPr>
        <p:spPr>
          <a:xfrm>
            <a:off x="4331106" y="799826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4331106" y="799826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4" name="태그칩"/>
          <p:cNvSpPr/>
          <p:nvPr/>
        </p:nvSpPr>
        <p:spPr>
          <a:xfrm>
            <a:off x="4882227" y="799826"/>
            <a:ext cx="726832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태그칩"/>
          <p:cNvSpPr>
            <a:spLocks noGrp="1"/>
          </p:cNvSpPr>
          <p:nvPr>
            <p:ph type="body" sz="quarter" idx="22"/>
          </p:nvPr>
        </p:nvSpPr>
        <p:spPr>
          <a:xfrm>
            <a:off x="4882227" y="799826"/>
            <a:ext cx="72683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평가지적</a:t>
            </a:r>
          </a:p>
        </p:txBody>
      </p:sp>
      <p:sp>
        <p:nvSpPr>
          <p:cNvPr id="16" name="표 외곽"/>
          <p:cNvSpPr/>
          <p:nvPr/>
        </p:nvSpPr>
        <p:spPr>
          <a:xfrm>
            <a:off x="536870" y="1051826"/>
            <a:ext cx="6300000" cy="292836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레일"/>
          <p:cNvSpPr/>
          <p:nvPr/>
        </p:nvSpPr>
        <p:spPr>
          <a:xfrm>
            <a:off x="547826" y="1068261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3"/>
          </p:nvPr>
        </p:nvSpPr>
        <p:spPr>
          <a:xfrm>
            <a:off x="547826" y="1068261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24"/>
          </p:nvPr>
        </p:nvSpPr>
        <p:spPr>
          <a:xfrm>
            <a:off x="1172348" y="1090174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평가단 제언 구체적 상황 제도 적용 미흡, 지속 모니터링 필요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5"/>
          </p:nvPr>
        </p:nvSpPr>
        <p:spPr>
          <a:xfrm>
            <a:off x="3996391" y="1090174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구성원 주도 예방체계로 사전 예방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인식 강화 및 예방문화 정착</a:t>
            </a:r>
          </a:p>
        </p:txBody>
      </p:sp>
      <p:cxnSp>
        <p:nvCxnSpPr>
          <p:cNvPr id="21" name="Connector 14"/>
          <p:cNvCxnSpPr/>
          <p:nvPr/>
        </p:nvCxnSpPr>
        <p:spPr>
          <a:xfrm>
            <a:off x="3985435" y="1123043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2" name="레일"/>
          <p:cNvSpPr/>
          <p:nvPr/>
        </p:nvSpPr>
        <p:spPr>
          <a:xfrm>
            <a:off x="547826" y="1492904"/>
            <a:ext cx="580696" cy="79434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레일 태그"/>
          <p:cNvSpPr/>
          <p:nvPr/>
        </p:nvSpPr>
        <p:spPr>
          <a:xfrm>
            <a:off x="558376" y="1657252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4" name="레일 태그"/>
          <p:cNvSpPr>
            <a:spLocks noGrp="1"/>
          </p:cNvSpPr>
          <p:nvPr>
            <p:ph type="body" sz="quarter" idx="26"/>
          </p:nvPr>
        </p:nvSpPr>
        <p:spPr>
          <a:xfrm>
            <a:off x="558376" y="1657252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자율점검</a:t>
            </a:r>
          </a:p>
        </p:txBody>
      </p:sp>
      <p:sp>
        <p:nvSpPr>
          <p:cNvPr id="25" name="레일 라벨"/>
          <p:cNvSpPr>
            <a:spLocks noGrp="1"/>
          </p:cNvSpPr>
          <p:nvPr>
            <p:ph type="body" sz="quarter" idx="27"/>
          </p:nvPr>
        </p:nvSpPr>
        <p:spPr>
          <a:xfrm>
            <a:off x="547826" y="1843513"/>
            <a:ext cx="580696" cy="421826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현장중심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자율예방</a:t>
            </a:r>
          </a:p>
        </p:txBody>
      </p:sp>
      <p:sp>
        <p:nvSpPr>
          <p:cNvPr id="26" name="레일 삼각형"/>
          <p:cNvSpPr/>
          <p:nvPr/>
        </p:nvSpPr>
        <p:spPr>
          <a:xfrm>
            <a:off x="547826" y="1492904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머리칸"/>
          <p:cNvSpPr/>
          <p:nvPr/>
        </p:nvSpPr>
        <p:spPr>
          <a:xfrm>
            <a:off x="1161391" y="151481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8" name="머리칸"/>
          <p:cNvSpPr>
            <a:spLocks noGrp="1"/>
          </p:cNvSpPr>
          <p:nvPr>
            <p:ph type="body" sz="quarter" idx="28"/>
          </p:nvPr>
        </p:nvSpPr>
        <p:spPr>
          <a:xfrm>
            <a:off x="1161391" y="1514817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다층적 이해충돌 내부통제 구조</a:t>
            </a:r>
          </a:p>
        </p:txBody>
      </p:sp>
      <p:sp>
        <p:nvSpPr>
          <p:cNvPr id="29" name="머리칸"/>
          <p:cNvSpPr/>
          <p:nvPr/>
        </p:nvSpPr>
        <p:spPr>
          <a:xfrm>
            <a:off x="3985435" y="151481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0" name="머리칸"/>
          <p:cNvSpPr>
            <a:spLocks noGrp="1"/>
          </p:cNvSpPr>
          <p:nvPr>
            <p:ph type="body" sz="quarter" idx="29"/>
          </p:nvPr>
        </p:nvSpPr>
        <p:spPr>
          <a:xfrm>
            <a:off x="3985435" y="1514817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나와 연관된 이해충돌은 스스로 멀리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0"/>
          </p:nvPr>
        </p:nvSpPr>
        <p:spPr>
          <a:xfrm>
            <a:off x="1172348" y="1755861"/>
            <a:ext cx="2802130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자율적 내부통제 실행 프로그램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현장부서(매월) + 유역본부(분기) + 본사(연간)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1"/>
          </p:nvPr>
        </p:nvSpPr>
        <p:spPr>
          <a:xfrm>
            <a:off x="3996391" y="1755861"/>
            <a:ext cx="2802130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고유 이해충돌 상황 시나리오 개발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AI챗봇에 이해충돌 챗봇 통합</a:t>
            </a:r>
          </a:p>
        </p:txBody>
      </p:sp>
      <p:cxnSp>
        <p:nvCxnSpPr>
          <p:cNvPr id="33" name="Connector 23"/>
          <p:cNvCxnSpPr/>
          <p:nvPr/>
        </p:nvCxnSpPr>
        <p:spPr>
          <a:xfrm>
            <a:off x="3985435" y="1788730"/>
            <a:ext cx="0" cy="46017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레일"/>
          <p:cNvSpPr/>
          <p:nvPr/>
        </p:nvSpPr>
        <p:spPr>
          <a:xfrm>
            <a:off x="547826" y="2303687"/>
            <a:ext cx="580696" cy="862904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레일 태그"/>
          <p:cNvSpPr/>
          <p:nvPr/>
        </p:nvSpPr>
        <p:spPr>
          <a:xfrm>
            <a:off x="558376" y="2347513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6" name="레일 태그"/>
          <p:cNvSpPr>
            <a:spLocks noGrp="1"/>
          </p:cNvSpPr>
          <p:nvPr>
            <p:ph type="body" sz="quarter" idx="32"/>
          </p:nvPr>
        </p:nvSpPr>
        <p:spPr>
          <a:xfrm>
            <a:off x="558376" y="2347513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통제활동</a:t>
            </a:r>
          </a:p>
        </p:txBody>
      </p:sp>
      <p:sp>
        <p:nvSpPr>
          <p:cNvPr id="37" name="레일 라벨"/>
          <p:cNvSpPr>
            <a:spLocks noGrp="1"/>
          </p:cNvSpPr>
          <p:nvPr>
            <p:ph type="body" sz="quarter" idx="33"/>
          </p:nvPr>
        </p:nvSpPr>
        <p:spPr>
          <a:xfrm>
            <a:off x="547826" y="2533774"/>
            <a:ext cx="580696" cy="610904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빈틈없는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충돌방지</a:t>
            </a:r>
          </a:p>
        </p:txBody>
      </p:sp>
      <p:sp>
        <p:nvSpPr>
          <p:cNvPr id="38" name="머리칸"/>
          <p:cNvSpPr/>
          <p:nvPr/>
        </p:nvSpPr>
        <p:spPr>
          <a:xfrm>
            <a:off x="1161391" y="232560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9" name="머리칸"/>
          <p:cNvSpPr>
            <a:spLocks noGrp="1"/>
          </p:cNvSpPr>
          <p:nvPr>
            <p:ph type="body" sz="quarter" idx="34"/>
          </p:nvPr>
        </p:nvSpPr>
        <p:spPr>
          <a:xfrm>
            <a:off x="1161391" y="232560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협상에 의한 계약 이해충돌 예방</a:t>
            </a:r>
          </a:p>
        </p:txBody>
      </p:sp>
      <p:sp>
        <p:nvSpPr>
          <p:cNvPr id="40" name="머리칸"/>
          <p:cNvSpPr/>
          <p:nvPr/>
        </p:nvSpPr>
        <p:spPr>
          <a:xfrm>
            <a:off x="3985435" y="232560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1" name="머리칸"/>
          <p:cNvSpPr>
            <a:spLocks noGrp="1"/>
          </p:cNvSpPr>
          <p:nvPr>
            <p:ph type="body" sz="quarter" idx="35"/>
          </p:nvPr>
        </p:nvSpPr>
        <p:spPr>
          <a:xfrm>
            <a:off x="3985435" y="232560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포인트 사적사용 방지 강화</a:t>
            </a:r>
          </a:p>
        </p:txBody>
      </p:sp>
      <p:sp>
        <p:nvSpPr>
          <p:cNvPr id="42" name="칸 본문"/>
          <p:cNvSpPr>
            <a:spLocks noGrp="1"/>
          </p:cNvSpPr>
          <p:nvPr>
            <p:ph type="body" sz="quarter" idx="36"/>
          </p:nvPr>
        </p:nvSpPr>
        <p:spPr>
          <a:xfrm>
            <a:off x="1172348" y="2566643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계약상대자 선정 정량평가에 사적 이해관계 개입 우려</a:t>
            </a:r>
          </a:p>
        </p:txBody>
      </p:sp>
      <p:sp>
        <p:nvSpPr>
          <p:cNvPr id="43" name="칸 본문"/>
          <p:cNvSpPr>
            <a:spLocks noGrp="1"/>
          </p:cNvSpPr>
          <p:nvPr>
            <p:ph type="body" sz="quarter" idx="37"/>
          </p:nvPr>
        </p:nvSpPr>
        <p:spPr>
          <a:xfrm>
            <a:off x="3996391" y="2566643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공무 국외출장 항공 마일리지 사적사용 방지 기준 부재</a:t>
            </a:r>
          </a:p>
        </p:txBody>
      </p:sp>
      <p:cxnSp>
        <p:nvCxnSpPr>
          <p:cNvPr id="44" name="Connector 31"/>
          <p:cNvCxnSpPr/>
          <p:nvPr/>
        </p:nvCxnSpPr>
        <p:spPr>
          <a:xfrm>
            <a:off x="3985435" y="2599513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칸 본문"/>
          <p:cNvSpPr>
            <a:spLocks noGrp="1"/>
          </p:cNvSpPr>
          <p:nvPr>
            <p:ph type="body" sz="quarter" idx="38"/>
          </p:nvPr>
        </p:nvSpPr>
        <p:spPr>
          <a:xfrm>
            <a:off x="1172348" y="2920070"/>
            <a:ext cx="2802130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제척·회피·기피 의무 및 평가기준 마련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39"/>
          </p:nvPr>
        </p:nvSpPr>
        <p:spPr>
          <a:xfrm>
            <a:off x="3996391" y="2920070"/>
            <a:ext cx="2802130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법인 전용 포인트 공적재원으로 활용</a:t>
            </a:r>
          </a:p>
        </p:txBody>
      </p:sp>
      <p:cxnSp>
        <p:nvCxnSpPr>
          <p:cNvPr id="47" name="Connector 34"/>
          <p:cNvCxnSpPr/>
          <p:nvPr/>
        </p:nvCxnSpPr>
        <p:spPr>
          <a:xfrm>
            <a:off x="3985435" y="2952939"/>
            <a:ext cx="0" cy="17530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8" name="레일"/>
          <p:cNvSpPr/>
          <p:nvPr/>
        </p:nvSpPr>
        <p:spPr>
          <a:xfrm>
            <a:off x="547826" y="3183026"/>
            <a:ext cx="580696" cy="780730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레일 태그"/>
          <p:cNvSpPr/>
          <p:nvPr/>
        </p:nvSpPr>
        <p:spPr>
          <a:xfrm>
            <a:off x="558376" y="3347374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0" name="레일 태그"/>
          <p:cNvSpPr>
            <a:spLocks noGrp="1"/>
          </p:cNvSpPr>
          <p:nvPr>
            <p:ph type="body" sz="quarter" idx="40"/>
          </p:nvPr>
        </p:nvSpPr>
        <p:spPr>
          <a:xfrm>
            <a:off x="558376" y="3347374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인식확산</a:t>
            </a:r>
          </a:p>
        </p:txBody>
      </p:sp>
      <p:sp>
        <p:nvSpPr>
          <p:cNvPr id="51" name="레일 라벨"/>
          <p:cNvSpPr>
            <a:spLocks noGrp="1"/>
          </p:cNvSpPr>
          <p:nvPr>
            <p:ph type="body" sz="quarter" idx="41"/>
          </p:nvPr>
        </p:nvSpPr>
        <p:spPr>
          <a:xfrm>
            <a:off x="547826" y="3533635"/>
            <a:ext cx="580696" cy="408209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이해충돌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바로알기</a:t>
            </a:r>
          </a:p>
        </p:txBody>
      </p:sp>
      <p:sp>
        <p:nvSpPr>
          <p:cNvPr id="52" name="레일 삼각형"/>
          <p:cNvSpPr/>
          <p:nvPr/>
        </p:nvSpPr>
        <p:spPr>
          <a:xfrm>
            <a:off x="547826" y="3183026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단계"/>
          <p:cNvSpPr/>
          <p:nvPr/>
        </p:nvSpPr>
        <p:spPr>
          <a:xfrm>
            <a:off x="1161391" y="3204939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4" name="단계"/>
          <p:cNvSpPr>
            <a:spLocks noGrp="1"/>
          </p:cNvSpPr>
          <p:nvPr>
            <p:ph type="body" sz="quarter" idx="42"/>
          </p:nvPr>
        </p:nvSpPr>
        <p:spPr>
          <a:xfrm>
            <a:off x="1161391" y="32049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인식조사 결과</a:t>
            </a:r>
          </a:p>
        </p:txBody>
      </p:sp>
      <p:sp>
        <p:nvSpPr>
          <p:cNvPr id="55" name="단계"/>
          <p:cNvSpPr/>
          <p:nvPr/>
        </p:nvSpPr>
        <p:spPr>
          <a:xfrm>
            <a:off x="3044087" y="3204939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6" name="단계"/>
          <p:cNvSpPr>
            <a:spLocks noGrp="1"/>
          </p:cNvSpPr>
          <p:nvPr>
            <p:ph type="body" sz="quarter" idx="43"/>
          </p:nvPr>
        </p:nvSpPr>
        <p:spPr>
          <a:xfrm>
            <a:off x="3044087" y="32049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개선사항</a:t>
            </a:r>
          </a:p>
        </p:txBody>
      </p:sp>
      <p:sp>
        <p:nvSpPr>
          <p:cNvPr id="57" name="단계"/>
          <p:cNvSpPr/>
          <p:nvPr/>
        </p:nvSpPr>
        <p:spPr>
          <a:xfrm>
            <a:off x="4926783" y="3204939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8" name="단계"/>
          <p:cNvSpPr>
            <a:spLocks noGrp="1"/>
          </p:cNvSpPr>
          <p:nvPr>
            <p:ph type="body" sz="quarter" idx="44"/>
          </p:nvPr>
        </p:nvSpPr>
        <p:spPr>
          <a:xfrm>
            <a:off x="4926783" y="3204939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추진실적</a:t>
            </a:r>
          </a:p>
        </p:txBody>
      </p:sp>
      <p:sp>
        <p:nvSpPr>
          <p:cNvPr id="59" name="단계 삼각형"/>
          <p:cNvSpPr/>
          <p:nvPr/>
        </p:nvSpPr>
        <p:spPr>
          <a:xfrm>
            <a:off x="3044086" y="3204939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단계 삼각형"/>
          <p:cNvSpPr/>
          <p:nvPr/>
        </p:nvSpPr>
        <p:spPr>
          <a:xfrm>
            <a:off x="4926782" y="3204939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칸 본문"/>
          <p:cNvSpPr>
            <a:spLocks noGrp="1"/>
          </p:cNvSpPr>
          <p:nvPr>
            <p:ph type="body" sz="quarter" idx="45"/>
          </p:nvPr>
        </p:nvSpPr>
        <p:spPr>
          <a:xfrm>
            <a:off x="1172348" y="3456939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인식조사 결과 법 개념과 사례 막연한 인식 47.4%</a:t>
            </a:r>
          </a:p>
        </p:txBody>
      </p:sp>
      <p:sp>
        <p:nvSpPr>
          <p:cNvPr id="62" name="칸 본문"/>
          <p:cNvSpPr>
            <a:spLocks noGrp="1"/>
          </p:cNvSpPr>
          <p:nvPr>
            <p:ph type="body" sz="quarter" idx="46"/>
          </p:nvPr>
        </p:nvSpPr>
        <p:spPr>
          <a:xfrm>
            <a:off x="3055043" y="3456939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SNS 활용 상황별 알림 발송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이해충돌 사례집 발간(’25.12)</a:t>
            </a:r>
          </a:p>
        </p:txBody>
      </p:sp>
      <p:cxnSp>
        <p:nvCxnSpPr>
          <p:cNvPr id="63" name="Connector 46"/>
          <p:cNvCxnSpPr/>
          <p:nvPr/>
        </p:nvCxnSpPr>
        <p:spPr>
          <a:xfrm>
            <a:off x="3044087" y="3489809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4" name="칸 본문"/>
          <p:cNvSpPr>
            <a:spLocks noGrp="1"/>
          </p:cNvSpPr>
          <p:nvPr>
            <p:ph type="body" sz="quarter" idx="47"/>
          </p:nvPr>
        </p:nvSpPr>
        <p:spPr>
          <a:xfrm>
            <a:off x="4937739" y="3456939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부패인식 74.2 → 90.9점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교육수료자 8.2천명 → 9.5천명</a:t>
            </a:r>
          </a:p>
        </p:txBody>
      </p:sp>
      <p:cxnSp>
        <p:nvCxnSpPr>
          <p:cNvPr id="65" name="Connector 48"/>
          <p:cNvCxnSpPr/>
          <p:nvPr/>
        </p:nvCxnSpPr>
        <p:spPr>
          <a:xfrm>
            <a:off x="4926783" y="3489809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6" name="핵심성과 박스"/>
          <p:cNvSpPr/>
          <p:nvPr/>
        </p:nvSpPr>
        <p:spPr>
          <a:xfrm>
            <a:off x="536870" y="4067843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핵심성과 라벨"/>
          <p:cNvSpPr/>
          <p:nvPr/>
        </p:nvSpPr>
        <p:spPr>
          <a:xfrm>
            <a:off x="569739" y="4100713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8" name="핵심성과 라벨"/>
          <p:cNvSpPr>
            <a:spLocks noGrp="1"/>
          </p:cNvSpPr>
          <p:nvPr>
            <p:ph type="body" sz="quarter" idx="48"/>
          </p:nvPr>
        </p:nvSpPr>
        <p:spPr>
          <a:xfrm>
            <a:off x="569739" y="4100713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69" name="핵심성과 문구"/>
          <p:cNvSpPr>
            <a:spLocks noGrp="1"/>
          </p:cNvSpPr>
          <p:nvPr>
            <p:ph type="body" sz="quarter" idx="49"/>
          </p:nvPr>
        </p:nvSpPr>
        <p:spPr>
          <a:xfrm>
            <a:off x="1314783" y="4089757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공사 최초 권익위 청렴도 1등급 및 신뢰경영지수 역대 최고 득점 달성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이해충돌방지 자율적 내부통제 체계로 ’25년 법 위반 사례 Zero 달성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40 서사 · 추진 전략 → 추진방향 · 과제 → PDCA 실행체계 → 추진기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중장기 인권경영 전략 연계 PDCA 인권존중 추진 Build-up</a:t>
            </a:r>
          </a:p>
        </p:txBody>
      </p:sp>
      <p:sp>
        <p:nvSpPr>
          <p:cNvPr id="14" name="표 외곽"/>
          <p:cNvSpPr/>
          <p:nvPr/>
        </p:nvSpPr>
        <p:spPr>
          <a:xfrm>
            <a:off x="723130" y="1128522"/>
            <a:ext cx="6300000" cy="69573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734087" y="1144957"/>
            <a:ext cx="580696" cy="662870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734087" y="1144957"/>
            <a:ext cx="580696" cy="662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</a:t>
            </a:r>
          </a:p>
        </p:txBody>
      </p:sp>
      <p:sp>
        <p:nvSpPr>
          <p:cNvPr id="17" name="머리칸"/>
          <p:cNvSpPr/>
          <p:nvPr/>
        </p:nvSpPr>
        <p:spPr>
          <a:xfrm>
            <a:off x="1347652" y="116687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8" name="머리칸"/>
          <p:cNvSpPr>
            <a:spLocks noGrp="1"/>
          </p:cNvSpPr>
          <p:nvPr>
            <p:ph type="body" sz="quarter" idx="23"/>
          </p:nvPr>
        </p:nvSpPr>
        <p:spPr>
          <a:xfrm>
            <a:off x="1347652" y="116687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중장기 인권경영 추진 전략(’24.12)</a:t>
            </a:r>
          </a:p>
        </p:txBody>
      </p:sp>
      <p:sp>
        <p:nvSpPr>
          <p:cNvPr id="19" name="머리칸"/>
          <p:cNvSpPr/>
          <p:nvPr/>
        </p:nvSpPr>
        <p:spPr>
          <a:xfrm>
            <a:off x="4171696" y="116687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4171696" y="116687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인권영향평가 결과(’24.12)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5"/>
          </p:nvPr>
        </p:nvSpPr>
        <p:spPr>
          <a:xfrm>
            <a:off x="1358609" y="1407913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인권비전 ‘인권경영을 선도하는 기관’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전략방향 인권경영체계 정비, 피드백 강화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6"/>
          </p:nvPr>
        </p:nvSpPr>
        <p:spPr>
          <a:xfrm>
            <a:off x="4182652" y="1407913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타 기관 대비 높은 수준 인권경영(99.8점)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디지털 전환 대비 개선사항 보완 필요</a:t>
            </a:r>
          </a:p>
        </p:txBody>
      </p:sp>
      <p:cxnSp>
        <p:nvCxnSpPr>
          <p:cNvPr id="23" name="Connector 14"/>
          <p:cNvCxnSpPr/>
          <p:nvPr/>
        </p:nvCxnSpPr>
        <p:spPr>
          <a:xfrm>
            <a:off x="4171696" y="1440783"/>
            <a:ext cx="0" cy="32869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삼각 화살표"/>
          <p:cNvSpPr/>
          <p:nvPr/>
        </p:nvSpPr>
        <p:spPr>
          <a:xfrm>
            <a:off x="4010086" y="1868086"/>
            <a:ext cx="350609" cy="142435"/>
          </a:xfrm>
          <a:custGeom>
            <a:avLst/>
            <a:gdLst/>
            <a:ahLst/>
            <a:cxnLst/>
            <a:rect l="l" t="t" r="r" b="b"/>
            <a:pathLst>
              <a:path w="350609" h="142435">
                <a:moveTo>
                  <a:pt x="0" y="0"/>
                </a:moveTo>
                <a:lnTo>
                  <a:pt x="350609" y="0"/>
                </a:lnTo>
                <a:lnTo>
                  <a:pt x="17530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표 외곽"/>
          <p:cNvSpPr/>
          <p:nvPr/>
        </p:nvSpPr>
        <p:spPr>
          <a:xfrm>
            <a:off x="723130" y="2081739"/>
            <a:ext cx="6300000" cy="195041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레일"/>
          <p:cNvSpPr/>
          <p:nvPr/>
        </p:nvSpPr>
        <p:spPr>
          <a:xfrm>
            <a:off x="734087" y="2098174"/>
            <a:ext cx="580696" cy="6218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7" name="레일"/>
          <p:cNvSpPr>
            <a:spLocks noGrp="1"/>
          </p:cNvSpPr>
          <p:nvPr>
            <p:ph type="body" sz="quarter" idx="27"/>
          </p:nvPr>
        </p:nvSpPr>
        <p:spPr>
          <a:xfrm>
            <a:off x="734087" y="2098174"/>
            <a:ext cx="580696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추진방향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· 과제</a:t>
            </a:r>
          </a:p>
        </p:txBody>
      </p:sp>
      <p:sp>
        <p:nvSpPr>
          <p:cNvPr id="28" name="단계"/>
          <p:cNvSpPr/>
          <p:nvPr/>
        </p:nvSpPr>
        <p:spPr>
          <a:xfrm>
            <a:off x="1347652" y="2120087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9" name="단계"/>
          <p:cNvSpPr>
            <a:spLocks noGrp="1"/>
          </p:cNvSpPr>
          <p:nvPr>
            <p:ph type="body" sz="quarter" idx="28"/>
          </p:nvPr>
        </p:nvSpPr>
        <p:spPr>
          <a:xfrm>
            <a:off x="1347652" y="21200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❶ 다층적 대응체계</a:t>
            </a:r>
          </a:p>
        </p:txBody>
      </p:sp>
      <p:sp>
        <p:nvSpPr>
          <p:cNvPr id="30" name="단계"/>
          <p:cNvSpPr/>
          <p:nvPr/>
        </p:nvSpPr>
        <p:spPr>
          <a:xfrm>
            <a:off x="3230348" y="2120087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1" name="단계"/>
          <p:cNvSpPr>
            <a:spLocks noGrp="1"/>
          </p:cNvSpPr>
          <p:nvPr>
            <p:ph type="body" sz="quarter" idx="29"/>
          </p:nvPr>
        </p:nvSpPr>
        <p:spPr>
          <a:xfrm>
            <a:off x="3230348" y="21200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❷ 인권보호 확대</a:t>
            </a:r>
          </a:p>
        </p:txBody>
      </p:sp>
      <p:sp>
        <p:nvSpPr>
          <p:cNvPr id="32" name="단계"/>
          <p:cNvSpPr/>
          <p:nvPr/>
        </p:nvSpPr>
        <p:spPr>
          <a:xfrm>
            <a:off x="5113043" y="2120087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3" name="단계"/>
          <p:cNvSpPr>
            <a:spLocks noGrp="1"/>
          </p:cNvSpPr>
          <p:nvPr>
            <p:ph type="body" sz="quarter" idx="30"/>
          </p:nvPr>
        </p:nvSpPr>
        <p:spPr>
          <a:xfrm>
            <a:off x="5113043" y="21200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❸ 미래형 인권경영</a:t>
            </a:r>
          </a:p>
        </p:txBody>
      </p:sp>
      <p:sp>
        <p:nvSpPr>
          <p:cNvPr id="34" name="단계 삼각형"/>
          <p:cNvSpPr/>
          <p:nvPr/>
        </p:nvSpPr>
        <p:spPr>
          <a:xfrm>
            <a:off x="3230347" y="212008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단계 삼각형"/>
          <p:cNvSpPr/>
          <p:nvPr/>
        </p:nvSpPr>
        <p:spPr>
          <a:xfrm>
            <a:off x="5113043" y="212008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칸 본문"/>
          <p:cNvSpPr>
            <a:spLocks noGrp="1"/>
          </p:cNvSpPr>
          <p:nvPr>
            <p:ph type="body" sz="quarter" idx="31"/>
          </p:nvPr>
        </p:nvSpPr>
        <p:spPr>
          <a:xfrm>
            <a:off x="1358609" y="2372087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위험징후 초기 예방관리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상시 점검체계 마련</a:t>
            </a:r>
          </a:p>
        </p:txBody>
      </p:sp>
      <p:sp>
        <p:nvSpPr>
          <p:cNvPr id="37" name="칸 본문"/>
          <p:cNvSpPr>
            <a:spLocks noGrp="1"/>
          </p:cNvSpPr>
          <p:nvPr>
            <p:ph type="body" sz="quarter" idx="32"/>
          </p:nvPr>
        </p:nvSpPr>
        <p:spPr>
          <a:xfrm>
            <a:off x="3241304" y="2372087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국제 인권환경실사 대응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공급망 인권보호 추진</a:t>
            </a:r>
          </a:p>
        </p:txBody>
      </p:sp>
      <p:cxnSp>
        <p:nvCxnSpPr>
          <p:cNvPr id="38" name="Connector 25"/>
          <p:cNvCxnSpPr/>
          <p:nvPr/>
        </p:nvCxnSpPr>
        <p:spPr>
          <a:xfrm>
            <a:off x="3230348" y="2404957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칸 본문"/>
          <p:cNvSpPr>
            <a:spLocks noGrp="1"/>
          </p:cNvSpPr>
          <p:nvPr>
            <p:ph type="body" sz="quarter" idx="33"/>
          </p:nvPr>
        </p:nvSpPr>
        <p:spPr>
          <a:xfrm>
            <a:off x="5124000" y="2372087"/>
            <a:ext cx="1860783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 기반 AI 활용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인권 리스크 관리</a:t>
            </a:r>
          </a:p>
        </p:txBody>
      </p:sp>
      <p:cxnSp>
        <p:nvCxnSpPr>
          <p:cNvPr id="40" name="Connector 27"/>
          <p:cNvCxnSpPr/>
          <p:nvPr/>
        </p:nvCxnSpPr>
        <p:spPr>
          <a:xfrm>
            <a:off x="5113043" y="2404957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레일"/>
          <p:cNvSpPr/>
          <p:nvPr/>
        </p:nvSpPr>
        <p:spPr>
          <a:xfrm>
            <a:off x="734087" y="2736470"/>
            <a:ext cx="580696" cy="62186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2" name="레일"/>
          <p:cNvSpPr>
            <a:spLocks noGrp="1"/>
          </p:cNvSpPr>
          <p:nvPr>
            <p:ph type="body" sz="quarter" idx="34"/>
          </p:nvPr>
        </p:nvSpPr>
        <p:spPr>
          <a:xfrm>
            <a:off x="734087" y="2736470"/>
            <a:ext cx="580696" cy="6218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실행체계</a:t>
            </a:r>
          </a:p>
        </p:txBody>
      </p:sp>
      <p:sp>
        <p:nvSpPr>
          <p:cNvPr id="43" name="레일 삼각형"/>
          <p:cNvSpPr/>
          <p:nvPr/>
        </p:nvSpPr>
        <p:spPr>
          <a:xfrm>
            <a:off x="734086" y="2736469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단계"/>
          <p:cNvSpPr/>
          <p:nvPr/>
        </p:nvSpPr>
        <p:spPr>
          <a:xfrm>
            <a:off x="1347652" y="2758383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5" name="단계"/>
          <p:cNvSpPr>
            <a:spLocks noGrp="1"/>
          </p:cNvSpPr>
          <p:nvPr>
            <p:ph type="body" sz="quarter" idx="35"/>
          </p:nvPr>
        </p:nvSpPr>
        <p:spPr>
          <a:xfrm>
            <a:off x="1347652" y="2758383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P 인권경영계획</a:t>
            </a:r>
          </a:p>
        </p:txBody>
      </p:sp>
      <p:sp>
        <p:nvSpPr>
          <p:cNvPr id="46" name="단계"/>
          <p:cNvSpPr/>
          <p:nvPr/>
        </p:nvSpPr>
        <p:spPr>
          <a:xfrm>
            <a:off x="2759674" y="2758383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7" name="단계"/>
          <p:cNvSpPr>
            <a:spLocks noGrp="1"/>
          </p:cNvSpPr>
          <p:nvPr>
            <p:ph type="body" sz="quarter" idx="36"/>
          </p:nvPr>
        </p:nvSpPr>
        <p:spPr>
          <a:xfrm>
            <a:off x="2759674" y="2758383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D 인권경영이행</a:t>
            </a:r>
          </a:p>
        </p:txBody>
      </p:sp>
      <p:sp>
        <p:nvSpPr>
          <p:cNvPr id="48" name="단계"/>
          <p:cNvSpPr/>
          <p:nvPr/>
        </p:nvSpPr>
        <p:spPr>
          <a:xfrm>
            <a:off x="4171696" y="2758383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9" name="단계"/>
          <p:cNvSpPr>
            <a:spLocks noGrp="1"/>
          </p:cNvSpPr>
          <p:nvPr>
            <p:ph type="body" sz="quarter" idx="37"/>
          </p:nvPr>
        </p:nvSpPr>
        <p:spPr>
          <a:xfrm>
            <a:off x="4171696" y="2758383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C 모니터링·평가</a:t>
            </a:r>
          </a:p>
        </p:txBody>
      </p:sp>
      <p:sp>
        <p:nvSpPr>
          <p:cNvPr id="50" name="단계"/>
          <p:cNvSpPr/>
          <p:nvPr/>
        </p:nvSpPr>
        <p:spPr>
          <a:xfrm>
            <a:off x="5583717" y="2758383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1" name="단계"/>
          <p:cNvSpPr>
            <a:spLocks noGrp="1"/>
          </p:cNvSpPr>
          <p:nvPr>
            <p:ph type="body" sz="quarter" idx="38"/>
          </p:nvPr>
        </p:nvSpPr>
        <p:spPr>
          <a:xfrm>
            <a:off x="5583717" y="2758383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A 침해 구제 개선</a:t>
            </a:r>
          </a:p>
        </p:txBody>
      </p:sp>
      <p:sp>
        <p:nvSpPr>
          <p:cNvPr id="52" name="단계 삼각형"/>
          <p:cNvSpPr/>
          <p:nvPr/>
        </p:nvSpPr>
        <p:spPr>
          <a:xfrm>
            <a:off x="2759673" y="2758382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단계 삼각형"/>
          <p:cNvSpPr/>
          <p:nvPr/>
        </p:nvSpPr>
        <p:spPr>
          <a:xfrm>
            <a:off x="4171695" y="2758382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단계 삼각형"/>
          <p:cNvSpPr/>
          <p:nvPr/>
        </p:nvSpPr>
        <p:spPr>
          <a:xfrm>
            <a:off x="5583717" y="2758382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칸 본문"/>
          <p:cNvSpPr>
            <a:spLocks noGrp="1"/>
          </p:cNvSpPr>
          <p:nvPr>
            <p:ph type="body" sz="quarter" idx="39"/>
          </p:nvPr>
        </p:nvSpPr>
        <p:spPr>
          <a:xfrm>
            <a:off x="1358609" y="3010383"/>
            <a:ext cx="1390109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목표 및 기본방향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 리스크 관리체계</a:t>
            </a:r>
          </a:p>
        </p:txBody>
      </p:sp>
      <p:sp>
        <p:nvSpPr>
          <p:cNvPr id="56" name="칸 본문"/>
          <p:cNvSpPr>
            <a:spLocks noGrp="1"/>
          </p:cNvSpPr>
          <p:nvPr>
            <p:ph type="body" sz="quarter" idx="40"/>
          </p:nvPr>
        </p:nvSpPr>
        <p:spPr>
          <a:xfrm>
            <a:off x="2770630" y="3010383"/>
            <a:ext cx="1390109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인권교육·캠페인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이해관계자 보호</a:t>
            </a:r>
          </a:p>
        </p:txBody>
      </p:sp>
      <p:cxnSp>
        <p:nvCxnSpPr>
          <p:cNvPr id="57" name="Connector 39"/>
          <p:cNvCxnSpPr/>
          <p:nvPr/>
        </p:nvCxnSpPr>
        <p:spPr>
          <a:xfrm>
            <a:off x="2759674" y="3043252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8" name="칸 본문"/>
          <p:cNvSpPr>
            <a:spLocks noGrp="1"/>
          </p:cNvSpPr>
          <p:nvPr>
            <p:ph type="body" sz="quarter" idx="41"/>
          </p:nvPr>
        </p:nvSpPr>
        <p:spPr>
          <a:xfrm>
            <a:off x="4182652" y="3010383"/>
            <a:ext cx="1390109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인권영향평가(’25.11)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인권경영지수 등</a:t>
            </a:r>
          </a:p>
        </p:txBody>
      </p:sp>
      <p:cxnSp>
        <p:nvCxnSpPr>
          <p:cNvPr id="59" name="Connector 41"/>
          <p:cNvCxnSpPr/>
          <p:nvPr/>
        </p:nvCxnSpPr>
        <p:spPr>
          <a:xfrm>
            <a:off x="4171696" y="3043252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0" name="칸 본문"/>
          <p:cNvSpPr>
            <a:spLocks noGrp="1"/>
          </p:cNvSpPr>
          <p:nvPr>
            <p:ph type="body" sz="quarter" idx="42"/>
          </p:nvPr>
        </p:nvSpPr>
        <p:spPr>
          <a:xfrm>
            <a:off x="5594674" y="3010383"/>
            <a:ext cx="1390109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구제 절차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개선이행, 정보공개</a:t>
            </a:r>
          </a:p>
        </p:txBody>
      </p:sp>
      <p:cxnSp>
        <p:nvCxnSpPr>
          <p:cNvPr id="61" name="Connector 43"/>
          <p:cNvCxnSpPr/>
          <p:nvPr/>
        </p:nvCxnSpPr>
        <p:spPr>
          <a:xfrm>
            <a:off x="5583717" y="3043252"/>
            <a:ext cx="0" cy="2767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2" name="레일"/>
          <p:cNvSpPr/>
          <p:nvPr/>
        </p:nvSpPr>
        <p:spPr>
          <a:xfrm>
            <a:off x="734087" y="3374765"/>
            <a:ext cx="580696" cy="64095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3" name="레일"/>
          <p:cNvSpPr>
            <a:spLocks noGrp="1"/>
          </p:cNvSpPr>
          <p:nvPr>
            <p:ph type="body" sz="quarter" idx="43"/>
          </p:nvPr>
        </p:nvSpPr>
        <p:spPr>
          <a:xfrm>
            <a:off x="734087" y="3374765"/>
            <a:ext cx="580696" cy="64095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추진기반</a:t>
            </a:r>
          </a:p>
        </p:txBody>
      </p:sp>
      <p:sp>
        <p:nvSpPr>
          <p:cNvPr id="64" name="레일 삼각형"/>
          <p:cNvSpPr/>
          <p:nvPr/>
        </p:nvSpPr>
        <p:spPr>
          <a:xfrm>
            <a:off x="734086" y="3374765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태그"/>
          <p:cNvSpPr/>
          <p:nvPr/>
        </p:nvSpPr>
        <p:spPr>
          <a:xfrm>
            <a:off x="1347652" y="3418591"/>
            <a:ext cx="581509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6" name="태그"/>
          <p:cNvSpPr>
            <a:spLocks noGrp="1"/>
          </p:cNvSpPr>
          <p:nvPr>
            <p:ph type="body" sz="quarter" idx="44"/>
          </p:nvPr>
        </p:nvSpPr>
        <p:spPr>
          <a:xfrm>
            <a:off x="1347652" y="3418591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정책기구</a:t>
            </a:r>
          </a:p>
        </p:txBody>
      </p:sp>
      <p:sp>
        <p:nvSpPr>
          <p:cNvPr id="67" name="태그 설명"/>
          <p:cNvSpPr>
            <a:spLocks noGrp="1"/>
          </p:cNvSpPr>
          <p:nvPr>
            <p:ph type="body" sz="quarter" idx="45"/>
          </p:nvPr>
        </p:nvSpPr>
        <p:spPr>
          <a:xfrm>
            <a:off x="1972988" y="3407635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인권경영위원회 · 권익보호위원회</a:t>
            </a:r>
          </a:p>
        </p:txBody>
      </p:sp>
      <p:sp>
        <p:nvSpPr>
          <p:cNvPr id="68" name="태그"/>
          <p:cNvSpPr/>
          <p:nvPr/>
        </p:nvSpPr>
        <p:spPr>
          <a:xfrm>
            <a:off x="1347652" y="3615809"/>
            <a:ext cx="581509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9" name="태그"/>
          <p:cNvSpPr>
            <a:spLocks noGrp="1"/>
          </p:cNvSpPr>
          <p:nvPr>
            <p:ph type="body" sz="quarter" idx="46"/>
          </p:nvPr>
        </p:nvSpPr>
        <p:spPr>
          <a:xfrm>
            <a:off x="1347652" y="3615809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실행조직</a:t>
            </a:r>
          </a:p>
        </p:txBody>
      </p:sp>
      <p:sp>
        <p:nvSpPr>
          <p:cNvPr id="70" name="태그 설명"/>
          <p:cNvSpPr>
            <a:spLocks noGrp="1"/>
          </p:cNvSpPr>
          <p:nvPr>
            <p:ph type="body" sz="quarter" idx="47"/>
          </p:nvPr>
        </p:nvSpPr>
        <p:spPr>
          <a:xfrm>
            <a:off x="1972988" y="3604852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전담부서, 권익보호센터 · 안심케어센터(신규)</a:t>
            </a:r>
          </a:p>
        </p:txBody>
      </p:sp>
      <p:sp>
        <p:nvSpPr>
          <p:cNvPr id="71" name="태그"/>
          <p:cNvSpPr/>
          <p:nvPr/>
        </p:nvSpPr>
        <p:spPr>
          <a:xfrm>
            <a:off x="1347652" y="3813026"/>
            <a:ext cx="581509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2" name="태그"/>
          <p:cNvSpPr>
            <a:spLocks noGrp="1"/>
          </p:cNvSpPr>
          <p:nvPr>
            <p:ph type="body" sz="quarter" idx="48"/>
          </p:nvPr>
        </p:nvSpPr>
        <p:spPr>
          <a:xfrm>
            <a:off x="1347652" y="3813026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신고소통</a:t>
            </a:r>
          </a:p>
        </p:txBody>
      </p:sp>
      <p:sp>
        <p:nvSpPr>
          <p:cNvPr id="73" name="태그 설명"/>
          <p:cNvSpPr>
            <a:spLocks noGrp="1"/>
          </p:cNvSpPr>
          <p:nvPr>
            <p:ph type="body" sz="quarter" idx="49"/>
          </p:nvPr>
        </p:nvSpPr>
        <p:spPr>
          <a:xfrm>
            <a:off x="1972988" y="3802070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권익보호포털, 인권침해 실태조사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41 서사 · 취약사항 → 개선방향(예방·조치·사후관리) → 추진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다양한 이해관계자를 아우르는 포용적 인권경영 실현</a:t>
            </a:r>
          </a:p>
        </p:txBody>
      </p:sp>
      <p:sp>
        <p:nvSpPr>
          <p:cNvPr id="15" name="형광 밑줄"/>
          <p:cNvSpPr/>
          <p:nvPr/>
        </p:nvSpPr>
        <p:spPr>
          <a:xfrm>
            <a:off x="536870" y="1347652"/>
            <a:ext cx="4068245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소제목"/>
          <p:cNvSpPr>
            <a:spLocks noGrp="1"/>
          </p:cNvSpPr>
          <p:nvPr>
            <p:ph type="body" sz="quarter" idx="22"/>
          </p:nvPr>
        </p:nvSpPr>
        <p:spPr>
          <a:xfrm>
            <a:off x="536870" y="1194261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직원 신뢰가 최우선, 사전예방부터 사후지원까지 한층 더 강력하게</a:t>
            </a:r>
          </a:p>
        </p:txBody>
      </p:sp>
      <p:sp>
        <p:nvSpPr>
          <p:cNvPr id="17" name="태그칩"/>
          <p:cNvSpPr/>
          <p:nvPr/>
        </p:nvSpPr>
        <p:spPr>
          <a:xfrm>
            <a:off x="4703723" y="1227130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태그칩"/>
          <p:cNvSpPr>
            <a:spLocks noGrp="1"/>
          </p:cNvSpPr>
          <p:nvPr>
            <p:ph type="body" sz="quarter" idx="23"/>
          </p:nvPr>
        </p:nvSpPr>
        <p:spPr>
          <a:xfrm>
            <a:off x="4703723" y="1227130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9" name="태그칩"/>
          <p:cNvSpPr/>
          <p:nvPr/>
        </p:nvSpPr>
        <p:spPr>
          <a:xfrm>
            <a:off x="5254844" y="1227130"/>
            <a:ext cx="726832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태그칩"/>
          <p:cNvSpPr>
            <a:spLocks noGrp="1"/>
          </p:cNvSpPr>
          <p:nvPr>
            <p:ph type="body" sz="quarter" idx="24"/>
          </p:nvPr>
        </p:nvSpPr>
        <p:spPr>
          <a:xfrm>
            <a:off x="5254844" y="1227130"/>
            <a:ext cx="726832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평가지적</a:t>
            </a:r>
          </a:p>
        </p:txBody>
      </p:sp>
      <p:sp>
        <p:nvSpPr>
          <p:cNvPr id="21" name="표 외곽"/>
          <p:cNvSpPr/>
          <p:nvPr/>
        </p:nvSpPr>
        <p:spPr>
          <a:xfrm>
            <a:off x="536870" y="1479130"/>
            <a:ext cx="6300000" cy="147521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"/>
          <p:cNvSpPr/>
          <p:nvPr/>
        </p:nvSpPr>
        <p:spPr>
          <a:xfrm>
            <a:off x="547826" y="1495565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1495565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취 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 항</a:t>
            </a:r>
          </a:p>
        </p:txBody>
      </p:sp>
      <p:sp>
        <p:nvSpPr>
          <p:cNvPr id="24" name="배너"/>
          <p:cNvSpPr/>
          <p:nvPr/>
        </p:nvSpPr>
        <p:spPr>
          <a:xfrm>
            <a:off x="1161391" y="1517478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5" name="배너"/>
          <p:cNvSpPr>
            <a:spLocks noGrp="1"/>
          </p:cNvSpPr>
          <p:nvPr>
            <p:ph type="body" sz="quarter" idx="26"/>
          </p:nvPr>
        </p:nvSpPr>
        <p:spPr>
          <a:xfrm>
            <a:off x="1161391" y="1517478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구조적 인권침해 방지 환경·제도 구축 필요(’24년 평가단)</a:t>
            </a:r>
          </a:p>
        </p:txBody>
      </p:sp>
      <p:sp>
        <p:nvSpPr>
          <p:cNvPr id="26" name="레일"/>
          <p:cNvSpPr/>
          <p:nvPr/>
        </p:nvSpPr>
        <p:spPr>
          <a:xfrm>
            <a:off x="547826" y="1920209"/>
            <a:ext cx="580696" cy="1017704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7" name="레일"/>
          <p:cNvSpPr>
            <a:spLocks noGrp="1"/>
          </p:cNvSpPr>
          <p:nvPr>
            <p:ph type="body" sz="quarter" idx="27"/>
          </p:nvPr>
        </p:nvSpPr>
        <p:spPr>
          <a:xfrm>
            <a:off x="547826" y="1920209"/>
            <a:ext cx="580696" cy="10177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 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활 동</a:t>
            </a:r>
          </a:p>
        </p:txBody>
      </p:sp>
      <p:sp>
        <p:nvSpPr>
          <p:cNvPr id="28" name="레일 삼각형"/>
          <p:cNvSpPr/>
          <p:nvPr/>
        </p:nvSpPr>
        <p:spPr>
          <a:xfrm>
            <a:off x="547826" y="1920208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배너"/>
          <p:cNvSpPr/>
          <p:nvPr/>
        </p:nvSpPr>
        <p:spPr>
          <a:xfrm>
            <a:off x="1161391" y="1942122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0" name="배너"/>
          <p:cNvSpPr>
            <a:spLocks noGrp="1"/>
          </p:cNvSpPr>
          <p:nvPr>
            <p:ph type="body" sz="quarter" idx="28"/>
          </p:nvPr>
        </p:nvSpPr>
        <p:spPr>
          <a:xfrm>
            <a:off x="1161391" y="1942122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다층적 대응체계 강화로 발전된 인권경영 수행</a:t>
            </a:r>
          </a:p>
        </p:txBody>
      </p:sp>
      <p:sp>
        <p:nvSpPr>
          <p:cNvPr id="31" name="단계"/>
          <p:cNvSpPr/>
          <p:nvPr/>
        </p:nvSpPr>
        <p:spPr>
          <a:xfrm>
            <a:off x="1161391" y="2177687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2" name="단계"/>
          <p:cNvSpPr>
            <a:spLocks noGrp="1"/>
          </p:cNvSpPr>
          <p:nvPr>
            <p:ph type="body" sz="quarter" idx="29"/>
          </p:nvPr>
        </p:nvSpPr>
        <p:spPr>
          <a:xfrm>
            <a:off x="1161391" y="21776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예방 사전예방적 관리 강화</a:t>
            </a:r>
          </a:p>
        </p:txBody>
      </p:sp>
      <p:sp>
        <p:nvSpPr>
          <p:cNvPr id="33" name="단계"/>
          <p:cNvSpPr/>
          <p:nvPr/>
        </p:nvSpPr>
        <p:spPr>
          <a:xfrm>
            <a:off x="3044087" y="2177687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4" name="단계"/>
          <p:cNvSpPr>
            <a:spLocks noGrp="1"/>
          </p:cNvSpPr>
          <p:nvPr>
            <p:ph type="body" sz="quarter" idx="30"/>
          </p:nvPr>
        </p:nvSpPr>
        <p:spPr>
          <a:xfrm>
            <a:off x="3044087" y="21776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조치 신속·무관용 처분</a:t>
            </a:r>
          </a:p>
        </p:txBody>
      </p:sp>
      <p:sp>
        <p:nvSpPr>
          <p:cNvPr id="35" name="단계"/>
          <p:cNvSpPr/>
          <p:nvPr/>
        </p:nvSpPr>
        <p:spPr>
          <a:xfrm>
            <a:off x="4926783" y="2177687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6" name="단계"/>
          <p:cNvSpPr>
            <a:spLocks noGrp="1"/>
          </p:cNvSpPr>
          <p:nvPr>
            <p:ph type="body" sz="quarter" idx="31"/>
          </p:nvPr>
        </p:nvSpPr>
        <p:spPr>
          <a:xfrm>
            <a:off x="4926783" y="217768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사후관리 보호체계 고도화</a:t>
            </a:r>
          </a:p>
        </p:txBody>
      </p:sp>
      <p:sp>
        <p:nvSpPr>
          <p:cNvPr id="37" name="단계 삼각형"/>
          <p:cNvSpPr/>
          <p:nvPr/>
        </p:nvSpPr>
        <p:spPr>
          <a:xfrm>
            <a:off x="3044086" y="217768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단계 삼각형"/>
          <p:cNvSpPr/>
          <p:nvPr/>
        </p:nvSpPr>
        <p:spPr>
          <a:xfrm>
            <a:off x="4926782" y="217768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칸 본문"/>
          <p:cNvSpPr>
            <a:spLocks noGrp="1"/>
          </p:cNvSpPr>
          <p:nvPr>
            <p:ph type="body" sz="quarter" idx="32"/>
          </p:nvPr>
        </p:nvSpPr>
        <p:spPr>
          <a:xfrm>
            <a:off x="1172348" y="2429687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찾아가는 참여형 교육(19회)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전사 모니터링 체계 구축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권익침해 자가진단</a:t>
            </a:r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3"/>
          </p:nvPr>
        </p:nvSpPr>
        <p:spPr>
          <a:xfrm>
            <a:off x="3055043" y="2429687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성비위·괴롭힘 대응절차 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처리기간 37% 단축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징계양정기준 개정</a:t>
            </a:r>
          </a:p>
        </p:txBody>
      </p:sp>
      <p:cxnSp>
        <p:nvCxnSpPr>
          <p:cNvPr id="41" name="Connector 28"/>
          <p:cNvCxnSpPr/>
          <p:nvPr/>
        </p:nvCxnSpPr>
        <p:spPr>
          <a:xfrm>
            <a:off x="3044087" y="2462557"/>
            <a:ext cx="0" cy="43700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2" name="칸 본문"/>
          <p:cNvSpPr>
            <a:spLocks noGrp="1"/>
          </p:cNvSpPr>
          <p:nvPr>
            <p:ph type="body" sz="quarter" idx="34"/>
          </p:nvPr>
        </p:nvSpPr>
        <p:spPr>
          <a:xfrm>
            <a:off x="4937739" y="2429687"/>
            <a:ext cx="1860783" cy="5027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안심케어센터 신설로 사고 직원 토탈케어 제공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피해자 PTSD EAP 지원</a:t>
            </a:r>
          </a:p>
        </p:txBody>
      </p:sp>
      <p:cxnSp>
        <p:nvCxnSpPr>
          <p:cNvPr id="43" name="Connector 30"/>
          <p:cNvCxnSpPr/>
          <p:nvPr/>
        </p:nvCxnSpPr>
        <p:spPr>
          <a:xfrm>
            <a:off x="4926783" y="2462557"/>
            <a:ext cx="0" cy="43700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4" name="핵심성과 박스"/>
          <p:cNvSpPr/>
          <p:nvPr/>
        </p:nvSpPr>
        <p:spPr>
          <a:xfrm>
            <a:off x="536870" y="3042000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핵심성과 라벨"/>
          <p:cNvSpPr/>
          <p:nvPr/>
        </p:nvSpPr>
        <p:spPr>
          <a:xfrm>
            <a:off x="569739" y="3074870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46" name="핵심성과 라벨"/>
          <p:cNvSpPr>
            <a:spLocks noGrp="1"/>
          </p:cNvSpPr>
          <p:nvPr>
            <p:ph type="body" sz="quarter" idx="35"/>
          </p:nvPr>
        </p:nvSpPr>
        <p:spPr>
          <a:xfrm>
            <a:off x="569739" y="3074870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7" name="핵심성과 문구"/>
          <p:cNvSpPr>
            <a:spLocks noGrp="1"/>
          </p:cNvSpPr>
          <p:nvPr>
            <p:ph type="body" sz="quarter" idx="36"/>
          </p:nvPr>
        </p:nvSpPr>
        <p:spPr>
          <a:xfrm>
            <a:off x="1314783" y="3063913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’25년 신뢰경영지수 ‘믿음’, ‘존중’ 역대 최고점 달성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권익위 내부체감도 ‘갑질행위’ 지표 대폭 개선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42 서사 · 추진배경 → 네 방향 지원(십자 패널) → 추진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931304"/>
            <a:ext cx="4262851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고객-파트너-국민까지 모두 아우르는 공급망 인권경영 가치사슬 확대</a:t>
            </a:r>
          </a:p>
        </p:txBody>
      </p:sp>
      <p:sp>
        <p:nvSpPr>
          <p:cNvPr id="11" name="태그칩"/>
          <p:cNvSpPr/>
          <p:nvPr/>
        </p:nvSpPr>
        <p:spPr>
          <a:xfrm>
            <a:off x="5084590" y="810783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태그칩"/>
          <p:cNvSpPr>
            <a:spLocks noGrp="1"/>
          </p:cNvSpPr>
          <p:nvPr>
            <p:ph type="body" sz="quarter" idx="21"/>
          </p:nvPr>
        </p:nvSpPr>
        <p:spPr>
          <a:xfrm>
            <a:off x="5084590" y="810783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3" name="태그칩"/>
          <p:cNvSpPr/>
          <p:nvPr/>
        </p:nvSpPr>
        <p:spPr>
          <a:xfrm>
            <a:off x="5635711" y="810783"/>
            <a:ext cx="483604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4" name="태그칩"/>
          <p:cNvSpPr>
            <a:spLocks noGrp="1"/>
          </p:cNvSpPr>
          <p:nvPr>
            <p:ph type="body" sz="quarter" idx="22"/>
          </p:nvPr>
        </p:nvSpPr>
        <p:spPr>
          <a:xfrm>
            <a:off x="5635711" y="810783"/>
            <a:ext cx="483604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15" name="표 외곽"/>
          <p:cNvSpPr/>
          <p:nvPr/>
        </p:nvSpPr>
        <p:spPr>
          <a:xfrm>
            <a:off x="723130" y="1062783"/>
            <a:ext cx="6300000" cy="44107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레일"/>
          <p:cNvSpPr/>
          <p:nvPr/>
        </p:nvSpPr>
        <p:spPr>
          <a:xfrm>
            <a:off x="734087" y="1079217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레일"/>
          <p:cNvSpPr>
            <a:spLocks noGrp="1"/>
          </p:cNvSpPr>
          <p:nvPr>
            <p:ph type="body" sz="quarter" idx="23"/>
          </p:nvPr>
        </p:nvSpPr>
        <p:spPr>
          <a:xfrm>
            <a:off x="734087" y="1079217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24"/>
          </p:nvPr>
        </p:nvSpPr>
        <p:spPr>
          <a:xfrm>
            <a:off x="1358609" y="1101130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기업 공급망 인권·환경보호법 발의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인권영향평가 환경권 등 인권존중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25"/>
          </p:nvPr>
        </p:nvSpPr>
        <p:spPr>
          <a:xfrm>
            <a:off x="4182652" y="1101130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이해관계자, 공급망까지 인권영향 관리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 현안 포함 부정적 인권영향 방지 확대</a:t>
            </a:r>
          </a:p>
        </p:txBody>
      </p:sp>
      <p:cxnSp>
        <p:nvCxnSpPr>
          <p:cNvPr id="20" name="Connector 11"/>
          <p:cNvCxnSpPr/>
          <p:nvPr/>
        </p:nvCxnSpPr>
        <p:spPr>
          <a:xfrm>
            <a:off x="4171696" y="1134000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1" name="위 머리"/>
          <p:cNvSpPr/>
          <p:nvPr/>
        </p:nvSpPr>
        <p:spPr>
          <a:xfrm>
            <a:off x="723130" y="1569600"/>
            <a:ext cx="3040435" cy="26295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태그"/>
          <p:cNvSpPr/>
          <p:nvPr/>
        </p:nvSpPr>
        <p:spPr>
          <a:xfrm>
            <a:off x="788870" y="1613426"/>
            <a:ext cx="329103" cy="1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3" name="태그"/>
          <p:cNvSpPr>
            <a:spLocks noGrp="1"/>
          </p:cNvSpPr>
          <p:nvPr>
            <p:ph type="body" sz="quarter" idx="26"/>
          </p:nvPr>
        </p:nvSpPr>
        <p:spPr>
          <a:xfrm>
            <a:off x="788870" y="1613426"/>
            <a:ext cx="329103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고객</a:t>
            </a:r>
          </a:p>
        </p:txBody>
      </p:sp>
      <p:sp>
        <p:nvSpPr>
          <p:cNvPr id="24" name="위 머리 글"/>
          <p:cNvSpPr>
            <a:spLocks noGrp="1"/>
          </p:cNvSpPr>
          <p:nvPr>
            <p:ph type="body" sz="quarter" idx="27"/>
          </p:nvPr>
        </p:nvSpPr>
        <p:spPr>
          <a:xfrm>
            <a:off x="1150842" y="1569600"/>
            <a:ext cx="2557941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존중받을 권리</a:t>
            </a:r>
          </a:p>
        </p:txBody>
      </p:sp>
      <p:sp>
        <p:nvSpPr>
          <p:cNvPr id="25" name="위 머리"/>
          <p:cNvSpPr/>
          <p:nvPr/>
        </p:nvSpPr>
        <p:spPr>
          <a:xfrm>
            <a:off x="3982696" y="1569600"/>
            <a:ext cx="3040435" cy="26295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태그"/>
          <p:cNvSpPr/>
          <p:nvPr/>
        </p:nvSpPr>
        <p:spPr>
          <a:xfrm>
            <a:off x="4048435" y="1613426"/>
            <a:ext cx="438871" cy="1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7" name="태그"/>
          <p:cNvSpPr>
            <a:spLocks noGrp="1"/>
          </p:cNvSpPr>
          <p:nvPr>
            <p:ph type="body" sz="quarter" idx="28"/>
          </p:nvPr>
        </p:nvSpPr>
        <p:spPr>
          <a:xfrm>
            <a:off x="4048435" y="1613426"/>
            <a:ext cx="43887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자회사</a:t>
            </a:r>
          </a:p>
        </p:txBody>
      </p:sp>
      <p:sp>
        <p:nvSpPr>
          <p:cNvPr id="28" name="위 머리 글"/>
          <p:cNvSpPr>
            <a:spLocks noGrp="1"/>
          </p:cNvSpPr>
          <p:nvPr>
            <p:ph type="body" sz="quarter" idx="29"/>
          </p:nvPr>
        </p:nvSpPr>
        <p:spPr>
          <a:xfrm>
            <a:off x="4520176" y="1569600"/>
            <a:ext cx="2448172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인권친화경영 지원</a:t>
            </a:r>
          </a:p>
        </p:txBody>
      </p:sp>
      <p:sp>
        <p:nvSpPr>
          <p:cNvPr id="29" name="본문"/>
          <p:cNvSpPr>
            <a:spLocks noGrp="1"/>
          </p:cNvSpPr>
          <p:nvPr>
            <p:ph type="body" sz="quarter" idx="30"/>
          </p:nvPr>
        </p:nvSpPr>
        <p:spPr>
          <a:xfrm>
            <a:off x="723130" y="1865426"/>
            <a:ext cx="3040435" cy="821739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영세규모 고객 매뉴얼·양식 표준화로 편의성 향상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보상고객 전담 창구, 고객 케어 운영으로 만족도 향상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민원창구 내 보상전담반, 단계별 알림</a:t>
            </a:r>
          </a:p>
        </p:txBody>
      </p:sp>
      <p:sp>
        <p:nvSpPr>
          <p:cNvPr id="30" name="본문"/>
          <p:cNvSpPr>
            <a:spLocks noGrp="1"/>
          </p:cNvSpPr>
          <p:nvPr>
            <p:ph type="body" sz="quarter" idx="31"/>
          </p:nvPr>
        </p:nvSpPr>
        <p:spPr>
          <a:xfrm>
            <a:off x="3982696" y="1865426"/>
            <a:ext cx="3040435" cy="821739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자회사 안전·행복 일터 조성 지원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인권보호노력 평가지표 신설로 인권경영 유인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조직문화 개선 노력, 청렴도 조사 결과 반영</a:t>
            </a:r>
          </a:p>
        </p:txBody>
      </p:sp>
      <p:sp>
        <p:nvSpPr>
          <p:cNvPr id="31" name="본문"/>
          <p:cNvSpPr>
            <a:spLocks noGrp="1"/>
          </p:cNvSpPr>
          <p:nvPr>
            <p:ph type="body" sz="quarter" idx="32"/>
          </p:nvPr>
        </p:nvSpPr>
        <p:spPr>
          <a:xfrm>
            <a:off x="723130" y="2851513"/>
            <a:ext cx="3040435" cy="821739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초대형 산불 대응지원 서비스로 골든타임 확보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화재대응 댐 용수방류 + 충수시설 정보제공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강릉 가뭄 선제적 수처리 확보</a:t>
            </a:r>
          </a:p>
        </p:txBody>
      </p:sp>
      <p:sp>
        <p:nvSpPr>
          <p:cNvPr id="32" name="본문"/>
          <p:cNvSpPr>
            <a:spLocks noGrp="1"/>
          </p:cNvSpPr>
          <p:nvPr>
            <p:ph type="body" sz="quarter" idx="33"/>
          </p:nvPr>
        </p:nvSpPr>
        <p:spPr>
          <a:xfrm>
            <a:off x="3982696" y="2851513"/>
            <a:ext cx="3040435" cy="821739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폭염 회피 이동형 휴게시설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 폭염 대비 물품 제공(1.5억원)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간편신고 등 작업중지제 활성화(132건)</a:t>
            </a:r>
          </a:p>
        </p:txBody>
      </p:sp>
      <p:sp>
        <p:nvSpPr>
          <p:cNvPr id="33" name="가운데 띠"/>
          <p:cNvSpPr/>
          <p:nvPr/>
        </p:nvSpPr>
        <p:spPr>
          <a:xfrm>
            <a:off x="723130" y="2752904"/>
            <a:ext cx="6300000" cy="4382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아이콘 칸"/>
          <p:cNvSpPr/>
          <p:nvPr/>
        </p:nvSpPr>
        <p:spPr>
          <a:xfrm>
            <a:off x="3686870" y="2643339"/>
            <a:ext cx="372522" cy="306783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/>
        </p:txBody>
      </p:sp>
      <p:sp>
        <p:nvSpPr>
          <p:cNvPr id="35" name="아이콘 칸"/>
          <p:cNvSpPr>
            <a:spLocks noGrp="1"/>
          </p:cNvSpPr>
          <p:nvPr>
            <p:ph type="body" sz="quarter" idx="34"/>
          </p:nvPr>
        </p:nvSpPr>
        <p:spPr>
          <a:xfrm>
            <a:off x="3686870" y="2643339"/>
            <a:ext cx="372522" cy="3067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3600" rIns="3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아이콘</a:t>
            </a:r>
          </a:p>
        </p:txBody>
      </p:sp>
      <p:sp>
        <p:nvSpPr>
          <p:cNvPr id="36" name="아래 머리"/>
          <p:cNvSpPr/>
          <p:nvPr/>
        </p:nvSpPr>
        <p:spPr>
          <a:xfrm>
            <a:off x="723130" y="3706122"/>
            <a:ext cx="3040435" cy="26295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태그"/>
          <p:cNvSpPr/>
          <p:nvPr/>
        </p:nvSpPr>
        <p:spPr>
          <a:xfrm>
            <a:off x="788870" y="3749948"/>
            <a:ext cx="329103" cy="1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8" name="태그"/>
          <p:cNvSpPr>
            <a:spLocks noGrp="1"/>
          </p:cNvSpPr>
          <p:nvPr>
            <p:ph type="body" sz="quarter" idx="35"/>
          </p:nvPr>
        </p:nvSpPr>
        <p:spPr>
          <a:xfrm>
            <a:off x="788870" y="3749948"/>
            <a:ext cx="329103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국민</a:t>
            </a:r>
          </a:p>
        </p:txBody>
      </p:sp>
      <p:sp>
        <p:nvSpPr>
          <p:cNvPr id="39" name="아래 머리 글"/>
          <p:cNvSpPr>
            <a:spLocks noGrp="1"/>
          </p:cNvSpPr>
          <p:nvPr>
            <p:ph type="body" sz="quarter" idx="36"/>
          </p:nvPr>
        </p:nvSpPr>
        <p:spPr>
          <a:xfrm>
            <a:off x="1150842" y="3706122"/>
            <a:ext cx="2557941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극한 기후위기 안전망</a:t>
            </a:r>
          </a:p>
        </p:txBody>
      </p:sp>
      <p:sp>
        <p:nvSpPr>
          <p:cNvPr id="40" name="아래 머리"/>
          <p:cNvSpPr/>
          <p:nvPr/>
        </p:nvSpPr>
        <p:spPr>
          <a:xfrm>
            <a:off x="3982696" y="3706122"/>
            <a:ext cx="3040435" cy="26295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태그"/>
          <p:cNvSpPr/>
          <p:nvPr/>
        </p:nvSpPr>
        <p:spPr>
          <a:xfrm>
            <a:off x="4048435" y="3749948"/>
            <a:ext cx="438871" cy="1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2" name="태그"/>
          <p:cNvSpPr>
            <a:spLocks noGrp="1"/>
          </p:cNvSpPr>
          <p:nvPr>
            <p:ph type="body" sz="quarter" idx="37"/>
          </p:nvPr>
        </p:nvSpPr>
        <p:spPr>
          <a:xfrm>
            <a:off x="4048435" y="3749948"/>
            <a:ext cx="43887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협력사</a:t>
            </a:r>
          </a:p>
        </p:txBody>
      </p:sp>
      <p:sp>
        <p:nvSpPr>
          <p:cNvPr id="43" name="아래 머리 글"/>
          <p:cNvSpPr>
            <a:spLocks noGrp="1"/>
          </p:cNvSpPr>
          <p:nvPr>
            <p:ph type="body" sz="quarter" idx="38"/>
          </p:nvPr>
        </p:nvSpPr>
        <p:spPr>
          <a:xfrm>
            <a:off x="4520176" y="3706122"/>
            <a:ext cx="2448172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근로자 중심 핀셋 지원</a:t>
            </a:r>
          </a:p>
        </p:txBody>
      </p:sp>
      <p:sp>
        <p:nvSpPr>
          <p:cNvPr id="44" name="핵심성과 박스"/>
          <p:cNvSpPr/>
          <p:nvPr/>
        </p:nvSpPr>
        <p:spPr>
          <a:xfrm>
            <a:off x="723130" y="4056730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핵심성과 라벨"/>
          <p:cNvSpPr/>
          <p:nvPr/>
        </p:nvSpPr>
        <p:spPr>
          <a:xfrm>
            <a:off x="756000" y="4089600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46" name="핵심성과 라벨"/>
          <p:cNvSpPr>
            <a:spLocks noGrp="1"/>
          </p:cNvSpPr>
          <p:nvPr>
            <p:ph type="body" sz="quarter" idx="39"/>
          </p:nvPr>
        </p:nvSpPr>
        <p:spPr>
          <a:xfrm>
            <a:off x="756000" y="4089600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7" name="핵심성과 문구"/>
          <p:cNvSpPr>
            <a:spLocks noGrp="1"/>
          </p:cNvSpPr>
          <p:nvPr>
            <p:ph type="body" sz="quarter" idx="40"/>
          </p:nvPr>
        </p:nvSpPr>
        <p:spPr>
          <a:xfrm>
            <a:off x="1501043" y="4078643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’25년 권익위 종합청렴도 외부체감도 ‘업무투명’ 상승(88.0 → 92.2점)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노동부 ‘용역근로자 보호지침 준수’ 지표 만점 및 자회사 운영실태 평가 A등급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43 서사 · 디지털 권리보장 → AI 도입 리스크관리 → 새로운 가치창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2966467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디지털·AI 기반 미래형 인권보호 패러다임 선도</a:t>
            </a:r>
          </a:p>
        </p:txBody>
      </p:sp>
      <p:sp>
        <p:nvSpPr>
          <p:cNvPr id="12" name="태그칩"/>
          <p:cNvSpPr/>
          <p:nvPr/>
        </p:nvSpPr>
        <p:spPr>
          <a:xfrm>
            <a:off x="3601945" y="799826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3601945" y="799826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4" name="표 외곽"/>
          <p:cNvSpPr/>
          <p:nvPr/>
        </p:nvSpPr>
        <p:spPr>
          <a:xfrm>
            <a:off x="536870" y="1051826"/>
            <a:ext cx="6300000" cy="112038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547826" y="1068261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068261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3"/>
          </p:nvPr>
        </p:nvSpPr>
        <p:spPr>
          <a:xfrm>
            <a:off x="1172348" y="1090174"/>
            <a:ext cx="2802130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 중심 AI 활용 촉구(UN 인권이사회, ’25.6)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24"/>
          </p:nvPr>
        </p:nvSpPr>
        <p:spPr>
          <a:xfrm>
            <a:off x="3996391" y="1090174"/>
            <a:ext cx="2802130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인권침해 위험과 창출가치 균형 필요</a:t>
            </a:r>
          </a:p>
        </p:txBody>
      </p:sp>
      <p:cxnSp>
        <p:nvCxnSpPr>
          <p:cNvPr id="19" name="Connector 13"/>
          <p:cNvCxnSpPr/>
          <p:nvPr/>
        </p:nvCxnSpPr>
        <p:spPr>
          <a:xfrm>
            <a:off x="3985435" y="1123043"/>
            <a:ext cx="0" cy="17530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0" name="레일"/>
          <p:cNvSpPr/>
          <p:nvPr/>
        </p:nvSpPr>
        <p:spPr>
          <a:xfrm>
            <a:off x="547826" y="1492904"/>
            <a:ext cx="580696" cy="662870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1492904"/>
            <a:ext cx="580696" cy="66287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디지털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권리보장</a:t>
            </a:r>
          </a:p>
        </p:txBody>
      </p:sp>
      <p:sp>
        <p:nvSpPr>
          <p:cNvPr id="22" name="레일 삼각형"/>
          <p:cNvSpPr/>
          <p:nvPr/>
        </p:nvSpPr>
        <p:spPr>
          <a:xfrm>
            <a:off x="547826" y="1492904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머리칸"/>
          <p:cNvSpPr/>
          <p:nvPr/>
        </p:nvSpPr>
        <p:spPr>
          <a:xfrm>
            <a:off x="1161391" y="151481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>
          <a:xfrm>
            <a:off x="1161391" y="1514817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수도정보는 쉽고 편리하게 접근</a:t>
            </a:r>
          </a:p>
        </p:txBody>
      </p:sp>
      <p:sp>
        <p:nvSpPr>
          <p:cNvPr id="25" name="머리칸"/>
          <p:cNvSpPr/>
          <p:nvPr/>
        </p:nvSpPr>
        <p:spPr>
          <a:xfrm>
            <a:off x="3985435" y="151481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6" name="머리칸"/>
          <p:cNvSpPr>
            <a:spLocks noGrp="1"/>
          </p:cNvSpPr>
          <p:nvPr>
            <p:ph type="body" sz="quarter" idx="27"/>
          </p:nvPr>
        </p:nvSpPr>
        <p:spPr>
          <a:xfrm>
            <a:off x="3985435" y="1514817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인명사고 발생은 미리 탐지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8"/>
          </p:nvPr>
        </p:nvSpPr>
        <p:spPr>
          <a:xfrm>
            <a:off x="1172348" y="1755861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수도정보 대화형 플랫폼 구축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디지털 취약계층 대상 AI 보이스 상담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29"/>
          </p:nvPr>
        </p:nvSpPr>
        <p:spPr>
          <a:xfrm>
            <a:off x="3996391" y="1755861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공공-민간 데이터 기반 사회안전망 서비스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독거노인 고독사 예방</a:t>
            </a:r>
          </a:p>
        </p:txBody>
      </p:sp>
      <p:cxnSp>
        <p:nvCxnSpPr>
          <p:cNvPr id="29" name="Connector 20"/>
          <p:cNvCxnSpPr/>
          <p:nvPr/>
        </p:nvCxnSpPr>
        <p:spPr>
          <a:xfrm>
            <a:off x="3985435" y="1788730"/>
            <a:ext cx="0" cy="32869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틀"/>
          <p:cNvSpPr/>
          <p:nvPr/>
        </p:nvSpPr>
        <p:spPr>
          <a:xfrm>
            <a:off x="536870" y="2226991"/>
            <a:ext cx="6300000" cy="115043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레일"/>
          <p:cNvSpPr/>
          <p:nvPr/>
        </p:nvSpPr>
        <p:spPr>
          <a:xfrm>
            <a:off x="547826" y="2237948"/>
            <a:ext cx="580696" cy="112852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2" name="레일"/>
          <p:cNvSpPr>
            <a:spLocks noGrp="1"/>
          </p:cNvSpPr>
          <p:nvPr>
            <p:ph type="body" sz="quarter" idx="30"/>
          </p:nvPr>
        </p:nvSpPr>
        <p:spPr>
          <a:xfrm>
            <a:off x="547826" y="2237948"/>
            <a:ext cx="580696" cy="112852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AI 도입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리스크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관리</a:t>
            </a:r>
          </a:p>
        </p:txBody>
      </p:sp>
      <p:sp>
        <p:nvSpPr>
          <p:cNvPr id="33" name="칸 제목 띠"/>
          <p:cNvSpPr/>
          <p:nvPr/>
        </p:nvSpPr>
        <p:spPr>
          <a:xfrm>
            <a:off x="1194261" y="2259861"/>
            <a:ext cx="1833391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칸 제목"/>
          <p:cNvSpPr>
            <a:spLocks noGrp="1"/>
          </p:cNvSpPr>
          <p:nvPr>
            <p:ph type="body" sz="quarter" idx="31"/>
          </p:nvPr>
        </p:nvSpPr>
        <p:spPr>
          <a:xfrm>
            <a:off x="1194261" y="2259861"/>
            <a:ext cx="1833391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AI 윤리에 대해 고민하고</a:t>
            </a:r>
          </a:p>
        </p:txBody>
      </p:sp>
      <p:sp>
        <p:nvSpPr>
          <p:cNvPr id="35" name="삼각 화살표"/>
          <p:cNvSpPr/>
          <p:nvPr/>
        </p:nvSpPr>
        <p:spPr>
          <a:xfrm>
            <a:off x="2050695" y="2457078"/>
            <a:ext cx="120522" cy="54782"/>
          </a:xfrm>
          <a:custGeom>
            <a:avLst/>
            <a:gdLst/>
            <a:ahLst/>
            <a:cxnLst/>
            <a:rect l="l" t="t" r="r" b="b"/>
            <a:pathLst>
              <a:path w="120522" h="54782">
                <a:moveTo>
                  <a:pt x="0" y="0"/>
                </a:moveTo>
                <a:lnTo>
                  <a:pt x="120522" y="0"/>
                </a:lnTo>
                <a:lnTo>
                  <a:pt x="60261" y="54782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칸 본문"/>
          <p:cNvSpPr>
            <a:spLocks noGrp="1"/>
          </p:cNvSpPr>
          <p:nvPr>
            <p:ph type="body" sz="quarter" idx="32"/>
          </p:nvPr>
        </p:nvSpPr>
        <p:spPr>
          <a:xfrm>
            <a:off x="1205217" y="2522817"/>
            <a:ext cx="1811478" cy="799826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인권영향평가 지표개선(’25.10)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* ‘디지털윤리·AI 책임성’ 지표 신설</a:t>
            </a:r>
          </a:p>
        </p:txBody>
      </p:sp>
      <p:sp>
        <p:nvSpPr>
          <p:cNvPr id="37" name="칸 제목 띠"/>
          <p:cNvSpPr/>
          <p:nvPr/>
        </p:nvSpPr>
        <p:spPr>
          <a:xfrm>
            <a:off x="3071478" y="2259861"/>
            <a:ext cx="1833391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칸 제목"/>
          <p:cNvSpPr>
            <a:spLocks noGrp="1"/>
          </p:cNvSpPr>
          <p:nvPr>
            <p:ph type="body" sz="quarter" idx="33"/>
          </p:nvPr>
        </p:nvSpPr>
        <p:spPr>
          <a:xfrm>
            <a:off x="3071478" y="2259861"/>
            <a:ext cx="1833391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올바른 원칙을 정착하고</a:t>
            </a:r>
          </a:p>
        </p:txBody>
      </p:sp>
      <p:sp>
        <p:nvSpPr>
          <p:cNvPr id="39" name="삼각 화살표"/>
          <p:cNvSpPr/>
          <p:nvPr/>
        </p:nvSpPr>
        <p:spPr>
          <a:xfrm>
            <a:off x="3927913" y="2457078"/>
            <a:ext cx="120521" cy="54782"/>
          </a:xfrm>
          <a:custGeom>
            <a:avLst/>
            <a:gdLst/>
            <a:ahLst/>
            <a:cxnLst/>
            <a:rect l="l" t="t" r="r" b="b"/>
            <a:pathLst>
              <a:path w="120521" h="54782">
                <a:moveTo>
                  <a:pt x="0" y="0"/>
                </a:moveTo>
                <a:lnTo>
                  <a:pt x="120521" y="0"/>
                </a:lnTo>
                <a:lnTo>
                  <a:pt x="60260" y="54782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4"/>
          </p:nvPr>
        </p:nvSpPr>
        <p:spPr>
          <a:xfrm>
            <a:off x="3082435" y="2522817"/>
            <a:ext cx="1811478" cy="799826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「생성형 AI 업무 활용 가이드북」 발간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「인공지능 관리규정」 도입 추진</a:t>
            </a:r>
          </a:p>
        </p:txBody>
      </p:sp>
      <p:cxnSp>
        <p:nvCxnSpPr>
          <p:cNvPr id="41" name="Connector 31"/>
          <p:cNvCxnSpPr/>
          <p:nvPr/>
        </p:nvCxnSpPr>
        <p:spPr>
          <a:xfrm>
            <a:off x="3049565" y="2511861"/>
            <a:ext cx="0" cy="821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2" name="칸 제목 띠"/>
          <p:cNvSpPr/>
          <p:nvPr/>
        </p:nvSpPr>
        <p:spPr>
          <a:xfrm>
            <a:off x="4948696" y="2259861"/>
            <a:ext cx="1833391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칸 제목"/>
          <p:cNvSpPr>
            <a:spLocks noGrp="1"/>
          </p:cNvSpPr>
          <p:nvPr>
            <p:ph type="body" sz="quarter" idx="35"/>
          </p:nvPr>
        </p:nvSpPr>
        <p:spPr>
          <a:xfrm>
            <a:off x="4948696" y="2259861"/>
            <a:ext cx="1833391" cy="186261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AI의 안전한 활용까지</a:t>
            </a:r>
          </a:p>
        </p:txBody>
      </p:sp>
      <p:sp>
        <p:nvSpPr>
          <p:cNvPr id="44" name="삼각 화살표"/>
          <p:cNvSpPr/>
          <p:nvPr/>
        </p:nvSpPr>
        <p:spPr>
          <a:xfrm>
            <a:off x="5805130" y="2457078"/>
            <a:ext cx="120522" cy="54782"/>
          </a:xfrm>
          <a:custGeom>
            <a:avLst/>
            <a:gdLst/>
            <a:ahLst/>
            <a:cxnLst/>
            <a:rect l="l" t="t" r="r" b="b"/>
            <a:pathLst>
              <a:path w="120522" h="54782">
                <a:moveTo>
                  <a:pt x="0" y="0"/>
                </a:moveTo>
                <a:lnTo>
                  <a:pt x="120522" y="0"/>
                </a:lnTo>
                <a:lnTo>
                  <a:pt x="60261" y="54782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칸 본문"/>
          <p:cNvSpPr>
            <a:spLocks noGrp="1"/>
          </p:cNvSpPr>
          <p:nvPr>
            <p:ph type="body" sz="quarter" idx="36"/>
          </p:nvPr>
        </p:nvSpPr>
        <p:spPr>
          <a:xfrm>
            <a:off x="4959652" y="2522817"/>
            <a:ext cx="1811478" cy="799826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 민원처리시스템 추진(’25.11)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고객과 직원 모두 인권보호</a:t>
            </a:r>
          </a:p>
        </p:txBody>
      </p:sp>
      <p:cxnSp>
        <p:nvCxnSpPr>
          <p:cNvPr id="46" name="Connector 36"/>
          <p:cNvCxnSpPr/>
          <p:nvPr/>
        </p:nvCxnSpPr>
        <p:spPr>
          <a:xfrm>
            <a:off x="4926783" y="2511861"/>
            <a:ext cx="0" cy="82173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7" name="표 외곽"/>
          <p:cNvSpPr/>
          <p:nvPr/>
        </p:nvSpPr>
        <p:spPr>
          <a:xfrm>
            <a:off x="536870" y="3421252"/>
            <a:ext cx="6300000" cy="112038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레일"/>
          <p:cNvSpPr/>
          <p:nvPr/>
        </p:nvSpPr>
        <p:spPr>
          <a:xfrm>
            <a:off x="547826" y="3437687"/>
            <a:ext cx="580696" cy="108751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9" name="레일"/>
          <p:cNvSpPr>
            <a:spLocks noGrp="1"/>
          </p:cNvSpPr>
          <p:nvPr>
            <p:ph type="body" sz="quarter" idx="37"/>
          </p:nvPr>
        </p:nvSpPr>
        <p:spPr>
          <a:xfrm>
            <a:off x="547826" y="3437687"/>
            <a:ext cx="580696" cy="10875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새로운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가치창출</a:t>
            </a:r>
          </a:p>
        </p:txBody>
      </p:sp>
      <p:sp>
        <p:nvSpPr>
          <p:cNvPr id="50" name="배너"/>
          <p:cNvSpPr/>
          <p:nvPr/>
        </p:nvSpPr>
        <p:spPr>
          <a:xfrm>
            <a:off x="1161391" y="3459600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51" name="배너"/>
          <p:cNvSpPr>
            <a:spLocks noGrp="1"/>
          </p:cNvSpPr>
          <p:nvPr>
            <p:ph type="body" sz="quarter" idx="38"/>
          </p:nvPr>
        </p:nvSpPr>
        <p:spPr>
          <a:xfrm>
            <a:off x="1161391" y="3459600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환경정보 디지털 허브에서 새롭게 누리는 우리 국토</a:t>
            </a:r>
          </a:p>
        </p:txBody>
      </p:sp>
      <p:sp>
        <p:nvSpPr>
          <p:cNvPr id="52" name="단계"/>
          <p:cNvSpPr/>
          <p:nvPr/>
        </p:nvSpPr>
        <p:spPr>
          <a:xfrm>
            <a:off x="1161391" y="3695165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3" name="단계"/>
          <p:cNvSpPr>
            <a:spLocks noGrp="1"/>
          </p:cNvSpPr>
          <p:nvPr>
            <p:ph type="body" sz="quarter" idx="39"/>
          </p:nvPr>
        </p:nvSpPr>
        <p:spPr>
          <a:xfrm>
            <a:off x="1161391" y="369516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정보접근 누구나 알 수 있고</a:t>
            </a:r>
          </a:p>
        </p:txBody>
      </p:sp>
      <p:sp>
        <p:nvSpPr>
          <p:cNvPr id="54" name="단계"/>
          <p:cNvSpPr/>
          <p:nvPr/>
        </p:nvSpPr>
        <p:spPr>
          <a:xfrm>
            <a:off x="3044087" y="3695165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5" name="단계"/>
          <p:cNvSpPr>
            <a:spLocks noGrp="1"/>
          </p:cNvSpPr>
          <p:nvPr>
            <p:ph type="body" sz="quarter" idx="40"/>
          </p:nvPr>
        </p:nvSpPr>
        <p:spPr>
          <a:xfrm>
            <a:off x="3044087" y="369516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안전보호 위험을 감지하고</a:t>
            </a:r>
          </a:p>
        </p:txBody>
      </p:sp>
      <p:sp>
        <p:nvSpPr>
          <p:cNvPr id="56" name="단계"/>
          <p:cNvSpPr/>
          <p:nvPr/>
        </p:nvSpPr>
        <p:spPr>
          <a:xfrm>
            <a:off x="4926783" y="3695165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7" name="단계"/>
          <p:cNvSpPr>
            <a:spLocks noGrp="1"/>
          </p:cNvSpPr>
          <p:nvPr>
            <p:ph type="body" sz="quarter" idx="41"/>
          </p:nvPr>
        </p:nvSpPr>
        <p:spPr>
          <a:xfrm>
            <a:off x="4926783" y="369516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친수공간 심신 회복도 함께</a:t>
            </a:r>
          </a:p>
        </p:txBody>
      </p:sp>
      <p:sp>
        <p:nvSpPr>
          <p:cNvPr id="58" name="단계 삼각형"/>
          <p:cNvSpPr/>
          <p:nvPr/>
        </p:nvSpPr>
        <p:spPr>
          <a:xfrm>
            <a:off x="3044086" y="3695165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단계 삼각형"/>
          <p:cNvSpPr/>
          <p:nvPr/>
        </p:nvSpPr>
        <p:spPr>
          <a:xfrm>
            <a:off x="4926782" y="3695165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칸 본문"/>
          <p:cNvSpPr>
            <a:spLocks noGrp="1"/>
          </p:cNvSpPr>
          <p:nvPr>
            <p:ph type="body" sz="quarter" idx="42"/>
          </p:nvPr>
        </p:nvSpPr>
        <p:spPr>
          <a:xfrm>
            <a:off x="1172348" y="3947165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댐·강·하천 전문정보부터 생활 밀착 서비스까지</a:t>
            </a:r>
          </a:p>
        </p:txBody>
      </p:sp>
      <p:sp>
        <p:nvSpPr>
          <p:cNvPr id="61" name="칸 본문"/>
          <p:cNvSpPr>
            <a:spLocks noGrp="1"/>
          </p:cNvSpPr>
          <p:nvPr>
            <p:ph type="body" sz="quarter" idx="43"/>
          </p:nvPr>
        </p:nvSpPr>
        <p:spPr>
          <a:xfrm>
            <a:off x="3055043" y="3947165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초단기 기상데이터 활용 온도 예측 고도화</a:t>
            </a:r>
          </a:p>
        </p:txBody>
      </p:sp>
      <p:cxnSp>
        <p:nvCxnSpPr>
          <p:cNvPr id="62" name="Connector 47"/>
          <p:cNvCxnSpPr/>
          <p:nvPr/>
        </p:nvCxnSpPr>
        <p:spPr>
          <a:xfrm>
            <a:off x="3044087" y="3980035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3" name="칸 본문"/>
          <p:cNvSpPr>
            <a:spLocks noGrp="1"/>
          </p:cNvSpPr>
          <p:nvPr>
            <p:ph type="body" sz="quarter" idx="44"/>
          </p:nvPr>
        </p:nvSpPr>
        <p:spPr>
          <a:xfrm>
            <a:off x="4937739" y="3947165"/>
            <a:ext cx="1860783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물·철도·문화 데이터 융합 서비스</a:t>
            </a:r>
          </a:p>
        </p:txBody>
      </p:sp>
      <p:cxnSp>
        <p:nvCxnSpPr>
          <p:cNvPr id="64" name="Connector 49"/>
          <p:cNvCxnSpPr/>
          <p:nvPr/>
        </p:nvCxnSpPr>
        <p:spPr>
          <a:xfrm>
            <a:off x="4926783" y="3980035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5" name="배너"/>
          <p:cNvSpPr/>
          <p:nvPr/>
        </p:nvSpPr>
        <p:spPr>
          <a:xfrm>
            <a:off x="1161391" y="4300591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6" name="배너"/>
          <p:cNvSpPr>
            <a:spLocks noGrp="1"/>
          </p:cNvSpPr>
          <p:nvPr>
            <p:ph type="body" sz="quarter" idx="45"/>
          </p:nvPr>
        </p:nvSpPr>
        <p:spPr>
          <a:xfrm>
            <a:off x="1161391" y="4300591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데이터 개방 확대(1,137 → 1,164건), 대국민 활용 활성화</a:t>
            </a:r>
          </a:p>
        </p:txBody>
      </p:sp>
      <p:sp>
        <p:nvSpPr>
          <p:cNvPr id="67" name="핵심성과 박스"/>
          <p:cNvSpPr/>
          <p:nvPr/>
        </p:nvSpPr>
        <p:spPr>
          <a:xfrm>
            <a:off x="536870" y="4629287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핵심성과 라벨"/>
          <p:cNvSpPr/>
          <p:nvPr/>
        </p:nvSpPr>
        <p:spPr>
          <a:xfrm>
            <a:off x="569739" y="4662157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9" name="핵심성과 라벨"/>
          <p:cNvSpPr>
            <a:spLocks noGrp="1"/>
          </p:cNvSpPr>
          <p:nvPr>
            <p:ph type="body" sz="quarter" idx="46"/>
          </p:nvPr>
        </p:nvSpPr>
        <p:spPr>
          <a:xfrm>
            <a:off x="569739" y="4662157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70" name="핵심성과 문구"/>
          <p:cNvSpPr>
            <a:spLocks noGrp="1"/>
          </p:cNvSpPr>
          <p:nvPr>
            <p:ph type="body" sz="quarter" idx="47"/>
          </p:nvPr>
        </p:nvSpPr>
        <p:spPr>
          <a:xfrm>
            <a:off x="1314783" y="4651200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’25년 인권영향평가 ‘디지털 윤리 및 AI 책임성’ 지표 신설·만점 획득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’25년 인권경영지수 매우우수(AA) 등급 달성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44 서사 · 정책기조 → 일자리 환경 → 시사점 → 전략 → 실행체계(PDCA) → 대표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기회를 확장하고 성장을 견인하며 모두를 포용하는 일자리 전략</a:t>
            </a:r>
          </a:p>
        </p:txBody>
      </p:sp>
      <p:sp>
        <p:nvSpPr>
          <p:cNvPr id="14" name="배너"/>
          <p:cNvSpPr/>
          <p:nvPr/>
        </p:nvSpPr>
        <p:spPr>
          <a:xfrm>
            <a:off x="723130" y="1139478"/>
            <a:ext cx="6300000" cy="328696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5" name="Connector 9"/>
          <p:cNvCxnSpPr/>
          <p:nvPr/>
        </p:nvCxnSpPr>
        <p:spPr>
          <a:xfrm>
            <a:off x="723130" y="1139478"/>
            <a:ext cx="6300000" cy="0"/>
          </a:xfrm>
          <a:prstGeom prst="line">
            <a:avLst/>
          </a:prstGeom>
          <a:ln w="12700">
            <a:solidFill>
              <a:srgbClr val="BDE0FF"/>
            </a:solidFill>
          </a:ln>
        </p:spPr>
      </p:cxnSp>
      <p:sp>
        <p:nvSpPr>
          <p:cNvPr id="16" name="배너 글"/>
          <p:cNvSpPr>
            <a:spLocks noGrp="1"/>
          </p:cNvSpPr>
          <p:nvPr>
            <p:ph type="body" sz="quarter" idx="22"/>
          </p:nvPr>
        </p:nvSpPr>
        <p:spPr>
          <a:xfrm>
            <a:off x="723130" y="1194261"/>
            <a:ext cx="6300000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새 정부 정책기조에 부합하고, 고용 여건에 선제적으로 대응하기 위한 일자리 전략 재정립</a:t>
            </a:r>
          </a:p>
        </p:txBody>
      </p:sp>
      <p:sp>
        <p:nvSpPr>
          <p:cNvPr id="17" name="표 외곽"/>
          <p:cNvSpPr/>
          <p:nvPr/>
        </p:nvSpPr>
        <p:spPr>
          <a:xfrm>
            <a:off x="723130" y="1512000"/>
            <a:ext cx="6300000" cy="207907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레일"/>
          <p:cNvSpPr/>
          <p:nvPr/>
        </p:nvSpPr>
        <p:spPr>
          <a:xfrm>
            <a:off x="734087" y="1528435"/>
            <a:ext cx="580696" cy="8546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9" name="레일"/>
          <p:cNvSpPr>
            <a:spLocks noGrp="1"/>
          </p:cNvSpPr>
          <p:nvPr>
            <p:ph type="body" sz="quarter" idx="23"/>
          </p:nvPr>
        </p:nvSpPr>
        <p:spPr>
          <a:xfrm>
            <a:off x="734087" y="1528435"/>
            <a:ext cx="580696" cy="854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국 정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 조</a:t>
            </a:r>
          </a:p>
        </p:txBody>
      </p:sp>
      <p:sp>
        <p:nvSpPr>
          <p:cNvPr id="20" name="태그"/>
          <p:cNvSpPr/>
          <p:nvPr/>
        </p:nvSpPr>
        <p:spPr>
          <a:xfrm>
            <a:off x="1347652" y="1572261"/>
            <a:ext cx="774006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태그"/>
          <p:cNvSpPr>
            <a:spLocks noGrp="1"/>
          </p:cNvSpPr>
          <p:nvPr>
            <p:ph type="body" sz="quarter" idx="24"/>
          </p:nvPr>
        </p:nvSpPr>
        <p:spPr>
          <a:xfrm>
            <a:off x="1347652" y="1572261"/>
            <a:ext cx="77400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국정과제 96</a:t>
            </a:r>
          </a:p>
        </p:txBody>
      </p:sp>
      <p:sp>
        <p:nvSpPr>
          <p:cNvPr id="22" name="태그 설명"/>
          <p:cNvSpPr>
            <a:spLocks noGrp="1"/>
          </p:cNvSpPr>
          <p:nvPr>
            <p:ph type="body" sz="quarter" idx="25"/>
          </p:nvPr>
        </p:nvSpPr>
        <p:spPr>
          <a:xfrm>
            <a:off x="2165484" y="1561304"/>
            <a:ext cx="4830255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통합과 성장의 혁신적 일자리정책을 통해 청년·민간·취약계층 전반의 고용 확대 추진</a:t>
            </a:r>
          </a:p>
        </p:txBody>
      </p:sp>
      <p:sp>
        <p:nvSpPr>
          <p:cNvPr id="23" name="머리칸"/>
          <p:cNvSpPr/>
          <p:nvPr/>
        </p:nvSpPr>
        <p:spPr>
          <a:xfrm>
            <a:off x="1347652" y="17859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>
          <a:xfrm>
            <a:off x="1347652" y="17859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공정과 신뢰</a:t>
            </a:r>
          </a:p>
        </p:txBody>
      </p:sp>
      <p:sp>
        <p:nvSpPr>
          <p:cNvPr id="25" name="머리칸"/>
          <p:cNvSpPr/>
          <p:nvPr/>
        </p:nvSpPr>
        <p:spPr>
          <a:xfrm>
            <a:off x="3230348" y="17859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6" name="머리칸"/>
          <p:cNvSpPr>
            <a:spLocks noGrp="1"/>
          </p:cNvSpPr>
          <p:nvPr>
            <p:ph type="body" sz="quarter" idx="27"/>
          </p:nvPr>
        </p:nvSpPr>
        <p:spPr>
          <a:xfrm>
            <a:off x="3230348" y="17859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실용과 성과</a:t>
            </a:r>
          </a:p>
        </p:txBody>
      </p:sp>
      <p:sp>
        <p:nvSpPr>
          <p:cNvPr id="27" name="머리칸"/>
          <p:cNvSpPr/>
          <p:nvPr/>
        </p:nvSpPr>
        <p:spPr>
          <a:xfrm>
            <a:off x="5113043" y="17859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8" name="머리칸"/>
          <p:cNvSpPr>
            <a:spLocks noGrp="1"/>
          </p:cNvSpPr>
          <p:nvPr>
            <p:ph type="body" sz="quarter" idx="28"/>
          </p:nvPr>
        </p:nvSpPr>
        <p:spPr>
          <a:xfrm>
            <a:off x="5113043" y="17859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경청과 통합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9"/>
          </p:nvPr>
        </p:nvSpPr>
        <p:spPr>
          <a:xfrm>
            <a:off x="1358609" y="2026957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모두에게 공정한 일 경험 기회 제공 강조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3241304" y="2026957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현장에서 체감할 수 있는 일자리 창출 성과 필요</a:t>
            </a:r>
          </a:p>
        </p:txBody>
      </p:sp>
      <p:cxnSp>
        <p:nvCxnSpPr>
          <p:cNvPr id="31" name="Connector 20"/>
          <p:cNvCxnSpPr/>
          <p:nvPr/>
        </p:nvCxnSpPr>
        <p:spPr>
          <a:xfrm>
            <a:off x="3230348" y="2059826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칸 본문"/>
          <p:cNvSpPr>
            <a:spLocks noGrp="1"/>
          </p:cNvSpPr>
          <p:nvPr>
            <p:ph type="body" sz="quarter" idx="31"/>
          </p:nvPr>
        </p:nvSpPr>
        <p:spPr>
          <a:xfrm>
            <a:off x="5124000" y="2026957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소외계층까지 모두를 아우르는 고용환경 조성</a:t>
            </a:r>
          </a:p>
        </p:txBody>
      </p:sp>
      <p:cxnSp>
        <p:nvCxnSpPr>
          <p:cNvPr id="33" name="Connector 22"/>
          <p:cNvCxnSpPr/>
          <p:nvPr/>
        </p:nvCxnSpPr>
        <p:spPr>
          <a:xfrm>
            <a:off x="5113043" y="2059826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레일"/>
          <p:cNvSpPr/>
          <p:nvPr/>
        </p:nvSpPr>
        <p:spPr>
          <a:xfrm>
            <a:off x="734087" y="2399478"/>
            <a:ext cx="580696" cy="61904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5" name="레일"/>
          <p:cNvSpPr>
            <a:spLocks noGrp="1"/>
          </p:cNvSpPr>
          <p:nvPr>
            <p:ph type="body" sz="quarter" idx="32"/>
          </p:nvPr>
        </p:nvSpPr>
        <p:spPr>
          <a:xfrm>
            <a:off x="734087" y="2399478"/>
            <a:ext cx="580696" cy="619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일자리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 경</a:t>
            </a:r>
          </a:p>
        </p:txBody>
      </p:sp>
      <p:sp>
        <p:nvSpPr>
          <p:cNvPr id="36" name="레일 삼각형"/>
          <p:cNvSpPr/>
          <p:nvPr/>
        </p:nvSpPr>
        <p:spPr>
          <a:xfrm>
            <a:off x="734086" y="2399478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머리칸"/>
          <p:cNvSpPr/>
          <p:nvPr/>
        </p:nvSpPr>
        <p:spPr>
          <a:xfrm>
            <a:off x="1347652" y="242139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8" name="머리칸"/>
          <p:cNvSpPr>
            <a:spLocks noGrp="1"/>
          </p:cNvSpPr>
          <p:nvPr>
            <p:ph type="body" sz="quarter" idx="33"/>
          </p:nvPr>
        </p:nvSpPr>
        <p:spPr>
          <a:xfrm>
            <a:off x="1347652" y="242139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청년일자리</a:t>
            </a:r>
          </a:p>
        </p:txBody>
      </p:sp>
      <p:sp>
        <p:nvSpPr>
          <p:cNvPr id="39" name="머리칸"/>
          <p:cNvSpPr/>
          <p:nvPr/>
        </p:nvSpPr>
        <p:spPr>
          <a:xfrm>
            <a:off x="3230348" y="242139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0" name="머리칸"/>
          <p:cNvSpPr>
            <a:spLocks noGrp="1"/>
          </p:cNvSpPr>
          <p:nvPr>
            <p:ph type="body" sz="quarter" idx="34"/>
          </p:nvPr>
        </p:nvSpPr>
        <p:spPr>
          <a:xfrm>
            <a:off x="3230348" y="242139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민간일자리</a:t>
            </a:r>
          </a:p>
        </p:txBody>
      </p:sp>
      <p:sp>
        <p:nvSpPr>
          <p:cNvPr id="41" name="머리칸"/>
          <p:cNvSpPr/>
          <p:nvPr/>
        </p:nvSpPr>
        <p:spPr>
          <a:xfrm>
            <a:off x="5113043" y="242139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2" name="머리칸"/>
          <p:cNvSpPr>
            <a:spLocks noGrp="1"/>
          </p:cNvSpPr>
          <p:nvPr>
            <p:ph type="body" sz="quarter" idx="35"/>
          </p:nvPr>
        </p:nvSpPr>
        <p:spPr>
          <a:xfrm>
            <a:off x="5113043" y="242139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사회형평 일자리</a:t>
            </a:r>
          </a:p>
        </p:txBody>
      </p:sp>
      <p:sp>
        <p:nvSpPr>
          <p:cNvPr id="43" name="칸 본문"/>
          <p:cNvSpPr>
            <a:spLocks noGrp="1"/>
          </p:cNvSpPr>
          <p:nvPr>
            <p:ph type="body" sz="quarter" idx="36"/>
          </p:nvPr>
        </p:nvSpPr>
        <p:spPr>
          <a:xfrm>
            <a:off x="1358609" y="2662435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청년 취업시장 한파 속 ‘쉬었음’ 청년인구 급증</a:t>
            </a:r>
          </a:p>
        </p:txBody>
      </p:sp>
      <p:sp>
        <p:nvSpPr>
          <p:cNvPr id="44" name="칸 본문"/>
          <p:cNvSpPr>
            <a:spLocks noGrp="1"/>
          </p:cNvSpPr>
          <p:nvPr>
            <p:ph type="body" sz="quarter" idx="37"/>
          </p:nvPr>
        </p:nvSpPr>
        <p:spPr>
          <a:xfrm>
            <a:off x="3241304" y="2662435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투자 위축과 지역 일자리 감소로 고용환경 악화</a:t>
            </a:r>
          </a:p>
        </p:txBody>
      </p:sp>
      <p:cxnSp>
        <p:nvCxnSpPr>
          <p:cNvPr id="45" name="Connector 30"/>
          <p:cNvCxnSpPr/>
          <p:nvPr/>
        </p:nvCxnSpPr>
        <p:spPr>
          <a:xfrm>
            <a:off x="3230348" y="2695304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6" name="칸 본문"/>
          <p:cNvSpPr>
            <a:spLocks noGrp="1"/>
          </p:cNvSpPr>
          <p:nvPr>
            <p:ph type="body" sz="quarter" idx="38"/>
          </p:nvPr>
        </p:nvSpPr>
        <p:spPr>
          <a:xfrm>
            <a:off x="5124000" y="2662435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노동시장 양극화 심화로 취약계층 고용접근성 저하</a:t>
            </a:r>
          </a:p>
        </p:txBody>
      </p:sp>
      <p:cxnSp>
        <p:nvCxnSpPr>
          <p:cNvPr id="47" name="Connector 32"/>
          <p:cNvCxnSpPr/>
          <p:nvPr/>
        </p:nvCxnSpPr>
        <p:spPr>
          <a:xfrm>
            <a:off x="5113043" y="2695304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8" name="레일"/>
          <p:cNvSpPr/>
          <p:nvPr/>
        </p:nvSpPr>
        <p:spPr>
          <a:xfrm>
            <a:off x="734087" y="3034957"/>
            <a:ext cx="580696" cy="53968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9" name="레일"/>
          <p:cNvSpPr>
            <a:spLocks noGrp="1"/>
          </p:cNvSpPr>
          <p:nvPr>
            <p:ph type="body" sz="quarter" idx="39"/>
          </p:nvPr>
        </p:nvSpPr>
        <p:spPr>
          <a:xfrm>
            <a:off x="734087" y="3034957"/>
            <a:ext cx="580696" cy="5396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 금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우리는?</a:t>
            </a:r>
          </a:p>
        </p:txBody>
      </p:sp>
      <p:sp>
        <p:nvSpPr>
          <p:cNvPr id="50" name="레일 삼각형"/>
          <p:cNvSpPr/>
          <p:nvPr/>
        </p:nvSpPr>
        <p:spPr>
          <a:xfrm>
            <a:off x="734086" y="3034956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칸 본문"/>
          <p:cNvSpPr>
            <a:spLocks noGrp="1"/>
          </p:cNvSpPr>
          <p:nvPr>
            <p:ph type="body" sz="quarter" idx="40"/>
          </p:nvPr>
        </p:nvSpPr>
        <p:spPr>
          <a:xfrm>
            <a:off x="1358609" y="3056870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청년채용·인턴 지속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재직단계 편중 인턴 관리</a:t>
            </a:r>
          </a:p>
        </p:txBody>
      </p:sp>
      <p:sp>
        <p:nvSpPr>
          <p:cNvPr id="52" name="칸 본문"/>
          <p:cNvSpPr>
            <a:spLocks noGrp="1"/>
          </p:cNvSpPr>
          <p:nvPr>
            <p:ph type="body" sz="quarter" idx="41"/>
          </p:nvPr>
        </p:nvSpPr>
        <p:spPr>
          <a:xfrm>
            <a:off x="3241304" y="3056870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물산업 분야 일자리 창출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지역 전반으로 확산은 부족</a:t>
            </a:r>
          </a:p>
        </p:txBody>
      </p:sp>
      <p:cxnSp>
        <p:nvCxnSpPr>
          <p:cNvPr id="53" name="Connector 37"/>
          <p:cNvCxnSpPr/>
          <p:nvPr/>
        </p:nvCxnSpPr>
        <p:spPr>
          <a:xfrm>
            <a:off x="3230348" y="3089739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칸 본문"/>
          <p:cNvSpPr>
            <a:spLocks noGrp="1"/>
          </p:cNvSpPr>
          <p:nvPr>
            <p:ph type="body" sz="quarter" idx="42"/>
          </p:nvPr>
        </p:nvSpPr>
        <p:spPr>
          <a:xfrm>
            <a:off x="5124000" y="3056870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취약계층 대상 제도 확충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실효성 있는 성과연계 미흡</a:t>
            </a:r>
          </a:p>
        </p:txBody>
      </p:sp>
      <p:cxnSp>
        <p:nvCxnSpPr>
          <p:cNvPr id="55" name="Connector 39"/>
          <p:cNvCxnSpPr/>
          <p:nvPr/>
        </p:nvCxnSpPr>
        <p:spPr>
          <a:xfrm>
            <a:off x="5113043" y="3089739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6" name="캡션 띠"/>
          <p:cNvSpPr/>
          <p:nvPr/>
        </p:nvSpPr>
        <p:spPr>
          <a:xfrm>
            <a:off x="723130" y="3612991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태그"/>
          <p:cNvSpPr/>
          <p:nvPr/>
        </p:nvSpPr>
        <p:spPr>
          <a:xfrm>
            <a:off x="1051826" y="3656817"/>
            <a:ext cx="438871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8" name="태그"/>
          <p:cNvSpPr>
            <a:spLocks noGrp="1"/>
          </p:cNvSpPr>
          <p:nvPr>
            <p:ph type="body" sz="quarter" idx="43"/>
          </p:nvPr>
        </p:nvSpPr>
        <p:spPr>
          <a:xfrm>
            <a:off x="1051826" y="3656817"/>
            <a:ext cx="438871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59" name="캡션"/>
          <p:cNvSpPr>
            <a:spLocks noGrp="1"/>
          </p:cNvSpPr>
          <p:nvPr>
            <p:ph type="body" sz="quarter" idx="44"/>
          </p:nvPr>
        </p:nvSpPr>
        <p:spPr>
          <a:xfrm>
            <a:off x="1545480" y="3612991"/>
            <a:ext cx="5258520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청년에게는 기회를, 민간에게는 활력을, 취약계층에는 희망을 주는 일자리 창출</a:t>
            </a:r>
          </a:p>
        </p:txBody>
      </p:sp>
      <p:sp>
        <p:nvSpPr>
          <p:cNvPr id="60" name="표 외곽"/>
          <p:cNvSpPr/>
          <p:nvPr/>
        </p:nvSpPr>
        <p:spPr>
          <a:xfrm>
            <a:off x="723130" y="3919774"/>
            <a:ext cx="6300000" cy="197765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레일"/>
          <p:cNvSpPr/>
          <p:nvPr/>
        </p:nvSpPr>
        <p:spPr>
          <a:xfrm>
            <a:off x="734087" y="3936209"/>
            <a:ext cx="580696" cy="52043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2" name="레일"/>
          <p:cNvSpPr>
            <a:spLocks noGrp="1"/>
          </p:cNvSpPr>
          <p:nvPr>
            <p:ph type="body" sz="quarter" idx="45"/>
          </p:nvPr>
        </p:nvSpPr>
        <p:spPr>
          <a:xfrm>
            <a:off x="734087" y="3936209"/>
            <a:ext cx="580696" cy="520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전략방향</a:t>
            </a:r>
          </a:p>
        </p:txBody>
      </p:sp>
      <p:sp>
        <p:nvSpPr>
          <p:cNvPr id="63" name="단계"/>
          <p:cNvSpPr/>
          <p:nvPr/>
        </p:nvSpPr>
        <p:spPr>
          <a:xfrm>
            <a:off x="1347652" y="3958122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4" name="단계"/>
          <p:cNvSpPr>
            <a:spLocks noGrp="1"/>
          </p:cNvSpPr>
          <p:nvPr>
            <p:ph type="body" sz="quarter" idx="46"/>
          </p:nvPr>
        </p:nvSpPr>
        <p:spPr>
          <a:xfrm>
            <a:off x="1347652" y="3958122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청년일자리 확대</a:t>
            </a:r>
          </a:p>
        </p:txBody>
      </p:sp>
      <p:sp>
        <p:nvSpPr>
          <p:cNvPr id="65" name="단계"/>
          <p:cNvSpPr/>
          <p:nvPr/>
        </p:nvSpPr>
        <p:spPr>
          <a:xfrm>
            <a:off x="3230348" y="3958122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6" name="단계"/>
          <p:cNvSpPr>
            <a:spLocks noGrp="1"/>
          </p:cNvSpPr>
          <p:nvPr>
            <p:ph type="body" sz="quarter" idx="47"/>
          </p:nvPr>
        </p:nvSpPr>
        <p:spPr>
          <a:xfrm>
            <a:off x="3230348" y="3958122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민간일자리 창출</a:t>
            </a:r>
          </a:p>
        </p:txBody>
      </p:sp>
      <p:sp>
        <p:nvSpPr>
          <p:cNvPr id="67" name="단계"/>
          <p:cNvSpPr/>
          <p:nvPr/>
        </p:nvSpPr>
        <p:spPr>
          <a:xfrm>
            <a:off x="5113043" y="3958122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8" name="단계"/>
          <p:cNvSpPr>
            <a:spLocks noGrp="1"/>
          </p:cNvSpPr>
          <p:nvPr>
            <p:ph type="body" sz="quarter" idx="48"/>
          </p:nvPr>
        </p:nvSpPr>
        <p:spPr>
          <a:xfrm>
            <a:off x="5113043" y="3958122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사회형평 일자리 혁신</a:t>
            </a:r>
          </a:p>
        </p:txBody>
      </p:sp>
      <p:sp>
        <p:nvSpPr>
          <p:cNvPr id="69" name="단계 삼각형"/>
          <p:cNvSpPr/>
          <p:nvPr/>
        </p:nvSpPr>
        <p:spPr>
          <a:xfrm>
            <a:off x="3230347" y="3958121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단계 삼각형"/>
          <p:cNvSpPr/>
          <p:nvPr/>
        </p:nvSpPr>
        <p:spPr>
          <a:xfrm>
            <a:off x="5113043" y="3958121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칸 본문"/>
          <p:cNvSpPr>
            <a:spLocks noGrp="1"/>
          </p:cNvSpPr>
          <p:nvPr>
            <p:ph type="body" sz="quarter" idx="49"/>
          </p:nvPr>
        </p:nvSpPr>
        <p:spPr>
          <a:xfrm>
            <a:off x="1358609" y="4210122"/>
            <a:ext cx="1860783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공정한 진입과 성장 지원</a:t>
            </a:r>
          </a:p>
        </p:txBody>
      </p:sp>
      <p:sp>
        <p:nvSpPr>
          <p:cNvPr id="72" name="칸 본문"/>
          <p:cNvSpPr>
            <a:spLocks noGrp="1"/>
          </p:cNvSpPr>
          <p:nvPr>
            <p:ph type="body" sz="quarter" idx="50"/>
          </p:nvPr>
        </p:nvSpPr>
        <p:spPr>
          <a:xfrm>
            <a:off x="3241304" y="4210122"/>
            <a:ext cx="1860783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적극적 투자와 확산 견인</a:t>
            </a:r>
          </a:p>
        </p:txBody>
      </p:sp>
      <p:cxnSp>
        <p:nvCxnSpPr>
          <p:cNvPr id="73" name="Connector 52"/>
          <p:cNvCxnSpPr/>
          <p:nvPr/>
        </p:nvCxnSpPr>
        <p:spPr>
          <a:xfrm>
            <a:off x="3230348" y="4242991"/>
            <a:ext cx="0" cy="17530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4" name="칸 본문"/>
          <p:cNvSpPr>
            <a:spLocks noGrp="1"/>
          </p:cNvSpPr>
          <p:nvPr>
            <p:ph type="body" sz="quarter" idx="51"/>
          </p:nvPr>
        </p:nvSpPr>
        <p:spPr>
          <a:xfrm>
            <a:off x="5124000" y="4210122"/>
            <a:ext cx="1860783" cy="24104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빠짐없이 모두를 포용</a:t>
            </a:r>
          </a:p>
        </p:txBody>
      </p:sp>
      <p:cxnSp>
        <p:nvCxnSpPr>
          <p:cNvPr id="75" name="Connector 54"/>
          <p:cNvCxnSpPr/>
          <p:nvPr/>
        </p:nvCxnSpPr>
        <p:spPr>
          <a:xfrm>
            <a:off x="5113043" y="4242991"/>
            <a:ext cx="0" cy="17530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6" name="레일"/>
          <p:cNvSpPr/>
          <p:nvPr/>
        </p:nvSpPr>
        <p:spPr>
          <a:xfrm>
            <a:off x="734087" y="4473078"/>
            <a:ext cx="580696" cy="553304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7" name="레일"/>
          <p:cNvSpPr>
            <a:spLocks noGrp="1"/>
          </p:cNvSpPr>
          <p:nvPr>
            <p:ph type="body" sz="quarter" idx="52"/>
          </p:nvPr>
        </p:nvSpPr>
        <p:spPr>
          <a:xfrm>
            <a:off x="734087" y="4473078"/>
            <a:ext cx="580696" cy="553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전략과제</a:t>
            </a:r>
          </a:p>
        </p:txBody>
      </p:sp>
      <p:sp>
        <p:nvSpPr>
          <p:cNvPr id="78" name="레일 삼각형"/>
          <p:cNvSpPr/>
          <p:nvPr/>
        </p:nvSpPr>
        <p:spPr>
          <a:xfrm>
            <a:off x="734086" y="4473078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칸 본문"/>
          <p:cNvSpPr>
            <a:spLocks noGrp="1"/>
          </p:cNvSpPr>
          <p:nvPr>
            <p:ph type="body" sz="quarter" idx="53"/>
          </p:nvPr>
        </p:nvSpPr>
        <p:spPr>
          <a:xfrm>
            <a:off x="1358609" y="4494991"/>
            <a:ext cx="1860783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청년 고용안전망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성장형 청년인턴십 구현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맞춤형 채용서비스 제공</a:t>
            </a:r>
          </a:p>
        </p:txBody>
      </p:sp>
      <p:sp>
        <p:nvSpPr>
          <p:cNvPr id="80" name="칸 본문"/>
          <p:cNvSpPr>
            <a:spLocks noGrp="1"/>
          </p:cNvSpPr>
          <p:nvPr>
            <p:ph type="body" sz="quarter" idx="54"/>
          </p:nvPr>
        </p:nvSpPr>
        <p:spPr>
          <a:xfrm>
            <a:off x="3241304" y="4494991"/>
            <a:ext cx="1860783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물산업 전주기 밀착 육성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선순환 투자생태계 조성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지역 기반 상생일자리 창출</a:t>
            </a:r>
          </a:p>
        </p:txBody>
      </p:sp>
      <p:cxnSp>
        <p:nvCxnSpPr>
          <p:cNvPr id="81" name="Connector 59"/>
          <p:cNvCxnSpPr/>
          <p:nvPr/>
        </p:nvCxnSpPr>
        <p:spPr>
          <a:xfrm>
            <a:off x="3230348" y="4527861"/>
            <a:ext cx="0" cy="46017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2" name="칸 본문"/>
          <p:cNvSpPr>
            <a:spLocks noGrp="1"/>
          </p:cNvSpPr>
          <p:nvPr>
            <p:ph type="body" sz="quarter" idx="55"/>
          </p:nvPr>
        </p:nvSpPr>
        <p:spPr>
          <a:xfrm>
            <a:off x="5124000" y="4494991"/>
            <a:ext cx="1860783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장애인 고용구조의 전환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빈틈없는 포용 채용 구현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 중심 여성 인사관리</a:t>
            </a:r>
          </a:p>
        </p:txBody>
      </p:sp>
      <p:cxnSp>
        <p:nvCxnSpPr>
          <p:cNvPr id="83" name="Connector 61"/>
          <p:cNvCxnSpPr/>
          <p:nvPr/>
        </p:nvCxnSpPr>
        <p:spPr>
          <a:xfrm>
            <a:off x="5113043" y="4527861"/>
            <a:ext cx="0" cy="46017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4" name="레일"/>
          <p:cNvSpPr/>
          <p:nvPr/>
        </p:nvSpPr>
        <p:spPr>
          <a:xfrm>
            <a:off x="734087" y="5042817"/>
            <a:ext cx="580696" cy="838174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5" name="레일"/>
          <p:cNvSpPr>
            <a:spLocks noGrp="1"/>
          </p:cNvSpPr>
          <p:nvPr>
            <p:ph type="body" sz="quarter" idx="56"/>
          </p:nvPr>
        </p:nvSpPr>
        <p:spPr>
          <a:xfrm>
            <a:off x="734087" y="5042817"/>
            <a:ext cx="580696" cy="83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실 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 계</a:t>
            </a:r>
          </a:p>
        </p:txBody>
      </p:sp>
      <p:sp>
        <p:nvSpPr>
          <p:cNvPr id="86" name="레일 삼각형"/>
          <p:cNvSpPr/>
          <p:nvPr/>
        </p:nvSpPr>
        <p:spPr>
          <a:xfrm>
            <a:off x="734086" y="5042817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태그"/>
          <p:cNvSpPr/>
          <p:nvPr/>
        </p:nvSpPr>
        <p:spPr>
          <a:xfrm>
            <a:off x="1347652" y="5086643"/>
            <a:ext cx="576673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8" name="태그"/>
          <p:cNvSpPr>
            <a:spLocks noGrp="1"/>
          </p:cNvSpPr>
          <p:nvPr>
            <p:ph type="body" sz="quarter" idx="57"/>
          </p:nvPr>
        </p:nvSpPr>
        <p:spPr>
          <a:xfrm>
            <a:off x="1347652" y="5086643"/>
            <a:ext cx="576673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PLAN</a:t>
            </a:r>
          </a:p>
        </p:txBody>
      </p:sp>
      <p:sp>
        <p:nvSpPr>
          <p:cNvPr id="89" name="태그 설명"/>
          <p:cNvSpPr>
            <a:spLocks noGrp="1"/>
          </p:cNvSpPr>
          <p:nvPr>
            <p:ph type="body" sz="quarter" idx="58"/>
          </p:nvPr>
        </p:nvSpPr>
        <p:spPr>
          <a:xfrm>
            <a:off x="1968151" y="5075687"/>
            <a:ext cx="5027588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경영전략-ESG 전략과 연계한 ‘일자리 창출 계획’ 수립</a:t>
            </a:r>
          </a:p>
        </p:txBody>
      </p:sp>
      <p:sp>
        <p:nvSpPr>
          <p:cNvPr id="90" name="태그"/>
          <p:cNvSpPr/>
          <p:nvPr/>
        </p:nvSpPr>
        <p:spPr>
          <a:xfrm>
            <a:off x="1347652" y="5283861"/>
            <a:ext cx="576673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1" name="태그"/>
          <p:cNvSpPr>
            <a:spLocks noGrp="1"/>
          </p:cNvSpPr>
          <p:nvPr>
            <p:ph type="body" sz="quarter" idx="59"/>
          </p:nvPr>
        </p:nvSpPr>
        <p:spPr>
          <a:xfrm>
            <a:off x="1347652" y="5283861"/>
            <a:ext cx="576673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DO</a:t>
            </a:r>
          </a:p>
        </p:txBody>
      </p:sp>
      <p:sp>
        <p:nvSpPr>
          <p:cNvPr id="92" name="태그 설명"/>
          <p:cNvSpPr>
            <a:spLocks noGrp="1"/>
          </p:cNvSpPr>
          <p:nvPr>
            <p:ph type="body" sz="quarter" idx="60"/>
          </p:nvPr>
        </p:nvSpPr>
        <p:spPr>
          <a:xfrm>
            <a:off x="1968151" y="5272904"/>
            <a:ext cx="5027588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추진단 중심 외부 의견수렴 및 장애 고용TF 보강</a:t>
            </a:r>
          </a:p>
        </p:txBody>
      </p:sp>
      <p:sp>
        <p:nvSpPr>
          <p:cNvPr id="93" name="태그"/>
          <p:cNvSpPr/>
          <p:nvPr/>
        </p:nvSpPr>
        <p:spPr>
          <a:xfrm>
            <a:off x="1347652" y="5481078"/>
            <a:ext cx="576673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4" name="태그"/>
          <p:cNvSpPr>
            <a:spLocks noGrp="1"/>
          </p:cNvSpPr>
          <p:nvPr>
            <p:ph type="body" sz="quarter" idx="61"/>
          </p:nvPr>
        </p:nvSpPr>
        <p:spPr>
          <a:xfrm>
            <a:off x="1347652" y="5481078"/>
            <a:ext cx="576673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CHECK</a:t>
            </a:r>
          </a:p>
        </p:txBody>
      </p:sp>
      <p:sp>
        <p:nvSpPr>
          <p:cNvPr id="95" name="태그 설명"/>
          <p:cNvSpPr>
            <a:spLocks noGrp="1"/>
          </p:cNvSpPr>
          <p:nvPr>
            <p:ph type="body" sz="quarter" idx="62"/>
          </p:nvPr>
        </p:nvSpPr>
        <p:spPr>
          <a:xfrm>
            <a:off x="1968151" y="5470122"/>
            <a:ext cx="5027588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성과지표(KPI)를 통한 고용성과 종합점검</a:t>
            </a:r>
          </a:p>
        </p:txBody>
      </p:sp>
      <p:sp>
        <p:nvSpPr>
          <p:cNvPr id="96" name="태그"/>
          <p:cNvSpPr/>
          <p:nvPr/>
        </p:nvSpPr>
        <p:spPr>
          <a:xfrm>
            <a:off x="1347652" y="5678296"/>
            <a:ext cx="576673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7" name="태그"/>
          <p:cNvSpPr>
            <a:spLocks noGrp="1"/>
          </p:cNvSpPr>
          <p:nvPr>
            <p:ph type="body" sz="quarter" idx="63"/>
          </p:nvPr>
        </p:nvSpPr>
        <p:spPr>
          <a:xfrm>
            <a:off x="1347652" y="5678296"/>
            <a:ext cx="576673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ACT</a:t>
            </a:r>
          </a:p>
        </p:txBody>
      </p:sp>
      <p:sp>
        <p:nvSpPr>
          <p:cNvPr id="98" name="태그 설명"/>
          <p:cNvSpPr>
            <a:spLocks noGrp="1"/>
          </p:cNvSpPr>
          <p:nvPr>
            <p:ph type="body" sz="quarter" idx="64"/>
          </p:nvPr>
        </p:nvSpPr>
        <p:spPr>
          <a:xfrm>
            <a:off x="1968151" y="5667339"/>
            <a:ext cx="5027588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내부평가 반영을 통해 추진성과 환류</a:t>
            </a:r>
          </a:p>
        </p:txBody>
      </p:sp>
      <p:sp>
        <p:nvSpPr>
          <p:cNvPr id="99" name="핵심성과 박스"/>
          <p:cNvSpPr/>
          <p:nvPr/>
        </p:nvSpPr>
        <p:spPr>
          <a:xfrm>
            <a:off x="723130" y="5985078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핵심성과 라벨"/>
          <p:cNvSpPr/>
          <p:nvPr/>
        </p:nvSpPr>
        <p:spPr>
          <a:xfrm>
            <a:off x="756000" y="6017948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01" name="핵심성과 라벨"/>
          <p:cNvSpPr>
            <a:spLocks noGrp="1"/>
          </p:cNvSpPr>
          <p:nvPr>
            <p:ph type="body" sz="quarter" idx="65"/>
          </p:nvPr>
        </p:nvSpPr>
        <p:spPr>
          <a:xfrm>
            <a:off x="756000" y="6017948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대표성과</a:t>
            </a:r>
          </a:p>
        </p:txBody>
      </p:sp>
      <p:sp>
        <p:nvSpPr>
          <p:cNvPr id="102" name="핵심성과 문구"/>
          <p:cNvSpPr>
            <a:spLocks noGrp="1"/>
          </p:cNvSpPr>
          <p:nvPr>
            <p:ph type="body" sz="quarter" idx="66"/>
          </p:nvPr>
        </p:nvSpPr>
        <p:spPr>
          <a:xfrm>
            <a:off x="1501043" y="6006991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신규 채용 423명, 인턴 출신 정규직 채용률 15.7%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민간일자리 2,549개 창출, 장애 고용률 3.8% 달성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45 서사 · 문제인식 → 시사점 → 채용여력 확보 → 안정적 채용운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더 빠르게, 더 자주, 더 공정하게 삼박자 채용 혁신</a:t>
            </a:r>
          </a:p>
        </p:txBody>
      </p:sp>
      <p:sp>
        <p:nvSpPr>
          <p:cNvPr id="15" name="형광 밑줄"/>
          <p:cNvSpPr/>
          <p:nvPr/>
        </p:nvSpPr>
        <p:spPr>
          <a:xfrm>
            <a:off x="536870" y="1347652"/>
            <a:ext cx="370820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소제목"/>
          <p:cNvSpPr>
            <a:spLocks noGrp="1"/>
          </p:cNvSpPr>
          <p:nvPr>
            <p:ph type="body" sz="quarter" idx="22"/>
          </p:nvPr>
        </p:nvSpPr>
        <p:spPr>
          <a:xfrm>
            <a:off x="536870" y="1194261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일자리 기회는 넓히고, 시기는 앞당겨 기다림 없는 채용 구현</a:t>
            </a:r>
          </a:p>
        </p:txBody>
      </p:sp>
      <p:sp>
        <p:nvSpPr>
          <p:cNvPr id="17" name="태그칩"/>
          <p:cNvSpPr/>
          <p:nvPr/>
        </p:nvSpPr>
        <p:spPr>
          <a:xfrm>
            <a:off x="4343682" y="1227130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태그칩"/>
          <p:cNvSpPr>
            <a:spLocks noGrp="1"/>
          </p:cNvSpPr>
          <p:nvPr>
            <p:ph type="body" sz="quarter" idx="23"/>
          </p:nvPr>
        </p:nvSpPr>
        <p:spPr>
          <a:xfrm>
            <a:off x="4343682" y="1227130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9" name="태그칩"/>
          <p:cNvSpPr/>
          <p:nvPr/>
        </p:nvSpPr>
        <p:spPr>
          <a:xfrm>
            <a:off x="4894803" y="1227130"/>
            <a:ext cx="483604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태그칩"/>
          <p:cNvSpPr>
            <a:spLocks noGrp="1"/>
          </p:cNvSpPr>
          <p:nvPr>
            <p:ph type="body" sz="quarter" idx="24"/>
          </p:nvPr>
        </p:nvSpPr>
        <p:spPr>
          <a:xfrm>
            <a:off x="4894803" y="1227130"/>
            <a:ext cx="483604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21" name="표 외곽"/>
          <p:cNvSpPr/>
          <p:nvPr/>
        </p:nvSpPr>
        <p:spPr>
          <a:xfrm>
            <a:off x="536870" y="1479130"/>
            <a:ext cx="6300000" cy="44107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"/>
          <p:cNvSpPr/>
          <p:nvPr/>
        </p:nvSpPr>
        <p:spPr>
          <a:xfrm>
            <a:off x="547826" y="1495565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1495565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 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 식</a:t>
            </a:r>
          </a:p>
        </p:txBody>
      </p:sp>
      <p:sp>
        <p:nvSpPr>
          <p:cNvPr id="24" name="칸 본문"/>
          <p:cNvSpPr>
            <a:spLocks noGrp="1"/>
          </p:cNvSpPr>
          <p:nvPr>
            <p:ph type="body" sz="quarter" idx="26"/>
          </p:nvPr>
        </p:nvSpPr>
        <p:spPr>
          <a:xfrm>
            <a:off x="1172348" y="1517478"/>
            <a:ext cx="542896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청년
니즈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7"/>
          </p:nvPr>
        </p:nvSpPr>
        <p:spPr>
          <a:xfrm>
            <a:off x="1737157" y="1517478"/>
            <a:ext cx="2237322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공기업에 대한 선호도는 상승</a:t>
            </a:r>
          </a:p>
        </p:txBody>
      </p:sp>
      <p:cxnSp>
        <p:nvCxnSpPr>
          <p:cNvPr id="26" name="Connector 19"/>
          <p:cNvCxnSpPr/>
          <p:nvPr/>
        </p:nvCxnSpPr>
        <p:spPr>
          <a:xfrm>
            <a:off x="1726200" y="1550348"/>
            <a:ext cx="0" cy="28486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7" name="칸 본문"/>
          <p:cNvSpPr>
            <a:spLocks noGrp="1"/>
          </p:cNvSpPr>
          <p:nvPr>
            <p:ph type="body" sz="quarter" idx="28"/>
          </p:nvPr>
        </p:nvSpPr>
        <p:spPr>
          <a:xfrm>
            <a:off x="3996391" y="1517478"/>
            <a:ext cx="542896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그러나
현실은</a:t>
            </a:r>
          </a:p>
        </p:txBody>
      </p:sp>
      <p:cxnSp>
        <p:nvCxnSpPr>
          <p:cNvPr id="28" name="Connector 21"/>
          <p:cNvCxnSpPr/>
          <p:nvPr/>
        </p:nvCxnSpPr>
        <p:spPr>
          <a:xfrm>
            <a:off x="3985435" y="1550348"/>
            <a:ext cx="0" cy="28486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9" name="칸 본문"/>
          <p:cNvSpPr>
            <a:spLocks noGrp="1"/>
          </p:cNvSpPr>
          <p:nvPr>
            <p:ph type="body" sz="quarter" idx="29"/>
          </p:nvPr>
        </p:nvSpPr>
        <p:spPr>
          <a:xfrm>
            <a:off x="4561200" y="1517478"/>
            <a:ext cx="2237322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신규 정규직 중 청년 비중은 4년만 최저 수준</a:t>
            </a:r>
          </a:p>
        </p:txBody>
      </p:sp>
      <p:cxnSp>
        <p:nvCxnSpPr>
          <p:cNvPr id="30" name="Connector 23"/>
          <p:cNvCxnSpPr/>
          <p:nvPr/>
        </p:nvCxnSpPr>
        <p:spPr>
          <a:xfrm>
            <a:off x="4550243" y="1550348"/>
            <a:ext cx="0" cy="28486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1" name="캡션 띠"/>
          <p:cNvSpPr/>
          <p:nvPr/>
        </p:nvSpPr>
        <p:spPr>
          <a:xfrm>
            <a:off x="536869" y="1942121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태그"/>
          <p:cNvSpPr/>
          <p:nvPr/>
        </p:nvSpPr>
        <p:spPr>
          <a:xfrm>
            <a:off x="865565" y="1985948"/>
            <a:ext cx="438871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3" name="태그"/>
          <p:cNvSpPr>
            <a:spLocks noGrp="1"/>
          </p:cNvSpPr>
          <p:nvPr>
            <p:ph type="body" sz="quarter" idx="30"/>
          </p:nvPr>
        </p:nvSpPr>
        <p:spPr>
          <a:xfrm>
            <a:off x="865565" y="1985948"/>
            <a:ext cx="438871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34" name="캡션"/>
          <p:cNvSpPr>
            <a:spLocks noGrp="1"/>
          </p:cNvSpPr>
          <p:nvPr>
            <p:ph type="body" sz="quarter" idx="31"/>
          </p:nvPr>
        </p:nvSpPr>
        <p:spPr>
          <a:xfrm>
            <a:off x="1359219" y="1942122"/>
            <a:ext cx="5258520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청년 취업의 첫 문을 여는 조기채용 선도기관으로서 고용 버팀목 역할 주도</a:t>
            </a:r>
          </a:p>
        </p:txBody>
      </p:sp>
      <p:sp>
        <p:nvSpPr>
          <p:cNvPr id="35" name="표 외곽"/>
          <p:cNvSpPr/>
          <p:nvPr/>
        </p:nvSpPr>
        <p:spPr>
          <a:xfrm>
            <a:off x="536870" y="2248904"/>
            <a:ext cx="6300000" cy="207626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레일"/>
          <p:cNvSpPr/>
          <p:nvPr/>
        </p:nvSpPr>
        <p:spPr>
          <a:xfrm>
            <a:off x="547826" y="2265339"/>
            <a:ext cx="580696" cy="89843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7" name="레일"/>
          <p:cNvSpPr>
            <a:spLocks noGrp="1"/>
          </p:cNvSpPr>
          <p:nvPr>
            <p:ph type="body" sz="quarter" idx="32"/>
          </p:nvPr>
        </p:nvSpPr>
        <p:spPr>
          <a:xfrm>
            <a:off x="547826" y="2265339"/>
            <a:ext cx="580696" cy="89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채용여력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확 보</a:t>
            </a:r>
          </a:p>
        </p:txBody>
      </p:sp>
      <p:sp>
        <p:nvSpPr>
          <p:cNvPr id="38" name="머리칸"/>
          <p:cNvSpPr/>
          <p:nvPr/>
        </p:nvSpPr>
        <p:spPr>
          <a:xfrm>
            <a:off x="1161391" y="2287252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9" name="머리칸"/>
          <p:cNvSpPr>
            <a:spLocks noGrp="1"/>
          </p:cNvSpPr>
          <p:nvPr>
            <p:ph type="body" sz="quarter" idx="33"/>
          </p:nvPr>
        </p:nvSpPr>
        <p:spPr>
          <a:xfrm>
            <a:off x="1161391" y="2287252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국가 정책사업 증원</a:t>
            </a:r>
          </a:p>
        </p:txBody>
      </p:sp>
      <p:sp>
        <p:nvSpPr>
          <p:cNvPr id="40" name="머리칸"/>
          <p:cNvSpPr/>
          <p:nvPr/>
        </p:nvSpPr>
        <p:spPr>
          <a:xfrm>
            <a:off x="3985435" y="2287252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1" name="머리칸"/>
          <p:cNvSpPr>
            <a:spLocks noGrp="1"/>
          </p:cNvSpPr>
          <p:nvPr>
            <p:ph type="body" sz="quarter" idx="34"/>
          </p:nvPr>
        </p:nvSpPr>
        <p:spPr>
          <a:xfrm>
            <a:off x="3985435" y="2287252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결원 발생·해소 체계적 관리</a:t>
            </a:r>
          </a:p>
        </p:txBody>
      </p:sp>
      <p:sp>
        <p:nvSpPr>
          <p:cNvPr id="42" name="칸 본문"/>
          <p:cNvSpPr>
            <a:spLocks noGrp="1"/>
          </p:cNvSpPr>
          <p:nvPr>
            <p:ph type="body" sz="quarter" idx="35"/>
          </p:nvPr>
        </p:nvSpPr>
        <p:spPr>
          <a:xfrm>
            <a:off x="1172348" y="2528296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수시 신규사업, 직원 케어 기능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정기 AI 혁신, 국민·건설안전 인력</a:t>
            </a:r>
          </a:p>
        </p:txBody>
      </p:sp>
      <p:sp>
        <p:nvSpPr>
          <p:cNvPr id="43" name="칸 본문"/>
          <p:cNvSpPr>
            <a:spLocks noGrp="1"/>
          </p:cNvSpPr>
          <p:nvPr>
            <p:ph type="body" sz="quarter" idx="36"/>
          </p:nvPr>
        </p:nvSpPr>
        <p:spPr>
          <a:xfrm>
            <a:off x="3996391" y="2528296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임신~출산~육아휴직 통합신청 시스템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복직신청 제도 도입</a:t>
            </a:r>
          </a:p>
        </p:txBody>
      </p:sp>
      <p:cxnSp>
        <p:nvCxnSpPr>
          <p:cNvPr id="44" name="Connector 33"/>
          <p:cNvCxnSpPr/>
          <p:nvPr/>
        </p:nvCxnSpPr>
        <p:spPr>
          <a:xfrm>
            <a:off x="3985435" y="2561165"/>
            <a:ext cx="0" cy="32869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칸 본문"/>
          <p:cNvSpPr>
            <a:spLocks noGrp="1"/>
          </p:cNvSpPr>
          <p:nvPr>
            <p:ph type="body" sz="quarter" idx="37"/>
          </p:nvPr>
        </p:nvSpPr>
        <p:spPr>
          <a:xfrm>
            <a:off x="1172348" y="2939165"/>
            <a:ext cx="2802130" cy="21913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총 43명 증원 확보(’24년 대비 215%)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38"/>
          </p:nvPr>
        </p:nvSpPr>
        <p:spPr>
          <a:xfrm>
            <a:off x="3996391" y="2939165"/>
            <a:ext cx="2802130" cy="21913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휴직 결원 125명 확보(’24년 대비 128%)</a:t>
            </a:r>
          </a:p>
        </p:txBody>
      </p:sp>
      <p:cxnSp>
        <p:nvCxnSpPr>
          <p:cNvPr id="47" name="Connector 36"/>
          <p:cNvCxnSpPr/>
          <p:nvPr/>
        </p:nvCxnSpPr>
        <p:spPr>
          <a:xfrm>
            <a:off x="3985435" y="2972035"/>
            <a:ext cx="0" cy="15339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8" name="레일"/>
          <p:cNvSpPr/>
          <p:nvPr/>
        </p:nvSpPr>
        <p:spPr>
          <a:xfrm>
            <a:off x="547826" y="3180209"/>
            <a:ext cx="580696" cy="1128522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9" name="레일"/>
          <p:cNvSpPr>
            <a:spLocks noGrp="1"/>
          </p:cNvSpPr>
          <p:nvPr>
            <p:ph type="body" sz="quarter" idx="39"/>
          </p:nvPr>
        </p:nvSpPr>
        <p:spPr>
          <a:xfrm>
            <a:off x="547826" y="3180209"/>
            <a:ext cx="580696" cy="112852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안정적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채용운영</a:t>
            </a:r>
          </a:p>
        </p:txBody>
      </p:sp>
      <p:sp>
        <p:nvSpPr>
          <p:cNvPr id="50" name="레일 삼각형"/>
          <p:cNvSpPr/>
          <p:nvPr/>
        </p:nvSpPr>
        <p:spPr>
          <a:xfrm>
            <a:off x="547826" y="3180208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머리칸"/>
          <p:cNvSpPr/>
          <p:nvPr/>
        </p:nvSpPr>
        <p:spPr>
          <a:xfrm>
            <a:off x="1161391" y="3202122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2" name="머리칸"/>
          <p:cNvSpPr>
            <a:spLocks noGrp="1"/>
          </p:cNvSpPr>
          <p:nvPr>
            <p:ph type="body" sz="quarter" idx="40"/>
          </p:nvPr>
        </p:nvSpPr>
        <p:spPr>
          <a:xfrm>
            <a:off x="1161391" y="3202122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속도감 있는 채용</a:t>
            </a:r>
          </a:p>
        </p:txBody>
      </p:sp>
      <p:sp>
        <p:nvSpPr>
          <p:cNvPr id="53" name="머리칸"/>
          <p:cNvSpPr/>
          <p:nvPr/>
        </p:nvSpPr>
        <p:spPr>
          <a:xfrm>
            <a:off x="3985435" y="3202122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4" name="머리칸"/>
          <p:cNvSpPr>
            <a:spLocks noGrp="1"/>
          </p:cNvSpPr>
          <p:nvPr>
            <p:ph type="body" sz="quarter" idx="41"/>
          </p:nvPr>
        </p:nvSpPr>
        <p:spPr>
          <a:xfrm>
            <a:off x="3985435" y="3202122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기다림 없는 인력 충원</a:t>
            </a:r>
          </a:p>
        </p:txBody>
      </p:sp>
      <p:sp>
        <p:nvSpPr>
          <p:cNvPr id="55" name="칸 본문"/>
          <p:cNvSpPr>
            <a:spLocks noGrp="1"/>
          </p:cNvSpPr>
          <p:nvPr>
            <p:ph type="body" sz="quarter" idx="42"/>
          </p:nvPr>
        </p:nvSpPr>
        <p:spPr>
          <a:xfrm>
            <a:off x="1172348" y="3443165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증원·신사업 확정 즉시 채용 착수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과정 60일 이내 완료</a:t>
            </a:r>
          </a:p>
        </p:txBody>
      </p:sp>
      <p:sp>
        <p:nvSpPr>
          <p:cNvPr id="56" name="칸 본문"/>
          <p:cNvSpPr>
            <a:spLocks noGrp="1"/>
          </p:cNvSpPr>
          <p:nvPr>
            <p:ph type="body" sz="quarter" idx="43"/>
          </p:nvPr>
        </p:nvSpPr>
        <p:spPr>
          <a:xfrm>
            <a:off x="3996391" y="3443165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상·중·하반기 공채, 탄력적 채용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채용 후보자 Pool 활용 공백 최소화</a:t>
            </a:r>
          </a:p>
        </p:txBody>
      </p:sp>
      <p:cxnSp>
        <p:nvCxnSpPr>
          <p:cNvPr id="57" name="Connector 43"/>
          <p:cNvCxnSpPr/>
          <p:nvPr/>
        </p:nvCxnSpPr>
        <p:spPr>
          <a:xfrm>
            <a:off x="3985435" y="3476035"/>
            <a:ext cx="0" cy="32869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8" name="단계"/>
          <p:cNvSpPr/>
          <p:nvPr/>
        </p:nvSpPr>
        <p:spPr>
          <a:xfrm>
            <a:off x="1161391" y="3854035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9" name="단계"/>
          <p:cNvSpPr>
            <a:spLocks noGrp="1"/>
          </p:cNvSpPr>
          <p:nvPr>
            <p:ph type="body" sz="quarter" idx="44"/>
          </p:nvPr>
        </p:nvSpPr>
        <p:spPr>
          <a:xfrm>
            <a:off x="1161391" y="38540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상반기</a:t>
            </a:r>
          </a:p>
        </p:txBody>
      </p:sp>
      <p:sp>
        <p:nvSpPr>
          <p:cNvPr id="60" name="단계"/>
          <p:cNvSpPr/>
          <p:nvPr/>
        </p:nvSpPr>
        <p:spPr>
          <a:xfrm>
            <a:off x="3044087" y="3854035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1" name="단계"/>
          <p:cNvSpPr>
            <a:spLocks noGrp="1"/>
          </p:cNvSpPr>
          <p:nvPr>
            <p:ph type="body" sz="quarter" idx="45"/>
          </p:nvPr>
        </p:nvSpPr>
        <p:spPr>
          <a:xfrm>
            <a:off x="3044087" y="38540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수시</a:t>
            </a:r>
          </a:p>
        </p:txBody>
      </p:sp>
      <p:sp>
        <p:nvSpPr>
          <p:cNvPr id="62" name="단계"/>
          <p:cNvSpPr/>
          <p:nvPr/>
        </p:nvSpPr>
        <p:spPr>
          <a:xfrm>
            <a:off x="4926783" y="3854035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63" name="단계"/>
          <p:cNvSpPr>
            <a:spLocks noGrp="1"/>
          </p:cNvSpPr>
          <p:nvPr>
            <p:ph type="body" sz="quarter" idx="46"/>
          </p:nvPr>
        </p:nvSpPr>
        <p:spPr>
          <a:xfrm>
            <a:off x="4926783" y="385403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하반기</a:t>
            </a:r>
          </a:p>
        </p:txBody>
      </p:sp>
      <p:sp>
        <p:nvSpPr>
          <p:cNvPr id="64" name="단계 삼각형"/>
          <p:cNvSpPr/>
          <p:nvPr/>
        </p:nvSpPr>
        <p:spPr>
          <a:xfrm>
            <a:off x="3044086" y="3854034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단계 삼각형"/>
          <p:cNvSpPr/>
          <p:nvPr/>
        </p:nvSpPr>
        <p:spPr>
          <a:xfrm>
            <a:off x="4926782" y="385403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칸 본문"/>
          <p:cNvSpPr>
            <a:spLocks noGrp="1"/>
          </p:cNvSpPr>
          <p:nvPr>
            <p:ph type="body" sz="quarter" idx="47"/>
          </p:nvPr>
        </p:nvSpPr>
        <p:spPr>
          <a:xfrm>
            <a:off x="1172348" y="4106035"/>
            <a:ext cx="1860783" cy="19721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201명(’24.12)</a:t>
            </a:r>
          </a:p>
        </p:txBody>
      </p:sp>
      <p:sp>
        <p:nvSpPr>
          <p:cNvPr id="67" name="칸 본문"/>
          <p:cNvSpPr>
            <a:spLocks noGrp="1"/>
          </p:cNvSpPr>
          <p:nvPr>
            <p:ph type="body" sz="quarter" idx="48"/>
          </p:nvPr>
        </p:nvSpPr>
        <p:spPr>
          <a:xfrm>
            <a:off x="3055043" y="4106035"/>
            <a:ext cx="1860783" cy="19721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37명(’25.4)</a:t>
            </a:r>
          </a:p>
        </p:txBody>
      </p:sp>
      <p:cxnSp>
        <p:nvCxnSpPr>
          <p:cNvPr id="68" name="Connector 51"/>
          <p:cNvCxnSpPr/>
          <p:nvPr/>
        </p:nvCxnSpPr>
        <p:spPr>
          <a:xfrm>
            <a:off x="3044087" y="4138904"/>
            <a:ext cx="0" cy="13147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9" name="칸 본문"/>
          <p:cNvSpPr>
            <a:spLocks noGrp="1"/>
          </p:cNvSpPr>
          <p:nvPr>
            <p:ph type="body" sz="quarter" idx="49"/>
          </p:nvPr>
        </p:nvSpPr>
        <p:spPr>
          <a:xfrm>
            <a:off x="4937739" y="4106035"/>
            <a:ext cx="1860783" cy="19721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185명(’25.8)</a:t>
            </a:r>
          </a:p>
        </p:txBody>
      </p:sp>
      <p:cxnSp>
        <p:nvCxnSpPr>
          <p:cNvPr id="70" name="Connector 53"/>
          <p:cNvCxnSpPr/>
          <p:nvPr/>
        </p:nvCxnSpPr>
        <p:spPr>
          <a:xfrm>
            <a:off x="4926783" y="4138904"/>
            <a:ext cx="0" cy="13147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1" name="핵심성과 박스"/>
          <p:cNvSpPr/>
          <p:nvPr/>
        </p:nvSpPr>
        <p:spPr>
          <a:xfrm>
            <a:off x="536870" y="4412817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핵심성과 라벨"/>
          <p:cNvSpPr/>
          <p:nvPr/>
        </p:nvSpPr>
        <p:spPr>
          <a:xfrm>
            <a:off x="569739" y="4445687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73" name="핵심성과 라벨"/>
          <p:cNvSpPr>
            <a:spLocks noGrp="1"/>
          </p:cNvSpPr>
          <p:nvPr>
            <p:ph type="body" sz="quarter" idx="50"/>
          </p:nvPr>
        </p:nvSpPr>
        <p:spPr>
          <a:xfrm>
            <a:off x="569739" y="4445687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74" name="핵심성과 문구"/>
          <p:cNvSpPr>
            <a:spLocks noGrp="1"/>
          </p:cNvSpPr>
          <p:nvPr>
            <p:ph type="body" sz="quarter" idx="51"/>
          </p:nvPr>
        </p:nvSpPr>
        <p:spPr>
          <a:xfrm>
            <a:off x="1314783" y="4434730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정규직 423명 채용(전년比 66.5%↑), 정원대비 청년 채용률 7.2%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4년 연속 SOC군 최초 채용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46 서사 · 추진배경(현업·채용 담당) → 정밀한 직무검증 → 공정성 강화 → 리스크 예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931304"/>
            <a:ext cx="3836130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유능한 실무인재 선발을 위한 더 공정한 예방 중심 시스템 구축</a:t>
            </a:r>
          </a:p>
        </p:txBody>
      </p:sp>
      <p:sp>
        <p:nvSpPr>
          <p:cNvPr id="11" name="태그칩"/>
          <p:cNvSpPr/>
          <p:nvPr/>
        </p:nvSpPr>
        <p:spPr>
          <a:xfrm>
            <a:off x="4657869" y="810783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태그칩"/>
          <p:cNvSpPr>
            <a:spLocks noGrp="1"/>
          </p:cNvSpPr>
          <p:nvPr>
            <p:ph type="body" sz="quarter" idx="21"/>
          </p:nvPr>
        </p:nvSpPr>
        <p:spPr>
          <a:xfrm>
            <a:off x="4657869" y="810783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3" name="표 외곽"/>
          <p:cNvSpPr/>
          <p:nvPr/>
        </p:nvSpPr>
        <p:spPr>
          <a:xfrm>
            <a:off x="723130" y="1062783"/>
            <a:ext cx="6300000" cy="269953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레일"/>
          <p:cNvSpPr/>
          <p:nvPr/>
        </p:nvSpPr>
        <p:spPr>
          <a:xfrm>
            <a:off x="734087" y="1079217"/>
            <a:ext cx="580696" cy="48756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레일"/>
          <p:cNvSpPr>
            <a:spLocks noGrp="1"/>
          </p:cNvSpPr>
          <p:nvPr>
            <p:ph type="body" sz="quarter" idx="22"/>
          </p:nvPr>
        </p:nvSpPr>
        <p:spPr>
          <a:xfrm>
            <a:off x="734087" y="1079217"/>
            <a:ext cx="580696" cy="48756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3"/>
          </p:nvPr>
        </p:nvSpPr>
        <p:spPr>
          <a:xfrm>
            <a:off x="1358609" y="1101130"/>
            <a:ext cx="2802130" cy="46017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현업부서 “업무가 빠르게 돌아가는 현업 특성상 즉시 실무 투입 가능한 인재가 필요”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4"/>
          </p:nvPr>
        </p:nvSpPr>
        <p:spPr>
          <a:xfrm>
            <a:off x="4182652" y="1101130"/>
            <a:ext cx="2802130" cy="46017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채용담당 “공정 채용을 위한 제도는 다 갖췄는데, 놓치고 있는 사각지대는 없는지 고민”</a:t>
            </a:r>
          </a:p>
        </p:txBody>
      </p:sp>
      <p:cxnSp>
        <p:nvCxnSpPr>
          <p:cNvPr id="18" name="Connector 10"/>
          <p:cNvCxnSpPr/>
          <p:nvPr/>
        </p:nvCxnSpPr>
        <p:spPr>
          <a:xfrm>
            <a:off x="4171696" y="1134000"/>
            <a:ext cx="0" cy="394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9" name="레일"/>
          <p:cNvSpPr/>
          <p:nvPr/>
        </p:nvSpPr>
        <p:spPr>
          <a:xfrm>
            <a:off x="734087" y="1583217"/>
            <a:ext cx="580696" cy="68478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5"/>
          </p:nvPr>
        </p:nvSpPr>
        <p:spPr>
          <a:xfrm>
            <a:off x="734087" y="1583217"/>
            <a:ext cx="580696" cy="6847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정밀한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직무검증</a:t>
            </a:r>
          </a:p>
        </p:txBody>
      </p:sp>
      <p:sp>
        <p:nvSpPr>
          <p:cNvPr id="21" name="레일 삼각형"/>
          <p:cNvSpPr/>
          <p:nvPr/>
        </p:nvSpPr>
        <p:spPr>
          <a:xfrm>
            <a:off x="734086" y="1583217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머리칸"/>
          <p:cNvSpPr/>
          <p:nvPr/>
        </p:nvSpPr>
        <p:spPr>
          <a:xfrm>
            <a:off x="1347652" y="1605130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3" name="머리칸"/>
          <p:cNvSpPr>
            <a:spLocks noGrp="1"/>
          </p:cNvSpPr>
          <p:nvPr>
            <p:ph type="body" sz="quarter" idx="26"/>
          </p:nvPr>
        </p:nvSpPr>
        <p:spPr>
          <a:xfrm>
            <a:off x="1347652" y="1605130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일반직 직무적합 선발</a:t>
            </a:r>
          </a:p>
        </p:txBody>
      </p:sp>
      <p:sp>
        <p:nvSpPr>
          <p:cNvPr id="24" name="머리칸"/>
          <p:cNvSpPr/>
          <p:nvPr/>
        </p:nvSpPr>
        <p:spPr>
          <a:xfrm>
            <a:off x="3230348" y="1605130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5" name="머리칸"/>
          <p:cNvSpPr>
            <a:spLocks noGrp="1"/>
          </p:cNvSpPr>
          <p:nvPr>
            <p:ph type="body" sz="quarter" idx="27"/>
          </p:nvPr>
        </p:nvSpPr>
        <p:spPr>
          <a:xfrm>
            <a:off x="3230348" y="1605130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운영직 실무역량 반영</a:t>
            </a:r>
          </a:p>
        </p:txBody>
      </p:sp>
      <p:sp>
        <p:nvSpPr>
          <p:cNvPr id="26" name="머리칸"/>
          <p:cNvSpPr/>
          <p:nvPr/>
        </p:nvSpPr>
        <p:spPr>
          <a:xfrm>
            <a:off x="5113043" y="1605130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8"/>
          </p:nvPr>
        </p:nvSpPr>
        <p:spPr>
          <a:xfrm>
            <a:off x="5113043" y="1605130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전문직 직무역량 평가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29"/>
          </p:nvPr>
        </p:nvSpPr>
        <p:spPr>
          <a:xfrm>
            <a:off x="1358609" y="1846174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총점 40% 미달 과락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직무 40% 미달 과락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30"/>
          </p:nvPr>
        </p:nvSpPr>
        <p:spPr>
          <a:xfrm>
            <a:off x="3241304" y="1846174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관련분야 자격증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관련경력(1년↑)도 인정</a:t>
            </a:r>
          </a:p>
        </p:txBody>
      </p:sp>
      <p:cxnSp>
        <p:nvCxnSpPr>
          <p:cNvPr id="30" name="Connector 18"/>
          <p:cNvCxnSpPr/>
          <p:nvPr/>
        </p:nvCxnSpPr>
        <p:spPr>
          <a:xfrm>
            <a:off x="3230348" y="1879043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1" name="칸 본문"/>
          <p:cNvSpPr>
            <a:spLocks noGrp="1"/>
          </p:cNvSpPr>
          <p:nvPr>
            <p:ph type="body" sz="quarter" idx="31"/>
          </p:nvPr>
        </p:nvSpPr>
        <p:spPr>
          <a:xfrm>
            <a:off x="5124000" y="1846174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학술이론 중심 논술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NCS 평가(’25.12 공지)</a:t>
            </a:r>
          </a:p>
        </p:txBody>
      </p:sp>
      <p:cxnSp>
        <p:nvCxnSpPr>
          <p:cNvPr id="32" name="Connector 20"/>
          <p:cNvCxnSpPr/>
          <p:nvPr/>
        </p:nvCxnSpPr>
        <p:spPr>
          <a:xfrm>
            <a:off x="5113043" y="1879043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레일"/>
          <p:cNvSpPr/>
          <p:nvPr/>
        </p:nvSpPr>
        <p:spPr>
          <a:xfrm>
            <a:off x="734087" y="2284435"/>
            <a:ext cx="580696" cy="760226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2"/>
          </p:nvPr>
        </p:nvSpPr>
        <p:spPr>
          <a:xfrm>
            <a:off x="734087" y="2284435"/>
            <a:ext cx="580696" cy="7602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공정성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 화</a:t>
            </a:r>
          </a:p>
        </p:txBody>
      </p:sp>
      <p:sp>
        <p:nvSpPr>
          <p:cNvPr id="35" name="머리칸"/>
          <p:cNvSpPr/>
          <p:nvPr/>
        </p:nvSpPr>
        <p:spPr>
          <a:xfrm>
            <a:off x="1347652" y="230634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6" name="머리칸"/>
          <p:cNvSpPr>
            <a:spLocks noGrp="1"/>
          </p:cNvSpPr>
          <p:nvPr>
            <p:ph type="body" sz="quarter" idx="33"/>
          </p:nvPr>
        </p:nvSpPr>
        <p:spPr>
          <a:xfrm>
            <a:off x="1347652" y="230634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서류전형 응시기회 확대</a:t>
            </a:r>
          </a:p>
        </p:txBody>
      </p:sp>
      <p:sp>
        <p:nvSpPr>
          <p:cNvPr id="37" name="머리칸"/>
          <p:cNvSpPr/>
          <p:nvPr/>
        </p:nvSpPr>
        <p:spPr>
          <a:xfrm>
            <a:off x="3230348" y="230634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8" name="머리칸"/>
          <p:cNvSpPr>
            <a:spLocks noGrp="1"/>
          </p:cNvSpPr>
          <p:nvPr>
            <p:ph type="body" sz="quarter" idx="34"/>
          </p:nvPr>
        </p:nvSpPr>
        <p:spPr>
          <a:xfrm>
            <a:off x="3230348" y="230634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성격검사 조직적합 검증</a:t>
            </a:r>
          </a:p>
        </p:txBody>
      </p:sp>
      <p:sp>
        <p:nvSpPr>
          <p:cNvPr id="39" name="머리칸"/>
          <p:cNvSpPr/>
          <p:nvPr/>
        </p:nvSpPr>
        <p:spPr>
          <a:xfrm>
            <a:off x="5113043" y="2306348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0" name="머리칸"/>
          <p:cNvSpPr>
            <a:spLocks noGrp="1"/>
          </p:cNvSpPr>
          <p:nvPr>
            <p:ph type="body" sz="quarter" idx="35"/>
          </p:nvPr>
        </p:nvSpPr>
        <p:spPr>
          <a:xfrm>
            <a:off x="5113043" y="2306348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면접전형 평가신뢰 제고</a:t>
            </a:r>
          </a:p>
        </p:txBody>
      </p:sp>
      <p:sp>
        <p:nvSpPr>
          <p:cNvPr id="41" name="칸 본문"/>
          <p:cNvSpPr>
            <a:spLocks noGrp="1"/>
          </p:cNvSpPr>
          <p:nvPr>
            <p:ph type="body" sz="quarter" idx="36"/>
          </p:nvPr>
        </p:nvSpPr>
        <p:spPr>
          <a:xfrm>
            <a:off x="1358609" y="2547391"/>
            <a:ext cx="1860783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서류 합격 배수 상향: 50배수 → 70배수</a:t>
            </a:r>
          </a:p>
        </p:txBody>
      </p:sp>
      <p:sp>
        <p:nvSpPr>
          <p:cNvPr id="42" name="칸 본문"/>
          <p:cNvSpPr>
            <a:spLocks noGrp="1"/>
          </p:cNvSpPr>
          <p:nvPr>
            <p:ph type="body" sz="quarter" idx="37"/>
          </p:nvPr>
        </p:nvSpPr>
        <p:spPr>
          <a:xfrm>
            <a:off x="3241304" y="2547391"/>
            <a:ext cx="1860783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성격검사 필수 요건 반영, 미응시자 제한</a:t>
            </a:r>
          </a:p>
        </p:txBody>
      </p:sp>
      <p:cxnSp>
        <p:nvCxnSpPr>
          <p:cNvPr id="43" name="Connector 27"/>
          <p:cNvCxnSpPr/>
          <p:nvPr/>
        </p:nvCxnSpPr>
        <p:spPr>
          <a:xfrm>
            <a:off x="3230348" y="2580261"/>
            <a:ext cx="0" cy="4260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4" name="칸 본문"/>
          <p:cNvSpPr>
            <a:spLocks noGrp="1"/>
          </p:cNvSpPr>
          <p:nvPr>
            <p:ph type="body" sz="quarter" idx="38"/>
          </p:nvPr>
        </p:nvSpPr>
        <p:spPr>
          <a:xfrm>
            <a:off x="5124000" y="2547391"/>
            <a:ext cx="1860783" cy="4917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면접관 사전교육 내실화: 단순 유의사항(2h) → 블라인드·평가사례(5h)</a:t>
            </a:r>
          </a:p>
        </p:txBody>
      </p:sp>
      <p:cxnSp>
        <p:nvCxnSpPr>
          <p:cNvPr id="45" name="Connector 29"/>
          <p:cNvCxnSpPr/>
          <p:nvPr/>
        </p:nvCxnSpPr>
        <p:spPr>
          <a:xfrm>
            <a:off x="5113043" y="2580261"/>
            <a:ext cx="0" cy="4260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6" name="레일"/>
          <p:cNvSpPr/>
          <p:nvPr/>
        </p:nvSpPr>
        <p:spPr>
          <a:xfrm>
            <a:off x="734087" y="3061096"/>
            <a:ext cx="580696" cy="684783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7" name="레일"/>
          <p:cNvSpPr>
            <a:spLocks noGrp="1"/>
          </p:cNvSpPr>
          <p:nvPr>
            <p:ph type="body" sz="quarter" idx="39"/>
          </p:nvPr>
        </p:nvSpPr>
        <p:spPr>
          <a:xfrm>
            <a:off x="734087" y="3061096"/>
            <a:ext cx="580696" cy="6847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리스크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예 방</a:t>
            </a:r>
          </a:p>
        </p:txBody>
      </p:sp>
      <p:sp>
        <p:nvSpPr>
          <p:cNvPr id="48" name="레일 삼각형"/>
          <p:cNvSpPr/>
          <p:nvPr/>
        </p:nvSpPr>
        <p:spPr>
          <a:xfrm>
            <a:off x="734086" y="3061095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머리칸"/>
          <p:cNvSpPr/>
          <p:nvPr/>
        </p:nvSpPr>
        <p:spPr>
          <a:xfrm>
            <a:off x="1347652" y="3083009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0" name="머리칸"/>
          <p:cNvSpPr>
            <a:spLocks noGrp="1"/>
          </p:cNvSpPr>
          <p:nvPr>
            <p:ph type="body" sz="quarter" idx="40"/>
          </p:nvPr>
        </p:nvSpPr>
        <p:spPr>
          <a:xfrm>
            <a:off x="1347652" y="3083009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유출방지 3단계 필터링</a:t>
            </a:r>
          </a:p>
        </p:txBody>
      </p:sp>
      <p:sp>
        <p:nvSpPr>
          <p:cNvPr id="51" name="머리칸"/>
          <p:cNvSpPr/>
          <p:nvPr/>
        </p:nvSpPr>
        <p:spPr>
          <a:xfrm>
            <a:off x="3230348" y="3083009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2" name="머리칸"/>
          <p:cNvSpPr>
            <a:spLocks noGrp="1"/>
          </p:cNvSpPr>
          <p:nvPr>
            <p:ph type="body" sz="quarter" idx="41"/>
          </p:nvPr>
        </p:nvSpPr>
        <p:spPr>
          <a:xfrm>
            <a:off x="3230348" y="3083009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서류검증 인적오류 방지</a:t>
            </a:r>
          </a:p>
        </p:txBody>
      </p:sp>
      <p:sp>
        <p:nvSpPr>
          <p:cNvPr id="53" name="머리칸"/>
          <p:cNvSpPr/>
          <p:nvPr/>
        </p:nvSpPr>
        <p:spPr>
          <a:xfrm>
            <a:off x="5113043" y="3083009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54" name="머리칸"/>
          <p:cNvSpPr>
            <a:spLocks noGrp="1"/>
          </p:cNvSpPr>
          <p:nvPr>
            <p:ph type="body" sz="quarter" idx="42"/>
          </p:nvPr>
        </p:nvSpPr>
        <p:spPr>
          <a:xfrm>
            <a:off x="5113043" y="3083009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내부통제 취약 포인트 통제</a:t>
            </a:r>
          </a:p>
        </p:txBody>
      </p:sp>
      <p:sp>
        <p:nvSpPr>
          <p:cNvPr id="55" name="칸 본문"/>
          <p:cNvSpPr>
            <a:spLocks noGrp="1"/>
          </p:cNvSpPr>
          <p:nvPr>
            <p:ph type="body" sz="quarter" idx="43"/>
          </p:nvPr>
        </p:nvSpPr>
        <p:spPr>
          <a:xfrm>
            <a:off x="1358609" y="332405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출제과정 단계별 보안관리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출제→선별→검수단계 분리</a:t>
            </a:r>
          </a:p>
        </p:txBody>
      </p:sp>
      <p:sp>
        <p:nvSpPr>
          <p:cNvPr id="56" name="칸 본문"/>
          <p:cNvSpPr>
            <a:spLocks noGrp="1"/>
          </p:cNvSpPr>
          <p:nvPr>
            <p:ph type="body" sz="quarter" idx="44"/>
          </p:nvPr>
        </p:nvSpPr>
        <p:spPr>
          <a:xfrm>
            <a:off x="3241304" y="332405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경력서류 교차검증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건강보험증명+경력증명서</a:t>
            </a:r>
          </a:p>
        </p:txBody>
      </p:sp>
      <p:cxnSp>
        <p:nvCxnSpPr>
          <p:cNvPr id="57" name="Connector 37"/>
          <p:cNvCxnSpPr/>
          <p:nvPr/>
        </p:nvCxnSpPr>
        <p:spPr>
          <a:xfrm>
            <a:off x="3230348" y="3356922"/>
            <a:ext cx="0" cy="35060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8" name="칸 본문"/>
          <p:cNvSpPr>
            <a:spLocks noGrp="1"/>
          </p:cNvSpPr>
          <p:nvPr>
            <p:ph type="body" sz="quarter" idx="45"/>
          </p:nvPr>
        </p:nvSpPr>
        <p:spPr>
          <a:xfrm>
            <a:off x="5124000" y="3324052"/>
            <a:ext cx="1860783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시험관계자 물리적 통제실시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시험 종료시까지 합숙</a:t>
            </a:r>
          </a:p>
        </p:txBody>
      </p:sp>
      <p:cxnSp>
        <p:nvCxnSpPr>
          <p:cNvPr id="59" name="Connector 39"/>
          <p:cNvCxnSpPr/>
          <p:nvPr/>
        </p:nvCxnSpPr>
        <p:spPr>
          <a:xfrm>
            <a:off x="5113043" y="3356922"/>
            <a:ext cx="0" cy="35060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0" name="핵심성과 박스"/>
          <p:cNvSpPr/>
          <p:nvPr/>
        </p:nvSpPr>
        <p:spPr>
          <a:xfrm>
            <a:off x="723130" y="3849965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핵심성과 라벨"/>
          <p:cNvSpPr/>
          <p:nvPr/>
        </p:nvSpPr>
        <p:spPr>
          <a:xfrm>
            <a:off x="756000" y="3882835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2" name="핵심성과 라벨"/>
          <p:cNvSpPr>
            <a:spLocks noGrp="1"/>
          </p:cNvSpPr>
          <p:nvPr>
            <p:ph type="body" sz="quarter" idx="46"/>
          </p:nvPr>
        </p:nvSpPr>
        <p:spPr>
          <a:xfrm>
            <a:off x="756000" y="3882835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63" name="핵심성과 문구"/>
          <p:cNvSpPr>
            <a:spLocks noGrp="1"/>
          </p:cNvSpPr>
          <p:nvPr>
            <p:ph type="body" sz="quarter" idx="47"/>
          </p:nvPr>
        </p:nvSpPr>
        <p:spPr>
          <a:xfrm>
            <a:off x="1501043" y="3871878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직원 대상 ‘채용 합리성’ 만족도 85.2점(’24년 대비 0.5점↑)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전문 심사기관 ‘블라인드 공정채용’ 3년 연속 인증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47 서사 · 문제인식 → 방향설정 → 재직 단계(탭 카드) → 수료 단계(지속 지원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함께 미래를 열어갈 인재를 미리 만나는 청년 인턴십</a:t>
            </a:r>
          </a:p>
        </p:txBody>
      </p:sp>
      <p:sp>
        <p:nvSpPr>
          <p:cNvPr id="15" name="번호 띠 칩"/>
          <p:cNvSpPr/>
          <p:nvPr/>
        </p:nvSpPr>
        <p:spPr>
          <a:xfrm>
            <a:off x="6241922" y="832696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번호 띠 칩"/>
          <p:cNvSpPr>
            <a:spLocks noGrp="1"/>
          </p:cNvSpPr>
          <p:nvPr>
            <p:ph type="body" sz="quarter" idx="22"/>
          </p:nvPr>
        </p:nvSpPr>
        <p:spPr>
          <a:xfrm>
            <a:off x="6241922" y="832696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7" name="번호 띠 칩"/>
          <p:cNvSpPr/>
          <p:nvPr/>
        </p:nvSpPr>
        <p:spPr>
          <a:xfrm>
            <a:off x="5692579" y="832696"/>
            <a:ext cx="505517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번호 띠 칩"/>
          <p:cNvSpPr>
            <a:spLocks noGrp="1"/>
          </p:cNvSpPr>
          <p:nvPr>
            <p:ph type="body" sz="quarter" idx="23"/>
          </p:nvPr>
        </p:nvSpPr>
        <p:spPr>
          <a:xfrm>
            <a:off x="5692579" y="832696"/>
            <a:ext cx="50551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B.P</a:t>
            </a:r>
          </a:p>
        </p:txBody>
      </p:sp>
      <p:sp>
        <p:nvSpPr>
          <p:cNvPr id="19" name="번호 띠 칩"/>
          <p:cNvSpPr/>
          <p:nvPr/>
        </p:nvSpPr>
        <p:spPr>
          <a:xfrm>
            <a:off x="4900008" y="832696"/>
            <a:ext cx="74874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번호 띠 칩"/>
          <p:cNvSpPr>
            <a:spLocks noGrp="1"/>
          </p:cNvSpPr>
          <p:nvPr>
            <p:ph type="body" sz="quarter" idx="24"/>
          </p:nvPr>
        </p:nvSpPr>
        <p:spPr>
          <a:xfrm>
            <a:off x="4900008" y="832696"/>
            <a:ext cx="74874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평가지적</a:t>
            </a:r>
          </a:p>
        </p:txBody>
      </p:sp>
      <p:sp>
        <p:nvSpPr>
          <p:cNvPr id="21" name="표 외곽"/>
          <p:cNvSpPr/>
          <p:nvPr/>
        </p:nvSpPr>
        <p:spPr>
          <a:xfrm>
            <a:off x="536870" y="1117565"/>
            <a:ext cx="6300000" cy="10505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"/>
          <p:cNvSpPr/>
          <p:nvPr/>
        </p:nvSpPr>
        <p:spPr>
          <a:xfrm>
            <a:off x="547826" y="1134000"/>
            <a:ext cx="580696" cy="61638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1134000"/>
            <a:ext cx="580696" cy="6163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 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 식</a:t>
            </a:r>
          </a:p>
        </p:txBody>
      </p:sp>
      <p:sp>
        <p:nvSpPr>
          <p:cNvPr id="24" name="단계"/>
          <p:cNvSpPr/>
          <p:nvPr/>
        </p:nvSpPr>
        <p:spPr>
          <a:xfrm>
            <a:off x="1161391" y="1155913"/>
            <a:ext cx="282404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5" name="단계"/>
          <p:cNvSpPr>
            <a:spLocks noGrp="1"/>
          </p:cNvSpPr>
          <p:nvPr>
            <p:ph type="body" sz="quarter" idx="26"/>
          </p:nvPr>
        </p:nvSpPr>
        <p:spPr>
          <a:xfrm>
            <a:off x="1161391" y="1155913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평가단 제언</a:t>
            </a:r>
          </a:p>
        </p:txBody>
      </p:sp>
      <p:sp>
        <p:nvSpPr>
          <p:cNvPr id="26" name="단계"/>
          <p:cNvSpPr/>
          <p:nvPr/>
        </p:nvSpPr>
        <p:spPr>
          <a:xfrm>
            <a:off x="3985435" y="1155913"/>
            <a:ext cx="282404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7" name="단계"/>
          <p:cNvSpPr>
            <a:spLocks noGrp="1"/>
          </p:cNvSpPr>
          <p:nvPr>
            <p:ph type="body" sz="quarter" idx="27"/>
          </p:nvPr>
        </p:nvSpPr>
        <p:spPr>
          <a:xfrm>
            <a:off x="3985435" y="1155913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현황 진단</a:t>
            </a:r>
          </a:p>
        </p:txBody>
      </p:sp>
      <p:sp>
        <p:nvSpPr>
          <p:cNvPr id="28" name="단계 삼각형"/>
          <p:cNvSpPr/>
          <p:nvPr/>
        </p:nvSpPr>
        <p:spPr>
          <a:xfrm>
            <a:off x="3985434" y="1155913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8"/>
          </p:nvPr>
        </p:nvSpPr>
        <p:spPr>
          <a:xfrm>
            <a:off x="1172348" y="1407913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인턴제도의 실효성을 강화하고, 수료 이후에도 지속 지원 필요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29"/>
          </p:nvPr>
        </p:nvSpPr>
        <p:spPr>
          <a:xfrm>
            <a:off x="3996391" y="1407913"/>
            <a:ext cx="2802130" cy="33699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인턴 출신 정규직 입사 증가로 청년인턴을 미래 구성원으로 운영 필요</a:t>
            </a:r>
          </a:p>
        </p:txBody>
      </p:sp>
      <p:cxnSp>
        <p:nvCxnSpPr>
          <p:cNvPr id="31" name="Connector 21"/>
          <p:cNvCxnSpPr/>
          <p:nvPr/>
        </p:nvCxnSpPr>
        <p:spPr>
          <a:xfrm>
            <a:off x="3985435" y="1440783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레일"/>
          <p:cNvSpPr/>
          <p:nvPr/>
        </p:nvSpPr>
        <p:spPr>
          <a:xfrm>
            <a:off x="547826" y="1766817"/>
            <a:ext cx="580696" cy="38488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3" name="레일"/>
          <p:cNvSpPr>
            <a:spLocks noGrp="1"/>
          </p:cNvSpPr>
          <p:nvPr>
            <p:ph type="body" sz="quarter" idx="30"/>
          </p:nvPr>
        </p:nvSpPr>
        <p:spPr>
          <a:xfrm>
            <a:off x="547826" y="1766817"/>
            <a:ext cx="580696" cy="3848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방향설정</a:t>
            </a:r>
          </a:p>
        </p:txBody>
      </p:sp>
      <p:sp>
        <p:nvSpPr>
          <p:cNvPr id="34" name="레일 삼각형"/>
          <p:cNvSpPr/>
          <p:nvPr/>
        </p:nvSpPr>
        <p:spPr>
          <a:xfrm>
            <a:off x="547826" y="1766817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단계"/>
          <p:cNvSpPr/>
          <p:nvPr/>
        </p:nvSpPr>
        <p:spPr>
          <a:xfrm>
            <a:off x="1161391" y="1788730"/>
            <a:ext cx="282404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6" name="단계"/>
          <p:cNvSpPr>
            <a:spLocks noGrp="1"/>
          </p:cNvSpPr>
          <p:nvPr>
            <p:ph type="body" sz="quarter" idx="31"/>
          </p:nvPr>
        </p:nvSpPr>
        <p:spPr>
          <a:xfrm>
            <a:off x="1161391" y="1788730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 정규직 연계 채용 중심</a:t>
            </a:r>
          </a:p>
        </p:txBody>
      </p:sp>
      <p:sp>
        <p:nvSpPr>
          <p:cNvPr id="37" name="단계"/>
          <p:cNvSpPr/>
          <p:nvPr/>
        </p:nvSpPr>
        <p:spPr>
          <a:xfrm>
            <a:off x="3985435" y="1788730"/>
            <a:ext cx="282404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8" name="단계"/>
          <p:cNvSpPr>
            <a:spLocks noGrp="1"/>
          </p:cNvSpPr>
          <p:nvPr>
            <p:ph type="body" sz="quarter" idx="32"/>
          </p:nvPr>
        </p:nvSpPr>
        <p:spPr>
          <a:xfrm>
            <a:off x="3985435" y="1788730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개선 조직의 미래인재로 관리하는 인턴십</a:t>
            </a:r>
          </a:p>
        </p:txBody>
      </p:sp>
      <p:sp>
        <p:nvSpPr>
          <p:cNvPr id="39" name="단계 삼각형"/>
          <p:cNvSpPr/>
          <p:nvPr/>
        </p:nvSpPr>
        <p:spPr>
          <a:xfrm>
            <a:off x="3985434" y="1788730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칸 본문"/>
          <p:cNvSpPr txBox="1"/>
          <p:nvPr/>
        </p:nvSpPr>
        <p:spPr>
          <a:xfrm>
            <a:off x="1172348" y="2040730"/>
            <a:ext cx="2802130" cy="43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</p:txBody>
      </p:sp>
      <p:sp>
        <p:nvSpPr>
          <p:cNvPr id="41" name="칸 본문"/>
          <p:cNvSpPr txBox="1"/>
          <p:nvPr/>
        </p:nvSpPr>
        <p:spPr>
          <a:xfrm>
            <a:off x="3996391" y="2040730"/>
            <a:ext cx="2802130" cy="43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</p:txBody>
      </p:sp>
      <p:cxnSp>
        <p:nvCxnSpPr>
          <p:cNvPr id="42" name="Connector 29"/>
          <p:cNvCxnSpPr/>
          <p:nvPr/>
        </p:nvCxnSpPr>
        <p:spPr>
          <a:xfrm flipV="1">
            <a:off x="3985435" y="2051687"/>
            <a:ext cx="0" cy="2191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아이콘 칸"/>
          <p:cNvSpPr/>
          <p:nvPr/>
        </p:nvSpPr>
        <p:spPr>
          <a:xfrm>
            <a:off x="536870" y="2266748"/>
            <a:ext cx="175304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3600" rIns="3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44" name="태그"/>
          <p:cNvSpPr/>
          <p:nvPr/>
        </p:nvSpPr>
        <p:spPr>
          <a:xfrm>
            <a:off x="756000" y="2266748"/>
            <a:ext cx="577911" cy="1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5" name="태그"/>
          <p:cNvSpPr>
            <a:spLocks noGrp="1"/>
          </p:cNvSpPr>
          <p:nvPr>
            <p:ph type="body" sz="quarter" idx="33"/>
          </p:nvPr>
        </p:nvSpPr>
        <p:spPr>
          <a:xfrm>
            <a:off x="756000" y="2266748"/>
            <a:ext cx="577911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재직 단계</a:t>
            </a:r>
          </a:p>
        </p:txBody>
      </p:sp>
      <p:sp>
        <p:nvSpPr>
          <p:cNvPr id="46" name="그룹 제목"/>
          <p:cNvSpPr>
            <a:spLocks noGrp="1"/>
          </p:cNvSpPr>
          <p:nvPr>
            <p:ph type="body" sz="quarter" idx="34"/>
          </p:nvPr>
        </p:nvSpPr>
        <p:spPr>
          <a:xfrm>
            <a:off x="1377737" y="2244835"/>
            <a:ext cx="5437219" cy="219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인재를 조기에 발굴해 실무형 인재로 성장시키는 전과정 개편</a:t>
            </a:r>
          </a:p>
        </p:txBody>
      </p:sp>
      <p:sp>
        <p:nvSpPr>
          <p:cNvPr id="47" name="카드 틀"/>
          <p:cNvSpPr/>
          <p:nvPr/>
        </p:nvSpPr>
        <p:spPr>
          <a:xfrm>
            <a:off x="536870" y="2496835"/>
            <a:ext cx="3128087" cy="104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탭"/>
          <p:cNvSpPr/>
          <p:nvPr/>
        </p:nvSpPr>
        <p:spPr>
          <a:xfrm>
            <a:off x="536870" y="2496835"/>
            <a:ext cx="416348" cy="20817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9" name="탭"/>
          <p:cNvSpPr>
            <a:spLocks noGrp="1"/>
          </p:cNvSpPr>
          <p:nvPr>
            <p:ph type="body" sz="quarter" idx="35"/>
          </p:nvPr>
        </p:nvSpPr>
        <p:spPr>
          <a:xfrm>
            <a:off x="536870" y="2496835"/>
            <a:ext cx="416348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선발</a:t>
            </a:r>
          </a:p>
        </p:txBody>
      </p:sp>
      <p:sp>
        <p:nvSpPr>
          <p:cNvPr id="50" name="카드 제목"/>
          <p:cNvSpPr>
            <a:spLocks noGrp="1"/>
          </p:cNvSpPr>
          <p:nvPr>
            <p:ph type="body" sz="quarter" idx="36"/>
          </p:nvPr>
        </p:nvSpPr>
        <p:spPr>
          <a:xfrm>
            <a:off x="986087" y="2496835"/>
            <a:ext cx="2646000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직무역량 위주</a:t>
            </a:r>
          </a:p>
        </p:txBody>
      </p:sp>
      <p:sp>
        <p:nvSpPr>
          <p:cNvPr id="51" name="카드 본문"/>
          <p:cNvSpPr>
            <a:spLocks noGrp="1"/>
          </p:cNvSpPr>
          <p:nvPr>
            <p:ph type="body" sz="quarter" idx="37"/>
          </p:nvPr>
        </p:nvSpPr>
        <p:spPr>
          <a:xfrm>
            <a:off x="558783" y="2726922"/>
            <a:ext cx="3084261" cy="525913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 전부서 직무 단위로 선발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직무역량 중심의 면접 평가 개편</a:t>
            </a:r>
          </a:p>
        </p:txBody>
      </p:sp>
      <p:sp>
        <p:nvSpPr>
          <p:cNvPr id="52" name="카드 요약"/>
          <p:cNvSpPr/>
          <p:nvPr/>
        </p:nvSpPr>
        <p:spPr>
          <a:xfrm>
            <a:off x="536870" y="3285704"/>
            <a:ext cx="3128087" cy="25200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53" name="카드 요약"/>
          <p:cNvSpPr>
            <a:spLocks noGrp="1"/>
          </p:cNvSpPr>
          <p:nvPr>
            <p:ph type="body" sz="quarter" idx="38"/>
          </p:nvPr>
        </p:nvSpPr>
        <p:spPr>
          <a:xfrm>
            <a:off x="536870" y="3285704"/>
            <a:ext cx="3128087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114개 직무, 621명 채용(’24년 대비 7.4%↑)</a:t>
            </a:r>
          </a:p>
        </p:txBody>
      </p:sp>
      <p:sp>
        <p:nvSpPr>
          <p:cNvPr id="54" name="카드 틀"/>
          <p:cNvSpPr/>
          <p:nvPr/>
        </p:nvSpPr>
        <p:spPr>
          <a:xfrm>
            <a:off x="3708783" y="2496835"/>
            <a:ext cx="3128087" cy="104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탭"/>
          <p:cNvSpPr/>
          <p:nvPr/>
        </p:nvSpPr>
        <p:spPr>
          <a:xfrm>
            <a:off x="3708783" y="2496835"/>
            <a:ext cx="416348" cy="20817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6" name="탭"/>
          <p:cNvSpPr>
            <a:spLocks noGrp="1"/>
          </p:cNvSpPr>
          <p:nvPr>
            <p:ph type="body" sz="quarter" idx="39"/>
          </p:nvPr>
        </p:nvSpPr>
        <p:spPr>
          <a:xfrm>
            <a:off x="3708783" y="2496835"/>
            <a:ext cx="416348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육성</a:t>
            </a:r>
          </a:p>
        </p:txBody>
      </p:sp>
      <p:sp>
        <p:nvSpPr>
          <p:cNvPr id="57" name="카드 제목"/>
          <p:cNvSpPr>
            <a:spLocks noGrp="1"/>
          </p:cNvSpPr>
          <p:nvPr>
            <p:ph type="body" sz="quarter" idx="40"/>
          </p:nvPr>
        </p:nvSpPr>
        <p:spPr>
          <a:xfrm>
            <a:off x="4158000" y="2496835"/>
            <a:ext cx="2646000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빠르게 사원으로</a:t>
            </a:r>
          </a:p>
        </p:txBody>
      </p:sp>
      <p:sp>
        <p:nvSpPr>
          <p:cNvPr id="58" name="카드 본문"/>
          <p:cNvSpPr>
            <a:spLocks noGrp="1"/>
          </p:cNvSpPr>
          <p:nvPr>
            <p:ph type="body" sz="quarter" idx="41"/>
          </p:nvPr>
        </p:nvSpPr>
        <p:spPr>
          <a:xfrm>
            <a:off x="3730696" y="2726922"/>
            <a:ext cx="3084261" cy="525913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신입사원 수준의 인턴 교육커리큘럼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1단계 조직적응 · 2단계 직무역량 · 3단계 취업역량</a:t>
            </a:r>
          </a:p>
        </p:txBody>
      </p:sp>
      <p:sp>
        <p:nvSpPr>
          <p:cNvPr id="59" name="카드 요약"/>
          <p:cNvSpPr/>
          <p:nvPr/>
        </p:nvSpPr>
        <p:spPr>
          <a:xfrm>
            <a:off x="3708783" y="3285704"/>
            <a:ext cx="3128087" cy="25200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60" name="카드 요약"/>
          <p:cNvSpPr>
            <a:spLocks noGrp="1"/>
          </p:cNvSpPr>
          <p:nvPr>
            <p:ph type="body" sz="quarter" idx="42"/>
          </p:nvPr>
        </p:nvSpPr>
        <p:spPr>
          <a:xfrm>
            <a:off x="3708783" y="3285704"/>
            <a:ext cx="3128087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인턴 만족도 96.6점(’24년 대비 1.7점↑)</a:t>
            </a:r>
          </a:p>
        </p:txBody>
      </p:sp>
      <p:sp>
        <p:nvSpPr>
          <p:cNvPr id="61" name="카드 틀"/>
          <p:cNvSpPr/>
          <p:nvPr/>
        </p:nvSpPr>
        <p:spPr>
          <a:xfrm>
            <a:off x="536870" y="3570574"/>
            <a:ext cx="3128087" cy="104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탭"/>
          <p:cNvSpPr/>
          <p:nvPr/>
        </p:nvSpPr>
        <p:spPr>
          <a:xfrm>
            <a:off x="536870" y="3570574"/>
            <a:ext cx="416348" cy="20817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3" name="탭"/>
          <p:cNvSpPr>
            <a:spLocks noGrp="1"/>
          </p:cNvSpPr>
          <p:nvPr>
            <p:ph type="body" sz="quarter" idx="43"/>
          </p:nvPr>
        </p:nvSpPr>
        <p:spPr>
          <a:xfrm>
            <a:off x="536870" y="3570574"/>
            <a:ext cx="416348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실무</a:t>
            </a:r>
          </a:p>
        </p:txBody>
      </p:sp>
      <p:sp>
        <p:nvSpPr>
          <p:cNvPr id="64" name="카드 제목"/>
          <p:cNvSpPr>
            <a:spLocks noGrp="1"/>
          </p:cNvSpPr>
          <p:nvPr>
            <p:ph type="body" sz="quarter" idx="44"/>
          </p:nvPr>
        </p:nvSpPr>
        <p:spPr>
          <a:xfrm>
            <a:off x="986087" y="3570574"/>
            <a:ext cx="2646000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과감히 현업 투입</a:t>
            </a:r>
          </a:p>
        </p:txBody>
      </p:sp>
      <p:sp>
        <p:nvSpPr>
          <p:cNvPr id="65" name="카드 본문"/>
          <p:cNvSpPr>
            <a:spLocks noGrp="1"/>
          </p:cNvSpPr>
          <p:nvPr>
            <p:ph type="body" sz="quarter" idx="45"/>
          </p:nvPr>
        </p:nvSpPr>
        <p:spPr>
          <a:xfrm>
            <a:off x="558783" y="3800661"/>
            <a:ext cx="3084261" cy="525913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정규직 직무와 연계한 업무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임원 참여 직무성과 발표회 개최로 성과 확산</a:t>
            </a:r>
          </a:p>
        </p:txBody>
      </p:sp>
      <p:sp>
        <p:nvSpPr>
          <p:cNvPr id="66" name="카드 요약"/>
          <p:cNvSpPr/>
          <p:nvPr/>
        </p:nvSpPr>
        <p:spPr>
          <a:xfrm>
            <a:off x="536870" y="4359443"/>
            <a:ext cx="3128087" cy="25200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67" name="카드 요약"/>
          <p:cNvSpPr>
            <a:spLocks noGrp="1"/>
          </p:cNvSpPr>
          <p:nvPr>
            <p:ph type="body" sz="quarter" idx="46"/>
          </p:nvPr>
        </p:nvSpPr>
        <p:spPr>
          <a:xfrm>
            <a:off x="536870" y="4359443"/>
            <a:ext cx="3128087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청년인턴이 혁신챌린지 최초 입상</a:t>
            </a:r>
          </a:p>
        </p:txBody>
      </p:sp>
      <p:sp>
        <p:nvSpPr>
          <p:cNvPr id="68" name="카드 틀"/>
          <p:cNvSpPr/>
          <p:nvPr/>
        </p:nvSpPr>
        <p:spPr>
          <a:xfrm>
            <a:off x="3708783" y="3570574"/>
            <a:ext cx="3128087" cy="104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탭"/>
          <p:cNvSpPr/>
          <p:nvPr/>
        </p:nvSpPr>
        <p:spPr>
          <a:xfrm>
            <a:off x="3708783" y="3570574"/>
            <a:ext cx="416348" cy="20817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0" name="탭"/>
          <p:cNvSpPr>
            <a:spLocks noGrp="1"/>
          </p:cNvSpPr>
          <p:nvPr>
            <p:ph type="body" sz="quarter" idx="47"/>
          </p:nvPr>
        </p:nvSpPr>
        <p:spPr>
          <a:xfrm>
            <a:off x="3708783" y="3570574"/>
            <a:ext cx="416348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평가</a:t>
            </a:r>
          </a:p>
        </p:txBody>
      </p:sp>
      <p:sp>
        <p:nvSpPr>
          <p:cNvPr id="71" name="카드 제목"/>
          <p:cNvSpPr>
            <a:spLocks noGrp="1"/>
          </p:cNvSpPr>
          <p:nvPr>
            <p:ph type="body" sz="quarter" idx="48"/>
          </p:nvPr>
        </p:nvSpPr>
        <p:spPr>
          <a:xfrm>
            <a:off x="4158000" y="3570574"/>
            <a:ext cx="2646000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우수 인재를 엄정하게 선별</a:t>
            </a:r>
          </a:p>
        </p:txBody>
      </p:sp>
      <p:sp>
        <p:nvSpPr>
          <p:cNvPr id="72" name="카드 본문"/>
          <p:cNvSpPr>
            <a:spLocks noGrp="1"/>
          </p:cNvSpPr>
          <p:nvPr>
            <p:ph type="body" sz="quarter" idx="49"/>
          </p:nvPr>
        </p:nvSpPr>
        <p:spPr>
          <a:xfrm>
            <a:off x="3730696" y="3800661"/>
            <a:ext cx="3084261" cy="525913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평가체계 정교화로 우수인턴 변별력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가점 중심 평가 → 확대 감점제 도입</a:t>
            </a:r>
          </a:p>
        </p:txBody>
      </p:sp>
      <p:sp>
        <p:nvSpPr>
          <p:cNvPr id="73" name="카드 요약"/>
          <p:cNvSpPr/>
          <p:nvPr/>
        </p:nvSpPr>
        <p:spPr>
          <a:xfrm>
            <a:off x="3708783" y="4359443"/>
            <a:ext cx="3128087" cy="25200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74" name="카드 요약"/>
          <p:cNvSpPr>
            <a:spLocks noGrp="1"/>
          </p:cNvSpPr>
          <p:nvPr>
            <p:ph type="body" sz="quarter" idx="50"/>
          </p:nvPr>
        </p:nvSpPr>
        <p:spPr>
          <a:xfrm>
            <a:off x="3708783" y="4359443"/>
            <a:ext cx="3128087" cy="25200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최상위 우수인턴 19.7%(’24년 대비 5.5%p↓)</a:t>
            </a:r>
          </a:p>
        </p:txBody>
      </p:sp>
      <p:sp>
        <p:nvSpPr>
          <p:cNvPr id="75" name="배너"/>
          <p:cNvSpPr/>
          <p:nvPr/>
        </p:nvSpPr>
        <p:spPr>
          <a:xfrm>
            <a:off x="536870" y="4731965"/>
            <a:ext cx="6300000" cy="328696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76" name="Connector 54"/>
          <p:cNvCxnSpPr/>
          <p:nvPr/>
        </p:nvCxnSpPr>
        <p:spPr>
          <a:xfrm>
            <a:off x="536870" y="4731965"/>
            <a:ext cx="6300000" cy="0"/>
          </a:xfrm>
          <a:prstGeom prst="line">
            <a:avLst/>
          </a:prstGeom>
          <a:ln w="12700">
            <a:solidFill>
              <a:srgbClr val="BDE0FF"/>
            </a:solidFill>
          </a:ln>
        </p:spPr>
      </p:cxnSp>
      <p:sp>
        <p:nvSpPr>
          <p:cNvPr id="77" name="배너 글"/>
          <p:cNvSpPr>
            <a:spLocks noGrp="1"/>
          </p:cNvSpPr>
          <p:nvPr>
            <p:ph type="body" sz="quarter" idx="51"/>
          </p:nvPr>
        </p:nvSpPr>
        <p:spPr>
          <a:xfrm>
            <a:off x="536870" y="4786748"/>
            <a:ext cx="6300000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‘함께 일하고 싶은 동료’라는 조직인식 확산 ➡ 전체 부서 78%(117개) 인턴 수요 발생</a:t>
            </a:r>
          </a:p>
        </p:txBody>
      </p:sp>
      <p:sp>
        <p:nvSpPr>
          <p:cNvPr id="78" name="표 외곽"/>
          <p:cNvSpPr/>
          <p:nvPr/>
        </p:nvSpPr>
        <p:spPr>
          <a:xfrm>
            <a:off x="536870" y="5104487"/>
            <a:ext cx="6300000" cy="150104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레일"/>
          <p:cNvSpPr/>
          <p:nvPr/>
        </p:nvSpPr>
        <p:spPr>
          <a:xfrm>
            <a:off x="547826" y="5120922"/>
            <a:ext cx="580696" cy="83269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레일 태그"/>
          <p:cNvSpPr/>
          <p:nvPr/>
        </p:nvSpPr>
        <p:spPr>
          <a:xfrm>
            <a:off x="543740" y="5164748"/>
            <a:ext cx="588868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1" name="레일 태그"/>
          <p:cNvSpPr>
            <a:spLocks noGrp="1"/>
          </p:cNvSpPr>
          <p:nvPr>
            <p:ph type="body" sz="quarter" idx="52"/>
          </p:nvPr>
        </p:nvSpPr>
        <p:spPr>
          <a:xfrm>
            <a:off x="543740" y="5164748"/>
            <a:ext cx="588868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수료 단계</a:t>
            </a:r>
          </a:p>
        </p:txBody>
      </p:sp>
      <p:sp>
        <p:nvSpPr>
          <p:cNvPr id="82" name="레일 라벨"/>
          <p:cNvSpPr>
            <a:spLocks noGrp="1"/>
          </p:cNvSpPr>
          <p:nvPr>
            <p:ph type="body" sz="quarter" idx="53"/>
          </p:nvPr>
        </p:nvSpPr>
        <p:spPr>
          <a:xfrm>
            <a:off x="547826" y="5351009"/>
            <a:ext cx="580696" cy="580696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네트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워킹</a:t>
            </a:r>
          </a:p>
        </p:txBody>
      </p:sp>
      <p:sp>
        <p:nvSpPr>
          <p:cNvPr id="83" name="머리칸"/>
          <p:cNvSpPr/>
          <p:nvPr/>
        </p:nvSpPr>
        <p:spPr>
          <a:xfrm>
            <a:off x="1161391" y="514283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84" name="머리칸"/>
          <p:cNvSpPr>
            <a:spLocks noGrp="1"/>
          </p:cNvSpPr>
          <p:nvPr>
            <p:ph type="body" sz="quarter" idx="54"/>
          </p:nvPr>
        </p:nvSpPr>
        <p:spPr>
          <a:xfrm>
            <a:off x="1161391" y="5142835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인재 Pool 구축</a:t>
            </a:r>
          </a:p>
        </p:txBody>
      </p:sp>
      <p:sp>
        <p:nvSpPr>
          <p:cNvPr id="85" name="머리칸"/>
          <p:cNvSpPr/>
          <p:nvPr/>
        </p:nvSpPr>
        <p:spPr>
          <a:xfrm>
            <a:off x="3985435" y="514283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86" name="머리칸"/>
          <p:cNvSpPr>
            <a:spLocks noGrp="1"/>
          </p:cNvSpPr>
          <p:nvPr>
            <p:ph type="body" sz="quarter" idx="55"/>
          </p:nvPr>
        </p:nvSpPr>
        <p:spPr>
          <a:xfrm>
            <a:off x="3985435" y="5142835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관계 유지 기반 마련</a:t>
            </a:r>
          </a:p>
        </p:txBody>
      </p:sp>
      <p:sp>
        <p:nvSpPr>
          <p:cNvPr id="87" name="칸 본문"/>
          <p:cNvSpPr>
            <a:spLocks noGrp="1"/>
          </p:cNvSpPr>
          <p:nvPr>
            <p:ph type="body" sz="quarter" idx="56"/>
          </p:nvPr>
        </p:nvSpPr>
        <p:spPr>
          <a:xfrm>
            <a:off x="1172348" y="5383878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주기적 취업 현황 모니터링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정규직 입사 지원 이력 관리</a:t>
            </a:r>
          </a:p>
        </p:txBody>
      </p:sp>
      <p:sp>
        <p:nvSpPr>
          <p:cNvPr id="88" name="칸 본문"/>
          <p:cNvSpPr>
            <a:spLocks noGrp="1"/>
          </p:cNvSpPr>
          <p:nvPr>
            <p:ph type="body" sz="quarter" idx="57"/>
          </p:nvPr>
        </p:nvSpPr>
        <p:spPr>
          <a:xfrm>
            <a:off x="3996391" y="5383878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청년인턴 전용 플랫폼 신설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현직자와의 실시간 Q&amp;A</a:t>
            </a:r>
          </a:p>
        </p:txBody>
      </p:sp>
      <p:cxnSp>
        <p:nvCxnSpPr>
          <p:cNvPr id="89" name="Connector 64"/>
          <p:cNvCxnSpPr/>
          <p:nvPr/>
        </p:nvCxnSpPr>
        <p:spPr>
          <a:xfrm>
            <a:off x="3985435" y="5416748"/>
            <a:ext cx="0" cy="28486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0" name="칸 본문"/>
          <p:cNvSpPr>
            <a:spLocks noGrp="1"/>
          </p:cNvSpPr>
          <p:nvPr>
            <p:ph type="body" sz="quarter" idx="58"/>
          </p:nvPr>
        </p:nvSpPr>
        <p:spPr>
          <a:xfrm>
            <a:off x="1172348" y="5750922"/>
            <a:ext cx="2802130" cy="19721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수료 인턴 中 74%(404명) ’25년 입사 지원</a:t>
            </a:r>
          </a:p>
        </p:txBody>
      </p:sp>
      <p:sp>
        <p:nvSpPr>
          <p:cNvPr id="91" name="칸 본문"/>
          <p:cNvSpPr>
            <a:spLocks noGrp="1"/>
          </p:cNvSpPr>
          <p:nvPr>
            <p:ph type="body" sz="quarter" idx="59"/>
          </p:nvPr>
        </p:nvSpPr>
        <p:spPr>
          <a:xfrm>
            <a:off x="3996391" y="5750922"/>
            <a:ext cx="2802130" cy="19721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회원수 490명</a:t>
            </a:r>
          </a:p>
        </p:txBody>
      </p:sp>
      <p:cxnSp>
        <p:nvCxnSpPr>
          <p:cNvPr id="92" name="Connector 67"/>
          <p:cNvCxnSpPr/>
          <p:nvPr/>
        </p:nvCxnSpPr>
        <p:spPr>
          <a:xfrm>
            <a:off x="3985435" y="5783791"/>
            <a:ext cx="0" cy="13147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3" name="레일"/>
          <p:cNvSpPr/>
          <p:nvPr/>
        </p:nvSpPr>
        <p:spPr>
          <a:xfrm>
            <a:off x="547826" y="5970052"/>
            <a:ext cx="580696" cy="619043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4" name="레일"/>
          <p:cNvSpPr>
            <a:spLocks noGrp="1"/>
          </p:cNvSpPr>
          <p:nvPr>
            <p:ph type="body" sz="quarter" idx="60"/>
          </p:nvPr>
        </p:nvSpPr>
        <p:spPr>
          <a:xfrm>
            <a:off x="547826" y="5970052"/>
            <a:ext cx="580696" cy="619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취업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연계</a:t>
            </a:r>
          </a:p>
        </p:txBody>
      </p:sp>
      <p:sp>
        <p:nvSpPr>
          <p:cNvPr id="95" name="레일 삼각형"/>
          <p:cNvSpPr/>
          <p:nvPr/>
        </p:nvSpPr>
        <p:spPr>
          <a:xfrm>
            <a:off x="547826" y="5970052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머리칸"/>
          <p:cNvSpPr/>
          <p:nvPr/>
        </p:nvSpPr>
        <p:spPr>
          <a:xfrm>
            <a:off x="1161391" y="599196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97" name="머리칸"/>
          <p:cNvSpPr>
            <a:spLocks noGrp="1"/>
          </p:cNvSpPr>
          <p:nvPr>
            <p:ph type="body" sz="quarter" idx="61"/>
          </p:nvPr>
        </p:nvSpPr>
        <p:spPr>
          <a:xfrm>
            <a:off x="1161391" y="5991965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취업역량 강화</a:t>
            </a:r>
          </a:p>
        </p:txBody>
      </p:sp>
      <p:sp>
        <p:nvSpPr>
          <p:cNvPr id="98" name="머리칸"/>
          <p:cNvSpPr/>
          <p:nvPr/>
        </p:nvSpPr>
        <p:spPr>
          <a:xfrm>
            <a:off x="3985435" y="599196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99" name="머리칸"/>
          <p:cNvSpPr>
            <a:spLocks noGrp="1"/>
          </p:cNvSpPr>
          <p:nvPr>
            <p:ph type="body" sz="quarter" idx="62"/>
          </p:nvPr>
        </p:nvSpPr>
        <p:spPr>
          <a:xfrm>
            <a:off x="3985435" y="5991965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취업서비스 지원</a:t>
            </a:r>
          </a:p>
        </p:txBody>
      </p:sp>
      <p:sp>
        <p:nvSpPr>
          <p:cNvPr id="100" name="칸 본문"/>
          <p:cNvSpPr>
            <a:spLocks noGrp="1"/>
          </p:cNvSpPr>
          <p:nvPr>
            <p:ph type="body" sz="quarter" idx="63"/>
          </p:nvPr>
        </p:nvSpPr>
        <p:spPr>
          <a:xfrm>
            <a:off x="1172348" y="6233009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취업멘토링 day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정규직 채용과정 참관, 모의면접 제공</a:t>
            </a:r>
          </a:p>
        </p:txBody>
      </p:sp>
      <p:sp>
        <p:nvSpPr>
          <p:cNvPr id="101" name="칸 본문"/>
          <p:cNvSpPr>
            <a:spLocks noGrp="1"/>
          </p:cNvSpPr>
          <p:nvPr>
            <p:ph type="body" sz="quarter" idx="64"/>
          </p:nvPr>
        </p:nvSpPr>
        <p:spPr>
          <a:xfrm>
            <a:off x="3996391" y="6233009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수료증 상시 발급 시스템 구축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면접 결과 기반 역량리포트 제공</a:t>
            </a:r>
          </a:p>
        </p:txBody>
      </p:sp>
      <p:cxnSp>
        <p:nvCxnSpPr>
          <p:cNvPr id="102" name="Connector 74"/>
          <p:cNvCxnSpPr/>
          <p:nvPr/>
        </p:nvCxnSpPr>
        <p:spPr>
          <a:xfrm>
            <a:off x="3985435" y="6265878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3" name="틀"/>
          <p:cNvSpPr/>
          <p:nvPr/>
        </p:nvSpPr>
        <p:spPr>
          <a:xfrm>
            <a:off x="536870" y="6671270"/>
            <a:ext cx="6300000" cy="1051826"/>
          </a:xfrm>
          <a:prstGeom prst="rect">
            <a:avLst/>
          </a:prstGeom>
          <a:solidFill>
            <a:srgbClr val="FFFFFF"/>
          </a:solidFill>
          <a:ln w="12700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성과 라벨"/>
          <p:cNvSpPr/>
          <p:nvPr/>
        </p:nvSpPr>
        <p:spPr>
          <a:xfrm>
            <a:off x="547826" y="6682226"/>
            <a:ext cx="580696" cy="102991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105" name="성과 라벨"/>
          <p:cNvSpPr>
            <a:spLocks noGrp="1"/>
          </p:cNvSpPr>
          <p:nvPr>
            <p:ph type="body" sz="quarter" idx="65"/>
          </p:nvPr>
        </p:nvSpPr>
        <p:spPr>
          <a:xfrm>
            <a:off x="547826" y="6682226"/>
            <a:ext cx="580696" cy="102991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06" name="성과 띠"/>
          <p:cNvSpPr/>
          <p:nvPr/>
        </p:nvSpPr>
        <p:spPr>
          <a:xfrm>
            <a:off x="1172348" y="6704139"/>
            <a:ext cx="5631652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/>
        </p:txBody>
      </p:sp>
      <p:sp>
        <p:nvSpPr>
          <p:cNvPr id="107" name="성과 띠"/>
          <p:cNvSpPr>
            <a:spLocks noGrp="1"/>
          </p:cNvSpPr>
          <p:nvPr>
            <p:ph type="body" sz="quarter" idx="66"/>
          </p:nvPr>
        </p:nvSpPr>
        <p:spPr>
          <a:xfrm>
            <a:off x="1172348" y="6704139"/>
            <a:ext cx="5631652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인턴 출신 정규직 채용 비율 역대 최대 15.7%</a:t>
            </a:r>
          </a:p>
        </p:txBody>
      </p:sp>
      <p:sp>
        <p:nvSpPr>
          <p:cNvPr id="108" name="카드"/>
          <p:cNvSpPr/>
          <p:nvPr/>
        </p:nvSpPr>
        <p:spPr>
          <a:xfrm>
            <a:off x="1172348" y="6945183"/>
            <a:ext cx="5631652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카드 문구"/>
          <p:cNvSpPr>
            <a:spLocks noGrp="1"/>
          </p:cNvSpPr>
          <p:nvPr>
            <p:ph type="body" sz="quarter" idx="67"/>
          </p:nvPr>
        </p:nvSpPr>
        <p:spPr>
          <a:xfrm>
            <a:off x="1194261" y="6956139"/>
            <a:ext cx="2568647" cy="723130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인턴출신 정규직 채용 비율</a:t>
            </a:r>
          </a:p>
        </p:txBody>
      </p:sp>
      <p:sp>
        <p:nvSpPr>
          <p:cNvPr id="110" name="막대"/>
          <p:cNvSpPr/>
          <p:nvPr/>
        </p:nvSpPr>
        <p:spPr>
          <a:xfrm>
            <a:off x="3817690" y="7460139"/>
            <a:ext cx="164348" cy="76696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값"/>
          <p:cNvSpPr>
            <a:spLocks noGrp="1"/>
          </p:cNvSpPr>
          <p:nvPr>
            <p:ph type="body" sz="quarter" idx="68"/>
          </p:nvPr>
        </p:nvSpPr>
        <p:spPr>
          <a:xfrm>
            <a:off x="3730038" y="7284835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5.3%</a:t>
            </a:r>
          </a:p>
        </p:txBody>
      </p:sp>
      <p:sp>
        <p:nvSpPr>
          <p:cNvPr id="112" name="연도"/>
          <p:cNvSpPr>
            <a:spLocks noGrp="1"/>
          </p:cNvSpPr>
          <p:nvPr>
            <p:ph type="body" sz="quarter" idx="69"/>
          </p:nvPr>
        </p:nvSpPr>
        <p:spPr>
          <a:xfrm>
            <a:off x="3730038" y="7547791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’23년</a:t>
            </a:r>
          </a:p>
        </p:txBody>
      </p:sp>
      <p:sp>
        <p:nvSpPr>
          <p:cNvPr id="113" name="막대"/>
          <p:cNvSpPr/>
          <p:nvPr/>
        </p:nvSpPr>
        <p:spPr>
          <a:xfrm>
            <a:off x="4794866" y="7383443"/>
            <a:ext cx="164348" cy="153391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4" name="값"/>
          <p:cNvSpPr>
            <a:spLocks noGrp="1"/>
          </p:cNvSpPr>
          <p:nvPr>
            <p:ph type="body" sz="quarter" idx="70"/>
          </p:nvPr>
        </p:nvSpPr>
        <p:spPr>
          <a:xfrm>
            <a:off x="4707214" y="7208139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11%</a:t>
            </a:r>
          </a:p>
        </p:txBody>
      </p:sp>
      <p:sp>
        <p:nvSpPr>
          <p:cNvPr id="115" name="연도"/>
          <p:cNvSpPr>
            <a:spLocks noGrp="1"/>
          </p:cNvSpPr>
          <p:nvPr>
            <p:ph type="body" sz="quarter" idx="71"/>
          </p:nvPr>
        </p:nvSpPr>
        <p:spPr>
          <a:xfrm>
            <a:off x="4707214" y="7547791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’24년</a:t>
            </a:r>
          </a:p>
        </p:txBody>
      </p:sp>
      <p:sp>
        <p:nvSpPr>
          <p:cNvPr id="116" name="막대"/>
          <p:cNvSpPr/>
          <p:nvPr/>
        </p:nvSpPr>
        <p:spPr>
          <a:xfrm>
            <a:off x="5772042" y="7317704"/>
            <a:ext cx="164348" cy="21913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7" name="값"/>
          <p:cNvSpPr>
            <a:spLocks noGrp="1"/>
          </p:cNvSpPr>
          <p:nvPr>
            <p:ph type="body" sz="quarter" idx="72"/>
          </p:nvPr>
        </p:nvSpPr>
        <p:spPr>
          <a:xfrm>
            <a:off x="5684390" y="7142400"/>
            <a:ext cx="339652" cy="164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b="1" spc="-4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spc="-45" dirty="0">
                <a:solidFill>
                  <a:srgbClr val="000359"/>
                </a:solidFill>
                <a:latin typeface="Pretendard"/>
                <a:ea typeface="Pretendard"/>
              </a:rPr>
              <a:t>15.7%</a:t>
            </a:r>
          </a:p>
        </p:txBody>
      </p:sp>
      <p:sp>
        <p:nvSpPr>
          <p:cNvPr id="118" name="연도"/>
          <p:cNvSpPr>
            <a:spLocks noGrp="1"/>
          </p:cNvSpPr>
          <p:nvPr>
            <p:ph type="body" sz="quarter" idx="73"/>
          </p:nvPr>
        </p:nvSpPr>
        <p:spPr>
          <a:xfrm>
            <a:off x="5684390" y="7547791"/>
            <a:ext cx="339652" cy="13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0" spc="-45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spc="-45" dirty="0">
                <a:solidFill>
                  <a:srgbClr val="3B4951"/>
                </a:solidFill>
                <a:latin typeface="Pretendard"/>
                <a:ea typeface="Pretendard"/>
              </a:rPr>
              <a:t>’25년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48 서사 · 현황진단 → 의견수렴 → 진단형·코칭형 피드백 → 추진성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결과 공개를 넘어, 다음을 준비할 수 있는 채용 피드백 제공</a:t>
            </a:r>
          </a:p>
        </p:txBody>
      </p:sp>
      <p:sp>
        <p:nvSpPr>
          <p:cNvPr id="14" name="번호 띠 칩"/>
          <p:cNvSpPr/>
          <p:nvPr/>
        </p:nvSpPr>
        <p:spPr>
          <a:xfrm>
            <a:off x="6428183" y="843652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번호 띠 칩"/>
          <p:cNvSpPr>
            <a:spLocks noGrp="1"/>
          </p:cNvSpPr>
          <p:nvPr>
            <p:ph type="body" sz="quarter" idx="22"/>
          </p:nvPr>
        </p:nvSpPr>
        <p:spPr>
          <a:xfrm>
            <a:off x="6428183" y="843652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6" name="표 외곽"/>
          <p:cNvSpPr/>
          <p:nvPr/>
        </p:nvSpPr>
        <p:spPr>
          <a:xfrm>
            <a:off x="723130" y="1128522"/>
            <a:ext cx="6300000" cy="2761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레일"/>
          <p:cNvSpPr/>
          <p:nvPr/>
        </p:nvSpPr>
        <p:spPr>
          <a:xfrm>
            <a:off x="734087" y="1144957"/>
            <a:ext cx="580696" cy="4082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3"/>
          </p:nvPr>
        </p:nvSpPr>
        <p:spPr>
          <a:xfrm>
            <a:off x="734087" y="1144957"/>
            <a:ext cx="580696" cy="4082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진 단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24"/>
          </p:nvPr>
        </p:nvSpPr>
        <p:spPr>
          <a:xfrm>
            <a:off x="1358609" y="1166870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그간의 노력 필기 백분율 및 직군별 탈락 피드백 제공 등 투명성 제고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5"/>
          </p:nvPr>
        </p:nvSpPr>
        <p:spPr>
          <a:xfrm>
            <a:off x="4182652" y="1166870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여전한 고민 향후 취업 준비를 어떻게 해야 하는지에 대한 실질적 도움은 부족</a:t>
            </a:r>
          </a:p>
        </p:txBody>
      </p:sp>
      <p:cxnSp>
        <p:nvCxnSpPr>
          <p:cNvPr id="21" name="Connector 13"/>
          <p:cNvCxnSpPr/>
          <p:nvPr/>
        </p:nvCxnSpPr>
        <p:spPr>
          <a:xfrm>
            <a:off x="4171696" y="1199739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2" name="레일"/>
          <p:cNvSpPr/>
          <p:nvPr/>
        </p:nvSpPr>
        <p:spPr>
          <a:xfrm>
            <a:off x="734087" y="1569600"/>
            <a:ext cx="580696" cy="619043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569600"/>
            <a:ext cx="580696" cy="619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 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 렴</a:t>
            </a:r>
          </a:p>
        </p:txBody>
      </p:sp>
      <p:sp>
        <p:nvSpPr>
          <p:cNvPr id="24" name="레일 삼각형"/>
          <p:cNvSpPr/>
          <p:nvPr/>
        </p:nvSpPr>
        <p:spPr>
          <a:xfrm>
            <a:off x="734086" y="1569600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머리칸"/>
          <p:cNvSpPr/>
          <p:nvPr/>
        </p:nvSpPr>
        <p:spPr>
          <a:xfrm>
            <a:off x="1347652" y="15915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6" name="머리칸"/>
          <p:cNvSpPr>
            <a:spLocks noGrp="1"/>
          </p:cNvSpPr>
          <p:nvPr>
            <p:ph type="body" sz="quarter" idx="27"/>
          </p:nvPr>
        </p:nvSpPr>
        <p:spPr>
          <a:xfrm>
            <a:off x="1347652" y="15915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채용 응시자</a:t>
            </a:r>
          </a:p>
        </p:txBody>
      </p:sp>
      <p:sp>
        <p:nvSpPr>
          <p:cNvPr id="27" name="머리칸"/>
          <p:cNvSpPr/>
          <p:nvPr/>
        </p:nvSpPr>
        <p:spPr>
          <a:xfrm>
            <a:off x="3230348" y="15915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8" name="머리칸"/>
          <p:cNvSpPr>
            <a:spLocks noGrp="1"/>
          </p:cNvSpPr>
          <p:nvPr>
            <p:ph type="body" sz="quarter" idx="28"/>
          </p:nvPr>
        </p:nvSpPr>
        <p:spPr>
          <a:xfrm>
            <a:off x="3230348" y="15915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청년자문단</a:t>
            </a:r>
          </a:p>
        </p:txBody>
      </p:sp>
      <p:sp>
        <p:nvSpPr>
          <p:cNvPr id="29" name="머리칸"/>
          <p:cNvSpPr/>
          <p:nvPr/>
        </p:nvSpPr>
        <p:spPr>
          <a:xfrm>
            <a:off x="5113043" y="15915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0" name="머리칸"/>
          <p:cNvSpPr>
            <a:spLocks noGrp="1"/>
          </p:cNvSpPr>
          <p:nvPr>
            <p:ph type="body" sz="quarter" idx="29"/>
          </p:nvPr>
        </p:nvSpPr>
        <p:spPr>
          <a:xfrm>
            <a:off x="5113043" y="15915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면접위원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0"/>
          </p:nvPr>
        </p:nvSpPr>
        <p:spPr>
          <a:xfrm>
            <a:off x="1358609" y="1832557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“제 수준이 어느 정도인지 알 수 있다면 도움 될 것 같아요”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1"/>
          </p:nvPr>
        </p:nvSpPr>
        <p:spPr>
          <a:xfrm>
            <a:off x="3241304" y="1832557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“부족한 역량이 어떤 것인지 알려주면 좋을 것 같아요”</a:t>
            </a:r>
          </a:p>
        </p:txBody>
      </p:sp>
      <p:cxnSp>
        <p:nvCxnSpPr>
          <p:cNvPr id="33" name="Connector 21"/>
          <p:cNvCxnSpPr/>
          <p:nvPr/>
        </p:nvCxnSpPr>
        <p:spPr>
          <a:xfrm>
            <a:off x="3230348" y="1865426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칸 본문"/>
          <p:cNvSpPr>
            <a:spLocks noGrp="1"/>
          </p:cNvSpPr>
          <p:nvPr>
            <p:ph type="body" sz="quarter" idx="32"/>
          </p:nvPr>
        </p:nvSpPr>
        <p:spPr>
          <a:xfrm>
            <a:off x="5124000" y="1832557"/>
            <a:ext cx="1860783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“면접이 선발 중심으로 운영되어 성장을 지원하는 데 한계 존재”</a:t>
            </a:r>
          </a:p>
        </p:txBody>
      </p:sp>
      <p:cxnSp>
        <p:nvCxnSpPr>
          <p:cNvPr id="35" name="Connector 23"/>
          <p:cNvCxnSpPr/>
          <p:nvPr/>
        </p:nvCxnSpPr>
        <p:spPr>
          <a:xfrm>
            <a:off x="5113043" y="1865426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6" name="레일"/>
          <p:cNvSpPr/>
          <p:nvPr/>
        </p:nvSpPr>
        <p:spPr>
          <a:xfrm>
            <a:off x="734087" y="2205078"/>
            <a:ext cx="580696" cy="79434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레일 태그"/>
          <p:cNvSpPr/>
          <p:nvPr/>
        </p:nvSpPr>
        <p:spPr>
          <a:xfrm>
            <a:off x="799521" y="2248904"/>
            <a:ext cx="449828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8" name="레일 태그"/>
          <p:cNvSpPr>
            <a:spLocks noGrp="1"/>
          </p:cNvSpPr>
          <p:nvPr>
            <p:ph type="body" sz="quarter" idx="33"/>
          </p:nvPr>
        </p:nvSpPr>
        <p:spPr>
          <a:xfrm>
            <a:off x="799521" y="2248904"/>
            <a:ext cx="449828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일반직</a:t>
            </a:r>
          </a:p>
        </p:txBody>
      </p:sp>
      <p:sp>
        <p:nvSpPr>
          <p:cNvPr id="39" name="레일 라벨"/>
          <p:cNvSpPr>
            <a:spLocks noGrp="1"/>
          </p:cNvSpPr>
          <p:nvPr>
            <p:ph type="body" sz="quarter" idx="34"/>
          </p:nvPr>
        </p:nvSpPr>
        <p:spPr>
          <a:xfrm>
            <a:off x="734087" y="2435165"/>
            <a:ext cx="580696" cy="542348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진단형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피드백</a:t>
            </a:r>
          </a:p>
        </p:txBody>
      </p:sp>
      <p:sp>
        <p:nvSpPr>
          <p:cNvPr id="40" name="머리칸"/>
          <p:cNvSpPr/>
          <p:nvPr/>
        </p:nvSpPr>
        <p:spPr>
          <a:xfrm>
            <a:off x="1347652" y="222699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1" name="머리칸"/>
          <p:cNvSpPr>
            <a:spLocks noGrp="1"/>
          </p:cNvSpPr>
          <p:nvPr>
            <p:ph type="body" sz="quarter" idx="35"/>
          </p:nvPr>
        </p:nvSpPr>
        <p:spPr>
          <a:xfrm>
            <a:off x="1347652" y="222699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필기전형 결과 보고서 제공</a:t>
            </a:r>
          </a:p>
        </p:txBody>
      </p:sp>
      <p:sp>
        <p:nvSpPr>
          <p:cNvPr id="42" name="머리칸"/>
          <p:cNvSpPr/>
          <p:nvPr/>
        </p:nvSpPr>
        <p:spPr>
          <a:xfrm>
            <a:off x="4171696" y="222699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3" name="머리칸"/>
          <p:cNvSpPr>
            <a:spLocks noGrp="1"/>
          </p:cNvSpPr>
          <p:nvPr>
            <p:ph type="body" sz="quarter" idx="36"/>
          </p:nvPr>
        </p:nvSpPr>
        <p:spPr>
          <a:xfrm>
            <a:off x="4171696" y="222699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면접 역량별 맞춤 솔루션 제공</a:t>
            </a:r>
          </a:p>
        </p:txBody>
      </p:sp>
      <p:sp>
        <p:nvSpPr>
          <p:cNvPr id="44" name="칸 본문"/>
          <p:cNvSpPr>
            <a:spLocks noGrp="1"/>
          </p:cNvSpPr>
          <p:nvPr>
            <p:ph type="body" sz="quarter" idx="37"/>
          </p:nvPr>
        </p:nvSpPr>
        <p:spPr>
          <a:xfrm>
            <a:off x="1358609" y="2468035"/>
            <a:ext cx="2802130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점수, 전체 커트라인 수치 중심 정보 제공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과목별 커트라인, 합격자 평균 등 영역별 강·약점 제공</a:t>
            </a:r>
          </a:p>
        </p:txBody>
      </p:sp>
      <p:sp>
        <p:nvSpPr>
          <p:cNvPr id="45" name="칸 본문"/>
          <p:cNvSpPr>
            <a:spLocks noGrp="1"/>
          </p:cNvSpPr>
          <p:nvPr>
            <p:ph type="body" sz="quarter" idx="38"/>
          </p:nvPr>
        </p:nvSpPr>
        <p:spPr>
          <a:xfrm>
            <a:off x="4182652" y="2468035"/>
            <a:ext cx="2802130" cy="52591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소프트스킬 위주 의견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 분야별(직무·역량) 피드백 제공, 직무수행 관련 보완점 중심 의견</a:t>
            </a:r>
          </a:p>
        </p:txBody>
      </p:sp>
      <p:cxnSp>
        <p:nvCxnSpPr>
          <p:cNvPr id="46" name="Connector 31"/>
          <p:cNvCxnSpPr/>
          <p:nvPr/>
        </p:nvCxnSpPr>
        <p:spPr>
          <a:xfrm>
            <a:off x="4171696" y="2500904"/>
            <a:ext cx="0" cy="46017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7" name="레일"/>
          <p:cNvSpPr/>
          <p:nvPr/>
        </p:nvSpPr>
        <p:spPr>
          <a:xfrm>
            <a:off x="734087" y="3015861"/>
            <a:ext cx="580696" cy="857426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레일 태그"/>
          <p:cNvSpPr/>
          <p:nvPr/>
        </p:nvSpPr>
        <p:spPr>
          <a:xfrm>
            <a:off x="854405" y="3180209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9" name="레일 태그"/>
          <p:cNvSpPr>
            <a:spLocks noGrp="1"/>
          </p:cNvSpPr>
          <p:nvPr>
            <p:ph type="body" sz="quarter" idx="39"/>
          </p:nvPr>
        </p:nvSpPr>
        <p:spPr>
          <a:xfrm>
            <a:off x="854405" y="3180209"/>
            <a:ext cx="340059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고졸</a:t>
            </a:r>
          </a:p>
        </p:txBody>
      </p:sp>
      <p:sp>
        <p:nvSpPr>
          <p:cNvPr id="50" name="레일 라벨"/>
          <p:cNvSpPr>
            <a:spLocks noGrp="1"/>
          </p:cNvSpPr>
          <p:nvPr>
            <p:ph type="body" sz="quarter" idx="40"/>
          </p:nvPr>
        </p:nvSpPr>
        <p:spPr>
          <a:xfrm>
            <a:off x="734087" y="3366470"/>
            <a:ext cx="580696" cy="484904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코칭형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피드백</a:t>
            </a:r>
          </a:p>
        </p:txBody>
      </p:sp>
      <p:sp>
        <p:nvSpPr>
          <p:cNvPr id="51" name="레일 삼각형"/>
          <p:cNvSpPr/>
          <p:nvPr/>
        </p:nvSpPr>
        <p:spPr>
          <a:xfrm>
            <a:off x="734086" y="3015860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배너"/>
          <p:cNvSpPr/>
          <p:nvPr/>
        </p:nvSpPr>
        <p:spPr>
          <a:xfrm>
            <a:off x="1347652" y="3037774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53" name="배너"/>
          <p:cNvSpPr>
            <a:spLocks noGrp="1"/>
          </p:cNvSpPr>
          <p:nvPr>
            <p:ph type="body" sz="quarter" idx="41"/>
          </p:nvPr>
        </p:nvSpPr>
        <p:spPr>
          <a:xfrm>
            <a:off x="1347652" y="3037774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구직 경험이 적은 고졸 전형 지원자 대상으로 코칭형 피드백 시범 도입</a:t>
            </a:r>
          </a:p>
        </p:txBody>
      </p:sp>
      <p:sp>
        <p:nvSpPr>
          <p:cNvPr id="54" name="단계"/>
          <p:cNvSpPr/>
          <p:nvPr/>
        </p:nvSpPr>
        <p:spPr>
          <a:xfrm>
            <a:off x="1347652" y="3273339"/>
            <a:ext cx="282404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5" name="단계"/>
          <p:cNvSpPr>
            <a:spLocks noGrp="1"/>
          </p:cNvSpPr>
          <p:nvPr>
            <p:ph type="body" sz="quarter" idx="42"/>
          </p:nvPr>
        </p:nvSpPr>
        <p:spPr>
          <a:xfrm>
            <a:off x="1347652" y="3273339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기존 획일적 피드백</a:t>
            </a:r>
          </a:p>
        </p:txBody>
      </p:sp>
      <p:sp>
        <p:nvSpPr>
          <p:cNvPr id="56" name="단계"/>
          <p:cNvSpPr/>
          <p:nvPr/>
        </p:nvSpPr>
        <p:spPr>
          <a:xfrm>
            <a:off x="4171696" y="3273339"/>
            <a:ext cx="282404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7" name="단계"/>
          <p:cNvSpPr>
            <a:spLocks noGrp="1"/>
          </p:cNvSpPr>
          <p:nvPr>
            <p:ph type="body" sz="quarter" idx="43"/>
          </p:nvPr>
        </p:nvSpPr>
        <p:spPr>
          <a:xfrm>
            <a:off x="4171696" y="3273339"/>
            <a:ext cx="282404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개선 피드백 전문위원 운영</a:t>
            </a:r>
          </a:p>
        </p:txBody>
      </p:sp>
      <p:sp>
        <p:nvSpPr>
          <p:cNvPr id="58" name="단계 삼각형"/>
          <p:cNvSpPr/>
          <p:nvPr/>
        </p:nvSpPr>
        <p:spPr>
          <a:xfrm>
            <a:off x="4171695" y="3273339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칸 본문"/>
          <p:cNvSpPr>
            <a:spLocks noGrp="1"/>
          </p:cNvSpPr>
          <p:nvPr>
            <p:ph type="body" sz="quarter" idx="44"/>
          </p:nvPr>
        </p:nvSpPr>
        <p:spPr>
          <a:xfrm>
            <a:off x="1358609" y="3525339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고졸 지원자 특성상 면접·직무 경험이 다소 제한적</a:t>
            </a:r>
          </a:p>
        </p:txBody>
      </p:sp>
      <p:sp>
        <p:nvSpPr>
          <p:cNvPr id="60" name="칸 본문"/>
          <p:cNvSpPr>
            <a:spLocks noGrp="1"/>
          </p:cNvSpPr>
          <p:nvPr>
            <p:ph type="body" sz="quarter" idx="45"/>
          </p:nvPr>
        </p:nvSpPr>
        <p:spPr>
          <a:xfrm>
            <a:off x="4182652" y="3525339"/>
            <a:ext cx="2802130" cy="34247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평가와 코칭을 분리, 개선 방향 중심 피드백 제공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면접 관련 VOC Zero(’24년 7건)</a:t>
            </a:r>
          </a:p>
        </p:txBody>
      </p:sp>
      <p:cxnSp>
        <p:nvCxnSpPr>
          <p:cNvPr id="61" name="Connector 42"/>
          <p:cNvCxnSpPr/>
          <p:nvPr/>
        </p:nvCxnSpPr>
        <p:spPr>
          <a:xfrm>
            <a:off x="4171696" y="3558209"/>
            <a:ext cx="0" cy="2767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2" name="핵심성과 박스"/>
          <p:cNvSpPr/>
          <p:nvPr/>
        </p:nvSpPr>
        <p:spPr>
          <a:xfrm>
            <a:off x="723130" y="3977374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핵심성과 라벨"/>
          <p:cNvSpPr/>
          <p:nvPr/>
        </p:nvSpPr>
        <p:spPr>
          <a:xfrm>
            <a:off x="756000" y="4015722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64" name="핵심성과 라벨"/>
          <p:cNvSpPr>
            <a:spLocks noGrp="1"/>
          </p:cNvSpPr>
          <p:nvPr>
            <p:ph type="body" sz="quarter" idx="46"/>
          </p:nvPr>
        </p:nvSpPr>
        <p:spPr>
          <a:xfrm>
            <a:off x="756000" y="4015722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65" name="핵심성과 문구"/>
          <p:cNvSpPr>
            <a:spLocks noGrp="1"/>
          </p:cNvSpPr>
          <p:nvPr>
            <p:ph type="body" sz="quarter" idx="47"/>
          </p:nvPr>
        </p:nvSpPr>
        <p:spPr>
          <a:xfrm>
            <a:off x="1501043" y="3993809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지원자 체감 채용 만족도 86점 달성(’24년 대비 1.1점↑)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49 서사 · 직원 니즈 → 추진실적 → 추진성과(행별 대응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고용 형태를 허물고 함께 성장하는 원팀으로 도약</a:t>
            </a:r>
          </a:p>
        </p:txBody>
      </p:sp>
      <p:sp>
        <p:nvSpPr>
          <p:cNvPr id="15" name="번호 띠 칩"/>
          <p:cNvSpPr/>
          <p:nvPr/>
        </p:nvSpPr>
        <p:spPr>
          <a:xfrm>
            <a:off x="6241922" y="832696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번호 띠 칩"/>
          <p:cNvSpPr>
            <a:spLocks noGrp="1"/>
          </p:cNvSpPr>
          <p:nvPr>
            <p:ph type="body" sz="quarter" idx="22"/>
          </p:nvPr>
        </p:nvSpPr>
        <p:spPr>
          <a:xfrm>
            <a:off x="6241922" y="832696"/>
            <a:ext cx="529208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7" name="단계"/>
          <p:cNvSpPr/>
          <p:nvPr/>
        </p:nvSpPr>
        <p:spPr>
          <a:xfrm>
            <a:off x="1172348" y="1139478"/>
            <a:ext cx="1576863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18" name="단계"/>
          <p:cNvSpPr>
            <a:spLocks noGrp="1"/>
          </p:cNvSpPr>
          <p:nvPr>
            <p:ph type="body" sz="quarter" idx="23"/>
          </p:nvPr>
        </p:nvSpPr>
        <p:spPr>
          <a:xfrm>
            <a:off x="1172348" y="1139478"/>
            <a:ext cx="1576863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 니즈</a:t>
            </a:r>
          </a:p>
        </p:txBody>
      </p:sp>
      <p:sp>
        <p:nvSpPr>
          <p:cNvPr id="19" name="단계"/>
          <p:cNvSpPr/>
          <p:nvPr/>
        </p:nvSpPr>
        <p:spPr>
          <a:xfrm>
            <a:off x="2749210" y="1139478"/>
            <a:ext cx="2421610" cy="241043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0" name="단계"/>
          <p:cNvSpPr>
            <a:spLocks noGrp="1"/>
          </p:cNvSpPr>
          <p:nvPr>
            <p:ph type="body" sz="quarter" idx="24"/>
          </p:nvPr>
        </p:nvSpPr>
        <p:spPr>
          <a:xfrm>
            <a:off x="2749210" y="1139478"/>
            <a:ext cx="242161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추진실적</a:t>
            </a:r>
          </a:p>
        </p:txBody>
      </p:sp>
      <p:sp>
        <p:nvSpPr>
          <p:cNvPr id="21" name="단계"/>
          <p:cNvSpPr/>
          <p:nvPr/>
        </p:nvSpPr>
        <p:spPr>
          <a:xfrm>
            <a:off x="5170821" y="1139478"/>
            <a:ext cx="1633179" cy="24104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2" name="단계"/>
          <p:cNvSpPr>
            <a:spLocks noGrp="1"/>
          </p:cNvSpPr>
          <p:nvPr>
            <p:ph type="body" sz="quarter" idx="25"/>
          </p:nvPr>
        </p:nvSpPr>
        <p:spPr>
          <a:xfrm>
            <a:off x="5170821" y="1139478"/>
            <a:ext cx="1633179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23" name="단계 삼각형"/>
          <p:cNvSpPr/>
          <p:nvPr/>
        </p:nvSpPr>
        <p:spPr>
          <a:xfrm>
            <a:off x="2749210" y="1139478"/>
            <a:ext cx="109565" cy="241043"/>
          </a:xfrm>
          <a:custGeom>
            <a:avLst/>
            <a:gdLst/>
            <a:ahLst/>
            <a:cxnLst/>
            <a:rect l="l" t="t" r="r" b="b"/>
            <a:pathLst>
              <a:path w="109565" h="241043">
                <a:moveTo>
                  <a:pt x="0" y="0"/>
                </a:moveTo>
                <a:lnTo>
                  <a:pt x="109565" y="120522"/>
                </a:lnTo>
                <a:lnTo>
                  <a:pt x="0" y="241043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단계 삼각형"/>
          <p:cNvSpPr/>
          <p:nvPr/>
        </p:nvSpPr>
        <p:spPr>
          <a:xfrm>
            <a:off x="5170820" y="1139478"/>
            <a:ext cx="109566" cy="241043"/>
          </a:xfrm>
          <a:custGeom>
            <a:avLst/>
            <a:gdLst/>
            <a:ahLst/>
            <a:cxnLst/>
            <a:rect l="l" t="t" r="r" b="b"/>
            <a:pathLst>
              <a:path w="109566" h="241043">
                <a:moveTo>
                  <a:pt x="0" y="0"/>
                </a:moveTo>
                <a:lnTo>
                  <a:pt x="109566" y="120522"/>
                </a:lnTo>
                <a:lnTo>
                  <a:pt x="0" y="241043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행 틀"/>
          <p:cNvSpPr/>
          <p:nvPr/>
        </p:nvSpPr>
        <p:spPr>
          <a:xfrm>
            <a:off x="536870" y="1402435"/>
            <a:ext cx="6300000" cy="712174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레일"/>
          <p:cNvSpPr/>
          <p:nvPr/>
        </p:nvSpPr>
        <p:spPr>
          <a:xfrm>
            <a:off x="547826" y="1413391"/>
            <a:ext cx="580696" cy="6902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7" name="레일"/>
          <p:cNvSpPr>
            <a:spLocks noGrp="1"/>
          </p:cNvSpPr>
          <p:nvPr>
            <p:ph type="body" sz="quarter" idx="26"/>
          </p:nvPr>
        </p:nvSpPr>
        <p:spPr>
          <a:xfrm>
            <a:off x="547826" y="1413391"/>
            <a:ext cx="580696" cy="690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고 졸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운영직</a:t>
            </a:r>
          </a:p>
        </p:txBody>
      </p:sp>
      <p:sp>
        <p:nvSpPr>
          <p:cNvPr id="28" name="니즈"/>
          <p:cNvSpPr>
            <a:spLocks noGrp="1"/>
          </p:cNvSpPr>
          <p:nvPr>
            <p:ph type="body" sz="quarter" idx="27"/>
          </p:nvPr>
        </p:nvSpPr>
        <p:spPr>
          <a:xfrm>
            <a:off x="1172348" y="1402435"/>
            <a:ext cx="1554950" cy="712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 전문성 확보를 위한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경력개발 지원이 필요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(운영직 TF)</a:t>
            </a:r>
          </a:p>
        </p:txBody>
      </p:sp>
      <p:sp>
        <p:nvSpPr>
          <p:cNvPr id="29" name="실적 머리"/>
          <p:cNvSpPr>
            <a:spLocks noGrp="1"/>
          </p:cNvSpPr>
          <p:nvPr>
            <p:ph type="body" sz="quarter" idx="28"/>
          </p:nvPr>
        </p:nvSpPr>
        <p:spPr>
          <a:xfrm>
            <a:off x="2749210" y="1413391"/>
            <a:ext cx="2399697" cy="208174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 전문성·경력개발 동시 지원</a:t>
            </a:r>
          </a:p>
        </p:txBody>
      </p:sp>
      <p:sp>
        <p:nvSpPr>
          <p:cNvPr id="30" name="태그"/>
          <p:cNvSpPr/>
          <p:nvPr/>
        </p:nvSpPr>
        <p:spPr>
          <a:xfrm>
            <a:off x="2793037" y="1665391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1" name="태그"/>
          <p:cNvSpPr>
            <a:spLocks noGrp="1"/>
          </p:cNvSpPr>
          <p:nvPr>
            <p:ph type="body" sz="quarter" idx="29"/>
          </p:nvPr>
        </p:nvSpPr>
        <p:spPr>
          <a:xfrm>
            <a:off x="2793037" y="1665391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직무</a:t>
            </a:r>
          </a:p>
        </p:txBody>
      </p:sp>
      <p:sp>
        <p:nvSpPr>
          <p:cNvPr id="32" name="칩 줄 글"/>
          <p:cNvSpPr>
            <a:spLocks noGrp="1"/>
          </p:cNvSpPr>
          <p:nvPr>
            <p:ph type="body" sz="quarter" idx="30"/>
          </p:nvPr>
        </p:nvSpPr>
        <p:spPr>
          <a:xfrm>
            <a:off x="3155009" y="1643478"/>
            <a:ext cx="1993899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K-Pro 전문가 과정, 직무세분화</a:t>
            </a:r>
          </a:p>
        </p:txBody>
      </p:sp>
      <p:sp>
        <p:nvSpPr>
          <p:cNvPr id="33" name="태그"/>
          <p:cNvSpPr/>
          <p:nvPr/>
        </p:nvSpPr>
        <p:spPr>
          <a:xfrm>
            <a:off x="2793037" y="1895478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4" name="태그"/>
          <p:cNvSpPr>
            <a:spLocks noGrp="1"/>
          </p:cNvSpPr>
          <p:nvPr>
            <p:ph type="body" sz="quarter" idx="31"/>
          </p:nvPr>
        </p:nvSpPr>
        <p:spPr>
          <a:xfrm>
            <a:off x="2793037" y="1895478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학위</a:t>
            </a:r>
          </a:p>
        </p:txBody>
      </p:sp>
      <p:sp>
        <p:nvSpPr>
          <p:cNvPr id="35" name="칩 줄 글"/>
          <p:cNvSpPr>
            <a:spLocks noGrp="1"/>
          </p:cNvSpPr>
          <p:nvPr>
            <p:ph type="body" sz="quarter" idx="32"/>
          </p:nvPr>
        </p:nvSpPr>
        <p:spPr>
          <a:xfrm>
            <a:off x="3155009" y="1873565"/>
            <a:ext cx="1993899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커리큘럼 개편, 장학금·교육키트 제공</a:t>
            </a:r>
          </a:p>
        </p:txBody>
      </p:sp>
      <p:sp>
        <p:nvSpPr>
          <p:cNvPr id="36" name="성과 머리"/>
          <p:cNvSpPr/>
          <p:nvPr/>
        </p:nvSpPr>
        <p:spPr>
          <a:xfrm>
            <a:off x="5192734" y="1435304"/>
            <a:ext cx="158935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37" name="성과 머리"/>
          <p:cNvSpPr>
            <a:spLocks noGrp="1"/>
          </p:cNvSpPr>
          <p:nvPr>
            <p:ph type="body" sz="quarter" idx="33"/>
          </p:nvPr>
        </p:nvSpPr>
        <p:spPr>
          <a:xfrm>
            <a:off x="5192734" y="1435304"/>
            <a:ext cx="158935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고졸운영직 학위취득(누계)</a:t>
            </a:r>
          </a:p>
        </p:txBody>
      </p:sp>
      <p:sp>
        <p:nvSpPr>
          <p:cNvPr id="38" name="성과 글"/>
          <p:cNvSpPr>
            <a:spLocks noGrp="1"/>
          </p:cNvSpPr>
          <p:nvPr>
            <p:ph type="body" sz="quarter" idx="34"/>
          </p:nvPr>
        </p:nvSpPr>
        <p:spPr>
          <a:xfrm>
            <a:off x="5192734" y="1676348"/>
            <a:ext cx="1589353" cy="41634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’24년 69명 → ’25년 94명</a:t>
            </a:r>
          </a:p>
        </p:txBody>
      </p:sp>
      <p:cxnSp>
        <p:nvCxnSpPr>
          <p:cNvPr id="39" name="Connector 27"/>
          <p:cNvCxnSpPr/>
          <p:nvPr/>
        </p:nvCxnSpPr>
        <p:spPr>
          <a:xfrm>
            <a:off x="2738254" y="1435304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cxnSp>
        <p:nvCxnSpPr>
          <p:cNvPr id="40" name="Connector 28"/>
          <p:cNvCxnSpPr/>
          <p:nvPr/>
        </p:nvCxnSpPr>
        <p:spPr>
          <a:xfrm>
            <a:off x="5159864" y="1435304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행 틀"/>
          <p:cNvSpPr/>
          <p:nvPr/>
        </p:nvSpPr>
        <p:spPr>
          <a:xfrm>
            <a:off x="536870" y="2136522"/>
            <a:ext cx="6300000" cy="712174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레일"/>
          <p:cNvSpPr/>
          <p:nvPr/>
        </p:nvSpPr>
        <p:spPr>
          <a:xfrm>
            <a:off x="547826" y="2147478"/>
            <a:ext cx="580696" cy="6902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3" name="레일"/>
          <p:cNvSpPr>
            <a:spLocks noGrp="1"/>
          </p:cNvSpPr>
          <p:nvPr>
            <p:ph type="body" sz="quarter" idx="35"/>
          </p:nvPr>
        </p:nvSpPr>
        <p:spPr>
          <a:xfrm>
            <a:off x="547826" y="2147478"/>
            <a:ext cx="580696" cy="690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무기계약</a:t>
            </a:r>
          </a:p>
        </p:txBody>
      </p:sp>
      <p:sp>
        <p:nvSpPr>
          <p:cNvPr id="44" name="니즈"/>
          <p:cNvSpPr>
            <a:spLocks noGrp="1"/>
          </p:cNvSpPr>
          <p:nvPr>
            <p:ph type="body" sz="quarter" idx="36"/>
          </p:nvPr>
        </p:nvSpPr>
        <p:spPr>
          <a:xfrm>
            <a:off x="1172348" y="2136522"/>
            <a:ext cx="1554950" cy="712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같은 직무를 오래 수행해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역할확장이 필요해 보여요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(인사담당자 간담회)</a:t>
            </a:r>
          </a:p>
        </p:txBody>
      </p:sp>
      <p:sp>
        <p:nvSpPr>
          <p:cNvPr id="45" name="실적 머리"/>
          <p:cNvSpPr>
            <a:spLocks noGrp="1"/>
          </p:cNvSpPr>
          <p:nvPr>
            <p:ph type="body" sz="quarter" idx="37"/>
          </p:nvPr>
        </p:nvSpPr>
        <p:spPr>
          <a:xfrm>
            <a:off x="2749210" y="2147478"/>
            <a:ext cx="2399697" cy="208174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 전환 활성화·조직융합 교육 신설</a:t>
            </a:r>
          </a:p>
        </p:txBody>
      </p:sp>
      <p:sp>
        <p:nvSpPr>
          <p:cNvPr id="46" name="태그"/>
          <p:cNvSpPr/>
          <p:nvPr/>
        </p:nvSpPr>
        <p:spPr>
          <a:xfrm>
            <a:off x="2793037" y="2399478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47" name="태그"/>
          <p:cNvSpPr>
            <a:spLocks noGrp="1"/>
          </p:cNvSpPr>
          <p:nvPr>
            <p:ph type="body" sz="quarter" idx="38"/>
          </p:nvPr>
        </p:nvSpPr>
        <p:spPr>
          <a:xfrm>
            <a:off x="2793037" y="2399478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전보</a:t>
            </a:r>
          </a:p>
        </p:txBody>
      </p:sp>
      <p:sp>
        <p:nvSpPr>
          <p:cNvPr id="48" name="칩 줄 글"/>
          <p:cNvSpPr>
            <a:spLocks noGrp="1"/>
          </p:cNvSpPr>
          <p:nvPr>
            <p:ph type="body" sz="quarter" idx="39"/>
          </p:nvPr>
        </p:nvSpPr>
        <p:spPr>
          <a:xfrm>
            <a:off x="3155009" y="2377565"/>
            <a:ext cx="1993899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이동 규모 확대(9명 → 11명)</a:t>
            </a:r>
          </a:p>
        </p:txBody>
      </p:sp>
      <p:sp>
        <p:nvSpPr>
          <p:cNvPr id="49" name="태그"/>
          <p:cNvSpPr/>
          <p:nvPr/>
        </p:nvSpPr>
        <p:spPr>
          <a:xfrm>
            <a:off x="2793037" y="2629565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0" name="태그"/>
          <p:cNvSpPr>
            <a:spLocks noGrp="1"/>
          </p:cNvSpPr>
          <p:nvPr>
            <p:ph type="body" sz="quarter" idx="40"/>
          </p:nvPr>
        </p:nvSpPr>
        <p:spPr>
          <a:xfrm>
            <a:off x="2793037" y="2629565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교육</a:t>
            </a:r>
          </a:p>
        </p:txBody>
      </p:sp>
      <p:sp>
        <p:nvSpPr>
          <p:cNvPr id="51" name="칩 줄 글"/>
          <p:cNvSpPr>
            <a:spLocks noGrp="1"/>
          </p:cNvSpPr>
          <p:nvPr>
            <p:ph type="body" sz="quarter" idx="41"/>
          </p:nvPr>
        </p:nvSpPr>
        <p:spPr>
          <a:xfrm>
            <a:off x="3155009" y="2607652"/>
            <a:ext cx="1993899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참여자 종합 만족도 9.74점</a:t>
            </a:r>
          </a:p>
        </p:txBody>
      </p:sp>
      <p:sp>
        <p:nvSpPr>
          <p:cNvPr id="52" name="성과 머리"/>
          <p:cNvSpPr/>
          <p:nvPr/>
        </p:nvSpPr>
        <p:spPr>
          <a:xfrm>
            <a:off x="5192734" y="2169391"/>
            <a:ext cx="158935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53" name="성과 머리"/>
          <p:cNvSpPr>
            <a:spLocks noGrp="1"/>
          </p:cNvSpPr>
          <p:nvPr>
            <p:ph type="body" sz="quarter" idx="42"/>
          </p:nvPr>
        </p:nvSpPr>
        <p:spPr>
          <a:xfrm>
            <a:off x="5192734" y="2169391"/>
            <a:ext cx="158935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공사 최초 무기계약직</a:t>
            </a:r>
          </a:p>
        </p:txBody>
      </p:sp>
      <p:sp>
        <p:nvSpPr>
          <p:cNvPr id="54" name="성과 글"/>
          <p:cNvSpPr>
            <a:spLocks noGrp="1"/>
          </p:cNvSpPr>
          <p:nvPr>
            <p:ph type="body" sz="quarter" idx="43"/>
          </p:nvPr>
        </p:nvSpPr>
        <p:spPr>
          <a:xfrm>
            <a:off x="5192734" y="2410435"/>
            <a:ext cx="1589353" cy="41634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사내벤처 팀장 선정</a:t>
            </a:r>
          </a:p>
        </p:txBody>
      </p:sp>
      <p:cxnSp>
        <p:nvCxnSpPr>
          <p:cNvPr id="55" name="Connector 39"/>
          <p:cNvCxnSpPr/>
          <p:nvPr/>
        </p:nvCxnSpPr>
        <p:spPr>
          <a:xfrm>
            <a:off x="2738254" y="2169391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cxnSp>
        <p:nvCxnSpPr>
          <p:cNvPr id="56" name="Connector 40"/>
          <p:cNvCxnSpPr/>
          <p:nvPr/>
        </p:nvCxnSpPr>
        <p:spPr>
          <a:xfrm>
            <a:off x="5159864" y="2169391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7" name="행 틀"/>
          <p:cNvSpPr/>
          <p:nvPr/>
        </p:nvSpPr>
        <p:spPr>
          <a:xfrm>
            <a:off x="536870" y="2870609"/>
            <a:ext cx="6300000" cy="712174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레일"/>
          <p:cNvSpPr/>
          <p:nvPr/>
        </p:nvSpPr>
        <p:spPr>
          <a:xfrm>
            <a:off x="547826" y="2881565"/>
            <a:ext cx="580696" cy="6902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9" name="레일"/>
          <p:cNvSpPr>
            <a:spLocks noGrp="1"/>
          </p:cNvSpPr>
          <p:nvPr>
            <p:ph type="body" sz="quarter" idx="44"/>
          </p:nvPr>
        </p:nvSpPr>
        <p:spPr>
          <a:xfrm>
            <a:off x="547826" y="2881565"/>
            <a:ext cx="580696" cy="690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별도직군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(임금피크)</a:t>
            </a:r>
          </a:p>
        </p:txBody>
      </p:sp>
      <p:sp>
        <p:nvSpPr>
          <p:cNvPr id="60" name="니즈"/>
          <p:cNvSpPr>
            <a:spLocks noGrp="1"/>
          </p:cNvSpPr>
          <p:nvPr>
            <p:ph type="body" sz="quarter" idx="45"/>
          </p:nvPr>
        </p:nvSpPr>
        <p:spPr>
          <a:xfrm>
            <a:off x="1172348" y="2870609"/>
            <a:ext cx="1554950" cy="712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퇴직 후 경력관리를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할 수 있으면 좋겠어요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(임금피크 직원 설문조사)</a:t>
            </a:r>
          </a:p>
        </p:txBody>
      </p:sp>
      <p:sp>
        <p:nvSpPr>
          <p:cNvPr id="61" name="실적 머리"/>
          <p:cNvSpPr>
            <a:spLocks noGrp="1"/>
          </p:cNvSpPr>
          <p:nvPr>
            <p:ph type="body" sz="quarter" idx="46"/>
          </p:nvPr>
        </p:nvSpPr>
        <p:spPr>
          <a:xfrm>
            <a:off x="2749210" y="2881565"/>
            <a:ext cx="2399697" cy="208174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맞춤 전문직무·생애경력 지원 확대</a:t>
            </a:r>
          </a:p>
        </p:txBody>
      </p:sp>
      <p:sp>
        <p:nvSpPr>
          <p:cNvPr id="62" name="태그"/>
          <p:cNvSpPr/>
          <p:nvPr/>
        </p:nvSpPr>
        <p:spPr>
          <a:xfrm>
            <a:off x="2793037" y="3133565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3" name="태그"/>
          <p:cNvSpPr>
            <a:spLocks noGrp="1"/>
          </p:cNvSpPr>
          <p:nvPr>
            <p:ph type="body" sz="quarter" idx="47"/>
          </p:nvPr>
        </p:nvSpPr>
        <p:spPr>
          <a:xfrm>
            <a:off x="2793037" y="3133565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직무</a:t>
            </a:r>
          </a:p>
        </p:txBody>
      </p:sp>
      <p:sp>
        <p:nvSpPr>
          <p:cNvPr id="64" name="칩 줄 글"/>
          <p:cNvSpPr>
            <a:spLocks noGrp="1"/>
          </p:cNvSpPr>
          <p:nvPr>
            <p:ph type="body" sz="quarter" idx="48"/>
          </p:nvPr>
        </p:nvSpPr>
        <p:spPr>
          <a:xfrm>
            <a:off x="3155009" y="3111652"/>
            <a:ext cx="1993899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수요조사 → AI, 대외협력 등 직무 신설</a:t>
            </a:r>
          </a:p>
        </p:txBody>
      </p:sp>
      <p:sp>
        <p:nvSpPr>
          <p:cNvPr id="65" name="태그"/>
          <p:cNvSpPr/>
          <p:nvPr/>
        </p:nvSpPr>
        <p:spPr>
          <a:xfrm>
            <a:off x="2793037" y="3363652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6" name="태그"/>
          <p:cNvSpPr>
            <a:spLocks noGrp="1"/>
          </p:cNvSpPr>
          <p:nvPr>
            <p:ph type="body" sz="quarter" idx="49"/>
          </p:nvPr>
        </p:nvSpPr>
        <p:spPr>
          <a:xfrm>
            <a:off x="2793037" y="3363652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교육</a:t>
            </a:r>
          </a:p>
        </p:txBody>
      </p:sp>
      <p:sp>
        <p:nvSpPr>
          <p:cNvPr id="67" name="칩 줄 글"/>
          <p:cNvSpPr>
            <a:spLocks noGrp="1"/>
          </p:cNvSpPr>
          <p:nvPr>
            <p:ph type="body" sz="quarter" idx="50"/>
          </p:nvPr>
        </p:nvSpPr>
        <p:spPr>
          <a:xfrm>
            <a:off x="3155009" y="3341739"/>
            <a:ext cx="1993899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시니어 디지털·은퇴 설계 등 과정 확대</a:t>
            </a:r>
          </a:p>
        </p:txBody>
      </p:sp>
      <p:sp>
        <p:nvSpPr>
          <p:cNvPr id="68" name="성과 머리"/>
          <p:cNvSpPr/>
          <p:nvPr/>
        </p:nvSpPr>
        <p:spPr>
          <a:xfrm>
            <a:off x="5192734" y="2903478"/>
            <a:ext cx="158935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69" name="성과 머리"/>
          <p:cNvSpPr>
            <a:spLocks noGrp="1"/>
          </p:cNvSpPr>
          <p:nvPr>
            <p:ph type="body" sz="quarter" idx="51"/>
          </p:nvPr>
        </p:nvSpPr>
        <p:spPr>
          <a:xfrm>
            <a:off x="5192734" y="2903478"/>
            <a:ext cx="158935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임금피크 직원 만족도</a:t>
            </a:r>
          </a:p>
        </p:txBody>
      </p:sp>
      <p:sp>
        <p:nvSpPr>
          <p:cNvPr id="70" name="성과 글"/>
          <p:cNvSpPr>
            <a:spLocks noGrp="1"/>
          </p:cNvSpPr>
          <p:nvPr>
            <p:ph type="body" sz="quarter" idx="52"/>
          </p:nvPr>
        </p:nvSpPr>
        <p:spPr>
          <a:xfrm>
            <a:off x="5192734" y="3144522"/>
            <a:ext cx="1589353" cy="41634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’24년 97.4점 → ’25년 98.6점</a:t>
            </a:r>
          </a:p>
        </p:txBody>
      </p:sp>
      <p:cxnSp>
        <p:nvCxnSpPr>
          <p:cNvPr id="71" name="Connector 51"/>
          <p:cNvCxnSpPr/>
          <p:nvPr/>
        </p:nvCxnSpPr>
        <p:spPr>
          <a:xfrm>
            <a:off x="2738254" y="2903478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cxnSp>
        <p:nvCxnSpPr>
          <p:cNvPr id="72" name="Connector 52"/>
          <p:cNvCxnSpPr/>
          <p:nvPr/>
        </p:nvCxnSpPr>
        <p:spPr>
          <a:xfrm>
            <a:off x="5159864" y="2903478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3" name="행 틀"/>
          <p:cNvSpPr/>
          <p:nvPr/>
        </p:nvSpPr>
        <p:spPr>
          <a:xfrm>
            <a:off x="536870" y="3604696"/>
            <a:ext cx="6300000" cy="712174"/>
          </a:xfrm>
          <a:prstGeom prst="rect">
            <a:avLst/>
          </a:prstGeom>
          <a:solidFill>
            <a:srgbClr val="FFFF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레일"/>
          <p:cNvSpPr/>
          <p:nvPr/>
        </p:nvSpPr>
        <p:spPr>
          <a:xfrm>
            <a:off x="547826" y="3615652"/>
            <a:ext cx="580696" cy="690261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5" name="레일"/>
          <p:cNvSpPr>
            <a:spLocks noGrp="1"/>
          </p:cNvSpPr>
          <p:nvPr>
            <p:ph type="body" sz="quarter" idx="53"/>
          </p:nvPr>
        </p:nvSpPr>
        <p:spPr>
          <a:xfrm>
            <a:off x="547826" y="3615652"/>
            <a:ext cx="580696" cy="690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자 회 사</a:t>
            </a:r>
          </a:p>
        </p:txBody>
      </p:sp>
      <p:sp>
        <p:nvSpPr>
          <p:cNvPr id="76" name="니즈"/>
          <p:cNvSpPr>
            <a:spLocks noGrp="1"/>
          </p:cNvSpPr>
          <p:nvPr>
            <p:ph type="body" sz="quarter" idx="54"/>
          </p:nvPr>
        </p:nvSpPr>
        <p:spPr>
          <a:xfrm>
            <a:off x="1172348" y="3604696"/>
            <a:ext cx="1554950" cy="712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안전하고 지속가능하게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일할 수 있는 근무환경 요구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(모·자회사 공동협의회)</a:t>
            </a:r>
          </a:p>
        </p:txBody>
      </p:sp>
      <p:sp>
        <p:nvSpPr>
          <p:cNvPr id="77" name="실적 머리"/>
          <p:cNvSpPr>
            <a:spLocks noGrp="1"/>
          </p:cNvSpPr>
          <p:nvPr>
            <p:ph type="body" sz="quarter" idx="55"/>
          </p:nvPr>
        </p:nvSpPr>
        <p:spPr>
          <a:xfrm>
            <a:off x="2749210" y="3615652"/>
            <a:ext cx="2399697" cy="208174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자회사 처우, 안전수준 동반 강화</a:t>
            </a:r>
          </a:p>
        </p:txBody>
      </p:sp>
      <p:sp>
        <p:nvSpPr>
          <p:cNvPr id="78" name="태그"/>
          <p:cNvSpPr/>
          <p:nvPr/>
        </p:nvSpPr>
        <p:spPr>
          <a:xfrm>
            <a:off x="2793037" y="3867652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9" name="태그"/>
          <p:cNvSpPr>
            <a:spLocks noGrp="1"/>
          </p:cNvSpPr>
          <p:nvPr>
            <p:ph type="body" sz="quarter" idx="56"/>
          </p:nvPr>
        </p:nvSpPr>
        <p:spPr>
          <a:xfrm>
            <a:off x="2793037" y="3867652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처우</a:t>
            </a:r>
          </a:p>
        </p:txBody>
      </p:sp>
      <p:sp>
        <p:nvSpPr>
          <p:cNvPr id="80" name="칩 줄 글"/>
          <p:cNvSpPr>
            <a:spLocks noGrp="1"/>
          </p:cNvSpPr>
          <p:nvPr>
            <p:ph type="body" sz="quarter" idx="57"/>
          </p:nvPr>
        </p:nvSpPr>
        <p:spPr>
          <a:xfrm>
            <a:off x="3155009" y="3845739"/>
            <a:ext cx="1993899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모회사 수준 복지</a:t>
            </a:r>
          </a:p>
        </p:txBody>
      </p:sp>
      <p:sp>
        <p:nvSpPr>
          <p:cNvPr id="81" name="태그"/>
          <p:cNvSpPr/>
          <p:nvPr/>
        </p:nvSpPr>
        <p:spPr>
          <a:xfrm>
            <a:off x="2793037" y="4097739"/>
            <a:ext cx="329103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2" name="태그"/>
          <p:cNvSpPr>
            <a:spLocks noGrp="1"/>
          </p:cNvSpPr>
          <p:nvPr>
            <p:ph type="body" sz="quarter" idx="58"/>
          </p:nvPr>
        </p:nvSpPr>
        <p:spPr>
          <a:xfrm>
            <a:off x="2793037" y="4097739"/>
            <a:ext cx="329103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</a:t>
            </a:r>
          </a:p>
        </p:txBody>
      </p:sp>
      <p:sp>
        <p:nvSpPr>
          <p:cNvPr id="83" name="칩 줄 글"/>
          <p:cNvSpPr>
            <a:spLocks noGrp="1"/>
          </p:cNvSpPr>
          <p:nvPr>
            <p:ph type="body" sz="quarter" idx="59"/>
          </p:nvPr>
        </p:nvSpPr>
        <p:spPr>
          <a:xfrm>
            <a:off x="3155009" y="4075826"/>
            <a:ext cx="1993899" cy="20817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인력증원(10명), 예산 상향(0.9억원)</a:t>
            </a:r>
          </a:p>
        </p:txBody>
      </p:sp>
      <p:sp>
        <p:nvSpPr>
          <p:cNvPr id="84" name="성과 머리"/>
          <p:cNvSpPr/>
          <p:nvPr/>
        </p:nvSpPr>
        <p:spPr>
          <a:xfrm>
            <a:off x="5192734" y="3637565"/>
            <a:ext cx="158935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/>
        </p:txBody>
      </p:sp>
      <p:sp>
        <p:nvSpPr>
          <p:cNvPr id="85" name="성과 머리"/>
          <p:cNvSpPr>
            <a:spLocks noGrp="1"/>
          </p:cNvSpPr>
          <p:nvPr>
            <p:ph type="body" sz="quarter" idx="60"/>
          </p:nvPr>
        </p:nvSpPr>
        <p:spPr>
          <a:xfrm>
            <a:off x="5192734" y="3637565"/>
            <a:ext cx="158935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4400" rIns="14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자회사 운영실태 평가</a:t>
            </a:r>
          </a:p>
        </p:txBody>
      </p:sp>
      <p:sp>
        <p:nvSpPr>
          <p:cNvPr id="86" name="성과 글"/>
          <p:cNvSpPr>
            <a:spLocks noGrp="1"/>
          </p:cNvSpPr>
          <p:nvPr>
            <p:ph type="body" sz="quarter" idx="61"/>
          </p:nvPr>
        </p:nvSpPr>
        <p:spPr>
          <a:xfrm>
            <a:off x="5192734" y="3878609"/>
            <a:ext cx="1589353" cy="41634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최고점수 A등급 달성</a:t>
            </a:r>
          </a:p>
        </p:txBody>
      </p:sp>
      <p:cxnSp>
        <p:nvCxnSpPr>
          <p:cNvPr id="87" name="Connector 63"/>
          <p:cNvCxnSpPr/>
          <p:nvPr/>
        </p:nvCxnSpPr>
        <p:spPr>
          <a:xfrm>
            <a:off x="2738254" y="3637565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cxnSp>
        <p:nvCxnSpPr>
          <p:cNvPr id="88" name="Connector 64"/>
          <p:cNvCxnSpPr/>
          <p:nvPr/>
        </p:nvCxnSpPr>
        <p:spPr>
          <a:xfrm>
            <a:off x="5159864" y="3637565"/>
            <a:ext cx="0" cy="646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50 서사 · 환경분석 → 성과환류 → 목표 → 추진방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데스밸리 극복을 돕는 도전적 지원, 기업 생존율 제고 및 고용 창출 강화</a:t>
            </a:r>
          </a:p>
        </p:txBody>
      </p:sp>
      <p:sp>
        <p:nvSpPr>
          <p:cNvPr id="14" name="표 외곽"/>
          <p:cNvSpPr/>
          <p:nvPr/>
        </p:nvSpPr>
        <p:spPr>
          <a:xfrm>
            <a:off x="723130" y="1128522"/>
            <a:ext cx="6300000" cy="12737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734087" y="1144957"/>
            <a:ext cx="580696" cy="68478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734087" y="1144957"/>
            <a:ext cx="580696" cy="6847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 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분 석</a:t>
            </a:r>
          </a:p>
        </p:txBody>
      </p:sp>
      <p:sp>
        <p:nvSpPr>
          <p:cNvPr id="17" name="머리칸"/>
          <p:cNvSpPr/>
          <p:nvPr/>
        </p:nvSpPr>
        <p:spPr>
          <a:xfrm>
            <a:off x="1347652" y="116687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8" name="머리칸"/>
          <p:cNvSpPr>
            <a:spLocks noGrp="1"/>
          </p:cNvSpPr>
          <p:nvPr>
            <p:ph type="body" sz="quarter" idx="23"/>
          </p:nvPr>
        </p:nvSpPr>
        <p:spPr>
          <a:xfrm>
            <a:off x="1347652" y="116687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대외환경 경기침체 장기화·기술패권 경쟁</a:t>
            </a:r>
          </a:p>
        </p:txBody>
      </p:sp>
      <p:sp>
        <p:nvSpPr>
          <p:cNvPr id="19" name="머리칸"/>
          <p:cNvSpPr/>
          <p:nvPr/>
        </p:nvSpPr>
        <p:spPr>
          <a:xfrm>
            <a:off x="4171696" y="116687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4171696" y="116687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정부정책 벤처·창업기업 지원 강화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5"/>
          </p:nvPr>
        </p:nvSpPr>
        <p:spPr>
          <a:xfrm>
            <a:off x="1358609" y="1407913"/>
            <a:ext cx="2802130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분쟁·원자재값 폭등 등 변동성 심화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AI·로봇 등 딥테크가 불러온 기술경쟁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6"/>
          </p:nvPr>
        </p:nvSpPr>
        <p:spPr>
          <a:xfrm>
            <a:off x="4182652" y="1407913"/>
            <a:ext cx="2802130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“창업 중심 국가로 대전환 정부 역량 총동원”</a:t>
            </a:r>
          </a:p>
        </p:txBody>
      </p:sp>
      <p:cxnSp>
        <p:nvCxnSpPr>
          <p:cNvPr id="23" name="Connector 14"/>
          <p:cNvCxnSpPr/>
          <p:nvPr/>
        </p:nvCxnSpPr>
        <p:spPr>
          <a:xfrm>
            <a:off x="4171696" y="1440783"/>
            <a:ext cx="0" cy="35060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레일"/>
          <p:cNvSpPr/>
          <p:nvPr/>
        </p:nvSpPr>
        <p:spPr>
          <a:xfrm>
            <a:off x="734087" y="1846174"/>
            <a:ext cx="580696" cy="53968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734087" y="1846174"/>
            <a:ext cx="580696" cy="5396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 과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 류</a:t>
            </a:r>
          </a:p>
        </p:txBody>
      </p:sp>
      <p:sp>
        <p:nvSpPr>
          <p:cNvPr id="26" name="레일 삼각형"/>
          <p:cNvSpPr/>
          <p:nvPr/>
        </p:nvSpPr>
        <p:spPr>
          <a:xfrm>
            <a:off x="734086" y="1846173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8"/>
          </p:nvPr>
        </p:nvSpPr>
        <p:spPr>
          <a:xfrm>
            <a:off x="1358609" y="1868087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’24년 환류 물산업 기반 일자리 창출 지원 등 민간 일자리 확보 노력 지속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29"/>
          </p:nvPr>
        </p:nvSpPr>
        <p:spPr>
          <a:xfrm>
            <a:off x="4182652" y="1868087"/>
            <a:ext cx="2802130" cy="35060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착안점 기후·환경산업 육성과 민간주도 스케일업 기반의 민관협력 정책 강화</a:t>
            </a:r>
          </a:p>
        </p:txBody>
      </p:sp>
      <p:cxnSp>
        <p:nvCxnSpPr>
          <p:cNvPr id="29" name="Connector 19"/>
          <p:cNvCxnSpPr/>
          <p:nvPr/>
        </p:nvCxnSpPr>
        <p:spPr>
          <a:xfrm>
            <a:off x="4171696" y="1900957"/>
            <a:ext cx="0" cy="28486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배너"/>
          <p:cNvSpPr/>
          <p:nvPr/>
        </p:nvSpPr>
        <p:spPr>
          <a:xfrm>
            <a:off x="723130" y="2457078"/>
            <a:ext cx="6300000" cy="328696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1" name="Connector 21"/>
          <p:cNvCxnSpPr/>
          <p:nvPr/>
        </p:nvCxnSpPr>
        <p:spPr>
          <a:xfrm>
            <a:off x="723130" y="2457078"/>
            <a:ext cx="6300000" cy="0"/>
          </a:xfrm>
          <a:prstGeom prst="line">
            <a:avLst/>
          </a:prstGeom>
          <a:ln w="12700">
            <a:solidFill>
              <a:srgbClr val="BDE0FF"/>
            </a:solidFill>
          </a:ln>
        </p:spPr>
      </p:cxnSp>
      <p:sp>
        <p:nvSpPr>
          <p:cNvPr id="32" name="배너 글"/>
          <p:cNvSpPr>
            <a:spLocks noGrp="1"/>
          </p:cNvSpPr>
          <p:nvPr>
            <p:ph type="body" sz="quarter" idx="30"/>
          </p:nvPr>
        </p:nvSpPr>
        <p:spPr>
          <a:xfrm>
            <a:off x="723130" y="2511861"/>
            <a:ext cx="6300000" cy="19721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국가 최대 인프라를 보유한 기후위기 대응 선도 공기업으로 물·기후테크 기업의 제3벤처붐 견인</a:t>
            </a:r>
          </a:p>
        </p:txBody>
      </p:sp>
      <p:sp>
        <p:nvSpPr>
          <p:cNvPr id="33" name="표 외곽"/>
          <p:cNvSpPr/>
          <p:nvPr/>
        </p:nvSpPr>
        <p:spPr>
          <a:xfrm>
            <a:off x="723130" y="2829600"/>
            <a:ext cx="6300000" cy="98749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레일"/>
          <p:cNvSpPr/>
          <p:nvPr/>
        </p:nvSpPr>
        <p:spPr>
          <a:xfrm>
            <a:off x="734087" y="2846035"/>
            <a:ext cx="580696" cy="25340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5" name="레일"/>
          <p:cNvSpPr>
            <a:spLocks noGrp="1"/>
          </p:cNvSpPr>
          <p:nvPr>
            <p:ph type="body" sz="quarter" idx="31"/>
          </p:nvPr>
        </p:nvSpPr>
        <p:spPr>
          <a:xfrm>
            <a:off x="734087" y="2846035"/>
            <a:ext cx="580696" cy="2534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목 표</a:t>
            </a:r>
          </a:p>
        </p:txBody>
      </p:sp>
      <p:sp>
        <p:nvSpPr>
          <p:cNvPr id="36" name="배너"/>
          <p:cNvSpPr/>
          <p:nvPr/>
        </p:nvSpPr>
        <p:spPr>
          <a:xfrm>
            <a:off x="1347652" y="2867948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7" name="배너"/>
          <p:cNvSpPr>
            <a:spLocks noGrp="1"/>
          </p:cNvSpPr>
          <p:nvPr>
            <p:ph type="body" sz="quarter" idx="32"/>
          </p:nvPr>
        </p:nvSpPr>
        <p:spPr>
          <a:xfrm>
            <a:off x="1347652" y="2867948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아이디어가 혁신으로, 딥테크 기업이 지속 성장하는 창업 숲주기 생태계 실현</a:t>
            </a:r>
          </a:p>
        </p:txBody>
      </p:sp>
      <p:sp>
        <p:nvSpPr>
          <p:cNvPr id="38" name="레일"/>
          <p:cNvSpPr/>
          <p:nvPr/>
        </p:nvSpPr>
        <p:spPr>
          <a:xfrm>
            <a:off x="734087" y="3115878"/>
            <a:ext cx="580696" cy="684783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레일"/>
          <p:cNvSpPr>
            <a:spLocks noGrp="1"/>
          </p:cNvSpPr>
          <p:nvPr>
            <p:ph type="body" sz="quarter" idx="33"/>
          </p:nvPr>
        </p:nvSpPr>
        <p:spPr>
          <a:xfrm>
            <a:off x="734087" y="3115878"/>
            <a:ext cx="580696" cy="68478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 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방 향</a:t>
            </a:r>
          </a:p>
        </p:txBody>
      </p:sp>
      <p:sp>
        <p:nvSpPr>
          <p:cNvPr id="40" name="레일 삼각형"/>
          <p:cNvSpPr/>
          <p:nvPr/>
        </p:nvSpPr>
        <p:spPr>
          <a:xfrm>
            <a:off x="734086" y="3115878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머리칸"/>
          <p:cNvSpPr/>
          <p:nvPr/>
        </p:nvSpPr>
        <p:spPr>
          <a:xfrm>
            <a:off x="1347652" y="313779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2" name="머리칸"/>
          <p:cNvSpPr>
            <a:spLocks noGrp="1"/>
          </p:cNvSpPr>
          <p:nvPr>
            <p:ph type="body" sz="quarter" idx="34"/>
          </p:nvPr>
        </p:nvSpPr>
        <p:spPr>
          <a:xfrm>
            <a:off x="1347652" y="313779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물+기후테크 스타트업 발굴·육성</a:t>
            </a:r>
          </a:p>
        </p:txBody>
      </p:sp>
      <p:sp>
        <p:nvSpPr>
          <p:cNvPr id="43" name="머리칸"/>
          <p:cNvSpPr/>
          <p:nvPr/>
        </p:nvSpPr>
        <p:spPr>
          <a:xfrm>
            <a:off x="4171696" y="313779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4" name="머리칸"/>
          <p:cNvSpPr>
            <a:spLocks noGrp="1"/>
          </p:cNvSpPr>
          <p:nvPr>
            <p:ph type="body" sz="quarter" idx="35"/>
          </p:nvPr>
        </p:nvSpPr>
        <p:spPr>
          <a:xfrm>
            <a:off x="4171696" y="313779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투자확대·동반성장 환경 조성</a:t>
            </a:r>
          </a:p>
        </p:txBody>
      </p:sp>
      <p:sp>
        <p:nvSpPr>
          <p:cNvPr id="45" name="칸 본문"/>
          <p:cNvSpPr>
            <a:spLocks noGrp="1"/>
          </p:cNvSpPr>
          <p:nvPr>
            <p:ph type="body" sz="quarter" idx="36"/>
          </p:nvPr>
        </p:nvSpPr>
        <p:spPr>
          <a:xfrm>
            <a:off x="1358609" y="3378835"/>
            <a:ext cx="2802130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현장의 목소리에 기반한 사내벤처 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기후테크 기업 양성으로 민간 고용 극대화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37"/>
          </p:nvPr>
        </p:nvSpPr>
        <p:spPr>
          <a:xfrm>
            <a:off x="4182652" y="3378835"/>
            <a:ext cx="2802130" cy="416348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성장→스케일업 단계별 성장사다리 구축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지역 활성화 연계 상생형 일자리 창출</a:t>
            </a:r>
          </a:p>
        </p:txBody>
      </p:sp>
      <p:cxnSp>
        <p:nvCxnSpPr>
          <p:cNvPr id="47" name="Connector 32"/>
          <p:cNvCxnSpPr/>
          <p:nvPr/>
        </p:nvCxnSpPr>
        <p:spPr>
          <a:xfrm>
            <a:off x="4171696" y="3411704"/>
            <a:ext cx="0" cy="35060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51 서사 · 추진배경 → 시사점 → 추진노력 3단(현 수준 파악 · 제도 개선 · 성과 견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22952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</a:t>
            </a:r>
          </a:p>
        </p:txBody>
      </p:sp>
      <p:sp>
        <p:nvSpPr>
          <p:cNvPr id="11" name="분야 박스"/>
          <p:cNvSpPr/>
          <p:nvPr/>
        </p:nvSpPr>
        <p:spPr>
          <a:xfrm>
            <a:off x="766390" y="799826"/>
            <a:ext cx="592466" cy="175304"/>
          </a:xfrm>
          <a:prstGeom prst="rect">
            <a:avLst/>
          </a:prstGeom>
          <a:solidFill>
            <a:srgbClr val="DEEEFF"/>
          </a:solidFill>
          <a:ln w="9525">
            <a:solidFill>
              <a:srgbClr val="BDE0FF"/>
            </a:solidFill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분야 박스"/>
          <p:cNvSpPr>
            <a:spLocks noGrp="1"/>
          </p:cNvSpPr>
          <p:nvPr>
            <p:ph type="body" sz="quarter" idx="21"/>
          </p:nvPr>
        </p:nvSpPr>
        <p:spPr>
          <a:xfrm>
            <a:off x="766390" y="799826"/>
            <a:ext cx="59246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사내벤처</a:t>
            </a:r>
          </a:p>
        </p:txBody>
      </p:sp>
      <p:sp>
        <p:nvSpPr>
          <p:cNvPr id="13" name="형광 밑줄"/>
          <p:cNvSpPr/>
          <p:nvPr/>
        </p:nvSpPr>
        <p:spPr>
          <a:xfrm>
            <a:off x="1424595" y="920348"/>
            <a:ext cx="3377780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소제목"/>
          <p:cNvSpPr>
            <a:spLocks noGrp="1"/>
          </p:cNvSpPr>
          <p:nvPr>
            <p:ph type="body" sz="quarter" idx="22"/>
          </p:nvPr>
        </p:nvSpPr>
        <p:spPr>
          <a:xfrm>
            <a:off x="1424595" y="766957"/>
            <a:ext cx="5412275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‘창업 몰입’ 환경 조성으로 사업화와 성장의 골든타임 확보</a:t>
            </a:r>
          </a:p>
        </p:txBody>
      </p:sp>
      <p:sp>
        <p:nvSpPr>
          <p:cNvPr id="15" name="태그칩"/>
          <p:cNvSpPr/>
          <p:nvPr/>
        </p:nvSpPr>
        <p:spPr>
          <a:xfrm>
            <a:off x="4900983" y="799826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태그칩"/>
          <p:cNvSpPr>
            <a:spLocks noGrp="1"/>
          </p:cNvSpPr>
          <p:nvPr>
            <p:ph type="body" sz="quarter" idx="23"/>
          </p:nvPr>
        </p:nvSpPr>
        <p:spPr>
          <a:xfrm>
            <a:off x="4900983" y="799826"/>
            <a:ext cx="50729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17" name="표 외곽"/>
          <p:cNvSpPr/>
          <p:nvPr/>
        </p:nvSpPr>
        <p:spPr>
          <a:xfrm>
            <a:off x="536870" y="1051826"/>
            <a:ext cx="6300000" cy="454696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레일"/>
          <p:cNvSpPr/>
          <p:nvPr/>
        </p:nvSpPr>
        <p:spPr>
          <a:xfrm>
            <a:off x="547826" y="1068261"/>
            <a:ext cx="580696" cy="42182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9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068261"/>
            <a:ext cx="580696" cy="42182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5"/>
          </p:nvPr>
        </p:nvSpPr>
        <p:spPr>
          <a:xfrm>
            <a:off x="1172348" y="1090174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사내벤처 직원 간담회 “사업화 골든타임을 놓치지 않도록 사전 준비기간이 필요해요”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6"/>
          </p:nvPr>
        </p:nvSpPr>
        <p:spPr>
          <a:xfrm>
            <a:off x="3996391" y="1090174"/>
            <a:ext cx="2802130" cy="39443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전사 설명회 “현업과 병행한 기술상용화·창업 준비로 업무에 지장을 줄까 부담스러워요”</a:t>
            </a:r>
          </a:p>
        </p:txBody>
      </p:sp>
      <p:cxnSp>
        <p:nvCxnSpPr>
          <p:cNvPr id="22" name="Connector 15"/>
          <p:cNvCxnSpPr/>
          <p:nvPr/>
        </p:nvCxnSpPr>
        <p:spPr>
          <a:xfrm>
            <a:off x="3985435" y="1123043"/>
            <a:ext cx="0" cy="32869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3" name="캡션 띠"/>
          <p:cNvSpPr/>
          <p:nvPr/>
        </p:nvSpPr>
        <p:spPr>
          <a:xfrm>
            <a:off x="536869" y="1528434"/>
            <a:ext cx="6300000" cy="252000"/>
          </a:xfrm>
          <a:custGeom>
            <a:avLst/>
            <a:gdLst/>
            <a:ahLst/>
            <a:cxnLst/>
            <a:rect l="l" t="t" r="r" b="b"/>
            <a:pathLst>
              <a:path w="6300000" h="252000">
                <a:moveTo>
                  <a:pt x="0" y="0"/>
                </a:moveTo>
                <a:lnTo>
                  <a:pt x="6300000" y="0"/>
                </a:lnTo>
                <a:lnTo>
                  <a:pt x="6113739" y="252000"/>
                </a:lnTo>
                <a:lnTo>
                  <a:pt x="186261" y="252000"/>
                </a:lnTo>
                <a:close/>
              </a:path>
            </a:pathLst>
          </a:custGeom>
          <a:gradFill rotWithShape="1">
            <a:gsLst>
              <a:gs pos="0">
                <a:srgbClr val="BDE0F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태그"/>
          <p:cNvSpPr/>
          <p:nvPr/>
        </p:nvSpPr>
        <p:spPr>
          <a:xfrm>
            <a:off x="865565" y="1572261"/>
            <a:ext cx="438871" cy="1643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1BC"/>
            </a:solidFill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5" name="태그"/>
          <p:cNvSpPr>
            <a:spLocks noGrp="1"/>
          </p:cNvSpPr>
          <p:nvPr>
            <p:ph type="body" sz="quarter" idx="27"/>
          </p:nvPr>
        </p:nvSpPr>
        <p:spPr>
          <a:xfrm>
            <a:off x="865565" y="1572261"/>
            <a:ext cx="438871" cy="16434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26" name="캡션"/>
          <p:cNvSpPr>
            <a:spLocks noGrp="1"/>
          </p:cNvSpPr>
          <p:nvPr>
            <p:ph type="body" sz="quarter" idx="28"/>
          </p:nvPr>
        </p:nvSpPr>
        <p:spPr>
          <a:xfrm>
            <a:off x="1359219" y="1528435"/>
            <a:ext cx="5258520" cy="2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성공적인 분사·창업 지원체계 마련으로 사내벤처 활성화 유도</a:t>
            </a:r>
          </a:p>
        </p:txBody>
      </p:sp>
      <p:sp>
        <p:nvSpPr>
          <p:cNvPr id="27" name="표 외곽"/>
          <p:cNvSpPr/>
          <p:nvPr/>
        </p:nvSpPr>
        <p:spPr>
          <a:xfrm>
            <a:off x="536870" y="1835217"/>
            <a:ext cx="6300000" cy="124356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레일"/>
          <p:cNvSpPr/>
          <p:nvPr/>
        </p:nvSpPr>
        <p:spPr>
          <a:xfrm>
            <a:off x="547826" y="1851652"/>
            <a:ext cx="580696" cy="121069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레일"/>
          <p:cNvSpPr>
            <a:spLocks noGrp="1"/>
          </p:cNvSpPr>
          <p:nvPr>
            <p:ph type="body" sz="quarter" idx="29"/>
          </p:nvPr>
        </p:nvSpPr>
        <p:spPr>
          <a:xfrm>
            <a:off x="547826" y="1851652"/>
            <a:ext cx="580696" cy="121069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 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 력</a:t>
            </a:r>
          </a:p>
        </p:txBody>
      </p:sp>
      <p:sp>
        <p:nvSpPr>
          <p:cNvPr id="30" name="단계"/>
          <p:cNvSpPr/>
          <p:nvPr/>
        </p:nvSpPr>
        <p:spPr>
          <a:xfrm>
            <a:off x="1161391" y="1873565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1" name="단계"/>
          <p:cNvSpPr>
            <a:spLocks noGrp="1"/>
          </p:cNvSpPr>
          <p:nvPr>
            <p:ph type="body" sz="quarter" idx="30"/>
          </p:nvPr>
        </p:nvSpPr>
        <p:spPr>
          <a:xfrm>
            <a:off x="1161391" y="187356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 現 수준 파악</a:t>
            </a:r>
          </a:p>
        </p:txBody>
      </p:sp>
      <p:sp>
        <p:nvSpPr>
          <p:cNvPr id="32" name="단계"/>
          <p:cNvSpPr/>
          <p:nvPr/>
        </p:nvSpPr>
        <p:spPr>
          <a:xfrm>
            <a:off x="3044087" y="1873565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3" name="단계"/>
          <p:cNvSpPr>
            <a:spLocks noGrp="1"/>
          </p:cNvSpPr>
          <p:nvPr>
            <p:ph type="body" sz="quarter" idx="31"/>
          </p:nvPr>
        </p:nvSpPr>
        <p:spPr>
          <a:xfrm>
            <a:off x="3044087" y="187356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2 실효성 있는 제도 개선</a:t>
            </a:r>
          </a:p>
        </p:txBody>
      </p:sp>
      <p:sp>
        <p:nvSpPr>
          <p:cNvPr id="34" name="단계"/>
          <p:cNvSpPr/>
          <p:nvPr/>
        </p:nvSpPr>
        <p:spPr>
          <a:xfrm>
            <a:off x="4926783" y="1873565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5" name="단계"/>
          <p:cNvSpPr>
            <a:spLocks noGrp="1"/>
          </p:cNvSpPr>
          <p:nvPr>
            <p:ph type="body" sz="quarter" idx="32"/>
          </p:nvPr>
        </p:nvSpPr>
        <p:spPr>
          <a:xfrm>
            <a:off x="4926783" y="1873565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3 성과 창출 견인</a:t>
            </a:r>
          </a:p>
        </p:txBody>
      </p:sp>
      <p:sp>
        <p:nvSpPr>
          <p:cNvPr id="36" name="단계 삼각형"/>
          <p:cNvSpPr/>
          <p:nvPr/>
        </p:nvSpPr>
        <p:spPr>
          <a:xfrm>
            <a:off x="3044086" y="1873565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단계 삼각형"/>
          <p:cNvSpPr/>
          <p:nvPr/>
        </p:nvSpPr>
        <p:spPr>
          <a:xfrm>
            <a:off x="4926782" y="1873565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칸 본문"/>
          <p:cNvSpPr>
            <a:spLocks noGrp="1"/>
          </p:cNvSpPr>
          <p:nvPr>
            <p:ph type="body" sz="quarter" idx="33"/>
          </p:nvPr>
        </p:nvSpPr>
        <p:spPr>
          <a:xfrm>
            <a:off x="1172348" y="2125565"/>
            <a:ext cx="1860783" cy="9313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사내벤처 활성화를 위한 참여직원 대상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설문내용 사전 준비 필요 여부·기간 / 결과 현업과 분리된 준비기간(5.5개월) 요구 多</a:t>
            </a:r>
          </a:p>
        </p:txBody>
      </p:sp>
      <p:sp>
        <p:nvSpPr>
          <p:cNvPr id="39" name="칸 본문"/>
          <p:cNvSpPr>
            <a:spLocks noGrp="1"/>
          </p:cNvSpPr>
          <p:nvPr>
            <p:ph type="body" sz="quarter" idx="34"/>
          </p:nvPr>
        </p:nvSpPr>
        <p:spPr>
          <a:xfrm>
            <a:off x="3055043" y="2125565"/>
            <a:ext cx="1860783" cy="9313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인사관리 연계·기준 개정으로 사전 준비기간 확보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「사내벤처 운영기준」 개정, 창업 준비기간 확보 명문화</a:t>
            </a:r>
          </a:p>
        </p:txBody>
      </p:sp>
      <p:cxnSp>
        <p:nvCxnSpPr>
          <p:cNvPr id="40" name="Connector 28"/>
          <p:cNvCxnSpPr/>
          <p:nvPr/>
        </p:nvCxnSpPr>
        <p:spPr>
          <a:xfrm>
            <a:off x="3044087" y="2158435"/>
            <a:ext cx="0" cy="8655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칸 본문"/>
          <p:cNvSpPr>
            <a:spLocks noGrp="1"/>
          </p:cNvSpPr>
          <p:nvPr>
            <p:ph type="body" sz="quarter" idx="35"/>
          </p:nvPr>
        </p:nvSpPr>
        <p:spPr>
          <a:xfrm>
            <a:off x="4937739" y="2125565"/>
            <a:ext cx="1860783" cy="931304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안정적 창업 준비기간 확보로 ‘시제품 개발’ 조기 완료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혁신 창업대전 우수상 수상</a:t>
            </a:r>
          </a:p>
        </p:txBody>
      </p:sp>
      <p:cxnSp>
        <p:nvCxnSpPr>
          <p:cNvPr id="42" name="Connector 30"/>
          <p:cNvCxnSpPr/>
          <p:nvPr/>
        </p:nvCxnSpPr>
        <p:spPr>
          <a:xfrm>
            <a:off x="4926783" y="2158435"/>
            <a:ext cx="0" cy="8655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핵심성과 박스"/>
          <p:cNvSpPr/>
          <p:nvPr/>
        </p:nvSpPr>
        <p:spPr>
          <a:xfrm>
            <a:off x="536870" y="3166435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핵심성과 라벨"/>
          <p:cNvSpPr/>
          <p:nvPr/>
        </p:nvSpPr>
        <p:spPr>
          <a:xfrm>
            <a:off x="569739" y="3204783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45" name="핵심성과 라벨"/>
          <p:cNvSpPr>
            <a:spLocks noGrp="1"/>
          </p:cNvSpPr>
          <p:nvPr>
            <p:ph type="body" sz="quarter" idx="36"/>
          </p:nvPr>
        </p:nvSpPr>
        <p:spPr>
          <a:xfrm>
            <a:off x="569739" y="3204783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6" name="핵심성과 문구"/>
          <p:cNvSpPr>
            <a:spLocks noGrp="1"/>
          </p:cNvSpPr>
          <p:nvPr>
            <p:ph type="body" sz="quarter" idx="37"/>
          </p:nvPr>
        </p:nvSpPr>
        <p:spPr>
          <a:xfrm>
            <a:off x="1314783" y="3182870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공기업 최다 19개사(’25년 2개사 2명) 분사 창업, ’25년 신규고용 16명(누계 113명) 창출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50.xml"/><Relationship Id="rId49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  <p:sldLayoutId id="2147483655" r:id="rId5"/>
    <p:sldLayoutId id="2147483656" r:id="rId4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