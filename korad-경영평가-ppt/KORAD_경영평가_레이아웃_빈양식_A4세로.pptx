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1 장 제목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2 평가내용 + 번호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번호 띠"/>
          <p:cNvSpPr/>
          <p:nvPr/>
        </p:nvSpPr>
        <p:spPr>
          <a:xfrm>
            <a:off x="723130" y="1517478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탭"/>
          <p:cNvSpPr/>
          <p:nvPr/>
        </p:nvSpPr>
        <p:spPr>
          <a:xfrm>
            <a:off x="745043" y="1539391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탭 빗면"/>
          <p:cNvSpPr/>
          <p:nvPr/>
        </p:nvSpPr>
        <p:spPr>
          <a:xfrm>
            <a:off x="1139478" y="1539391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"/>
          <p:cNvSpPr>
            <a:spLocks noGrp="1"/>
          </p:cNvSpPr>
          <p:nvPr>
            <p:ph type="body" sz="quarter" idx="22"/>
          </p:nvPr>
        </p:nvSpPr>
        <p:spPr>
          <a:xfrm>
            <a:off x="745043" y="1517478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369565" y="1539391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3 소제목 + 태그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4 환경분석 → 시사점 → 협력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263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85188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85188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662668"/>
            <a:ext cx="580696" cy="657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62668"/>
            <a:ext cx="580696" cy="657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66266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1347652" y="1706494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706494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27"/>
          </p:nvPr>
        </p:nvSpPr>
        <p:spPr>
          <a:xfrm>
            <a:off x="2331565" y="169553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/>
          <p:nvPr/>
        </p:nvSpPr>
        <p:spPr>
          <a:xfrm>
            <a:off x="1347652" y="190371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90371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9"/>
          </p:nvPr>
        </p:nvSpPr>
        <p:spPr>
          <a:xfrm>
            <a:off x="2331565" y="1892755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8" name="태그"/>
          <p:cNvSpPr/>
          <p:nvPr/>
        </p:nvSpPr>
        <p:spPr>
          <a:xfrm>
            <a:off x="1347652" y="210092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10092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1"/>
          </p:nvPr>
        </p:nvSpPr>
        <p:spPr>
          <a:xfrm>
            <a:off x="2331565" y="208997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336494"/>
            <a:ext cx="580696" cy="68844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36494"/>
            <a:ext cx="580696" cy="688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3649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235840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5840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235840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5840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235840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5840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235840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235840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10407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610407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264327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610407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264327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5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4716783" cy="218404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36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406487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236271"/>
            <a:ext cx="580696" cy="84092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236271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23627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25818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25818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머리칸"/>
          <p:cNvSpPr/>
          <p:nvPr/>
        </p:nvSpPr>
        <p:spPr>
          <a:xfrm>
            <a:off x="3193826" y="125818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193826" y="125818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499228"/>
            <a:ext cx="2010522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04783" y="1499228"/>
            <a:ext cx="2010522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193826" y="153209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93635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93635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936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2115548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15548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9" name="단계"/>
          <p:cNvSpPr/>
          <p:nvPr/>
        </p:nvSpPr>
        <p:spPr>
          <a:xfrm>
            <a:off x="2177609" y="2115548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177609" y="2115548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1" name="단계"/>
          <p:cNvSpPr/>
          <p:nvPr/>
        </p:nvSpPr>
        <p:spPr>
          <a:xfrm>
            <a:off x="3193826" y="2115548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193826" y="2115548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3" name="단계"/>
          <p:cNvSpPr/>
          <p:nvPr/>
        </p:nvSpPr>
        <p:spPr>
          <a:xfrm>
            <a:off x="4210043" y="2115548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210043" y="2115548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2177608" y="21155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3193826" y="21155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210043" y="21155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7548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2188565" y="2367548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2177609" y="2400417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204783" y="2367548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193826" y="2400417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221000" y="2367548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210043" y="2400417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성과 화살표"/>
          <p:cNvSpPr/>
          <p:nvPr/>
        </p:nvSpPr>
        <p:spPr>
          <a:xfrm>
            <a:off x="5281043" y="1716542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성과 패널 머리"/>
          <p:cNvSpPr/>
          <p:nvPr/>
        </p:nvSpPr>
        <p:spPr>
          <a:xfrm>
            <a:off x="5450870" y="76695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성과 패널 머리"/>
          <p:cNvSpPr>
            <a:spLocks noGrp="1"/>
          </p:cNvSpPr>
          <p:nvPr>
            <p:ph type="body" sz="quarter" idx="36"/>
          </p:nvPr>
        </p:nvSpPr>
        <p:spPr>
          <a:xfrm>
            <a:off x="5450870" y="766957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성과 패널"/>
          <p:cNvSpPr/>
          <p:nvPr/>
        </p:nvSpPr>
        <p:spPr>
          <a:xfrm>
            <a:off x="5450870" y="1018957"/>
            <a:ext cx="1386000" cy="1932042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성과 패널 본문"/>
          <p:cNvSpPr>
            <a:spLocks noGrp="1"/>
          </p:cNvSpPr>
          <p:nvPr>
            <p:ph type="body" sz="quarter" idx="37"/>
          </p:nvPr>
        </p:nvSpPr>
        <p:spPr>
          <a:xfrm>
            <a:off x="5472783" y="1040870"/>
            <a:ext cx="1342174" cy="1888216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6 단계 추진(그간의 노력 → 상세화 → 선임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23973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77315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77315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7731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9922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9922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49922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49922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40271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40271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4171696" y="1773141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160282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160282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16028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18219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18219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4" name="단계"/>
          <p:cNvSpPr/>
          <p:nvPr/>
        </p:nvSpPr>
        <p:spPr>
          <a:xfrm>
            <a:off x="2759674" y="218219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2759674" y="218219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218219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18219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38" name="단계"/>
          <p:cNvSpPr/>
          <p:nvPr/>
        </p:nvSpPr>
        <p:spPr>
          <a:xfrm>
            <a:off x="5583717" y="218219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5583717" y="218219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2759673" y="218219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171695" y="218219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5583717" y="218219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434195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2770630" y="2434195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2759674" y="2467064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434195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4171696" y="2467064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5594674" y="2434195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49" name="Connector 32"/>
          <p:cNvCxnSpPr/>
          <p:nvPr/>
        </p:nvCxnSpPr>
        <p:spPr>
          <a:xfrm>
            <a:off x="5583717" y="2467064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7 수준진단 → 공감대 형성 → 시사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62889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36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5648087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236271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236271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23627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25818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25818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25818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25818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499228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499228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532097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919238"/>
            <a:ext cx="580696" cy="46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19238"/>
            <a:ext cx="580696" cy="46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91923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1161391" y="196306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96306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2284344" y="195210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0" name="태그"/>
          <p:cNvSpPr/>
          <p:nvPr/>
        </p:nvSpPr>
        <p:spPr>
          <a:xfrm>
            <a:off x="1161391" y="216028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216028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2284344" y="214932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8 공감대 → 선언(사진) → 확산(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67160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77315"/>
            <a:ext cx="580696" cy="85188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 태그"/>
          <p:cNvSpPr/>
          <p:nvPr/>
        </p:nvSpPr>
        <p:spPr>
          <a:xfrm>
            <a:off x="854405" y="1641663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1" name="레일 태그"/>
          <p:cNvSpPr>
            <a:spLocks noGrp="1"/>
          </p:cNvSpPr>
          <p:nvPr>
            <p:ph type="body" sz="quarter" idx="25"/>
          </p:nvPr>
        </p:nvSpPr>
        <p:spPr>
          <a:xfrm>
            <a:off x="854405" y="1641663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2" name="레일 라벨"/>
          <p:cNvSpPr>
            <a:spLocks noGrp="1"/>
          </p:cNvSpPr>
          <p:nvPr>
            <p:ph type="body" sz="quarter" idx="26"/>
          </p:nvPr>
        </p:nvSpPr>
        <p:spPr>
          <a:xfrm>
            <a:off x="734087" y="1827923"/>
            <a:ext cx="580696" cy="4793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731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9228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9228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40271"/>
            <a:ext cx="4514087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/>
          <p:nvPr/>
        </p:nvSpPr>
        <p:spPr>
          <a:xfrm>
            <a:off x="5916522" y="1504706"/>
            <a:ext cx="1079217" cy="79710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8" name="사진 칸"/>
          <p:cNvSpPr>
            <a:spLocks noGrp="1"/>
          </p:cNvSpPr>
          <p:nvPr>
            <p:ph type="body" sz="quarter" idx="29"/>
          </p:nvPr>
        </p:nvSpPr>
        <p:spPr>
          <a:xfrm>
            <a:off x="5916522" y="1504706"/>
            <a:ext cx="1079217" cy="79710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"/>
          <p:cNvSpPr/>
          <p:nvPr/>
        </p:nvSpPr>
        <p:spPr>
          <a:xfrm>
            <a:off x="734087" y="2345635"/>
            <a:ext cx="580696" cy="108745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854405" y="2509983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30"/>
          </p:nvPr>
        </p:nvSpPr>
        <p:spPr>
          <a:xfrm>
            <a:off x="854405" y="2509983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96243"/>
            <a:ext cx="580696" cy="71492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456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347652" y="2367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367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26031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031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26031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6031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26031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6031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44157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44157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2877026"/>
            <a:ext cx="0" cy="50127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44157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2877026"/>
            <a:ext cx="0" cy="50127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9 추진성과 레일(그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710358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7748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0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3465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114861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114861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/>
          <p:nvPr/>
        </p:nvSpPr>
        <p:spPr>
          <a:xfrm>
            <a:off x="1347652" y="81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" name="배너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4" name="머리칸"/>
          <p:cNvSpPr/>
          <p:nvPr/>
        </p:nvSpPr>
        <p:spPr>
          <a:xfrm>
            <a:off x="1347652" y="105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1347652" y="105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6" name="머리칸"/>
          <p:cNvSpPr/>
          <p:nvPr/>
        </p:nvSpPr>
        <p:spPr>
          <a:xfrm>
            <a:off x="3230348" y="105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3230348" y="105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8" name="머리칸"/>
          <p:cNvSpPr/>
          <p:nvPr/>
        </p:nvSpPr>
        <p:spPr>
          <a:xfrm>
            <a:off x="5113043" y="105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5113043" y="105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29287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29287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2" name="Connector 11"/>
          <p:cNvCxnSpPr/>
          <p:nvPr/>
        </p:nvCxnSpPr>
        <p:spPr>
          <a:xfrm>
            <a:off x="3230348" y="1325739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29287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5113043" y="1325739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347652" y="1723837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2383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171288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1959402"/>
            <a:ext cx="580696" cy="114861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59402"/>
            <a:ext cx="580696" cy="114861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195940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198131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98131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216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216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35" name="머리칸"/>
          <p:cNvSpPr/>
          <p:nvPr/>
        </p:nvSpPr>
        <p:spPr>
          <a:xfrm>
            <a:off x="4171696" y="2216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4171696" y="2216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57923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457923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39" name="Connector 23"/>
          <p:cNvCxnSpPr/>
          <p:nvPr/>
        </p:nvCxnSpPr>
        <p:spPr>
          <a:xfrm>
            <a:off x="4171696" y="2490793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태그"/>
          <p:cNvSpPr/>
          <p:nvPr/>
        </p:nvSpPr>
        <p:spPr>
          <a:xfrm>
            <a:off x="1347652" y="288889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88889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972988" y="287793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1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88525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7748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77315"/>
            <a:ext cx="580696" cy="101532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77315"/>
            <a:ext cx="580696" cy="101532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7731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99228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9922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25" name="단계"/>
          <p:cNvSpPr/>
          <p:nvPr/>
        </p:nvSpPr>
        <p:spPr>
          <a:xfrm>
            <a:off x="2573413" y="1499228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9922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499228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9922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29" name="단계"/>
          <p:cNvSpPr/>
          <p:nvPr/>
        </p:nvSpPr>
        <p:spPr>
          <a:xfrm>
            <a:off x="5397457" y="1499228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9922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573413" y="149922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3985434" y="149922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397456" y="149922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1228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51228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2573413" y="1784097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1228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1784097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51228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5397457" y="1784097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509075"/>
            <a:ext cx="580696" cy="112670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09075"/>
            <a:ext cx="580696" cy="112670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250907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253098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53098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/>
          <p:nvPr/>
        </p:nvSpPr>
        <p:spPr>
          <a:xfrm>
            <a:off x="3985435" y="253098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53098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772031"/>
            <a:ext cx="2802130" cy="19631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417558"/>
            <a:ext cx="2802130" cy="19631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2772031"/>
            <a:ext cx="2802130" cy="84183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2804901"/>
            <a:ext cx="0" cy="77609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2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5297478" cy="224521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머리칸"/>
          <p:cNvSpPr/>
          <p:nvPr/>
        </p:nvSpPr>
        <p:spPr>
          <a:xfrm>
            <a:off x="3670435" y="816261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670435" y="816261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3681391" y="1057304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3670435" y="1090174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77315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77315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7731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9922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9922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4" name="머리칸"/>
          <p:cNvSpPr/>
          <p:nvPr/>
        </p:nvSpPr>
        <p:spPr>
          <a:xfrm>
            <a:off x="3670435" y="149922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670435" y="149922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40271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681391" y="1740271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670435" y="1773141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160282"/>
            <a:ext cx="580696" cy="84640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160282"/>
            <a:ext cx="580696" cy="84640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16028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347652" y="2182195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182195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4" name="본문"/>
          <p:cNvSpPr>
            <a:spLocks noGrp="1"/>
          </p:cNvSpPr>
          <p:nvPr>
            <p:ph type="body" sz="quarter" idx="32"/>
          </p:nvPr>
        </p:nvSpPr>
        <p:spPr>
          <a:xfrm>
            <a:off x="1347652" y="2417760"/>
            <a:ext cx="4645565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 및 신입 채용 시 경력가점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정원 전환 추진을 위한 노사 공동 노력 지속 합의</a:t>
            </a:r>
          </a:p>
        </p:txBody>
      </p:sp>
      <p:sp>
        <p:nvSpPr>
          <p:cNvPr id="35" name="사진 칸"/>
          <p:cNvSpPr/>
          <p:nvPr/>
        </p:nvSpPr>
        <p:spPr>
          <a:xfrm>
            <a:off x="6064435" y="794348"/>
            <a:ext cx="958696" cy="1349499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6" name="사진 칸"/>
          <p:cNvSpPr>
            <a:spLocks noGrp="1"/>
          </p:cNvSpPr>
          <p:nvPr>
            <p:ph type="body" sz="quarter" idx="33"/>
          </p:nvPr>
        </p:nvSpPr>
        <p:spPr>
          <a:xfrm>
            <a:off x="6064435" y="794348"/>
            <a:ext cx="958696" cy="134949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37" name="사진 칸"/>
          <p:cNvSpPr/>
          <p:nvPr/>
        </p:nvSpPr>
        <p:spPr>
          <a:xfrm>
            <a:off x="6064435" y="2160282"/>
            <a:ext cx="958696" cy="84640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8" name="사진 칸"/>
          <p:cNvSpPr>
            <a:spLocks noGrp="1"/>
          </p:cNvSpPr>
          <p:nvPr>
            <p:ph type="body" sz="quarter" idx="34"/>
          </p:nvPr>
        </p:nvSpPr>
        <p:spPr>
          <a:xfrm>
            <a:off x="6064435" y="2160282"/>
            <a:ext cx="958696" cy="84640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3 현황 · 문제점 · 노사 공동노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59420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26204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26204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5648087" cy="21822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 주간(8시간)-당직(19시간)-비번으로 월 251시간 근무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061875"/>
            <a:ext cx="580696" cy="26204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1875"/>
            <a:ext cx="580696" cy="26204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161391" y="1083788"/>
            <a:ext cx="5648087" cy="21822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7" name="레일"/>
          <p:cNvSpPr/>
          <p:nvPr/>
        </p:nvSpPr>
        <p:spPr>
          <a:xfrm>
            <a:off x="547826" y="1340358"/>
            <a:ext cx="580696" cy="100436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340358"/>
            <a:ext cx="580696" cy="100436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6227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36227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6227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36227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6227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36227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03315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방지를 위한 노사 공동 노력 설득·소통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03315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 후 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 → 주·야 교대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636184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03315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 감소에 따른 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법령에 따른 휴일수당·연장근로수당 지급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636184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4 추진 체계 5행(목표·방향·과제·채널·지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12" name="강조 바"/>
          <p:cNvSpPr/>
          <p:nvPr/>
        </p:nvSpPr>
        <p:spPr>
          <a:xfrm>
            <a:off x="1358609" y="810783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강조 바 글"/>
          <p:cNvSpPr>
            <a:spLocks noGrp="1"/>
          </p:cNvSpPr>
          <p:nvPr>
            <p:ph type="body" sz="quarter" idx="21"/>
          </p:nvPr>
        </p:nvSpPr>
        <p:spPr>
          <a:xfrm>
            <a:off x="1358609" y="810783"/>
            <a:ext cx="5631652" cy="22917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723130" y="112761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385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385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17" name="가운데 글"/>
          <p:cNvSpPr>
            <a:spLocks noGrp="1"/>
          </p:cNvSpPr>
          <p:nvPr>
            <p:ph type="body" sz="quarter" idx="23"/>
          </p:nvPr>
        </p:nvSpPr>
        <p:spPr>
          <a:xfrm>
            <a:off x="1358609" y="114404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18" name="가운데 글"/>
          <p:cNvSpPr>
            <a:spLocks noGrp="1"/>
          </p:cNvSpPr>
          <p:nvPr>
            <p:ph type="body" sz="quarter" idx="24"/>
          </p:nvPr>
        </p:nvSpPr>
        <p:spPr>
          <a:xfrm>
            <a:off x="3235826" y="114404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19" name="Connector 11"/>
          <p:cNvCxnSpPr/>
          <p:nvPr/>
        </p:nvCxnSpPr>
        <p:spPr>
          <a:xfrm>
            <a:off x="3235826" y="1182397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0" name="가운데 글"/>
          <p:cNvSpPr>
            <a:spLocks noGrp="1"/>
          </p:cNvSpPr>
          <p:nvPr>
            <p:ph type="body" sz="quarter" idx="25"/>
          </p:nvPr>
        </p:nvSpPr>
        <p:spPr>
          <a:xfrm>
            <a:off x="5113043" y="114404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5113043" y="1182397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2" name="라벨 박스"/>
          <p:cNvSpPr/>
          <p:nvPr/>
        </p:nvSpPr>
        <p:spPr>
          <a:xfrm>
            <a:off x="723130" y="1472744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483701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83701"/>
            <a:ext cx="591652" cy="62179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489179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489179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235826" y="1522049"/>
            <a:ext cx="0" cy="54510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89179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5113043" y="1522049"/>
            <a:ext cx="0" cy="54510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라벨 박스"/>
          <p:cNvSpPr/>
          <p:nvPr/>
        </p:nvSpPr>
        <p:spPr>
          <a:xfrm>
            <a:off x="723130" y="2171238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"/>
          <p:cNvSpPr/>
          <p:nvPr/>
        </p:nvSpPr>
        <p:spPr>
          <a:xfrm>
            <a:off x="734087" y="2182195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182195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69565" y="2187673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6783" y="2187673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35826" y="2220543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187673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113043" y="2220543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라벨 박스"/>
          <p:cNvSpPr/>
          <p:nvPr/>
        </p:nvSpPr>
        <p:spPr>
          <a:xfrm>
            <a:off x="723130" y="2695336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706292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706292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2711770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6783" y="2711770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235826" y="2744640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711770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5113043" y="2744640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5 추진배경 · 점검방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72348" y="783391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112087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123043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7" name="가운데 글"/>
          <p:cNvSpPr>
            <a:spLocks noGrp="1"/>
          </p:cNvSpPr>
          <p:nvPr>
            <p:ph type="body" sz="quarter" idx="23"/>
          </p:nvPr>
        </p:nvSpPr>
        <p:spPr>
          <a:xfrm>
            <a:off x="1172348" y="1128522"/>
            <a:ext cx="5631652" cy="26204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6 점검항목 · 점검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2" name="머리칸"/>
          <p:cNvSpPr/>
          <p:nvPr/>
        </p:nvSpPr>
        <p:spPr>
          <a:xfrm>
            <a:off x="1358609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58609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235826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16" name="머리칸"/>
          <p:cNvSpPr/>
          <p:nvPr/>
        </p:nvSpPr>
        <p:spPr>
          <a:xfrm>
            <a:off x="5113043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5113043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69565" y="1046348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3246783" y="1046348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235826" y="1079217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046348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5113043" y="1079217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라벨 박스"/>
          <p:cNvSpPr/>
          <p:nvPr/>
        </p:nvSpPr>
        <p:spPr>
          <a:xfrm>
            <a:off x="723130" y="1532097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43054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43054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69565" y="1548532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6783" y="1548532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5826" y="1581402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48532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581402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7 비전 · 환경 · 목표 · 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3" name="가운데 글"/>
          <p:cNvSpPr>
            <a:spLocks noGrp="1"/>
          </p:cNvSpPr>
          <p:nvPr>
            <p:ph type="body" sz="quarter" idx="21"/>
          </p:nvPr>
        </p:nvSpPr>
        <p:spPr>
          <a:xfrm>
            <a:off x="1172348" y="783391"/>
            <a:ext cx="5631652" cy="26204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116657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127614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7614"/>
            <a:ext cx="591652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172348" y="1144049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72348" y="1144049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9" name="머리칸"/>
          <p:cNvSpPr/>
          <p:nvPr/>
        </p:nvSpPr>
        <p:spPr>
          <a:xfrm>
            <a:off x="3988174" y="1144049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8174" y="1144049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83304" y="1385092"/>
            <a:ext cx="2793913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9130" y="1385092"/>
            <a:ext cx="2793913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8174" y="1417962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라벨 박스"/>
          <p:cNvSpPr/>
          <p:nvPr/>
        </p:nvSpPr>
        <p:spPr>
          <a:xfrm>
            <a:off x="536870" y="1870842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881798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81798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7" name="강조 바"/>
          <p:cNvSpPr/>
          <p:nvPr/>
        </p:nvSpPr>
        <p:spPr>
          <a:xfrm>
            <a:off x="1172348" y="1903711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강조 바 글"/>
          <p:cNvSpPr>
            <a:spLocks noGrp="1"/>
          </p:cNvSpPr>
          <p:nvPr>
            <p:ph type="body" sz="quarter" idx="28"/>
          </p:nvPr>
        </p:nvSpPr>
        <p:spPr>
          <a:xfrm>
            <a:off x="1172348" y="1903711"/>
            <a:ext cx="5631652" cy="22917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9" name="라벨 박스"/>
          <p:cNvSpPr/>
          <p:nvPr/>
        </p:nvSpPr>
        <p:spPr>
          <a:xfrm>
            <a:off x="536870" y="2220543"/>
            <a:ext cx="6300000" cy="68844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547826" y="2231499"/>
            <a:ext cx="591652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231499"/>
            <a:ext cx="591652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32" name="머리칸"/>
          <p:cNvSpPr/>
          <p:nvPr/>
        </p:nvSpPr>
        <p:spPr>
          <a:xfrm>
            <a:off x="1172348" y="224793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72348" y="224793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34" name="머리칸"/>
          <p:cNvSpPr/>
          <p:nvPr/>
        </p:nvSpPr>
        <p:spPr>
          <a:xfrm>
            <a:off x="3049565" y="224793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9565" y="224793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24793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4793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83304" y="2488977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60522" y="2488977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9565" y="2521847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88977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521847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8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174578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172386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172386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/>
          <p:nvPr/>
        </p:nvSpPr>
        <p:spPr>
          <a:xfrm>
            <a:off x="1358609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58609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235826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6" name="머리칸"/>
          <p:cNvSpPr/>
          <p:nvPr/>
        </p:nvSpPr>
        <p:spPr>
          <a:xfrm>
            <a:off x="5113043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5113043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69565" y="1046348"/>
            <a:ext cx="1855304" cy="146091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3법에 따른 출산·양육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장기재직휴가·임신검진동행휴가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국정과제에 따른 안전일터 조성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3246783" y="1046348"/>
            <a:ext cx="1855304" cy="146091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질적인 근로조건 개선 성과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노력 지속 필요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235826" y="1079217"/>
            <a:ext cx="0" cy="1395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134957" y="1057304"/>
            <a:ext cx="525913" cy="70306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134957" y="1057304"/>
            <a:ext cx="525913" cy="70306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27"/>
          </p:nvPr>
        </p:nvSpPr>
        <p:spPr>
          <a:xfrm>
            <a:off x="5682783" y="1057304"/>
            <a:ext cx="1296522" cy="70306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등 생활밀착 지원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5134957" y="1771325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134957" y="1776803"/>
            <a:ext cx="525913" cy="70306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134957" y="1776803"/>
            <a:ext cx="525913" cy="70306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7" name="소행 본문"/>
          <p:cNvSpPr>
            <a:spLocks noGrp="1"/>
          </p:cNvSpPr>
          <p:nvPr>
            <p:ph type="body" sz="quarter" idx="29"/>
          </p:nvPr>
        </p:nvSpPr>
        <p:spPr>
          <a:xfrm>
            <a:off x="5682783" y="1776803"/>
            <a:ext cx="1296522" cy="70306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 관리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079217"/>
            <a:ext cx="0" cy="1395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라벨 박스"/>
          <p:cNvSpPr/>
          <p:nvPr/>
        </p:nvSpPr>
        <p:spPr>
          <a:xfrm>
            <a:off x="723130" y="257847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58943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8943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2" name="가운데 글"/>
          <p:cNvSpPr>
            <a:spLocks noGrp="1"/>
          </p:cNvSpPr>
          <p:nvPr>
            <p:ph type="body" sz="quarter" idx="31"/>
          </p:nvPr>
        </p:nvSpPr>
        <p:spPr>
          <a:xfrm>
            <a:off x="1358609" y="2594911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33" name="가운데 글"/>
          <p:cNvSpPr>
            <a:spLocks noGrp="1"/>
          </p:cNvSpPr>
          <p:nvPr>
            <p:ph type="body" sz="quarter" idx="32"/>
          </p:nvPr>
        </p:nvSpPr>
        <p:spPr>
          <a:xfrm>
            <a:off x="3235826" y="2594911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235826" y="2633259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5" name="가운데 글"/>
          <p:cNvSpPr>
            <a:spLocks noGrp="1"/>
          </p:cNvSpPr>
          <p:nvPr>
            <p:ph type="body" sz="quarter" idx="33"/>
          </p:nvPr>
        </p:nvSpPr>
        <p:spPr>
          <a:xfrm>
            <a:off x="5113043" y="2594911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5113043" y="2633259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723130" y="2923607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34563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34563"/>
            <a:ext cx="591652" cy="62179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294004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6783" y="294004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235826" y="2972911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94004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5113043" y="2972911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9 두 갈래 패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패널 외곽"/>
          <p:cNvSpPr/>
          <p:nvPr/>
        </p:nvSpPr>
        <p:spPr>
          <a:xfrm>
            <a:off x="536870" y="766957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패널 머리"/>
          <p:cNvSpPr/>
          <p:nvPr/>
        </p:nvSpPr>
        <p:spPr>
          <a:xfrm>
            <a:off x="536870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" name="패널 머리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3" name="레일"/>
          <p:cNvSpPr/>
          <p:nvPr/>
        </p:nvSpPr>
        <p:spPr>
          <a:xfrm>
            <a:off x="569739" y="1040870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69739" y="1040870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2"/>
          </p:nvPr>
        </p:nvSpPr>
        <p:spPr>
          <a:xfrm>
            <a:off x="1243565" y="1029913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6" name="Connector 10"/>
          <p:cNvCxnSpPr/>
          <p:nvPr/>
        </p:nvCxnSpPr>
        <p:spPr>
          <a:xfrm>
            <a:off x="1243565" y="146635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7" name="레일"/>
          <p:cNvSpPr/>
          <p:nvPr/>
        </p:nvSpPr>
        <p:spPr>
          <a:xfrm>
            <a:off x="569739" y="1477315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69739" y="1477315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4"/>
          </p:nvPr>
        </p:nvSpPr>
        <p:spPr>
          <a:xfrm>
            <a:off x="1243565" y="1466358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0" name="Connector 13"/>
          <p:cNvCxnSpPr/>
          <p:nvPr/>
        </p:nvCxnSpPr>
        <p:spPr>
          <a:xfrm>
            <a:off x="1243565" y="1902803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69739" y="1913760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69739" y="1913760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1243565" y="1902803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1243565" y="2339249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69739" y="2350205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69739" y="2350205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1243565" y="2339249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8" name="패널 외곽"/>
          <p:cNvSpPr/>
          <p:nvPr/>
        </p:nvSpPr>
        <p:spPr>
          <a:xfrm>
            <a:off x="3711522" y="766957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패널 머리"/>
          <p:cNvSpPr/>
          <p:nvPr/>
        </p:nvSpPr>
        <p:spPr>
          <a:xfrm>
            <a:off x="3711522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패널 머리"/>
          <p:cNvSpPr>
            <a:spLocks noGrp="1"/>
          </p:cNvSpPr>
          <p:nvPr>
            <p:ph type="body" sz="quarter" idx="29"/>
          </p:nvPr>
        </p:nvSpPr>
        <p:spPr>
          <a:xfrm>
            <a:off x="3711522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1" name="레일"/>
          <p:cNvSpPr/>
          <p:nvPr/>
        </p:nvSpPr>
        <p:spPr>
          <a:xfrm>
            <a:off x="3744391" y="1040870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3744391" y="1040870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3" name="패널 본문"/>
          <p:cNvSpPr>
            <a:spLocks noGrp="1"/>
          </p:cNvSpPr>
          <p:nvPr>
            <p:ph type="body" sz="quarter" idx="31"/>
          </p:nvPr>
        </p:nvSpPr>
        <p:spPr>
          <a:xfrm>
            <a:off x="4599000" y="1029913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599000" y="146635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3744391" y="1477315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3744391" y="1477315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37" name="패널 본문"/>
          <p:cNvSpPr>
            <a:spLocks noGrp="1"/>
          </p:cNvSpPr>
          <p:nvPr>
            <p:ph type="body" sz="quarter" idx="33"/>
          </p:nvPr>
        </p:nvSpPr>
        <p:spPr>
          <a:xfrm>
            <a:off x="4599000" y="1466358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599000" y="1902803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3744391" y="1913760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3744391" y="1913760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1" name="패널 본문"/>
          <p:cNvSpPr>
            <a:spLocks noGrp="1"/>
          </p:cNvSpPr>
          <p:nvPr>
            <p:ph type="body" sz="quarter" idx="35"/>
          </p:nvPr>
        </p:nvSpPr>
        <p:spPr>
          <a:xfrm>
            <a:off x="4599000" y="1902803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599000" y="2339249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3744391" y="2350205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3744391" y="2350205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4599000" y="2339249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20 3분할 패널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패널 외곽"/>
          <p:cNvSpPr/>
          <p:nvPr/>
        </p:nvSpPr>
        <p:spPr>
          <a:xfrm>
            <a:off x="723130" y="77791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패널 머리"/>
          <p:cNvSpPr/>
          <p:nvPr/>
        </p:nvSpPr>
        <p:spPr>
          <a:xfrm>
            <a:off x="723130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패널 머리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1"/>
          </p:nvPr>
        </p:nvSpPr>
        <p:spPr>
          <a:xfrm>
            <a:off x="745043" y="1018957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이동식 에어컨 보급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장례서비스 지원 확대(배우자상 포함)</a:t>
            </a:r>
          </a:p>
        </p:txBody>
      </p:sp>
      <p:sp>
        <p:nvSpPr>
          <p:cNvPr id="13" name="요약 바"/>
          <p:cNvSpPr/>
          <p:nvPr/>
        </p:nvSpPr>
        <p:spPr>
          <a:xfrm>
            <a:off x="745043" y="1760369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" name="요약 바"/>
          <p:cNvSpPr>
            <a:spLocks noGrp="1"/>
          </p:cNvSpPr>
          <p:nvPr>
            <p:ph type="body" sz="quarter" idx="22"/>
          </p:nvPr>
        </p:nvSpPr>
        <p:spPr>
          <a:xfrm>
            <a:off x="745043" y="1760369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외곽"/>
          <p:cNvSpPr/>
          <p:nvPr/>
        </p:nvSpPr>
        <p:spPr>
          <a:xfrm>
            <a:off x="2837739" y="77791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패널 머리"/>
          <p:cNvSpPr/>
          <p:nvPr/>
        </p:nvSpPr>
        <p:spPr>
          <a:xfrm>
            <a:off x="2837739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패널 머리"/>
          <p:cNvSpPr>
            <a:spLocks noGrp="1"/>
          </p:cNvSpPr>
          <p:nvPr>
            <p:ph type="body" sz="quarter" idx="23"/>
          </p:nvPr>
        </p:nvSpPr>
        <p:spPr>
          <a:xfrm>
            <a:off x="2837739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2859652" y="1018957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신설(둘째 50, 셋째 100만)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3법·임신검진동행휴가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자녀초청행사, 가족 동반 퇴임식 개최</a:t>
            </a:r>
          </a:p>
        </p:txBody>
      </p:sp>
      <p:sp>
        <p:nvSpPr>
          <p:cNvPr id="19" name="요약 바"/>
          <p:cNvSpPr/>
          <p:nvPr/>
        </p:nvSpPr>
        <p:spPr>
          <a:xfrm>
            <a:off x="2859652" y="1760369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요약 바"/>
          <p:cNvSpPr>
            <a:spLocks noGrp="1"/>
          </p:cNvSpPr>
          <p:nvPr>
            <p:ph type="body" sz="quarter" idx="25"/>
          </p:nvPr>
        </p:nvSpPr>
        <p:spPr>
          <a:xfrm>
            <a:off x="2859652" y="1760369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1" name="패널 외곽"/>
          <p:cNvSpPr/>
          <p:nvPr/>
        </p:nvSpPr>
        <p:spPr>
          <a:xfrm>
            <a:off x="4952348" y="77791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패널 머리"/>
          <p:cNvSpPr/>
          <p:nvPr/>
        </p:nvSpPr>
        <p:spPr>
          <a:xfrm>
            <a:off x="4952348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패널 머리"/>
          <p:cNvSpPr>
            <a:spLocks noGrp="1"/>
          </p:cNvSpPr>
          <p:nvPr>
            <p:ph type="body" sz="quarter" idx="26"/>
          </p:nvPr>
        </p:nvSpPr>
        <p:spPr>
          <a:xfrm>
            <a:off x="4952348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4" name="패널 본문"/>
          <p:cNvSpPr>
            <a:spLocks noGrp="1"/>
          </p:cNvSpPr>
          <p:nvPr>
            <p:ph type="body" sz="quarter" idx="27"/>
          </p:nvPr>
        </p:nvSpPr>
        <p:spPr>
          <a:xfrm>
            <a:off x="4974261" y="1018957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 공사(8개소)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40년↑ 청사 안전진단·컨설팅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직무스트레스 조사 및 사후관리 실시</a:t>
            </a:r>
          </a:p>
        </p:txBody>
      </p:sp>
      <p:sp>
        <p:nvSpPr>
          <p:cNvPr id="25" name="요약 바"/>
          <p:cNvSpPr/>
          <p:nvPr/>
        </p:nvSpPr>
        <p:spPr>
          <a:xfrm>
            <a:off x="4974261" y="1760369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요약 바"/>
          <p:cNvSpPr>
            <a:spLocks noGrp="1"/>
          </p:cNvSpPr>
          <p:nvPr>
            <p:ph type="body" sz="quarter" idx="28"/>
          </p:nvPr>
        </p:nvSpPr>
        <p:spPr>
          <a:xfrm>
            <a:off x="4974261" y="1760369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21 실적 구분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22 핵심성과 한 줄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핵심성과 박스"/>
          <p:cNvSpPr/>
          <p:nvPr/>
        </p:nvSpPr>
        <p:spPr>
          <a:xfrm>
            <a:off x="723130" y="7779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핵심성과 라벨"/>
          <p:cNvSpPr/>
          <p:nvPr/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23 핵심성과 두 줄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핵심성과 박스"/>
          <p:cNvSpPr/>
          <p:nvPr/>
        </p:nvSpPr>
        <p:spPr>
          <a:xfrm>
            <a:off x="536870" y="76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핵심성과 라벨"/>
          <p:cNvSpPr/>
          <p:nvPr/>
        </p:nvSpPr>
        <p:spPr>
          <a:xfrm>
            <a:off x="569739" y="79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569739" y="79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3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314783" y="78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24 추진성과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핵심성과 박스"/>
          <p:cNvSpPr/>
          <p:nvPr/>
        </p:nvSpPr>
        <p:spPr>
          <a:xfrm>
            <a:off x="723130" y="7779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핵심성과 라벨"/>
          <p:cNvSpPr/>
          <p:nvPr/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1 전략 수립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506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528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528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506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528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2087217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933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218696"/>
            <a:ext cx="6300000" cy="2263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235130"/>
            <a:ext cx="580696" cy="85188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235130"/>
            <a:ext cx="580696" cy="85188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257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2257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257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2257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498087"/>
            <a:ext cx="2802130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498087"/>
            <a:ext cx="2802130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35" name="Connector 27"/>
          <p:cNvCxnSpPr/>
          <p:nvPr/>
        </p:nvCxnSpPr>
        <p:spPr>
          <a:xfrm>
            <a:off x="3985435" y="2530957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103450"/>
            <a:ext cx="580696" cy="657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103450"/>
            <a:ext cx="580696" cy="657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310345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1161391" y="314727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314727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313632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42" name="태그"/>
          <p:cNvSpPr/>
          <p:nvPr/>
        </p:nvSpPr>
        <p:spPr>
          <a:xfrm>
            <a:off x="1161391" y="3344494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3344494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44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333353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45" name="태그"/>
          <p:cNvSpPr/>
          <p:nvPr/>
        </p:nvSpPr>
        <p:spPr>
          <a:xfrm>
            <a:off x="1161391" y="354171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5"/>
          </p:nvPr>
        </p:nvSpPr>
        <p:spPr>
          <a:xfrm>
            <a:off x="1161391" y="354171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6"/>
          </p:nvPr>
        </p:nvSpPr>
        <p:spPr>
          <a:xfrm>
            <a:off x="2145304" y="3530755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48" name="레일"/>
          <p:cNvSpPr/>
          <p:nvPr/>
        </p:nvSpPr>
        <p:spPr>
          <a:xfrm>
            <a:off x="547826" y="3777277"/>
            <a:ext cx="580696" cy="68844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777277"/>
            <a:ext cx="580696" cy="688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77727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"/>
          <p:cNvSpPr/>
          <p:nvPr/>
        </p:nvSpPr>
        <p:spPr>
          <a:xfrm>
            <a:off x="1161391" y="379919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79919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53" name="단계"/>
          <p:cNvSpPr/>
          <p:nvPr/>
        </p:nvSpPr>
        <p:spPr>
          <a:xfrm>
            <a:off x="3044087" y="379919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39"/>
          </p:nvPr>
        </p:nvSpPr>
        <p:spPr>
          <a:xfrm>
            <a:off x="3044087" y="379919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55" name="단계"/>
          <p:cNvSpPr/>
          <p:nvPr/>
        </p:nvSpPr>
        <p:spPr>
          <a:xfrm>
            <a:off x="4926783" y="379919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0"/>
          </p:nvPr>
        </p:nvSpPr>
        <p:spPr>
          <a:xfrm>
            <a:off x="4926783" y="379919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044086" y="379918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4926782" y="379918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5119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05119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61" name="Connector 45"/>
          <p:cNvCxnSpPr/>
          <p:nvPr/>
        </p:nvCxnSpPr>
        <p:spPr>
          <a:xfrm>
            <a:off x="3044087" y="4084059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405119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63" name="Connector 47"/>
          <p:cNvCxnSpPr/>
          <p:nvPr/>
        </p:nvCxnSpPr>
        <p:spPr>
          <a:xfrm>
            <a:off x="4926783" y="4084059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삼각 화살표"/>
          <p:cNvSpPr/>
          <p:nvPr/>
        </p:nvSpPr>
        <p:spPr>
          <a:xfrm>
            <a:off x="3823826" y="4525982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라벨 박스"/>
          <p:cNvSpPr/>
          <p:nvPr/>
        </p:nvSpPr>
        <p:spPr>
          <a:xfrm>
            <a:off x="536870" y="4750591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4761548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761548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68" name="강조 바"/>
          <p:cNvSpPr/>
          <p:nvPr/>
        </p:nvSpPr>
        <p:spPr>
          <a:xfrm>
            <a:off x="1172348" y="4783461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강조 바 글"/>
          <p:cNvSpPr>
            <a:spLocks noGrp="1"/>
          </p:cNvSpPr>
          <p:nvPr>
            <p:ph type="body" sz="quarter" idx="45"/>
          </p:nvPr>
        </p:nvSpPr>
        <p:spPr>
          <a:xfrm>
            <a:off x="1172348" y="4783461"/>
            <a:ext cx="5631652" cy="22917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70" name="라벨 박스"/>
          <p:cNvSpPr/>
          <p:nvPr/>
        </p:nvSpPr>
        <p:spPr>
          <a:xfrm>
            <a:off x="536870" y="510029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511124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11124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73" name="가운데 글"/>
          <p:cNvSpPr>
            <a:spLocks noGrp="1"/>
          </p:cNvSpPr>
          <p:nvPr>
            <p:ph type="body" sz="quarter" idx="47"/>
          </p:nvPr>
        </p:nvSpPr>
        <p:spPr>
          <a:xfrm>
            <a:off x="1172348" y="5116727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74" name="가운데 글"/>
          <p:cNvSpPr>
            <a:spLocks noGrp="1"/>
          </p:cNvSpPr>
          <p:nvPr>
            <p:ph type="body" sz="quarter" idx="48"/>
          </p:nvPr>
        </p:nvSpPr>
        <p:spPr>
          <a:xfrm>
            <a:off x="3049565" y="5116727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75" name="Connector 57"/>
          <p:cNvCxnSpPr/>
          <p:nvPr/>
        </p:nvCxnSpPr>
        <p:spPr>
          <a:xfrm>
            <a:off x="3049565" y="5155075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76" name="가운데 글"/>
          <p:cNvSpPr>
            <a:spLocks noGrp="1"/>
          </p:cNvSpPr>
          <p:nvPr>
            <p:ph type="body" sz="quarter" idx="49"/>
          </p:nvPr>
        </p:nvSpPr>
        <p:spPr>
          <a:xfrm>
            <a:off x="4926783" y="5116727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77" name="Connector 59"/>
          <p:cNvCxnSpPr/>
          <p:nvPr/>
        </p:nvCxnSpPr>
        <p:spPr>
          <a:xfrm>
            <a:off x="4926783" y="5155075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78" name="라벨 박스"/>
          <p:cNvSpPr/>
          <p:nvPr/>
        </p:nvSpPr>
        <p:spPr>
          <a:xfrm>
            <a:off x="536870" y="5445423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"/>
          <p:cNvSpPr/>
          <p:nvPr/>
        </p:nvSpPr>
        <p:spPr>
          <a:xfrm>
            <a:off x="547826" y="5456379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0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5456379"/>
            <a:ext cx="591652" cy="62179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1"/>
          </p:nvPr>
        </p:nvSpPr>
        <p:spPr>
          <a:xfrm>
            <a:off x="1183304" y="5461857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2"/>
          </p:nvPr>
        </p:nvSpPr>
        <p:spPr>
          <a:xfrm>
            <a:off x="3060522" y="5461857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83" name="Connector 64"/>
          <p:cNvCxnSpPr/>
          <p:nvPr/>
        </p:nvCxnSpPr>
        <p:spPr>
          <a:xfrm>
            <a:off x="3049565" y="5494727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5461857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85" name="Connector 66"/>
          <p:cNvCxnSpPr/>
          <p:nvPr/>
        </p:nvCxnSpPr>
        <p:spPr>
          <a:xfrm>
            <a:off x="4926783" y="5494727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라벨 박스"/>
          <p:cNvSpPr/>
          <p:nvPr/>
        </p:nvSpPr>
        <p:spPr>
          <a:xfrm>
            <a:off x="536870" y="6143917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레일"/>
          <p:cNvSpPr/>
          <p:nvPr/>
        </p:nvSpPr>
        <p:spPr>
          <a:xfrm>
            <a:off x="547826" y="6154873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154873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5"/>
          </p:nvPr>
        </p:nvSpPr>
        <p:spPr>
          <a:xfrm>
            <a:off x="1183304" y="6160351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6"/>
          </p:nvPr>
        </p:nvSpPr>
        <p:spPr>
          <a:xfrm>
            <a:off x="3060522" y="6160351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91" name="Connector 71"/>
          <p:cNvCxnSpPr/>
          <p:nvPr/>
        </p:nvCxnSpPr>
        <p:spPr>
          <a:xfrm>
            <a:off x="3049565" y="6193221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6160351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93" name="Connector 73"/>
          <p:cNvCxnSpPr/>
          <p:nvPr/>
        </p:nvCxnSpPr>
        <p:spPr>
          <a:xfrm>
            <a:off x="4926783" y="6193221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라벨 박스"/>
          <p:cNvSpPr/>
          <p:nvPr/>
        </p:nvSpPr>
        <p:spPr>
          <a:xfrm>
            <a:off x="536870" y="6668014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6678970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8"/>
          </p:nvPr>
        </p:nvSpPr>
        <p:spPr>
          <a:xfrm>
            <a:off x="547826" y="6678970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83304" y="6684449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60522" y="6684449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9" name="Connector 78"/>
          <p:cNvCxnSpPr/>
          <p:nvPr/>
        </p:nvCxnSpPr>
        <p:spPr>
          <a:xfrm>
            <a:off x="3049565" y="6717318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6684449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101" name="Connector 80"/>
          <p:cNvCxnSpPr/>
          <p:nvPr/>
        </p:nvCxnSpPr>
        <p:spPr>
          <a:xfrm>
            <a:off x="4926783" y="6717318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722498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726332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726332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724141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2 운영 현황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73141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84097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84097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73141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209586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220543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220543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209586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646031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656988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656988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646031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73141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84097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84097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73141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209586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220543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220543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209586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646031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656988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656988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646031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19204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23039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23039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20847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3 현안 해결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218404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36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948445"/>
            <a:ext cx="580696" cy="84092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48445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94844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70358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70358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70358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70358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11402"/>
            <a:ext cx="2010522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211402"/>
            <a:ext cx="2010522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244271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805809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05809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805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827722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827722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827722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827722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827722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827722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827722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827722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827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827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827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79722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3079722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311259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3079722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311259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3079722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311259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428716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932042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888216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75082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78917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78917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76725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4 단계 추진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23973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62184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62184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6218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8409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8409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8409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8409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25141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025141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2058010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445151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445151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44515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46706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46706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46706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46706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46706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46706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46706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46706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46706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46706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46706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719064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719064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751934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719064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751934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719064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751934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39016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42851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42851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40660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5 점검·법령 준수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6204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5701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5788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6744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6744"/>
            <a:ext cx="591652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9317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9317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9317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9317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9317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9317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34223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34223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7092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34223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7092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719972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730929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30929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736407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736407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69277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36407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69277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27693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309809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309809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29885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6 소통·공감대 진단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번호 띠"/>
          <p:cNvSpPr/>
          <p:nvPr/>
        </p:nvSpPr>
        <p:spPr>
          <a:xfrm>
            <a:off x="723130" y="1265478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탭"/>
          <p:cNvSpPr/>
          <p:nvPr/>
        </p:nvSpPr>
        <p:spPr>
          <a:xfrm>
            <a:off x="745043" y="1287391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탭 빗면"/>
          <p:cNvSpPr/>
          <p:nvPr/>
        </p:nvSpPr>
        <p:spPr>
          <a:xfrm>
            <a:off x="1139478" y="1287391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"/>
          <p:cNvSpPr>
            <a:spLocks noGrp="1"/>
          </p:cNvSpPr>
          <p:nvPr>
            <p:ph type="body" sz="quarter" idx="22"/>
          </p:nvPr>
        </p:nvSpPr>
        <p:spPr>
          <a:xfrm>
            <a:off x="745043" y="1265478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369565" y="1287391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3" name="형광 밑줄"/>
          <p:cNvSpPr/>
          <p:nvPr/>
        </p:nvSpPr>
        <p:spPr>
          <a:xfrm>
            <a:off x="723130" y="1846174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69278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5" name="태그칩"/>
          <p:cNvSpPr/>
          <p:nvPr/>
        </p:nvSpPr>
        <p:spPr>
          <a:xfrm>
            <a:off x="4367188" y="1725652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칩"/>
          <p:cNvSpPr>
            <a:spLocks noGrp="1"/>
          </p:cNvSpPr>
          <p:nvPr>
            <p:ph type="body" sz="quarter" idx="25"/>
          </p:nvPr>
        </p:nvSpPr>
        <p:spPr>
          <a:xfrm>
            <a:off x="4367188" y="1725652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7" name="표 외곽"/>
          <p:cNvSpPr/>
          <p:nvPr/>
        </p:nvSpPr>
        <p:spPr>
          <a:xfrm>
            <a:off x="723130" y="1977652"/>
            <a:ext cx="6300000" cy="162889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734087" y="1994087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994087"/>
            <a:ext cx="580696" cy="436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27"/>
          </p:nvPr>
        </p:nvSpPr>
        <p:spPr>
          <a:xfrm>
            <a:off x="1347652" y="2016000"/>
            <a:ext cx="5648087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446967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446967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44696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468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468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36" name="머리칸"/>
          <p:cNvSpPr/>
          <p:nvPr/>
        </p:nvSpPr>
        <p:spPr>
          <a:xfrm>
            <a:off x="4171696" y="2468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468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09923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709923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2742793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3129934"/>
            <a:ext cx="580696" cy="46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129934"/>
            <a:ext cx="580696" cy="46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734086" y="312993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347652" y="317376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3173760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3162803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47" name="태그"/>
          <p:cNvSpPr/>
          <p:nvPr/>
        </p:nvSpPr>
        <p:spPr>
          <a:xfrm>
            <a:off x="1347652" y="3370977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3370977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37"/>
          </p:nvPr>
        </p:nvSpPr>
        <p:spPr>
          <a:xfrm>
            <a:off x="2470605" y="3360021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50" name="삼각 화살표"/>
          <p:cNvSpPr/>
          <p:nvPr/>
        </p:nvSpPr>
        <p:spPr>
          <a:xfrm>
            <a:off x="4010086" y="365036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패널 외곽"/>
          <p:cNvSpPr/>
          <p:nvPr/>
        </p:nvSpPr>
        <p:spPr>
          <a:xfrm>
            <a:off x="723130" y="3874977"/>
            <a:ext cx="3125348" cy="225159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패널 머리"/>
          <p:cNvSpPr/>
          <p:nvPr/>
        </p:nvSpPr>
        <p:spPr>
          <a:xfrm>
            <a:off x="723130" y="387497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패널 머리"/>
          <p:cNvSpPr>
            <a:spLocks noGrp="1"/>
          </p:cNvSpPr>
          <p:nvPr>
            <p:ph type="body" sz="quarter" idx="38"/>
          </p:nvPr>
        </p:nvSpPr>
        <p:spPr>
          <a:xfrm>
            <a:off x="723130" y="387497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54" name="레일"/>
          <p:cNvSpPr/>
          <p:nvPr/>
        </p:nvSpPr>
        <p:spPr>
          <a:xfrm>
            <a:off x="756000" y="4148890"/>
            <a:ext cx="739565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 태그"/>
          <p:cNvSpPr/>
          <p:nvPr/>
        </p:nvSpPr>
        <p:spPr>
          <a:xfrm>
            <a:off x="845984" y="41927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레일 태그"/>
          <p:cNvSpPr>
            <a:spLocks noGrp="1"/>
          </p:cNvSpPr>
          <p:nvPr>
            <p:ph type="body" sz="quarter" idx="39"/>
          </p:nvPr>
        </p:nvSpPr>
        <p:spPr>
          <a:xfrm>
            <a:off x="845984" y="419271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40"/>
          </p:nvPr>
        </p:nvSpPr>
        <p:spPr>
          <a:xfrm>
            <a:off x="756000" y="4378977"/>
            <a:ext cx="739565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58" name="패널 본문"/>
          <p:cNvSpPr>
            <a:spLocks noGrp="1"/>
          </p:cNvSpPr>
          <p:nvPr>
            <p:ph type="body" sz="quarter" idx="41"/>
          </p:nvPr>
        </p:nvSpPr>
        <p:spPr>
          <a:xfrm>
            <a:off x="1539391" y="4137934"/>
            <a:ext cx="2276217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1539391" y="4793510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56000" y="4804466"/>
            <a:ext cx="739565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레일 태그"/>
          <p:cNvSpPr/>
          <p:nvPr/>
        </p:nvSpPr>
        <p:spPr>
          <a:xfrm>
            <a:off x="845984" y="484829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레일 태그"/>
          <p:cNvSpPr>
            <a:spLocks noGrp="1"/>
          </p:cNvSpPr>
          <p:nvPr>
            <p:ph type="body" sz="quarter" idx="42"/>
          </p:nvPr>
        </p:nvSpPr>
        <p:spPr>
          <a:xfrm>
            <a:off x="845984" y="484829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3" name="레일 라벨"/>
          <p:cNvSpPr>
            <a:spLocks noGrp="1"/>
          </p:cNvSpPr>
          <p:nvPr>
            <p:ph type="body" sz="quarter" idx="43"/>
          </p:nvPr>
        </p:nvSpPr>
        <p:spPr>
          <a:xfrm>
            <a:off x="756000" y="5034553"/>
            <a:ext cx="739565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4" name="패널 본문"/>
          <p:cNvSpPr>
            <a:spLocks noGrp="1"/>
          </p:cNvSpPr>
          <p:nvPr>
            <p:ph type="body" sz="quarter" idx="44"/>
          </p:nvPr>
        </p:nvSpPr>
        <p:spPr>
          <a:xfrm>
            <a:off x="1539391" y="4793510"/>
            <a:ext cx="2276217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1539391" y="5449085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56000" y="5460042"/>
            <a:ext cx="739565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845984" y="550386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5"/>
          </p:nvPr>
        </p:nvSpPr>
        <p:spPr>
          <a:xfrm>
            <a:off x="845984" y="5503868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6"/>
          </p:nvPr>
        </p:nvSpPr>
        <p:spPr>
          <a:xfrm>
            <a:off x="756000" y="5690129"/>
            <a:ext cx="739565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70" name="패널 본문"/>
          <p:cNvSpPr>
            <a:spLocks noGrp="1"/>
          </p:cNvSpPr>
          <p:nvPr>
            <p:ph type="body" sz="quarter" idx="47"/>
          </p:nvPr>
        </p:nvSpPr>
        <p:spPr>
          <a:xfrm>
            <a:off x="1539391" y="5449085"/>
            <a:ext cx="2276217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71" name="패널 외곽"/>
          <p:cNvSpPr/>
          <p:nvPr/>
        </p:nvSpPr>
        <p:spPr>
          <a:xfrm>
            <a:off x="3897783" y="3874977"/>
            <a:ext cx="3125348" cy="225159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패널 머리"/>
          <p:cNvSpPr/>
          <p:nvPr/>
        </p:nvSpPr>
        <p:spPr>
          <a:xfrm>
            <a:off x="3897783" y="387497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3" name="패널 머리"/>
          <p:cNvSpPr>
            <a:spLocks noGrp="1"/>
          </p:cNvSpPr>
          <p:nvPr>
            <p:ph type="body" sz="quarter" idx="48"/>
          </p:nvPr>
        </p:nvSpPr>
        <p:spPr>
          <a:xfrm>
            <a:off x="3897783" y="387497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74" name="레일"/>
          <p:cNvSpPr/>
          <p:nvPr/>
        </p:nvSpPr>
        <p:spPr>
          <a:xfrm>
            <a:off x="3930652" y="4148890"/>
            <a:ext cx="734087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4017897" y="41927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49"/>
          </p:nvPr>
        </p:nvSpPr>
        <p:spPr>
          <a:xfrm>
            <a:off x="4017897" y="419271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0"/>
          </p:nvPr>
        </p:nvSpPr>
        <p:spPr>
          <a:xfrm>
            <a:off x="3930652" y="4378977"/>
            <a:ext cx="734087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78" name="패널 본문"/>
          <p:cNvSpPr>
            <a:spLocks noGrp="1"/>
          </p:cNvSpPr>
          <p:nvPr>
            <p:ph type="body" sz="quarter" idx="51"/>
          </p:nvPr>
        </p:nvSpPr>
        <p:spPr>
          <a:xfrm>
            <a:off x="4708565" y="4137934"/>
            <a:ext cx="2281696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4708565" y="4793510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레일"/>
          <p:cNvSpPr/>
          <p:nvPr/>
        </p:nvSpPr>
        <p:spPr>
          <a:xfrm>
            <a:off x="3930652" y="4804466"/>
            <a:ext cx="734087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레일 태그"/>
          <p:cNvSpPr/>
          <p:nvPr/>
        </p:nvSpPr>
        <p:spPr>
          <a:xfrm>
            <a:off x="4017897" y="484829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레일 태그"/>
          <p:cNvSpPr>
            <a:spLocks noGrp="1"/>
          </p:cNvSpPr>
          <p:nvPr>
            <p:ph type="body" sz="quarter" idx="52"/>
          </p:nvPr>
        </p:nvSpPr>
        <p:spPr>
          <a:xfrm>
            <a:off x="4017897" y="484829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83" name="레일 라벨"/>
          <p:cNvSpPr>
            <a:spLocks noGrp="1"/>
          </p:cNvSpPr>
          <p:nvPr>
            <p:ph type="body" sz="quarter" idx="53"/>
          </p:nvPr>
        </p:nvSpPr>
        <p:spPr>
          <a:xfrm>
            <a:off x="3930652" y="5034553"/>
            <a:ext cx="734087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84" name="패널 본문"/>
          <p:cNvSpPr>
            <a:spLocks noGrp="1"/>
          </p:cNvSpPr>
          <p:nvPr>
            <p:ph type="body" sz="quarter" idx="54"/>
          </p:nvPr>
        </p:nvSpPr>
        <p:spPr>
          <a:xfrm>
            <a:off x="4708565" y="4793510"/>
            <a:ext cx="2281696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708565" y="5449085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레일"/>
          <p:cNvSpPr/>
          <p:nvPr/>
        </p:nvSpPr>
        <p:spPr>
          <a:xfrm>
            <a:off x="3930652" y="5460042"/>
            <a:ext cx="734087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레일 태그"/>
          <p:cNvSpPr/>
          <p:nvPr/>
        </p:nvSpPr>
        <p:spPr>
          <a:xfrm>
            <a:off x="4017897" y="550386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레일 태그"/>
          <p:cNvSpPr>
            <a:spLocks noGrp="1"/>
          </p:cNvSpPr>
          <p:nvPr>
            <p:ph type="body" sz="quarter" idx="55"/>
          </p:nvPr>
        </p:nvSpPr>
        <p:spPr>
          <a:xfrm>
            <a:off x="4017897" y="5503868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9" name="레일 라벨"/>
          <p:cNvSpPr>
            <a:spLocks noGrp="1"/>
          </p:cNvSpPr>
          <p:nvPr>
            <p:ph type="body" sz="quarter" idx="56"/>
          </p:nvPr>
        </p:nvSpPr>
        <p:spPr>
          <a:xfrm>
            <a:off x="3930652" y="5690129"/>
            <a:ext cx="734087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90" name="패널 본문"/>
          <p:cNvSpPr>
            <a:spLocks noGrp="1"/>
          </p:cNvSpPr>
          <p:nvPr>
            <p:ph type="body" sz="quarter" idx="57"/>
          </p:nvPr>
        </p:nvSpPr>
        <p:spPr>
          <a:xfrm>
            <a:off x="4708565" y="5449085"/>
            <a:ext cx="2281696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7 선포·상생의 달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67160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96358"/>
            <a:ext cx="580696" cy="85188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26070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26070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446967"/>
            <a:ext cx="580696" cy="4793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9635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118271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118271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59315"/>
            <a:ext cx="4514087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123750"/>
            <a:ext cx="1079217" cy="79710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123750"/>
            <a:ext cx="1079217" cy="79710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964678"/>
            <a:ext cx="580696" cy="108745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1290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1290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315287"/>
            <a:ext cx="580696" cy="71492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9646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9865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9865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2221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2221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2221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2221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2221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2221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463200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463200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496070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463200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496070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4112390"/>
            <a:ext cx="6300000" cy="710358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4128824"/>
            <a:ext cx="580696" cy="67748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128824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415073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415073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415073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415073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391781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391781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424650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9104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9487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9487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9268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8 교육체계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6204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50744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61701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1701"/>
            <a:ext cx="591652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8136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8136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8136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8136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9179"/>
            <a:ext cx="2793913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9179"/>
            <a:ext cx="2793913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52049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604929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15885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15885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637798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637798"/>
            <a:ext cx="5631652" cy="22917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954630"/>
            <a:ext cx="6300000" cy="68844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65586"/>
            <a:ext cx="591652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65586"/>
            <a:ext cx="591652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82021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82021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82021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82021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82021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82021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223064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223064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255934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223064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255934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686900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형광 밑줄"/>
          <p:cNvSpPr/>
          <p:nvPr/>
        </p:nvSpPr>
        <p:spPr>
          <a:xfrm>
            <a:off x="723130" y="6420553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0"/>
          </p:nvPr>
        </p:nvSpPr>
        <p:spPr>
          <a:xfrm>
            <a:off x="723130" y="626716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54" name="태그칩"/>
          <p:cNvSpPr/>
          <p:nvPr/>
        </p:nvSpPr>
        <p:spPr>
          <a:xfrm>
            <a:off x="3595310" y="6300031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칩"/>
          <p:cNvSpPr>
            <a:spLocks noGrp="1"/>
          </p:cNvSpPr>
          <p:nvPr>
            <p:ph type="body" sz="quarter" idx="41"/>
          </p:nvPr>
        </p:nvSpPr>
        <p:spPr>
          <a:xfrm>
            <a:off x="3595310" y="6300031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56" name="표 외곽"/>
          <p:cNvSpPr/>
          <p:nvPr/>
        </p:nvSpPr>
        <p:spPr>
          <a:xfrm>
            <a:off x="723130" y="6552031"/>
            <a:ext cx="6300000" cy="23465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6568466"/>
            <a:ext cx="580696" cy="114861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6568466"/>
            <a:ext cx="580696" cy="114861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59" name="배너"/>
          <p:cNvSpPr/>
          <p:nvPr/>
        </p:nvSpPr>
        <p:spPr>
          <a:xfrm>
            <a:off x="1347652" y="659037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659037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682594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682594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682594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5"/>
          </p:nvPr>
        </p:nvSpPr>
        <p:spPr>
          <a:xfrm>
            <a:off x="3230348" y="682594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682594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6"/>
          </p:nvPr>
        </p:nvSpPr>
        <p:spPr>
          <a:xfrm>
            <a:off x="5113043" y="682594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7066988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7066988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69" name="Connector 48"/>
          <p:cNvCxnSpPr/>
          <p:nvPr/>
        </p:nvCxnSpPr>
        <p:spPr>
          <a:xfrm>
            <a:off x="3230348" y="709985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7066988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5113043" y="709985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태그"/>
          <p:cNvSpPr/>
          <p:nvPr/>
        </p:nvSpPr>
        <p:spPr>
          <a:xfrm>
            <a:off x="1347652" y="7497955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749795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1"/>
          </p:nvPr>
        </p:nvSpPr>
        <p:spPr>
          <a:xfrm>
            <a:off x="1972988" y="748699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75" name="레일"/>
          <p:cNvSpPr/>
          <p:nvPr/>
        </p:nvSpPr>
        <p:spPr>
          <a:xfrm>
            <a:off x="734087" y="7733520"/>
            <a:ext cx="580696" cy="114861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7733520"/>
            <a:ext cx="580696" cy="114861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734086" y="773352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배너"/>
          <p:cNvSpPr/>
          <p:nvPr/>
        </p:nvSpPr>
        <p:spPr>
          <a:xfrm>
            <a:off x="1347652" y="775543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배너"/>
          <p:cNvSpPr>
            <a:spLocks noGrp="1"/>
          </p:cNvSpPr>
          <p:nvPr>
            <p:ph type="body" sz="quarter" idx="53"/>
          </p:nvPr>
        </p:nvSpPr>
        <p:spPr>
          <a:xfrm>
            <a:off x="1347652" y="775543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80" name="머리칸"/>
          <p:cNvSpPr/>
          <p:nvPr/>
        </p:nvSpPr>
        <p:spPr>
          <a:xfrm>
            <a:off x="1347652" y="799099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799099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82" name="머리칸"/>
          <p:cNvSpPr/>
          <p:nvPr/>
        </p:nvSpPr>
        <p:spPr>
          <a:xfrm>
            <a:off x="4171696" y="799099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799099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8232042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8232042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4171696" y="8264911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태그"/>
          <p:cNvSpPr/>
          <p:nvPr/>
        </p:nvSpPr>
        <p:spPr>
          <a:xfrm>
            <a:off x="1347652" y="8663009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8"/>
          </p:nvPr>
        </p:nvSpPr>
        <p:spPr>
          <a:xfrm>
            <a:off x="1347652" y="8663009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9"/>
          </p:nvPr>
        </p:nvSpPr>
        <p:spPr>
          <a:xfrm>
            <a:off x="1972988" y="8652052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723130" y="89862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756000" y="90245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756000" y="902457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501043" y="900266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9 임금·단체협약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254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1835217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26" name="태그칩"/>
          <p:cNvSpPr/>
          <p:nvPr/>
        </p:nvSpPr>
        <p:spPr>
          <a:xfrm>
            <a:off x="4123324" y="17146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칩"/>
          <p:cNvSpPr>
            <a:spLocks noGrp="1"/>
          </p:cNvSpPr>
          <p:nvPr>
            <p:ph type="body" sz="quarter" idx="25"/>
          </p:nvPr>
        </p:nvSpPr>
        <p:spPr>
          <a:xfrm>
            <a:off x="4123324" y="171469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66696"/>
            <a:ext cx="6300000" cy="71035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83130"/>
            <a:ext cx="580696" cy="67748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83130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2005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2005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46087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246087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985435" y="227895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3823826" y="2720880"/>
            <a:ext cx="350608" cy="142434"/>
          </a:xfrm>
          <a:custGeom>
            <a:avLst/>
            <a:gdLst/>
            <a:ahLst/>
            <a:cxnLst/>
            <a:rect l="l" t="t" r="r" b="b"/>
            <a:pathLst>
              <a:path w="350608" h="142434">
                <a:moveTo>
                  <a:pt x="0" y="0"/>
                </a:moveTo>
                <a:lnTo>
                  <a:pt x="350608" y="0"/>
                </a:lnTo>
                <a:lnTo>
                  <a:pt x="175304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표 외곽"/>
          <p:cNvSpPr/>
          <p:nvPr/>
        </p:nvSpPr>
        <p:spPr>
          <a:xfrm>
            <a:off x="536870" y="2934532"/>
            <a:ext cx="6300000" cy="288525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950967"/>
            <a:ext cx="580696" cy="67748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950967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972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972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972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972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213923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3213923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3246793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644890"/>
            <a:ext cx="580696" cy="101532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644890"/>
            <a:ext cx="580696" cy="101532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64489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161391" y="366680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66680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54" name="단계"/>
          <p:cNvSpPr/>
          <p:nvPr/>
        </p:nvSpPr>
        <p:spPr>
          <a:xfrm>
            <a:off x="2573413" y="366680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66680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56" name="단계"/>
          <p:cNvSpPr/>
          <p:nvPr/>
        </p:nvSpPr>
        <p:spPr>
          <a:xfrm>
            <a:off x="3985435" y="366680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66680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58" name="단계"/>
          <p:cNvSpPr/>
          <p:nvPr/>
        </p:nvSpPr>
        <p:spPr>
          <a:xfrm>
            <a:off x="5397457" y="366680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66680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60" name="단계 삼각형"/>
          <p:cNvSpPr/>
          <p:nvPr/>
        </p:nvSpPr>
        <p:spPr>
          <a:xfrm>
            <a:off x="2573413" y="366680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3985434" y="366680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단계 삼각형"/>
          <p:cNvSpPr/>
          <p:nvPr/>
        </p:nvSpPr>
        <p:spPr>
          <a:xfrm>
            <a:off x="5397456" y="366680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918803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918803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2573413" y="3951673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918803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67" name="Connector 50"/>
          <p:cNvCxnSpPr/>
          <p:nvPr/>
        </p:nvCxnSpPr>
        <p:spPr>
          <a:xfrm>
            <a:off x="3985435" y="3951673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918803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69" name="Connector 52"/>
          <p:cNvCxnSpPr/>
          <p:nvPr/>
        </p:nvCxnSpPr>
        <p:spPr>
          <a:xfrm>
            <a:off x="5397457" y="3951673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4676650"/>
            <a:ext cx="580696" cy="112670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676650"/>
            <a:ext cx="580696" cy="112670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467665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469856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69856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69856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7"/>
          </p:nvPr>
        </p:nvSpPr>
        <p:spPr>
          <a:xfrm>
            <a:off x="3985435" y="469856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939607"/>
            <a:ext cx="2802130" cy="19631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5585134"/>
            <a:ext cx="2802130" cy="19631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4939607"/>
            <a:ext cx="2802130" cy="84183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3985435" y="4972477"/>
            <a:ext cx="0" cy="77609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핵심성과 박스"/>
          <p:cNvSpPr/>
          <p:nvPr/>
        </p:nvSpPr>
        <p:spPr>
          <a:xfrm>
            <a:off x="536870" y="59074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핵심성과 라벨"/>
          <p:cNvSpPr/>
          <p:nvPr/>
        </p:nvSpPr>
        <p:spPr>
          <a:xfrm>
            <a:off x="569739" y="59457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3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59457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4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59238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10 근로환경 과제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74578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72386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72386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146091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3법에 따른 출산·양육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장기재직휴가·임신검진동행휴가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국정과제에 따른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146091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질적인 근로조건 개선 성과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노력 지속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139517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70306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70306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70306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등 생활밀착 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49445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499934"/>
            <a:ext cx="525913" cy="70306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499934"/>
            <a:ext cx="525913" cy="70306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499934"/>
            <a:ext cx="1296522" cy="70306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 관리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139517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330160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331256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31256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331804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331804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335639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331804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335639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646737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657694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7694"/>
            <a:ext cx="591652" cy="62179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66317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66317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696042"/>
            <a:ext cx="0" cy="54510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66317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696042"/>
            <a:ext cx="0" cy="54510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형광 밑줄"/>
          <p:cNvSpPr/>
          <p:nvPr/>
        </p:nvSpPr>
        <p:spPr>
          <a:xfrm>
            <a:off x="723130" y="4564362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1"/>
          </p:nvPr>
        </p:nvSpPr>
        <p:spPr>
          <a:xfrm>
            <a:off x="723130" y="44109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54" name="태그칩"/>
          <p:cNvSpPr/>
          <p:nvPr/>
        </p:nvSpPr>
        <p:spPr>
          <a:xfrm>
            <a:off x="4494817" y="444384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칩"/>
          <p:cNvSpPr>
            <a:spLocks noGrp="1"/>
          </p:cNvSpPr>
          <p:nvPr>
            <p:ph type="body" sz="quarter" idx="42"/>
          </p:nvPr>
        </p:nvSpPr>
        <p:spPr>
          <a:xfrm>
            <a:off x="4494817" y="444384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56" name="표 외곽"/>
          <p:cNvSpPr/>
          <p:nvPr/>
        </p:nvSpPr>
        <p:spPr>
          <a:xfrm>
            <a:off x="723130" y="4695840"/>
            <a:ext cx="5297478" cy="224521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4712275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712275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59" name="머리칸"/>
          <p:cNvSpPr/>
          <p:nvPr/>
        </p:nvSpPr>
        <p:spPr>
          <a:xfrm>
            <a:off x="1347652" y="473418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73418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61" name="머리칸"/>
          <p:cNvSpPr/>
          <p:nvPr/>
        </p:nvSpPr>
        <p:spPr>
          <a:xfrm>
            <a:off x="3670435" y="473418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3670435" y="473418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975231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681391" y="4975231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3670435" y="5008101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5395242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8"/>
          </p:nvPr>
        </p:nvSpPr>
        <p:spPr>
          <a:xfrm>
            <a:off x="734087" y="5395242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539524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머리칸"/>
          <p:cNvSpPr/>
          <p:nvPr/>
        </p:nvSpPr>
        <p:spPr>
          <a:xfrm>
            <a:off x="1347652" y="541715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541715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71" name="머리칸"/>
          <p:cNvSpPr/>
          <p:nvPr/>
        </p:nvSpPr>
        <p:spPr>
          <a:xfrm>
            <a:off x="3670435" y="541715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2" name="머리칸"/>
          <p:cNvSpPr>
            <a:spLocks noGrp="1"/>
          </p:cNvSpPr>
          <p:nvPr>
            <p:ph type="body" sz="quarter" idx="50"/>
          </p:nvPr>
        </p:nvSpPr>
        <p:spPr>
          <a:xfrm>
            <a:off x="3670435" y="541715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658198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2"/>
          </p:nvPr>
        </p:nvSpPr>
        <p:spPr>
          <a:xfrm>
            <a:off x="3681391" y="5658198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75" name="Connector 54"/>
          <p:cNvCxnSpPr/>
          <p:nvPr/>
        </p:nvCxnSpPr>
        <p:spPr>
          <a:xfrm>
            <a:off x="3670435" y="5691068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078209"/>
            <a:ext cx="580696" cy="84640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6078209"/>
            <a:ext cx="580696" cy="84640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734086" y="60782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배너"/>
          <p:cNvSpPr/>
          <p:nvPr/>
        </p:nvSpPr>
        <p:spPr>
          <a:xfrm>
            <a:off x="1347652" y="6100122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0" name="배너"/>
          <p:cNvSpPr>
            <a:spLocks noGrp="1"/>
          </p:cNvSpPr>
          <p:nvPr>
            <p:ph type="body" sz="quarter" idx="54"/>
          </p:nvPr>
        </p:nvSpPr>
        <p:spPr>
          <a:xfrm>
            <a:off x="1347652" y="6100122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81" name="본문"/>
          <p:cNvSpPr>
            <a:spLocks noGrp="1"/>
          </p:cNvSpPr>
          <p:nvPr>
            <p:ph type="body" sz="quarter" idx="55"/>
          </p:nvPr>
        </p:nvSpPr>
        <p:spPr>
          <a:xfrm>
            <a:off x="1347652" y="6335687"/>
            <a:ext cx="4645565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 및 신입 채용 시 경력가점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정원 전환 추진을 위한 노사 공동 노력 지속 합의</a:t>
            </a:r>
          </a:p>
        </p:txBody>
      </p:sp>
      <p:sp>
        <p:nvSpPr>
          <p:cNvPr id="82" name="사진 칸"/>
          <p:cNvSpPr/>
          <p:nvPr/>
        </p:nvSpPr>
        <p:spPr>
          <a:xfrm>
            <a:off x="6064435" y="4712275"/>
            <a:ext cx="958696" cy="1349499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3" name="사진 칸"/>
          <p:cNvSpPr>
            <a:spLocks noGrp="1"/>
          </p:cNvSpPr>
          <p:nvPr>
            <p:ph type="body" sz="quarter" idx="56"/>
          </p:nvPr>
        </p:nvSpPr>
        <p:spPr>
          <a:xfrm>
            <a:off x="6064435" y="4712275"/>
            <a:ext cx="958696" cy="134949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84" name="사진 칸"/>
          <p:cNvSpPr/>
          <p:nvPr/>
        </p:nvSpPr>
        <p:spPr>
          <a:xfrm>
            <a:off x="6064435" y="6078209"/>
            <a:ext cx="958696" cy="84640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5" name="사진 칸"/>
          <p:cNvSpPr>
            <a:spLocks noGrp="1"/>
          </p:cNvSpPr>
          <p:nvPr>
            <p:ph type="body" sz="quarter" idx="57"/>
          </p:nvPr>
        </p:nvSpPr>
        <p:spPr>
          <a:xfrm>
            <a:off x="6064435" y="6078209"/>
            <a:ext cx="958696" cy="84640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11 안전·복리후생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2" name="태그칩"/>
          <p:cNvSpPr/>
          <p:nvPr/>
        </p:nvSpPr>
        <p:spPr>
          <a:xfrm>
            <a:off x="4448092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8092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9420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26204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26204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1822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 주간(8시간)-당직(19시간)-비번으로 월 251시간 근무</a:t>
            </a:r>
          </a:p>
        </p:txBody>
      </p:sp>
      <p:sp>
        <p:nvSpPr>
          <p:cNvPr id="18" name="레일"/>
          <p:cNvSpPr/>
          <p:nvPr/>
        </p:nvSpPr>
        <p:spPr>
          <a:xfrm>
            <a:off x="547826" y="1346744"/>
            <a:ext cx="580696" cy="26204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346744"/>
            <a:ext cx="580696" cy="26204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20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368657"/>
            <a:ext cx="5648087" cy="21822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625228"/>
            <a:ext cx="580696" cy="100436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25228"/>
            <a:ext cx="580696" cy="100436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64714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4714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64714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4714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64714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4714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88184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방지를 위한 노사 공동 노력 설득·소통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88184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 후 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 → 주·야 교대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921054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88184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 감소에 따른 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법령에 따른 휴일수당·연장근로수당 지급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921054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2733683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2772031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772031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750118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38" name="형광 밑줄"/>
          <p:cNvSpPr/>
          <p:nvPr/>
        </p:nvSpPr>
        <p:spPr>
          <a:xfrm>
            <a:off x="536870" y="3499075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소제목"/>
          <p:cNvSpPr>
            <a:spLocks noGrp="1"/>
          </p:cNvSpPr>
          <p:nvPr>
            <p:ph type="body" sz="quarter" idx="35"/>
          </p:nvPr>
        </p:nvSpPr>
        <p:spPr>
          <a:xfrm>
            <a:off x="536870" y="334568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40" name="태그칩"/>
          <p:cNvSpPr/>
          <p:nvPr/>
        </p:nvSpPr>
        <p:spPr>
          <a:xfrm>
            <a:off x="4269635" y="337855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칩"/>
          <p:cNvSpPr>
            <a:spLocks noGrp="1"/>
          </p:cNvSpPr>
          <p:nvPr>
            <p:ph type="body" sz="quarter" idx="36"/>
          </p:nvPr>
        </p:nvSpPr>
        <p:spPr>
          <a:xfrm>
            <a:off x="4269635" y="337855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42" name="패널 외곽"/>
          <p:cNvSpPr/>
          <p:nvPr/>
        </p:nvSpPr>
        <p:spPr>
          <a:xfrm>
            <a:off x="536870" y="3641510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536870" y="3641510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7"/>
          </p:nvPr>
        </p:nvSpPr>
        <p:spPr>
          <a:xfrm>
            <a:off x="536870" y="3641510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8"/>
          </p:nvPr>
        </p:nvSpPr>
        <p:spPr>
          <a:xfrm>
            <a:off x="558783" y="3882553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이동식 에어컨 보급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장례서비스 지원 확대(배우자상 포함)</a:t>
            </a:r>
          </a:p>
        </p:txBody>
      </p:sp>
      <p:sp>
        <p:nvSpPr>
          <p:cNvPr id="46" name="요약 바"/>
          <p:cNvSpPr/>
          <p:nvPr/>
        </p:nvSpPr>
        <p:spPr>
          <a:xfrm>
            <a:off x="558783" y="4623965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요약 바"/>
          <p:cNvSpPr>
            <a:spLocks noGrp="1"/>
          </p:cNvSpPr>
          <p:nvPr>
            <p:ph type="body" sz="quarter" idx="39"/>
          </p:nvPr>
        </p:nvSpPr>
        <p:spPr>
          <a:xfrm>
            <a:off x="558783" y="4623965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48" name="패널 외곽"/>
          <p:cNvSpPr/>
          <p:nvPr/>
        </p:nvSpPr>
        <p:spPr>
          <a:xfrm>
            <a:off x="2651478" y="3641510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패널 머리"/>
          <p:cNvSpPr/>
          <p:nvPr/>
        </p:nvSpPr>
        <p:spPr>
          <a:xfrm>
            <a:off x="2651478" y="3641510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패널 머리"/>
          <p:cNvSpPr>
            <a:spLocks noGrp="1"/>
          </p:cNvSpPr>
          <p:nvPr>
            <p:ph type="body" sz="quarter" idx="40"/>
          </p:nvPr>
        </p:nvSpPr>
        <p:spPr>
          <a:xfrm>
            <a:off x="2651478" y="3641510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51" name="패널 본문"/>
          <p:cNvSpPr>
            <a:spLocks noGrp="1"/>
          </p:cNvSpPr>
          <p:nvPr>
            <p:ph type="body" sz="quarter" idx="41"/>
          </p:nvPr>
        </p:nvSpPr>
        <p:spPr>
          <a:xfrm>
            <a:off x="2673391" y="3882553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신설(둘째 50, 셋째 100만)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3법·임신검진동행휴가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자녀초청행사, 가족 동반 퇴임식 개최</a:t>
            </a:r>
          </a:p>
        </p:txBody>
      </p:sp>
      <p:sp>
        <p:nvSpPr>
          <p:cNvPr id="52" name="요약 바"/>
          <p:cNvSpPr/>
          <p:nvPr/>
        </p:nvSpPr>
        <p:spPr>
          <a:xfrm>
            <a:off x="2673391" y="4623965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요약 바"/>
          <p:cNvSpPr>
            <a:spLocks noGrp="1"/>
          </p:cNvSpPr>
          <p:nvPr>
            <p:ph type="body" sz="quarter" idx="42"/>
          </p:nvPr>
        </p:nvSpPr>
        <p:spPr>
          <a:xfrm>
            <a:off x="2673391" y="4623965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54" name="패널 외곽"/>
          <p:cNvSpPr/>
          <p:nvPr/>
        </p:nvSpPr>
        <p:spPr>
          <a:xfrm>
            <a:off x="4766087" y="3641510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패널 머리"/>
          <p:cNvSpPr/>
          <p:nvPr/>
        </p:nvSpPr>
        <p:spPr>
          <a:xfrm>
            <a:off x="4766087" y="3641510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패널 머리"/>
          <p:cNvSpPr>
            <a:spLocks noGrp="1"/>
          </p:cNvSpPr>
          <p:nvPr>
            <p:ph type="body" sz="quarter" idx="43"/>
          </p:nvPr>
        </p:nvSpPr>
        <p:spPr>
          <a:xfrm>
            <a:off x="4766087" y="3641510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57" name="패널 본문"/>
          <p:cNvSpPr>
            <a:spLocks noGrp="1"/>
          </p:cNvSpPr>
          <p:nvPr>
            <p:ph type="body" sz="quarter" idx="44"/>
          </p:nvPr>
        </p:nvSpPr>
        <p:spPr>
          <a:xfrm>
            <a:off x="4788000" y="3882553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 공사(8개소)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40년↑ 청사 안전진단·컨설팅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직무스트레스 조사 및 사후관리 실시</a:t>
            </a:r>
          </a:p>
        </p:txBody>
      </p:sp>
      <p:sp>
        <p:nvSpPr>
          <p:cNvPr id="58" name="요약 바"/>
          <p:cNvSpPr/>
          <p:nvPr/>
        </p:nvSpPr>
        <p:spPr>
          <a:xfrm>
            <a:off x="4788000" y="4623965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9" name="요약 바"/>
          <p:cNvSpPr>
            <a:spLocks noGrp="1"/>
          </p:cNvSpPr>
          <p:nvPr>
            <p:ph type="body" sz="quarter" idx="45"/>
          </p:nvPr>
        </p:nvSpPr>
        <p:spPr>
          <a:xfrm>
            <a:off x="4788000" y="4623965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49526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9910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9910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49690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