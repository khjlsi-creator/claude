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장 제목 띠"/>
          <p:cNvSpPr/>
          <p:nvPr/>
        </p:nvSpPr>
        <p:spPr>
          <a:xfrm>
            <a:off x="536870" y="766957"/>
            <a:ext cx="6300000" cy="421826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I 칸"/>
          <p:cNvSpPr/>
          <p:nvPr/>
        </p:nvSpPr>
        <p:spPr>
          <a:xfrm>
            <a:off x="5401565" y="772435"/>
            <a:ext cx="1429826" cy="410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장 제목"/>
          <p:cNvSpPr txBox="1"/>
          <p:nvPr/>
        </p:nvSpPr>
        <p:spPr>
          <a:xfrm>
            <a:off x="810783" y="777913"/>
            <a:ext cx="4590783" cy="399913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  <p:pic>
        <p:nvPicPr>
          <p:cNvPr id="10" name="KORAD CI" descr="korad-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22" y="870213"/>
            <a:ext cx="1161391" cy="215314"/>
          </a:xfrm>
          <a:prstGeom prst="rect">
            <a:avLst/>
          </a:prstGeom>
        </p:spPr>
      </p:pic>
      <p:sp>
        <p:nvSpPr>
          <p:cNvPr id="11" name="평가내용 라벨"/>
          <p:cNvSpPr/>
          <p:nvPr/>
        </p:nvSpPr>
        <p:spPr>
          <a:xfrm>
            <a:off x="536870" y="1342174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2" name="평가내용 제목 박스"/>
          <p:cNvSpPr/>
          <p:nvPr/>
        </p:nvSpPr>
        <p:spPr>
          <a:xfrm>
            <a:off x="1522957" y="1353130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평가내용 제목"/>
          <p:cNvSpPr txBox="1"/>
          <p:nvPr/>
        </p:nvSpPr>
        <p:spPr>
          <a:xfrm>
            <a:off x="1632522" y="1364087"/>
            <a:ext cx="5127652" cy="553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4" name="점"/>
          <p:cNvSpPr/>
          <p:nvPr/>
        </p:nvSpPr>
        <p:spPr>
          <a:xfrm>
            <a:off x="871043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947739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024435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101130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점"/>
          <p:cNvSpPr/>
          <p:nvPr/>
        </p:nvSpPr>
        <p:spPr>
          <a:xfrm>
            <a:off x="1177826" y="187904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띠"/>
          <p:cNvSpPr/>
          <p:nvPr/>
        </p:nvSpPr>
        <p:spPr>
          <a:xfrm>
            <a:off x="536870" y="2081739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번호 탭"/>
          <p:cNvSpPr/>
          <p:nvPr/>
        </p:nvSpPr>
        <p:spPr>
          <a:xfrm>
            <a:off x="558782" y="2103652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탭 빗면"/>
          <p:cNvSpPr/>
          <p:nvPr/>
        </p:nvSpPr>
        <p:spPr>
          <a:xfrm>
            <a:off x="953217" y="2103652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번호"/>
          <p:cNvSpPr txBox="1"/>
          <p:nvPr/>
        </p:nvSpPr>
        <p:spPr>
          <a:xfrm>
            <a:off x="558783" y="2081739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3" name="번호 띠 제목"/>
          <p:cNvSpPr txBox="1"/>
          <p:nvPr/>
        </p:nvSpPr>
        <p:spPr>
          <a:xfrm>
            <a:off x="1183304" y="2103652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  <p:sp>
        <p:nvSpPr>
          <p:cNvPr id="24" name="형광 밑줄"/>
          <p:cNvSpPr/>
          <p:nvPr/>
        </p:nvSpPr>
        <p:spPr>
          <a:xfrm>
            <a:off x="536870" y="2662435"/>
            <a:ext cx="310726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소제목"/>
          <p:cNvSpPr txBox="1"/>
          <p:nvPr/>
        </p:nvSpPr>
        <p:spPr>
          <a:xfrm>
            <a:off x="536870" y="250904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  <p:sp>
        <p:nvSpPr>
          <p:cNvPr id="26" name="표 외곽"/>
          <p:cNvSpPr/>
          <p:nvPr/>
        </p:nvSpPr>
        <p:spPr>
          <a:xfrm>
            <a:off x="536870" y="2793913"/>
            <a:ext cx="6300000" cy="226346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레일"/>
          <p:cNvSpPr/>
          <p:nvPr/>
        </p:nvSpPr>
        <p:spPr>
          <a:xfrm>
            <a:off x="547826" y="2810348"/>
            <a:ext cx="580696" cy="85188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8" name="머리칸"/>
          <p:cNvSpPr/>
          <p:nvPr/>
        </p:nvSpPr>
        <p:spPr>
          <a:xfrm>
            <a:off x="1161391" y="2832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9" name="머리칸"/>
          <p:cNvSpPr/>
          <p:nvPr/>
        </p:nvSpPr>
        <p:spPr>
          <a:xfrm>
            <a:off x="3985435" y="2832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30" name="칸 본문"/>
          <p:cNvSpPr txBox="1"/>
          <p:nvPr/>
        </p:nvSpPr>
        <p:spPr>
          <a:xfrm>
            <a:off x="1172348" y="3073304"/>
            <a:ext cx="2802130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저출산 해결 노력 요구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3996391" y="3073304"/>
            <a:ext cx="2802130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85435" y="3106174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547826" y="3678668"/>
            <a:ext cx="580696" cy="65739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4" name="레일 삼각형"/>
          <p:cNvSpPr/>
          <p:nvPr/>
        </p:nvSpPr>
        <p:spPr>
          <a:xfrm>
            <a:off x="547826" y="3678667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태그"/>
          <p:cNvSpPr/>
          <p:nvPr/>
        </p:nvSpPr>
        <p:spPr>
          <a:xfrm>
            <a:off x="1161391" y="3722494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36" name="태그 설명"/>
          <p:cNvSpPr txBox="1"/>
          <p:nvPr/>
        </p:nvSpPr>
        <p:spPr>
          <a:xfrm>
            <a:off x="2145304" y="3711537"/>
            <a:ext cx="466417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37" name="태그"/>
          <p:cNvSpPr/>
          <p:nvPr/>
        </p:nvSpPr>
        <p:spPr>
          <a:xfrm>
            <a:off x="1161391" y="3919711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38" name="태그 설명"/>
          <p:cNvSpPr txBox="1"/>
          <p:nvPr/>
        </p:nvSpPr>
        <p:spPr>
          <a:xfrm>
            <a:off x="2145304" y="3908755"/>
            <a:ext cx="466417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공동 목표를 수행하는 동반자로서 긍정의 노사관계 강화</a:t>
            </a:r>
          </a:p>
        </p:txBody>
      </p:sp>
      <p:sp>
        <p:nvSpPr>
          <p:cNvPr id="39" name="태그"/>
          <p:cNvSpPr/>
          <p:nvPr/>
        </p:nvSpPr>
        <p:spPr>
          <a:xfrm>
            <a:off x="1161391" y="4116929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40" name="태그 설명"/>
          <p:cNvSpPr txBox="1"/>
          <p:nvPr/>
        </p:nvSpPr>
        <p:spPr>
          <a:xfrm>
            <a:off x="2145304" y="4105972"/>
            <a:ext cx="466417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 존중 실현과 복리후생제도 개선 등 근로환경 개선 추진</a:t>
            </a:r>
          </a:p>
        </p:txBody>
      </p:sp>
      <p:sp>
        <p:nvSpPr>
          <p:cNvPr id="41" name="레일"/>
          <p:cNvSpPr/>
          <p:nvPr/>
        </p:nvSpPr>
        <p:spPr>
          <a:xfrm>
            <a:off x="547826" y="4352494"/>
            <a:ext cx="580696" cy="68844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42" name="레일 삼각형"/>
          <p:cNvSpPr/>
          <p:nvPr/>
        </p:nvSpPr>
        <p:spPr>
          <a:xfrm>
            <a:off x="547826" y="4352493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단계"/>
          <p:cNvSpPr/>
          <p:nvPr/>
        </p:nvSpPr>
        <p:spPr>
          <a:xfrm>
            <a:off x="1161391" y="4374407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44" name="단계"/>
          <p:cNvSpPr/>
          <p:nvPr/>
        </p:nvSpPr>
        <p:spPr>
          <a:xfrm>
            <a:off x="3044087" y="4374407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45" name="단계"/>
          <p:cNvSpPr/>
          <p:nvPr/>
        </p:nvSpPr>
        <p:spPr>
          <a:xfrm>
            <a:off x="4926783" y="4374407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46" name="단계 삼각형"/>
          <p:cNvSpPr/>
          <p:nvPr/>
        </p:nvSpPr>
        <p:spPr>
          <a:xfrm>
            <a:off x="3044086" y="437440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단계 삼각형"/>
          <p:cNvSpPr/>
          <p:nvPr/>
        </p:nvSpPr>
        <p:spPr>
          <a:xfrm>
            <a:off x="4926782" y="437440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칸 본문"/>
          <p:cNvSpPr txBox="1"/>
          <p:nvPr/>
        </p:nvSpPr>
        <p:spPr>
          <a:xfrm>
            <a:off x="1172348" y="462640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49" name="칸 본문"/>
          <p:cNvSpPr txBox="1"/>
          <p:nvPr/>
        </p:nvSpPr>
        <p:spPr>
          <a:xfrm>
            <a:off x="3055043" y="462640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044087" y="465927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칸 본문"/>
          <p:cNvSpPr txBox="1"/>
          <p:nvPr/>
        </p:nvSpPr>
        <p:spPr>
          <a:xfrm>
            <a:off x="4937739" y="4626407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926783" y="465927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3" name="삼각 화살표"/>
          <p:cNvSpPr/>
          <p:nvPr/>
        </p:nvSpPr>
        <p:spPr>
          <a:xfrm>
            <a:off x="3823826" y="5101200"/>
            <a:ext cx="350608" cy="142434"/>
          </a:xfrm>
          <a:custGeom>
            <a:avLst/>
            <a:gdLst/>
            <a:ahLst/>
            <a:cxnLst/>
            <a:rect l="l" t="t" r="r" b="b"/>
            <a:pathLst>
              <a:path w="350608" h="142434">
                <a:moveTo>
                  <a:pt x="0" y="0"/>
                </a:moveTo>
                <a:lnTo>
                  <a:pt x="350608" y="0"/>
                </a:lnTo>
                <a:lnTo>
                  <a:pt x="175304" y="14243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라벨 박스"/>
          <p:cNvSpPr/>
          <p:nvPr/>
        </p:nvSpPr>
        <p:spPr>
          <a:xfrm>
            <a:off x="536870" y="5325809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레일"/>
          <p:cNvSpPr/>
          <p:nvPr/>
        </p:nvSpPr>
        <p:spPr>
          <a:xfrm>
            <a:off x="547826" y="5336765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56" name="강조 바"/>
          <p:cNvSpPr/>
          <p:nvPr/>
        </p:nvSpPr>
        <p:spPr>
          <a:xfrm>
            <a:off x="1172348" y="5358678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강조 바 글"/>
          <p:cNvSpPr txBox="1"/>
          <p:nvPr/>
        </p:nvSpPr>
        <p:spPr>
          <a:xfrm>
            <a:off x="1172348" y="5358678"/>
            <a:ext cx="5631652" cy="22917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58" name="라벨 박스"/>
          <p:cNvSpPr/>
          <p:nvPr/>
        </p:nvSpPr>
        <p:spPr>
          <a:xfrm>
            <a:off x="536870" y="5675510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레일"/>
          <p:cNvSpPr/>
          <p:nvPr/>
        </p:nvSpPr>
        <p:spPr>
          <a:xfrm>
            <a:off x="547826" y="5686466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60" name="가운데 글"/>
          <p:cNvSpPr txBox="1"/>
          <p:nvPr/>
        </p:nvSpPr>
        <p:spPr>
          <a:xfrm>
            <a:off x="1172348" y="5691944"/>
            <a:ext cx="1877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 운영으로 리스크 해결</a:t>
            </a:r>
          </a:p>
        </p:txBody>
      </p:sp>
      <p:sp>
        <p:nvSpPr>
          <p:cNvPr id="61" name="가운데 글"/>
          <p:cNvSpPr txBox="1"/>
          <p:nvPr/>
        </p:nvSpPr>
        <p:spPr>
          <a:xfrm>
            <a:off x="3049565" y="5691944"/>
            <a:ext cx="1877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049565" y="5730292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3" name="가운데 글"/>
          <p:cNvSpPr txBox="1"/>
          <p:nvPr/>
        </p:nvSpPr>
        <p:spPr>
          <a:xfrm>
            <a:off x="4926783" y="5691944"/>
            <a:ext cx="1877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26783" y="5730292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5" name="라벨 박스"/>
          <p:cNvSpPr/>
          <p:nvPr/>
        </p:nvSpPr>
        <p:spPr>
          <a:xfrm>
            <a:off x="536870" y="6020640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레일"/>
          <p:cNvSpPr/>
          <p:nvPr/>
        </p:nvSpPr>
        <p:spPr>
          <a:xfrm>
            <a:off x="547826" y="6031597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67" name="칸 본문"/>
          <p:cNvSpPr txBox="1"/>
          <p:nvPr/>
        </p:nvSpPr>
        <p:spPr>
          <a:xfrm>
            <a:off x="1183304" y="6037075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</a:t>
            </a:r>
          </a:p>
        </p:txBody>
      </p:sp>
      <p:sp>
        <p:nvSpPr>
          <p:cNvPr id="68" name="칸 본문"/>
          <p:cNvSpPr txBox="1"/>
          <p:nvPr/>
        </p:nvSpPr>
        <p:spPr>
          <a:xfrm>
            <a:off x="3060522" y="6037075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049565" y="6069944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0" name="칸 본문"/>
          <p:cNvSpPr txBox="1"/>
          <p:nvPr/>
        </p:nvSpPr>
        <p:spPr>
          <a:xfrm>
            <a:off x="4937739" y="6037075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926783" y="6069944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2" name="라벨 박스"/>
          <p:cNvSpPr/>
          <p:nvPr/>
        </p:nvSpPr>
        <p:spPr>
          <a:xfrm>
            <a:off x="536870" y="6719134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레일"/>
          <p:cNvSpPr/>
          <p:nvPr/>
        </p:nvSpPr>
        <p:spPr>
          <a:xfrm>
            <a:off x="547826" y="6730090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74" name="칸 본문"/>
          <p:cNvSpPr txBox="1"/>
          <p:nvPr/>
        </p:nvSpPr>
        <p:spPr>
          <a:xfrm>
            <a:off x="1183304" y="6735569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</a:t>
            </a:r>
          </a:p>
        </p:txBody>
      </p:sp>
      <p:sp>
        <p:nvSpPr>
          <p:cNvPr id="75" name="칸 본문"/>
          <p:cNvSpPr txBox="1"/>
          <p:nvPr/>
        </p:nvSpPr>
        <p:spPr>
          <a:xfrm>
            <a:off x="3060522" y="6735569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049565" y="6768438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7" name="칸 본문"/>
          <p:cNvSpPr txBox="1"/>
          <p:nvPr/>
        </p:nvSpPr>
        <p:spPr>
          <a:xfrm>
            <a:off x="4937739" y="6735569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926783" y="6768438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9" name="라벨 박스"/>
          <p:cNvSpPr/>
          <p:nvPr/>
        </p:nvSpPr>
        <p:spPr>
          <a:xfrm>
            <a:off x="536870" y="7243231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레일"/>
          <p:cNvSpPr/>
          <p:nvPr/>
        </p:nvSpPr>
        <p:spPr>
          <a:xfrm>
            <a:off x="547826" y="7254188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81" name="칸 본문"/>
          <p:cNvSpPr txBox="1"/>
          <p:nvPr/>
        </p:nvSpPr>
        <p:spPr>
          <a:xfrm>
            <a:off x="1183304" y="7259666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안건 일치율</a:t>
            </a:r>
          </a:p>
        </p:txBody>
      </p:sp>
      <p:sp>
        <p:nvSpPr>
          <p:cNvPr id="82" name="칸 본문"/>
          <p:cNvSpPr txBox="1"/>
          <p:nvPr/>
        </p:nvSpPr>
        <p:spPr>
          <a:xfrm>
            <a:off x="3060522" y="7259666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역량지수 설문조사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049565" y="7292536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4" name="칸 본문"/>
          <p:cNvSpPr txBox="1"/>
          <p:nvPr/>
        </p:nvSpPr>
        <p:spPr>
          <a:xfrm>
            <a:off x="4937739" y="7259666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926783" y="7292536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6" name="핵심성과 박스"/>
          <p:cNvSpPr/>
          <p:nvPr/>
        </p:nvSpPr>
        <p:spPr>
          <a:xfrm>
            <a:off x="536870" y="7800198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핵심성과 라벨"/>
          <p:cNvSpPr/>
          <p:nvPr/>
        </p:nvSpPr>
        <p:spPr>
          <a:xfrm>
            <a:off x="569739" y="7838546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88" name="핵심성과 문구"/>
          <p:cNvSpPr txBox="1"/>
          <p:nvPr/>
        </p:nvSpPr>
        <p:spPr>
          <a:xfrm>
            <a:off x="1314783" y="7816633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4" name="형광 밑줄"/>
          <p:cNvSpPr/>
          <p:nvPr/>
        </p:nvSpPr>
        <p:spPr>
          <a:xfrm>
            <a:off x="723130" y="931304"/>
            <a:ext cx="290529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소제목"/>
          <p:cNvSpPr txBox="1"/>
          <p:nvPr/>
        </p:nvSpPr>
        <p:spPr>
          <a:xfrm>
            <a:off x="723130" y="77791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노사협력체계 운영을 통한 분야별 리스크 관리</a:t>
            </a:r>
          </a:p>
        </p:txBody>
      </p:sp>
      <p:sp>
        <p:nvSpPr>
          <p:cNvPr id="6" name="태그칩"/>
          <p:cNvSpPr/>
          <p:nvPr/>
        </p:nvSpPr>
        <p:spPr>
          <a:xfrm>
            <a:off x="3727032" y="81078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신규·강화</a:t>
            </a:r>
          </a:p>
        </p:txBody>
      </p:sp>
      <p:sp>
        <p:nvSpPr>
          <p:cNvPr id="7" name="패널 외곽"/>
          <p:cNvSpPr/>
          <p:nvPr/>
        </p:nvSpPr>
        <p:spPr>
          <a:xfrm>
            <a:off x="723130" y="1073739"/>
            <a:ext cx="3125348" cy="2030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패널 머리"/>
          <p:cNvSpPr/>
          <p:nvPr/>
        </p:nvSpPr>
        <p:spPr>
          <a:xfrm>
            <a:off x="723130" y="1073739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9" name="레일"/>
          <p:cNvSpPr/>
          <p:nvPr/>
        </p:nvSpPr>
        <p:spPr>
          <a:xfrm>
            <a:off x="756000" y="1347652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10" name="패널 본문"/>
          <p:cNvSpPr txBox="1"/>
          <p:nvPr/>
        </p:nvSpPr>
        <p:spPr>
          <a:xfrm>
            <a:off x="1429826" y="1336696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29826" y="1773141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2" name="레일"/>
          <p:cNvSpPr/>
          <p:nvPr/>
        </p:nvSpPr>
        <p:spPr>
          <a:xfrm>
            <a:off x="756000" y="1784097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13" name="패널 본문"/>
          <p:cNvSpPr txBox="1"/>
          <p:nvPr/>
        </p:nvSpPr>
        <p:spPr>
          <a:xfrm>
            <a:off x="1429826" y="1773141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29826" y="2209586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5" name="레일"/>
          <p:cNvSpPr/>
          <p:nvPr/>
        </p:nvSpPr>
        <p:spPr>
          <a:xfrm>
            <a:off x="756000" y="2220543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16" name="패널 본문"/>
          <p:cNvSpPr txBox="1"/>
          <p:nvPr/>
        </p:nvSpPr>
        <p:spPr>
          <a:xfrm>
            <a:off x="1429826" y="2209586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29826" y="2646031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8" name="레일"/>
          <p:cNvSpPr/>
          <p:nvPr/>
        </p:nvSpPr>
        <p:spPr>
          <a:xfrm>
            <a:off x="756000" y="2656988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19" name="패널 본문"/>
          <p:cNvSpPr txBox="1"/>
          <p:nvPr/>
        </p:nvSpPr>
        <p:spPr>
          <a:xfrm>
            <a:off x="1429826" y="2646031"/>
            <a:ext cx="2385783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20" name="패널 외곽"/>
          <p:cNvSpPr/>
          <p:nvPr/>
        </p:nvSpPr>
        <p:spPr>
          <a:xfrm>
            <a:off x="3897783" y="1073739"/>
            <a:ext cx="3125348" cy="2030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패널 머리"/>
          <p:cNvSpPr/>
          <p:nvPr/>
        </p:nvSpPr>
        <p:spPr>
          <a:xfrm>
            <a:off x="3897783" y="1073739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22" name="레일"/>
          <p:cNvSpPr/>
          <p:nvPr/>
        </p:nvSpPr>
        <p:spPr>
          <a:xfrm>
            <a:off x="3930652" y="1347652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23" name="패널 본문"/>
          <p:cNvSpPr txBox="1"/>
          <p:nvPr/>
        </p:nvSpPr>
        <p:spPr>
          <a:xfrm>
            <a:off x="4785261" y="1336696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85261" y="1773141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레일"/>
          <p:cNvSpPr/>
          <p:nvPr/>
        </p:nvSpPr>
        <p:spPr>
          <a:xfrm>
            <a:off x="3930652" y="1784097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26" name="패널 본문"/>
          <p:cNvSpPr txBox="1"/>
          <p:nvPr/>
        </p:nvSpPr>
        <p:spPr>
          <a:xfrm>
            <a:off x="4785261" y="1773141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85261" y="2209586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레일"/>
          <p:cNvSpPr/>
          <p:nvPr/>
        </p:nvSpPr>
        <p:spPr>
          <a:xfrm>
            <a:off x="3930652" y="2220543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29" name="패널 본문"/>
          <p:cNvSpPr txBox="1"/>
          <p:nvPr/>
        </p:nvSpPr>
        <p:spPr>
          <a:xfrm>
            <a:off x="4785261" y="2209586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85261" y="2646031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1" name="레일"/>
          <p:cNvSpPr/>
          <p:nvPr/>
        </p:nvSpPr>
        <p:spPr>
          <a:xfrm>
            <a:off x="3930652" y="2656988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32" name="패널 본문"/>
          <p:cNvSpPr txBox="1"/>
          <p:nvPr/>
        </p:nvSpPr>
        <p:spPr>
          <a:xfrm>
            <a:off x="4785261" y="2646031"/>
            <a:ext cx="2205000" cy="43644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  <p:sp>
        <p:nvSpPr>
          <p:cNvPr id="33" name="핵심성과 박스"/>
          <p:cNvSpPr/>
          <p:nvPr/>
        </p:nvSpPr>
        <p:spPr>
          <a:xfrm>
            <a:off x="723130" y="3192042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핵심성과 라벨"/>
          <p:cNvSpPr/>
          <p:nvPr/>
        </p:nvSpPr>
        <p:spPr>
          <a:xfrm>
            <a:off x="756000" y="3230390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35" name="핵심성과 문구"/>
          <p:cNvSpPr txBox="1"/>
          <p:nvPr/>
        </p:nvSpPr>
        <p:spPr>
          <a:xfrm>
            <a:off x="1501043" y="3208477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번호"/>
          <p:cNvSpPr txBox="1"/>
          <p:nvPr/>
        </p:nvSpPr>
        <p:spPr>
          <a:xfrm>
            <a:off x="558783" y="766957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1" name="번호 띠 제목"/>
          <p:cNvSpPr txBox="1"/>
          <p:nvPr/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상호협력과 참여 기반 현안문제 해결과 합리적 노사관계 운영 성과</a:t>
            </a:r>
          </a:p>
        </p:txBody>
      </p:sp>
      <p:sp>
        <p:nvSpPr>
          <p:cNvPr id="12" name="형광 밑줄"/>
          <p:cNvSpPr/>
          <p:nvPr/>
        </p:nvSpPr>
        <p:spPr>
          <a:xfrm>
            <a:off x="536870" y="1347652"/>
            <a:ext cx="3133612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소제목"/>
          <p:cNvSpPr txBox="1"/>
          <p:nvPr/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라운드테이블로 운전면허 적성검사 연말집중 해소</a:t>
            </a:r>
          </a:p>
        </p:txBody>
      </p:sp>
      <p:sp>
        <p:nvSpPr>
          <p:cNvPr id="14" name="태그칩"/>
          <p:cNvSpPr/>
          <p:nvPr/>
        </p:nvSpPr>
        <p:spPr>
          <a:xfrm>
            <a:off x="3769090" y="1227130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5" name="표 외곽"/>
          <p:cNvSpPr/>
          <p:nvPr/>
        </p:nvSpPr>
        <p:spPr>
          <a:xfrm>
            <a:off x="536870" y="1479130"/>
            <a:ext cx="4716783" cy="218404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레일"/>
          <p:cNvSpPr/>
          <p:nvPr/>
        </p:nvSpPr>
        <p:spPr>
          <a:xfrm>
            <a:off x="547826" y="1495565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1161391" y="1517478"/>
            <a:ext cx="406487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18" name="레일"/>
          <p:cNvSpPr/>
          <p:nvPr/>
        </p:nvSpPr>
        <p:spPr>
          <a:xfrm>
            <a:off x="547826" y="1948445"/>
            <a:ext cx="580696" cy="84092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9" name="레일 삼각형"/>
          <p:cNvSpPr/>
          <p:nvPr/>
        </p:nvSpPr>
        <p:spPr>
          <a:xfrm>
            <a:off x="547826" y="1948445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머리칸"/>
          <p:cNvSpPr/>
          <p:nvPr/>
        </p:nvSpPr>
        <p:spPr>
          <a:xfrm>
            <a:off x="1161391" y="1970358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1" name="머리칸"/>
          <p:cNvSpPr/>
          <p:nvPr/>
        </p:nvSpPr>
        <p:spPr>
          <a:xfrm>
            <a:off x="3193826" y="1970358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22" name="칸 본문"/>
          <p:cNvSpPr txBox="1"/>
          <p:nvPr/>
        </p:nvSpPr>
        <p:spPr>
          <a:xfrm>
            <a:off x="1172348" y="2211402"/>
            <a:ext cx="2010522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23" name="칸 본문"/>
          <p:cNvSpPr txBox="1"/>
          <p:nvPr/>
        </p:nvSpPr>
        <p:spPr>
          <a:xfrm>
            <a:off x="3204783" y="2211402"/>
            <a:ext cx="2010522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93826" y="2244271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레일"/>
          <p:cNvSpPr/>
          <p:nvPr/>
        </p:nvSpPr>
        <p:spPr>
          <a:xfrm>
            <a:off x="547826" y="2805809"/>
            <a:ext cx="580696" cy="84092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547826" y="280580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단계"/>
          <p:cNvSpPr/>
          <p:nvPr/>
        </p:nvSpPr>
        <p:spPr>
          <a:xfrm>
            <a:off x="1161391" y="2827722"/>
            <a:ext cx="101621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28" name="단계"/>
          <p:cNvSpPr/>
          <p:nvPr/>
        </p:nvSpPr>
        <p:spPr>
          <a:xfrm>
            <a:off x="2177609" y="2827722"/>
            <a:ext cx="1016217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29" name="단계"/>
          <p:cNvSpPr/>
          <p:nvPr/>
        </p:nvSpPr>
        <p:spPr>
          <a:xfrm>
            <a:off x="3193826" y="2827722"/>
            <a:ext cx="1016217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30" name="단계"/>
          <p:cNvSpPr/>
          <p:nvPr/>
        </p:nvSpPr>
        <p:spPr>
          <a:xfrm>
            <a:off x="4210043" y="2827722"/>
            <a:ext cx="1016217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31" name="단계 삼각형"/>
          <p:cNvSpPr/>
          <p:nvPr/>
        </p:nvSpPr>
        <p:spPr>
          <a:xfrm>
            <a:off x="2177608" y="28277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단계 삼각형"/>
          <p:cNvSpPr/>
          <p:nvPr/>
        </p:nvSpPr>
        <p:spPr>
          <a:xfrm>
            <a:off x="3193826" y="28277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단계 삼각형"/>
          <p:cNvSpPr/>
          <p:nvPr/>
        </p:nvSpPr>
        <p:spPr>
          <a:xfrm>
            <a:off x="4210043" y="28277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칸 본문"/>
          <p:cNvSpPr txBox="1"/>
          <p:nvPr/>
        </p:nvSpPr>
        <p:spPr>
          <a:xfrm>
            <a:off x="1172348" y="3079722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35" name="칸 본문"/>
          <p:cNvSpPr txBox="1"/>
          <p:nvPr/>
        </p:nvSpPr>
        <p:spPr>
          <a:xfrm>
            <a:off x="2188565" y="3079722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77609" y="311259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칸 본문"/>
          <p:cNvSpPr txBox="1"/>
          <p:nvPr/>
        </p:nvSpPr>
        <p:spPr>
          <a:xfrm>
            <a:off x="3204783" y="3079722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193826" y="311259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칸 본문"/>
          <p:cNvSpPr txBox="1"/>
          <p:nvPr/>
        </p:nvSpPr>
        <p:spPr>
          <a:xfrm>
            <a:off x="4221000" y="3079722"/>
            <a:ext cx="994304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10043" y="311259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성과 화살표"/>
          <p:cNvSpPr/>
          <p:nvPr/>
        </p:nvSpPr>
        <p:spPr>
          <a:xfrm>
            <a:off x="5281043" y="2428716"/>
            <a:ext cx="142435" cy="284870"/>
          </a:xfrm>
          <a:custGeom>
            <a:avLst/>
            <a:gdLst/>
            <a:ahLst/>
            <a:cxnLst/>
            <a:rect l="l" t="t" r="r" b="b"/>
            <a:pathLst>
              <a:path w="142435" h="284870">
                <a:moveTo>
                  <a:pt x="0" y="0"/>
                </a:moveTo>
                <a:lnTo>
                  <a:pt x="0" y="284870"/>
                </a:lnTo>
                <a:lnTo>
                  <a:pt x="14243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성과 패널 머리"/>
          <p:cNvSpPr/>
          <p:nvPr/>
        </p:nvSpPr>
        <p:spPr>
          <a:xfrm>
            <a:off x="5450870" y="1479130"/>
            <a:ext cx="1386000" cy="241043"/>
          </a:xfrm>
          <a:prstGeom prst="rect">
            <a:avLst/>
          </a:prstGeom>
          <a:solidFill>
            <a:srgbClr val="008C6B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3" name="성과 패널"/>
          <p:cNvSpPr/>
          <p:nvPr/>
        </p:nvSpPr>
        <p:spPr>
          <a:xfrm>
            <a:off x="5450870" y="1731130"/>
            <a:ext cx="1386000" cy="1932042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성과 패널 본문"/>
          <p:cNvSpPr txBox="1"/>
          <p:nvPr/>
        </p:nvSpPr>
        <p:spPr>
          <a:xfrm>
            <a:off x="5472783" y="1753043"/>
            <a:ext cx="1342174" cy="1888216"/>
          </a:xfrm>
          <a:prstGeom prst="rect">
            <a:avLst/>
          </a:prstGeom>
          <a:noFill/>
        </p:spPr>
        <p:txBody>
          <a:bodyPr wrap="square" lIns="54000" tIns="18000" rIns="36000" bIns="180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  <p:sp>
        <p:nvSpPr>
          <p:cNvPr id="45" name="핵심성과 박스"/>
          <p:cNvSpPr/>
          <p:nvPr/>
        </p:nvSpPr>
        <p:spPr>
          <a:xfrm>
            <a:off x="536870" y="3750824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핵심성과 라벨"/>
          <p:cNvSpPr/>
          <p:nvPr/>
        </p:nvSpPr>
        <p:spPr>
          <a:xfrm>
            <a:off x="569739" y="3789172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47" name="핵심성과 문구"/>
          <p:cNvSpPr txBox="1"/>
          <p:nvPr/>
        </p:nvSpPr>
        <p:spPr>
          <a:xfrm>
            <a:off x="1314783" y="3767259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적성검사 연말집중 해소 및 노동이사 선임 등 현안문제 해결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4" name="형광 밑줄"/>
          <p:cNvSpPr/>
          <p:nvPr/>
        </p:nvSpPr>
        <p:spPr>
          <a:xfrm>
            <a:off x="723130" y="931304"/>
            <a:ext cx="311106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소제목"/>
          <p:cNvSpPr txBox="1"/>
          <p:nvPr/>
        </p:nvSpPr>
        <p:spPr>
          <a:xfrm>
            <a:off x="723130" y="77791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근로자 경영참여로 협력 강화, 노동이사 추천 완료</a:t>
            </a:r>
          </a:p>
        </p:txBody>
      </p:sp>
      <p:sp>
        <p:nvSpPr>
          <p:cNvPr id="6" name="태그칩"/>
          <p:cNvSpPr/>
          <p:nvPr/>
        </p:nvSpPr>
        <p:spPr>
          <a:xfrm>
            <a:off x="3932802" y="81078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7" name="표 외곽"/>
          <p:cNvSpPr/>
          <p:nvPr/>
        </p:nvSpPr>
        <p:spPr>
          <a:xfrm>
            <a:off x="723130" y="1062783"/>
            <a:ext cx="6300000" cy="223973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레일"/>
          <p:cNvSpPr/>
          <p:nvPr/>
        </p:nvSpPr>
        <p:spPr>
          <a:xfrm>
            <a:off x="734087" y="1079217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9" name="머리칸"/>
          <p:cNvSpPr/>
          <p:nvPr/>
        </p:nvSpPr>
        <p:spPr>
          <a:xfrm>
            <a:off x="1347652" y="11011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10" name="머리칸"/>
          <p:cNvSpPr/>
          <p:nvPr/>
        </p:nvSpPr>
        <p:spPr>
          <a:xfrm>
            <a:off x="4171696" y="11011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11" name="칸 본문"/>
          <p:cNvSpPr txBox="1"/>
          <p:nvPr/>
        </p:nvSpPr>
        <p:spPr>
          <a:xfrm>
            <a:off x="1358609" y="1342174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공감대 형성</a:t>
            </a:r>
          </a:p>
        </p:txBody>
      </p:sp>
      <p:sp>
        <p:nvSpPr>
          <p:cNvPr id="12" name="칸 본문"/>
          <p:cNvSpPr txBox="1"/>
          <p:nvPr/>
        </p:nvSpPr>
        <p:spPr>
          <a:xfrm>
            <a:off x="4182652" y="1342174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 1명을 비상임이사로 포함'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1696" y="1375043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4" name="레일"/>
          <p:cNvSpPr/>
          <p:nvPr/>
        </p:nvSpPr>
        <p:spPr>
          <a:xfrm>
            <a:off x="734087" y="1762184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15" name="레일 삼각형"/>
          <p:cNvSpPr/>
          <p:nvPr/>
        </p:nvSpPr>
        <p:spPr>
          <a:xfrm>
            <a:off x="734086" y="1762184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머리칸"/>
          <p:cNvSpPr/>
          <p:nvPr/>
        </p:nvSpPr>
        <p:spPr>
          <a:xfrm>
            <a:off x="1347652" y="178409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</a:t>
            </a:r>
          </a:p>
        </p:txBody>
      </p:sp>
      <p:sp>
        <p:nvSpPr>
          <p:cNvPr id="17" name="머리칸"/>
          <p:cNvSpPr/>
          <p:nvPr/>
        </p:nvSpPr>
        <p:spPr>
          <a:xfrm>
            <a:off x="4171696" y="178409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18" name="칸 본문"/>
          <p:cNvSpPr txBox="1"/>
          <p:nvPr/>
        </p:nvSpPr>
        <p:spPr>
          <a:xfrm>
            <a:off x="1358609" y="2025141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적극 시행과 직무 수행 지원, 불이익 처분 및 대우 금지 조항 마련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4182652" y="2025141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업무수행·역량강화 교육과정 지원 및 소통채널 운영 협의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71696" y="2058010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레일"/>
          <p:cNvSpPr/>
          <p:nvPr/>
        </p:nvSpPr>
        <p:spPr>
          <a:xfrm>
            <a:off x="734087" y="2445151"/>
            <a:ext cx="580696" cy="84092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22" name="레일 삼각형"/>
          <p:cNvSpPr/>
          <p:nvPr/>
        </p:nvSpPr>
        <p:spPr>
          <a:xfrm>
            <a:off x="734086" y="2445151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단계"/>
          <p:cNvSpPr/>
          <p:nvPr/>
        </p:nvSpPr>
        <p:spPr>
          <a:xfrm>
            <a:off x="1347652" y="2467064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24" name="단계"/>
          <p:cNvSpPr/>
          <p:nvPr/>
        </p:nvSpPr>
        <p:spPr>
          <a:xfrm>
            <a:off x="2759674" y="2467064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25" name="단계"/>
          <p:cNvSpPr/>
          <p:nvPr/>
        </p:nvSpPr>
        <p:spPr>
          <a:xfrm>
            <a:off x="4171696" y="2467064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26" name="단계"/>
          <p:cNvSpPr/>
          <p:nvPr/>
        </p:nvSpPr>
        <p:spPr>
          <a:xfrm>
            <a:off x="5583717" y="2467064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27" name="단계 삼각형"/>
          <p:cNvSpPr/>
          <p:nvPr/>
        </p:nvSpPr>
        <p:spPr>
          <a:xfrm>
            <a:off x="2759673" y="246706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단계 삼각형"/>
          <p:cNvSpPr/>
          <p:nvPr/>
        </p:nvSpPr>
        <p:spPr>
          <a:xfrm>
            <a:off x="4171695" y="246706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단계 삼각형"/>
          <p:cNvSpPr/>
          <p:nvPr/>
        </p:nvSpPr>
        <p:spPr>
          <a:xfrm>
            <a:off x="5583717" y="246706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칸 본문"/>
          <p:cNvSpPr txBox="1"/>
          <p:nvPr/>
        </p:nvSpPr>
        <p:spPr>
          <a:xfrm>
            <a:off x="1358609" y="2719064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2770630" y="2719064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59674" y="2751934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칸 본문"/>
          <p:cNvSpPr txBox="1"/>
          <p:nvPr/>
        </p:nvSpPr>
        <p:spPr>
          <a:xfrm>
            <a:off x="4182652" y="2719064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추천위원회 심사 실시('26.1.13.)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71696" y="2751934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칸 본문"/>
          <p:cNvSpPr txBox="1"/>
          <p:nvPr/>
        </p:nvSpPr>
        <p:spPr>
          <a:xfrm>
            <a:off x="5594674" y="2719064"/>
            <a:ext cx="1390109" cy="54510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83717" y="2751934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핵심성과 박스"/>
          <p:cNvSpPr/>
          <p:nvPr/>
        </p:nvSpPr>
        <p:spPr>
          <a:xfrm>
            <a:off x="723130" y="3390167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핵심성과 라벨"/>
          <p:cNvSpPr/>
          <p:nvPr/>
        </p:nvSpPr>
        <p:spPr>
          <a:xfrm>
            <a:off x="756000" y="3428515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9" name="핵심성과 문구"/>
          <p:cNvSpPr txBox="1"/>
          <p:nvPr/>
        </p:nvSpPr>
        <p:spPr>
          <a:xfrm>
            <a:off x="1501043" y="3406602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형광 밑줄"/>
          <p:cNvSpPr/>
          <p:nvPr/>
        </p:nvSpPr>
        <p:spPr>
          <a:xfrm>
            <a:off x="536870" y="920348"/>
            <a:ext cx="340241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소제목"/>
          <p:cNvSpPr txBox="1"/>
          <p:nvPr/>
        </p:nvSpPr>
        <p:spPr>
          <a:xfrm>
            <a:off x="536870" y="76695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노동관계 법령·지침 100% 준수한 노사관계 제도 운영</a:t>
            </a:r>
          </a:p>
        </p:txBody>
      </p:sp>
      <p:sp>
        <p:nvSpPr>
          <p:cNvPr id="9" name="태그칩"/>
          <p:cNvSpPr/>
          <p:nvPr/>
        </p:nvSpPr>
        <p:spPr>
          <a:xfrm>
            <a:off x="4037891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0" name="라벨 박스"/>
          <p:cNvSpPr/>
          <p:nvPr/>
        </p:nvSpPr>
        <p:spPr>
          <a:xfrm>
            <a:off x="536870" y="106278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1073739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1172348" y="1079217"/>
            <a:ext cx="5631652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13" name="라벨 박스"/>
          <p:cNvSpPr/>
          <p:nvPr/>
        </p:nvSpPr>
        <p:spPr>
          <a:xfrm>
            <a:off x="536870" y="1407913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레일"/>
          <p:cNvSpPr/>
          <p:nvPr/>
        </p:nvSpPr>
        <p:spPr>
          <a:xfrm>
            <a:off x="547826" y="1418870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15" name="가운데 글"/>
          <p:cNvSpPr txBox="1"/>
          <p:nvPr/>
        </p:nvSpPr>
        <p:spPr>
          <a:xfrm>
            <a:off x="1172348" y="1424348"/>
            <a:ext cx="5631652" cy="26204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  <p:sp>
        <p:nvSpPr>
          <p:cNvPr id="16" name="주석"/>
          <p:cNvSpPr txBox="1"/>
          <p:nvPr/>
        </p:nvSpPr>
        <p:spPr>
          <a:xfrm>
            <a:off x="2180348" y="1735701"/>
            <a:ext cx="4656522" cy="175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* 인적자원개발 우수기관 지정에 따른 근로감독 정기점검 면제('24~'27)</a:t>
            </a:r>
          </a:p>
        </p:txBody>
      </p:sp>
      <p:sp>
        <p:nvSpPr>
          <p:cNvPr id="17" name="라벨 박스"/>
          <p:cNvSpPr/>
          <p:nvPr/>
        </p:nvSpPr>
        <p:spPr>
          <a:xfrm>
            <a:off x="536870" y="1965788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레일"/>
          <p:cNvSpPr/>
          <p:nvPr/>
        </p:nvSpPr>
        <p:spPr>
          <a:xfrm>
            <a:off x="547826" y="1976744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19" name="머리칸"/>
          <p:cNvSpPr/>
          <p:nvPr/>
        </p:nvSpPr>
        <p:spPr>
          <a:xfrm>
            <a:off x="1172348" y="199317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20" name="머리칸"/>
          <p:cNvSpPr/>
          <p:nvPr/>
        </p:nvSpPr>
        <p:spPr>
          <a:xfrm>
            <a:off x="3049565" y="199317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21" name="머리칸"/>
          <p:cNvSpPr/>
          <p:nvPr/>
        </p:nvSpPr>
        <p:spPr>
          <a:xfrm>
            <a:off x="4926783" y="199317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22" name="칸 본문"/>
          <p:cNvSpPr txBox="1"/>
          <p:nvPr/>
        </p:nvSpPr>
        <p:spPr>
          <a:xfrm>
            <a:off x="1183304" y="2234223"/>
            <a:ext cx="1855304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23" name="칸 본문"/>
          <p:cNvSpPr txBox="1"/>
          <p:nvPr/>
        </p:nvSpPr>
        <p:spPr>
          <a:xfrm>
            <a:off x="3060522" y="2234223"/>
            <a:ext cx="1855304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49565" y="2267092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칸 본문"/>
          <p:cNvSpPr txBox="1"/>
          <p:nvPr/>
        </p:nvSpPr>
        <p:spPr>
          <a:xfrm>
            <a:off x="4937739" y="2234223"/>
            <a:ext cx="1855304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26783" y="2267092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7" name="라벨 박스"/>
          <p:cNvSpPr/>
          <p:nvPr/>
        </p:nvSpPr>
        <p:spPr>
          <a:xfrm>
            <a:off x="536870" y="2719972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레일"/>
          <p:cNvSpPr/>
          <p:nvPr/>
        </p:nvSpPr>
        <p:spPr>
          <a:xfrm>
            <a:off x="547826" y="2730929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29" name="칸 본문"/>
          <p:cNvSpPr txBox="1"/>
          <p:nvPr/>
        </p:nvSpPr>
        <p:spPr>
          <a:xfrm>
            <a:off x="1183304" y="2736407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30" name="칸 본문"/>
          <p:cNvSpPr txBox="1"/>
          <p:nvPr/>
        </p:nvSpPr>
        <p:spPr>
          <a:xfrm>
            <a:off x="3060522" y="2736407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49565" y="2769277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칸 본문"/>
          <p:cNvSpPr txBox="1"/>
          <p:nvPr/>
        </p:nvSpPr>
        <p:spPr>
          <a:xfrm>
            <a:off x="4937739" y="2736407"/>
            <a:ext cx="1855304" cy="436445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26783" y="2769277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핵심성과 박스"/>
          <p:cNvSpPr/>
          <p:nvPr/>
        </p:nvSpPr>
        <p:spPr>
          <a:xfrm>
            <a:off x="536870" y="3276939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핵심성과 라벨"/>
          <p:cNvSpPr/>
          <p:nvPr/>
        </p:nvSpPr>
        <p:spPr>
          <a:xfrm>
            <a:off x="569739" y="3309809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36" name="핵심성과 문구"/>
          <p:cNvSpPr txBox="1"/>
          <p:nvPr/>
        </p:nvSpPr>
        <p:spPr>
          <a:xfrm>
            <a:off x="1314783" y="3298852"/>
            <a:ext cx="5456348" cy="480522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4" name="평가내용 라벨"/>
          <p:cNvSpPr/>
          <p:nvPr/>
        </p:nvSpPr>
        <p:spPr>
          <a:xfrm>
            <a:off x="723130" y="777913"/>
            <a:ext cx="975130" cy="345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평가내용 제목 박스"/>
          <p:cNvSpPr/>
          <p:nvPr/>
        </p:nvSpPr>
        <p:spPr>
          <a:xfrm>
            <a:off x="1709217" y="788870"/>
            <a:ext cx="5313913" cy="323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평가내용 제목"/>
          <p:cNvSpPr txBox="1"/>
          <p:nvPr/>
        </p:nvSpPr>
        <p:spPr>
          <a:xfrm>
            <a:off x="1818783" y="799826"/>
            <a:ext cx="5127652" cy="301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공감대 형성을 위한 의사소통과 관리 역량 강화 노력과 성과</a:t>
            </a:r>
          </a:p>
        </p:txBody>
      </p:sp>
      <p:sp>
        <p:nvSpPr>
          <p:cNvPr id="7" name="점"/>
          <p:cNvSpPr/>
          <p:nvPr/>
        </p:nvSpPr>
        <p:spPr>
          <a:xfrm>
            <a:off x="1057304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점"/>
          <p:cNvSpPr/>
          <p:nvPr/>
        </p:nvSpPr>
        <p:spPr>
          <a:xfrm>
            <a:off x="1134000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점"/>
          <p:cNvSpPr/>
          <p:nvPr/>
        </p:nvSpPr>
        <p:spPr>
          <a:xfrm>
            <a:off x="1210696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점"/>
          <p:cNvSpPr/>
          <p:nvPr/>
        </p:nvSpPr>
        <p:spPr>
          <a:xfrm>
            <a:off x="1287391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점"/>
          <p:cNvSpPr/>
          <p:nvPr/>
        </p:nvSpPr>
        <p:spPr>
          <a:xfrm>
            <a:off x="1364087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번호 띠"/>
          <p:cNvSpPr/>
          <p:nvPr/>
        </p:nvSpPr>
        <p:spPr>
          <a:xfrm>
            <a:off x="723130" y="1265478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번호 탭"/>
          <p:cNvSpPr/>
          <p:nvPr/>
        </p:nvSpPr>
        <p:spPr>
          <a:xfrm>
            <a:off x="745043" y="1287391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탭 빗면"/>
          <p:cNvSpPr/>
          <p:nvPr/>
        </p:nvSpPr>
        <p:spPr>
          <a:xfrm>
            <a:off x="1139478" y="1287391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번호"/>
          <p:cNvSpPr txBox="1"/>
          <p:nvPr/>
        </p:nvSpPr>
        <p:spPr>
          <a:xfrm>
            <a:off x="745043" y="1265478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번호 띠 제목"/>
          <p:cNvSpPr txBox="1"/>
          <p:nvPr/>
        </p:nvSpPr>
        <p:spPr>
          <a:xfrm>
            <a:off x="1369565" y="1287391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열린 소통과 긍정문화 조성에 기반한 상생 협력적 노사관계 운영</a:t>
            </a:r>
          </a:p>
        </p:txBody>
      </p:sp>
      <p:sp>
        <p:nvSpPr>
          <p:cNvPr id="17" name="형광 밑줄"/>
          <p:cNvSpPr/>
          <p:nvPr/>
        </p:nvSpPr>
        <p:spPr>
          <a:xfrm>
            <a:off x="723130" y="1846174"/>
            <a:ext cx="354544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소제목"/>
          <p:cNvSpPr txBox="1"/>
          <p:nvPr/>
        </p:nvSpPr>
        <p:spPr>
          <a:xfrm>
            <a:off x="723130" y="169278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공감대 형성 기반 열린 소통채널 운영·긍정 조직문화 조성</a:t>
            </a:r>
          </a:p>
        </p:txBody>
      </p:sp>
      <p:sp>
        <p:nvSpPr>
          <p:cNvPr id="19" name="태그칩"/>
          <p:cNvSpPr/>
          <p:nvPr/>
        </p:nvSpPr>
        <p:spPr>
          <a:xfrm>
            <a:off x="4367188" y="1725652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20" name="표 외곽"/>
          <p:cNvSpPr/>
          <p:nvPr/>
        </p:nvSpPr>
        <p:spPr>
          <a:xfrm>
            <a:off x="723130" y="1977652"/>
            <a:ext cx="6300000" cy="162889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레일"/>
          <p:cNvSpPr/>
          <p:nvPr/>
        </p:nvSpPr>
        <p:spPr>
          <a:xfrm>
            <a:off x="734087" y="1994087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22" name="본문"/>
          <p:cNvSpPr txBox="1"/>
          <p:nvPr/>
        </p:nvSpPr>
        <p:spPr>
          <a:xfrm>
            <a:off x="1347652" y="2016000"/>
            <a:ext cx="5648087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87.3 ↔ 88.7점)</a:t>
            </a:r>
          </a:p>
        </p:txBody>
      </p:sp>
      <p:sp>
        <p:nvSpPr>
          <p:cNvPr id="23" name="레일"/>
          <p:cNvSpPr/>
          <p:nvPr/>
        </p:nvSpPr>
        <p:spPr>
          <a:xfrm>
            <a:off x="734087" y="2446967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24" name="레일 삼각형"/>
          <p:cNvSpPr/>
          <p:nvPr/>
        </p:nvSpPr>
        <p:spPr>
          <a:xfrm>
            <a:off x="734086" y="2446966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머리칸"/>
          <p:cNvSpPr/>
          <p:nvPr/>
        </p:nvSpPr>
        <p:spPr>
          <a:xfrm>
            <a:off x="1347652" y="2468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26" name="머리칸"/>
          <p:cNvSpPr/>
          <p:nvPr/>
        </p:nvSpPr>
        <p:spPr>
          <a:xfrm>
            <a:off x="4171696" y="2468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27" name="칸 본문"/>
          <p:cNvSpPr txBox="1"/>
          <p:nvPr/>
        </p:nvSpPr>
        <p:spPr>
          <a:xfrm>
            <a:off x="1358609" y="2709923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수시로 소통해 해결하고 서로 존중·협력하겠다.”</a:t>
            </a:r>
          </a:p>
        </p:txBody>
      </p:sp>
      <p:sp>
        <p:nvSpPr>
          <p:cNvPr id="28" name="칸 본문"/>
          <p:cNvSpPr txBox="1"/>
          <p:nvPr/>
        </p:nvSpPr>
        <p:spPr>
          <a:xfrm>
            <a:off x="4182652" y="2709923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71696" y="2742793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레일"/>
          <p:cNvSpPr/>
          <p:nvPr/>
        </p:nvSpPr>
        <p:spPr>
          <a:xfrm>
            <a:off x="734087" y="3129934"/>
            <a:ext cx="580696" cy="46017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1" name="레일 삼각형"/>
          <p:cNvSpPr/>
          <p:nvPr/>
        </p:nvSpPr>
        <p:spPr>
          <a:xfrm>
            <a:off x="734086" y="3129933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태그"/>
          <p:cNvSpPr/>
          <p:nvPr/>
        </p:nvSpPr>
        <p:spPr>
          <a:xfrm>
            <a:off x="1347652" y="3173760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33" name="태그 설명"/>
          <p:cNvSpPr txBox="1"/>
          <p:nvPr/>
        </p:nvSpPr>
        <p:spPr>
          <a:xfrm>
            <a:off x="2470605" y="3162803"/>
            <a:ext cx="452513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34" name="태그"/>
          <p:cNvSpPr/>
          <p:nvPr/>
        </p:nvSpPr>
        <p:spPr>
          <a:xfrm>
            <a:off x="1347652" y="3370977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35" name="태그 설명"/>
          <p:cNvSpPr txBox="1"/>
          <p:nvPr/>
        </p:nvSpPr>
        <p:spPr>
          <a:xfrm>
            <a:off x="2470605" y="3360021"/>
            <a:ext cx="4525134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  <p:sp>
        <p:nvSpPr>
          <p:cNvPr id="36" name="삼각 화살표"/>
          <p:cNvSpPr/>
          <p:nvPr/>
        </p:nvSpPr>
        <p:spPr>
          <a:xfrm>
            <a:off x="4010086" y="3650368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패널 외곽"/>
          <p:cNvSpPr/>
          <p:nvPr/>
        </p:nvSpPr>
        <p:spPr>
          <a:xfrm>
            <a:off x="723130" y="3874977"/>
            <a:ext cx="3125348" cy="225159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패널 머리"/>
          <p:cNvSpPr/>
          <p:nvPr/>
        </p:nvSpPr>
        <p:spPr>
          <a:xfrm>
            <a:off x="723130" y="387497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39" name="레일"/>
          <p:cNvSpPr/>
          <p:nvPr/>
        </p:nvSpPr>
        <p:spPr>
          <a:xfrm>
            <a:off x="756000" y="4148890"/>
            <a:ext cx="739565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레일 태그"/>
          <p:cNvSpPr/>
          <p:nvPr/>
        </p:nvSpPr>
        <p:spPr>
          <a:xfrm>
            <a:off x="845984" y="4192717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조직소통</a:t>
            </a:r>
          </a:p>
        </p:txBody>
      </p:sp>
      <p:sp>
        <p:nvSpPr>
          <p:cNvPr id="41" name="레일 라벨"/>
          <p:cNvSpPr txBox="1"/>
          <p:nvPr/>
        </p:nvSpPr>
        <p:spPr>
          <a:xfrm>
            <a:off x="756000" y="4378977"/>
            <a:ext cx="739565" cy="3816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열린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협의회</a:t>
            </a:r>
          </a:p>
        </p:txBody>
      </p:sp>
      <p:sp>
        <p:nvSpPr>
          <p:cNvPr id="42" name="패널 본문"/>
          <p:cNvSpPr txBox="1"/>
          <p:nvPr/>
        </p:nvSpPr>
        <p:spPr>
          <a:xfrm>
            <a:off x="1539391" y="4137934"/>
            <a:ext cx="2276217" cy="65557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협의회 운영(41명 참관)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안건 이행현황 점검·공유로 환류체계 강화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39391" y="4793510"/>
            <a:ext cx="225430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레일"/>
          <p:cNvSpPr/>
          <p:nvPr/>
        </p:nvSpPr>
        <p:spPr>
          <a:xfrm>
            <a:off x="756000" y="4804466"/>
            <a:ext cx="739565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레일 태그"/>
          <p:cNvSpPr/>
          <p:nvPr/>
        </p:nvSpPr>
        <p:spPr>
          <a:xfrm>
            <a:off x="845984" y="4848292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46" name="레일 라벨"/>
          <p:cNvSpPr txBox="1"/>
          <p:nvPr/>
        </p:nvSpPr>
        <p:spPr>
          <a:xfrm>
            <a:off x="756000" y="5034553"/>
            <a:ext cx="739565" cy="3816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찾아가는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47" name="패널 본문"/>
          <p:cNvSpPr txBox="1"/>
          <p:nvPr/>
        </p:nvSpPr>
        <p:spPr>
          <a:xfrm>
            <a:off x="1539391" y="4793510"/>
            <a:ext cx="2276217" cy="65557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참관(3개 조직)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청사 공동조사·제거(8개소)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39391" y="5449085"/>
            <a:ext cx="225430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레일"/>
          <p:cNvSpPr/>
          <p:nvPr/>
        </p:nvSpPr>
        <p:spPr>
          <a:xfrm>
            <a:off x="756000" y="5460042"/>
            <a:ext cx="739565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레일 태그"/>
          <p:cNvSpPr/>
          <p:nvPr/>
        </p:nvSpPr>
        <p:spPr>
          <a:xfrm>
            <a:off x="845984" y="5503868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세대소통</a:t>
            </a:r>
          </a:p>
        </p:txBody>
      </p:sp>
      <p:sp>
        <p:nvSpPr>
          <p:cNvPr id="51" name="레일 라벨"/>
          <p:cNvSpPr txBox="1"/>
          <p:nvPr/>
        </p:nvSpPr>
        <p:spPr>
          <a:xfrm>
            <a:off x="756000" y="5690129"/>
            <a:ext cx="739565" cy="3816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미래세대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</a:t>
            </a:r>
          </a:p>
        </p:txBody>
      </p:sp>
      <p:sp>
        <p:nvSpPr>
          <p:cNvPr id="52" name="패널 본문"/>
          <p:cNvSpPr txBox="1"/>
          <p:nvPr/>
        </p:nvSpPr>
        <p:spPr>
          <a:xfrm>
            <a:off x="1539391" y="5449085"/>
            <a:ext cx="2276217" cy="65557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주니어 16명·시니어 9명 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혁신과제 발굴(4건)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자유토론(5개 주제)</a:t>
            </a:r>
          </a:p>
        </p:txBody>
      </p:sp>
      <p:sp>
        <p:nvSpPr>
          <p:cNvPr id="53" name="패널 외곽"/>
          <p:cNvSpPr/>
          <p:nvPr/>
        </p:nvSpPr>
        <p:spPr>
          <a:xfrm>
            <a:off x="3897783" y="3874977"/>
            <a:ext cx="3125348" cy="225159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패널 머리"/>
          <p:cNvSpPr/>
          <p:nvPr/>
        </p:nvSpPr>
        <p:spPr>
          <a:xfrm>
            <a:off x="3897783" y="387497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55" name="레일"/>
          <p:cNvSpPr/>
          <p:nvPr/>
        </p:nvSpPr>
        <p:spPr>
          <a:xfrm>
            <a:off x="3930652" y="4148890"/>
            <a:ext cx="734087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레일 태그"/>
          <p:cNvSpPr/>
          <p:nvPr/>
        </p:nvSpPr>
        <p:spPr>
          <a:xfrm>
            <a:off x="4017897" y="4192717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신뢰문화</a:t>
            </a:r>
          </a:p>
        </p:txBody>
      </p:sp>
      <p:sp>
        <p:nvSpPr>
          <p:cNvPr id="57" name="레일 라벨"/>
          <p:cNvSpPr txBox="1"/>
          <p:nvPr/>
        </p:nvSpPr>
        <p:spPr>
          <a:xfrm>
            <a:off x="3930652" y="4378977"/>
            <a:ext cx="734087" cy="3816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데일리 미팅</a:t>
            </a:r>
          </a:p>
        </p:txBody>
      </p:sp>
      <p:sp>
        <p:nvSpPr>
          <p:cNvPr id="58" name="패널 본문"/>
          <p:cNvSpPr txBox="1"/>
          <p:nvPr/>
        </p:nvSpPr>
        <p:spPr>
          <a:xfrm>
            <a:off x="4708565" y="4137934"/>
            <a:ext cx="2281696" cy="65557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노조집행부·주무부서장·실무자 데일리 미팅(매일 2회)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현안에 대한 실시간 소통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708565" y="4793510"/>
            <a:ext cx="2259783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0" name="레일"/>
          <p:cNvSpPr/>
          <p:nvPr/>
        </p:nvSpPr>
        <p:spPr>
          <a:xfrm>
            <a:off x="3930652" y="4804466"/>
            <a:ext cx="734087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레일 태그"/>
          <p:cNvSpPr/>
          <p:nvPr/>
        </p:nvSpPr>
        <p:spPr>
          <a:xfrm>
            <a:off x="4017897" y="4848292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포용문화</a:t>
            </a:r>
          </a:p>
        </p:txBody>
      </p:sp>
      <p:sp>
        <p:nvSpPr>
          <p:cNvPr id="62" name="레일 라벨"/>
          <p:cNvSpPr txBox="1"/>
          <p:nvPr/>
        </p:nvSpPr>
        <p:spPr>
          <a:xfrm>
            <a:off x="3930652" y="5034553"/>
            <a:ext cx="734087" cy="3816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존중과 화합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문화 조성</a:t>
            </a:r>
          </a:p>
        </p:txBody>
      </p:sp>
      <p:sp>
        <p:nvSpPr>
          <p:cNvPr id="63" name="패널 본문"/>
          <p:cNvSpPr txBox="1"/>
          <p:nvPr/>
        </p:nvSpPr>
        <p:spPr>
          <a:xfrm>
            <a:off x="4708565" y="4793510"/>
            <a:ext cx="2281696" cy="65557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매월 11·22일, 화합의 날 지정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 자녀 초청 탐험기 행사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 참여 명예로운퇴임식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708565" y="5449085"/>
            <a:ext cx="2259783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5" name="레일"/>
          <p:cNvSpPr/>
          <p:nvPr/>
        </p:nvSpPr>
        <p:spPr>
          <a:xfrm>
            <a:off x="3930652" y="5460042"/>
            <a:ext cx="734087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레일 태그"/>
          <p:cNvSpPr/>
          <p:nvPr/>
        </p:nvSpPr>
        <p:spPr>
          <a:xfrm>
            <a:off x="4017897" y="5503868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협력문화</a:t>
            </a:r>
          </a:p>
        </p:txBody>
      </p:sp>
      <p:sp>
        <p:nvSpPr>
          <p:cNvPr id="67" name="레일 라벨"/>
          <p:cNvSpPr txBox="1"/>
          <p:nvPr/>
        </p:nvSpPr>
        <p:spPr>
          <a:xfrm>
            <a:off x="3930652" y="5690129"/>
            <a:ext cx="734087" cy="3816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파트너십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프로그램</a:t>
            </a:r>
          </a:p>
        </p:txBody>
      </p:sp>
      <p:sp>
        <p:nvSpPr>
          <p:cNvPr id="68" name="패널 본문"/>
          <p:cNvSpPr txBox="1"/>
          <p:nvPr/>
        </p:nvSpPr>
        <p:spPr>
          <a:xfrm>
            <a:off x="4708565" y="5449085"/>
            <a:ext cx="2281696" cy="65557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팀워크 '동행'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공유와 공감대 형성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형광 밑줄"/>
          <p:cNvSpPr/>
          <p:nvPr/>
        </p:nvSpPr>
        <p:spPr>
          <a:xfrm>
            <a:off x="536870" y="920348"/>
            <a:ext cx="271998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소제목"/>
          <p:cNvSpPr txBox="1"/>
          <p:nvPr/>
        </p:nvSpPr>
        <p:spPr>
          <a:xfrm>
            <a:off x="536870" y="76695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 상생협력 선포 및 상생의 달 지정·운영</a:t>
            </a:r>
          </a:p>
        </p:txBody>
      </p:sp>
      <p:sp>
        <p:nvSpPr>
          <p:cNvPr id="9" name="태그칩"/>
          <p:cNvSpPr/>
          <p:nvPr/>
        </p:nvSpPr>
        <p:spPr>
          <a:xfrm>
            <a:off x="3355467" y="799826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0" name="태그칩"/>
          <p:cNvSpPr/>
          <p:nvPr/>
        </p:nvSpPr>
        <p:spPr>
          <a:xfrm>
            <a:off x="3726618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11" name="라벨 박스"/>
          <p:cNvSpPr/>
          <p:nvPr/>
        </p:nvSpPr>
        <p:spPr>
          <a:xfrm>
            <a:off x="536870" y="106278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레일"/>
          <p:cNvSpPr/>
          <p:nvPr/>
        </p:nvSpPr>
        <p:spPr>
          <a:xfrm>
            <a:off x="547826" y="1073739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1172348" y="1079217"/>
            <a:ext cx="5631652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소통·긍정 조직문화를 기반으로 상생 협력적 노사관계 문화 확산, 파트너십 강화 추진</a:t>
            </a:r>
          </a:p>
        </p:txBody>
      </p:sp>
      <p:sp>
        <p:nvSpPr>
          <p:cNvPr id="14" name="표 외곽"/>
          <p:cNvSpPr/>
          <p:nvPr/>
        </p:nvSpPr>
        <p:spPr>
          <a:xfrm>
            <a:off x="536870" y="1396957"/>
            <a:ext cx="6300000" cy="267160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413391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16" name="머리칸"/>
          <p:cNvSpPr/>
          <p:nvPr/>
        </p:nvSpPr>
        <p:spPr>
          <a:xfrm>
            <a:off x="1161391" y="143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7" name="머리칸"/>
          <p:cNvSpPr/>
          <p:nvPr/>
        </p:nvSpPr>
        <p:spPr>
          <a:xfrm>
            <a:off x="3985435" y="143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8" name="칸 본문"/>
          <p:cNvSpPr txBox="1"/>
          <p:nvPr/>
        </p:nvSpPr>
        <p:spPr>
          <a:xfrm>
            <a:off x="1172348" y="1676348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발전을 위해서는 노동조합을 동반자로 인식하고 협력 증대 필수적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3996391" y="1676348"/>
            <a:ext cx="280213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개선을 위해서는 공단과의 파트너십 강화 필요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85435" y="1709217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레일"/>
          <p:cNvSpPr/>
          <p:nvPr/>
        </p:nvSpPr>
        <p:spPr>
          <a:xfrm>
            <a:off x="547826" y="2096358"/>
            <a:ext cx="580696" cy="85188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 태그"/>
          <p:cNvSpPr/>
          <p:nvPr/>
        </p:nvSpPr>
        <p:spPr>
          <a:xfrm>
            <a:off x="668144" y="2260706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23" name="레일 라벨"/>
          <p:cNvSpPr txBox="1"/>
          <p:nvPr/>
        </p:nvSpPr>
        <p:spPr>
          <a:xfrm>
            <a:off x="547826" y="2446967"/>
            <a:ext cx="580696" cy="47936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24" name="레일 삼각형"/>
          <p:cNvSpPr/>
          <p:nvPr/>
        </p:nvSpPr>
        <p:spPr>
          <a:xfrm>
            <a:off x="547826" y="209635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머리칸"/>
          <p:cNvSpPr/>
          <p:nvPr/>
        </p:nvSpPr>
        <p:spPr>
          <a:xfrm>
            <a:off x="1161391" y="2118271"/>
            <a:ext cx="4519565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26" name="칸 본문"/>
          <p:cNvSpPr txBox="1"/>
          <p:nvPr/>
        </p:nvSpPr>
        <p:spPr>
          <a:xfrm>
            <a:off x="1172348" y="2359315"/>
            <a:ext cx="4514087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27" name="사진 칸"/>
          <p:cNvSpPr/>
          <p:nvPr/>
        </p:nvSpPr>
        <p:spPr>
          <a:xfrm>
            <a:off x="5730261" y="2123750"/>
            <a:ext cx="1079217" cy="797103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28" name="레일"/>
          <p:cNvSpPr/>
          <p:nvPr/>
        </p:nvSpPr>
        <p:spPr>
          <a:xfrm>
            <a:off x="547826" y="2964678"/>
            <a:ext cx="580696" cy="1087450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레일 태그"/>
          <p:cNvSpPr/>
          <p:nvPr/>
        </p:nvSpPr>
        <p:spPr>
          <a:xfrm>
            <a:off x="668144" y="3129026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30" name="레일 라벨"/>
          <p:cNvSpPr txBox="1"/>
          <p:nvPr/>
        </p:nvSpPr>
        <p:spPr>
          <a:xfrm>
            <a:off x="547826" y="3315287"/>
            <a:ext cx="580696" cy="714929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31" name="레일 삼각형"/>
          <p:cNvSpPr/>
          <p:nvPr/>
        </p:nvSpPr>
        <p:spPr>
          <a:xfrm>
            <a:off x="547826" y="296467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배너"/>
          <p:cNvSpPr/>
          <p:nvPr/>
        </p:nvSpPr>
        <p:spPr>
          <a:xfrm>
            <a:off x="1161391" y="2986591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33" name="머리칸"/>
          <p:cNvSpPr/>
          <p:nvPr/>
        </p:nvSpPr>
        <p:spPr>
          <a:xfrm>
            <a:off x="1161391" y="322215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34" name="머리칸"/>
          <p:cNvSpPr/>
          <p:nvPr/>
        </p:nvSpPr>
        <p:spPr>
          <a:xfrm>
            <a:off x="3044087" y="322215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35" name="머리칸"/>
          <p:cNvSpPr/>
          <p:nvPr/>
        </p:nvSpPr>
        <p:spPr>
          <a:xfrm>
            <a:off x="4926783" y="322215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36" name="칸 본문"/>
          <p:cNvSpPr txBox="1"/>
          <p:nvPr/>
        </p:nvSpPr>
        <p:spPr>
          <a:xfrm>
            <a:off x="1172348" y="3463200"/>
            <a:ext cx="1860783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37" name="칸 본문"/>
          <p:cNvSpPr txBox="1"/>
          <p:nvPr/>
        </p:nvSpPr>
        <p:spPr>
          <a:xfrm>
            <a:off x="3055043" y="3463200"/>
            <a:ext cx="1860783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44087" y="3496070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칸 본문"/>
          <p:cNvSpPr txBox="1"/>
          <p:nvPr/>
        </p:nvSpPr>
        <p:spPr>
          <a:xfrm>
            <a:off x="4937739" y="3463200"/>
            <a:ext cx="1860783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26783" y="3496070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표 외곽"/>
          <p:cNvSpPr/>
          <p:nvPr/>
        </p:nvSpPr>
        <p:spPr>
          <a:xfrm>
            <a:off x="536870" y="4112390"/>
            <a:ext cx="6300000" cy="710358"/>
          </a:xfrm>
          <a:prstGeom prst="rect">
            <a:avLst/>
          </a:prstGeom>
          <a:solidFill>
            <a:srgbClr val="FFFFFF"/>
          </a:solidFill>
          <a:ln w="9525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레일"/>
          <p:cNvSpPr/>
          <p:nvPr/>
        </p:nvSpPr>
        <p:spPr>
          <a:xfrm>
            <a:off x="547826" y="4128824"/>
            <a:ext cx="580696" cy="677489"/>
          </a:xfrm>
          <a:prstGeom prst="rect">
            <a:avLst/>
          </a:prstGeom>
          <a:pattFill prst="trellis">
            <a:fgClr>
              <a:srgbClr val="00A4A8"/>
            </a:fgClr>
            <a:bgClr>
              <a:srgbClr val="008C6B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3" name="머리칸"/>
          <p:cNvSpPr/>
          <p:nvPr/>
        </p:nvSpPr>
        <p:spPr>
          <a:xfrm>
            <a:off x="1161391" y="415073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44" name="머리칸"/>
          <p:cNvSpPr/>
          <p:nvPr/>
        </p:nvSpPr>
        <p:spPr>
          <a:xfrm>
            <a:off x="3985435" y="415073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45" name="칸 본문"/>
          <p:cNvSpPr txBox="1"/>
          <p:nvPr/>
        </p:nvSpPr>
        <p:spPr>
          <a:xfrm>
            <a:off x="1172348" y="4391781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46" name="칸 본문"/>
          <p:cNvSpPr txBox="1"/>
          <p:nvPr/>
        </p:nvSpPr>
        <p:spPr>
          <a:xfrm>
            <a:off x="3996391" y="4391781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985435" y="4424650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핵심성과 박스"/>
          <p:cNvSpPr/>
          <p:nvPr/>
        </p:nvSpPr>
        <p:spPr>
          <a:xfrm>
            <a:off x="536870" y="4910400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핵심성과 라벨"/>
          <p:cNvSpPr/>
          <p:nvPr/>
        </p:nvSpPr>
        <p:spPr>
          <a:xfrm>
            <a:off x="569739" y="4948748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50" name="핵심성과 문구"/>
          <p:cNvSpPr txBox="1"/>
          <p:nvPr/>
        </p:nvSpPr>
        <p:spPr>
          <a:xfrm>
            <a:off x="1314783" y="4926835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노사소통지수 전년대비 1.6점 상승(89.3 → 90.9점)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4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번호"/>
          <p:cNvSpPr txBox="1"/>
          <p:nvPr/>
        </p:nvSpPr>
        <p:spPr>
          <a:xfrm>
            <a:off x="745043" y="777913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번호 띠 제목"/>
          <p:cNvSpPr txBox="1"/>
          <p:nvPr/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교육체계 수립과 내·외부 역량 활용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1358609"/>
            <a:ext cx="320386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 txBox="1"/>
          <p:nvPr/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노사 현안별 전문성을 추구하는 노무 역량 교육체계</a:t>
            </a:r>
          </a:p>
        </p:txBody>
      </p:sp>
      <p:sp>
        <p:nvSpPr>
          <p:cNvPr id="11" name="태그칩"/>
          <p:cNvSpPr/>
          <p:nvPr/>
        </p:nvSpPr>
        <p:spPr>
          <a:xfrm>
            <a:off x="4025603" y="1238087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2" name="라벨 박스"/>
          <p:cNvSpPr/>
          <p:nvPr/>
        </p:nvSpPr>
        <p:spPr>
          <a:xfrm>
            <a:off x="723130" y="1501043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레일"/>
          <p:cNvSpPr/>
          <p:nvPr/>
        </p:nvSpPr>
        <p:spPr>
          <a:xfrm>
            <a:off x="734087" y="1512000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14" name="가운데 글"/>
          <p:cNvSpPr txBox="1"/>
          <p:nvPr/>
        </p:nvSpPr>
        <p:spPr>
          <a:xfrm>
            <a:off x="1358609" y="1517478"/>
            <a:ext cx="5631652" cy="26204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15" name="라벨 박스"/>
          <p:cNvSpPr/>
          <p:nvPr/>
        </p:nvSpPr>
        <p:spPr>
          <a:xfrm>
            <a:off x="723130" y="1850744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레일"/>
          <p:cNvSpPr/>
          <p:nvPr/>
        </p:nvSpPr>
        <p:spPr>
          <a:xfrm>
            <a:off x="734087" y="1861701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7" name="머리칸"/>
          <p:cNvSpPr/>
          <p:nvPr/>
        </p:nvSpPr>
        <p:spPr>
          <a:xfrm>
            <a:off x="1358609" y="1878136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8" name="머리칸"/>
          <p:cNvSpPr/>
          <p:nvPr/>
        </p:nvSpPr>
        <p:spPr>
          <a:xfrm>
            <a:off x="4174435" y="1878136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1369565" y="2119179"/>
            <a:ext cx="2793913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20" name="칸 본문"/>
          <p:cNvSpPr txBox="1"/>
          <p:nvPr/>
        </p:nvSpPr>
        <p:spPr>
          <a:xfrm>
            <a:off x="4185391" y="2119179"/>
            <a:ext cx="2793913" cy="41453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74435" y="2152049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라벨 박스"/>
          <p:cNvSpPr/>
          <p:nvPr/>
        </p:nvSpPr>
        <p:spPr>
          <a:xfrm>
            <a:off x="723130" y="2604929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"/>
          <p:cNvSpPr/>
          <p:nvPr/>
        </p:nvSpPr>
        <p:spPr>
          <a:xfrm>
            <a:off x="734087" y="2615885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24" name="강조 바"/>
          <p:cNvSpPr/>
          <p:nvPr/>
        </p:nvSpPr>
        <p:spPr>
          <a:xfrm>
            <a:off x="1358609" y="2637798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강조 바 글"/>
          <p:cNvSpPr txBox="1"/>
          <p:nvPr/>
        </p:nvSpPr>
        <p:spPr>
          <a:xfrm>
            <a:off x="1358609" y="2637798"/>
            <a:ext cx="5631652" cy="22917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제도에 유연하게 대응할 수 있는 역량 구비·강화</a:t>
            </a:r>
          </a:p>
        </p:txBody>
      </p:sp>
      <p:sp>
        <p:nvSpPr>
          <p:cNvPr id="26" name="라벨 박스"/>
          <p:cNvSpPr/>
          <p:nvPr/>
        </p:nvSpPr>
        <p:spPr>
          <a:xfrm>
            <a:off x="723130" y="2954630"/>
            <a:ext cx="6300000" cy="68844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레일"/>
          <p:cNvSpPr/>
          <p:nvPr/>
        </p:nvSpPr>
        <p:spPr>
          <a:xfrm>
            <a:off x="734087" y="2965586"/>
            <a:ext cx="591652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28" name="머리칸"/>
          <p:cNvSpPr/>
          <p:nvPr/>
        </p:nvSpPr>
        <p:spPr>
          <a:xfrm>
            <a:off x="1358609" y="2982021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29" name="머리칸"/>
          <p:cNvSpPr/>
          <p:nvPr/>
        </p:nvSpPr>
        <p:spPr>
          <a:xfrm>
            <a:off x="3235826" y="2982021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30" name="머리칸"/>
          <p:cNvSpPr/>
          <p:nvPr/>
        </p:nvSpPr>
        <p:spPr>
          <a:xfrm>
            <a:off x="5113043" y="2982021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1369565" y="3223064"/>
            <a:ext cx="1855304" cy="40357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32" name="칸 본문"/>
          <p:cNvSpPr txBox="1"/>
          <p:nvPr/>
        </p:nvSpPr>
        <p:spPr>
          <a:xfrm>
            <a:off x="3246783" y="3223064"/>
            <a:ext cx="1855304" cy="40357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35826" y="3255934"/>
            <a:ext cx="0" cy="33783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칸 본문"/>
          <p:cNvSpPr txBox="1"/>
          <p:nvPr/>
        </p:nvSpPr>
        <p:spPr>
          <a:xfrm>
            <a:off x="5124000" y="3223064"/>
            <a:ext cx="1855304" cy="40357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13043" y="3255934"/>
            <a:ext cx="0" cy="33783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삼각 화살표"/>
          <p:cNvSpPr/>
          <p:nvPr/>
        </p:nvSpPr>
        <p:spPr>
          <a:xfrm>
            <a:off x="4010086" y="3686900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37" name="실적표"/>
          <p:cNvGraphicFramePr>
            <a:graphicFrameLocks noGrp="1"/>
          </p:cNvGraphicFramePr>
          <p:nvPr/>
        </p:nvGraphicFramePr>
        <p:xfrm>
          <a:off x="723130" y="3944379"/>
          <a:ext cx="6300001" cy="2202263"/>
        </p:xfrm>
        <a:graphic>
          <a:graphicData uri="http://schemas.openxmlformats.org/drawingml/2006/table">
            <a:tbl>
              <a:tblPr/>
              <a:tblGrid>
                <a:gridCol w="662870"/>
                <a:gridCol w="624522"/>
                <a:gridCol w="5012609"/>
              </a:tblGrid>
              <a:tr h="230087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 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추진내용 및 실적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대상별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맞춤형 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관리자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최고지도위과정(3명)·발전방안(156명)·신규보직자 교육(41명)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 대상 노동관계법·노사관계 등 노사지식 함양 교육(178명)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노사실무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집단 노사갈등 해결·롤플레이(4명), 노무이슈·판례 학습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기본역량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 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노동교육원 MOU 양질의 노사관계 교육 콘텐츠 제공(549명)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공인노무사 초빙 단체협약 이해관계자 교육(경영진·노조집행부)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전문성 촉진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안전보건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위험성평가(154명)·재난안전체험(203명)·방재전문교육(22명)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보수예산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보수·예산·회계 담당자 전문화(145명), 승진자 내재화(285명)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 담당자 전문화 교육(47명), 제도 안내 가이드 배포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형광 밑줄"/>
          <p:cNvSpPr/>
          <p:nvPr/>
        </p:nvSpPr>
        <p:spPr>
          <a:xfrm>
            <a:off x="723130" y="6420553"/>
            <a:ext cx="2773571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소제목"/>
          <p:cNvSpPr txBox="1"/>
          <p:nvPr/>
        </p:nvSpPr>
        <p:spPr>
          <a:xfrm>
            <a:off x="723130" y="6267162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협의체 참여와 외부역량 활용으로 현안 대응</a:t>
            </a:r>
          </a:p>
        </p:txBody>
      </p:sp>
      <p:sp>
        <p:nvSpPr>
          <p:cNvPr id="40" name="태그칩"/>
          <p:cNvSpPr/>
          <p:nvPr/>
        </p:nvSpPr>
        <p:spPr>
          <a:xfrm>
            <a:off x="3595310" y="6300031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41" name="표 외곽"/>
          <p:cNvSpPr/>
          <p:nvPr/>
        </p:nvSpPr>
        <p:spPr>
          <a:xfrm>
            <a:off x="723130" y="6552031"/>
            <a:ext cx="6300000" cy="23465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레일"/>
          <p:cNvSpPr/>
          <p:nvPr/>
        </p:nvSpPr>
        <p:spPr>
          <a:xfrm>
            <a:off x="734087" y="6568466"/>
            <a:ext cx="580696" cy="114861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43" name="배너"/>
          <p:cNvSpPr/>
          <p:nvPr/>
        </p:nvSpPr>
        <p:spPr>
          <a:xfrm>
            <a:off x="1347652" y="6590379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44" name="머리칸"/>
          <p:cNvSpPr/>
          <p:nvPr/>
        </p:nvSpPr>
        <p:spPr>
          <a:xfrm>
            <a:off x="1347652" y="682594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45" name="머리칸"/>
          <p:cNvSpPr/>
          <p:nvPr/>
        </p:nvSpPr>
        <p:spPr>
          <a:xfrm>
            <a:off x="3230348" y="682594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46" name="머리칸"/>
          <p:cNvSpPr/>
          <p:nvPr/>
        </p:nvSpPr>
        <p:spPr>
          <a:xfrm>
            <a:off x="5113043" y="682594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47" name="칸 본문"/>
          <p:cNvSpPr txBox="1"/>
          <p:nvPr/>
        </p:nvSpPr>
        <p:spPr>
          <a:xfrm>
            <a:off x="1358609" y="7066988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48" name="칸 본문"/>
          <p:cNvSpPr txBox="1"/>
          <p:nvPr/>
        </p:nvSpPr>
        <p:spPr>
          <a:xfrm>
            <a:off x="3241304" y="7066988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30348" y="709985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 txBox="1"/>
          <p:nvPr/>
        </p:nvSpPr>
        <p:spPr>
          <a:xfrm>
            <a:off x="5124000" y="7066988"/>
            <a:ext cx="1860783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113043" y="709985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태그"/>
          <p:cNvSpPr/>
          <p:nvPr/>
        </p:nvSpPr>
        <p:spPr>
          <a:xfrm>
            <a:off x="1347652" y="7497955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53" name="태그 설명"/>
          <p:cNvSpPr txBox="1"/>
          <p:nvPr/>
        </p:nvSpPr>
        <p:spPr>
          <a:xfrm>
            <a:off x="1972988" y="7486998"/>
            <a:ext cx="5022751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54" name="레일"/>
          <p:cNvSpPr/>
          <p:nvPr/>
        </p:nvSpPr>
        <p:spPr>
          <a:xfrm>
            <a:off x="734087" y="7733520"/>
            <a:ext cx="580696" cy="114861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55" name="레일 삼각형"/>
          <p:cNvSpPr/>
          <p:nvPr/>
        </p:nvSpPr>
        <p:spPr>
          <a:xfrm>
            <a:off x="734086" y="7733520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배너"/>
          <p:cNvSpPr/>
          <p:nvPr/>
        </p:nvSpPr>
        <p:spPr>
          <a:xfrm>
            <a:off x="1347652" y="7755433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57" name="머리칸"/>
          <p:cNvSpPr/>
          <p:nvPr/>
        </p:nvSpPr>
        <p:spPr>
          <a:xfrm>
            <a:off x="1347652" y="799099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58" name="머리칸"/>
          <p:cNvSpPr/>
          <p:nvPr/>
        </p:nvSpPr>
        <p:spPr>
          <a:xfrm>
            <a:off x="4171696" y="799099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59" name="칸 본문"/>
          <p:cNvSpPr txBox="1"/>
          <p:nvPr/>
        </p:nvSpPr>
        <p:spPr>
          <a:xfrm>
            <a:off x="1358609" y="8232042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이슈 대응 및 제도 적법성 자문</a:t>
            </a:r>
          </a:p>
        </p:txBody>
      </p:sp>
      <p:sp>
        <p:nvSpPr>
          <p:cNvPr id="60" name="칸 본문"/>
          <p:cNvSpPr txBox="1"/>
          <p:nvPr/>
        </p:nvSpPr>
        <p:spPr>
          <a:xfrm>
            <a:off x="4182652" y="8232042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신속 대응과 정보 수집을 위한 온라인 노무포털(E-Labor) 적극 활용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171696" y="8264911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2" name="태그"/>
          <p:cNvSpPr/>
          <p:nvPr/>
        </p:nvSpPr>
        <p:spPr>
          <a:xfrm>
            <a:off x="1347652" y="8663009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63" name="태그 설명"/>
          <p:cNvSpPr txBox="1"/>
          <p:nvPr/>
        </p:nvSpPr>
        <p:spPr>
          <a:xfrm>
            <a:off x="1972988" y="8652052"/>
            <a:ext cx="5022751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· 감시단속적 근무 해제, 육아지원 3법 등</a:t>
            </a:r>
          </a:p>
        </p:txBody>
      </p:sp>
      <p:sp>
        <p:nvSpPr>
          <p:cNvPr id="64" name="핵심성과 박스"/>
          <p:cNvSpPr/>
          <p:nvPr/>
        </p:nvSpPr>
        <p:spPr>
          <a:xfrm>
            <a:off x="723130" y="8986226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핵심성과 라벨"/>
          <p:cNvSpPr/>
          <p:nvPr/>
        </p:nvSpPr>
        <p:spPr>
          <a:xfrm>
            <a:off x="756000" y="9024574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6" name="핵심성과 문구"/>
          <p:cNvSpPr txBox="1"/>
          <p:nvPr/>
        </p:nvSpPr>
        <p:spPr>
          <a:xfrm>
            <a:off x="1501043" y="9002661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노사역량지수 전년대비 0.8점 상승(90.1 → 90.9점)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평가내용 라벨"/>
          <p:cNvSpPr/>
          <p:nvPr/>
        </p:nvSpPr>
        <p:spPr>
          <a:xfrm>
            <a:off x="536870" y="766957"/>
            <a:ext cx="975130" cy="345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8" name="평가내용 제목 박스"/>
          <p:cNvSpPr/>
          <p:nvPr/>
        </p:nvSpPr>
        <p:spPr>
          <a:xfrm>
            <a:off x="1522957" y="777913"/>
            <a:ext cx="5313913" cy="323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평가내용 제목"/>
          <p:cNvSpPr txBox="1"/>
          <p:nvPr/>
        </p:nvSpPr>
        <p:spPr>
          <a:xfrm>
            <a:off x="1632522" y="788870"/>
            <a:ext cx="5127652" cy="301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노사협력을 통한 근로조건의 실질적 향상과 구체적 성과</a:t>
            </a:r>
          </a:p>
        </p:txBody>
      </p:sp>
      <p:sp>
        <p:nvSpPr>
          <p:cNvPr id="10" name="점"/>
          <p:cNvSpPr/>
          <p:nvPr/>
        </p:nvSpPr>
        <p:spPr>
          <a:xfrm>
            <a:off x="871043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점"/>
          <p:cNvSpPr/>
          <p:nvPr/>
        </p:nvSpPr>
        <p:spPr>
          <a:xfrm>
            <a:off x="947739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점"/>
          <p:cNvSpPr/>
          <p:nvPr/>
        </p:nvSpPr>
        <p:spPr>
          <a:xfrm>
            <a:off x="1024435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점"/>
          <p:cNvSpPr/>
          <p:nvPr/>
        </p:nvSpPr>
        <p:spPr>
          <a:xfrm>
            <a:off x="1101130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점"/>
          <p:cNvSpPr/>
          <p:nvPr/>
        </p:nvSpPr>
        <p:spPr>
          <a:xfrm>
            <a:off x="1177826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번호 띠"/>
          <p:cNvSpPr/>
          <p:nvPr/>
        </p:nvSpPr>
        <p:spPr>
          <a:xfrm>
            <a:off x="536870" y="1254522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번호 탭"/>
          <p:cNvSpPr/>
          <p:nvPr/>
        </p:nvSpPr>
        <p:spPr>
          <a:xfrm>
            <a:off x="558782" y="1276434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탭 빗면"/>
          <p:cNvSpPr/>
          <p:nvPr/>
        </p:nvSpPr>
        <p:spPr>
          <a:xfrm>
            <a:off x="953217" y="1276434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번호"/>
          <p:cNvSpPr txBox="1"/>
          <p:nvPr/>
        </p:nvSpPr>
        <p:spPr>
          <a:xfrm>
            <a:off x="558783" y="1254522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9" name="번호 띠 제목"/>
          <p:cNvSpPr txBox="1"/>
          <p:nvPr/>
        </p:nvSpPr>
        <p:spPr>
          <a:xfrm>
            <a:off x="1183304" y="1276435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무분규 임금·단체협약을 통한 근로조건의 실질적 향상</a:t>
            </a:r>
          </a:p>
        </p:txBody>
      </p:sp>
      <p:sp>
        <p:nvSpPr>
          <p:cNvPr id="20" name="형광 밑줄"/>
          <p:cNvSpPr/>
          <p:nvPr/>
        </p:nvSpPr>
        <p:spPr>
          <a:xfrm>
            <a:off x="536870" y="1835217"/>
            <a:ext cx="348784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소제목"/>
          <p:cNvSpPr txBox="1"/>
          <p:nvPr/>
        </p:nvSpPr>
        <p:spPr>
          <a:xfrm>
            <a:off x="536870" y="1681826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갈등 있을 땐 소통으로! 15년 연속 무분규 임금협약 체결</a:t>
            </a:r>
          </a:p>
        </p:txBody>
      </p:sp>
      <p:sp>
        <p:nvSpPr>
          <p:cNvPr id="22" name="태그칩"/>
          <p:cNvSpPr/>
          <p:nvPr/>
        </p:nvSpPr>
        <p:spPr>
          <a:xfrm>
            <a:off x="4123324" y="171469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23" name="표 외곽"/>
          <p:cNvSpPr/>
          <p:nvPr/>
        </p:nvSpPr>
        <p:spPr>
          <a:xfrm>
            <a:off x="536870" y="1966696"/>
            <a:ext cx="6300000" cy="71035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547826" y="1983130"/>
            <a:ext cx="580696" cy="67748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5" name="머리칸"/>
          <p:cNvSpPr/>
          <p:nvPr/>
        </p:nvSpPr>
        <p:spPr>
          <a:xfrm>
            <a:off x="1161391" y="20050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6" name="머리칸"/>
          <p:cNvSpPr/>
          <p:nvPr/>
        </p:nvSpPr>
        <p:spPr>
          <a:xfrm>
            <a:off x="3985435" y="20050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7" name="칸 본문"/>
          <p:cNvSpPr txBox="1"/>
          <p:nvPr/>
        </p:nvSpPr>
        <p:spPr>
          <a:xfrm>
            <a:off x="1172348" y="2246087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'25년도 공공기관 총인건비 인상률 3.0% 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인상 기조(예산지침)</a:t>
            </a:r>
          </a:p>
        </p:txBody>
      </p:sp>
      <p:sp>
        <p:nvSpPr>
          <p:cNvPr id="28" name="칸 본문"/>
          <p:cNvSpPr txBox="1"/>
          <p:nvPr/>
        </p:nvSpPr>
        <p:spPr>
          <a:xfrm>
            <a:off x="3996391" y="2246087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직종·직급 간 동일 인상률 불만 제기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낮은 보수로 하위직·교통직·실무직 불만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85435" y="227895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삼각 화살표"/>
          <p:cNvSpPr/>
          <p:nvPr/>
        </p:nvSpPr>
        <p:spPr>
          <a:xfrm>
            <a:off x="3823826" y="2720880"/>
            <a:ext cx="350608" cy="142434"/>
          </a:xfrm>
          <a:custGeom>
            <a:avLst/>
            <a:gdLst/>
            <a:ahLst/>
            <a:cxnLst/>
            <a:rect l="l" t="t" r="r" b="b"/>
            <a:pathLst>
              <a:path w="350608" h="142434">
                <a:moveTo>
                  <a:pt x="0" y="0"/>
                </a:moveTo>
                <a:lnTo>
                  <a:pt x="350608" y="0"/>
                </a:lnTo>
                <a:lnTo>
                  <a:pt x="175304" y="14243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표 외곽"/>
          <p:cNvSpPr/>
          <p:nvPr/>
        </p:nvSpPr>
        <p:spPr>
          <a:xfrm>
            <a:off x="536870" y="2934532"/>
            <a:ext cx="6300000" cy="288525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레일"/>
          <p:cNvSpPr/>
          <p:nvPr/>
        </p:nvSpPr>
        <p:spPr>
          <a:xfrm>
            <a:off x="547826" y="2950967"/>
            <a:ext cx="580696" cy="67748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33" name="머리칸"/>
          <p:cNvSpPr/>
          <p:nvPr/>
        </p:nvSpPr>
        <p:spPr>
          <a:xfrm>
            <a:off x="1161391" y="2972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34" name="머리칸"/>
          <p:cNvSpPr/>
          <p:nvPr/>
        </p:nvSpPr>
        <p:spPr>
          <a:xfrm>
            <a:off x="3985435" y="2972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35" name="칸 본문"/>
          <p:cNvSpPr txBox="1"/>
          <p:nvPr/>
        </p:nvSpPr>
        <p:spPr>
          <a:xfrm>
            <a:off x="1172348" y="3213923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인상·직무급 확대 요구</a:t>
            </a:r>
          </a:p>
        </p:txBody>
      </p:sp>
      <p:sp>
        <p:nvSpPr>
          <p:cNvPr id="36" name="칸 본문"/>
          <p:cNvSpPr txBox="1"/>
          <p:nvPr/>
        </p:nvSpPr>
        <p:spPr>
          <a:xfrm>
            <a:off x="3996391" y="3213923"/>
            <a:ext cx="2802130" cy="39261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근로시간·직무급 확대 반대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85435" y="3246793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8" name="레일"/>
          <p:cNvSpPr/>
          <p:nvPr/>
        </p:nvSpPr>
        <p:spPr>
          <a:xfrm>
            <a:off x="547826" y="3644890"/>
            <a:ext cx="580696" cy="101532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39" name="레일 삼각형"/>
          <p:cNvSpPr/>
          <p:nvPr/>
        </p:nvSpPr>
        <p:spPr>
          <a:xfrm>
            <a:off x="547826" y="364489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단계"/>
          <p:cNvSpPr/>
          <p:nvPr/>
        </p:nvSpPr>
        <p:spPr>
          <a:xfrm>
            <a:off x="1161391" y="3666803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41" name="단계"/>
          <p:cNvSpPr/>
          <p:nvPr/>
        </p:nvSpPr>
        <p:spPr>
          <a:xfrm>
            <a:off x="2573413" y="3666803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42" name="단계"/>
          <p:cNvSpPr/>
          <p:nvPr/>
        </p:nvSpPr>
        <p:spPr>
          <a:xfrm>
            <a:off x="3985435" y="3666803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43" name="단계"/>
          <p:cNvSpPr/>
          <p:nvPr/>
        </p:nvSpPr>
        <p:spPr>
          <a:xfrm>
            <a:off x="5397457" y="3666803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44" name="단계 삼각형"/>
          <p:cNvSpPr/>
          <p:nvPr/>
        </p:nvSpPr>
        <p:spPr>
          <a:xfrm>
            <a:off x="2573413" y="366680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단계 삼각형"/>
          <p:cNvSpPr/>
          <p:nvPr/>
        </p:nvSpPr>
        <p:spPr>
          <a:xfrm>
            <a:off x="3985434" y="3666803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단계 삼각형"/>
          <p:cNvSpPr/>
          <p:nvPr/>
        </p:nvSpPr>
        <p:spPr>
          <a:xfrm>
            <a:off x="5397456" y="366680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칸 본문"/>
          <p:cNvSpPr txBox="1"/>
          <p:nvPr/>
        </p:nvSpPr>
        <p:spPr>
          <a:xfrm>
            <a:off x="1172348" y="3918803"/>
            <a:ext cx="1390109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48" name="칸 본문"/>
          <p:cNvSpPr txBox="1"/>
          <p:nvPr/>
        </p:nvSpPr>
        <p:spPr>
          <a:xfrm>
            <a:off x="2584370" y="3918803"/>
            <a:ext cx="1390109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573413" y="3951673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 txBox="1"/>
          <p:nvPr/>
        </p:nvSpPr>
        <p:spPr>
          <a:xfrm>
            <a:off x="3996391" y="3918803"/>
            <a:ext cx="1390109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85435" y="3951673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 txBox="1"/>
          <p:nvPr/>
        </p:nvSpPr>
        <p:spPr>
          <a:xfrm>
            <a:off x="5408413" y="3918803"/>
            <a:ext cx="1390109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397457" y="3951673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레일"/>
          <p:cNvSpPr/>
          <p:nvPr/>
        </p:nvSpPr>
        <p:spPr>
          <a:xfrm>
            <a:off x="547826" y="4676650"/>
            <a:ext cx="580696" cy="112670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55" name="레일 삼각형"/>
          <p:cNvSpPr/>
          <p:nvPr/>
        </p:nvSpPr>
        <p:spPr>
          <a:xfrm>
            <a:off x="547826" y="467665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머리칸"/>
          <p:cNvSpPr/>
          <p:nvPr/>
        </p:nvSpPr>
        <p:spPr>
          <a:xfrm>
            <a:off x="1161391" y="469856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57" name="머리칸"/>
          <p:cNvSpPr/>
          <p:nvPr/>
        </p:nvSpPr>
        <p:spPr>
          <a:xfrm>
            <a:off x="3985435" y="469856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58" name="칸 본문"/>
          <p:cNvSpPr txBox="1"/>
          <p:nvPr/>
        </p:nvSpPr>
        <p:spPr>
          <a:xfrm>
            <a:off x="1172348" y="4939607"/>
            <a:ext cx="2802130" cy="19631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graphicFrame>
        <p:nvGraphicFramePr>
          <p:cNvPr id="59" name="인라인 표"/>
          <p:cNvGraphicFramePr>
            <a:graphicFrameLocks noGrp="1"/>
          </p:cNvGraphicFramePr>
          <p:nvPr/>
        </p:nvGraphicFramePr>
        <p:xfrm>
          <a:off x="1205217" y="5146873"/>
          <a:ext cx="2711739" cy="416348"/>
        </p:xfrm>
        <a:graphic>
          <a:graphicData uri="http://schemas.openxmlformats.org/drawingml/2006/table">
            <a:tbl>
              <a:tblPr/>
              <a:tblGrid>
                <a:gridCol w="394435"/>
                <a:gridCol w="504000"/>
                <a:gridCol w="361565"/>
                <a:gridCol w="153391"/>
                <a:gridCol w="416348"/>
                <a:gridCol w="438261"/>
                <a:gridCol w="443739"/>
              </a:tblGrid>
              <a:tr h="20817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위원,1급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6,7급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교통직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실무직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</a:tr>
              <a:tr h="20817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인상률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1.0%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3.2%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칸 본문"/>
          <p:cNvSpPr txBox="1"/>
          <p:nvPr/>
        </p:nvSpPr>
        <p:spPr>
          <a:xfrm>
            <a:off x="1172348" y="5585134"/>
            <a:ext cx="2802130" cy="19631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61" name="칸 본문"/>
          <p:cNvSpPr txBox="1"/>
          <p:nvPr/>
        </p:nvSpPr>
        <p:spPr>
          <a:xfrm>
            <a:off x="3996391" y="4939607"/>
            <a:ext cx="2802130" cy="841837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985435" y="4972477"/>
            <a:ext cx="0" cy="77609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3" name="핵심성과 박스"/>
          <p:cNvSpPr/>
          <p:nvPr/>
        </p:nvSpPr>
        <p:spPr>
          <a:xfrm>
            <a:off x="536870" y="5907443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핵심성과 라벨"/>
          <p:cNvSpPr/>
          <p:nvPr/>
        </p:nvSpPr>
        <p:spPr>
          <a:xfrm>
            <a:off x="569739" y="5945791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5" name="핵심성과 문구"/>
          <p:cNvSpPr txBox="1"/>
          <p:nvPr/>
        </p:nvSpPr>
        <p:spPr>
          <a:xfrm>
            <a:off x="1314783" y="5923878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무분규 임금협약과 본교섭을 생략한 단체협약 체결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4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번호"/>
          <p:cNvSpPr txBox="1"/>
          <p:nvPr/>
        </p:nvSpPr>
        <p:spPr>
          <a:xfrm>
            <a:off x="745043" y="777913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번호 띠 제목"/>
          <p:cNvSpPr txBox="1"/>
          <p:nvPr/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누구나 즐겁고 차별 없이 일할 수 있는 근로환경 구현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1358609"/>
            <a:ext cx="380100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 txBox="1"/>
          <p:nvPr/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직원 니즈를 반영한 근로조건 개선과 복리후생 향상 과제 도출</a:t>
            </a:r>
          </a:p>
        </p:txBody>
      </p:sp>
      <p:sp>
        <p:nvSpPr>
          <p:cNvPr id="11" name="라벨 박스"/>
          <p:cNvSpPr/>
          <p:nvPr/>
        </p:nvSpPr>
        <p:spPr>
          <a:xfrm>
            <a:off x="723130" y="1501043"/>
            <a:ext cx="6300000" cy="17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레일"/>
          <p:cNvSpPr/>
          <p:nvPr/>
        </p:nvSpPr>
        <p:spPr>
          <a:xfrm>
            <a:off x="734087" y="1512000"/>
            <a:ext cx="591652" cy="172386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3" name="머리칸"/>
          <p:cNvSpPr/>
          <p:nvPr/>
        </p:nvSpPr>
        <p:spPr>
          <a:xfrm>
            <a:off x="1358609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4" name="머리칸"/>
          <p:cNvSpPr/>
          <p:nvPr/>
        </p:nvSpPr>
        <p:spPr>
          <a:xfrm>
            <a:off x="3235826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전년도 환류</a:t>
            </a:r>
          </a:p>
        </p:txBody>
      </p:sp>
      <p:sp>
        <p:nvSpPr>
          <p:cNvPr id="15" name="머리칸"/>
          <p:cNvSpPr/>
          <p:nvPr/>
        </p:nvSpPr>
        <p:spPr>
          <a:xfrm>
            <a:off x="5113043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직원니즈</a:t>
            </a:r>
          </a:p>
        </p:txBody>
      </p:sp>
      <p:sp>
        <p:nvSpPr>
          <p:cNvPr id="16" name="칸 본문"/>
          <p:cNvSpPr txBox="1"/>
          <p:nvPr/>
        </p:nvSpPr>
        <p:spPr>
          <a:xfrm>
            <a:off x="1369565" y="1769478"/>
            <a:ext cx="1855304" cy="146091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3법에 따른 출산·양육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장기재직휴가·임신검진동행휴가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국정과제에 따른 안전일터 조성</a:t>
            </a:r>
          </a:p>
        </p:txBody>
      </p:sp>
      <p:sp>
        <p:nvSpPr>
          <p:cNvPr id="17" name="칸 본문"/>
          <p:cNvSpPr txBox="1"/>
          <p:nvPr/>
        </p:nvSpPr>
        <p:spPr>
          <a:xfrm>
            <a:off x="3246783" y="1769478"/>
            <a:ext cx="1855304" cy="146091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질적인 근로조건 개선 성과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취약직종 근로조건 향상 노력 지속 필요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35826" y="1802348"/>
            <a:ext cx="0" cy="139517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9" name="레일"/>
          <p:cNvSpPr/>
          <p:nvPr/>
        </p:nvSpPr>
        <p:spPr>
          <a:xfrm>
            <a:off x="5134957" y="1780435"/>
            <a:ext cx="525913" cy="70306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20" name="소행 본문"/>
          <p:cNvSpPr txBox="1"/>
          <p:nvPr/>
        </p:nvSpPr>
        <p:spPr>
          <a:xfrm>
            <a:off x="5682783" y="1780435"/>
            <a:ext cx="1296522" cy="703064"/>
          </a:xfrm>
          <a:prstGeom prst="rect">
            <a:avLst/>
          </a:prstGeom>
          <a:noFill/>
        </p:spPr>
        <p:txBody>
          <a:bodyPr wrap="square" lIns="432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문화여가·가족친화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경조사 등 생활밀착 지원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34957" y="2494456"/>
            <a:ext cx="183339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레일"/>
          <p:cNvSpPr/>
          <p:nvPr/>
        </p:nvSpPr>
        <p:spPr>
          <a:xfrm>
            <a:off x="5134957" y="2499934"/>
            <a:ext cx="525913" cy="70306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23" name="소행 본문"/>
          <p:cNvSpPr txBox="1"/>
          <p:nvPr/>
        </p:nvSpPr>
        <p:spPr>
          <a:xfrm>
            <a:off x="5682783" y="2499934"/>
            <a:ext cx="1296522" cy="703064"/>
          </a:xfrm>
          <a:prstGeom prst="rect">
            <a:avLst/>
          </a:prstGeom>
          <a:noFill/>
        </p:spPr>
        <p:txBody>
          <a:bodyPr wrap="square" lIns="432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 등 안전일터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스트레스·정신건강 관리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13043" y="1802348"/>
            <a:ext cx="0" cy="139517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라벨 박스"/>
          <p:cNvSpPr/>
          <p:nvPr/>
        </p:nvSpPr>
        <p:spPr>
          <a:xfrm>
            <a:off x="723130" y="3301607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레일"/>
          <p:cNvSpPr/>
          <p:nvPr/>
        </p:nvSpPr>
        <p:spPr>
          <a:xfrm>
            <a:off x="734087" y="3312563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</p:txBody>
      </p:sp>
      <p:sp>
        <p:nvSpPr>
          <p:cNvPr id="27" name="가운데 글"/>
          <p:cNvSpPr txBox="1"/>
          <p:nvPr/>
        </p:nvSpPr>
        <p:spPr>
          <a:xfrm>
            <a:off x="1358609" y="3318042"/>
            <a:ext cx="1877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</p:txBody>
      </p:sp>
      <p:sp>
        <p:nvSpPr>
          <p:cNvPr id="28" name="가운데 글"/>
          <p:cNvSpPr txBox="1"/>
          <p:nvPr/>
        </p:nvSpPr>
        <p:spPr>
          <a:xfrm>
            <a:off x="3235826" y="3318042"/>
            <a:ext cx="1877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실무직 처우개선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35826" y="3356390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30" name="가운데 글"/>
          <p:cNvSpPr txBox="1"/>
          <p:nvPr/>
        </p:nvSpPr>
        <p:spPr>
          <a:xfrm>
            <a:off x="5113043" y="3318042"/>
            <a:ext cx="1877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13043" y="3356390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32" name="라벨 박스"/>
          <p:cNvSpPr/>
          <p:nvPr/>
        </p:nvSpPr>
        <p:spPr>
          <a:xfrm>
            <a:off x="723130" y="3646737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레일"/>
          <p:cNvSpPr/>
          <p:nvPr/>
        </p:nvSpPr>
        <p:spPr>
          <a:xfrm>
            <a:off x="734087" y="3657694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34" name="칸 본문"/>
          <p:cNvSpPr txBox="1"/>
          <p:nvPr/>
        </p:nvSpPr>
        <p:spPr>
          <a:xfrm>
            <a:off x="1369565" y="3663172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단체교섭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도출·노사 합의</a:t>
            </a:r>
          </a:p>
        </p:txBody>
      </p:sp>
      <p:sp>
        <p:nvSpPr>
          <p:cNvPr id="35" name="칸 본문"/>
          <p:cNvSpPr txBox="1"/>
          <p:nvPr/>
        </p:nvSpPr>
        <p:spPr>
          <a:xfrm>
            <a:off x="3246783" y="3663172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근무체계 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개선안·임금저하 방지대책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노사합의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35826" y="3696042"/>
            <a:ext cx="0" cy="54510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칸 본문"/>
          <p:cNvSpPr txBox="1"/>
          <p:nvPr/>
        </p:nvSpPr>
        <p:spPr>
          <a:xfrm>
            <a:off x="5124000" y="3663172"/>
            <a:ext cx="1855304" cy="61084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직원니즈 기반 복리후생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확대·제도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지원 강화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13043" y="3696042"/>
            <a:ext cx="0" cy="54510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형광 밑줄"/>
          <p:cNvSpPr/>
          <p:nvPr/>
        </p:nvSpPr>
        <p:spPr>
          <a:xfrm>
            <a:off x="723130" y="4564362"/>
            <a:ext cx="3673078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소제목"/>
          <p:cNvSpPr txBox="1"/>
          <p:nvPr/>
        </p:nvSpPr>
        <p:spPr>
          <a:xfrm>
            <a:off x="723130" y="4410970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열린 소통의 결실, 교통직 처우개선 단체교섭 노사합의 체결</a:t>
            </a:r>
          </a:p>
        </p:txBody>
      </p:sp>
      <p:sp>
        <p:nvSpPr>
          <p:cNvPr id="41" name="태그칩"/>
          <p:cNvSpPr/>
          <p:nvPr/>
        </p:nvSpPr>
        <p:spPr>
          <a:xfrm>
            <a:off x="4494817" y="4443840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42" name="표 외곽"/>
          <p:cNvSpPr/>
          <p:nvPr/>
        </p:nvSpPr>
        <p:spPr>
          <a:xfrm>
            <a:off x="723130" y="4695840"/>
            <a:ext cx="5297478" cy="224521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레일"/>
          <p:cNvSpPr/>
          <p:nvPr/>
        </p:nvSpPr>
        <p:spPr>
          <a:xfrm>
            <a:off x="734087" y="4712275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44" name="머리칸"/>
          <p:cNvSpPr/>
          <p:nvPr/>
        </p:nvSpPr>
        <p:spPr>
          <a:xfrm>
            <a:off x="1347652" y="4734188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45" name="머리칸"/>
          <p:cNvSpPr/>
          <p:nvPr/>
        </p:nvSpPr>
        <p:spPr>
          <a:xfrm>
            <a:off x="3670435" y="4734188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46" name="칸 본문"/>
          <p:cNvSpPr txBox="1"/>
          <p:nvPr/>
        </p:nvSpPr>
        <p:spPr>
          <a:xfrm>
            <a:off x="1358609" y="4975231"/>
            <a:ext cx="230087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재원 부족 등 교통직 처우개선을 위한 중장기적 검토와 추진 필요</a:t>
            </a:r>
          </a:p>
        </p:txBody>
      </p:sp>
      <p:sp>
        <p:nvSpPr>
          <p:cNvPr id="47" name="칸 본문"/>
          <p:cNvSpPr txBox="1"/>
          <p:nvPr/>
        </p:nvSpPr>
        <p:spPr>
          <a:xfrm>
            <a:off x="3681391" y="4975231"/>
            <a:ext cx="230087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교통직과 일반직의 차별적 요소 해소를 위한 적극적·신속한 대응 필요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70435" y="5008101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레일"/>
          <p:cNvSpPr/>
          <p:nvPr/>
        </p:nvSpPr>
        <p:spPr>
          <a:xfrm>
            <a:off x="734087" y="5395242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50" name="레일 삼각형"/>
          <p:cNvSpPr/>
          <p:nvPr/>
        </p:nvSpPr>
        <p:spPr>
          <a:xfrm>
            <a:off x="734086" y="5395241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머리칸"/>
          <p:cNvSpPr/>
          <p:nvPr/>
        </p:nvSpPr>
        <p:spPr>
          <a:xfrm>
            <a:off x="1347652" y="5417155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공감과 이해</a:t>
            </a:r>
          </a:p>
        </p:txBody>
      </p:sp>
      <p:sp>
        <p:nvSpPr>
          <p:cNvPr id="52" name="머리칸"/>
          <p:cNvSpPr/>
          <p:nvPr/>
        </p:nvSpPr>
        <p:spPr>
          <a:xfrm>
            <a:off x="3670435" y="5417155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소통과 설득</a:t>
            </a:r>
          </a:p>
        </p:txBody>
      </p:sp>
      <p:sp>
        <p:nvSpPr>
          <p:cNvPr id="53" name="칸 본문"/>
          <p:cNvSpPr txBox="1"/>
          <p:nvPr/>
        </p:nvSpPr>
        <p:spPr>
          <a:xfrm>
            <a:off x="1358609" y="5658198"/>
            <a:ext cx="230087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실무추진단 운영(5회)으로 교통직 처우개선을 위한 노사 공감대 형성 노력</a:t>
            </a:r>
          </a:p>
        </p:txBody>
      </p:sp>
      <p:sp>
        <p:nvSpPr>
          <p:cNvPr id="54" name="칸 본문"/>
          <p:cNvSpPr txBox="1"/>
          <p:nvPr/>
        </p:nvSpPr>
        <p:spPr>
          <a:xfrm>
            <a:off x="3681391" y="5658198"/>
            <a:ext cx="2300870" cy="38166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소통 및 설득(처우개선 예산 4.5억원 확보)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70435" y="5691068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레일"/>
          <p:cNvSpPr/>
          <p:nvPr/>
        </p:nvSpPr>
        <p:spPr>
          <a:xfrm>
            <a:off x="734087" y="6078209"/>
            <a:ext cx="580696" cy="84640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57" name="레일 삼각형"/>
          <p:cNvSpPr/>
          <p:nvPr/>
        </p:nvSpPr>
        <p:spPr>
          <a:xfrm>
            <a:off x="734086" y="607820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배너"/>
          <p:cNvSpPr/>
          <p:nvPr/>
        </p:nvSpPr>
        <p:spPr>
          <a:xfrm>
            <a:off x="1347652" y="6100122"/>
            <a:ext cx="4645565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수시단체교섭 노사합의서 체결('25.12월)</a:t>
            </a:r>
          </a:p>
        </p:txBody>
      </p:sp>
      <p:sp>
        <p:nvSpPr>
          <p:cNvPr id="59" name="본문"/>
          <p:cNvSpPr txBox="1"/>
          <p:nvPr/>
        </p:nvSpPr>
        <p:spPr>
          <a:xfrm>
            <a:off x="1347652" y="6335687"/>
            <a:ext cx="4645565" cy="56701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자체성과급 신설 및 지급 합의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경력직 채용 비율 상향 및 신입 채용 시 경력가점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정원 전환 추진을 위한 노사 공동 노력 지속 합의</a:t>
            </a:r>
          </a:p>
        </p:txBody>
      </p:sp>
      <p:sp>
        <p:nvSpPr>
          <p:cNvPr id="60" name="사진 칸"/>
          <p:cNvSpPr/>
          <p:nvPr/>
        </p:nvSpPr>
        <p:spPr>
          <a:xfrm>
            <a:off x="6064435" y="4712275"/>
            <a:ext cx="958696" cy="1349499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(합의서)</a:t>
            </a:r>
          </a:p>
        </p:txBody>
      </p:sp>
      <p:sp>
        <p:nvSpPr>
          <p:cNvPr id="61" name="사진 칸"/>
          <p:cNvSpPr/>
          <p:nvPr/>
        </p:nvSpPr>
        <p:spPr>
          <a:xfrm>
            <a:off x="6064435" y="6078209"/>
            <a:ext cx="958696" cy="846407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형광 밑줄"/>
          <p:cNvSpPr/>
          <p:nvPr/>
        </p:nvSpPr>
        <p:spPr>
          <a:xfrm>
            <a:off x="536870" y="920348"/>
            <a:ext cx="381261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소제목"/>
          <p:cNvSpPr txBox="1"/>
          <p:nvPr/>
        </p:nvSpPr>
        <p:spPr>
          <a:xfrm>
            <a:off x="536870" y="76695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근로자의 안전을 위해! 시설관리 실무직렬 근무체계 개선 합의</a:t>
            </a:r>
          </a:p>
        </p:txBody>
      </p:sp>
      <p:sp>
        <p:nvSpPr>
          <p:cNvPr id="9" name="태그칩"/>
          <p:cNvSpPr/>
          <p:nvPr/>
        </p:nvSpPr>
        <p:spPr>
          <a:xfrm>
            <a:off x="4448092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1051826"/>
            <a:ext cx="6300000" cy="159420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1068261"/>
            <a:ext cx="580696" cy="26204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1161391" y="1090174"/>
            <a:ext cx="5648087" cy="21822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근로형태 주간(8시간)-당직(19시간)-비번으로 월 251시간 근무</a:t>
            </a:r>
          </a:p>
        </p:txBody>
      </p:sp>
      <p:sp>
        <p:nvSpPr>
          <p:cNvPr id="13" name="레일"/>
          <p:cNvSpPr/>
          <p:nvPr/>
        </p:nvSpPr>
        <p:spPr>
          <a:xfrm>
            <a:off x="547826" y="1346744"/>
            <a:ext cx="580696" cy="26204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문제점</a:t>
            </a:r>
          </a:p>
        </p:txBody>
      </p:sp>
      <p:sp>
        <p:nvSpPr>
          <p:cNvPr id="14" name="본문"/>
          <p:cNvSpPr txBox="1"/>
          <p:nvPr/>
        </p:nvSpPr>
        <p:spPr>
          <a:xfrm>
            <a:off x="1161391" y="1368657"/>
            <a:ext cx="5648087" cy="21822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장시간 근로에 따른 피로누적 등 건강권 저해와 잦은 이직에 따른 인력의 비효율적 운영</a:t>
            </a:r>
          </a:p>
        </p:txBody>
      </p:sp>
      <p:sp>
        <p:nvSpPr>
          <p:cNvPr id="15" name="레일"/>
          <p:cNvSpPr/>
          <p:nvPr/>
        </p:nvSpPr>
        <p:spPr>
          <a:xfrm>
            <a:off x="547826" y="1625228"/>
            <a:ext cx="580696" cy="100436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공동노력</a:t>
            </a:r>
          </a:p>
        </p:txBody>
      </p:sp>
      <p:sp>
        <p:nvSpPr>
          <p:cNvPr id="16" name="머리칸"/>
          <p:cNvSpPr/>
          <p:nvPr/>
        </p:nvSpPr>
        <p:spPr>
          <a:xfrm>
            <a:off x="1161391" y="164714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해당 근로자 소통</a:t>
            </a:r>
          </a:p>
        </p:txBody>
      </p:sp>
      <p:sp>
        <p:nvSpPr>
          <p:cNvPr id="17" name="머리칸"/>
          <p:cNvSpPr/>
          <p:nvPr/>
        </p:nvSpPr>
        <p:spPr>
          <a:xfrm>
            <a:off x="3044087" y="164714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근무체계 개편</a:t>
            </a:r>
          </a:p>
        </p:txBody>
      </p:sp>
      <p:sp>
        <p:nvSpPr>
          <p:cNvPr id="18" name="머리칸"/>
          <p:cNvSpPr/>
          <p:nvPr/>
        </p:nvSpPr>
        <p:spPr>
          <a:xfrm>
            <a:off x="4926783" y="164714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마련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1172348" y="1888184"/>
            <a:ext cx="1860783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해제를 통한 근로조건 개선 설명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임금저하 방지를 위한 노사 공동 노력 설득·소통</a:t>
            </a:r>
          </a:p>
        </p:txBody>
      </p:sp>
      <p:sp>
        <p:nvSpPr>
          <p:cNvPr id="20" name="칸 본문"/>
          <p:cNvSpPr txBox="1"/>
          <p:nvPr/>
        </p:nvSpPr>
        <p:spPr>
          <a:xfrm>
            <a:off x="3055043" y="1888184"/>
            <a:ext cx="1860783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승인 해제 후 일반 근로형태로 전환·개편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172시간 근무(기존 251시간) → 주·야 교대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44087" y="1921054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2" name="칸 본문"/>
          <p:cNvSpPr txBox="1"/>
          <p:nvPr/>
        </p:nvSpPr>
        <p:spPr>
          <a:xfrm>
            <a:off x="4937739" y="1888184"/>
            <a:ext cx="1860783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 감소에 따른 임금보전 대책 검토 및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법령에 따른 휴일수당·연장근로수당 지급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26783" y="1921054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핵심성과 박스"/>
          <p:cNvSpPr/>
          <p:nvPr/>
        </p:nvSpPr>
        <p:spPr>
          <a:xfrm>
            <a:off x="536870" y="2733683"/>
            <a:ext cx="6300000" cy="49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핵심성과 라벨"/>
          <p:cNvSpPr/>
          <p:nvPr/>
        </p:nvSpPr>
        <p:spPr>
          <a:xfrm>
            <a:off x="569739" y="2772031"/>
            <a:ext cx="657391" cy="41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26" name="핵심성과 문구"/>
          <p:cNvSpPr txBox="1"/>
          <p:nvPr/>
        </p:nvSpPr>
        <p:spPr>
          <a:xfrm>
            <a:off x="1314783" y="2750118"/>
            <a:ext cx="5456348" cy="45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노사합의 체결('25.12월) → 장시간 근무해소(△79시간)를 통한 건강권 확보와 임금보전까지 일거양득</a:t>
            </a:r>
          </a:p>
        </p:txBody>
      </p:sp>
      <p:sp>
        <p:nvSpPr>
          <p:cNvPr id="27" name="형광 밑줄"/>
          <p:cNvSpPr/>
          <p:nvPr/>
        </p:nvSpPr>
        <p:spPr>
          <a:xfrm>
            <a:off x="536870" y="3499075"/>
            <a:ext cx="363415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소제목"/>
          <p:cNvSpPr txBox="1"/>
          <p:nvPr/>
        </p:nvSpPr>
        <p:spPr>
          <a:xfrm>
            <a:off x="536870" y="334568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라. 직원 만족도를 높이는 복리후생 향상과 근무환경 개선 노력</a:t>
            </a:r>
          </a:p>
        </p:txBody>
      </p:sp>
      <p:sp>
        <p:nvSpPr>
          <p:cNvPr id="29" name="태그칩"/>
          <p:cNvSpPr/>
          <p:nvPr/>
        </p:nvSpPr>
        <p:spPr>
          <a:xfrm>
            <a:off x="4269635" y="3378553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30" name="패널 외곽"/>
          <p:cNvSpPr/>
          <p:nvPr/>
        </p:nvSpPr>
        <p:spPr>
          <a:xfrm>
            <a:off x="536870" y="3641510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패널 머리"/>
          <p:cNvSpPr/>
          <p:nvPr/>
        </p:nvSpPr>
        <p:spPr>
          <a:xfrm>
            <a:off x="536870" y="3641510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32" name="패널 본문"/>
          <p:cNvSpPr txBox="1"/>
          <p:nvPr/>
        </p:nvSpPr>
        <p:spPr>
          <a:xfrm>
            <a:off x="558783" y="3882553"/>
            <a:ext cx="2026957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휴양소 운영 확대(502명 이용)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사택 이동식 에어컨 보급 지원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장례서비스 지원 확대(배우자상 포함)</a:t>
            </a:r>
          </a:p>
        </p:txBody>
      </p:sp>
      <p:sp>
        <p:nvSpPr>
          <p:cNvPr id="33" name="요약 바"/>
          <p:cNvSpPr/>
          <p:nvPr/>
        </p:nvSpPr>
        <p:spPr>
          <a:xfrm>
            <a:off x="558783" y="4623965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92.1점</a:t>
            </a:r>
          </a:p>
        </p:txBody>
      </p:sp>
      <p:sp>
        <p:nvSpPr>
          <p:cNvPr id="34" name="패널 외곽"/>
          <p:cNvSpPr/>
          <p:nvPr/>
        </p:nvSpPr>
        <p:spPr>
          <a:xfrm>
            <a:off x="2651478" y="3641510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패널 머리"/>
          <p:cNvSpPr/>
          <p:nvPr/>
        </p:nvSpPr>
        <p:spPr>
          <a:xfrm>
            <a:off x="2651478" y="3641510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</a:t>
            </a:r>
          </a:p>
        </p:txBody>
      </p:sp>
      <p:sp>
        <p:nvSpPr>
          <p:cNvPr id="36" name="패널 본문"/>
          <p:cNvSpPr txBox="1"/>
          <p:nvPr/>
        </p:nvSpPr>
        <p:spPr>
          <a:xfrm>
            <a:off x="2673391" y="3882553"/>
            <a:ext cx="2026957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출산축하금 신설(둘째 50, 셋째 100만)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3법·임신검진동행휴가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자녀초청행사, 가족 동반 퇴임식 개최</a:t>
            </a:r>
          </a:p>
        </p:txBody>
      </p:sp>
      <p:sp>
        <p:nvSpPr>
          <p:cNvPr id="37" name="요약 바"/>
          <p:cNvSpPr/>
          <p:nvPr/>
        </p:nvSpPr>
        <p:spPr>
          <a:xfrm>
            <a:off x="2673391" y="4623965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 만족도 8.6점</a:t>
            </a:r>
          </a:p>
        </p:txBody>
      </p:sp>
      <p:sp>
        <p:nvSpPr>
          <p:cNvPr id="38" name="패널 외곽"/>
          <p:cNvSpPr/>
          <p:nvPr/>
        </p:nvSpPr>
        <p:spPr>
          <a:xfrm>
            <a:off x="4766087" y="3641510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패널 머리"/>
          <p:cNvSpPr/>
          <p:nvPr/>
        </p:nvSpPr>
        <p:spPr>
          <a:xfrm>
            <a:off x="4766087" y="3641510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</a:t>
            </a:r>
          </a:p>
        </p:txBody>
      </p:sp>
      <p:sp>
        <p:nvSpPr>
          <p:cNvPr id="40" name="패널 본문"/>
          <p:cNvSpPr txBox="1"/>
          <p:nvPr/>
        </p:nvSpPr>
        <p:spPr>
          <a:xfrm>
            <a:off x="4788000" y="3882553"/>
            <a:ext cx="2026957" cy="71949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사업장 제거 공사(8개소)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40년↑ 청사 안전진단·컨설팅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직무스트레스 조사 및 사후관리 실시</a:t>
            </a:r>
          </a:p>
        </p:txBody>
      </p:sp>
      <p:sp>
        <p:nvSpPr>
          <p:cNvPr id="41" name="요약 바"/>
          <p:cNvSpPr/>
          <p:nvPr/>
        </p:nvSpPr>
        <p:spPr>
          <a:xfrm>
            <a:off x="4788000" y="4623965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91.6점</a:t>
            </a:r>
          </a:p>
        </p:txBody>
      </p:sp>
      <p:sp>
        <p:nvSpPr>
          <p:cNvPr id="42" name="핵심성과 박스"/>
          <p:cNvSpPr/>
          <p:nvPr/>
        </p:nvSpPr>
        <p:spPr>
          <a:xfrm>
            <a:off x="536870" y="4952661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핵심성과 라벨"/>
          <p:cNvSpPr/>
          <p:nvPr/>
        </p:nvSpPr>
        <p:spPr>
          <a:xfrm>
            <a:off x="569739" y="4991009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44" name="핵심성과 문구"/>
          <p:cNvSpPr txBox="1"/>
          <p:nvPr/>
        </p:nvSpPr>
        <p:spPr>
          <a:xfrm>
            <a:off x="1314783" y="4969096"/>
            <a:ext cx="5456348" cy="278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근로개선지수 전년대비 1.5점 상승(90.1 → 91.6점), 복리후생 만족도 3년 연속 '우수' 등급 획득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