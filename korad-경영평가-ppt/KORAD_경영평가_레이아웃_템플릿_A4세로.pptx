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  <p:sldId id="480" r:id="rId232"/>
    <p:sldId id="481" r:id="rId233"/>
    <p:sldId id="482" r:id="rId234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9 서사 · Restart 추진전략 재정립(4대 분야 전략 → 그간의 성과 → 환경변화 → 로드맵 재정립 → 4대 실행과제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7016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20" name="머리칸"/>
          <p:cNvSpPr/>
          <p:nvPr/>
        </p:nvSpPr>
        <p:spPr>
          <a:xfrm>
            <a:off x="2573413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5397457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257341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39745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4478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9447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985435" y="1999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2500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0904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044087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4926783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3311687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31168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4" name="배너"/>
          <p:cNvSpPr/>
          <p:nvPr/>
        </p:nvSpPr>
        <p:spPr>
          <a:xfrm>
            <a:off x="1161391" y="3333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333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56" name="레일"/>
          <p:cNvSpPr/>
          <p:nvPr/>
        </p:nvSpPr>
        <p:spPr>
          <a:xfrm>
            <a:off x="547826" y="3581530"/>
            <a:ext cx="580696" cy="827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58153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58" name="단계"/>
          <p:cNvSpPr/>
          <p:nvPr/>
        </p:nvSpPr>
        <p:spPr>
          <a:xfrm>
            <a:off x="1161391" y="36034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6034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6034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6034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6034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cxnSp>
        <p:nvCxnSpPr>
          <p:cNvPr id="68" name="Connector 48"/>
          <p:cNvCxnSpPr/>
          <p:nvPr/>
        </p:nvCxnSpPr>
        <p:spPr>
          <a:xfrm>
            <a:off x="3044087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926783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4425183"/>
            <a:ext cx="580696" cy="162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425183"/>
            <a:ext cx="580696" cy="162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985435" y="47210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칸"/>
          <p:cNvSpPr/>
          <p:nvPr/>
        </p:nvSpPr>
        <p:spPr>
          <a:xfrm>
            <a:off x="1161391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82" name="머리칸"/>
          <p:cNvSpPr/>
          <p:nvPr/>
        </p:nvSpPr>
        <p:spPr>
          <a:xfrm>
            <a:off x="3985435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985435" y="5526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60631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0631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606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2573413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985435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397457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0 서사 · 스마트 기술 기반 운영관리 혁신(운영관리 혁신 2칸 → 시사점 → AI 전환 로드맵 → AI 기술 개발·실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954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11" name="태그칩"/>
          <p:cNvSpPr/>
          <p:nvPr/>
        </p:nvSpPr>
        <p:spPr>
          <a:xfrm>
            <a:off x="51171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171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458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477583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7583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4994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4994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4994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4994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4994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cxnSp>
        <p:nvCxnSpPr>
          <p:cNvPr id="40" name="Connector 24"/>
          <p:cNvCxnSpPr/>
          <p:nvPr/>
        </p:nvCxnSpPr>
        <p:spPr>
          <a:xfrm>
            <a:off x="3230348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5113043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452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452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452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배너"/>
          <p:cNvSpPr/>
          <p:nvPr/>
        </p:nvSpPr>
        <p:spPr>
          <a:xfrm>
            <a:off x="1347652" y="3474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474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1 서사 · 글로벌 수질기준을 충족하는 수돗물 품질관리(실태조사 → VOC · 수질이슈 두 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863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50217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217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7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핵심성과 박스"/>
          <p:cNvSpPr/>
          <p:nvPr/>
        </p:nvSpPr>
        <p:spPr>
          <a:xfrm>
            <a:off x="536870" y="2717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핵심성과 라벨"/>
          <p:cNvSpPr/>
          <p:nvPr/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8" name="핵심성과 라벨"/>
          <p:cNvSpPr>
            <a:spLocks noGrp="1"/>
          </p:cNvSpPr>
          <p:nvPr>
            <p:ph type="body" sz="quarter" idx="28"/>
          </p:nvPr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29"/>
          </p:nvPr>
        </p:nvSpPr>
        <p:spPr>
          <a:xfrm>
            <a:off x="1314783" y="2733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2 서사 · 규모는 키우고 효율성은 높여 서비스 격차 해소(신규협약 지자체 맞춤형 모델 → 수행체계 효율성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92205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2205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47317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7317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0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6405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6405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264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cxnSp>
        <p:nvCxnSpPr>
          <p:cNvPr id="36" name="Connector 21"/>
          <p:cNvCxnSpPr/>
          <p:nvPr/>
        </p:nvCxnSpPr>
        <p:spPr>
          <a:xfrm>
            <a:off x="4171696" y="29363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405391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408678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08678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07582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3 서사 · SWNM 기술 표준화 및 Biz모델 개발을 통한 글로벌 진출(SWNM 정의 → 기술 표준화 · 맞춤형 Biz모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1348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4896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4896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80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7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325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83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35130"/>
            <a:ext cx="451408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9" name="사진 칸"/>
          <p:cNvSpPr/>
          <p:nvPr/>
        </p:nvSpPr>
        <p:spPr>
          <a:xfrm>
            <a:off x="5730261" y="2240609"/>
            <a:ext cx="1079217" cy="591652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30"/>
          </p:nvPr>
        </p:nvSpPr>
        <p:spPr>
          <a:xfrm>
            <a:off x="5730261" y="2240609"/>
            <a:ext cx="1079217" cy="591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536870" y="2947304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963739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4 서사 · 국가적 재난 속 지원군(경북산불 · 강릉가뭄 지원: 위기 상황 → 비상 대응 → 대응 성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470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11" name="태그칩"/>
          <p:cNvSpPr/>
          <p:nvPr/>
        </p:nvSpPr>
        <p:spPr>
          <a:xfrm>
            <a:off x="484644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4644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56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56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6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35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54261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54261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54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2476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476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2711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2711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2711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271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271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3230348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cxnSp>
        <p:nvCxnSpPr>
          <p:cNvPr id="50" name="Connector 32"/>
          <p:cNvCxnSpPr/>
          <p:nvPr/>
        </p:nvCxnSpPr>
        <p:spPr>
          <a:xfrm>
            <a:off x="5113043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723130" y="3916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33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5 서사 · 전국 수도사업자 기술지원 시스템 개선(위기대응 강화 · 선제적 기술지원 각 두 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419633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19633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747451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47451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68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9009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9009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00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96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6 서사 · 국민체감서비스 정의 → 환경변화 → 발굴과정 → 니즈 도출 → 실행과제 → 추진성과(5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974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915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915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19709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709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26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606400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064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cxnSp>
        <p:nvCxnSpPr>
          <p:cNvPr id="43" name="Connector 26"/>
          <p:cNvCxnSpPr/>
          <p:nvPr/>
        </p:nvCxnSpPr>
        <p:spPr>
          <a:xfrm>
            <a:off x="3230348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5113043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076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076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4008835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400883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6"/>
          </p:nvPr>
        </p:nvSpPr>
        <p:spPr>
          <a:xfrm>
            <a:off x="1347652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3230348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5113043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cxnSp>
        <p:nvCxnSpPr>
          <p:cNvPr id="69" name="Connector 44"/>
          <p:cNvCxnSpPr/>
          <p:nvPr/>
        </p:nvCxnSpPr>
        <p:spPr>
          <a:xfrm>
            <a:off x="3230348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cxnSp>
        <p:nvCxnSpPr>
          <p:cNvPr id="71" name="Connector 46"/>
          <p:cNvCxnSpPr/>
          <p:nvPr/>
        </p:nvCxnSpPr>
        <p:spPr>
          <a:xfrm>
            <a:off x="5113043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67617"/>
            <a:ext cx="580696" cy="5191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567617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2488226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cxnSp>
        <p:nvCxnSpPr>
          <p:cNvPr id="76" name="Connector 50"/>
          <p:cNvCxnSpPr/>
          <p:nvPr/>
        </p:nvCxnSpPr>
        <p:spPr>
          <a:xfrm>
            <a:off x="2477270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3617843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cxnSp>
        <p:nvCxnSpPr>
          <p:cNvPr id="78" name="Connector 52"/>
          <p:cNvCxnSpPr/>
          <p:nvPr/>
        </p:nvCxnSpPr>
        <p:spPr>
          <a:xfrm>
            <a:off x="3606887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6"/>
          </p:nvPr>
        </p:nvSpPr>
        <p:spPr>
          <a:xfrm>
            <a:off x="4747461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4736504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5877078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866122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7 서사 · 실질적 도움이 되는 정보와 요금부담 완화(요금부담 경감 3칸 → 대화형 수도정보서비스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94478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44783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985435" y="2240609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536870" y="3040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569739" y="3073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3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2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8 서사 · 지자체가 해결하기 어려운 물 문제(대응 방향 3칸 → 사례 4건: 배경 · 해결 · 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00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11" name="태그칩"/>
          <p:cNvSpPr/>
          <p:nvPr/>
        </p:nvSpPr>
        <p:spPr>
          <a:xfrm>
            <a:off x="503175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3175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15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8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20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230348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5113043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1665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665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1906435"/>
            <a:ext cx="580696" cy="1638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06435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90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머리칸"/>
          <p:cNvSpPr/>
          <p:nvPr/>
        </p:nvSpPr>
        <p:spPr>
          <a:xfrm>
            <a:off x="1347652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cxnSp>
        <p:nvCxnSpPr>
          <p:cNvPr id="38" name="Connector 23"/>
          <p:cNvCxnSpPr/>
          <p:nvPr/>
        </p:nvCxnSpPr>
        <p:spPr>
          <a:xfrm>
            <a:off x="4171696" y="2202261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560870"/>
            <a:ext cx="580696" cy="163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560870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5608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4171696" y="3856696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9 서사 · 근본적 지역 물 문제 해결을 위한 물 이용 개선방안(관리체계 혁신 · 극한가뭄 대응 · 워터믹스 3칸 → 기후부 방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5306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12" name="태그칩"/>
          <p:cNvSpPr/>
          <p:nvPr/>
        </p:nvSpPr>
        <p:spPr>
          <a:xfrm>
            <a:off x="468853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8853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3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0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0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161391" y="2344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344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0 서사 · 기업니즈 → K-water 역할(번호 띠 바로 아래 한 줄 + 역할 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8" name="배너"/>
          <p:cNvSpPr/>
          <p:nvPr/>
        </p:nvSpPr>
        <p:spPr>
          <a:xfrm>
            <a:off x="723130" y="16134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태그"/>
          <p:cNvSpPr/>
          <p:nvPr/>
        </p:nvSpPr>
        <p:spPr>
          <a:xfrm>
            <a:off x="942261" y="1668209"/>
            <a:ext cx="837635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668209"/>
            <a:ext cx="837635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21" name="배너 글"/>
          <p:cNvSpPr>
            <a:spLocks noGrp="1"/>
          </p:cNvSpPr>
          <p:nvPr>
            <p:ph type="body" sz="quarter" idx="25"/>
          </p:nvPr>
        </p:nvSpPr>
        <p:spPr>
          <a:xfrm>
            <a:off x="1834678" y="1613426"/>
            <a:ext cx="5024105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1 서사 · 첨단산단 최적 용수공급방안(그간의 성과 → 확대 배너 → 지방권 첨단산단 4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379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12" name="태그칩"/>
          <p:cNvSpPr/>
          <p:nvPr/>
        </p:nvSpPr>
        <p:spPr>
          <a:xfrm>
            <a:off x="467343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7343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43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06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161391" y="195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5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191304"/>
            <a:ext cx="580696" cy="227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91304"/>
            <a:ext cx="580696" cy="227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19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487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머리칸"/>
          <p:cNvSpPr/>
          <p:nvPr/>
        </p:nvSpPr>
        <p:spPr>
          <a:xfrm>
            <a:off x="1161391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985435" y="3621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2 서사 · 산업단지 물공급 인프라 사전 검토 가이드라인(현황 분석 → 제도개선 +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주요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주요성과 라벨"/>
          <p:cNvSpPr/>
          <p:nvPr/>
        </p:nvSpPr>
        <p:spPr>
          <a:xfrm>
            <a:off x="756000" y="285699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주요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5699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34" name="주요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3 서사 · 니즈의 일치 → 신정부 정책 → 로드맵(초순수 3자 협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02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725652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25652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725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17475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7475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36" name="레일"/>
          <p:cNvSpPr/>
          <p:nvPr/>
        </p:nvSpPr>
        <p:spPr>
          <a:xfrm>
            <a:off x="547826" y="21269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269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1269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1488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41" name="단계"/>
          <p:cNvSpPr/>
          <p:nvPr/>
        </p:nvSpPr>
        <p:spPr>
          <a:xfrm>
            <a:off x="3044087" y="21488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43" name="단계"/>
          <p:cNvSpPr/>
          <p:nvPr/>
        </p:nvSpPr>
        <p:spPr>
          <a:xfrm>
            <a:off x="4926783" y="21488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3044086" y="21488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926782" y="21488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4 서사 · 1차 국산화 R&amp;D 성공 → 새로운 도전(기술자립 주도: 마무리 → 참여기업 성과 → 2차 기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73035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11" name="태그칩"/>
          <p:cNvSpPr/>
          <p:nvPr/>
        </p:nvSpPr>
        <p:spPr>
          <a:xfrm>
            <a:off x="55520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5520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배너"/>
          <p:cNvSpPr/>
          <p:nvPr/>
        </p:nvSpPr>
        <p:spPr>
          <a:xfrm>
            <a:off x="1347652" y="218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5 서사 · 국가 초순수 생태계 육성 로드맵(정책선도: 국가전략 → 실행체계 → 전략-실행 연계 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637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9992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992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58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257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257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19995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28" name="단계"/>
          <p:cNvSpPr/>
          <p:nvPr/>
        </p:nvSpPr>
        <p:spPr>
          <a:xfrm>
            <a:off x="2573413" y="19995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9995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32" name="단계"/>
          <p:cNvSpPr/>
          <p:nvPr/>
        </p:nvSpPr>
        <p:spPr>
          <a:xfrm>
            <a:off x="5397457" y="19995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57341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985434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397456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584370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2573413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985435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408413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397457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6 서사 · 국내기업 최초 초순수 운영관리 사업 진출(12년 연구 → 반도체 플랜트 → 추진성과 3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0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476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47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20" name="단계"/>
          <p:cNvSpPr/>
          <p:nvPr/>
        </p:nvSpPr>
        <p:spPr>
          <a:xfrm>
            <a:off x="2759674" y="13366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2759674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22" name="단계"/>
          <p:cNvSpPr/>
          <p:nvPr/>
        </p:nvSpPr>
        <p:spPr>
          <a:xfrm>
            <a:off x="4171696" y="13366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24" name="단계"/>
          <p:cNvSpPr/>
          <p:nvPr/>
        </p:nvSpPr>
        <p:spPr>
          <a:xfrm>
            <a:off x="5583717" y="13366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583717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2759673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583717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2770630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2759674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594674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583717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3173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2730991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2747426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7 서사 · 수도서비스 사업특성 · 주요위험(번호 띠 없는 두 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30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30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562617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429826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429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9" name="머리칸"/>
          <p:cNvSpPr/>
          <p:nvPr/>
        </p:nvSpPr>
        <p:spPr>
          <a:xfrm>
            <a:off x="2573413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23" name="머리칸"/>
          <p:cNvSpPr/>
          <p:nvPr/>
        </p:nvSpPr>
        <p:spPr>
          <a:xfrm>
            <a:off x="5397457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2573413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5397457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8 서사 · 수도 특화 안전설계기준과 맞춤형 대책(기준제정 3칸 → 위험요소 맞춤형 대책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11" name="태그칩"/>
          <p:cNvSpPr/>
          <p:nvPr/>
        </p:nvSpPr>
        <p:spPr>
          <a:xfrm>
            <a:off x="438259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8259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3371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3371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88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21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07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07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11826"/>
            <a:ext cx="580696" cy="1123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311826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11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366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9 서사 · 노후관로 선제 정비와 실시간 누수 감지(시민밀접시설 안전확보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931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82859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2859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849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주요성과 박스"/>
          <p:cNvSpPr/>
          <p:nvPr/>
        </p:nvSpPr>
        <p:spPr>
          <a:xfrm>
            <a:off x="536870" y="197765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주요성과 라벨"/>
          <p:cNvSpPr/>
          <p:nvPr/>
        </p:nvSpPr>
        <p:spPr>
          <a:xfrm>
            <a:off x="569739" y="2010522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주요성과 라벨"/>
          <p:cNvSpPr>
            <a:spLocks noGrp="1"/>
          </p:cNvSpPr>
          <p:nvPr>
            <p:ph type="body" sz="quarter" idx="29"/>
          </p:nvPr>
        </p:nvSpPr>
        <p:spPr>
          <a:xfrm>
            <a:off x="569739" y="2010522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1" name="주요성과 문구"/>
          <p:cNvSpPr>
            <a:spLocks noGrp="1"/>
          </p:cNvSpPr>
          <p:nvPr>
            <p:ph type="body" sz="quarter" idx="30"/>
          </p:nvPr>
        </p:nvSpPr>
        <p:spPr>
          <a:xfrm>
            <a:off x="1314783" y="1994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0 서사 · 조직·인력·예산 운용 등의 효율성 제고노력(4열 표: 대상사업 · 구분 · 주요내용 ·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1 서사 · 대국민 서비스 질 제고 및 공공성 강화 노력(3열 표 2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16113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3013043"/>
            <a:ext cx="10142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2859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2 서사 · 경영환경 변화에 따른 대응노력 및 성과(3열 표: 경영환경 · 위험요인 칩 → 대응노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3 서사 · 추진성과의 설립목적 및 경영목표 달성 기여도(주요사업 추진성과 → 경영목표 달성기여 → 설립목적 달성기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315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562617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9" name="레일"/>
          <p:cNvSpPr/>
          <p:nvPr/>
        </p:nvSpPr>
        <p:spPr>
          <a:xfrm>
            <a:off x="547826" y="185713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879043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413252"/>
            <a:ext cx="580696" cy="530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413252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2435165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959826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95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981739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3384470"/>
            <a:ext cx="580696" cy="2117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384470"/>
            <a:ext cx="580696" cy="211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3406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3406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3406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340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3406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044087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4926783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머리칸"/>
          <p:cNvSpPr/>
          <p:nvPr/>
        </p:nvSpPr>
        <p:spPr>
          <a:xfrm>
            <a:off x="1161391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cxnSp>
        <p:nvCxnSpPr>
          <p:cNvPr id="50" name="Connector 36"/>
          <p:cNvCxnSpPr/>
          <p:nvPr/>
        </p:nvCxnSpPr>
        <p:spPr>
          <a:xfrm>
            <a:off x="3985435" y="4285722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머리칸"/>
          <p:cNvSpPr/>
          <p:nvPr/>
        </p:nvSpPr>
        <p:spPr>
          <a:xfrm>
            <a:off x="1161391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5036243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5518330"/>
            <a:ext cx="580696" cy="289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18330"/>
            <a:ext cx="580696" cy="289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55183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"/>
          <p:cNvSpPr/>
          <p:nvPr/>
        </p:nvSpPr>
        <p:spPr>
          <a:xfrm>
            <a:off x="1161391" y="554024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63" name="단계"/>
          <p:cNvSpPr/>
          <p:nvPr/>
        </p:nvSpPr>
        <p:spPr>
          <a:xfrm>
            <a:off x="2291009" y="554024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2291009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5" name="단계"/>
          <p:cNvSpPr/>
          <p:nvPr/>
        </p:nvSpPr>
        <p:spPr>
          <a:xfrm>
            <a:off x="3420626" y="554024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3420626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7" name="단계"/>
          <p:cNvSpPr/>
          <p:nvPr/>
        </p:nvSpPr>
        <p:spPr>
          <a:xfrm>
            <a:off x="4550243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9"/>
          </p:nvPr>
        </p:nvSpPr>
        <p:spPr>
          <a:xfrm>
            <a:off x="4550243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9" name="단계"/>
          <p:cNvSpPr/>
          <p:nvPr/>
        </p:nvSpPr>
        <p:spPr>
          <a:xfrm>
            <a:off x="5679861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0"/>
          </p:nvPr>
        </p:nvSpPr>
        <p:spPr>
          <a:xfrm>
            <a:off x="567986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2291008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3420626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4550243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5679860" y="55402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 txBox="1"/>
          <p:nvPr/>
        </p:nvSpPr>
        <p:spPr>
          <a:xfrm>
            <a:off x="1172348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76" name="칸 본문"/>
          <p:cNvSpPr txBox="1"/>
          <p:nvPr/>
        </p:nvSpPr>
        <p:spPr>
          <a:xfrm>
            <a:off x="2301965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7" name="Connector 55"/>
          <p:cNvCxnSpPr/>
          <p:nvPr/>
        </p:nvCxnSpPr>
        <p:spPr>
          <a:xfrm flipV="1">
            <a:off x="2291009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 txBox="1"/>
          <p:nvPr/>
        </p:nvSpPr>
        <p:spPr>
          <a:xfrm>
            <a:off x="3431583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9" name="Connector 57"/>
          <p:cNvCxnSpPr/>
          <p:nvPr/>
        </p:nvCxnSpPr>
        <p:spPr>
          <a:xfrm flipV="1">
            <a:off x="3420626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 txBox="1"/>
          <p:nvPr/>
        </p:nvSpPr>
        <p:spPr>
          <a:xfrm>
            <a:off x="4561200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1" name="Connector 59"/>
          <p:cNvCxnSpPr/>
          <p:nvPr/>
        </p:nvCxnSpPr>
        <p:spPr>
          <a:xfrm flipV="1">
            <a:off x="4550243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 txBox="1"/>
          <p:nvPr/>
        </p:nvSpPr>
        <p:spPr>
          <a:xfrm>
            <a:off x="5690817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3" name="Connector 61"/>
          <p:cNvCxnSpPr/>
          <p:nvPr/>
        </p:nvCxnSpPr>
        <p:spPr>
          <a:xfrm flipV="1">
            <a:off x="5679861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머리칸"/>
          <p:cNvSpPr/>
          <p:nvPr/>
        </p:nvSpPr>
        <p:spPr>
          <a:xfrm>
            <a:off x="1161391" y="5863461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5863461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2"/>
          </p:nvPr>
        </p:nvSpPr>
        <p:spPr>
          <a:xfrm>
            <a:off x="1172348" y="610450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87" name="머리칸"/>
          <p:cNvSpPr/>
          <p:nvPr/>
        </p:nvSpPr>
        <p:spPr>
          <a:xfrm>
            <a:off x="1161391" y="6504417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3"/>
          </p:nvPr>
        </p:nvSpPr>
        <p:spPr>
          <a:xfrm>
            <a:off x="1161391" y="6504417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6745461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7145374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7145374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1172348" y="7386417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93" name="머리칸"/>
          <p:cNvSpPr/>
          <p:nvPr/>
        </p:nvSpPr>
        <p:spPr>
          <a:xfrm>
            <a:off x="1161391" y="7786330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57"/>
          </p:nvPr>
        </p:nvSpPr>
        <p:spPr>
          <a:xfrm>
            <a:off x="1161391" y="7786330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802737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4 서사 · 전년도 자체 환류활동 추진성과(’24 개선·확산 과제 → ’25 추진성과 3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183968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5 서사 · 성과지표별 목표수준 설정(글로벌 · 계량 · 비계량 성과지표 3묶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15411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성과지표별 목표수준 설정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3" name="분야 박스"/>
          <p:cNvSpPr/>
          <p:nvPr/>
        </p:nvSpPr>
        <p:spPr>
          <a:xfrm>
            <a:off x="727987" y="116139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분야 박스"/>
          <p:cNvSpPr>
            <a:spLocks noGrp="1"/>
          </p:cNvSpPr>
          <p:nvPr>
            <p:ph type="body" sz="quarter" idx="22"/>
          </p:nvPr>
        </p:nvSpPr>
        <p:spPr>
          <a:xfrm>
            <a:off x="727987" y="116139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1276424" y="1281913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>
          <a:xfrm>
            <a:off x="1276424" y="1128522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성과지표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13391"/>
            <a:ext cx="6300000" cy="2509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29826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2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 대응강화: 위성 활용기술 수준(%) (’30년도까지 90% 달성)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85447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5447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85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미국(NASA, Global Top 1) Catch-Up: 100%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80%</a:t>
            </a:r>
          </a:p>
        </p:txBody>
      </p:sp>
      <p:cxnSp>
        <p:nvCxnSpPr>
          <p:cNvPr id="27" name="Connector 19"/>
          <p:cNvCxnSpPr/>
          <p:nvPr/>
        </p:nvCxnSpPr>
        <p:spPr>
          <a:xfrm>
            <a:off x="3985435" y="1909252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2410591"/>
            <a:ext cx="580696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41059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Gap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32504"/>
            <a:ext cx="5626174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 3개 분야(분석·운영·데이터) 기술격차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분석: 활용산출물 제공 ↔ 시범테스트 / 운영: 전용 S/W 보유 ↔ 수신 S/W·H/W 보유 / 데이터: 글로벌 데이터 제공 ↔ 테스트 데이터 제공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951687"/>
            <a:ext cx="580696" cy="5301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951687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9516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973600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분석기술: 위성 검보정 기술선진국(DLR) 국제협력으로 원천기술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운영기술: 해외위성 자료획득 노하우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품질: AI기반 위성 활용산출물 정확도 향상</a:t>
            </a:r>
          </a:p>
        </p:txBody>
      </p:sp>
      <p:sp>
        <p:nvSpPr>
          <p:cNvPr id="35" name="레일"/>
          <p:cNvSpPr/>
          <p:nvPr/>
        </p:nvSpPr>
        <p:spPr>
          <a:xfrm>
            <a:off x="547826" y="3498261"/>
            <a:ext cx="580696" cy="4082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352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352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82% 이상(’30년 90% 수준 달성을 위하여 연간 약 2%p 향상 목표)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35"/>
          </p:nvPr>
        </p:nvSpPr>
        <p:spPr>
          <a:xfrm>
            <a:off x="536870" y="4043426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0" name="분야 박스"/>
          <p:cNvSpPr/>
          <p:nvPr/>
        </p:nvSpPr>
        <p:spPr>
          <a:xfrm>
            <a:off x="727987" y="407629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분야 박스"/>
          <p:cNvSpPr>
            <a:spLocks noGrp="1"/>
          </p:cNvSpPr>
          <p:nvPr>
            <p:ph type="body" sz="quarter" idx="36"/>
          </p:nvPr>
        </p:nvSpPr>
        <p:spPr>
          <a:xfrm>
            <a:off x="727987" y="407629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계량</a:t>
            </a:r>
          </a:p>
        </p:txBody>
      </p:sp>
      <p:sp>
        <p:nvSpPr>
          <p:cNvPr id="42" name="형광 밑줄"/>
          <p:cNvSpPr/>
          <p:nvPr/>
        </p:nvSpPr>
        <p:spPr>
          <a:xfrm>
            <a:off x="1166655" y="4196817"/>
            <a:ext cx="8473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소제목"/>
          <p:cNvSpPr>
            <a:spLocks noGrp="1"/>
          </p:cNvSpPr>
          <p:nvPr>
            <p:ph type="body" sz="quarter" idx="37"/>
          </p:nvPr>
        </p:nvSpPr>
        <p:spPr>
          <a:xfrm>
            <a:off x="1166655" y="4043426"/>
            <a:ext cx="567021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계량 성과지표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8"/>
          </p:nvPr>
        </p:nvSpPr>
        <p:spPr>
          <a:xfrm>
            <a:off x="536870" y="7184348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5" name="분야 박스"/>
          <p:cNvSpPr/>
          <p:nvPr/>
        </p:nvSpPr>
        <p:spPr>
          <a:xfrm>
            <a:off x="727987" y="7217217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분야 박스"/>
          <p:cNvSpPr>
            <a:spLocks noGrp="1"/>
          </p:cNvSpPr>
          <p:nvPr>
            <p:ph type="body" sz="quarter" idx="39"/>
          </p:nvPr>
        </p:nvSpPr>
        <p:spPr>
          <a:xfrm>
            <a:off x="727987" y="7217217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비계량</a:t>
            </a:r>
          </a:p>
        </p:txBody>
      </p:sp>
      <p:sp>
        <p:nvSpPr>
          <p:cNvPr id="47" name="형광 밑줄"/>
          <p:cNvSpPr/>
          <p:nvPr/>
        </p:nvSpPr>
        <p:spPr>
          <a:xfrm>
            <a:off x="1276424" y="7337739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소제목"/>
          <p:cNvSpPr>
            <a:spLocks noGrp="1"/>
          </p:cNvSpPr>
          <p:nvPr>
            <p:ph type="body" sz="quarter" idx="40"/>
          </p:nvPr>
        </p:nvSpPr>
        <p:spPr>
          <a:xfrm>
            <a:off x="1276424" y="7184348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비계량 성과지표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6 서사 · 추진배경(물관리 여건 | 정부정책) → 추진방향 → 추진과제 3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99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양극화로 극한홍수, 극한가뭄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예측적 댐운영 및 저수량 관리 어려움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물재해 감시위성 등 기후적응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대비, 물관리 인프라 안정성 확보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17478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174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17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39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39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기술 기반의 과학적 물관리와 인프라 고도화로 안전한 물관리 실현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073600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36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대응 고도화</a:t>
            </a:r>
          </a:p>
        </p:txBody>
      </p:sp>
      <p:sp>
        <p:nvSpPr>
          <p:cNvPr id="29" name="머리칸"/>
          <p:cNvSpPr/>
          <p:nvPr/>
        </p:nvSpPr>
        <p:spPr>
          <a:xfrm>
            <a:off x="3230348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230348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 안전성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5113043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5113043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선도 혁신기술 확산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DT 기반 홍수대응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대응 가뭄 극복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 안전관리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구조개선 등 댐 안전 강화</a:t>
            </a:r>
          </a:p>
        </p:txBody>
      </p:sp>
      <p:cxnSp>
        <p:nvCxnSpPr>
          <p:cNvPr id="35" name="Connector 20"/>
          <p:cNvCxnSpPr/>
          <p:nvPr/>
        </p:nvCxnSpPr>
        <p:spPr>
          <a:xfrm>
            <a:off x="3230348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DT성과 글로벌·민간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물재해 감시 위성분야 선도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5113043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7 서사 · 홍수 대응체계 고도화와 댐 운영 제약요건 영구해소(홍수대응 준비 → 체계 고도화 3단 → 제약요건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불확실한 기후 여건 맞춤형 댐 운영으로 물재해 Zero 달성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홍수 대응체계 고도화와 댐 운영 제약요건 영구해소로 홍수대비 완료</a:t>
            </a:r>
          </a:p>
        </p:txBody>
      </p:sp>
      <p:sp>
        <p:nvSpPr>
          <p:cNvPr id="17" name="태그칩"/>
          <p:cNvSpPr/>
          <p:nvPr/>
        </p:nvSpPr>
        <p:spPr>
          <a:xfrm>
            <a:off x="4626623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626623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7283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 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5626174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여건조사: ’25.2~6 全댐 운영여건 조사를 통해 댐 운영시 영향을 받는 1,771개소 점검 → 방류시 하류 침수위험 128개소, 시민 고립 우려지역 81개소 등 포함 DT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이상홍수: 기상예보와 다른 이상 극한홍수 대비 모의훈련 실시(2회, 200년 빈도 이상) → 극한홍수 상황시 DT 활용 등 실제 상황과 동일한 의사결정 과정을 통한 대응역량 강화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207739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07739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220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161391" y="2229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2229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피해는 예보를 초과한 집중호우로 대다수 발생, 스마트기술 활용 모니터링 체계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1161391" y="24652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 AI 활용 극한강우 예측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24652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분석 방류 의사결정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24652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감시 하류 모니터링 강화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24652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24652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기상청 정보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AI 활용 기상 예측(실황기반 최적모델 선별)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단일조건(강우×방류)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최대 48개(강우8×방류6) 동시 시뮬레이션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하천 CCTV 46개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 CCTV 1,800개 추가 연계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341739"/>
            <a:ext cx="580696" cy="8492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341739"/>
            <a:ext cx="580696" cy="849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안동댐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제약요건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영구해소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341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363652"/>
            <a:ext cx="562617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’76년 안동댐 준공 이후 댐 국유지 내 47가구 불법 점유 중으로, 침수 우려로 비워둔 댐 용량 활용 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추진: ’24년 국유재산 관리 목적 행정대집행 권한 확보에도, 1:1 이주 상담·설계, 정부지원 안내 등 맞춤형 이주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주민 100% 이주로 안동댐 물그릇 100% 활용(물그릇 1.3억톤 회복, 운문댐 1개 규모의 이·치수 물량 확보)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Relationship Id="rId203" Type="http://schemas.openxmlformats.org/officeDocument/2006/relationships/slideLayout" Target="../slideLayouts/slideLayout205.xml"/><Relationship Id="rId204" Type="http://schemas.openxmlformats.org/officeDocument/2006/relationships/slideLayout" Target="../slideLayouts/slideLayout206.xml"/><Relationship Id="rId205" Type="http://schemas.openxmlformats.org/officeDocument/2006/relationships/slideLayout" Target="../slideLayouts/slideLayout207.xml"/><Relationship Id="rId206" Type="http://schemas.openxmlformats.org/officeDocument/2006/relationships/slideLayout" Target="../slideLayouts/slideLayout208.xml"/><Relationship Id="rId207" Type="http://schemas.openxmlformats.org/officeDocument/2006/relationships/slideLayout" Target="../slideLayouts/slideLayout209.xml"/><Relationship Id="rId208" Type="http://schemas.openxmlformats.org/officeDocument/2006/relationships/slideLayout" Target="../slideLayouts/slideLayout210.xml"/><Relationship Id="rId209" Type="http://schemas.openxmlformats.org/officeDocument/2006/relationships/slideLayout" Target="../slideLayouts/slideLayout211.xml"/><Relationship Id="rId210" Type="http://schemas.openxmlformats.org/officeDocument/2006/relationships/slideLayout" Target="../slideLayouts/slideLayout212.xml"/><Relationship Id="rId211" Type="http://schemas.openxmlformats.org/officeDocument/2006/relationships/slideLayout" Target="../slideLayouts/slideLayout213.xml"/><Relationship Id="rId212" Type="http://schemas.openxmlformats.org/officeDocument/2006/relationships/slideLayout" Target="../slideLayouts/slideLayout214.xml"/><Relationship Id="rId213" Type="http://schemas.openxmlformats.org/officeDocument/2006/relationships/slideLayout" Target="../slideLayouts/slideLayout215.xml"/><Relationship Id="rId214" Type="http://schemas.openxmlformats.org/officeDocument/2006/relationships/slideLayout" Target="../slideLayouts/slideLayout216.xml"/><Relationship Id="rId215" Type="http://schemas.openxmlformats.org/officeDocument/2006/relationships/slideLayout" Target="../slideLayouts/slideLayout217.xml"/><Relationship Id="rId216" Type="http://schemas.openxmlformats.org/officeDocument/2006/relationships/slideLayout" Target="../slideLayouts/slideLayout218.xml"/><Relationship Id="rId217" Type="http://schemas.openxmlformats.org/officeDocument/2006/relationships/slideLayout" Target="../slideLayouts/slideLayout219.xml"/><Relationship Id="rId218" Type="http://schemas.openxmlformats.org/officeDocument/2006/relationships/slideLayout" Target="../slideLayouts/slideLayout220.xml"/><Relationship Id="rId219" Type="http://schemas.openxmlformats.org/officeDocument/2006/relationships/slideLayout" Target="../slideLayouts/slideLayout221.xml"/><Relationship Id="rId220" Type="http://schemas.openxmlformats.org/officeDocument/2006/relationships/slideLayout" Target="../slideLayouts/slideLayout222.xml"/><Relationship Id="rId221" Type="http://schemas.openxmlformats.org/officeDocument/2006/relationships/slideLayout" Target="../slideLayouts/slideLayout223.xml"/><Relationship Id="rId222" Type="http://schemas.openxmlformats.org/officeDocument/2006/relationships/slideLayout" Target="../slideLayouts/slideLayout224.xml"/><Relationship Id="rId223" Type="http://schemas.openxmlformats.org/officeDocument/2006/relationships/slideLayout" Target="../slideLayouts/slideLayout225.xml"/><Relationship Id="rId224" Type="http://schemas.openxmlformats.org/officeDocument/2006/relationships/slideLayout" Target="../slideLayouts/slideLayout226.xml"/><Relationship Id="rId225" Type="http://schemas.openxmlformats.org/officeDocument/2006/relationships/slideLayout" Target="../slideLayouts/slideLayout227.xml"/><Relationship Id="rId226" Type="http://schemas.openxmlformats.org/officeDocument/2006/relationships/slideLayout" Target="../slideLayouts/slideLayout228.xml"/><Relationship Id="rId227" Type="http://schemas.openxmlformats.org/officeDocument/2006/relationships/slideLayout" Target="../slideLayouts/slideLayout229.xml"/><Relationship Id="rId228" Type="http://schemas.openxmlformats.org/officeDocument/2006/relationships/slideLayout" Target="../slideLayouts/slideLayout230.xml"/><Relationship Id="rId229" Type="http://schemas.openxmlformats.org/officeDocument/2006/relationships/slideLayout" Target="../slideLayouts/slideLayout231.xml"/><Relationship Id="rId230" Type="http://schemas.openxmlformats.org/officeDocument/2006/relationships/slideLayout" Target="../slideLayouts/slideLayout232.xml"/><Relationship Id="rId231" Type="http://schemas.openxmlformats.org/officeDocument/2006/relationships/slideLayout" Target="../slideLayouts/slideLayout2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  <p:sldLayoutId id="2147483853" r:id="rId203"/>
    <p:sldLayoutId id="2147483854" r:id="rId204"/>
    <p:sldLayoutId id="2147483855" r:id="rId205"/>
    <p:sldLayoutId id="2147483856" r:id="rId206"/>
    <p:sldLayoutId id="2147483857" r:id="rId207"/>
    <p:sldLayoutId id="2147483858" r:id="rId208"/>
    <p:sldLayoutId id="2147483859" r:id="rId209"/>
    <p:sldLayoutId id="2147483860" r:id="rId210"/>
    <p:sldLayoutId id="2147483861" r:id="rId211"/>
    <p:sldLayoutId id="2147483862" r:id="rId212"/>
    <p:sldLayoutId id="2147483863" r:id="rId213"/>
    <p:sldLayoutId id="2147483864" r:id="rId214"/>
    <p:sldLayoutId id="2147483865" r:id="rId215"/>
    <p:sldLayoutId id="2147483866" r:id="rId216"/>
    <p:sldLayoutId id="2147483867" r:id="rId217"/>
    <p:sldLayoutId id="2147483868" r:id="rId218"/>
    <p:sldLayoutId id="2147483869" r:id="rId219"/>
    <p:sldLayoutId id="2147483870" r:id="rId220"/>
    <p:sldLayoutId id="2147483871" r:id="rId221"/>
    <p:sldLayoutId id="2147483872" r:id="rId222"/>
    <p:sldLayoutId id="2147483873" r:id="rId223"/>
    <p:sldLayoutId id="2147483874" r:id="rId224"/>
    <p:sldLayoutId id="2147483875" r:id="rId225"/>
    <p:sldLayoutId id="2147483876" r:id="rId226"/>
    <p:sldLayoutId id="2147483877" r:id="rId227"/>
    <p:sldLayoutId id="2147483878" r:id="rId228"/>
    <p:sldLayoutId id="2147483879" r:id="rId229"/>
    <p:sldLayoutId id="2147483880" r:id="rId230"/>
    <p:sldLayoutId id="2147483881" r:id="rId23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0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1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3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4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5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6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0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2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4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5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6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8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9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0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2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3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4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5.xml"/><Relationship Id="rId2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6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7.xml"/><Relationship Id="rId2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8.xml"/><Relationship Id="rId2" Type="http://schemas.openxmlformats.org/officeDocument/2006/relationships/notesSlide" Target="../notesSlides/notesSlide18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9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0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1.xml"/><Relationship Id="rId2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2.xml"/><Relationship Id="rId2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3.xml"/><Relationship Id="rId2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4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5.xml"/><Relationship Id="rId2" Type="http://schemas.openxmlformats.org/officeDocument/2006/relationships/notesSlide" Target="../notesSlides/notesSlide18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6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8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9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0.xml"/><Relationship Id="rId2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1.xml"/><Relationship Id="rId2" Type="http://schemas.openxmlformats.org/officeDocument/2006/relationships/notesSlide" Target="../notesSlides/notesSlide19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2.xml"/><Relationship Id="rId2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3.xml"/><Relationship Id="rId2" Type="http://schemas.openxmlformats.org/officeDocument/2006/relationships/notesSlide" Target="../notesSlides/notesSlide19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4.xml"/><Relationship Id="rId2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5.xml"/><Relationship Id="rId2" Type="http://schemas.openxmlformats.org/officeDocument/2006/relationships/notesSlide" Target="../notesSlides/notesSlide199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6.xml"/><Relationship Id="rId2" Type="http://schemas.openxmlformats.org/officeDocument/2006/relationships/notesSlide" Target="../notesSlides/notesSlide20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Relationship Id="rId2" Type="http://schemas.openxmlformats.org/officeDocument/2006/relationships/notesSlide" Target="../notesSlides/notesSlide201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8.xml"/><Relationship Id="rId2" Type="http://schemas.openxmlformats.org/officeDocument/2006/relationships/notesSlide" Target="../notesSlides/notesSlide20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9.xml"/><Relationship Id="rId2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0.xml"/><Relationship Id="rId2" Type="http://schemas.openxmlformats.org/officeDocument/2006/relationships/notesSlide" Target="../notesSlides/notesSlide204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1.xml"/><Relationship Id="rId2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2.xml"/><Relationship Id="rId2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3.xml"/><Relationship Id="rId2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4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5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6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7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8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9.xml"/><Relationship Id="rId2" Type="http://schemas.openxmlformats.org/officeDocument/2006/relationships/notesSlide" Target="../notesSlides/notesSlide213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0.xml"/><Relationship Id="rId2" Type="http://schemas.openxmlformats.org/officeDocument/2006/relationships/notesSlide" Target="../notesSlides/notesSlide214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1.xml"/><Relationship Id="rId2" Type="http://schemas.openxmlformats.org/officeDocument/2006/relationships/notesSlide" Target="../notesSlides/notesSlide215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2.xml"/><Relationship Id="rId2" Type="http://schemas.openxmlformats.org/officeDocument/2006/relationships/notesSlide" Target="../notesSlides/notesSlide216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3.xml"/><Relationship Id="rId2" Type="http://schemas.openxmlformats.org/officeDocument/2006/relationships/notesSlide" Target="../notesSlides/notesSlide21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4.xml"/><Relationship Id="rId2" Type="http://schemas.openxmlformats.org/officeDocument/2006/relationships/notesSlide" Target="../notesSlides/notesSlide218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5.xml"/><Relationship Id="rId2" Type="http://schemas.openxmlformats.org/officeDocument/2006/relationships/notesSlide" Target="../notesSlides/notesSlide219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6.xml"/><Relationship Id="rId2" Type="http://schemas.openxmlformats.org/officeDocument/2006/relationships/notesSlide" Target="../notesSlides/notesSlide220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7.xml"/><Relationship Id="rId2" Type="http://schemas.openxmlformats.org/officeDocument/2006/relationships/notesSlide" Target="../notesSlides/notesSlide221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8.xml"/><Relationship Id="rId2" Type="http://schemas.openxmlformats.org/officeDocument/2006/relationships/notesSlide" Target="../notesSlides/notesSlide222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9.xml"/><Relationship Id="rId2" Type="http://schemas.openxmlformats.org/officeDocument/2006/relationships/notesSlide" Target="../notesSlides/notesSlide223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0.xml"/><Relationship Id="rId2" Type="http://schemas.openxmlformats.org/officeDocument/2006/relationships/notesSlide" Target="../notesSlides/notesSlide224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1.xml"/><Relationship Id="rId2" Type="http://schemas.openxmlformats.org/officeDocument/2006/relationships/notesSlide" Target="../notesSlides/notesSlide225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2.xml"/><Relationship Id="rId2" Type="http://schemas.openxmlformats.org/officeDocument/2006/relationships/notesSlide" Target="../notesSlides/notesSlide226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3.xml"/><Relationship Id="rId2" Type="http://schemas.openxmlformats.org/officeDocument/2006/relationships/notesSlide" Target="../notesSlides/notesSlide2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2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5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graphicFrame>
        <p:nvGraphicFramePr>
          <p:cNvPr id="12" name="실적표"/>
          <p:cNvGraphicFramePr>
            <a:graphicFrameLocks noGrp="1"/>
          </p:cNvGraphicFramePr>
          <p:nvPr/>
        </p:nvGraphicFramePr>
        <p:xfrm>
          <a:off x="536870" y="1161391"/>
          <a:ext cx="6300001" cy="723131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· 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연차별 임금감소 비율 · 누적 절감률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 이상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3.5년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6개월 5% → 1년차 10% → 2년차 20% → 3년차 30% (누적 65%)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3급 이하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2.0년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1년차 20% → 2년차 30% (누적 50%)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실적표"/>
          <p:cNvGraphicFramePr>
            <a:graphicFrameLocks noGrp="1"/>
          </p:cNvGraphicFramePr>
          <p:nvPr/>
        </p:nvGraphicFramePr>
        <p:xfrm>
          <a:off x="536870" y="1972174"/>
          <a:ext cx="6300001" cy="476609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임금피크 인원 · 충당률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절감재원 · 신규채용보수(백만원)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422명 · 105%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6,192 · 5,876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sp>
        <p:nvSpPr>
          <p:cNvPr id="24" name="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성과 띠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27" name="카드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5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24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160</a:t>
            </a:r>
          </a:p>
        </p:txBody>
      </p:sp>
      <p:sp>
        <p:nvSpPr>
          <p:cNvPr id="4" name="주석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7" name="장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662591"/>
          <a:ext cx="6300001" cy="96965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성명 · 연락처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경영부문장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남영현 · 042-629-2203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nyh@kwater.or.kr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노사협력처장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박혜원 · 042-629-2650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hyewon@kwater.or.kr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노사협력부장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이석원 · 042-629-2651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leesw@kwater.or.kr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536870" y="1276435"/>
          <a:ext cx="6300001" cy="269530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· 평가내용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Ⅰ. 2024년 지적사항 조치실적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Ⅱ. 2025년 주요 추진실적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Ⅲ. 2025년 세부평가내용별 추진실적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新노동 패러다임에 신속한 대응, 노사 全분야 펀더멘탈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법과 원칙에 따른 노사기준 재정비 및 참여형 디지털 노무광장 오픈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 분쟁 발생 이전에 작동하는 선제적 노사갈등 관리체계 도입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한층 더 다가가는 노사리더, 직원 목소리로 다듬는 노동이사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노사전략과 환경변화를 연결하는 계층별 노무역량강화 모델 최적화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직원 숙원을 해소하고, 더 나은 일터를 설계하는 노사 파트너십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가족과 안전은 지속가능한 근로조건의 근간, 노사가 함께 지속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1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2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sp>
        <p:nvSpPr>
          <p:cNvPr id="49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sp>
        <p:nvSpPr>
          <p:cNvPr id="61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2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66" name="카드 문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68" name="카드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41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8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소제목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0" name="태그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27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28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30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32" name="카드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36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4" name="그룹 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42" name="카드 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43" name="카드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46" name="그룹 제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48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51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53" name="탭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56" name="카드 요약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58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41" name="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2" name="성과 띠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44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46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9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2" name="사진 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4" name="패널 머리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16" name="요약 바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18" name="패널 머리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0" name="요약 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125565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사업범위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 미션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광역상수도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전국 113개 지자체와 산단에 수돗물 안정 공급(50개 수도시설 · 1,942만㎥/일)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 물복지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운영 선진화 지원(23개 지자체 운영관리 · 116개 노후 정비)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및 기업니즈 대응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눈높이를 충족하는 맞춤형 물 토탈서비스(물문제 해결 · 고객정보 · 산업 맞춤)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추진 과정의 근로자 및 시민 안전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66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76" name="배너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sp>
        <p:nvSpPr>
          <p:cNvPr id="99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sp>
        <p:nvSpPr>
          <p:cNvPr id="107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  <p:graphicFrame>
        <p:nvGraphicFramePr>
          <p:cNvPr id="11" name="다열 표"/>
          <p:cNvGraphicFramePr>
            <a:graphicFrameLocks noGrp="1"/>
          </p:cNvGraphicFramePr>
          <p:nvPr/>
        </p:nvGraphicFramePr>
        <p:xfrm>
          <a:off x="723130" y="1522957"/>
          <a:ext cx="6300000" cy="2394471"/>
        </p:xfrm>
        <a:graphic>
          <a:graphicData uri="http://schemas.openxmlformats.org/drawingml/2006/table">
            <a:tbl>
              <a:tblPr/>
              <a:tblGrid>
                <a:gridCol w="882000"/>
                <a:gridCol w="1764000"/>
                <a:gridCol w="1764000"/>
                <a:gridCol w="189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’24년도 평가환류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 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성과목표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이상기후, 노후화 대비 첨단기술 기반 물공급 전환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재난피해 최소화, PFAS 규제 예고 등 수돗물 안전요구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기후위기에 강한 안정적인 고품질 수돗물 생산·공급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 물문제에 대응할 수 있도록 지자체 역량 육성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재난, 지자체 재정 악화 등 공공기관의 공적역할 강조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지역간 차별 없는 국민 물 복지 혜택 확산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요금동결 속 서비스 유지와 첨단산업 물공급 노력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 정보서비스 확대와 지방 첨단산단 물수요 증가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대국민 서비스 향상 및 첨단산업 경쟁력 제고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특성에 맞는 실효적 산재예방 및 시민안전 대책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서울시 싱크홀 사고 등 국민 불안 증가, 수도사업 지속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근로자와 국민 모두 안전한 수도사업장 조성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graphicFrame>
        <p:nvGraphicFramePr>
          <p:cNvPr id="27" name="다열 표"/>
          <p:cNvGraphicFramePr>
            <a:graphicFrameLocks noGrp="1"/>
          </p:cNvGraphicFramePr>
          <p:nvPr/>
        </p:nvGraphicFramePr>
        <p:xfrm>
          <a:off x="536870" y="2843217"/>
          <a:ext cx="6300000" cy="4016351"/>
        </p:xfrm>
        <a:graphic>
          <a:graphicData uri="http://schemas.openxmlformats.org/drawingml/2006/table">
            <a:tbl>
              <a:tblPr/>
              <a:tblGrid>
                <a:gridCol w="819000"/>
                <a:gridCol w="1827000"/>
                <a:gridCol w="504000"/>
                <a:gridCol w="504000"/>
                <a:gridCol w="504000"/>
                <a:gridCol w="441000"/>
                <a:gridCol w="170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Pool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전략연계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정책부합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SMART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판정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적합성 평가결과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 rowSpan="4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안전한 물 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첨단기술 기반 물공급 전환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대비 국가 인프라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시대 물 안보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(국정15) 지역 간 물복지 편차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달성도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(국정72) 노후상수관 정비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국민친화 요금제도 운영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(국정14) 국민 맞춤 공공서비스 제공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(국정72·75) 모든 사람이 안전한 나라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다열 표"/>
          <p:cNvGraphicFramePr>
            <a:graphicFrameLocks noGrp="1"/>
          </p:cNvGraphicFramePr>
          <p:nvPr/>
        </p:nvGraphicFramePr>
        <p:xfrm>
          <a:off x="536870" y="6936261"/>
          <a:ext cx="6300000" cy="1543775"/>
        </p:xfrm>
        <a:graphic>
          <a:graphicData uri="http://schemas.openxmlformats.org/drawingml/2006/table">
            <a:tbl>
              <a:tblPr/>
              <a:tblGrid>
                <a:gridCol w="1008000"/>
                <a:gridCol w="2016000"/>
                <a:gridCol w="3276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변경사유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선정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평가 실사시 제시된 의견에 따라 사용자 중심의 서비스 개선과 질적 향상을 위해 만족도 비중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환류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발표된 평가단 지적 및 新정부 안전강화 정책을 반영해 근로자안전 및 시민재해 예방을 위한 지표 신설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新정부 AI 정책을 반영해 기존 첨단기술과 함께 全과정 AI 전환을 통한 기후위기 대응력 강화로 성과관리 확장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3576680"/>
        </p:xfrm>
        <a:graphic>
          <a:graphicData uri="http://schemas.openxmlformats.org/drawingml/2006/table">
            <a:tbl>
              <a:tblPr/>
              <a:tblGrid>
                <a:gridCol w="882000"/>
                <a:gridCol w="378000"/>
                <a:gridCol w="1701000"/>
                <a:gridCol w="1701000"/>
                <a:gridCol w="1638000"/>
              </a:tblGrid>
              <a:tr h="328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과제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~’27년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~’29년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❶❸❺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고도화 및 AX 기반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운영고도화(원가 172억원/연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기후대응 인프라 개선 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국제표준 및 AX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잠재e 발굴(원가 370억원/연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안정화, 고도 등 사업시행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 자율운영 및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고도화(원가 467억원/연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글로벌 수준 고도도입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❶❻❼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표준모델 구축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취약지역 맞춤형 지원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 선도사업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신규사업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취약점 선제적 발굴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국내외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활용, 지방(상) 운영고도화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사각지대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❷❹❽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최적공급방안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운영관리 사업 진출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물이용개선방안 제안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공급망 조성 시행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기반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물이용체계 개선 수립·실행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 용수공급 인프라 준공 등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사업확대 및 민간 동반성장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워터믹스 등 물이용체계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수도특화 안전설계기준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인프라 구축 및 AI기술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 제로 안전 관리체계 완성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sp>
        <p:nvSpPr>
          <p:cNvPr id="41" name="소제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graphicFrame>
        <p:nvGraphicFramePr>
          <p:cNvPr id="42" name="다열 표"/>
          <p:cNvGraphicFramePr>
            <a:graphicFrameLocks noGrp="1"/>
          </p:cNvGraphicFramePr>
          <p:nvPr/>
        </p:nvGraphicFramePr>
        <p:xfrm>
          <a:off x="536870" y="4218417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19,391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17,628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사업 등 건설 완료에 따라 예산이 소폭 감소하였으며, 노후시설 개선 등에 집중투자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7,010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7,520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7,915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안전·혁신기술 예산 전략적 확대와 취약 지자체 정비사업 재원 집중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141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463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390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등 성장분야 및 대국민 서비스 투자는 확대하되, 기술기반 원가저감으로 한정된 재원 활용 효율 극대화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  <p:graphicFrame>
        <p:nvGraphicFramePr>
          <p:cNvPr id="45" name="다열 표"/>
          <p:cNvGraphicFramePr>
            <a:graphicFrameLocks noGrp="1"/>
          </p:cNvGraphicFramePr>
          <p:nvPr/>
        </p:nvGraphicFramePr>
        <p:xfrm>
          <a:off x="536870" y="6045652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1,985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물공급 안전망 투자 확대에 맞춰 운영·건설 병행조직에서 건설 전담조직을 분리·확대(4→8개소)하는 등 조직·인력 조정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712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684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통합 운영, 정비사업 완료(12개) 및 신규협약(24개)에 따른 인력 조정배치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331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 전담조직 신설 및 운영관리 인력 증원(37명) 등 산업용수 인력 재배치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2544727"/>
        </p:xfrm>
        <a:graphic>
          <a:graphicData uri="http://schemas.openxmlformats.org/drawingml/2006/table">
            <a:tbl>
              <a:tblPr/>
              <a:tblGrid>
                <a:gridCol w="2520000"/>
                <a:gridCol w="630000"/>
                <a:gridCol w="315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모니터링 방법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측정시스템: 운영통합(WRO), 시설통합(WFM), 수질통합(WQE)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월간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성과관리시스템, 국가상수도정보시스템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국민소통센터(BP발굴)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국민기대수질 달성률(%)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전사경영회의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노후(상) 정비사업 달성도(%)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성과관리회의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급수 취약지역 인구 해소(누계, 천명)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고객만족도(점)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 등 5개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sp>
        <p:nvSpPr>
          <p:cNvPr id="20" name="번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21" name="분야 박스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3" name="소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25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27" name="요약 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29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31" name="요약 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35" name="번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6" name="분야 박스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38" name="소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38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sp>
        <p:nvSpPr>
          <p:cNvPr id="60" name="번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61" name="분야 박스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63" name="소제목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69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75" name="카드 제목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76" name="카드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7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79" name="카드 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80" name="카드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sp>
        <p:nvSpPr>
          <p:cNvPr id="83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87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8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94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sp>
        <p:nvSpPr>
          <p:cNvPr id="18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9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0" name="사진 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sp>
        <p:nvSpPr>
          <p:cNvPr id="21" name="주요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22" name="주요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sp>
        <p:nvSpPr>
          <p:cNvPr id="21" name="주요성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주요성과 문구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  <p:graphicFrame>
        <p:nvGraphicFramePr>
          <p:cNvPr id="9" name="다열 표"/>
          <p:cNvGraphicFramePr>
            <a:graphicFrameLocks noGrp="1"/>
          </p:cNvGraphicFramePr>
          <p:nvPr/>
        </p:nvGraphicFramePr>
        <p:xfrm>
          <a:off x="723130" y="1161391"/>
          <a:ext cx="6300000" cy="3398559"/>
        </p:xfrm>
        <a:graphic>
          <a:graphicData uri="http://schemas.openxmlformats.org/drawingml/2006/table">
            <a:tbl>
              <a:tblPr/>
              <a:tblGrid>
                <a:gridCol w="882000"/>
                <a:gridCol w="693000"/>
                <a:gridCol w="2835000"/>
                <a:gridCol w="189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인력 중심 고비용 노후관로 상태평가를 AI를 활용한 평가 예측과 영상판독으로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 비용을 인력수행 比 최대 455억원 절감 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정수장 데이터 관리·성능 및 품질관리·장애대응 등 표준 운영 가이드라인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운영편차 최소화를 통한 휴먼에러 저감(신뢰도 95%)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 정비사업 통합수탁(5개 개별 지자체 → 2개 권역 통합)으로 적은 인원으로 성과 창출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K-water 인력부족으로 인한 개별수탁 수용불가 문제 해결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 정비사업 프로세스 간소화로 성과 조기 창출(순차적 협의 → 지자체 우선협의+설계 일괄발주)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정비사업 기간 7개월 단축(전체 사업기간의 10%)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국내 기업 최초 초순수 운영관리 사업 진출에 따라 전문성을 갖춘 전담 조직 신설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공백없는 시설운영(인수인계, 시운전 등 사전수행)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산업단지 계획단계부터 인프라(용수, 전력 등) 사전 검토 가이드라인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산단 입주에 맞춘 적기 물공급으로 기업 니즈 충족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수도시설에 맞는 안전기준 집약(5천건 → 522개 항목), 표준작업절차서 131종 마련, 자회사 안전인력 확충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상수도 안전 표준 제시 및 산업재해 저감 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graphicFrame>
        <p:nvGraphicFramePr>
          <p:cNvPr id="14" name="실적표"/>
          <p:cNvGraphicFramePr>
            <a:graphicFrameLocks noGrp="1"/>
          </p:cNvGraphicFramePr>
          <p:nvPr/>
        </p:nvGraphicFramePr>
        <p:xfrm>
          <a:off x="536870" y="1522957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계절별 수질 취약요소 관리강화로 국민체감도가 높은 냄새, 망간 등을 불검출 수준 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이상수질 증가에도 역대 최고 국민기대수질 98.3% 달성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현장에서 접속, 민원 일괄처리가 가능한 One-Stop 모바일 지방상수도 업무처리 시스템 구축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민원 신속 응대로 국민 편의성 제고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10년간 요금동결 등 재정적 어려움에도 급수 취약지역 해소, 사회적 배려계층 지원 확대 등 국민 고충 해결 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보편적 물 수혜확대와 물 복지 사각지대 해소기여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상수도관 신속정비, AI 활용 누수관리 강화 등을 통해 국민 불안이 높은 싱크홀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K-water 관리 상수도관 관련 싱크홀 제로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  <p:graphicFrame>
        <p:nvGraphicFramePr>
          <p:cNvPr id="17" name="실적표"/>
          <p:cNvGraphicFramePr>
            <a:graphicFrameLocks noGrp="1"/>
          </p:cNvGraphicFramePr>
          <p:nvPr/>
        </p:nvGraphicFramePr>
        <p:xfrm>
          <a:off x="536870" y="3188348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글로벌 선도 AI정수장 기술 민간기업 기술이전 활성화로 국내 물산업 육성 및 공적 역할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기술이전 35건으로 중소기업 동반성장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산불·가뭄 등 재난 시 피해복구 지원, 수질검사, 정수처리 컨설팅 등 총력지원으로 물 공급 조기 정상화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재난피해 6개 지자체, 22만여명 국민의 빠른 일상회복에 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R&amp;D 민관 합동 수행을 통한 기술 자립으로 민간 기업의 사업확장과 기술경쟁력 제고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전략산업(반도체) 기반 강화 및 동반성장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맨홀 단차에 의한 차량 사고 예방과 실시간 누수감지로 침수사고 예방 등 시민재해 예방활동 적극 추진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국민생활 밀접 수도시설 관리 강화로 안전한 일상 보장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  <p:graphicFrame>
        <p:nvGraphicFramePr>
          <p:cNvPr id="9" name="실적표"/>
          <p:cNvGraphicFramePr>
            <a:graphicFrameLocks noGrp="1"/>
          </p:cNvGraphicFramePr>
          <p:nvPr/>
        </p:nvGraphicFramePr>
        <p:xfrm>
          <a:off x="723130" y="1172348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 변화 및 위험요인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대응노력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과불화화합물 규제강화 예고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WHO 발암물질 지정, 선제 대비 중요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활성탄 순환 생태계 선제 구축 및 국가 R&amp;D 정책 견인으로 PFAS 대응 선도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가뭄, 산불 등 대형 국가재난 지속 발생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재난발생으로 물 공급 중단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인력·자재·기술 등 지자체 총력지원과 합동 위기대응으로 용수공급 조기 정상화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첨단산단 중심 물수요 지속 증가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댐개발 불투명, 가용수자원 한정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산업입지에 적합한 최적 용수공급 방안 제시 및 근본적 물 문제해소 방안 정책화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근로자, 국민 안전 최우선 경영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수도시설은 시민밀접시설로 전국 산재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밀폐공간, 스마트 안전장비로 근로자 안전, 노후관 정비로 싱크홀 예방 등 국민 안전 보장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723130" y="1533913"/>
          <a:ext cx="6300001" cy="110942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개선 및 확산 과제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 추진성과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AI정수장 기술최적화 지속(생성형AI), 수도통합 DT 기반 의사결정 Solution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정수장 고도화(피지컬 AI 등)와 통합 의사결정 플랫폼 구축으로 성과 확산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수요 맞춤 모듈형 사업모델 기반, 기존 사업 재협약과 신규사업 발굴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통합형(충남), 일괄형(제주) 수탁 등 사업모델 다변화로 신규사업 최다(24개)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활용도 제고를 위한 지자체 연계 홍보 실시 및 서비스 대상 지자체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사용자 맞춤형 상수도정보 소통플랫폼 런칭·서비스 확대로 이용자 확대(증 103천), 서비스만족도 96.6점 달성(목표대비 100.1%)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성과지표별 목표수준 설정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성과지표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 대응강화: 위성 활용기술 수준(%) (’30년도까지 90% 달성)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미국(NASA, Global Top 1) Catch-Up: 100%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80%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Gap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 3개 분야(분석·운영·데이터) 기술격차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분석: 활용산출물 제공 ↔ 시범테스트 / 운영: 전용 S/W 보유 ↔ 수신 S/W·H/W 보유 / 데이터: 글로벌 데이터 제공 ↔ 테스트 데이터 제공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분석기술: 위성 검보정 기술선진국(DLR) 국제협력으로 원천기술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운영기술: 해외위성 자료획득 노하우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품질: AI기반 위성 활용산출물 정확도 향상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82% 이상(’30년 90% 수준 달성을 위하여 연간 약 2%p 향상 목표)</a:t>
            </a:r>
          </a:p>
        </p:txBody>
      </p:sp>
      <p:sp>
        <p:nvSpPr>
          <p:cNvPr id="28" name="번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29" name="분야 박스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계량</a:t>
            </a:r>
          </a:p>
        </p:txBody>
      </p:sp>
      <p:sp>
        <p:nvSpPr>
          <p:cNvPr id="31" name="소제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계량 성과지표</a:t>
            </a:r>
          </a:p>
        </p:txBody>
      </p:sp>
      <p:graphicFrame>
        <p:nvGraphicFramePr>
          <p:cNvPr id="32" name="다열 표"/>
          <p:cNvGraphicFramePr>
            <a:graphicFrameLocks noGrp="1"/>
          </p:cNvGraphicFramePr>
          <p:nvPr/>
        </p:nvGraphicFramePr>
        <p:xfrm>
          <a:off x="536870" y="4361165"/>
          <a:ext cx="6300000" cy="2702663"/>
        </p:xfrm>
        <a:graphic>
          <a:graphicData uri="http://schemas.openxmlformats.org/drawingml/2006/table">
            <a:tbl>
              <a:tblPr/>
              <a:tblGrid>
                <a:gridCol w="1260000"/>
                <a:gridCol w="567000"/>
                <a:gridCol w="567000"/>
                <a:gridCol w="567000"/>
                <a:gridCol w="3339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 목표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설정근거 및 도전성·제약요인 분석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 최적운영 달성률(%)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 / 이상기후 심화에도 물재해 Zero 달성을 위해 100% 목표 설정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노후시설 재해대응력 확보율(%)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20.8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33.3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45.8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국정과제-43 / 불리한 공정추진 여건에도 2년 연속 3개소 완료로 목표 설정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 환경기준 1등급 달성도(%)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경영목표 / 수질관리 어려움에도 목표 상향 및 검증항목 확대(2 → 4 → 5개)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물환경 개선사업 추진댐(누적, 개소)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댐별 오염원 특성 맞춤형 저감, ’24년 목표(23개소)보다 5개소 추가 상향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대체수자원 시설용량(천㎥/일)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179.5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263.4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288.5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취약지역 물부족 해소를 위해 전년 실적 대비 약 10% 상향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 상생협력 사업비(억원)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161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185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국정과제-15·107 / 지역소멸 대응, 전년 실적 比 15% 목표 상향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번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4" name="분야 박스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비계량</a:t>
            </a:r>
          </a:p>
        </p:txBody>
      </p:sp>
      <p:sp>
        <p:nvSpPr>
          <p:cNvPr id="36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비계량 성과지표</a:t>
            </a:r>
          </a:p>
        </p:txBody>
      </p:sp>
      <p:graphicFrame>
        <p:nvGraphicFramePr>
          <p:cNvPr id="37" name="다열 표"/>
          <p:cNvGraphicFramePr>
            <a:graphicFrameLocks noGrp="1"/>
          </p:cNvGraphicFramePr>
          <p:nvPr/>
        </p:nvGraphicFramePr>
        <p:xfrm>
          <a:off x="536870" y="7502087"/>
          <a:ext cx="6300000" cy="2394471"/>
        </p:xfrm>
        <a:graphic>
          <a:graphicData uri="http://schemas.openxmlformats.org/drawingml/2006/table">
            <a:tbl>
              <a:tblPr/>
              <a:tblGrid>
                <a:gridCol w="1071000"/>
                <a:gridCol w="945000"/>
                <a:gridCol w="945000"/>
                <a:gridCol w="945000"/>
                <a:gridCol w="945000"/>
                <a:gridCol w="1449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설정근거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AI·DT 기반 기술 고도화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홍수분석 고도화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국가하천 CCTV 연계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고도화 기술 홍수기 시범적용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핵심기술 안정화 완료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국정과제-23·73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 상류 유역 오염원 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 사업 추진계획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 대상지 사업설명회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참여농가 이행협약 체결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오염저감기법 보급 및 주민교육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국민소통 기반 물그릇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신규댐 관련 국가계획 반영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 거버넌스 구축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신규댐 지역 수용성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댐별 사업 추진계획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수자원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 계획수립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안내방식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스마트기술 적용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제도개선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양극화로 극한홍수, 극한가뭄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예측적 댐운영 및 저수량 관리 어려움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물재해 감시위성 등 기후적응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대비, 물관리 인프라 안정성 확보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기술 기반의 과학적 물관리와 인프라 고도화로 안전한 물관리 실현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대응 고도화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 안전성 강화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선도 혁신기술 확산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DT 기반 홍수대응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대응 가뭄 극복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 안전관리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구조개선 등 댐 안전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DT성과 글로벌·민간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물재해 감시 위성분야 선도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불확실한 기후 여건 맞춤형 댐 운영으로 물재해 Zero 달성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홍수 대응체계 고도화와 댐 운영 제약요건 영구해소로 홍수대비 완료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 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여건조사: ’25.2~6 全댐 운영여건 조사를 통해 댐 운영시 영향을 받는 1,771개소 점검 → 방류시 하류 침수위험 128개소, 시민 고립 우려지역 81개소 등 포함 DT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이상홍수: 기상예보와 다른 이상 극한홍수 대비 모의훈련 실시(2회, 200년 빈도 이상) → 극한홍수 상황시 DT 활용 등 실제 상황과 동일한 의사결정 과정을 통한 대응역량 강화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피해는 예보를 초과한 집중호우로 대다수 발생, 스마트기술 활용 모니터링 체계 강화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 AI 활용 극한강우 예측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분석 방류 의사결정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감시 하류 모니터링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기상청 정보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AI 활용 기상 예측(실황기반 최적모델 선별)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단일조건(강우×방류)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최대 48개(강우8×방류6) 동시 시뮬레이션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하천 CCTV 46개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 CCTV 1,800개 추가 연계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안동댐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제약요건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영구해소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’76년 안동댐 준공 이후 댐 국유지 내 47가구 불법 점유 중으로, 침수 우려로 비워둔 댐 용량 활용 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추진: ’24년 국유재산 관리 목적 행정대집행 권한 확보에도, 1:1 이주 상담·설계, 정부지원 안내 등 맞춤형 이주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주민 100% 이주로 안동댐 물그릇 100% 활용(물그릇 1.3억톤 회복, 운문댐 1개 규모의 이·치수 물량 확보)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