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2 서사 · 新노동 패러다임에 신속한 대응(정책기조 → 의견수렴 → 시사점 → 목표 · 4대 실행체계 · 9대 실행과제 → 대표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413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116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74783"/>
            <a:ext cx="580696" cy="1177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744637" y="27391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7391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925391"/>
            <a:ext cx="580696" cy="805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57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캡션 띠"/>
          <p:cNvSpPr/>
          <p:nvPr/>
        </p:nvSpPr>
        <p:spPr>
          <a:xfrm>
            <a:off x="723130" y="3790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1051826" y="383478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9"/>
          </p:nvPr>
        </p:nvSpPr>
        <p:spPr>
          <a:xfrm>
            <a:off x="1051826" y="383478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1" name="캡션"/>
          <p:cNvSpPr>
            <a:spLocks noGrp="1"/>
          </p:cNvSpPr>
          <p:nvPr>
            <p:ph type="body" sz="quarter" idx="40"/>
          </p:nvPr>
        </p:nvSpPr>
        <p:spPr>
          <a:xfrm>
            <a:off x="1545480" y="379095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097739"/>
            <a:ext cx="6300000" cy="30582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1141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1141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5" name="배너"/>
          <p:cNvSpPr/>
          <p:nvPr/>
        </p:nvSpPr>
        <p:spPr>
          <a:xfrm>
            <a:off x="1347652" y="41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41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4384017"/>
            <a:ext cx="580696" cy="2755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384017"/>
            <a:ext cx="580696" cy="275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4384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2770630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2759674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171696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5594674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cxnSp>
        <p:nvCxnSpPr>
          <p:cNvPr id="66" name="Connector 47"/>
          <p:cNvCxnSpPr/>
          <p:nvPr/>
        </p:nvCxnSpPr>
        <p:spPr>
          <a:xfrm>
            <a:off x="5583717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배너"/>
          <p:cNvSpPr/>
          <p:nvPr/>
        </p:nvSpPr>
        <p:spPr>
          <a:xfrm>
            <a:off x="1347652" y="56275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56275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69" name="단계"/>
          <p:cNvSpPr/>
          <p:nvPr/>
        </p:nvSpPr>
        <p:spPr>
          <a:xfrm>
            <a:off x="1347652" y="58631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71" name="단계"/>
          <p:cNvSpPr/>
          <p:nvPr/>
        </p:nvSpPr>
        <p:spPr>
          <a:xfrm>
            <a:off x="3230348" y="58631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3230348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73" name="단계"/>
          <p:cNvSpPr/>
          <p:nvPr/>
        </p:nvSpPr>
        <p:spPr>
          <a:xfrm>
            <a:off x="5113043" y="58631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5113043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3230347" y="58631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단계 삼각형"/>
          <p:cNvSpPr/>
          <p:nvPr/>
        </p:nvSpPr>
        <p:spPr>
          <a:xfrm>
            <a:off x="5113043" y="58631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3241304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230348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5124000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113043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틀"/>
          <p:cNvSpPr/>
          <p:nvPr/>
        </p:nvSpPr>
        <p:spPr>
          <a:xfrm>
            <a:off x="723130" y="72217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성과 라벨"/>
          <p:cNvSpPr/>
          <p:nvPr/>
        </p:nvSpPr>
        <p:spPr>
          <a:xfrm>
            <a:off x="734087" y="72327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라벨"/>
          <p:cNvSpPr>
            <a:spLocks noGrp="1"/>
          </p:cNvSpPr>
          <p:nvPr>
            <p:ph type="body" sz="quarter" idx="55"/>
          </p:nvPr>
        </p:nvSpPr>
        <p:spPr>
          <a:xfrm>
            <a:off x="734087" y="72327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5" name="성과 띠"/>
          <p:cNvSpPr/>
          <p:nvPr/>
        </p:nvSpPr>
        <p:spPr>
          <a:xfrm>
            <a:off x="1358609" y="72546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성과 띠"/>
          <p:cNvSpPr>
            <a:spLocks noGrp="1"/>
          </p:cNvSpPr>
          <p:nvPr>
            <p:ph type="body" sz="quarter" idx="56"/>
          </p:nvPr>
        </p:nvSpPr>
        <p:spPr>
          <a:xfrm>
            <a:off x="1358609" y="72546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87" name="카드"/>
          <p:cNvSpPr/>
          <p:nvPr/>
        </p:nvSpPr>
        <p:spPr>
          <a:xfrm>
            <a:off x="1358609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카드 문구"/>
          <p:cNvSpPr>
            <a:spLocks noGrp="1"/>
          </p:cNvSpPr>
          <p:nvPr>
            <p:ph type="body" sz="quarter" idx="57"/>
          </p:nvPr>
        </p:nvSpPr>
        <p:spPr>
          <a:xfrm>
            <a:off x="1380522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89" name="카드"/>
          <p:cNvSpPr/>
          <p:nvPr/>
        </p:nvSpPr>
        <p:spPr>
          <a:xfrm>
            <a:off x="3250435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58"/>
          </p:nvPr>
        </p:nvSpPr>
        <p:spPr>
          <a:xfrm>
            <a:off x="3272348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91" name="카드"/>
          <p:cNvSpPr/>
          <p:nvPr/>
        </p:nvSpPr>
        <p:spPr>
          <a:xfrm>
            <a:off x="5142261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59"/>
          </p:nvPr>
        </p:nvSpPr>
        <p:spPr>
          <a:xfrm>
            <a:off x="5164174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3 서사 · 노사기준 재정비 및 디지털 노무광장 오픈 도입(필수유지업무협정 개정 · 근로시간면제제도 재합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301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7" name="태그칩"/>
          <p:cNvSpPr/>
          <p:nvPr/>
        </p:nvSpPr>
        <p:spPr>
          <a:xfrm>
            <a:off x="493702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93702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59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887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492609"/>
            <a:ext cx="580696" cy="156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492609"/>
            <a:ext cx="580696" cy="156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49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3985435" y="2547391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4158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4174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4 서사 · K-노무포털(Portal) 런칭(성과환류 → 기존 L-Guard → 개선: 노사합의 관리시스템화 · 참여형 노무정보 HU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96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11" name="태그칩"/>
          <p:cNvSpPr/>
          <p:nvPr/>
        </p:nvSpPr>
        <p:spPr>
          <a:xfrm>
            <a:off x="50414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414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59255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59255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82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163913"/>
            <a:ext cx="580696" cy="166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2163913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2185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5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26" name="단계"/>
          <p:cNvSpPr/>
          <p:nvPr/>
        </p:nvSpPr>
        <p:spPr>
          <a:xfrm>
            <a:off x="1347652" y="2421391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421391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28" name="단계"/>
          <p:cNvSpPr/>
          <p:nvPr/>
        </p:nvSpPr>
        <p:spPr>
          <a:xfrm>
            <a:off x="2477270" y="2421391"/>
            <a:ext cx="2259235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477270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30" name="단계"/>
          <p:cNvSpPr/>
          <p:nvPr/>
        </p:nvSpPr>
        <p:spPr>
          <a:xfrm>
            <a:off x="4736504" y="2421391"/>
            <a:ext cx="2259235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736504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2477269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736504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673391"/>
            <a:ext cx="1107704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2488226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2477270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4736504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393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94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5 서사 · 선제적 노사갈등 관리체계 2.0(그간의 갈등관리 → 새롭게 직면한 환경 → 시사점 → 갈등관리 대응역량 UP → 미래갈등 사전대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319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173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26749" y="1177826"/>
            <a:ext cx="42285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4"/>
          </p:nvPr>
        </p:nvSpPr>
        <p:spPr>
          <a:xfrm>
            <a:off x="626749" y="1177826"/>
            <a:ext cx="42285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364087"/>
            <a:ext cx="580696" cy="147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881565"/>
            <a:ext cx="580696" cy="141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27710" y="3045913"/>
            <a:ext cx="420927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2"/>
          </p:nvPr>
        </p:nvSpPr>
        <p:spPr>
          <a:xfrm>
            <a:off x="627710" y="3045913"/>
            <a:ext cx="42092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3232174"/>
            <a:ext cx="580696" cy="1046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881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배너"/>
          <p:cNvSpPr/>
          <p:nvPr/>
        </p:nvSpPr>
        <p:spPr>
          <a:xfrm>
            <a:off x="1161391" y="2903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903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71913"/>
            <a:ext cx="0" cy="109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캡션 띠"/>
          <p:cNvSpPr/>
          <p:nvPr/>
        </p:nvSpPr>
        <p:spPr>
          <a:xfrm>
            <a:off x="536869" y="43387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태그"/>
          <p:cNvSpPr/>
          <p:nvPr/>
        </p:nvSpPr>
        <p:spPr>
          <a:xfrm>
            <a:off x="865565" y="4382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7"/>
          </p:nvPr>
        </p:nvSpPr>
        <p:spPr>
          <a:xfrm>
            <a:off x="865565" y="4382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0" name="캡션"/>
          <p:cNvSpPr>
            <a:spLocks noGrp="1"/>
          </p:cNvSpPr>
          <p:nvPr>
            <p:ph type="body" sz="quarter" idx="38"/>
          </p:nvPr>
        </p:nvSpPr>
        <p:spPr>
          <a:xfrm>
            <a:off x="1359219" y="43387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51" name="표 외곽"/>
          <p:cNvSpPr/>
          <p:nvPr/>
        </p:nvSpPr>
        <p:spPr>
          <a:xfrm>
            <a:off x="536870" y="4645565"/>
            <a:ext cx="6300000" cy="471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547826" y="4662000"/>
            <a:ext cx="580696" cy="3292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558376" y="4705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4705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4892087"/>
            <a:ext cx="580696" cy="304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683913"/>
            <a:ext cx="1860783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683913"/>
            <a:ext cx="3743478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4716783"/>
            <a:ext cx="0" cy="149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cxnSp>
        <p:nvCxnSpPr>
          <p:cNvPr id="61" name="Connector 47"/>
          <p:cNvCxnSpPr/>
          <p:nvPr/>
        </p:nvCxnSpPr>
        <p:spPr>
          <a:xfrm>
            <a:off x="3044087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cxnSp>
        <p:nvCxnSpPr>
          <p:cNvPr id="63" name="Connector 49"/>
          <p:cNvCxnSpPr/>
          <p:nvPr/>
        </p:nvCxnSpPr>
        <p:spPr>
          <a:xfrm>
            <a:off x="4926783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161391" y="772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772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66" name="레일"/>
          <p:cNvSpPr/>
          <p:nvPr/>
        </p:nvSpPr>
        <p:spPr>
          <a:xfrm>
            <a:off x="547826" y="7970870"/>
            <a:ext cx="580696" cy="136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503491" y="8135217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7"/>
          </p:nvPr>
        </p:nvSpPr>
        <p:spPr>
          <a:xfrm>
            <a:off x="503491" y="8135217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8321478"/>
            <a:ext cx="580696" cy="997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547826" y="7970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cxnSp>
        <p:nvCxnSpPr>
          <p:cNvPr id="73" name="Connector 57"/>
          <p:cNvCxnSpPr/>
          <p:nvPr/>
        </p:nvCxnSpPr>
        <p:spPr>
          <a:xfrm>
            <a:off x="3985435" y="8025652"/>
            <a:ext cx="0" cy="127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536870" y="9444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9460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6 서사 · 노사리더 소통과 노동이사(노사소통 현주소 → 시사점 → 양방향 소통 → 한 단계 도약하는 핫라인 → 노사협력 가교 노동이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59303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59303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2174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22186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22186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21748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2481652"/>
            <a:ext cx="6300000" cy="5598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2498087"/>
            <a:ext cx="580696" cy="1342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98087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33" name="머리칸"/>
          <p:cNvSpPr/>
          <p:nvPr/>
        </p:nvSpPr>
        <p:spPr>
          <a:xfrm>
            <a:off x="4171696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4171696" y="2793913"/>
            <a:ext cx="0" cy="100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734087" y="3856696"/>
            <a:ext cx="580696" cy="175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856696"/>
            <a:ext cx="580696" cy="175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85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87860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87860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43" name="단계"/>
          <p:cNvSpPr/>
          <p:nvPr/>
        </p:nvSpPr>
        <p:spPr>
          <a:xfrm>
            <a:off x="2759674" y="3878609"/>
            <a:ext cx="423606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878609"/>
            <a:ext cx="42360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3878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4130609"/>
            <a:ext cx="1390109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4130609"/>
            <a:ext cx="4214152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759674" y="4163478"/>
            <a:ext cx="0" cy="141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631652"/>
            <a:ext cx="580696" cy="243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5631652"/>
            <a:ext cx="580696" cy="243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5631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565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565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565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565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565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6798522"/>
            <a:ext cx="2331457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3711978" y="6798522"/>
            <a:ext cx="3272804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701022" y="6831391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723130" y="81680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756000" y="82009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82009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81900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Relationship Id="rId166" Type="http://schemas.openxmlformats.org/officeDocument/2006/relationships/slideLayout" Target="../slideLayouts/slideLayout168.xml"/><Relationship Id="rId167" Type="http://schemas.openxmlformats.org/officeDocument/2006/relationships/slideLayout" Target="../slideLayouts/slideLayout169.xml"/><Relationship Id="rId168" Type="http://schemas.openxmlformats.org/officeDocument/2006/relationships/slideLayout" Target="../slideLayouts/slideLayout170.xml"/><Relationship Id="rId169" Type="http://schemas.openxmlformats.org/officeDocument/2006/relationships/slideLayout" Target="../slideLayouts/slideLayout171.xml"/><Relationship Id="rId170" Type="http://schemas.openxmlformats.org/officeDocument/2006/relationships/slideLayout" Target="../slideLayouts/slideLayout17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  <p:sldLayoutId id="2147483816" r:id="rId166"/>
    <p:sldLayoutId id="2147483817" r:id="rId167"/>
    <p:sldLayoutId id="2147483818" r:id="rId168"/>
    <p:sldLayoutId id="2147483819" r:id="rId169"/>
    <p:sldLayoutId id="2147483820" r:id="rId170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4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8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9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3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4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8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9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0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3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5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6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8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9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0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2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3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4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6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8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9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0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2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3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4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5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6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8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9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0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2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3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4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5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6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8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9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0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2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3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4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6.xml"/><Relationship Id="rId2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7.xml"/><Relationship Id="rId2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8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9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0.xml"/><Relationship Id="rId2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1.xml"/><Relationship Id="rId2" Type="http://schemas.openxmlformats.org/officeDocument/2006/relationships/notesSlide" Target="../notesSlides/notesSlide15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2.xml"/><Relationship Id="rId2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3.xml"/><Relationship Id="rId2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4.xml"/><Relationship Id="rId2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5.xml"/><Relationship Id="rId2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6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1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7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8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9.xml"/><Relationship Id="rId2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0.xml"/><Relationship Id="rId2" Type="http://schemas.openxmlformats.org/officeDocument/2006/relationships/notesSlide" Target="../notesSlides/notesSlide164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2.xml"/><Relationship Id="rId2" Type="http://schemas.openxmlformats.org/officeDocument/2006/relationships/notesSlide" Target="../notesSlides/notesSlide1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sp>
        <p:nvSpPr>
          <p:cNvPr id="58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sp>
        <p:nvSpPr>
          <p:cNvPr id="72" name="레일 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73" name="레일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86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88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sp>
        <p:nvSpPr>
          <p:cNvPr id="95" name="레일 태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96" name="레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46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sp>
        <p:nvSpPr>
          <p:cNvPr id="57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3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66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67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69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78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81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2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90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91" name="PI 글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93" name="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94" name="KPI 글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95" name="KPI 결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97" name="단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sp>
        <p:nvSpPr>
          <p:cNvPr id="103" name="값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18" name="레일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19" name="PI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2" name="KPI 글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23" name="KPI 결과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25" name="단위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sp>
        <p:nvSpPr>
          <p:cNvPr id="131" name="값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34" name="값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7" name="값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40" name="값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41" name="연도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43" name="값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44" name="연도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46" name="레일"/>
          <p:cNvSpPr>
            <a:spLocks noGrp="1"/>
          </p:cNvSpPr>
          <p:nvPr>
            <p:ph type="body" sz="quarter" idx="10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47" name="PI 글"/>
          <p:cNvSpPr>
            <a:spLocks noGrp="1"/>
          </p:cNvSpPr>
          <p:nvPr>
            <p:ph type="body" sz="quarter" idx="10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49" name="태그"/>
          <p:cNvSpPr>
            <a:spLocks noGrp="1"/>
          </p:cNvSpPr>
          <p:nvPr>
            <p:ph type="body" sz="quarter" idx="10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0" name="KPI 글"/>
          <p:cNvSpPr>
            <a:spLocks noGrp="1"/>
          </p:cNvSpPr>
          <p:nvPr>
            <p:ph type="body" sz="quarter" idx="10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51" name="KPI 결과"/>
          <p:cNvSpPr>
            <a:spLocks noGrp="1"/>
          </p:cNvSpPr>
          <p:nvPr>
            <p:ph type="body" sz="quarter" idx="10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53" name="단위"/>
          <p:cNvSpPr>
            <a:spLocks noGrp="1"/>
          </p:cNvSpPr>
          <p:nvPr>
            <p:ph type="body" sz="quarter" idx="10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159" name="값"/>
          <p:cNvSpPr>
            <a:spLocks noGrp="1"/>
          </p:cNvSpPr>
          <p:nvPr>
            <p:ph type="body" sz="quarter" idx="10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60" name="연도"/>
          <p:cNvSpPr>
            <a:spLocks noGrp="1"/>
          </p:cNvSpPr>
          <p:nvPr>
            <p:ph type="body" sz="quarter" idx="11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2" name="값"/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63" name="연도"/>
          <p:cNvSpPr>
            <a:spLocks noGrp="1"/>
          </p:cNvSpPr>
          <p:nvPr>
            <p:ph type="body" sz="quarter" idx="11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5" name="값"/>
          <p:cNvSpPr>
            <a:spLocks noGrp="1"/>
          </p:cNvSpPr>
          <p:nvPr>
            <p:ph type="body" sz="quarter" idx="11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66" name="연도"/>
          <p:cNvSpPr>
            <a:spLocks noGrp="1"/>
          </p:cNvSpPr>
          <p:nvPr>
            <p:ph type="body" sz="quarter" idx="11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8" name="값"/>
          <p:cNvSpPr>
            <a:spLocks noGrp="1"/>
          </p:cNvSpPr>
          <p:nvPr>
            <p:ph type="body" sz="quarter" idx="11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69" name="연도"/>
          <p:cNvSpPr>
            <a:spLocks noGrp="1"/>
          </p:cNvSpPr>
          <p:nvPr>
            <p:ph type="body" sz="quarter" idx="11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71" name="값"/>
          <p:cNvSpPr>
            <a:spLocks noGrp="1"/>
          </p:cNvSpPr>
          <p:nvPr>
            <p:ph type="body" sz="quarter" idx="11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172" name="연도"/>
          <p:cNvSpPr>
            <a:spLocks noGrp="1"/>
          </p:cNvSpPr>
          <p:nvPr>
            <p:ph type="body" sz="quarter" idx="11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74" name="레일"/>
          <p:cNvSpPr>
            <a:spLocks noGrp="1"/>
          </p:cNvSpPr>
          <p:nvPr>
            <p:ph type="body" sz="quarter" idx="11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2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177" name="태그"/>
          <p:cNvSpPr>
            <a:spLocks noGrp="1"/>
          </p:cNvSpPr>
          <p:nvPr>
            <p:ph type="body" sz="quarter" idx="1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178" name="KPI 글"/>
          <p:cNvSpPr>
            <a:spLocks noGrp="1"/>
          </p:cNvSpPr>
          <p:nvPr>
            <p:ph type="body" sz="quarter" idx="1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179" name="KPI 결과"/>
          <p:cNvSpPr>
            <a:spLocks noGrp="1"/>
          </p:cNvSpPr>
          <p:nvPr>
            <p:ph type="body" sz="quarter" idx="1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181" name="단위"/>
          <p:cNvSpPr>
            <a:spLocks noGrp="1"/>
          </p:cNvSpPr>
          <p:nvPr>
            <p:ph type="body" sz="quarter" idx="1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sp>
        <p:nvSpPr>
          <p:cNvPr id="187" name="값"/>
          <p:cNvSpPr>
            <a:spLocks noGrp="1"/>
          </p:cNvSpPr>
          <p:nvPr>
            <p:ph type="body" sz="quarter" idx="1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8" name="연도"/>
          <p:cNvSpPr>
            <a:spLocks noGrp="1"/>
          </p:cNvSpPr>
          <p:nvPr>
            <p:ph type="body" sz="quarter" idx="1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0" name="값"/>
          <p:cNvSpPr>
            <a:spLocks noGrp="1"/>
          </p:cNvSpPr>
          <p:nvPr>
            <p:ph type="body" sz="quarter" idx="1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1" name="연도"/>
          <p:cNvSpPr>
            <a:spLocks noGrp="1"/>
          </p:cNvSpPr>
          <p:nvPr>
            <p:ph type="body" sz="quarter" idx="1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3" name="값"/>
          <p:cNvSpPr>
            <a:spLocks noGrp="1"/>
          </p:cNvSpPr>
          <p:nvPr>
            <p:ph type="body" sz="quarter" idx="1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4" name="연도"/>
          <p:cNvSpPr>
            <a:spLocks noGrp="1"/>
          </p:cNvSpPr>
          <p:nvPr>
            <p:ph type="body" sz="quarter" idx="1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6" name="값"/>
          <p:cNvSpPr>
            <a:spLocks noGrp="1"/>
          </p:cNvSpPr>
          <p:nvPr>
            <p:ph type="body" sz="quarter" idx="1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7" name="연도"/>
          <p:cNvSpPr>
            <a:spLocks noGrp="1"/>
          </p:cNvSpPr>
          <p:nvPr>
            <p:ph type="body" sz="quarter" idx="1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99" name="값"/>
          <p:cNvSpPr>
            <a:spLocks noGrp="1"/>
          </p:cNvSpPr>
          <p:nvPr>
            <p:ph type="body" sz="quarter" idx="1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0" name="연도"/>
          <p:cNvSpPr>
            <a:spLocks noGrp="1"/>
          </p:cNvSpPr>
          <p:nvPr>
            <p:ph type="body" sz="quarter" idx="1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51" name="사진 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5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28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사진 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58" name="카드 설명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59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61" name="카드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62" name="사진 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64" name="카드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67" name="카드 설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70" name="카드 설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sp>
        <p:nvSpPr>
          <p:cNvPr id="44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5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sp>
        <p:nvSpPr>
          <p:cNvPr id="32" name="주요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3" name="주요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sp>
        <p:nvSpPr>
          <p:cNvPr id="49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0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5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4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0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37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5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6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47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1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58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59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4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5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6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67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68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2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0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21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3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4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5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8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9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30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32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4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5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7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8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9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41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42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4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5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6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1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52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3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4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5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6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7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8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9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0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61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62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3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4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5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7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8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9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70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71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72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3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5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6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8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82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6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7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8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90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91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92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5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6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7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0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1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2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3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4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5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6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18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19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0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2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3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4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6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27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28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2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3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38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2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3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6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61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81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4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91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92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5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6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7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5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7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9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10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11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3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4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6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18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0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2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4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6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28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0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2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4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8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0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3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4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57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58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2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3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0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1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2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3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4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5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6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77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1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2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3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4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5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6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87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8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2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3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4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5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6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98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2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3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6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08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1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2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5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6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19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2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4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27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28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1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2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5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9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0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6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7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57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8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78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9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3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5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6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3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4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7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99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3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4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37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2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17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18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0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0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5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5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6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47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0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6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67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68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0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7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19" name="인라인 표"/>
          <p:cNvGraphicFramePr>
            <a:graphicFrameLocks noGrp="1"/>
          </p:cNvGraphicFramePr>
          <p:nvPr/>
        </p:nvGraphicFramePr>
        <p:xfrm>
          <a:off x="1391478" y="1965443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1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3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3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2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1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70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72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7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0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2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5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37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38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39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0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2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5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47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0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4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5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17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18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0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3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4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29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0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5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6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1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2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47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48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3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4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6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59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0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6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4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7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9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50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3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4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5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7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1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71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2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sp>
        <p:nvSpPr>
          <p:cNvPr id="63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72" name="핵심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sp>
        <p:nvSpPr>
          <p:cNvPr id="44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45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sp>
        <p:nvSpPr>
          <p:cNvPr id="56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graphicFrame>
        <p:nvGraphicFramePr>
          <p:cNvPr id="23" name="인라인 표"/>
          <p:cNvGraphicFramePr>
            <a:graphicFrameLocks noGrp="1"/>
          </p:cNvGraphicFramePr>
          <p:nvPr/>
        </p:nvGraphicFramePr>
        <p:xfrm>
          <a:off x="5156870" y="1976400"/>
          <a:ext cx="2136521" cy="624522"/>
        </p:xfrm>
        <a:graphic>
          <a:graphicData uri="http://schemas.openxmlformats.org/drawingml/2006/table">
            <a:tbl>
              <a:tblPr/>
              <a:tblGrid>
                <a:gridCol w="821739"/>
                <a:gridCol w="657391"/>
                <a:gridCol w="657391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항목(예시)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유류(mg/kg)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아연(mg/kg)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법적기준(주택)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최종성과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133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35" name="사진 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7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sp>
        <p:nvSpPr>
          <p:cNvPr id="4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sp>
        <p:nvSpPr>
          <p:cNvPr id="25" name="핵심성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6" name="핵심성과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0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14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18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19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24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sp>
        <p:nvSpPr>
          <p:cNvPr id="24" name="소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25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태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0" name="태그 설명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2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번호 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18" name="번호 띠 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51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13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17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18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22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23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31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32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0" name="번호 띠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31" name="번호 띠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32" name="번호 띠 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sp>
        <p:nvSpPr>
          <p:cNvPr id="70" name="레일 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71" name="레일 라벨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30" name="분야 박스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32" name="소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33" name="태그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4" name="태그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9" name="분야 박스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61" name="소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62" name="태그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sp>
        <p:nvSpPr>
          <p:cNvPr id="81" name="주요성과 라벨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84" name="주요성과 라벨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85" name="주요성과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52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sp>
        <p:nvSpPr>
          <p:cNvPr id="71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6" name="단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7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15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sp>
        <p:nvSpPr>
          <p:cNvPr id="31" name="주요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주요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45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1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sp>
        <p:nvSpPr>
          <p:cNvPr id="6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배너 글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7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sp>
        <p:nvSpPr>
          <p:cNvPr id="48" name="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9" name="성과 띠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9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64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7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72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78" name="카드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80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83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86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sp>
        <p:nvSpPr>
          <p:cNvPr id="20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sp>
        <p:nvSpPr>
          <p:cNvPr id="34" name="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37" name="카드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2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0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sp>
        <p:nvSpPr>
          <p:cNvPr id="23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24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26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28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29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1" name="값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32" name="연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6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37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2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44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45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0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52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53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sp>
        <p:nvSpPr>
          <p:cNvPr id="35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2" name="캡션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65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sp>
        <p:nvSpPr>
          <p:cNvPr id="26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graphicFrame>
        <p:nvGraphicFramePr>
          <p:cNvPr id="12" name="실적표"/>
          <p:cNvGraphicFramePr>
            <a:graphicFrameLocks noGrp="1"/>
          </p:cNvGraphicFramePr>
          <p:nvPr/>
        </p:nvGraphicFramePr>
        <p:xfrm>
          <a:off x="536870" y="1161391"/>
          <a:ext cx="6300001" cy="723131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유형 · 기간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연차별 임금감소 비율 · 누적 절감률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 이상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3.5년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6개월 5% → 1년차 10% → 2년차 20% → 3년차 30% (누적 65%)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3급 이하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정년연장형 2.0년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1년차 20% → 2년차 30% (누적 50%)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실적표"/>
          <p:cNvGraphicFramePr>
            <a:graphicFrameLocks noGrp="1"/>
          </p:cNvGraphicFramePr>
          <p:nvPr/>
        </p:nvGraphicFramePr>
        <p:xfrm>
          <a:off x="536870" y="1972174"/>
          <a:ext cx="6300001" cy="476609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임금피크 인원 · 충당률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절감재원 · 신규채용보수(백만원)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’25년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422명 · 105%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6,192 · 5,876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핵심성과 라벨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6" name="핵심성과 문구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9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sp>
        <p:nvSpPr>
          <p:cNvPr id="24" name="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성과 띠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27" name="카드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29" name="값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30" name="연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32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33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5" name="카드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45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sp>
        <p:nvSpPr>
          <p:cNvPr id="16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24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5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160</a:t>
            </a:r>
          </a:p>
        </p:txBody>
      </p:sp>
      <p:sp>
        <p:nvSpPr>
          <p:cNvPr id="4" name="주석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7" name="장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  <p:graphicFrame>
        <p:nvGraphicFramePr>
          <p:cNvPr id="15" name="실적표"/>
          <p:cNvGraphicFramePr>
            <a:graphicFrameLocks noGrp="1"/>
          </p:cNvGraphicFramePr>
          <p:nvPr/>
        </p:nvGraphicFramePr>
        <p:xfrm>
          <a:off x="723130" y="2662591"/>
          <a:ext cx="6300001" cy="96965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직위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성명 · 연락처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E-mail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경영부문장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남영현 · 042-629-2203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nyh@kwater.or.kr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노사협력처장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박혜원 · 042-629-2650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hyewon@kwater.or.kr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노사협력부장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이석원 · 042-629-2651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leesw@kwater.or.kr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graphicFrame>
        <p:nvGraphicFramePr>
          <p:cNvPr id="11" name="실적표"/>
          <p:cNvGraphicFramePr>
            <a:graphicFrameLocks noGrp="1"/>
          </p:cNvGraphicFramePr>
          <p:nvPr/>
        </p:nvGraphicFramePr>
        <p:xfrm>
          <a:off x="536870" y="1276435"/>
          <a:ext cx="6300001" cy="2695307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장 · 평가내용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Ⅰ. 2024년 지적사항 조치실적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Ⅱ. 2025년 주요 추진실적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Ⅲ. 2025년 세부평가내용별 추진실적 및 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新노동 패러다임에 신속한 대응, 노사 全분야 펀더멘탈 확립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101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법과 원칙에 따른 노사기준 재정비 및 참여형 디지털 노무광장 오픈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 분쟁 발생 이전에 작동하는 선제적 노사갈등 관리체계 도입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2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한층 더 다가가는 노사리더, 직원 목소리로 다듬는 노동이사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104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노사전략과 환경변화를 연결하는 계층별 노무역량강화 모델 최적화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평가내용 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 직원 숙원을 해소하고, 더 나은 일터를 설계하는 노사 파트너십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106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2. 가족과 안전은 지속가능한 근로조건의 근간, 노사가 함께 지속 혁신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107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1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2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sp>
        <p:nvSpPr>
          <p:cNvPr id="49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sp>
        <p:nvSpPr>
          <p:cNvPr id="61" name="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2" name="성과 띠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66" name="카드 문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68" name="카드 문구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sp>
        <p:nvSpPr>
          <p:cNvPr id="26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7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41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8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