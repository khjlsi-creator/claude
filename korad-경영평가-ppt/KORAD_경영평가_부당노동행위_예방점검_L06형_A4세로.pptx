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초안입니다. 추진성과의 점검 결과 수치는 실적 확정 후 보완합니다.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표지 일러스트" descr="표지 일러스트"/>
          <p:cNvPicPr>
            <a:picLocks noChangeAspect="1"/>
          </p:cNvPicPr>
          <p:nvPr/>
        </p:nvPicPr>
        <p:blipFill>
          <a:blip r:embed="rId2"/>
          <a:srcRect l="32472" t="0" r="0" b="0"/>
          <a:stretch>
            <a:fillRect/>
          </a:stretch>
        </p:blipFill>
        <p:spPr>
          <a:xfrm>
            <a:off x="540000" y="4932000"/>
            <a:ext cx="6480000" cy="5400000"/>
          </a:xfrm>
          <a:prstGeom prst="rect">
            <a:avLst/>
          </a:prstGeom>
        </p:spPr>
      </p:pic>
      <p:pic>
        <p:nvPicPr>
          <p:cNvPr id="4" name="KORAD CI" descr="KORAD 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5" name="표지 제목"/>
          <p:cNvSpPr>
            <a:spLocks noGrp="1"/>
          </p:cNvSpPr>
          <p:nvPr>
            <p:ph type="ctrTitle"/>
          </p:nvPr>
        </p:nvSpPr>
        <p:spPr>
          <a:xfrm>
            <a:off x="756000" y="2808000"/>
            <a:ext cx="6048000" cy="201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제목</a:t>
            </a:r>
          </a:p>
        </p:txBody>
      </p:sp>
      <p:sp>
        <p:nvSpPr>
          <p:cNvPr id="6" name="표지 부제"/>
          <p:cNvSpPr>
            <a:spLocks noGrp="1"/>
          </p:cNvSpPr>
          <p:nvPr>
            <p:ph type="subTitle" idx="1"/>
          </p:nvPr>
        </p:nvSpPr>
        <p:spPr>
          <a:xfrm>
            <a:off x="756000" y="4968000"/>
            <a:ext cx="6048000" cy="792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부제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지면-짝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지면-홀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형광 밑줄"/>
          <p:cNvSpPr/>
          <p:nvPr/>
        </p:nvSpPr>
        <p:spPr>
          <a:xfrm>
            <a:off x="536870" y="920348"/>
            <a:ext cx="3311174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소제목"/>
          <p:cNvSpPr txBox="1"/>
          <p:nvPr/>
        </p:nvSpPr>
        <p:spPr>
          <a:xfrm>
            <a:off x="536870" y="766957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판례 DB 기반 부당노동행위 정밀 예방점검 체계 구축</a:t>
            </a:r>
          </a:p>
        </p:txBody>
      </p:sp>
      <p:sp>
        <p:nvSpPr>
          <p:cNvPr id="9" name="태그칩"/>
          <p:cNvSpPr/>
          <p:nvPr/>
        </p:nvSpPr>
        <p:spPr>
          <a:xfrm>
            <a:off x="3946652" y="79982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10" name="표 외곽"/>
          <p:cNvSpPr/>
          <p:nvPr/>
        </p:nvSpPr>
        <p:spPr>
          <a:xfrm>
            <a:off x="536870" y="1051826"/>
            <a:ext cx="6300000" cy="189297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레일"/>
          <p:cNvSpPr/>
          <p:nvPr/>
        </p:nvSpPr>
        <p:spPr>
          <a:xfrm>
            <a:off x="547826" y="1068261"/>
            <a:ext cx="580696" cy="605426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배경</a:t>
            </a:r>
          </a:p>
        </p:txBody>
      </p:sp>
      <p:sp>
        <p:nvSpPr>
          <p:cNvPr id="12" name="머리칸"/>
          <p:cNvSpPr/>
          <p:nvPr/>
        </p:nvSpPr>
        <p:spPr>
          <a:xfrm>
            <a:off x="1161391" y="109017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복수노조 쟁점 다양화</a:t>
            </a:r>
          </a:p>
        </p:txBody>
      </p:sp>
      <p:sp>
        <p:nvSpPr>
          <p:cNvPr id="13" name="머리칸"/>
          <p:cNvSpPr/>
          <p:nvPr/>
        </p:nvSpPr>
        <p:spPr>
          <a:xfrm>
            <a:off x="3985435" y="109017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기본 체크리스트의 한계</a:t>
            </a:r>
          </a:p>
        </p:txBody>
      </p:sp>
      <p:sp>
        <p:nvSpPr>
          <p:cNvPr id="14" name="칸 본문"/>
          <p:cNvSpPr txBox="1"/>
          <p:nvPr/>
        </p:nvSpPr>
        <p:spPr>
          <a:xfrm>
            <a:off x="1172348" y="1331217"/>
            <a:ext cx="2802130" cy="33699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교섭·차별·지배개입 등 복수노조 환경의 쟁점이 다양해짐</a:t>
            </a:r>
          </a:p>
        </p:txBody>
      </p:sp>
      <p:sp>
        <p:nvSpPr>
          <p:cNvPr id="15" name="칸 본문"/>
          <p:cNvSpPr txBox="1"/>
          <p:nvPr/>
        </p:nvSpPr>
        <p:spPr>
          <a:xfrm>
            <a:off x="3996391" y="1331217"/>
            <a:ext cx="2802130" cy="33699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법령 유형별 체크리스트(20여개)만으로 대응 한계, 신규 담당자 학습 곤란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85435" y="1364087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7" name="레일"/>
          <p:cNvSpPr/>
          <p:nvPr/>
        </p:nvSpPr>
        <p:spPr>
          <a:xfrm>
            <a:off x="547826" y="1690122"/>
            <a:ext cx="580696" cy="605426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고도화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방향</a:t>
            </a:r>
          </a:p>
        </p:txBody>
      </p:sp>
      <p:sp>
        <p:nvSpPr>
          <p:cNvPr id="18" name="레일 삼각형"/>
          <p:cNvSpPr/>
          <p:nvPr/>
        </p:nvSpPr>
        <p:spPr>
          <a:xfrm>
            <a:off x="547826" y="1690121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머리칸"/>
          <p:cNvSpPr/>
          <p:nvPr/>
        </p:nvSpPr>
        <p:spPr>
          <a:xfrm>
            <a:off x="1161391" y="171203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판례 연계 정밀화</a:t>
            </a:r>
          </a:p>
        </p:txBody>
      </p:sp>
      <p:sp>
        <p:nvSpPr>
          <p:cNvPr id="20" name="머리칸"/>
          <p:cNvSpPr/>
          <p:nvPr/>
        </p:nvSpPr>
        <p:spPr>
          <a:xfrm>
            <a:off x="3985435" y="1712035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점검·학습 겸용</a:t>
            </a:r>
          </a:p>
        </p:txBody>
      </p:sp>
      <p:sp>
        <p:nvSpPr>
          <p:cNvPr id="21" name="칸 본문"/>
          <p:cNvSpPr txBox="1"/>
          <p:nvPr/>
        </p:nvSpPr>
        <p:spPr>
          <a:xfrm>
            <a:off x="1172348" y="1953078"/>
            <a:ext cx="2802130" cy="33699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노동위·법원 판례 DB로 실제 사례와 연계한 250여개 체크리스트</a:t>
            </a:r>
          </a:p>
        </p:txBody>
      </p:sp>
      <p:sp>
        <p:nvSpPr>
          <p:cNvPr id="22" name="칸 본문"/>
          <p:cNvSpPr txBox="1"/>
          <p:nvPr/>
        </p:nvSpPr>
        <p:spPr>
          <a:xfrm>
            <a:off x="3996391" y="1953078"/>
            <a:ext cx="2802130" cy="33699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사전 예방형 질문 + 판단기준·판례 병기로 담당자 역량 동시 강화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85435" y="1985948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레일"/>
          <p:cNvSpPr/>
          <p:nvPr/>
        </p:nvSpPr>
        <p:spPr>
          <a:xfrm>
            <a:off x="547826" y="2311983"/>
            <a:ext cx="580696" cy="616383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단계</a:t>
            </a:r>
          </a:p>
        </p:txBody>
      </p:sp>
      <p:sp>
        <p:nvSpPr>
          <p:cNvPr id="25" name="레일 삼각형"/>
          <p:cNvSpPr/>
          <p:nvPr/>
        </p:nvSpPr>
        <p:spPr>
          <a:xfrm>
            <a:off x="547826" y="2311982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단계"/>
          <p:cNvSpPr/>
          <p:nvPr/>
        </p:nvSpPr>
        <p:spPr>
          <a:xfrm>
            <a:off x="1161391" y="2333896"/>
            <a:ext cx="14120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판례 DB 구축</a:t>
            </a:r>
          </a:p>
        </p:txBody>
      </p:sp>
      <p:sp>
        <p:nvSpPr>
          <p:cNvPr id="27" name="단계"/>
          <p:cNvSpPr/>
          <p:nvPr/>
        </p:nvSpPr>
        <p:spPr>
          <a:xfrm>
            <a:off x="2573413" y="2333896"/>
            <a:ext cx="1412022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체크리스트 확대</a:t>
            </a:r>
          </a:p>
        </p:txBody>
      </p:sp>
      <p:sp>
        <p:nvSpPr>
          <p:cNvPr id="28" name="단계"/>
          <p:cNvSpPr/>
          <p:nvPr/>
        </p:nvSpPr>
        <p:spPr>
          <a:xfrm>
            <a:off x="3985435" y="2333896"/>
            <a:ext cx="1412022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공동점검</a:t>
            </a:r>
          </a:p>
        </p:txBody>
      </p:sp>
      <p:sp>
        <p:nvSpPr>
          <p:cNvPr id="29" name="단계"/>
          <p:cNvSpPr/>
          <p:nvPr/>
        </p:nvSpPr>
        <p:spPr>
          <a:xfrm>
            <a:off x="5397457" y="2333896"/>
            <a:ext cx="1412022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집중관리</a:t>
            </a:r>
          </a:p>
        </p:txBody>
      </p:sp>
      <p:sp>
        <p:nvSpPr>
          <p:cNvPr id="30" name="단계 삼각형"/>
          <p:cNvSpPr/>
          <p:nvPr/>
        </p:nvSpPr>
        <p:spPr>
          <a:xfrm>
            <a:off x="2573413" y="2333895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단계 삼각형"/>
          <p:cNvSpPr/>
          <p:nvPr/>
        </p:nvSpPr>
        <p:spPr>
          <a:xfrm>
            <a:off x="3985434" y="2333895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단계 삼각형"/>
          <p:cNvSpPr/>
          <p:nvPr/>
        </p:nvSpPr>
        <p:spPr>
          <a:xfrm>
            <a:off x="5397456" y="2333895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칸 본문"/>
          <p:cNvSpPr txBox="1"/>
          <p:nvPr/>
        </p:nvSpPr>
        <p:spPr>
          <a:xfrm>
            <a:off x="1172348" y="2585896"/>
            <a:ext cx="1390109" cy="33699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결정요지 1,346건·판례 304건 수집</a:t>
            </a:r>
          </a:p>
        </p:txBody>
      </p:sp>
      <p:sp>
        <p:nvSpPr>
          <p:cNvPr id="34" name="칸 본문"/>
          <p:cNvSpPr txBox="1"/>
          <p:nvPr/>
        </p:nvSpPr>
        <p:spPr>
          <a:xfrm>
            <a:off x="2584370" y="2585896"/>
            <a:ext cx="1390109" cy="33699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세부유형 214개 + 예방점검 36문항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573413" y="2618765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6" name="칸 본문"/>
          <p:cNvSpPr txBox="1"/>
          <p:nvPr/>
        </p:nvSpPr>
        <p:spPr>
          <a:xfrm>
            <a:off x="3996391" y="2585896"/>
            <a:ext cx="1390109" cy="33699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노조 간부·노무담당 점검, 전문가 자문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985435" y="2618765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8" name="칸 본문"/>
          <p:cNvSpPr txBox="1"/>
          <p:nvPr/>
        </p:nvSpPr>
        <p:spPr>
          <a:xfrm>
            <a:off x="5408413" y="2585896"/>
            <a:ext cx="1390109" cy="33699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DB 통계로 빈발 분야 우선 점검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97457" y="2618765"/>
            <a:ext cx="0" cy="27125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0" name="핵심성과 박스"/>
          <p:cNvSpPr/>
          <p:nvPr/>
        </p:nvSpPr>
        <p:spPr>
          <a:xfrm>
            <a:off x="536870" y="3032452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핵심성과 라벨"/>
          <p:cNvSpPr/>
          <p:nvPr/>
        </p:nvSpPr>
        <p:spPr>
          <a:xfrm>
            <a:off x="569739" y="3070800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42" name="핵심성과 문구"/>
          <p:cNvSpPr txBox="1"/>
          <p:nvPr/>
        </p:nvSpPr>
        <p:spPr>
          <a:xfrm>
            <a:off x="1314783" y="3048887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20여개 → 250여개 사전 예방형 체크리스트 구축, 노사 공동점검 체계 정립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ORAD 경영평가">
      <a:dk1>
        <a:srgbClr val="000359"/>
      </a:dk1>
      <a:lt1>
        <a:srgbClr val="FFFFFF"/>
      </a:lt1>
      <a:dk2>
        <a:srgbClr val="001A7A"/>
      </a:dk2>
      <a:lt2>
        <a:srgbClr val="E6F4FF"/>
      </a:lt2>
      <a:accent1>
        <a:srgbClr val="008EFF"/>
      </a:accent1>
      <a:accent2>
        <a:srgbClr val="00A4A8"/>
      </a:accent2>
      <a:accent3>
        <a:srgbClr val="0051BC"/>
      </a:accent3>
      <a:accent4>
        <a:srgbClr val="30C2FF"/>
      </a:accent4>
      <a:accent5>
        <a:srgbClr val="00BE83"/>
      </a:accent5>
      <a:accent6>
        <a:srgbClr val="FBAE40"/>
      </a:accent6>
      <a:hlink>
        <a:srgbClr val="0061DE"/>
      </a:hlink>
      <a:folHlink>
        <a:srgbClr val="5D7280"/>
      </a:folHlink>
    </a:clrScheme>
    <a:fontScheme name="Pretendard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