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표지 바탕"/>
          <p:cNvSpPr/>
          <p:nvPr/>
        </p:nvSpPr>
        <p:spPr>
          <a:xfrm>
            <a:off x="540000" y="360000"/>
            <a:ext cx="6480000" cy="9972000"/>
          </a:xfrm>
          <a:prstGeom prst="rect">
            <a:avLst/>
          </a:prstGeom>
          <a:solidFill>
            <a:srgbClr val="E6F4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3" name="표지 일러스트" descr="표지 일러스트"/>
          <p:cNvPicPr>
            <a:picLocks noChangeAspect="1"/>
          </p:cNvPicPr>
          <p:nvPr/>
        </p:nvPicPr>
        <p:blipFill>
          <a:blip r:embed="rId2"/>
          <a:srcRect l="32472" t="0" r="0" b="0"/>
          <a:stretch>
            <a:fillRect/>
          </a:stretch>
        </p:blipFill>
        <p:spPr>
          <a:xfrm>
            <a:off x="540000" y="4932000"/>
            <a:ext cx="6480000" cy="5400000"/>
          </a:xfrm>
          <a:prstGeom prst="rect">
            <a:avLst/>
          </a:prstGeom>
        </p:spPr>
      </p:pic>
      <p:pic>
        <p:nvPicPr>
          <p:cNvPr id="4" name="KORAD CI" descr="KORAD C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00" y="648000"/>
            <a:ext cx="1944000" cy="360404"/>
          </a:xfrm>
          <a:prstGeom prst="rect">
            <a:avLst/>
          </a:prstGeom>
        </p:spPr>
      </p:pic>
      <p:sp>
        <p:nvSpPr>
          <p:cNvPr id="5" name="표지 제목"/>
          <p:cNvSpPr>
            <a:spLocks noGrp="1"/>
          </p:cNvSpPr>
          <p:nvPr>
            <p:ph type="ctrTitle"/>
          </p:nvPr>
        </p:nvSpPr>
        <p:spPr>
          <a:xfrm>
            <a:off x="756000" y="2808000"/>
            <a:ext cx="6048000" cy="2016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제목</a:t>
            </a:r>
          </a:p>
        </p:txBody>
      </p:sp>
      <p:sp>
        <p:nvSpPr>
          <p:cNvPr id="6" name="표지 부제"/>
          <p:cNvSpPr>
            <a:spLocks noGrp="1"/>
          </p:cNvSpPr>
          <p:nvPr>
            <p:ph type="subTitle" idx="1"/>
          </p:nvPr>
        </p:nvSpPr>
        <p:spPr>
          <a:xfrm>
            <a:off x="756000" y="4968000"/>
            <a:ext cx="6048000" cy="792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부제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지면-짝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지면-홀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1 장 제목 띠(쪽 머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장 제목 띠"/>
          <p:cNvSpPr/>
          <p:nvPr/>
        </p:nvSpPr>
        <p:spPr>
          <a:xfrm>
            <a:off x="536870" y="766957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I 칸"/>
          <p:cNvSpPr/>
          <p:nvPr/>
        </p:nvSpPr>
        <p:spPr>
          <a:xfrm>
            <a:off x="5401565" y="772435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장 제목"/>
          <p:cNvSpPr>
            <a:spLocks noGrp="1"/>
          </p:cNvSpPr>
          <p:nvPr>
            <p:ph type="body" sz="quarter" idx="20"/>
          </p:nvPr>
        </p:nvSpPr>
        <p:spPr>
          <a:xfrm>
            <a:off x="810783" y="777913"/>
            <a:ext cx="4590783" cy="399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1" spc="-9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Ⅲ. 2025년도 추진실적 및 성과</a:t>
            </a:r>
          </a:p>
        </p:txBody>
      </p:sp>
      <p:pic>
        <p:nvPicPr>
          <p:cNvPr id="13" name="KORAD CI" descr="korad-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8522" y="870213"/>
            <a:ext cx="1161391" cy="215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2 평가내용 띠(쪽 머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평가내용 라벨"/>
          <p:cNvSpPr/>
          <p:nvPr/>
        </p:nvSpPr>
        <p:spPr>
          <a:xfrm>
            <a:off x="723130" y="777913"/>
            <a:ext cx="975130" cy="597130"/>
          </a:xfrm>
          <a:prstGeom prst="rect">
            <a:avLst/>
          </a:prstGeom>
          <a:solidFill>
            <a:srgbClr val="DEEE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10800" rIns="10800" tIns="10800" bIns="10800" wrap="square"/>
          <a:lstStyle/>
          <a:p/>
        </p:txBody>
      </p:sp>
      <p:sp>
        <p:nvSpPr>
          <p:cNvPr id="10" name="평가내용 라벨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975130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10800" bIns="108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평가내용 제목 박스"/>
          <p:cNvSpPr/>
          <p:nvPr/>
        </p:nvSpPr>
        <p:spPr>
          <a:xfrm>
            <a:off x="1709217" y="788870"/>
            <a:ext cx="5313913" cy="5752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평가내용 제목"/>
          <p:cNvSpPr>
            <a:spLocks noGrp="1"/>
          </p:cNvSpPr>
          <p:nvPr>
            <p:ph type="body" sz="quarter" idx="21"/>
          </p:nvPr>
        </p:nvSpPr>
        <p:spPr>
          <a:xfrm>
            <a:off x="1818783" y="799826"/>
            <a:ext cx="5127652" cy="553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운영이 상호 협력과 참여에 기반하여 이루어지고 있는지 여부</a:t>
            </a:r>
          </a:p>
        </p:txBody>
      </p:sp>
      <p:sp>
        <p:nvSpPr>
          <p:cNvPr id="13" name="점"/>
          <p:cNvSpPr/>
          <p:nvPr/>
        </p:nvSpPr>
        <p:spPr>
          <a:xfrm>
            <a:off x="1057304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점"/>
          <p:cNvSpPr/>
          <p:nvPr/>
        </p:nvSpPr>
        <p:spPr>
          <a:xfrm>
            <a:off x="1134000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점"/>
          <p:cNvSpPr/>
          <p:nvPr/>
        </p:nvSpPr>
        <p:spPr>
          <a:xfrm>
            <a:off x="1210696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점"/>
          <p:cNvSpPr/>
          <p:nvPr/>
        </p:nvSpPr>
        <p:spPr>
          <a:xfrm>
            <a:off x="1287391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점"/>
          <p:cNvSpPr/>
          <p:nvPr/>
        </p:nvSpPr>
        <p:spPr>
          <a:xfrm>
            <a:off x="1364087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3 서사 · 환경분석 → 시사점 → 협력체계 → 추진 체계 5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072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479130"/>
            <a:ext cx="6300000" cy="2099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495565"/>
            <a:ext cx="580696" cy="7711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495565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0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2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758522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저출산 해결 노력 요구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758522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7913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283183"/>
            <a:ext cx="580696" cy="64095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283183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2831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1161391" y="2327009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327009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0"/>
          </p:nvPr>
        </p:nvSpPr>
        <p:spPr>
          <a:xfrm>
            <a:off x="2145304" y="2316052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33" name="태그"/>
          <p:cNvSpPr/>
          <p:nvPr/>
        </p:nvSpPr>
        <p:spPr>
          <a:xfrm>
            <a:off x="1161391" y="2524226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524226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35" name="태그 설명"/>
          <p:cNvSpPr>
            <a:spLocks noGrp="1"/>
          </p:cNvSpPr>
          <p:nvPr>
            <p:ph type="body" sz="quarter" idx="32"/>
          </p:nvPr>
        </p:nvSpPr>
        <p:spPr>
          <a:xfrm>
            <a:off x="2145304" y="2513270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목표를 수행하는 동반자로서 긍정의 노사관계 강화</a:t>
            </a:r>
          </a:p>
        </p:txBody>
      </p:sp>
      <p:sp>
        <p:nvSpPr>
          <p:cNvPr id="36" name="태그"/>
          <p:cNvSpPr/>
          <p:nvPr/>
        </p:nvSpPr>
        <p:spPr>
          <a:xfrm>
            <a:off x="1161391" y="2721443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3"/>
          </p:nvPr>
        </p:nvSpPr>
        <p:spPr>
          <a:xfrm>
            <a:off x="1161391" y="2721443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34"/>
          </p:nvPr>
        </p:nvSpPr>
        <p:spPr>
          <a:xfrm>
            <a:off x="2145304" y="2710487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 존중 실현과 복리후생제도 개선 등 근로환경 개선 추진</a:t>
            </a:r>
          </a:p>
        </p:txBody>
      </p:sp>
      <p:sp>
        <p:nvSpPr>
          <p:cNvPr id="39" name="레일"/>
          <p:cNvSpPr/>
          <p:nvPr/>
        </p:nvSpPr>
        <p:spPr>
          <a:xfrm>
            <a:off x="547826" y="2940574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2940574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29405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"/>
          <p:cNvSpPr/>
          <p:nvPr/>
        </p:nvSpPr>
        <p:spPr>
          <a:xfrm>
            <a:off x="1161391" y="29624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9624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9624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9624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9624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32473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32473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삼각 화살표"/>
          <p:cNvSpPr/>
          <p:nvPr/>
        </p:nvSpPr>
        <p:spPr>
          <a:xfrm>
            <a:off x="3823826" y="3622695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라벨 박스"/>
          <p:cNvSpPr/>
          <p:nvPr/>
        </p:nvSpPr>
        <p:spPr>
          <a:xfrm>
            <a:off x="536870" y="3847304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547826" y="385826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385826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59" name="강조 바"/>
          <p:cNvSpPr/>
          <p:nvPr/>
        </p:nvSpPr>
        <p:spPr>
          <a:xfrm>
            <a:off x="1172348" y="3880174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강조 바 글"/>
          <p:cNvSpPr>
            <a:spLocks noGrp="1"/>
          </p:cNvSpPr>
          <p:nvPr>
            <p:ph type="body" sz="quarter" idx="43"/>
          </p:nvPr>
        </p:nvSpPr>
        <p:spPr>
          <a:xfrm>
            <a:off x="1172348" y="3880174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61" name="라벨 박스"/>
          <p:cNvSpPr/>
          <p:nvPr/>
        </p:nvSpPr>
        <p:spPr>
          <a:xfrm>
            <a:off x="536870" y="4192435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"/>
          <p:cNvSpPr/>
          <p:nvPr/>
        </p:nvSpPr>
        <p:spPr>
          <a:xfrm>
            <a:off x="547826" y="420339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420339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64" name="가운데 글"/>
          <p:cNvSpPr>
            <a:spLocks noGrp="1"/>
          </p:cNvSpPr>
          <p:nvPr>
            <p:ph type="body" sz="quarter" idx="45"/>
          </p:nvPr>
        </p:nvSpPr>
        <p:spPr>
          <a:xfrm>
            <a:off x="1172348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 운영으로 리스크 해결</a:t>
            </a:r>
          </a:p>
        </p:txBody>
      </p:sp>
      <p:sp>
        <p:nvSpPr>
          <p:cNvPr id="65" name="가운데 글"/>
          <p:cNvSpPr>
            <a:spLocks noGrp="1"/>
          </p:cNvSpPr>
          <p:nvPr>
            <p:ph type="body" sz="quarter" idx="46"/>
          </p:nvPr>
        </p:nvSpPr>
        <p:spPr>
          <a:xfrm>
            <a:off x="3049565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cxnSp>
        <p:nvCxnSpPr>
          <p:cNvPr id="66" name="Connector 49"/>
          <p:cNvCxnSpPr/>
          <p:nvPr/>
        </p:nvCxnSpPr>
        <p:spPr>
          <a:xfrm>
            <a:off x="3049565" y="4247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67" name="가운데 글"/>
          <p:cNvSpPr>
            <a:spLocks noGrp="1"/>
          </p:cNvSpPr>
          <p:nvPr>
            <p:ph type="body" sz="quarter" idx="47"/>
          </p:nvPr>
        </p:nvSpPr>
        <p:spPr>
          <a:xfrm>
            <a:off x="4926783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cxnSp>
        <p:nvCxnSpPr>
          <p:cNvPr id="68" name="Connector 51"/>
          <p:cNvCxnSpPr/>
          <p:nvPr/>
        </p:nvCxnSpPr>
        <p:spPr>
          <a:xfrm>
            <a:off x="4926783" y="4247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69" name="라벨 박스"/>
          <p:cNvSpPr/>
          <p:nvPr/>
        </p:nvSpPr>
        <p:spPr>
          <a:xfrm>
            <a:off x="536870" y="4537565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레일"/>
          <p:cNvSpPr/>
          <p:nvPr/>
        </p:nvSpPr>
        <p:spPr>
          <a:xfrm>
            <a:off x="547826" y="4548522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8"/>
          </p:nvPr>
        </p:nvSpPr>
        <p:spPr>
          <a:xfrm>
            <a:off x="547826" y="4548522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83304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060522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</a:t>
            </a:r>
          </a:p>
        </p:txBody>
      </p:sp>
      <p:cxnSp>
        <p:nvCxnSpPr>
          <p:cNvPr id="74" name="Connector 56"/>
          <p:cNvCxnSpPr/>
          <p:nvPr/>
        </p:nvCxnSpPr>
        <p:spPr>
          <a:xfrm>
            <a:off x="3049565" y="4586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</a:t>
            </a:r>
          </a:p>
        </p:txBody>
      </p:sp>
      <p:cxnSp>
        <p:nvCxnSpPr>
          <p:cNvPr id="76" name="Connector 58"/>
          <p:cNvCxnSpPr/>
          <p:nvPr/>
        </p:nvCxnSpPr>
        <p:spPr>
          <a:xfrm>
            <a:off x="4926783" y="4586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라벨 박스"/>
          <p:cNvSpPr/>
          <p:nvPr/>
        </p:nvSpPr>
        <p:spPr>
          <a:xfrm>
            <a:off x="536870" y="5138922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"/>
          <p:cNvSpPr/>
          <p:nvPr/>
        </p:nvSpPr>
        <p:spPr>
          <a:xfrm>
            <a:off x="547826" y="5149878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5149878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3"/>
          </p:nvPr>
        </p:nvSpPr>
        <p:spPr>
          <a:xfrm>
            <a:off x="1183304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4"/>
          </p:nvPr>
        </p:nvSpPr>
        <p:spPr>
          <a:xfrm>
            <a:off x="3060522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</a:t>
            </a:r>
          </a:p>
        </p:txBody>
      </p:sp>
      <p:cxnSp>
        <p:nvCxnSpPr>
          <p:cNvPr id="82" name="Connector 63"/>
          <p:cNvCxnSpPr/>
          <p:nvPr/>
        </p:nvCxnSpPr>
        <p:spPr>
          <a:xfrm>
            <a:off x="3049565" y="5188226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cxnSp>
        <p:nvCxnSpPr>
          <p:cNvPr id="84" name="Connector 65"/>
          <p:cNvCxnSpPr/>
          <p:nvPr/>
        </p:nvCxnSpPr>
        <p:spPr>
          <a:xfrm>
            <a:off x="4926783" y="5188226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라벨 박스"/>
          <p:cNvSpPr/>
          <p:nvPr/>
        </p:nvSpPr>
        <p:spPr>
          <a:xfrm>
            <a:off x="536870" y="5580000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레일"/>
          <p:cNvSpPr/>
          <p:nvPr/>
        </p:nvSpPr>
        <p:spPr>
          <a:xfrm>
            <a:off x="547826" y="5590957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7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5590957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7"/>
          </p:nvPr>
        </p:nvSpPr>
        <p:spPr>
          <a:xfrm>
            <a:off x="1183304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안건 일치율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58"/>
          </p:nvPr>
        </p:nvSpPr>
        <p:spPr>
          <a:xfrm>
            <a:off x="3060522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역량지수 설문조사</a:t>
            </a:r>
          </a:p>
        </p:txBody>
      </p:sp>
      <p:cxnSp>
        <p:nvCxnSpPr>
          <p:cNvPr id="90" name="Connector 70"/>
          <p:cNvCxnSpPr/>
          <p:nvPr/>
        </p:nvCxnSpPr>
        <p:spPr>
          <a:xfrm>
            <a:off x="3049565" y="5629304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</a:t>
            </a:r>
          </a:p>
        </p:txBody>
      </p:sp>
      <p:cxnSp>
        <p:nvCxnSpPr>
          <p:cNvPr id="92" name="Connector 72"/>
          <p:cNvCxnSpPr/>
          <p:nvPr/>
        </p:nvCxnSpPr>
        <p:spPr>
          <a:xfrm>
            <a:off x="4926783" y="5629304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3" name="핵심성과 박스"/>
          <p:cNvSpPr/>
          <p:nvPr/>
        </p:nvSpPr>
        <p:spPr>
          <a:xfrm>
            <a:off x="536870" y="60539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핵심성과 라벨"/>
          <p:cNvSpPr/>
          <p:nvPr/>
        </p:nvSpPr>
        <p:spPr>
          <a:xfrm>
            <a:off x="569739" y="60922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95" name="핵심성과 라벨"/>
          <p:cNvSpPr>
            <a:spLocks noGrp="1"/>
          </p:cNvSpPr>
          <p:nvPr>
            <p:ph type="body" sz="quarter" idx="60"/>
          </p:nvPr>
        </p:nvSpPr>
        <p:spPr>
          <a:xfrm>
            <a:off x="569739" y="60922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96" name="핵심성과 문구"/>
          <p:cNvSpPr>
            <a:spLocks noGrp="1"/>
          </p:cNvSpPr>
          <p:nvPr>
            <p:ph type="body" sz="quarter" idx="61"/>
          </p:nvPr>
        </p:nvSpPr>
        <p:spPr>
          <a:xfrm>
            <a:off x="1314783" y="60703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4 서사 · 두 갈래 협의체 운영 현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90529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노사협력체계 운영을 통한 분야별 리스크 관리</a:t>
            </a:r>
          </a:p>
        </p:txBody>
      </p:sp>
      <p:sp>
        <p:nvSpPr>
          <p:cNvPr id="11" name="태그칩"/>
          <p:cNvSpPr/>
          <p:nvPr/>
        </p:nvSpPr>
        <p:spPr>
          <a:xfrm>
            <a:off x="3727032" y="8107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727032" y="810783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신규·강화</a:t>
            </a:r>
          </a:p>
        </p:txBody>
      </p:sp>
      <p:sp>
        <p:nvSpPr>
          <p:cNvPr id="13" name="패널 외곽"/>
          <p:cNvSpPr/>
          <p:nvPr/>
        </p:nvSpPr>
        <p:spPr>
          <a:xfrm>
            <a:off x="723130" y="1073739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패널 머리"/>
          <p:cNvSpPr/>
          <p:nvPr/>
        </p:nvSpPr>
        <p:spPr>
          <a:xfrm>
            <a:off x="723130" y="1073739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5" name="패널 머리"/>
          <p:cNvSpPr>
            <a:spLocks noGrp="1"/>
          </p:cNvSpPr>
          <p:nvPr>
            <p:ph type="body" sz="quarter" idx="22"/>
          </p:nvPr>
        </p:nvSpPr>
        <p:spPr>
          <a:xfrm>
            <a:off x="723130" y="1073739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정기협의체</a:t>
            </a:r>
          </a:p>
        </p:txBody>
      </p:sp>
      <p:sp>
        <p:nvSpPr>
          <p:cNvPr id="16" name="레일"/>
          <p:cNvSpPr/>
          <p:nvPr/>
        </p:nvSpPr>
        <p:spPr>
          <a:xfrm>
            <a:off x="756000" y="1347652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56000" y="1347652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노사협의회</a:t>
            </a:r>
          </a:p>
        </p:txBody>
      </p:sp>
      <p:sp>
        <p:nvSpPr>
          <p:cNvPr id="18" name="패널 본문"/>
          <p:cNvSpPr>
            <a:spLocks noGrp="1"/>
          </p:cNvSpPr>
          <p:nvPr>
            <p:ph type="body" sz="quarter" idx="24"/>
          </p:nvPr>
        </p:nvSpPr>
        <p:spPr>
          <a:xfrm>
            <a:off x="1429826" y="1336696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4회·24건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자기개발휴직 등 매뉴얼 수립</a:t>
            </a:r>
          </a:p>
        </p:txBody>
      </p:sp>
      <p:cxnSp>
        <p:nvCxnSpPr>
          <p:cNvPr id="19" name="Connector 10"/>
          <p:cNvCxnSpPr/>
          <p:nvPr/>
        </p:nvCxnSpPr>
        <p:spPr>
          <a:xfrm>
            <a:off x="1429826" y="1733948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56000" y="1744904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56000" y="1744904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인사고충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심의회</a:t>
            </a:r>
          </a:p>
        </p:txBody>
      </p:sp>
      <p:sp>
        <p:nvSpPr>
          <p:cNvPr id="22" name="패널 본문"/>
          <p:cNvSpPr>
            <a:spLocks noGrp="1"/>
          </p:cNvSpPr>
          <p:nvPr>
            <p:ph type="body" sz="quarter" idx="26"/>
          </p:nvPr>
        </p:nvSpPr>
        <p:spPr>
          <a:xfrm>
            <a:off x="1429826" y="1733948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반기별 2회, 87명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13명 인용, 9명 발령 조치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1429826" y="2131200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56000" y="2142157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56000" y="2142157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26" name="패널 본문"/>
          <p:cNvSpPr>
            <a:spLocks noGrp="1"/>
          </p:cNvSpPr>
          <p:nvPr>
            <p:ph type="body" sz="quarter" idx="28"/>
          </p:nvPr>
        </p:nvSpPr>
        <p:spPr>
          <a:xfrm>
            <a:off x="1429826" y="2131200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3회·11건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석면제거·정신건강 예산 확보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1429826" y="2528452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56000" y="2539409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56000" y="2539409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혁신성장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전략회의</a:t>
            </a:r>
          </a:p>
        </p:txBody>
      </p:sp>
      <p:sp>
        <p:nvSpPr>
          <p:cNvPr id="30" name="패널 본문"/>
          <p:cNvSpPr>
            <a:spLocks noGrp="1"/>
          </p:cNvSpPr>
          <p:nvPr>
            <p:ph type="body" sz="quarter" idx="30"/>
          </p:nvPr>
        </p:nvSpPr>
        <p:spPr>
          <a:xfrm>
            <a:off x="1429826" y="2528452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매주 금요일 개최(37회)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경영현황·성과공유·현안 점검</a:t>
            </a:r>
          </a:p>
        </p:txBody>
      </p:sp>
      <p:sp>
        <p:nvSpPr>
          <p:cNvPr id="31" name="패널 외곽"/>
          <p:cNvSpPr/>
          <p:nvPr/>
        </p:nvSpPr>
        <p:spPr>
          <a:xfrm>
            <a:off x="3897783" y="1073739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패널 머리"/>
          <p:cNvSpPr/>
          <p:nvPr/>
        </p:nvSpPr>
        <p:spPr>
          <a:xfrm>
            <a:off x="3897783" y="1073739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3" name="패널 머리"/>
          <p:cNvSpPr>
            <a:spLocks noGrp="1"/>
          </p:cNvSpPr>
          <p:nvPr>
            <p:ph type="body" sz="quarter" idx="31"/>
          </p:nvPr>
        </p:nvSpPr>
        <p:spPr>
          <a:xfrm>
            <a:off x="3897783" y="1073739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상시·특별협의체</a:t>
            </a:r>
          </a:p>
        </p:txBody>
      </p:sp>
      <p:sp>
        <p:nvSpPr>
          <p:cNvPr id="34" name="레일"/>
          <p:cNvSpPr/>
          <p:nvPr/>
        </p:nvSpPr>
        <p:spPr>
          <a:xfrm>
            <a:off x="3930652" y="1347652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3930652" y="1347652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처우개선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추진단</a:t>
            </a:r>
          </a:p>
        </p:txBody>
      </p:sp>
      <p:sp>
        <p:nvSpPr>
          <p:cNvPr id="36" name="패널 본문"/>
          <p:cNvSpPr>
            <a:spLocks noGrp="1"/>
          </p:cNvSpPr>
          <p:nvPr>
            <p:ph type="body" sz="quarter" idx="33"/>
          </p:nvPr>
        </p:nvSpPr>
        <p:spPr>
          <a:xfrm>
            <a:off x="4785261" y="1336696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개최(5회)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자체성과급 신설 등 도출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4785261" y="1733948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3930652" y="1744904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3930652" y="1744904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40" name="패널 본문"/>
          <p:cNvSpPr>
            <a:spLocks noGrp="1"/>
          </p:cNvSpPr>
          <p:nvPr>
            <p:ph type="body" sz="quarter" idx="35"/>
          </p:nvPr>
        </p:nvSpPr>
        <p:spPr>
          <a:xfrm>
            <a:off x="4785261" y="1733948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 개최(4회)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사택 에어컨·출산축하금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4785261" y="2131200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3930652" y="2142157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3930652" y="2142157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사내근로복지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기금 협의회</a:t>
            </a:r>
          </a:p>
        </p:txBody>
      </p:sp>
      <p:sp>
        <p:nvSpPr>
          <p:cNvPr id="44" name="패널 본문"/>
          <p:cNvSpPr>
            <a:spLocks noGrp="1"/>
          </p:cNvSpPr>
          <p:nvPr>
            <p:ph type="body" sz="quarter" idx="37"/>
          </p:nvPr>
        </p:nvSpPr>
        <p:spPr>
          <a:xfrm>
            <a:off x="4785261" y="2131200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사내기금 운용 개최(3회)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장례지원서비스 범위 확대</a:t>
            </a:r>
          </a:p>
        </p:txBody>
      </p:sp>
      <p:cxnSp>
        <p:nvCxnSpPr>
          <p:cNvPr id="45" name="Connector 29"/>
          <p:cNvCxnSpPr/>
          <p:nvPr/>
        </p:nvCxnSpPr>
        <p:spPr>
          <a:xfrm>
            <a:off x="4785261" y="2528452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3930652" y="2539409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3930652" y="2539409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 TF</a:t>
            </a:r>
          </a:p>
        </p:txBody>
      </p:sp>
      <p:sp>
        <p:nvSpPr>
          <p:cNvPr id="48" name="패널 본문"/>
          <p:cNvSpPr>
            <a:spLocks noGrp="1"/>
          </p:cNvSpPr>
          <p:nvPr>
            <p:ph type="body" sz="quarter" idx="39"/>
          </p:nvPr>
        </p:nvSpPr>
        <p:spPr>
          <a:xfrm>
            <a:off x="4785261" y="2528452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TF 킥오프('25.12월)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등 리스크 집중 관리</a:t>
            </a:r>
          </a:p>
        </p:txBody>
      </p:sp>
      <p:sp>
        <p:nvSpPr>
          <p:cNvPr id="49" name="핵심성과 박스"/>
          <p:cNvSpPr/>
          <p:nvPr/>
        </p:nvSpPr>
        <p:spPr>
          <a:xfrm>
            <a:off x="723130" y="303527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756000" y="307361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307361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305170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5 서사 · 현황 → 이해관계 → 추진노력 + 성과 사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상호협력과 참여 기반 현안문제 해결과 합리적 노사관계 운영 성과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336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라운드테이블로 운전면허 적성검사 연말집중 해소</a:t>
            </a:r>
          </a:p>
        </p:txBody>
      </p:sp>
      <p:sp>
        <p:nvSpPr>
          <p:cNvPr id="17" name="태그칩"/>
          <p:cNvSpPr/>
          <p:nvPr/>
        </p:nvSpPr>
        <p:spPr>
          <a:xfrm>
            <a:off x="3769090" y="1227130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3769090" y="1227130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4716783" cy="19724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22" name="본문"/>
          <p:cNvSpPr>
            <a:spLocks noGrp="1"/>
          </p:cNvSpPr>
          <p:nvPr>
            <p:ph type="body" sz="quarter" idx="25"/>
          </p:nvPr>
        </p:nvSpPr>
        <p:spPr>
          <a:xfrm>
            <a:off x="1161391" y="1517478"/>
            <a:ext cx="406487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23" name="레일"/>
          <p:cNvSpPr/>
          <p:nvPr/>
        </p:nvSpPr>
        <p:spPr>
          <a:xfrm>
            <a:off x="547826" y="1881861"/>
            <a:ext cx="580696" cy="7657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881861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8818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90377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903774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8" name="머리칸"/>
          <p:cNvSpPr/>
          <p:nvPr/>
        </p:nvSpPr>
        <p:spPr>
          <a:xfrm>
            <a:off x="3193826" y="190377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193826" y="1903774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144817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204783" y="2144817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193826" y="217768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664000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64000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664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161391" y="2685913"/>
            <a:ext cx="10162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38" name="단계"/>
          <p:cNvSpPr/>
          <p:nvPr/>
        </p:nvSpPr>
        <p:spPr>
          <a:xfrm>
            <a:off x="2177609" y="2685913"/>
            <a:ext cx="10162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2177609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40" name="단계"/>
          <p:cNvSpPr/>
          <p:nvPr/>
        </p:nvSpPr>
        <p:spPr>
          <a:xfrm>
            <a:off x="3193826" y="2685913"/>
            <a:ext cx="10162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3193826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42" name="단계"/>
          <p:cNvSpPr/>
          <p:nvPr/>
        </p:nvSpPr>
        <p:spPr>
          <a:xfrm>
            <a:off x="4210043" y="2685913"/>
            <a:ext cx="10162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4210043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2177608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3193826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4210043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2188565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2177609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8"/>
          </p:nvPr>
        </p:nvSpPr>
        <p:spPr>
          <a:xfrm>
            <a:off x="3204783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3193826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39"/>
          </p:nvPr>
        </p:nvSpPr>
        <p:spPr>
          <a:xfrm>
            <a:off x="4221000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cxnSp>
        <p:nvCxnSpPr>
          <p:cNvPr id="53" name="Connector 39"/>
          <p:cNvCxnSpPr/>
          <p:nvPr/>
        </p:nvCxnSpPr>
        <p:spPr>
          <a:xfrm>
            <a:off x="4210043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성과 화살표"/>
          <p:cNvSpPr/>
          <p:nvPr/>
        </p:nvSpPr>
        <p:spPr>
          <a:xfrm>
            <a:off x="5281043" y="2322939"/>
            <a:ext cx="142435" cy="284869"/>
          </a:xfrm>
          <a:custGeom>
            <a:avLst/>
            <a:gdLst/>
            <a:ahLst/>
            <a:cxnLst/>
            <a:rect l="l" t="t" r="r" b="b"/>
            <a:pathLst>
              <a:path w="142435" h="284869">
                <a:moveTo>
                  <a:pt x="0" y="0"/>
                </a:moveTo>
                <a:lnTo>
                  <a:pt x="0" y="284869"/>
                </a:lnTo>
                <a:lnTo>
                  <a:pt x="14243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성과 패널 머리"/>
          <p:cNvSpPr/>
          <p:nvPr/>
        </p:nvSpPr>
        <p:spPr>
          <a:xfrm>
            <a:off x="5450870" y="1479130"/>
            <a:ext cx="1386000" cy="241043"/>
          </a:xfrm>
          <a:prstGeom prst="rect">
            <a:avLst/>
          </a:prstGeom>
          <a:solidFill>
            <a:srgbClr val="008C6B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성과 패널 머리"/>
          <p:cNvSpPr>
            <a:spLocks noGrp="1"/>
          </p:cNvSpPr>
          <p:nvPr>
            <p:ph type="body" sz="quarter" idx="40"/>
          </p:nvPr>
        </p:nvSpPr>
        <p:spPr>
          <a:xfrm>
            <a:off x="5450870" y="1479130"/>
            <a:ext cx="13860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성과 패널"/>
          <p:cNvSpPr/>
          <p:nvPr/>
        </p:nvSpPr>
        <p:spPr>
          <a:xfrm>
            <a:off x="5450870" y="1731130"/>
            <a:ext cx="1386000" cy="17204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성과 패널 본문"/>
          <p:cNvSpPr>
            <a:spLocks noGrp="1"/>
          </p:cNvSpPr>
          <p:nvPr>
            <p:ph type="body" sz="quarter" idx="41"/>
          </p:nvPr>
        </p:nvSpPr>
        <p:spPr>
          <a:xfrm>
            <a:off x="5472783" y="1753043"/>
            <a:ext cx="1342174" cy="1676661"/>
          </a:xfrm>
          <a:prstGeom prst="rect">
            <a:avLst/>
          </a:prstGeom>
          <a:noFill/>
          <a:ln>
            <a:noFill/>
          </a:ln>
        </p:spPr>
        <p:txBody>
          <a:bodyPr wrap="square" lIns="54000" tIns="18000" rIns="36000" bIns="180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  <p:sp>
        <p:nvSpPr>
          <p:cNvPr id="59" name="핵심성과 박스"/>
          <p:cNvSpPr/>
          <p:nvPr/>
        </p:nvSpPr>
        <p:spPr>
          <a:xfrm>
            <a:off x="536870" y="353927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569739" y="357761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569739" y="357761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314783" y="355570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적성검사 연말집중 해소 및 노동이사 선임 등 현안문제 해결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6 서사 · 그간의 노력 → 운영 상세화 → 선임 추진(단계 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근로자 경영참여로 협력 강화, 노동이사 추천 완료</a:t>
            </a:r>
          </a:p>
        </p:txBody>
      </p:sp>
      <p:sp>
        <p:nvSpPr>
          <p:cNvPr id="11" name="태그칩"/>
          <p:cNvSpPr/>
          <p:nvPr/>
        </p:nvSpPr>
        <p:spPr>
          <a:xfrm>
            <a:off x="3932802" y="8107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932802" y="810783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047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6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18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342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공감대 형성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342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 1명을 비상임이사로 포함'</a:t>
            </a:r>
          </a:p>
        </p:txBody>
      </p:sp>
      <p:cxnSp>
        <p:nvCxnSpPr>
          <p:cNvPr id="22" name="Connector 12"/>
          <p:cNvCxnSpPr/>
          <p:nvPr/>
        </p:nvCxnSpPr>
        <p:spPr>
          <a:xfrm>
            <a:off x="4171696" y="1375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734087" y="1701078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701078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7010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347652" y="1722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722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722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171696" y="1722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9640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적극 시행과 직무 수행 지원, 불이익 처분 및 대우 금지 조항 마련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9640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업무수행·역량강화 교육과정 지원 및 소통채널 운영 협의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4171696" y="1996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322939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322939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3229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3448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38" name="단계"/>
          <p:cNvSpPr/>
          <p:nvPr/>
        </p:nvSpPr>
        <p:spPr>
          <a:xfrm>
            <a:off x="2759674" y="23448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2759674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40" name="단계"/>
          <p:cNvSpPr/>
          <p:nvPr/>
        </p:nvSpPr>
        <p:spPr>
          <a:xfrm>
            <a:off x="4171696" y="23448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4171696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42" name="단계"/>
          <p:cNvSpPr/>
          <p:nvPr/>
        </p:nvSpPr>
        <p:spPr>
          <a:xfrm>
            <a:off x="5583717" y="23448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5583717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2759673" y="23448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4171695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5583717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cxnSp>
        <p:nvCxnSpPr>
          <p:cNvPr id="49" name="Connector 31"/>
          <p:cNvCxnSpPr/>
          <p:nvPr/>
        </p:nvCxnSpPr>
        <p:spPr>
          <a:xfrm>
            <a:off x="2759674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추천위원회 심사 실시('26.1.13.)</a:t>
            </a:r>
          </a:p>
        </p:txBody>
      </p:sp>
      <p:cxnSp>
        <p:nvCxnSpPr>
          <p:cNvPr id="51" name="Connector 33"/>
          <p:cNvCxnSpPr/>
          <p:nvPr/>
        </p:nvCxnSpPr>
        <p:spPr>
          <a:xfrm>
            <a:off x="4171696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  <p:cxnSp>
        <p:nvCxnSpPr>
          <p:cNvPr id="53" name="Connector 35"/>
          <p:cNvCxnSpPr/>
          <p:nvPr/>
        </p:nvCxnSpPr>
        <p:spPr>
          <a:xfrm>
            <a:off x="5583717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핵심성과 박스"/>
          <p:cNvSpPr/>
          <p:nvPr/>
        </p:nvSpPr>
        <p:spPr>
          <a:xfrm>
            <a:off x="723130" y="31982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핵심성과 라벨"/>
          <p:cNvSpPr/>
          <p:nvPr/>
        </p:nvSpPr>
        <p:spPr>
          <a:xfrm>
            <a:off x="756000" y="32365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6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756000" y="32365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501043" y="32146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7 서사 · 점검 추진배경 → 방법 → 항목 → 결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4024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노동관계 법령·지침 100% 준수한 노사관계 제도 운영</a:t>
            </a:r>
          </a:p>
        </p:txBody>
      </p:sp>
      <p:sp>
        <p:nvSpPr>
          <p:cNvPr id="12" name="태그칩"/>
          <p:cNvSpPr/>
          <p:nvPr/>
        </p:nvSpPr>
        <p:spPr>
          <a:xfrm>
            <a:off x="4037891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037891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4" name="라벨 박스"/>
          <p:cNvSpPr/>
          <p:nvPr/>
        </p:nvSpPr>
        <p:spPr>
          <a:xfrm>
            <a:off x="536870" y="106278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7373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7373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본문"/>
          <p:cNvSpPr>
            <a:spLocks noGrp="1"/>
          </p:cNvSpPr>
          <p:nvPr>
            <p:ph type="body" sz="quarter" idx="23"/>
          </p:nvPr>
        </p:nvSpPr>
        <p:spPr>
          <a:xfrm>
            <a:off x="1172348" y="107921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536870" y="140791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41887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1887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172348" y="142434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  <p:sp>
        <p:nvSpPr>
          <p:cNvPr id="22" name="주석"/>
          <p:cNvSpPr>
            <a:spLocks noGrp="1"/>
          </p:cNvSpPr>
          <p:nvPr>
            <p:ph type="body" sz="quarter" idx="26"/>
          </p:nvPr>
        </p:nvSpPr>
        <p:spPr>
          <a:xfrm>
            <a:off x="2180348" y="1731130"/>
            <a:ext cx="4656522" cy="175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* 인적자원개발 우수기관 지정에 따른 근로감독 정기점검 면제('24~'27)</a:t>
            </a:r>
          </a:p>
        </p:txBody>
      </p:sp>
      <p:sp>
        <p:nvSpPr>
          <p:cNvPr id="23" name="라벨 박스"/>
          <p:cNvSpPr/>
          <p:nvPr/>
        </p:nvSpPr>
        <p:spPr>
          <a:xfrm>
            <a:off x="536870" y="1961217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547826" y="1972174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972174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26" name="머리칸"/>
          <p:cNvSpPr/>
          <p:nvPr/>
        </p:nvSpPr>
        <p:spPr>
          <a:xfrm>
            <a:off x="1172348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172348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28" name="머리칸"/>
          <p:cNvSpPr/>
          <p:nvPr/>
        </p:nvSpPr>
        <p:spPr>
          <a:xfrm>
            <a:off x="3049565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3049565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4926783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183304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3060522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3049565" y="2262522"/>
            <a:ext cx="0" cy="2986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cxnSp>
        <p:nvCxnSpPr>
          <p:cNvPr id="36" name="Connector 25"/>
          <p:cNvCxnSpPr/>
          <p:nvPr/>
        </p:nvCxnSpPr>
        <p:spPr>
          <a:xfrm>
            <a:off x="4926783" y="2262522"/>
            <a:ext cx="0" cy="2986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라벨 박스"/>
          <p:cNvSpPr/>
          <p:nvPr/>
        </p:nvSpPr>
        <p:spPr>
          <a:xfrm>
            <a:off x="536870" y="2665252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547826" y="2676209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676209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183304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060522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3049565" y="2714557"/>
            <a:ext cx="0" cy="28768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4926783" y="2714557"/>
            <a:ext cx="0" cy="28768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핵심성과 박스"/>
          <p:cNvSpPr/>
          <p:nvPr/>
        </p:nvSpPr>
        <p:spPr>
          <a:xfrm>
            <a:off x="536870" y="31392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569739" y="31720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1720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1611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8 서사 · 수준진단 → 공감대 형성 → 시사점 + 두 갈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열린 소통과 긍정문화 조성에 기반한 상생 협력적 노사관계 운영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4544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공감대 형성 기반 열린 소통채널 운영·긍정 조직문화 조성</a:t>
            </a:r>
          </a:p>
        </p:txBody>
      </p:sp>
      <p:sp>
        <p:nvSpPr>
          <p:cNvPr id="16" name="태그칩"/>
          <p:cNvSpPr/>
          <p:nvPr/>
        </p:nvSpPr>
        <p:spPr>
          <a:xfrm>
            <a:off x="4367188" y="1238087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67188" y="1238087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14847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1" name="본문"/>
          <p:cNvSpPr>
            <a:spLocks noGrp="1"/>
          </p:cNvSpPr>
          <p:nvPr>
            <p:ph type="body" sz="quarter" idx="25"/>
          </p:nvPr>
        </p:nvSpPr>
        <p:spPr>
          <a:xfrm>
            <a:off x="1347652" y="1528435"/>
            <a:ext cx="5648087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87.3 ↔ 88.7점)</a:t>
            </a:r>
          </a:p>
        </p:txBody>
      </p:sp>
      <p:sp>
        <p:nvSpPr>
          <p:cNvPr id="22" name="레일"/>
          <p:cNvSpPr/>
          <p:nvPr/>
        </p:nvSpPr>
        <p:spPr>
          <a:xfrm>
            <a:off x="734087" y="1892817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92817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8928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347652" y="19147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9147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27" name="머리칸"/>
          <p:cNvSpPr/>
          <p:nvPr/>
        </p:nvSpPr>
        <p:spPr>
          <a:xfrm>
            <a:off x="4171696" y="19147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171696" y="19147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1557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수시로 소통해 해결하고 서로 존중·협력하겠다.”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21557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1696" y="21886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514678"/>
            <a:ext cx="580696" cy="44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514678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5146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1347652" y="2558504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1347652" y="2558504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37" name="태그 설명"/>
          <p:cNvSpPr>
            <a:spLocks noGrp="1"/>
          </p:cNvSpPr>
          <p:nvPr>
            <p:ph type="body" sz="quarter" idx="33"/>
          </p:nvPr>
        </p:nvSpPr>
        <p:spPr>
          <a:xfrm>
            <a:off x="2470605" y="2547548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38" name="태그"/>
          <p:cNvSpPr/>
          <p:nvPr/>
        </p:nvSpPr>
        <p:spPr>
          <a:xfrm>
            <a:off x="1347652" y="2755722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4"/>
          </p:nvPr>
        </p:nvSpPr>
        <p:spPr>
          <a:xfrm>
            <a:off x="1347652" y="2755722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40" name="태그 설명"/>
          <p:cNvSpPr>
            <a:spLocks noGrp="1"/>
          </p:cNvSpPr>
          <p:nvPr>
            <p:ph type="body" sz="quarter" idx="35"/>
          </p:nvPr>
        </p:nvSpPr>
        <p:spPr>
          <a:xfrm>
            <a:off x="2470605" y="2744765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  <p:sp>
        <p:nvSpPr>
          <p:cNvPr id="41" name="삼각 화살표"/>
          <p:cNvSpPr/>
          <p:nvPr/>
        </p:nvSpPr>
        <p:spPr>
          <a:xfrm>
            <a:off x="4010086" y="3018678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패널 외곽"/>
          <p:cNvSpPr/>
          <p:nvPr/>
        </p:nvSpPr>
        <p:spPr>
          <a:xfrm>
            <a:off x="723130" y="3243287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패널 머리"/>
          <p:cNvSpPr/>
          <p:nvPr/>
        </p:nvSpPr>
        <p:spPr>
          <a:xfrm>
            <a:off x="723130" y="324328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4" name="패널 머리"/>
          <p:cNvSpPr>
            <a:spLocks noGrp="1"/>
          </p:cNvSpPr>
          <p:nvPr>
            <p:ph type="body" sz="quarter" idx="36"/>
          </p:nvPr>
        </p:nvSpPr>
        <p:spPr>
          <a:xfrm>
            <a:off x="723130" y="324328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45" name="레일"/>
          <p:cNvSpPr/>
          <p:nvPr/>
        </p:nvSpPr>
        <p:spPr>
          <a:xfrm>
            <a:off x="756000" y="3517200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 태그"/>
          <p:cNvSpPr/>
          <p:nvPr/>
        </p:nvSpPr>
        <p:spPr>
          <a:xfrm>
            <a:off x="845984" y="35610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레일 태그"/>
          <p:cNvSpPr>
            <a:spLocks noGrp="1"/>
          </p:cNvSpPr>
          <p:nvPr>
            <p:ph type="body" sz="quarter" idx="37"/>
          </p:nvPr>
        </p:nvSpPr>
        <p:spPr>
          <a:xfrm>
            <a:off x="845984" y="35610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조직소통</a:t>
            </a:r>
          </a:p>
        </p:txBody>
      </p:sp>
      <p:sp>
        <p:nvSpPr>
          <p:cNvPr id="48" name="레일 라벨"/>
          <p:cNvSpPr>
            <a:spLocks noGrp="1"/>
          </p:cNvSpPr>
          <p:nvPr>
            <p:ph type="body" sz="quarter" idx="38"/>
          </p:nvPr>
        </p:nvSpPr>
        <p:spPr>
          <a:xfrm>
            <a:off x="756000" y="3747287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협의회</a:t>
            </a:r>
          </a:p>
        </p:txBody>
      </p:sp>
      <p:sp>
        <p:nvSpPr>
          <p:cNvPr id="49" name="패널 본문"/>
          <p:cNvSpPr>
            <a:spLocks noGrp="1"/>
          </p:cNvSpPr>
          <p:nvPr>
            <p:ph type="body" sz="quarter" idx="39"/>
          </p:nvPr>
        </p:nvSpPr>
        <p:spPr>
          <a:xfrm>
            <a:off x="1539391" y="3506243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협의회 운영(41명 참관)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이행현황 점검·공유로 환류체계 강화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1539391" y="4122626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756000" y="4133583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 태그"/>
          <p:cNvSpPr/>
          <p:nvPr/>
        </p:nvSpPr>
        <p:spPr>
          <a:xfrm>
            <a:off x="845984" y="41774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레일 태그"/>
          <p:cNvSpPr>
            <a:spLocks noGrp="1"/>
          </p:cNvSpPr>
          <p:nvPr>
            <p:ph type="body" sz="quarter" idx="40"/>
          </p:nvPr>
        </p:nvSpPr>
        <p:spPr>
          <a:xfrm>
            <a:off x="845984" y="41774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41"/>
          </p:nvPr>
        </p:nvSpPr>
        <p:spPr>
          <a:xfrm>
            <a:off x="756000" y="4363670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찾아가는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55" name="패널 본문"/>
          <p:cNvSpPr>
            <a:spLocks noGrp="1"/>
          </p:cNvSpPr>
          <p:nvPr>
            <p:ph type="body" sz="quarter" idx="42"/>
          </p:nvPr>
        </p:nvSpPr>
        <p:spPr>
          <a:xfrm>
            <a:off x="1539391" y="4122626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참관(3개 조직)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청사 공동조사·제거(8개소)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1539391" y="4739009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756000" y="4749965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레일 태그"/>
          <p:cNvSpPr/>
          <p:nvPr/>
        </p:nvSpPr>
        <p:spPr>
          <a:xfrm>
            <a:off x="845984" y="479379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레일 태그"/>
          <p:cNvSpPr>
            <a:spLocks noGrp="1"/>
          </p:cNvSpPr>
          <p:nvPr>
            <p:ph type="body" sz="quarter" idx="43"/>
          </p:nvPr>
        </p:nvSpPr>
        <p:spPr>
          <a:xfrm>
            <a:off x="845984" y="479379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세대소통</a:t>
            </a:r>
          </a:p>
        </p:txBody>
      </p:sp>
      <p:sp>
        <p:nvSpPr>
          <p:cNvPr id="60" name="레일 라벨"/>
          <p:cNvSpPr>
            <a:spLocks noGrp="1"/>
          </p:cNvSpPr>
          <p:nvPr>
            <p:ph type="body" sz="quarter" idx="44"/>
          </p:nvPr>
        </p:nvSpPr>
        <p:spPr>
          <a:xfrm>
            <a:off x="756000" y="4980052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미래세대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</a:t>
            </a:r>
          </a:p>
        </p:txBody>
      </p:sp>
      <p:sp>
        <p:nvSpPr>
          <p:cNvPr id="61" name="패널 본문"/>
          <p:cNvSpPr>
            <a:spLocks noGrp="1"/>
          </p:cNvSpPr>
          <p:nvPr>
            <p:ph type="body" sz="quarter" idx="45"/>
          </p:nvPr>
        </p:nvSpPr>
        <p:spPr>
          <a:xfrm>
            <a:off x="1539391" y="4739009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주니어 16명·시니어 9명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혁신과제 발굴(4건)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자유토론(5개 주제)</a:t>
            </a:r>
          </a:p>
        </p:txBody>
      </p:sp>
      <p:sp>
        <p:nvSpPr>
          <p:cNvPr id="62" name="패널 외곽"/>
          <p:cNvSpPr/>
          <p:nvPr/>
        </p:nvSpPr>
        <p:spPr>
          <a:xfrm>
            <a:off x="3897783" y="3243287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패널 머리"/>
          <p:cNvSpPr/>
          <p:nvPr/>
        </p:nvSpPr>
        <p:spPr>
          <a:xfrm>
            <a:off x="3897783" y="324328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4" name="패널 머리"/>
          <p:cNvSpPr>
            <a:spLocks noGrp="1"/>
          </p:cNvSpPr>
          <p:nvPr>
            <p:ph type="body" sz="quarter" idx="46"/>
          </p:nvPr>
        </p:nvSpPr>
        <p:spPr>
          <a:xfrm>
            <a:off x="3897783" y="324328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65" name="레일"/>
          <p:cNvSpPr/>
          <p:nvPr/>
        </p:nvSpPr>
        <p:spPr>
          <a:xfrm>
            <a:off x="3930652" y="3517200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레일 태그"/>
          <p:cNvSpPr/>
          <p:nvPr/>
        </p:nvSpPr>
        <p:spPr>
          <a:xfrm>
            <a:off x="4017897" y="35610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레일 태그"/>
          <p:cNvSpPr>
            <a:spLocks noGrp="1"/>
          </p:cNvSpPr>
          <p:nvPr>
            <p:ph type="body" sz="quarter" idx="47"/>
          </p:nvPr>
        </p:nvSpPr>
        <p:spPr>
          <a:xfrm>
            <a:off x="4017897" y="35610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신뢰문화</a:t>
            </a:r>
          </a:p>
        </p:txBody>
      </p:sp>
      <p:sp>
        <p:nvSpPr>
          <p:cNvPr id="68" name="레일 라벨"/>
          <p:cNvSpPr>
            <a:spLocks noGrp="1"/>
          </p:cNvSpPr>
          <p:nvPr>
            <p:ph type="body" sz="quarter" idx="48"/>
          </p:nvPr>
        </p:nvSpPr>
        <p:spPr>
          <a:xfrm>
            <a:off x="3930652" y="3747287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데일리 미팅</a:t>
            </a:r>
          </a:p>
        </p:txBody>
      </p:sp>
      <p:sp>
        <p:nvSpPr>
          <p:cNvPr id="69" name="패널 본문"/>
          <p:cNvSpPr>
            <a:spLocks noGrp="1"/>
          </p:cNvSpPr>
          <p:nvPr>
            <p:ph type="body" sz="quarter" idx="49"/>
          </p:nvPr>
        </p:nvSpPr>
        <p:spPr>
          <a:xfrm>
            <a:off x="4708565" y="3506243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노조집행부·주무부서장·실무자 데일리 미팅(매일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현안에 대한 실시간 소통</a:t>
            </a:r>
          </a:p>
        </p:txBody>
      </p:sp>
      <p:cxnSp>
        <p:nvCxnSpPr>
          <p:cNvPr id="70" name="Connector 50"/>
          <p:cNvCxnSpPr/>
          <p:nvPr/>
        </p:nvCxnSpPr>
        <p:spPr>
          <a:xfrm>
            <a:off x="4708565" y="4122626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3930652" y="4133583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레일 태그"/>
          <p:cNvSpPr/>
          <p:nvPr/>
        </p:nvSpPr>
        <p:spPr>
          <a:xfrm>
            <a:off x="4017897" y="41774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3" name="레일 태그"/>
          <p:cNvSpPr>
            <a:spLocks noGrp="1"/>
          </p:cNvSpPr>
          <p:nvPr>
            <p:ph type="body" sz="quarter" idx="50"/>
          </p:nvPr>
        </p:nvSpPr>
        <p:spPr>
          <a:xfrm>
            <a:off x="4017897" y="41774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</a:t>
            </a:r>
          </a:p>
        </p:txBody>
      </p:sp>
      <p:sp>
        <p:nvSpPr>
          <p:cNvPr id="74" name="레일 라벨"/>
          <p:cNvSpPr>
            <a:spLocks noGrp="1"/>
          </p:cNvSpPr>
          <p:nvPr>
            <p:ph type="body" sz="quarter" idx="51"/>
          </p:nvPr>
        </p:nvSpPr>
        <p:spPr>
          <a:xfrm>
            <a:off x="3930652" y="4363670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존중과 화합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조성</a:t>
            </a:r>
          </a:p>
        </p:txBody>
      </p:sp>
      <p:sp>
        <p:nvSpPr>
          <p:cNvPr id="75" name="패널 본문"/>
          <p:cNvSpPr>
            <a:spLocks noGrp="1"/>
          </p:cNvSpPr>
          <p:nvPr>
            <p:ph type="body" sz="quarter" idx="52"/>
          </p:nvPr>
        </p:nvSpPr>
        <p:spPr>
          <a:xfrm>
            <a:off x="4708565" y="4122626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매월 11·22일, 화합의 날 지정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자녀 초청 탐험기 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참여 명예로운퇴임식</a:t>
            </a:r>
          </a:p>
        </p:txBody>
      </p:sp>
      <p:cxnSp>
        <p:nvCxnSpPr>
          <p:cNvPr id="76" name="Connector 55"/>
          <p:cNvCxnSpPr/>
          <p:nvPr/>
        </p:nvCxnSpPr>
        <p:spPr>
          <a:xfrm>
            <a:off x="4708565" y="4739009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3930652" y="4749965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 태그"/>
          <p:cNvSpPr/>
          <p:nvPr/>
        </p:nvSpPr>
        <p:spPr>
          <a:xfrm>
            <a:off x="4017897" y="479379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레일 태그"/>
          <p:cNvSpPr>
            <a:spLocks noGrp="1"/>
          </p:cNvSpPr>
          <p:nvPr>
            <p:ph type="body" sz="quarter" idx="53"/>
          </p:nvPr>
        </p:nvSpPr>
        <p:spPr>
          <a:xfrm>
            <a:off x="4017897" y="479379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협력문화</a:t>
            </a:r>
          </a:p>
        </p:txBody>
      </p:sp>
      <p:sp>
        <p:nvSpPr>
          <p:cNvPr id="80" name="레일 라벨"/>
          <p:cNvSpPr>
            <a:spLocks noGrp="1"/>
          </p:cNvSpPr>
          <p:nvPr>
            <p:ph type="body" sz="quarter" idx="54"/>
          </p:nvPr>
        </p:nvSpPr>
        <p:spPr>
          <a:xfrm>
            <a:off x="3930652" y="4980052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파트너십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81" name="패널 본문"/>
          <p:cNvSpPr>
            <a:spLocks noGrp="1"/>
          </p:cNvSpPr>
          <p:nvPr>
            <p:ph type="body" sz="quarter" idx="55"/>
          </p:nvPr>
        </p:nvSpPr>
        <p:spPr>
          <a:xfrm>
            <a:off x="4708565" y="4739009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팀워크 '동행'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공유와 공감대 형성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9 서사 · 추진배경 → 공감대·선언(사진)·확산 → 성과 레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719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 상생협력 선포 및 상생의 달 지정·운영</a:t>
            </a:r>
          </a:p>
        </p:txBody>
      </p:sp>
      <p:sp>
        <p:nvSpPr>
          <p:cNvPr id="12" name="태그칩"/>
          <p:cNvSpPr/>
          <p:nvPr/>
        </p:nvSpPr>
        <p:spPr>
          <a:xfrm>
            <a:off x="3355467" y="799826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355467" y="799826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4" name="태그칩"/>
          <p:cNvSpPr/>
          <p:nvPr/>
        </p:nvSpPr>
        <p:spPr>
          <a:xfrm>
            <a:off x="3726618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3726618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6" name="라벨 박스"/>
          <p:cNvSpPr/>
          <p:nvPr/>
        </p:nvSpPr>
        <p:spPr>
          <a:xfrm>
            <a:off x="536870" y="106278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7373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7373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본문"/>
          <p:cNvSpPr>
            <a:spLocks noGrp="1"/>
          </p:cNvSpPr>
          <p:nvPr>
            <p:ph type="body" sz="quarter" idx="24"/>
          </p:nvPr>
        </p:nvSpPr>
        <p:spPr>
          <a:xfrm>
            <a:off x="1172348" y="107921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소통·긍정 조직문화를 기반으로 상생 협력적 노사관계 문화 확산, 파트너십 강화 추진</a:t>
            </a:r>
          </a:p>
        </p:txBody>
      </p:sp>
      <p:sp>
        <p:nvSpPr>
          <p:cNvPr id="20" name="표 외곽"/>
          <p:cNvSpPr/>
          <p:nvPr/>
        </p:nvSpPr>
        <p:spPr>
          <a:xfrm>
            <a:off x="536870" y="1396957"/>
            <a:ext cx="6300000" cy="249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547826" y="141339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1339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3" name="머리칸"/>
          <p:cNvSpPr/>
          <p:nvPr/>
        </p:nvSpPr>
        <p:spPr>
          <a:xfrm>
            <a:off x="1161391" y="143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43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5" name="머리칸"/>
          <p:cNvSpPr/>
          <p:nvPr/>
        </p:nvSpPr>
        <p:spPr>
          <a:xfrm>
            <a:off x="3985435" y="143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985435" y="143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7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발전을 위해서는 노동조합을 동반자로 인식하고 협력 증대 필수적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67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개선을 위해서는 공단과의 파트너십 강화 필요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985435" y="1709217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547826" y="2035252"/>
            <a:ext cx="580696" cy="816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레일 태그"/>
          <p:cNvSpPr/>
          <p:nvPr/>
        </p:nvSpPr>
        <p:spPr>
          <a:xfrm>
            <a:off x="668144" y="219960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레일 태그"/>
          <p:cNvSpPr>
            <a:spLocks noGrp="1"/>
          </p:cNvSpPr>
          <p:nvPr>
            <p:ph type="body" sz="quarter" idx="30"/>
          </p:nvPr>
        </p:nvSpPr>
        <p:spPr>
          <a:xfrm>
            <a:off x="668144" y="219960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33" name="레일 라벨"/>
          <p:cNvSpPr>
            <a:spLocks noGrp="1"/>
          </p:cNvSpPr>
          <p:nvPr>
            <p:ph type="body" sz="quarter" idx="31"/>
          </p:nvPr>
        </p:nvSpPr>
        <p:spPr>
          <a:xfrm>
            <a:off x="547826" y="2385861"/>
            <a:ext cx="580696" cy="443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0352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057165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057165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298209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38" name="사진 칸"/>
          <p:cNvSpPr/>
          <p:nvPr/>
        </p:nvSpPr>
        <p:spPr>
          <a:xfrm>
            <a:off x="5730261" y="2062643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9" name="사진 칸"/>
          <p:cNvSpPr>
            <a:spLocks noGrp="1"/>
          </p:cNvSpPr>
          <p:nvPr>
            <p:ph type="body" sz="quarter" idx="34"/>
          </p:nvPr>
        </p:nvSpPr>
        <p:spPr>
          <a:xfrm>
            <a:off x="5730261" y="2062643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40" name="레일"/>
          <p:cNvSpPr/>
          <p:nvPr/>
        </p:nvSpPr>
        <p:spPr>
          <a:xfrm>
            <a:off x="547826" y="2867948"/>
            <a:ext cx="580696" cy="10067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 태그"/>
          <p:cNvSpPr/>
          <p:nvPr/>
        </p:nvSpPr>
        <p:spPr>
          <a:xfrm>
            <a:off x="668144" y="303229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레일 태그"/>
          <p:cNvSpPr>
            <a:spLocks noGrp="1"/>
          </p:cNvSpPr>
          <p:nvPr>
            <p:ph type="body" sz="quarter" idx="35"/>
          </p:nvPr>
        </p:nvSpPr>
        <p:spPr>
          <a:xfrm>
            <a:off x="668144" y="303229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43" name="레일 라벨"/>
          <p:cNvSpPr>
            <a:spLocks noGrp="1"/>
          </p:cNvSpPr>
          <p:nvPr>
            <p:ph type="body" sz="quarter" idx="36"/>
          </p:nvPr>
        </p:nvSpPr>
        <p:spPr>
          <a:xfrm>
            <a:off x="547826" y="3218557"/>
            <a:ext cx="580696" cy="63422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547826" y="28679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161391" y="28898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7"/>
          </p:nvPr>
        </p:nvSpPr>
        <p:spPr>
          <a:xfrm>
            <a:off x="1161391" y="28898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47" name="머리칸"/>
          <p:cNvSpPr/>
          <p:nvPr/>
        </p:nvSpPr>
        <p:spPr>
          <a:xfrm>
            <a:off x="1161391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8"/>
          </p:nvPr>
        </p:nvSpPr>
        <p:spPr>
          <a:xfrm>
            <a:off x="1161391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49" name="머리칸"/>
          <p:cNvSpPr/>
          <p:nvPr/>
        </p:nvSpPr>
        <p:spPr>
          <a:xfrm>
            <a:off x="3044087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9"/>
          </p:nvPr>
        </p:nvSpPr>
        <p:spPr>
          <a:xfrm>
            <a:off x="3044087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51" name="머리칸"/>
          <p:cNvSpPr/>
          <p:nvPr/>
        </p:nvSpPr>
        <p:spPr>
          <a:xfrm>
            <a:off x="4926783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2" name="머리칸"/>
          <p:cNvSpPr>
            <a:spLocks noGrp="1"/>
          </p:cNvSpPr>
          <p:nvPr>
            <p:ph type="body" sz="quarter" idx="40"/>
          </p:nvPr>
        </p:nvSpPr>
        <p:spPr>
          <a:xfrm>
            <a:off x="4926783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3044087" y="3399339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4937739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  <p:cxnSp>
        <p:nvCxnSpPr>
          <p:cNvPr id="57" name="Connector 39"/>
          <p:cNvCxnSpPr/>
          <p:nvPr/>
        </p:nvCxnSpPr>
        <p:spPr>
          <a:xfrm>
            <a:off x="4926783" y="3399339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표 외곽"/>
          <p:cNvSpPr/>
          <p:nvPr/>
        </p:nvSpPr>
        <p:spPr>
          <a:xfrm>
            <a:off x="536870" y="3934957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레일"/>
          <p:cNvSpPr/>
          <p:nvPr/>
        </p:nvSpPr>
        <p:spPr>
          <a:xfrm>
            <a:off x="547826" y="3951391"/>
            <a:ext cx="580696" cy="610904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3951391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머리칸"/>
          <p:cNvSpPr/>
          <p:nvPr/>
        </p:nvSpPr>
        <p:spPr>
          <a:xfrm>
            <a:off x="1161391" y="397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2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97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63" name="머리칸"/>
          <p:cNvSpPr/>
          <p:nvPr/>
        </p:nvSpPr>
        <p:spPr>
          <a:xfrm>
            <a:off x="3985435" y="397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6"/>
          </p:nvPr>
        </p:nvSpPr>
        <p:spPr>
          <a:xfrm>
            <a:off x="3985435" y="397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421434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421434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  <p:cxnSp>
        <p:nvCxnSpPr>
          <p:cNvPr id="67" name="Connector 46"/>
          <p:cNvCxnSpPr/>
          <p:nvPr/>
        </p:nvCxnSpPr>
        <p:spPr>
          <a:xfrm>
            <a:off x="3985435" y="4247217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핵심성과 박스"/>
          <p:cNvSpPr/>
          <p:nvPr/>
        </p:nvSpPr>
        <p:spPr>
          <a:xfrm>
            <a:off x="536870" y="46663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핵심성과 라벨"/>
          <p:cNvSpPr/>
          <p:nvPr/>
        </p:nvSpPr>
        <p:spPr>
          <a:xfrm>
            <a:off x="569739" y="47047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0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569739" y="47047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1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314783" y="46828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노사소통지수 전년대비 1.6점 상승(89.3 → 90.9점)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 서사 · 교육체계 비전·환경·방향 → 실적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교육체계 수립과 내·외부 역량 활용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2038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노사 현안별 전문성을 추구하는 노무 역량 교육체계</a:t>
            </a:r>
          </a:p>
        </p:txBody>
      </p:sp>
      <p:sp>
        <p:nvSpPr>
          <p:cNvPr id="16" name="태그칩"/>
          <p:cNvSpPr/>
          <p:nvPr/>
        </p:nvSpPr>
        <p:spPr>
          <a:xfrm>
            <a:off x="4025603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025603" y="12380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723130" y="150104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1200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1200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358609" y="151747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22" name="라벨 박스"/>
          <p:cNvSpPr/>
          <p:nvPr/>
        </p:nvSpPr>
        <p:spPr>
          <a:xfrm>
            <a:off x="723130" y="1846174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857130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57130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머리칸"/>
          <p:cNvSpPr/>
          <p:nvPr/>
        </p:nvSpPr>
        <p:spPr>
          <a:xfrm>
            <a:off x="1358609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58609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7" name="머리칸"/>
          <p:cNvSpPr/>
          <p:nvPr/>
        </p:nvSpPr>
        <p:spPr>
          <a:xfrm>
            <a:off x="4174435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174435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69565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5391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4435" y="2147478"/>
            <a:ext cx="0" cy="2986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라벨 박스"/>
          <p:cNvSpPr/>
          <p:nvPr/>
        </p:nvSpPr>
        <p:spPr>
          <a:xfrm>
            <a:off x="723130" y="2550209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"/>
          <p:cNvSpPr/>
          <p:nvPr/>
        </p:nvSpPr>
        <p:spPr>
          <a:xfrm>
            <a:off x="734087" y="2561165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561165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35" name="강조 바"/>
          <p:cNvSpPr/>
          <p:nvPr/>
        </p:nvSpPr>
        <p:spPr>
          <a:xfrm>
            <a:off x="1358609" y="2583078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강조 바 글"/>
          <p:cNvSpPr>
            <a:spLocks noGrp="1"/>
          </p:cNvSpPr>
          <p:nvPr>
            <p:ph type="body" sz="quarter" idx="32"/>
          </p:nvPr>
        </p:nvSpPr>
        <p:spPr>
          <a:xfrm>
            <a:off x="1358609" y="2583078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제도에 유연하게 대응할 수 있는 역량 구비·강화</a:t>
            </a:r>
          </a:p>
        </p:txBody>
      </p:sp>
      <p:sp>
        <p:nvSpPr>
          <p:cNvPr id="37" name="라벨 박스"/>
          <p:cNvSpPr/>
          <p:nvPr/>
        </p:nvSpPr>
        <p:spPr>
          <a:xfrm>
            <a:off x="723130" y="2895339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734087" y="2906296"/>
            <a:ext cx="591652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906296"/>
            <a:ext cx="591652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40" name="머리칸"/>
          <p:cNvSpPr/>
          <p:nvPr/>
        </p:nvSpPr>
        <p:spPr>
          <a:xfrm>
            <a:off x="1358609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1358609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42" name="머리칸"/>
          <p:cNvSpPr/>
          <p:nvPr/>
        </p:nvSpPr>
        <p:spPr>
          <a:xfrm>
            <a:off x="3235826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3235826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44" name="머리칸"/>
          <p:cNvSpPr/>
          <p:nvPr/>
        </p:nvSpPr>
        <p:spPr>
          <a:xfrm>
            <a:off x="5113043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5113043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369565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246783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3235826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5124000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5113043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삼각 화살표"/>
          <p:cNvSpPr/>
          <p:nvPr/>
        </p:nvSpPr>
        <p:spPr>
          <a:xfrm>
            <a:off x="4010086" y="3582939"/>
            <a:ext cx="350609" cy="142434"/>
          </a:xfrm>
          <a:custGeom>
            <a:avLst/>
            <a:gdLst/>
            <a:ahLst/>
            <a:cxnLst/>
            <a:rect l="l" t="t" r="r" b="b"/>
            <a:pathLst>
              <a:path w="350609" h="142434">
                <a:moveTo>
                  <a:pt x="0" y="0"/>
                </a:moveTo>
                <a:lnTo>
                  <a:pt x="350609" y="0"/>
                </a:lnTo>
                <a:lnTo>
                  <a:pt x="17530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 서사 · 협의체 참여 · 외부역량 활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77357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협의체 참여와 외부역량 활용으로 현안 대응</a:t>
            </a:r>
          </a:p>
        </p:txBody>
      </p:sp>
      <p:sp>
        <p:nvSpPr>
          <p:cNvPr id="12" name="태그칩"/>
          <p:cNvSpPr/>
          <p:nvPr/>
        </p:nvSpPr>
        <p:spPr>
          <a:xfrm>
            <a:off x="3409049" y="799826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409049" y="799826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22133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082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17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5996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5996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태그"/>
          <p:cNvSpPr/>
          <p:nvPr/>
        </p:nvSpPr>
        <p:spPr>
          <a:xfrm>
            <a:off x="1161391" y="194760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4760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1"/>
          </p:nvPr>
        </p:nvSpPr>
        <p:spPr>
          <a:xfrm>
            <a:off x="1786727" y="193664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33" name="레일"/>
          <p:cNvSpPr/>
          <p:nvPr/>
        </p:nvSpPr>
        <p:spPr>
          <a:xfrm>
            <a:off x="547826" y="2166730"/>
            <a:ext cx="580696" cy="10820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166730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1667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배너"/>
          <p:cNvSpPr/>
          <p:nvPr/>
        </p:nvSpPr>
        <p:spPr>
          <a:xfrm>
            <a:off x="1161391" y="21886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1886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38" name="머리칸"/>
          <p:cNvSpPr/>
          <p:nvPr/>
        </p:nvSpPr>
        <p:spPr>
          <a:xfrm>
            <a:off x="1161391" y="2424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2424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40" name="머리칸"/>
          <p:cNvSpPr/>
          <p:nvPr/>
        </p:nvSpPr>
        <p:spPr>
          <a:xfrm>
            <a:off x="3985435" y="2424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2424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665252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이슈 대응 및 제도 적법성 자문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665252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신속 대응과 정보 수집을 위한 온라인 노무포털(E-Labor) 적극 활용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3985435" y="2698122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태그"/>
          <p:cNvSpPr/>
          <p:nvPr/>
        </p:nvSpPr>
        <p:spPr>
          <a:xfrm>
            <a:off x="1161391" y="304607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8"/>
          </p:nvPr>
        </p:nvSpPr>
        <p:spPr>
          <a:xfrm>
            <a:off x="1161391" y="30460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47" name="태그 설명"/>
          <p:cNvSpPr>
            <a:spLocks noGrp="1"/>
          </p:cNvSpPr>
          <p:nvPr>
            <p:ph type="body" sz="quarter" idx="39"/>
          </p:nvPr>
        </p:nvSpPr>
        <p:spPr>
          <a:xfrm>
            <a:off x="1786727" y="30351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· 감시단속적 근무 해제, 육아지원 3법 등</a:t>
            </a:r>
          </a:p>
        </p:txBody>
      </p:sp>
      <p:sp>
        <p:nvSpPr>
          <p:cNvPr id="48" name="핵심성과 박스"/>
          <p:cNvSpPr/>
          <p:nvPr/>
        </p:nvSpPr>
        <p:spPr>
          <a:xfrm>
            <a:off x="536870" y="33528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569739" y="33912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33912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33692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노사역량지수 전년대비 0.8점 상승(90.1 → 90.9점)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 서사 · 환경 → 이해관계 → 의견조율 → 협약체결(인라인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무분규 임금·단체협약을 통한 근로조건의 실질적 향상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4878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갈등 있을 땐 소통으로! 15년 연속 무분규 임금협약 체결</a:t>
            </a:r>
          </a:p>
        </p:txBody>
      </p:sp>
      <p:sp>
        <p:nvSpPr>
          <p:cNvPr id="16" name="태그칩"/>
          <p:cNvSpPr/>
          <p:nvPr/>
        </p:nvSpPr>
        <p:spPr>
          <a:xfrm>
            <a:off x="4309585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09585" y="12380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3" name="머리칸"/>
          <p:cNvSpPr/>
          <p:nvPr/>
        </p:nvSpPr>
        <p:spPr>
          <a:xfrm>
            <a:off x="4171696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'25년도 공공기관 총인건비 인상률 3.0% 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인상 기조(예산지침)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직종·직급 간 동일 인상률 불만 제기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낮은 보수로 하위직·교통직·실무직 불만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4171696" y="1802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삼각 화살표"/>
          <p:cNvSpPr/>
          <p:nvPr/>
        </p:nvSpPr>
        <p:spPr>
          <a:xfrm>
            <a:off x="4010086" y="2177686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표 외곽"/>
          <p:cNvSpPr/>
          <p:nvPr/>
        </p:nvSpPr>
        <p:spPr>
          <a:xfrm>
            <a:off x="723130" y="2391339"/>
            <a:ext cx="6300000" cy="26682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407774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407774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32" name="머리칸"/>
          <p:cNvSpPr/>
          <p:nvPr/>
        </p:nvSpPr>
        <p:spPr>
          <a:xfrm>
            <a:off x="1347652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4" name="머리칸"/>
          <p:cNvSpPr/>
          <p:nvPr/>
        </p:nvSpPr>
        <p:spPr>
          <a:xfrm>
            <a:off x="4171696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6707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우선 인상 동의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고위직급자 인상·직무급 확대 요구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6707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 직종·직급 위주 '하후상박식'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실무직 근로시간·직무급 확대 반대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27036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734087" y="3035113"/>
            <a:ext cx="580696" cy="9314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035113"/>
            <a:ext cx="580696" cy="9314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0351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"/>
          <p:cNvSpPr/>
          <p:nvPr/>
        </p:nvSpPr>
        <p:spPr>
          <a:xfrm>
            <a:off x="1347652" y="305702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 형성</a:t>
            </a:r>
          </a:p>
        </p:txBody>
      </p:sp>
      <p:sp>
        <p:nvSpPr>
          <p:cNvPr id="44" name="단계"/>
          <p:cNvSpPr/>
          <p:nvPr/>
        </p:nvSpPr>
        <p:spPr>
          <a:xfrm>
            <a:off x="2759674" y="305702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2759674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갈등발생</a:t>
            </a:r>
          </a:p>
        </p:txBody>
      </p:sp>
      <p:sp>
        <p:nvSpPr>
          <p:cNvPr id="46" name="단계"/>
          <p:cNvSpPr/>
          <p:nvPr/>
        </p:nvSpPr>
        <p:spPr>
          <a:xfrm>
            <a:off x="4171696" y="305702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4171696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갈등해소</a:t>
            </a:r>
          </a:p>
        </p:txBody>
      </p:sp>
      <p:sp>
        <p:nvSpPr>
          <p:cNvPr id="48" name="단계"/>
          <p:cNvSpPr/>
          <p:nvPr/>
        </p:nvSpPr>
        <p:spPr>
          <a:xfrm>
            <a:off x="5583717" y="305702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5583717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본교섭 실시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2759673" y="30570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171695" y="3057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 삼각형"/>
          <p:cNvSpPr/>
          <p:nvPr/>
        </p:nvSpPr>
        <p:spPr>
          <a:xfrm>
            <a:off x="5583717" y="3057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대표위원 12명 참석·상견례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 공유·논의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2770630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직급별 인상률·직무급 확대 이견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2759674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3회 대화·소통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절충안 협의</a:t>
            </a:r>
          </a:p>
        </p:txBody>
      </p:sp>
      <p:cxnSp>
        <p:nvCxnSpPr>
          <p:cNvPr id="57" name="Connector 39"/>
          <p:cNvCxnSpPr/>
          <p:nvPr/>
        </p:nvCxnSpPr>
        <p:spPr>
          <a:xfrm>
            <a:off x="4171696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5594674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실무교섭안으로 본교섭·체결식 동시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15년 연속 무분규 체결</a:t>
            </a:r>
          </a:p>
        </p:txBody>
      </p:sp>
      <p:cxnSp>
        <p:nvCxnSpPr>
          <p:cNvPr id="59" name="Connector 41"/>
          <p:cNvCxnSpPr/>
          <p:nvPr/>
        </p:nvCxnSpPr>
        <p:spPr>
          <a:xfrm>
            <a:off x="5583717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레일"/>
          <p:cNvSpPr/>
          <p:nvPr/>
        </p:nvSpPr>
        <p:spPr>
          <a:xfrm>
            <a:off x="734087" y="3983009"/>
            <a:ext cx="580696" cy="10601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3983009"/>
            <a:ext cx="580696" cy="10601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734086" y="39830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머리칸"/>
          <p:cNvSpPr/>
          <p:nvPr/>
        </p:nvSpPr>
        <p:spPr>
          <a:xfrm>
            <a:off x="1347652" y="4004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4"/>
          </p:nvPr>
        </p:nvSpPr>
        <p:spPr>
          <a:xfrm>
            <a:off x="1347652" y="4004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임금협약 체결('25.5월)</a:t>
            </a:r>
          </a:p>
        </p:txBody>
      </p:sp>
      <p:sp>
        <p:nvSpPr>
          <p:cNvPr id="65" name="머리칸"/>
          <p:cNvSpPr/>
          <p:nvPr/>
        </p:nvSpPr>
        <p:spPr>
          <a:xfrm>
            <a:off x="4171696" y="4004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6" name="머리칸"/>
          <p:cNvSpPr>
            <a:spLocks noGrp="1"/>
          </p:cNvSpPr>
          <p:nvPr>
            <p:ph type="body" sz="quarter" idx="45"/>
          </p:nvPr>
        </p:nvSpPr>
        <p:spPr>
          <a:xfrm>
            <a:off x="4171696" y="4004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 임금협약 체결('25.12월)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6"/>
          </p:nvPr>
        </p:nvSpPr>
        <p:spPr>
          <a:xfrm>
            <a:off x="1358609" y="4245965"/>
            <a:ext cx="2802130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임금 차등인상(1.0~4.5%)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882852"/>
            <a:ext cx="2802130" cy="15480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상하위직 격차 완화(연공성 완화율 1.9%p↑)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8"/>
          </p:nvPr>
        </p:nvSpPr>
        <p:spPr>
          <a:xfrm>
            <a:off x="4182652" y="4245965"/>
            <a:ext cx="2802130" cy="7916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기본급 0.5%, 실무직 0.4% 추가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환경실무직 표준 근로체계 편입(임금↑)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직무급 Ⅰ 0.08%, 직무급 Ⅱ 1만원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3~7급 성과급 한시 추가 지급</a:t>
            </a:r>
          </a:p>
        </p:txBody>
      </p:sp>
      <p:cxnSp>
        <p:nvCxnSpPr>
          <p:cNvPr id="70" name="Connector 50"/>
          <p:cNvCxnSpPr/>
          <p:nvPr/>
        </p:nvCxnSpPr>
        <p:spPr>
          <a:xfrm>
            <a:off x="4171696" y="4278835"/>
            <a:ext cx="0" cy="7259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핵심성과 박스"/>
          <p:cNvSpPr/>
          <p:nvPr/>
        </p:nvSpPr>
        <p:spPr>
          <a:xfrm>
            <a:off x="723130" y="51472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핵심성과 라벨"/>
          <p:cNvSpPr/>
          <p:nvPr/>
        </p:nvSpPr>
        <p:spPr>
          <a:xfrm>
            <a:off x="756000" y="51855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3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756000" y="51855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4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501043" y="51636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 서사 · 이해관계 → 공감대 → 의견조율 → 협약체결(사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7658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상호 신뢰와 공감을 바탕으로 본교섭을 생략한 단체협약 체결</a:t>
            </a:r>
          </a:p>
        </p:txBody>
      </p:sp>
      <p:sp>
        <p:nvSpPr>
          <p:cNvPr id="12" name="표 외곽"/>
          <p:cNvSpPr/>
          <p:nvPr/>
        </p:nvSpPr>
        <p:spPr>
          <a:xfrm>
            <a:off x="536870" y="1051826"/>
            <a:ext cx="6300000" cy="27366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547826" y="1068261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068261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5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7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33121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정부정책 테두리 내에서의 교섭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발전이라는 공동 목표 우선적 지향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33121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조합원의 권리 확대와 노동조합 활동 보장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 등 근로자 권익 보호 중점 추진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36408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547826" y="1695600"/>
            <a:ext cx="580696" cy="610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95600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6956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161391" y="17175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7175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사전교섭('25.9월)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7175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7175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프로그램('25.11월)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5855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본교섭 대표위원 16명 전원 참석, 상견례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교섭방향 및 의견 교류로 공감대 형성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5855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 및 노조집행부, 실무자 등 20명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팀워크 활동 및 현안 공유·소통으로 공감대 강화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1991426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47826" y="2322939"/>
            <a:ext cx="580696" cy="616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322939"/>
            <a:ext cx="580696" cy="616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34" name="단계"/>
          <p:cNvSpPr/>
          <p:nvPr/>
        </p:nvSpPr>
        <p:spPr>
          <a:xfrm>
            <a:off x="1161391" y="23448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요구안 제시</a:t>
            </a:r>
          </a:p>
        </p:txBody>
      </p:sp>
      <p:sp>
        <p:nvSpPr>
          <p:cNvPr id="36" name="단계"/>
          <p:cNvSpPr/>
          <p:nvPr/>
        </p:nvSpPr>
        <p:spPr>
          <a:xfrm>
            <a:off x="2573413" y="23448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2573413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사측 검토</a:t>
            </a:r>
          </a:p>
        </p:txBody>
      </p:sp>
      <p:sp>
        <p:nvSpPr>
          <p:cNvPr id="38" name="단계"/>
          <p:cNvSpPr/>
          <p:nvPr/>
        </p:nvSpPr>
        <p:spPr>
          <a:xfrm>
            <a:off x="3985435" y="23448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3985435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소통</a:t>
            </a:r>
          </a:p>
        </p:txBody>
      </p:sp>
      <p:sp>
        <p:nvSpPr>
          <p:cNvPr id="40" name="단계"/>
          <p:cNvSpPr/>
          <p:nvPr/>
        </p:nvSpPr>
        <p:spPr>
          <a:xfrm>
            <a:off x="5397457" y="23448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5397457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합의안 도출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2573413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3985434" y="23448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 삼각형"/>
          <p:cNvSpPr/>
          <p:nvPr/>
        </p:nvSpPr>
        <p:spPr>
          <a:xfrm>
            <a:off x="5397456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18개 요구안 제시·교섭 요구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2584370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실무부서 검토, 이사장·본부장 점검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2573413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 필요 사안 노사 소통·협의</a:t>
            </a:r>
          </a:p>
        </p:txBody>
      </p:sp>
      <p:cxnSp>
        <p:nvCxnSpPr>
          <p:cNvPr id="49" name="Connector 34"/>
          <p:cNvCxnSpPr/>
          <p:nvPr/>
        </p:nvCxnSpPr>
        <p:spPr>
          <a:xfrm>
            <a:off x="3985435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5408413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7건 의견일치, 11건 수정합의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5397457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레일"/>
          <p:cNvSpPr/>
          <p:nvPr/>
        </p:nvSpPr>
        <p:spPr>
          <a:xfrm>
            <a:off x="547826" y="2955757"/>
            <a:ext cx="580696" cy="816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2955757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547826" y="29557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머리칸"/>
          <p:cNvSpPr/>
          <p:nvPr/>
        </p:nvSpPr>
        <p:spPr>
          <a:xfrm>
            <a:off x="1161391" y="2977670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1"/>
          </p:nvPr>
        </p:nvSpPr>
        <p:spPr>
          <a:xfrm>
            <a:off x="1161391" y="2977670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본교섭 없는 단체협약 체결('25.12월)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218713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개선과 공단 발전이라는 공동 목표까지, 균형 있는 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부당노동행위 금지, 조합활동 보장 강화, 비상 시 급여 지급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지속가능 성장 신설, 해외사업 확대·지원 강화 등</a:t>
            </a:r>
          </a:p>
        </p:txBody>
      </p:sp>
      <p:sp>
        <p:nvSpPr>
          <p:cNvPr id="58" name="사진 칸"/>
          <p:cNvSpPr/>
          <p:nvPr/>
        </p:nvSpPr>
        <p:spPr>
          <a:xfrm>
            <a:off x="5730261" y="2983148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9" name="사진 칸"/>
          <p:cNvSpPr>
            <a:spLocks noGrp="1"/>
          </p:cNvSpPr>
          <p:nvPr>
            <p:ph type="body" sz="quarter" idx="43"/>
          </p:nvPr>
        </p:nvSpPr>
        <p:spPr>
          <a:xfrm>
            <a:off x="5730261" y="2983148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60" name="핵심성과 박스"/>
          <p:cNvSpPr/>
          <p:nvPr/>
        </p:nvSpPr>
        <p:spPr>
          <a:xfrm>
            <a:off x="536870" y="38761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569739" y="39144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4"/>
          </p:nvPr>
        </p:nvSpPr>
        <p:spPr>
          <a:xfrm>
            <a:off x="569739" y="39144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5"/>
          </p:nvPr>
        </p:nvSpPr>
        <p:spPr>
          <a:xfrm>
            <a:off x="1314783" y="38925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 서사 · 환경분석 + 칸 안 라벨 소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누구나 즐겁고 차별 없이 일할 수 있는 근로환경 구현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8010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니즈를 반영한 근로조건 개선과 복리후생 향상 과제 도출</a:t>
            </a:r>
          </a:p>
        </p:txBody>
      </p:sp>
      <p:sp>
        <p:nvSpPr>
          <p:cNvPr id="16" name="라벨 박스"/>
          <p:cNvSpPr/>
          <p:nvPr/>
        </p:nvSpPr>
        <p:spPr>
          <a:xfrm>
            <a:off x="723130" y="1501043"/>
            <a:ext cx="6300000" cy="112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512000"/>
            <a:ext cx="591652" cy="1102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512000"/>
            <a:ext cx="591652" cy="110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9" name="머리칸"/>
          <p:cNvSpPr/>
          <p:nvPr/>
        </p:nvSpPr>
        <p:spPr>
          <a:xfrm>
            <a:off x="1358609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58609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1" name="머리칸"/>
          <p:cNvSpPr/>
          <p:nvPr/>
        </p:nvSpPr>
        <p:spPr>
          <a:xfrm>
            <a:off x="3235826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235826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환류</a:t>
            </a:r>
          </a:p>
        </p:txBody>
      </p:sp>
      <p:sp>
        <p:nvSpPr>
          <p:cNvPr id="23" name="머리칸"/>
          <p:cNvSpPr/>
          <p:nvPr/>
        </p:nvSpPr>
        <p:spPr>
          <a:xfrm>
            <a:off x="5113043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69565" y="176947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3법·출산양육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 등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안전일터 조성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6783" y="176947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질적 근로조건 개선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취약직종 근로조건 향상 지속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235826" y="1802348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134957" y="1780435"/>
            <a:ext cx="525913" cy="326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134957" y="1780435"/>
            <a:ext cx="525913" cy="326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30" name="소행 본문"/>
          <p:cNvSpPr>
            <a:spLocks noGrp="1"/>
          </p:cNvSpPr>
          <p:nvPr>
            <p:ph type="body" sz="quarter" idx="30"/>
          </p:nvPr>
        </p:nvSpPr>
        <p:spPr>
          <a:xfrm>
            <a:off x="5682783" y="1780435"/>
            <a:ext cx="1296522" cy="3260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문화여가·가족친화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경조사 생활지원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134957" y="2117426"/>
            <a:ext cx="1833391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134957" y="2122904"/>
            <a:ext cx="525913" cy="4808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134957" y="2122904"/>
            <a:ext cx="525913" cy="4808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34" name="소행 본문"/>
          <p:cNvSpPr>
            <a:spLocks noGrp="1"/>
          </p:cNvSpPr>
          <p:nvPr>
            <p:ph type="body" sz="quarter" idx="32"/>
          </p:nvPr>
        </p:nvSpPr>
        <p:spPr>
          <a:xfrm>
            <a:off x="5682783" y="2122904"/>
            <a:ext cx="1296522" cy="4808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 등 안전일터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스트레스·정신건강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5113043" y="1802348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라벨 박스"/>
          <p:cNvSpPr/>
          <p:nvPr/>
        </p:nvSpPr>
        <p:spPr>
          <a:xfrm>
            <a:off x="723130" y="2680435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"/>
          <p:cNvSpPr/>
          <p:nvPr/>
        </p:nvSpPr>
        <p:spPr>
          <a:xfrm>
            <a:off x="734087" y="269139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69139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9" name="가운데 글"/>
          <p:cNvSpPr>
            <a:spLocks noGrp="1"/>
          </p:cNvSpPr>
          <p:nvPr>
            <p:ph type="body" sz="quarter" idx="34"/>
          </p:nvPr>
        </p:nvSpPr>
        <p:spPr>
          <a:xfrm>
            <a:off x="1358609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</p:txBody>
      </p:sp>
      <p:sp>
        <p:nvSpPr>
          <p:cNvPr id="40" name="가운데 글"/>
          <p:cNvSpPr>
            <a:spLocks noGrp="1"/>
          </p:cNvSpPr>
          <p:nvPr>
            <p:ph type="body" sz="quarter" idx="35"/>
          </p:nvPr>
        </p:nvSpPr>
        <p:spPr>
          <a:xfrm>
            <a:off x="3235826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실무직 처우개선</a:t>
            </a:r>
          </a:p>
        </p:txBody>
      </p:sp>
      <p:cxnSp>
        <p:nvCxnSpPr>
          <p:cNvPr id="41" name="Connector 28"/>
          <p:cNvCxnSpPr/>
          <p:nvPr/>
        </p:nvCxnSpPr>
        <p:spPr>
          <a:xfrm>
            <a:off x="3235826" y="2735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2" name="가운데 글"/>
          <p:cNvSpPr>
            <a:spLocks noGrp="1"/>
          </p:cNvSpPr>
          <p:nvPr>
            <p:ph type="body" sz="quarter" idx="36"/>
          </p:nvPr>
        </p:nvSpPr>
        <p:spPr>
          <a:xfrm>
            <a:off x="5113043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5113043" y="2735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4" name="라벨 박스"/>
          <p:cNvSpPr/>
          <p:nvPr/>
        </p:nvSpPr>
        <p:spPr>
          <a:xfrm>
            <a:off x="723130" y="3025565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"/>
          <p:cNvSpPr/>
          <p:nvPr/>
        </p:nvSpPr>
        <p:spPr>
          <a:xfrm>
            <a:off x="734087" y="3036522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036522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369565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단체교섭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도출·노사 합의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3246783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근무체계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개선안·임금저하 방지대책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노사합의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3235826" y="3074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5124000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기반 복리후생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확대·제도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지원 강화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5113043" y="3074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 서사 · 이해관계 → 교섭(사진 열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7307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열린 소통의 결실, 교통직 처우개선 단체교섭 노사합의 체결</a:t>
            </a:r>
          </a:p>
        </p:txBody>
      </p:sp>
      <p:sp>
        <p:nvSpPr>
          <p:cNvPr id="12" name="태그칩"/>
          <p:cNvSpPr/>
          <p:nvPr/>
        </p:nvSpPr>
        <p:spPr>
          <a:xfrm>
            <a:off x="4308556" y="799826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308556" y="799826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5297478" cy="1882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9" name="머리칸"/>
          <p:cNvSpPr/>
          <p:nvPr/>
        </p:nvSpPr>
        <p:spPr>
          <a:xfrm>
            <a:off x="3484174" y="1090174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484174" y="1090174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재원 부족 등 교통직 처우개선을 위한 중장기적 검토와 추진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495130" y="1331217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교통직과 일반직의 차별적 요소 해소를 위한 적극적·신속한 대응 필요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484174" y="1364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1690122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690122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6901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머리칸"/>
          <p:cNvSpPr/>
          <p:nvPr/>
        </p:nvSpPr>
        <p:spPr>
          <a:xfrm>
            <a:off x="1161391" y="171203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161391" y="171203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공감과 이해</a:t>
            </a:r>
          </a:p>
        </p:txBody>
      </p:sp>
      <p:sp>
        <p:nvSpPr>
          <p:cNvPr id="29" name="머리칸"/>
          <p:cNvSpPr/>
          <p:nvPr/>
        </p:nvSpPr>
        <p:spPr>
          <a:xfrm>
            <a:off x="3484174" y="171203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3484174" y="171203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소통과 설득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953078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실무추진단 운영(5회)으로 교통직 처우개선을 위한 노사 공감대 형성 노력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495130" y="1953078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소통 및 설득(처우개선 예산 4.5억원 확보)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484174" y="198594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311983"/>
            <a:ext cx="580696" cy="6054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311983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23119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배너"/>
          <p:cNvSpPr/>
          <p:nvPr/>
        </p:nvSpPr>
        <p:spPr>
          <a:xfrm>
            <a:off x="1161391" y="2333896"/>
            <a:ext cx="4645565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333896"/>
            <a:ext cx="4645565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노사합의서 체결('25.12월)</a:t>
            </a:r>
          </a:p>
        </p:txBody>
      </p:sp>
      <p:sp>
        <p:nvSpPr>
          <p:cNvPr id="39" name="본문"/>
          <p:cNvSpPr>
            <a:spLocks noGrp="1"/>
          </p:cNvSpPr>
          <p:nvPr>
            <p:ph type="body" sz="quarter" idx="34"/>
          </p:nvPr>
        </p:nvSpPr>
        <p:spPr>
          <a:xfrm>
            <a:off x="1161391" y="2569461"/>
            <a:ext cx="4645565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자체성과급 신설 및 지급 합의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경력직 채용 비율 상향, 경력가점 변경</a:t>
            </a:r>
          </a:p>
        </p:txBody>
      </p:sp>
      <p:sp>
        <p:nvSpPr>
          <p:cNvPr id="40" name="사진 칸"/>
          <p:cNvSpPr/>
          <p:nvPr/>
        </p:nvSpPr>
        <p:spPr>
          <a:xfrm>
            <a:off x="5878174" y="1068261"/>
            <a:ext cx="958696" cy="122728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1" name="사진 칸"/>
          <p:cNvSpPr>
            <a:spLocks noGrp="1"/>
          </p:cNvSpPr>
          <p:nvPr>
            <p:ph type="body" sz="quarter" idx="35"/>
          </p:nvPr>
        </p:nvSpPr>
        <p:spPr>
          <a:xfrm>
            <a:off x="5878174" y="1068261"/>
            <a:ext cx="958696" cy="12272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(합의서)</a:t>
            </a:r>
          </a:p>
        </p:txBody>
      </p:sp>
      <p:sp>
        <p:nvSpPr>
          <p:cNvPr id="42" name="사진 칸"/>
          <p:cNvSpPr/>
          <p:nvPr/>
        </p:nvSpPr>
        <p:spPr>
          <a:xfrm>
            <a:off x="5878174" y="2311983"/>
            <a:ext cx="958696" cy="605426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3" name="사진 칸"/>
          <p:cNvSpPr>
            <a:spLocks noGrp="1"/>
          </p:cNvSpPr>
          <p:nvPr>
            <p:ph type="body" sz="quarter" idx="36"/>
          </p:nvPr>
        </p:nvSpPr>
        <p:spPr>
          <a:xfrm>
            <a:off x="5878174" y="2311983"/>
            <a:ext cx="958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 서사 · 현황 · 문제점 · 노사 공동노력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81261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근로자의 안전을 위해! 시설관리 실무직렬 근무체계 개선 합의</a:t>
            </a:r>
          </a:p>
        </p:txBody>
      </p:sp>
      <p:sp>
        <p:nvSpPr>
          <p:cNvPr id="11" name="태그칩"/>
          <p:cNvSpPr/>
          <p:nvPr/>
        </p:nvSpPr>
        <p:spPr>
          <a:xfrm>
            <a:off x="4634353" y="810783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34353" y="810783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338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6" name="본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근로형태, 월 251시간 근무</a:t>
            </a:r>
          </a:p>
        </p:txBody>
      </p:sp>
      <p:sp>
        <p:nvSpPr>
          <p:cNvPr id="17" name="레일"/>
          <p:cNvSpPr/>
          <p:nvPr/>
        </p:nvSpPr>
        <p:spPr>
          <a:xfrm>
            <a:off x="734087" y="1349061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349061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19" name="본문"/>
          <p:cNvSpPr>
            <a:spLocks noGrp="1"/>
          </p:cNvSpPr>
          <p:nvPr>
            <p:ph type="body" sz="quarter" idx="25"/>
          </p:nvPr>
        </p:nvSpPr>
        <p:spPr>
          <a:xfrm>
            <a:off x="1347652" y="1370974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618904"/>
            <a:ext cx="580696" cy="7657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618904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22" name="머리칸"/>
          <p:cNvSpPr/>
          <p:nvPr/>
        </p:nvSpPr>
        <p:spPr>
          <a:xfrm>
            <a:off x="1347652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24" name="머리칸"/>
          <p:cNvSpPr/>
          <p:nvPr/>
        </p:nvSpPr>
        <p:spPr>
          <a:xfrm>
            <a:off x="3230348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8"/>
          </p:nvPr>
        </p:nvSpPr>
        <p:spPr>
          <a:xfrm>
            <a:off x="3230348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26" name="머리칸"/>
          <p:cNvSpPr/>
          <p:nvPr/>
        </p:nvSpPr>
        <p:spPr>
          <a:xfrm>
            <a:off x="5113043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9"/>
          </p:nvPr>
        </p:nvSpPr>
        <p:spPr>
          <a:xfrm>
            <a:off x="5113043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 노사 공동 노력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</a:t>
            </a:r>
          </a:p>
        </p:txBody>
      </p:sp>
      <p:cxnSp>
        <p:nvCxnSpPr>
          <p:cNvPr id="30" name="Connector 17"/>
          <p:cNvCxnSpPr/>
          <p:nvPr/>
        </p:nvCxnSpPr>
        <p:spPr>
          <a:xfrm>
            <a:off x="3230348" y="19147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휴일·연장근로수당 지급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5113043" y="19147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핵심성과 박스"/>
          <p:cNvSpPr/>
          <p:nvPr/>
        </p:nvSpPr>
        <p:spPr>
          <a:xfrm>
            <a:off x="723130" y="2488696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핵심성과 라벨"/>
          <p:cNvSpPr/>
          <p:nvPr/>
        </p:nvSpPr>
        <p:spPr>
          <a:xfrm>
            <a:off x="756000" y="2527043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5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756000" y="2527043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501043" y="2505130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노사합의 체결('25.12월) → 장시간 근무해소(△79시간)를 통한 건강권 확보와 임금보전까지 일거양득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 서사 · 3분할 병렬 추진 + 요약 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34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직원 만족도를 높이는 복리후생 향상과 근무환경 개선 노력</a:t>
            </a:r>
          </a:p>
        </p:txBody>
      </p:sp>
      <p:sp>
        <p:nvSpPr>
          <p:cNvPr id="12" name="태그칩"/>
          <p:cNvSpPr/>
          <p:nvPr/>
        </p:nvSpPr>
        <p:spPr>
          <a:xfrm>
            <a:off x="4269635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269635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4" name="패널 외곽"/>
          <p:cNvSpPr/>
          <p:nvPr/>
        </p:nvSpPr>
        <p:spPr>
          <a:xfrm>
            <a:off x="536870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패널 머리"/>
          <p:cNvSpPr/>
          <p:nvPr/>
        </p:nvSpPr>
        <p:spPr>
          <a:xfrm>
            <a:off x="536870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6" name="패널 머리"/>
          <p:cNvSpPr>
            <a:spLocks noGrp="1"/>
          </p:cNvSpPr>
          <p:nvPr>
            <p:ph type="body" sz="quarter" idx="22"/>
          </p:nvPr>
        </p:nvSpPr>
        <p:spPr>
          <a:xfrm>
            <a:off x="536870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17" name="패널 본문"/>
          <p:cNvSpPr>
            <a:spLocks noGrp="1"/>
          </p:cNvSpPr>
          <p:nvPr>
            <p:ph type="body" sz="quarter" idx="23"/>
          </p:nvPr>
        </p:nvSpPr>
        <p:spPr>
          <a:xfrm>
            <a:off x="558783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에어컨 보급, 장례서비스 확대</a:t>
            </a:r>
          </a:p>
        </p:txBody>
      </p:sp>
      <p:sp>
        <p:nvSpPr>
          <p:cNvPr id="18" name="요약 바"/>
          <p:cNvSpPr/>
          <p:nvPr/>
        </p:nvSpPr>
        <p:spPr>
          <a:xfrm>
            <a:off x="558783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요약 바"/>
          <p:cNvSpPr>
            <a:spLocks noGrp="1"/>
          </p:cNvSpPr>
          <p:nvPr>
            <p:ph type="body" sz="quarter" idx="24"/>
          </p:nvPr>
        </p:nvSpPr>
        <p:spPr>
          <a:xfrm>
            <a:off x="558783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20" name="패널 외곽"/>
          <p:cNvSpPr/>
          <p:nvPr/>
        </p:nvSpPr>
        <p:spPr>
          <a:xfrm>
            <a:off x="2651478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패널 머리"/>
          <p:cNvSpPr/>
          <p:nvPr/>
        </p:nvSpPr>
        <p:spPr>
          <a:xfrm>
            <a:off x="2651478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패널 머리"/>
          <p:cNvSpPr>
            <a:spLocks noGrp="1"/>
          </p:cNvSpPr>
          <p:nvPr>
            <p:ph type="body" sz="quarter" idx="25"/>
          </p:nvPr>
        </p:nvSpPr>
        <p:spPr>
          <a:xfrm>
            <a:off x="2651478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23" name="패널 본문"/>
          <p:cNvSpPr>
            <a:spLocks noGrp="1"/>
          </p:cNvSpPr>
          <p:nvPr>
            <p:ph type="body" sz="quarter" idx="26"/>
          </p:nvPr>
        </p:nvSpPr>
        <p:spPr>
          <a:xfrm>
            <a:off x="2673391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신설, 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 도입, 가족 동반 행사</a:t>
            </a:r>
          </a:p>
        </p:txBody>
      </p:sp>
      <p:sp>
        <p:nvSpPr>
          <p:cNvPr id="24" name="요약 바"/>
          <p:cNvSpPr/>
          <p:nvPr/>
        </p:nvSpPr>
        <p:spPr>
          <a:xfrm>
            <a:off x="2673391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요약 바"/>
          <p:cNvSpPr>
            <a:spLocks noGrp="1"/>
          </p:cNvSpPr>
          <p:nvPr>
            <p:ph type="body" sz="quarter" idx="27"/>
          </p:nvPr>
        </p:nvSpPr>
        <p:spPr>
          <a:xfrm>
            <a:off x="2673391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26" name="패널 외곽"/>
          <p:cNvSpPr/>
          <p:nvPr/>
        </p:nvSpPr>
        <p:spPr>
          <a:xfrm>
            <a:off x="4766087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패널 머리"/>
          <p:cNvSpPr/>
          <p:nvPr/>
        </p:nvSpPr>
        <p:spPr>
          <a:xfrm>
            <a:off x="4766087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패널 머리"/>
          <p:cNvSpPr>
            <a:spLocks noGrp="1"/>
          </p:cNvSpPr>
          <p:nvPr>
            <p:ph type="body" sz="quarter" idx="28"/>
          </p:nvPr>
        </p:nvSpPr>
        <p:spPr>
          <a:xfrm>
            <a:off x="4766087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29" name="패널 본문"/>
          <p:cNvSpPr>
            <a:spLocks noGrp="1"/>
          </p:cNvSpPr>
          <p:nvPr>
            <p:ph type="body" sz="quarter" idx="29"/>
          </p:nvPr>
        </p:nvSpPr>
        <p:spPr>
          <a:xfrm>
            <a:off x="4788000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청사 안전진단·스트레스 조사</a:t>
            </a:r>
          </a:p>
        </p:txBody>
      </p:sp>
      <p:sp>
        <p:nvSpPr>
          <p:cNvPr id="30" name="요약 바"/>
          <p:cNvSpPr/>
          <p:nvPr/>
        </p:nvSpPr>
        <p:spPr>
          <a:xfrm>
            <a:off x="4788000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요약 바"/>
          <p:cNvSpPr>
            <a:spLocks noGrp="1"/>
          </p:cNvSpPr>
          <p:nvPr>
            <p:ph type="body" sz="quarter" idx="30"/>
          </p:nvPr>
        </p:nvSpPr>
        <p:spPr>
          <a:xfrm>
            <a:off x="4788000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  <p:sp>
        <p:nvSpPr>
          <p:cNvPr id="32" name="핵심성과 박스"/>
          <p:cNvSpPr/>
          <p:nvPr/>
        </p:nvSpPr>
        <p:spPr>
          <a:xfrm>
            <a:off x="536870" y="21407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핵심성과 라벨"/>
          <p:cNvSpPr/>
          <p:nvPr/>
        </p:nvSpPr>
        <p:spPr>
          <a:xfrm>
            <a:off x="569739" y="21790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4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569739" y="21790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314783" y="21571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근로개선지수 전년대비 1.5점 상승(90.1 → 91.6점), 복리후생 만족도 3년 연속 '우수' 등급 획득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 서사 · 추진방향 → 프로세스 4단 → 목표 재설계 → 30개 지표 목표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정부 국정과제 및 사업 포트폴리오 연계 중장기 경영목표 롤링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3807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465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465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66870"/>
            <a:ext cx="5626174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 4대 원칙 기반 기존 ‘3-12-20’ ➡ 성과목표 세분화 등 ‘4-12-30’으로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① 국정과제 반영 ② 핵심업무 연계성 ③ 효율성·공공성 ④ ESG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627043"/>
            <a:ext cx="580696" cy="12819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627043"/>
            <a:ext cx="580696" cy="1281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627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"/>
          <p:cNvSpPr/>
          <p:nvPr/>
        </p:nvSpPr>
        <p:spPr>
          <a:xfrm>
            <a:off x="1347652" y="1648957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정렬</a:t>
            </a:r>
          </a:p>
        </p:txBody>
      </p:sp>
      <p:sp>
        <p:nvSpPr>
          <p:cNvPr id="25" name="단계"/>
          <p:cNvSpPr/>
          <p:nvPr/>
        </p:nvSpPr>
        <p:spPr>
          <a:xfrm>
            <a:off x="2759674" y="1648957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2759674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핵심업무 연계</a:t>
            </a:r>
          </a:p>
        </p:txBody>
      </p:sp>
      <p:sp>
        <p:nvSpPr>
          <p:cNvPr id="27" name="단계"/>
          <p:cNvSpPr/>
          <p:nvPr/>
        </p:nvSpPr>
        <p:spPr>
          <a:xfrm>
            <a:off x="4171696" y="1648957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4171696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목표체계 재설계</a:t>
            </a:r>
          </a:p>
        </p:txBody>
      </p:sp>
      <p:sp>
        <p:nvSpPr>
          <p:cNvPr id="29" name="단계"/>
          <p:cNvSpPr/>
          <p:nvPr/>
        </p:nvSpPr>
        <p:spPr>
          <a:xfrm>
            <a:off x="5583717" y="1648957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5583717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실행가능 지표목표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2759673" y="16489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4171695" y="1648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단계 삼각형"/>
          <p:cNvSpPr/>
          <p:nvPr/>
        </p:nvSpPr>
        <p:spPr>
          <a:xfrm>
            <a:off x="5583717" y="1648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핵심 키워드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안전, AI, 녹색전환 등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2770630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공사 주요사업·기능 기준으로 재구조화</a:t>
            </a:r>
          </a:p>
        </p:txBody>
      </p:sp>
      <p:cxnSp>
        <p:nvCxnSpPr>
          <p:cNvPr id="36" name="Connector 23"/>
          <p:cNvCxnSpPr/>
          <p:nvPr/>
        </p:nvCxnSpPr>
        <p:spPr>
          <a:xfrm>
            <a:off x="2759674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국정과제·업무연계 + 공공성·효율성 + ESG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5594674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자원배분·KPI 등과 연계·목표 확정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5583717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극한기후 대비 국민 물안전·물이용 보장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2770630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민간·글로벌 협력 물가치 창출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2759674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공정과 혁신 기반 글로벌 물기업 도약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171696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5594674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〈신설〉</a:t>
            </a:r>
          </a:p>
        </p:txBody>
      </p:sp>
      <p:cxnSp>
        <p:nvCxnSpPr>
          <p:cNvPr id="47" name="Connector 34"/>
          <p:cNvCxnSpPr/>
          <p:nvPr/>
        </p:nvCxnSpPr>
        <p:spPr>
          <a:xfrm>
            <a:off x="5583717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734087" y="2925391"/>
            <a:ext cx="580696" cy="1994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2925391"/>
            <a:ext cx="580696" cy="1994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’25-’29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↓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’26-’30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재설계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734086" y="2925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 기후안전망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예방-대응-복원 전주기 관점 안전망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기후대응 ❷ 물재해대응 ❸ 국민안전 ❹ 예측고도화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2770630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AI전환 중단없는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AI의 핵심기술 전환 및 첨단산업 니즈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AI·첨단산업 ❷ 용수공급 ❸ 공공재 공급 ❹ AI운영혁신</a:t>
            </a:r>
          </a:p>
        </p:txBody>
      </p:sp>
      <p:cxnSp>
        <p:nvCxnSpPr>
          <p:cNvPr id="53" name="Connector 39"/>
          <p:cNvCxnSpPr/>
          <p:nvPr/>
        </p:nvCxnSpPr>
        <p:spPr>
          <a:xfrm>
            <a:off x="2759674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탈탄소 녹색전환 및 K-물관리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확장을 넘어 도전적 재생e목표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재생e전환 ❷ 물에너지 ❸ 탄소중립 ❹ 수익창출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4171696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5594674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ESG 기반 혁신경영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지원기능에서 기관의 경영근간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공공혁신 ❷ 안전·윤리 ❸ 재무건전성 ❹ 안전일터</a:t>
            </a:r>
          </a:p>
        </p:txBody>
      </p:sp>
      <p:cxnSp>
        <p:nvCxnSpPr>
          <p:cNvPr id="57" name="Connector 43"/>
          <p:cNvCxnSpPr/>
          <p:nvPr/>
        </p:nvCxnSpPr>
        <p:spPr>
          <a:xfrm>
            <a:off x="5583717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머리칸"/>
          <p:cNvSpPr/>
          <p:nvPr/>
        </p:nvSpPr>
        <p:spPr>
          <a:xfrm>
            <a:off x="1347652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3"/>
          </p:nvPr>
        </p:nvSpPr>
        <p:spPr>
          <a:xfrm>
            <a:off x="1347652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0" name="머리칸"/>
          <p:cNvSpPr/>
          <p:nvPr/>
        </p:nvSpPr>
        <p:spPr>
          <a:xfrm>
            <a:off x="2759674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4"/>
          </p:nvPr>
        </p:nvSpPr>
        <p:spPr>
          <a:xfrm>
            <a:off x="2759674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2" name="머리칸"/>
          <p:cNvSpPr/>
          <p:nvPr/>
        </p:nvSpPr>
        <p:spPr>
          <a:xfrm>
            <a:off x="4171696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3" name="머리칸"/>
          <p:cNvSpPr>
            <a:spLocks noGrp="1"/>
          </p:cNvSpPr>
          <p:nvPr>
            <p:ph type="body" sz="quarter" idx="45"/>
          </p:nvPr>
        </p:nvSpPr>
        <p:spPr>
          <a:xfrm>
            <a:off x="4171696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4" name="머리칸"/>
          <p:cNvSpPr/>
          <p:nvPr/>
        </p:nvSpPr>
        <p:spPr>
          <a:xfrm>
            <a:off x="5583717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5" name="머리칸"/>
          <p:cNvSpPr>
            <a:spLocks noGrp="1"/>
          </p:cNvSpPr>
          <p:nvPr>
            <p:ph type="body" sz="quarter" idx="46"/>
          </p:nvPr>
        </p:nvSpPr>
        <p:spPr>
          <a:xfrm>
            <a:off x="5583717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재해대응, 국민안전, 물환경 등 3과제 구체화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2770630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운영 고도화 및 첨단용수 물공급 등 3과제</a:t>
            </a:r>
          </a:p>
        </p:txBody>
      </p:sp>
      <p:cxnSp>
        <p:nvCxnSpPr>
          <p:cNvPr id="68" name="Connector 50"/>
          <p:cNvCxnSpPr/>
          <p:nvPr/>
        </p:nvCxnSpPr>
        <p:spPr>
          <a:xfrm>
            <a:off x="2759674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4182652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재생e·NDC·기후테크 중심 수출확대 성과 3과제</a:t>
            </a:r>
          </a:p>
        </p:txBody>
      </p:sp>
      <p:cxnSp>
        <p:nvCxnSpPr>
          <p:cNvPr id="70" name="Connector 52"/>
          <p:cNvCxnSpPr/>
          <p:nvPr/>
        </p:nvCxnSpPr>
        <p:spPr>
          <a:xfrm>
            <a:off x="4171696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칸 본문"/>
          <p:cNvSpPr>
            <a:spLocks noGrp="1"/>
          </p:cNvSpPr>
          <p:nvPr>
            <p:ph type="body" sz="quarter" idx="50"/>
          </p:nvPr>
        </p:nvSpPr>
        <p:spPr>
          <a:xfrm>
            <a:off x="5594674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안전·R&amp;D, 안정적 재무, 청렴 등 3과제 명확화</a:t>
            </a:r>
          </a:p>
        </p:txBody>
      </p:sp>
      <p:cxnSp>
        <p:nvCxnSpPr>
          <p:cNvPr id="72" name="Connector 54"/>
          <p:cNvCxnSpPr/>
          <p:nvPr/>
        </p:nvCxnSpPr>
        <p:spPr>
          <a:xfrm>
            <a:off x="5583717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배너"/>
          <p:cNvSpPr/>
          <p:nvPr/>
        </p:nvSpPr>
        <p:spPr>
          <a:xfrm>
            <a:off x="723130" y="4990696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74" name="Connector 56"/>
          <p:cNvCxnSpPr/>
          <p:nvPr/>
        </p:nvCxnSpPr>
        <p:spPr>
          <a:xfrm>
            <a:off x="723130" y="4990696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75" name="배너 글"/>
          <p:cNvSpPr>
            <a:spLocks noGrp="1"/>
          </p:cNvSpPr>
          <p:nvPr>
            <p:ph type="body" sz="quarter" idx="51"/>
          </p:nvPr>
        </p:nvSpPr>
        <p:spPr>
          <a:xfrm>
            <a:off x="723130" y="5045478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국정과제는 촘촘히, 미래성장은 강화, 기본책무는 단단하게 30개 지표 신설·목표 보완</a:t>
            </a:r>
          </a:p>
        </p:txBody>
      </p:sp>
      <p:sp>
        <p:nvSpPr>
          <p:cNvPr id="76" name="표 외곽"/>
          <p:cNvSpPr/>
          <p:nvPr/>
        </p:nvSpPr>
        <p:spPr>
          <a:xfrm>
            <a:off x="723130" y="5363217"/>
            <a:ext cx="6300000" cy="30570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레일"/>
          <p:cNvSpPr/>
          <p:nvPr/>
        </p:nvSpPr>
        <p:spPr>
          <a:xfrm>
            <a:off x="734087" y="5379652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 태그"/>
          <p:cNvSpPr/>
          <p:nvPr/>
        </p:nvSpPr>
        <p:spPr>
          <a:xfrm>
            <a:off x="455766" y="5423478"/>
            <a:ext cx="113733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레일 태그"/>
          <p:cNvSpPr>
            <a:spLocks noGrp="1"/>
          </p:cNvSpPr>
          <p:nvPr>
            <p:ph type="body" sz="quarter" idx="52"/>
          </p:nvPr>
        </p:nvSpPr>
        <p:spPr>
          <a:xfrm>
            <a:off x="455766" y="5423478"/>
            <a:ext cx="113733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5·강화 1·유지 1</a:t>
            </a:r>
          </a:p>
        </p:txBody>
      </p:sp>
      <p:sp>
        <p:nvSpPr>
          <p:cNvPr id="80" name="레일 라벨"/>
          <p:cNvSpPr>
            <a:spLocks noGrp="1"/>
          </p:cNvSpPr>
          <p:nvPr>
            <p:ph type="body" sz="quarter" idx="53"/>
          </p:nvPr>
        </p:nvSpPr>
        <p:spPr>
          <a:xfrm>
            <a:off x="734087" y="5609739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안전망</a:t>
            </a:r>
          </a:p>
        </p:txBody>
      </p:sp>
      <p:sp>
        <p:nvSpPr>
          <p:cNvPr id="81" name="머리칸"/>
          <p:cNvSpPr/>
          <p:nvPr/>
        </p:nvSpPr>
        <p:spPr>
          <a:xfrm>
            <a:off x="1347652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2" name="머리칸"/>
          <p:cNvSpPr>
            <a:spLocks noGrp="1"/>
          </p:cNvSpPr>
          <p:nvPr>
            <p:ph type="body" sz="quarter" idx="54"/>
          </p:nvPr>
        </p:nvSpPr>
        <p:spPr>
          <a:xfrm>
            <a:off x="1347652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AI·DT·위성 물관리</a:t>
            </a:r>
          </a:p>
        </p:txBody>
      </p:sp>
      <p:sp>
        <p:nvSpPr>
          <p:cNvPr id="83" name="머리칸"/>
          <p:cNvSpPr/>
          <p:nvPr/>
        </p:nvSpPr>
        <p:spPr>
          <a:xfrm>
            <a:off x="3230348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4" name="머리칸"/>
          <p:cNvSpPr>
            <a:spLocks noGrp="1"/>
          </p:cNvSpPr>
          <p:nvPr>
            <p:ph type="body" sz="quarter" idx="55"/>
          </p:nvPr>
        </p:nvSpPr>
        <p:spPr>
          <a:xfrm>
            <a:off x="3230348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지하수저류댐</a:t>
            </a:r>
          </a:p>
        </p:txBody>
      </p:sp>
      <p:sp>
        <p:nvSpPr>
          <p:cNvPr id="85" name="머리칸"/>
          <p:cNvSpPr/>
          <p:nvPr/>
        </p:nvSpPr>
        <p:spPr>
          <a:xfrm>
            <a:off x="5113043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6" name="머리칸"/>
          <p:cNvSpPr>
            <a:spLocks noGrp="1"/>
          </p:cNvSpPr>
          <p:nvPr>
            <p:ph type="body" sz="quarter" idx="56"/>
          </p:nvPr>
        </p:nvSpPr>
        <p:spPr>
          <a:xfrm>
            <a:off x="5113043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댐운영목표 달성률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1358609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국정과제(물재해 대응)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위성 7기(실시간 모니터링)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8"/>
          </p:nvPr>
        </p:nvSpPr>
        <p:spPr>
          <a:xfrm>
            <a:off x="3241304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대체수자원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’26~’30 11개 → 23개</a:t>
            </a:r>
          </a:p>
        </p:txBody>
      </p:sp>
      <p:cxnSp>
        <p:nvCxnSpPr>
          <p:cNvPr id="89" name="Connector 67"/>
          <p:cNvCxnSpPr/>
          <p:nvPr/>
        </p:nvCxnSpPr>
        <p:spPr>
          <a:xfrm>
            <a:off x="3230348" y="567547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5124000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홍수·가뭄 등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홍수조절·용수공급 100%</a:t>
            </a:r>
          </a:p>
        </p:txBody>
      </p:sp>
      <p:cxnSp>
        <p:nvCxnSpPr>
          <p:cNvPr id="91" name="Connector 69"/>
          <p:cNvCxnSpPr/>
          <p:nvPr/>
        </p:nvCxnSpPr>
        <p:spPr>
          <a:xfrm>
            <a:off x="5113043" y="567547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레일"/>
          <p:cNvSpPr/>
          <p:nvPr/>
        </p:nvSpPr>
        <p:spPr>
          <a:xfrm>
            <a:off x="734087" y="6102783"/>
            <a:ext cx="580696" cy="7807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레일 태그"/>
          <p:cNvSpPr/>
          <p:nvPr/>
        </p:nvSpPr>
        <p:spPr>
          <a:xfrm>
            <a:off x="438834" y="6267130"/>
            <a:ext cx="1171201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4" name="레일 태그"/>
          <p:cNvSpPr>
            <a:spLocks noGrp="1"/>
          </p:cNvSpPr>
          <p:nvPr>
            <p:ph type="body" sz="quarter" idx="60"/>
          </p:nvPr>
        </p:nvSpPr>
        <p:spPr>
          <a:xfrm>
            <a:off x="438834" y="6267130"/>
            <a:ext cx="117120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2·강화 2·유지 2</a:t>
            </a:r>
          </a:p>
        </p:txBody>
      </p:sp>
      <p:sp>
        <p:nvSpPr>
          <p:cNvPr id="95" name="레일 라벨"/>
          <p:cNvSpPr>
            <a:spLocks noGrp="1"/>
          </p:cNvSpPr>
          <p:nvPr>
            <p:ph type="body" sz="quarter" idx="61"/>
          </p:nvPr>
        </p:nvSpPr>
        <p:spPr>
          <a:xfrm>
            <a:off x="734087" y="6453391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AI전환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물공급</a:t>
            </a:r>
          </a:p>
        </p:txBody>
      </p:sp>
      <p:sp>
        <p:nvSpPr>
          <p:cNvPr id="96" name="레일 삼각형"/>
          <p:cNvSpPr/>
          <p:nvPr/>
        </p:nvSpPr>
        <p:spPr>
          <a:xfrm>
            <a:off x="734086" y="6102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머리칸"/>
          <p:cNvSpPr/>
          <p:nvPr/>
        </p:nvSpPr>
        <p:spPr>
          <a:xfrm>
            <a:off x="1347652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8" name="머리칸"/>
          <p:cNvSpPr>
            <a:spLocks noGrp="1"/>
          </p:cNvSpPr>
          <p:nvPr>
            <p:ph type="body" sz="quarter" idx="62"/>
          </p:nvPr>
        </p:nvSpPr>
        <p:spPr>
          <a:xfrm>
            <a:off x="1347652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 자율운영</a:t>
            </a:r>
          </a:p>
        </p:txBody>
      </p:sp>
      <p:sp>
        <p:nvSpPr>
          <p:cNvPr id="99" name="머리칸"/>
          <p:cNvSpPr/>
          <p:nvPr/>
        </p:nvSpPr>
        <p:spPr>
          <a:xfrm>
            <a:off x="3230348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0" name="머리칸"/>
          <p:cNvSpPr>
            <a:spLocks noGrp="1"/>
          </p:cNvSpPr>
          <p:nvPr>
            <p:ph type="body" sz="quarter" idx="63"/>
          </p:nvPr>
        </p:nvSpPr>
        <p:spPr>
          <a:xfrm>
            <a:off x="3230348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첨단수처리 기술</a:t>
            </a:r>
          </a:p>
        </p:txBody>
      </p:sp>
      <p:sp>
        <p:nvSpPr>
          <p:cNvPr id="101" name="머리칸"/>
          <p:cNvSpPr/>
          <p:nvPr/>
        </p:nvSpPr>
        <p:spPr>
          <a:xfrm>
            <a:off x="5113043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2" name="머리칸"/>
          <p:cNvSpPr>
            <a:spLocks noGrp="1"/>
          </p:cNvSpPr>
          <p:nvPr>
            <p:ph type="body" sz="quarter" idx="64"/>
          </p:nvPr>
        </p:nvSpPr>
        <p:spPr>
          <a:xfrm>
            <a:off x="5113043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물공급 중단예방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65"/>
          </p:nvPr>
        </p:nvSpPr>
        <p:spPr>
          <a:xfrm>
            <a:off x="1358609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국정과제(AI 3대강국)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LV3 44개소(완전자율)</a:t>
            </a:r>
          </a:p>
        </p:txBody>
      </p:sp>
      <p:sp>
        <p:nvSpPr>
          <p:cNvPr id="104" name="칸 본문"/>
          <p:cNvSpPr>
            <a:spLocks noGrp="1"/>
          </p:cNvSpPr>
          <p:nvPr>
            <p:ph type="body" sz="quarter" idx="66"/>
          </p:nvPr>
        </p:nvSpPr>
        <p:spPr>
          <a:xfrm>
            <a:off x="3241304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공급시설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 → 3개</a:t>
            </a:r>
          </a:p>
        </p:txBody>
      </p:sp>
      <p:cxnSp>
        <p:nvCxnSpPr>
          <p:cNvPr id="105" name="Connector 79"/>
          <p:cNvCxnSpPr/>
          <p:nvPr/>
        </p:nvCxnSpPr>
        <p:spPr>
          <a:xfrm>
            <a:off x="3230348" y="639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6" name="칸 본문"/>
          <p:cNvSpPr>
            <a:spLocks noGrp="1"/>
          </p:cNvSpPr>
          <p:nvPr>
            <p:ph type="body" sz="quarter" idx="67"/>
          </p:nvPr>
        </p:nvSpPr>
        <p:spPr>
          <a:xfrm>
            <a:off x="5124000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국민생활 필수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단수예방률 100%</a:t>
            </a:r>
          </a:p>
        </p:txBody>
      </p:sp>
      <p:cxnSp>
        <p:nvCxnSpPr>
          <p:cNvPr id="107" name="Connector 81"/>
          <p:cNvCxnSpPr/>
          <p:nvPr/>
        </p:nvCxnSpPr>
        <p:spPr>
          <a:xfrm>
            <a:off x="5113043" y="639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8" name="레일"/>
          <p:cNvSpPr/>
          <p:nvPr/>
        </p:nvSpPr>
        <p:spPr>
          <a:xfrm>
            <a:off x="734087" y="6899948"/>
            <a:ext cx="580696" cy="706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레일 태그"/>
          <p:cNvSpPr/>
          <p:nvPr/>
        </p:nvSpPr>
        <p:spPr>
          <a:xfrm>
            <a:off x="433440" y="6943774"/>
            <a:ext cx="118198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10" name="레일 태그"/>
          <p:cNvSpPr>
            <a:spLocks noGrp="1"/>
          </p:cNvSpPr>
          <p:nvPr>
            <p:ph type="body" sz="quarter" idx="68"/>
          </p:nvPr>
        </p:nvSpPr>
        <p:spPr>
          <a:xfrm>
            <a:off x="433440" y="6943774"/>
            <a:ext cx="118198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3·강화 3·유지 3</a:t>
            </a:r>
          </a:p>
        </p:txBody>
      </p:sp>
      <p:sp>
        <p:nvSpPr>
          <p:cNvPr id="111" name="레일 라벨"/>
          <p:cNvSpPr>
            <a:spLocks noGrp="1"/>
          </p:cNvSpPr>
          <p:nvPr>
            <p:ph type="body" sz="quarter" idx="69"/>
          </p:nvPr>
        </p:nvSpPr>
        <p:spPr>
          <a:xfrm>
            <a:off x="734087" y="7130035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재생e·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수출확대</a:t>
            </a:r>
          </a:p>
        </p:txBody>
      </p:sp>
      <p:sp>
        <p:nvSpPr>
          <p:cNvPr id="112" name="머리칸"/>
          <p:cNvSpPr/>
          <p:nvPr/>
        </p:nvSpPr>
        <p:spPr>
          <a:xfrm>
            <a:off x="1347652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3" name="머리칸"/>
          <p:cNvSpPr>
            <a:spLocks noGrp="1"/>
          </p:cNvSpPr>
          <p:nvPr>
            <p:ph type="body" sz="quarter" idx="70"/>
          </p:nvPr>
        </p:nvSpPr>
        <p:spPr>
          <a:xfrm>
            <a:off x="1347652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재생e 확충</a:t>
            </a:r>
          </a:p>
        </p:txBody>
      </p:sp>
      <p:sp>
        <p:nvSpPr>
          <p:cNvPr id="114" name="머리칸"/>
          <p:cNvSpPr/>
          <p:nvPr/>
        </p:nvSpPr>
        <p:spPr>
          <a:xfrm>
            <a:off x="3230348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5" name="머리칸"/>
          <p:cNvSpPr>
            <a:spLocks noGrp="1"/>
          </p:cNvSpPr>
          <p:nvPr>
            <p:ph type="body" sz="quarter" idx="71"/>
          </p:nvPr>
        </p:nvSpPr>
        <p:spPr>
          <a:xfrm>
            <a:off x="3230348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수출기업 PPA확대</a:t>
            </a:r>
          </a:p>
        </p:txBody>
      </p:sp>
      <p:sp>
        <p:nvSpPr>
          <p:cNvPr id="116" name="머리칸"/>
          <p:cNvSpPr/>
          <p:nvPr/>
        </p:nvSpPr>
        <p:spPr>
          <a:xfrm>
            <a:off x="5113043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7" name="머리칸"/>
          <p:cNvSpPr>
            <a:spLocks noGrp="1"/>
          </p:cNvSpPr>
          <p:nvPr>
            <p:ph type="body" sz="quarter" idx="72"/>
          </p:nvPr>
        </p:nvSpPr>
        <p:spPr>
          <a:xfrm>
            <a:off x="5113043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기후테크 예비유니콘</a:t>
            </a:r>
          </a:p>
        </p:txBody>
      </p:sp>
      <p:sp>
        <p:nvSpPr>
          <p:cNvPr id="118" name="칸 본문"/>
          <p:cNvSpPr>
            <a:spLocks noGrp="1"/>
          </p:cNvSpPr>
          <p:nvPr>
            <p:ph type="body" sz="quarter" idx="73"/>
          </p:nvPr>
        </p:nvSpPr>
        <p:spPr>
          <a:xfrm>
            <a:off x="1358609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국정과제(재생e대전환)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 1.5GW → ’30 10GW</a:t>
            </a:r>
          </a:p>
        </p:txBody>
      </p:sp>
      <p:sp>
        <p:nvSpPr>
          <p:cNvPr id="119" name="칸 본문"/>
          <p:cNvSpPr>
            <a:spLocks noGrp="1"/>
          </p:cNvSpPr>
          <p:nvPr>
            <p:ph type="body" sz="quarter" idx="74"/>
          </p:nvPr>
        </p:nvSpPr>
        <p:spPr>
          <a:xfrm>
            <a:off x="3241304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제도개선·시장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20개 → 26개</a:t>
            </a:r>
          </a:p>
        </p:txBody>
      </p:sp>
      <p:cxnSp>
        <p:nvCxnSpPr>
          <p:cNvPr id="120" name="Connector 90"/>
          <p:cNvCxnSpPr/>
          <p:nvPr/>
        </p:nvCxnSpPr>
        <p:spPr>
          <a:xfrm>
            <a:off x="3230348" y="719577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1" name="칸 본문"/>
          <p:cNvSpPr>
            <a:spLocks noGrp="1"/>
          </p:cNvSpPr>
          <p:nvPr>
            <p:ph type="body" sz="quarter" idx="75"/>
          </p:nvPr>
        </p:nvSpPr>
        <p:spPr>
          <a:xfrm>
            <a:off x="5124000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육성 선도 역할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5개사 → 9개사</a:t>
            </a:r>
          </a:p>
        </p:txBody>
      </p:sp>
      <p:cxnSp>
        <p:nvCxnSpPr>
          <p:cNvPr id="122" name="Connector 92"/>
          <p:cNvCxnSpPr/>
          <p:nvPr/>
        </p:nvCxnSpPr>
        <p:spPr>
          <a:xfrm>
            <a:off x="5113043" y="719577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3" name="레일"/>
          <p:cNvSpPr/>
          <p:nvPr/>
        </p:nvSpPr>
        <p:spPr>
          <a:xfrm>
            <a:off x="734087" y="7623078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 태그"/>
          <p:cNvSpPr/>
          <p:nvPr/>
        </p:nvSpPr>
        <p:spPr>
          <a:xfrm>
            <a:off x="617876" y="7787426"/>
            <a:ext cx="81311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25" name="레일 태그"/>
          <p:cNvSpPr>
            <a:spLocks noGrp="1"/>
          </p:cNvSpPr>
          <p:nvPr>
            <p:ph type="body" sz="quarter" idx="76"/>
          </p:nvPr>
        </p:nvSpPr>
        <p:spPr>
          <a:xfrm>
            <a:off x="617876" y="7787426"/>
            <a:ext cx="81311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2·유지 6</a:t>
            </a:r>
          </a:p>
        </p:txBody>
      </p:sp>
      <p:sp>
        <p:nvSpPr>
          <p:cNvPr id="126" name="레일 라벨"/>
          <p:cNvSpPr>
            <a:spLocks noGrp="1"/>
          </p:cNvSpPr>
          <p:nvPr>
            <p:ph type="body" sz="quarter" idx="77"/>
          </p:nvPr>
        </p:nvSpPr>
        <p:spPr>
          <a:xfrm>
            <a:off x="734087" y="7973687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혁신경영</a:t>
            </a:r>
          </a:p>
        </p:txBody>
      </p:sp>
      <p:sp>
        <p:nvSpPr>
          <p:cNvPr id="127" name="레일 삼각형"/>
          <p:cNvSpPr/>
          <p:nvPr/>
        </p:nvSpPr>
        <p:spPr>
          <a:xfrm>
            <a:off x="734086" y="76230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머리칸"/>
          <p:cNvSpPr/>
          <p:nvPr/>
        </p:nvSpPr>
        <p:spPr>
          <a:xfrm>
            <a:off x="1347652" y="7644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29" name="머리칸"/>
          <p:cNvSpPr>
            <a:spLocks noGrp="1"/>
          </p:cNvSpPr>
          <p:nvPr>
            <p:ph type="body" sz="quarter" idx="78"/>
          </p:nvPr>
        </p:nvSpPr>
        <p:spPr>
          <a:xfrm>
            <a:off x="1347652" y="7644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신뢰경영지수</a:t>
            </a:r>
          </a:p>
        </p:txBody>
      </p:sp>
      <p:sp>
        <p:nvSpPr>
          <p:cNvPr id="130" name="머리칸"/>
          <p:cNvSpPr/>
          <p:nvPr/>
        </p:nvSpPr>
        <p:spPr>
          <a:xfrm>
            <a:off x="4171696" y="7644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1" name="머리칸"/>
          <p:cNvSpPr>
            <a:spLocks noGrp="1"/>
          </p:cNvSpPr>
          <p:nvPr>
            <p:ph type="body" sz="quarter" idx="79"/>
          </p:nvPr>
        </p:nvSpPr>
        <p:spPr>
          <a:xfrm>
            <a:off x="4171696" y="7644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안전경영 + ESG경영 + 기관 청렴도</a:t>
            </a:r>
          </a:p>
        </p:txBody>
      </p:sp>
      <p:sp>
        <p:nvSpPr>
          <p:cNvPr id="132" name="칸 본문"/>
          <p:cNvSpPr>
            <a:spLocks noGrp="1"/>
          </p:cNvSpPr>
          <p:nvPr>
            <p:ph type="body" sz="quarter" idx="80"/>
          </p:nvPr>
        </p:nvSpPr>
        <p:spPr>
          <a:xfrm>
            <a:off x="1358609" y="7886035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 조직으로 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85점 → 88점 → 90점</a:t>
            </a:r>
          </a:p>
        </p:txBody>
      </p:sp>
      <p:sp>
        <p:nvSpPr>
          <p:cNvPr id="133" name="칸 본문"/>
          <p:cNvSpPr>
            <a:spLocks noGrp="1"/>
          </p:cNvSpPr>
          <p:nvPr>
            <p:ph type="body" sz="quarter" idx="81"/>
          </p:nvPr>
        </p:nvSpPr>
        <p:spPr>
          <a:xfrm>
            <a:off x="4182652" y="7886035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기관경영의 기본이 되는 사회적가치 등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0건, ESG 최우수, 종합청렴도 1등급</a:t>
            </a:r>
          </a:p>
        </p:txBody>
      </p:sp>
      <p:cxnSp>
        <p:nvCxnSpPr>
          <p:cNvPr id="134" name="Connector 101"/>
          <p:cNvCxnSpPr/>
          <p:nvPr/>
        </p:nvCxnSpPr>
        <p:spPr>
          <a:xfrm>
            <a:off x="4171696" y="791890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 서사 · 전략목표 → 전략방향·과제 → 70개 세부과제 → CSF · PI · KPI · 로드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6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경영목표 달성을 위한 중장기 전략경영계획 수립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32489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944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 태그"/>
          <p:cNvSpPr/>
          <p:nvPr/>
        </p:nvSpPr>
        <p:spPr>
          <a:xfrm>
            <a:off x="668144" y="117782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레일 태그"/>
          <p:cNvSpPr>
            <a:spLocks noGrp="1"/>
          </p:cNvSpPr>
          <p:nvPr>
            <p:ph type="body" sz="quarter" idx="23"/>
          </p:nvPr>
        </p:nvSpPr>
        <p:spPr>
          <a:xfrm>
            <a:off x="668144" y="117782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21" name="레일 라벨"/>
          <p:cNvSpPr>
            <a:spLocks noGrp="1"/>
          </p:cNvSpPr>
          <p:nvPr>
            <p:ph type="body" sz="quarter" idx="24"/>
          </p:nvPr>
        </p:nvSpPr>
        <p:spPr>
          <a:xfrm>
            <a:off x="547826" y="1364087"/>
            <a:ext cx="580696" cy="2424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22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5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 – 2030년 AI 물관리 세계 1위 기업 –</a:t>
            </a:r>
          </a:p>
        </p:txBody>
      </p:sp>
      <p:sp>
        <p:nvSpPr>
          <p:cNvPr id="24" name="태그"/>
          <p:cNvSpPr/>
          <p:nvPr/>
        </p:nvSpPr>
        <p:spPr>
          <a:xfrm>
            <a:off x="1161391" y="1413391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1161391" y="1413391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특화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27"/>
          </p:nvPr>
        </p:nvSpPr>
        <p:spPr>
          <a:xfrm>
            <a:off x="1567189" y="1402435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임무지향적 혁신 주체로 ‘공공기관 안전경영 책임’ 강화 및 ‘AI 도입 정책’ 선도</a:t>
            </a:r>
          </a:p>
        </p:txBody>
      </p:sp>
      <p:sp>
        <p:nvSpPr>
          <p:cNvPr id="27" name="레일"/>
          <p:cNvSpPr/>
          <p:nvPr/>
        </p:nvSpPr>
        <p:spPr>
          <a:xfrm>
            <a:off x="547826" y="1644887"/>
            <a:ext cx="580696" cy="553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644887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6448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66800"/>
            <a:ext cx="2398696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경영문화 자율 안전·보건 경영체계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기후·산업 단계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 AI 기술 접목 및 협력사 지원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592957" y="1666800"/>
            <a:ext cx="2398696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전략사업단위(SBU) 안전 특화전략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댐안전 사고예방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통합안전관리 실현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582000" y="1699670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6013565" y="1666800"/>
            <a:ext cx="784957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’26-’30 중대재해 Zero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6002609" y="1699670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547826" y="2214626"/>
            <a:ext cx="580696" cy="49852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214626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 위</a:t>
            </a:r>
          </a:p>
        </p:txBody>
      </p:sp>
      <p:sp>
        <p:nvSpPr>
          <p:cNvPr id="37" name="단계"/>
          <p:cNvSpPr/>
          <p:nvPr/>
        </p:nvSpPr>
        <p:spPr>
          <a:xfrm>
            <a:off x="1161391" y="2236539"/>
            <a:ext cx="161373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236539"/>
            <a:ext cx="161373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관점</a:t>
            </a:r>
          </a:p>
        </p:txBody>
      </p:sp>
      <p:sp>
        <p:nvSpPr>
          <p:cNvPr id="39" name="단계"/>
          <p:cNvSpPr/>
          <p:nvPr/>
        </p:nvSpPr>
        <p:spPr>
          <a:xfrm>
            <a:off x="2775130" y="2236539"/>
            <a:ext cx="4034348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4"/>
          </p:nvPr>
        </p:nvSpPr>
        <p:spPr>
          <a:xfrm>
            <a:off x="2775130" y="2236539"/>
            <a:ext cx="4034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국민의 관점에서 직관적 이해도 제고를 위해 재설정</a:t>
            </a:r>
          </a:p>
        </p:txBody>
      </p:sp>
      <p:sp>
        <p:nvSpPr>
          <p:cNvPr id="41" name="단계 삼각형"/>
          <p:cNvSpPr/>
          <p:nvPr/>
        </p:nvSpPr>
        <p:spPr>
          <a:xfrm>
            <a:off x="2775130" y="22365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488539"/>
            <a:ext cx="1591826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물안전 · 물공급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2786087" y="2488539"/>
            <a:ext cx="4012435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물특화 · 물협력 · 기능전략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2775130" y="252140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2729583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272958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(5개)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7295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국민·자연을 위한 기후안전망 강화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2301965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하이테크 기반의 물 서비스 확대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2291009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431583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확대 및 녹색도시 조성</a:t>
            </a:r>
          </a:p>
        </p:txBody>
      </p:sp>
      <p:cxnSp>
        <p:nvCxnSpPr>
          <p:cNvPr id="52" name="Connector 39"/>
          <p:cNvCxnSpPr/>
          <p:nvPr/>
        </p:nvCxnSpPr>
        <p:spPr>
          <a:xfrm>
            <a:off x="3420626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561200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K-물관리 수출 활성화 및 기후테크 육성</a:t>
            </a:r>
          </a:p>
        </p:txBody>
      </p:sp>
      <p:cxnSp>
        <p:nvCxnSpPr>
          <p:cNvPr id="54" name="Connector 41"/>
          <p:cNvCxnSpPr/>
          <p:nvPr/>
        </p:nvCxnSpPr>
        <p:spPr>
          <a:xfrm>
            <a:off x="4550243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5690817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최고 수준의 ESG 혁신경영 구현</a:t>
            </a:r>
          </a:p>
        </p:txBody>
      </p:sp>
      <p:cxnSp>
        <p:nvCxnSpPr>
          <p:cNvPr id="56" name="Connector 43"/>
          <p:cNvCxnSpPr/>
          <p:nvPr/>
        </p:nvCxnSpPr>
        <p:spPr>
          <a:xfrm>
            <a:off x="5679861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3285704"/>
            <a:ext cx="580696" cy="106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285704"/>
            <a:ext cx="580696" cy="10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(20개)</a:t>
            </a:r>
          </a:p>
        </p:txBody>
      </p:sp>
      <p:sp>
        <p:nvSpPr>
          <p:cNvPr id="59" name="배너"/>
          <p:cNvSpPr/>
          <p:nvPr/>
        </p:nvSpPr>
        <p:spPr>
          <a:xfrm>
            <a:off x="1161391" y="33076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배너"/>
          <p:cNvSpPr>
            <a:spLocks noGrp="1"/>
          </p:cNvSpPr>
          <p:nvPr>
            <p:ph type="body" sz="quarter" idx="44"/>
          </p:nvPr>
        </p:nvSpPr>
        <p:spPr>
          <a:xfrm>
            <a:off x="1161391" y="33076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[전략방향 – 국정기조 매트릭스 매칭 – 사업별 전략과제 도출] 국정기조 AI전환 + 물관리 강화 + 녹색전환 + 혁신성장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수자원·환경: AI·디지털트윈 활용 기후위기 대응 등 4개 과제(①~④)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6"/>
          </p:nvPr>
        </p:nvSpPr>
        <p:spPr>
          <a:xfrm>
            <a:off x="2301965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수도: 상수도 AI전환 기반 고품질 수돗물공급 등 4개 과제(③~⑧)</a:t>
            </a:r>
          </a:p>
        </p:txBody>
      </p:sp>
      <p:cxnSp>
        <p:nvCxnSpPr>
          <p:cNvPr id="63" name="Connector 48"/>
          <p:cNvCxnSpPr/>
          <p:nvPr/>
        </p:nvCxnSpPr>
        <p:spPr>
          <a:xfrm>
            <a:off x="2291009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7"/>
          </p:nvPr>
        </p:nvSpPr>
        <p:spPr>
          <a:xfrm>
            <a:off x="3431583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에너지·도시: 물·에너지 AI 전환 및 K-AI시티 선도 등 4개 과제(⑨~⑫)</a:t>
            </a:r>
          </a:p>
        </p:txBody>
      </p:sp>
      <p:cxnSp>
        <p:nvCxnSpPr>
          <p:cNvPr id="65" name="Connector 50"/>
          <p:cNvCxnSpPr/>
          <p:nvPr/>
        </p:nvCxnSpPr>
        <p:spPr>
          <a:xfrm>
            <a:off x="3420626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4561200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글로벌·기후테크: 기후테크 실증랩 고도화 등 4개 과제(⑬~⑯)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4550243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9"/>
          </p:nvPr>
        </p:nvSpPr>
        <p:spPr>
          <a:xfrm>
            <a:off x="5690817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세계최고 ESG경영 시스템 구축 등 4개 과제(⑰~⑳)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5679861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캡션 띠"/>
          <p:cNvSpPr/>
          <p:nvPr/>
        </p:nvSpPr>
        <p:spPr>
          <a:xfrm>
            <a:off x="536869" y="438840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캡션"/>
          <p:cNvSpPr>
            <a:spLocks noGrp="1"/>
          </p:cNvSpPr>
          <p:nvPr>
            <p:ph type="body" sz="quarter" idx="50"/>
          </p:nvPr>
        </p:nvSpPr>
        <p:spPr>
          <a:xfrm>
            <a:off x="756000" y="438840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70개 세부과제 수립 및 핵심성공요인(Critical Success Factor) 도출 】</a:t>
            </a:r>
          </a:p>
        </p:txBody>
      </p:sp>
      <p:sp>
        <p:nvSpPr>
          <p:cNvPr id="72" name="머리칸"/>
          <p:cNvSpPr/>
          <p:nvPr/>
        </p:nvSpPr>
        <p:spPr>
          <a:xfrm>
            <a:off x="536870" y="4728052"/>
            <a:ext cx="602609" cy="20817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51"/>
          </p:nvPr>
        </p:nvSpPr>
        <p:spPr>
          <a:xfrm>
            <a:off x="536870" y="4728052"/>
            <a:ext cx="602609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CSF</a:t>
            </a:r>
          </a:p>
        </p:txBody>
      </p:sp>
      <p:sp>
        <p:nvSpPr>
          <p:cNvPr id="74" name="머리칸"/>
          <p:cNvSpPr/>
          <p:nvPr/>
        </p:nvSpPr>
        <p:spPr>
          <a:xfrm>
            <a:off x="1172348" y="4728052"/>
            <a:ext cx="1847598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52"/>
          </p:nvPr>
        </p:nvSpPr>
        <p:spPr>
          <a:xfrm>
            <a:off x="1172348" y="4728052"/>
            <a:ext cx="184759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성과지표(PI)</a:t>
            </a:r>
          </a:p>
        </p:txBody>
      </p:sp>
      <p:sp>
        <p:nvSpPr>
          <p:cNvPr id="76" name="머리칸"/>
          <p:cNvSpPr/>
          <p:nvPr/>
        </p:nvSpPr>
        <p:spPr>
          <a:xfrm>
            <a:off x="3052816" y="4728052"/>
            <a:ext cx="173562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3"/>
          </p:nvPr>
        </p:nvSpPr>
        <p:spPr>
          <a:xfrm>
            <a:off x="3052816" y="4728052"/>
            <a:ext cx="173562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핵심성과지표(KPI)</a:t>
            </a:r>
          </a:p>
        </p:txBody>
      </p:sp>
      <p:sp>
        <p:nvSpPr>
          <p:cNvPr id="78" name="머리칸"/>
          <p:cNvSpPr/>
          <p:nvPr/>
        </p:nvSpPr>
        <p:spPr>
          <a:xfrm>
            <a:off x="4821308" y="4728052"/>
            <a:ext cx="201556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9" name="머리칸"/>
          <p:cNvSpPr>
            <a:spLocks noGrp="1"/>
          </p:cNvSpPr>
          <p:nvPr>
            <p:ph type="body" sz="quarter" idx="54"/>
          </p:nvPr>
        </p:nvSpPr>
        <p:spPr>
          <a:xfrm>
            <a:off x="4821308" y="4728052"/>
            <a:ext cx="201556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80" name="레일"/>
          <p:cNvSpPr/>
          <p:nvPr/>
        </p:nvSpPr>
        <p:spPr>
          <a:xfrm>
            <a:off x="536870" y="4969096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1" name="레일"/>
          <p:cNvSpPr>
            <a:spLocks noGrp="1"/>
          </p:cNvSpPr>
          <p:nvPr>
            <p:ph type="body" sz="quarter" idx="55"/>
          </p:nvPr>
        </p:nvSpPr>
        <p:spPr>
          <a:xfrm>
            <a:off x="536870" y="4969096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기후대응형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물관리</a:t>
            </a:r>
          </a:p>
        </p:txBody>
      </p:sp>
      <p:sp>
        <p:nvSpPr>
          <p:cNvPr id="82" name="PI 글"/>
          <p:cNvSpPr>
            <a:spLocks noGrp="1"/>
          </p:cNvSpPr>
          <p:nvPr>
            <p:ph type="body" sz="quarter" idx="56"/>
          </p:nvPr>
        </p:nvSpPr>
        <p:spPr>
          <a:xfrm>
            <a:off x="1172348" y="4969096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기반 댐운영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수원 다변화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 최적연계 가뭄대응</a:t>
            </a:r>
          </a:p>
        </p:txBody>
      </p:sp>
      <p:sp>
        <p:nvSpPr>
          <p:cNvPr id="83" name="KPI 칸"/>
          <p:cNvSpPr/>
          <p:nvPr/>
        </p:nvSpPr>
        <p:spPr>
          <a:xfrm>
            <a:off x="3052816" y="4969096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태그"/>
          <p:cNvSpPr/>
          <p:nvPr/>
        </p:nvSpPr>
        <p:spPr>
          <a:xfrm>
            <a:off x="3096642" y="5023878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5" name="태그"/>
          <p:cNvSpPr>
            <a:spLocks noGrp="1"/>
          </p:cNvSpPr>
          <p:nvPr>
            <p:ph type="body" sz="quarter" idx="57"/>
          </p:nvPr>
        </p:nvSpPr>
        <p:spPr>
          <a:xfrm>
            <a:off x="3096642" y="5023878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</a:t>
            </a:r>
          </a:p>
        </p:txBody>
      </p:sp>
      <p:sp>
        <p:nvSpPr>
          <p:cNvPr id="86" name="KPI 글"/>
          <p:cNvSpPr>
            <a:spLocks noGrp="1"/>
          </p:cNvSpPr>
          <p:nvPr>
            <p:ph type="body" sz="quarter" idx="58"/>
          </p:nvPr>
        </p:nvSpPr>
        <p:spPr>
          <a:xfrm>
            <a:off x="3568382" y="5001965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DT플랫폼 체계완성</a:t>
            </a:r>
          </a:p>
        </p:txBody>
      </p:sp>
      <p:sp>
        <p:nvSpPr>
          <p:cNvPr id="87" name="KPI 결과"/>
          <p:cNvSpPr/>
          <p:nvPr/>
        </p:nvSpPr>
        <p:spPr>
          <a:xfrm>
            <a:off x="3063772" y="536353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8" name="KPI 결과"/>
          <p:cNvSpPr>
            <a:spLocks noGrp="1"/>
          </p:cNvSpPr>
          <p:nvPr>
            <p:ph type="body" sz="quarter" idx="59"/>
          </p:nvPr>
        </p:nvSpPr>
        <p:spPr>
          <a:xfrm>
            <a:off x="3063772" y="536353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3단계 → 5단계</a:t>
            </a:r>
          </a:p>
        </p:txBody>
      </p:sp>
      <p:sp>
        <p:nvSpPr>
          <p:cNvPr id="89" name="로드맵 칸"/>
          <p:cNvSpPr/>
          <p:nvPr/>
        </p:nvSpPr>
        <p:spPr>
          <a:xfrm>
            <a:off x="4821308" y="4969096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단위"/>
          <p:cNvSpPr>
            <a:spLocks noGrp="1"/>
          </p:cNvSpPr>
          <p:nvPr>
            <p:ph type="body" sz="quarter" idx="60"/>
          </p:nvPr>
        </p:nvSpPr>
        <p:spPr>
          <a:xfrm>
            <a:off x="4843221" y="4980052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단계</a:t>
            </a:r>
          </a:p>
        </p:txBody>
      </p:sp>
      <p:cxnSp>
        <p:nvCxnSpPr>
          <p:cNvPr id="91" name="Connector 69"/>
          <p:cNvCxnSpPr/>
          <p:nvPr/>
        </p:nvCxnSpPr>
        <p:spPr>
          <a:xfrm flipV="1">
            <a:off x="4898003" y="5264922"/>
            <a:ext cx="465543" cy="76695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2" name="Connector 70"/>
          <p:cNvCxnSpPr/>
          <p:nvPr/>
        </p:nvCxnSpPr>
        <p:spPr>
          <a:xfrm>
            <a:off x="5363546" y="5264922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3" name="Connector 71"/>
          <p:cNvCxnSpPr/>
          <p:nvPr/>
        </p:nvCxnSpPr>
        <p:spPr>
          <a:xfrm flipV="1">
            <a:off x="5829089" y="5188226"/>
            <a:ext cx="465542" cy="76696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4" name="Connector 72"/>
          <p:cNvCxnSpPr/>
          <p:nvPr/>
        </p:nvCxnSpPr>
        <p:spPr>
          <a:xfrm>
            <a:off x="6294631" y="5188226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95" name="점"/>
          <p:cNvSpPr/>
          <p:nvPr/>
        </p:nvSpPr>
        <p:spPr>
          <a:xfrm>
            <a:off x="4876090" y="5319704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6" name="값"/>
          <p:cNvSpPr>
            <a:spLocks noGrp="1"/>
          </p:cNvSpPr>
          <p:nvPr>
            <p:ph type="body" sz="quarter" idx="61"/>
          </p:nvPr>
        </p:nvSpPr>
        <p:spPr>
          <a:xfrm>
            <a:off x="4733656" y="514440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97" name="연도"/>
          <p:cNvSpPr>
            <a:spLocks noGrp="1"/>
          </p:cNvSpPr>
          <p:nvPr>
            <p:ph type="body" sz="quarter" idx="62"/>
          </p:nvPr>
        </p:nvSpPr>
        <p:spPr>
          <a:xfrm>
            <a:off x="4755569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98" name="점"/>
          <p:cNvSpPr/>
          <p:nvPr/>
        </p:nvSpPr>
        <p:spPr>
          <a:xfrm>
            <a:off x="5341633" y="5243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9" name="값"/>
          <p:cNvSpPr>
            <a:spLocks noGrp="1"/>
          </p:cNvSpPr>
          <p:nvPr>
            <p:ph type="body" sz="quarter" idx="63"/>
          </p:nvPr>
        </p:nvSpPr>
        <p:spPr>
          <a:xfrm>
            <a:off x="5199198" y="5067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00" name="연도"/>
          <p:cNvSpPr>
            <a:spLocks noGrp="1"/>
          </p:cNvSpPr>
          <p:nvPr>
            <p:ph type="body" sz="quarter" idx="64"/>
          </p:nvPr>
        </p:nvSpPr>
        <p:spPr>
          <a:xfrm>
            <a:off x="5221111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01" name="점"/>
          <p:cNvSpPr/>
          <p:nvPr/>
        </p:nvSpPr>
        <p:spPr>
          <a:xfrm>
            <a:off x="5807176" y="5243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값"/>
          <p:cNvSpPr>
            <a:spLocks noGrp="1"/>
          </p:cNvSpPr>
          <p:nvPr>
            <p:ph type="body" sz="quarter" idx="65"/>
          </p:nvPr>
        </p:nvSpPr>
        <p:spPr>
          <a:xfrm>
            <a:off x="5664741" y="5067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03" name="연도"/>
          <p:cNvSpPr>
            <a:spLocks noGrp="1"/>
          </p:cNvSpPr>
          <p:nvPr>
            <p:ph type="body" sz="quarter" idx="66"/>
          </p:nvPr>
        </p:nvSpPr>
        <p:spPr>
          <a:xfrm>
            <a:off x="5686654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04" name="점"/>
          <p:cNvSpPr/>
          <p:nvPr/>
        </p:nvSpPr>
        <p:spPr>
          <a:xfrm>
            <a:off x="6272718" y="516631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값"/>
          <p:cNvSpPr>
            <a:spLocks noGrp="1"/>
          </p:cNvSpPr>
          <p:nvPr>
            <p:ph type="body" sz="quarter" idx="67"/>
          </p:nvPr>
        </p:nvSpPr>
        <p:spPr>
          <a:xfrm>
            <a:off x="6130283" y="4991009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06" name="연도"/>
          <p:cNvSpPr>
            <a:spLocks noGrp="1"/>
          </p:cNvSpPr>
          <p:nvPr>
            <p:ph type="body" sz="quarter" idx="68"/>
          </p:nvPr>
        </p:nvSpPr>
        <p:spPr>
          <a:xfrm>
            <a:off x="6152197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07" name="점"/>
          <p:cNvSpPr/>
          <p:nvPr/>
        </p:nvSpPr>
        <p:spPr>
          <a:xfrm>
            <a:off x="6738261" y="516631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값"/>
          <p:cNvSpPr>
            <a:spLocks noGrp="1"/>
          </p:cNvSpPr>
          <p:nvPr>
            <p:ph type="body" sz="quarter" idx="69"/>
          </p:nvPr>
        </p:nvSpPr>
        <p:spPr>
          <a:xfrm>
            <a:off x="6595826" y="4991009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09" name="연도"/>
          <p:cNvSpPr>
            <a:spLocks noGrp="1"/>
          </p:cNvSpPr>
          <p:nvPr>
            <p:ph type="body" sz="quarter" idx="70"/>
          </p:nvPr>
        </p:nvSpPr>
        <p:spPr>
          <a:xfrm>
            <a:off x="6617739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10" name="Connector 88"/>
          <p:cNvCxnSpPr/>
          <p:nvPr/>
        </p:nvCxnSpPr>
        <p:spPr>
          <a:xfrm>
            <a:off x="4854177" y="5374487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11" name="레일"/>
          <p:cNvSpPr/>
          <p:nvPr/>
        </p:nvSpPr>
        <p:spPr>
          <a:xfrm>
            <a:off x="536870" y="5615530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2" name="레일"/>
          <p:cNvSpPr>
            <a:spLocks noGrp="1"/>
          </p:cNvSpPr>
          <p:nvPr>
            <p:ph type="body" sz="quarter" idx="71"/>
          </p:nvPr>
        </p:nvSpPr>
        <p:spPr>
          <a:xfrm>
            <a:off x="536870" y="5615530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고품질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용수공급</a:t>
            </a:r>
          </a:p>
        </p:txBody>
      </p:sp>
      <p:sp>
        <p:nvSpPr>
          <p:cNvPr id="113" name="PI 글"/>
          <p:cNvSpPr>
            <a:spLocks noGrp="1"/>
          </p:cNvSpPr>
          <p:nvPr>
            <p:ph type="body" sz="quarter" idx="72"/>
          </p:nvPr>
        </p:nvSpPr>
        <p:spPr>
          <a:xfrm>
            <a:off x="1172348" y="5615530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완전 자율운영 정수장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기술사업화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 적기 용수공급</a:t>
            </a:r>
          </a:p>
        </p:txBody>
      </p:sp>
      <p:sp>
        <p:nvSpPr>
          <p:cNvPr id="114" name="KPI 칸"/>
          <p:cNvSpPr/>
          <p:nvPr/>
        </p:nvSpPr>
        <p:spPr>
          <a:xfrm>
            <a:off x="3052816" y="5615530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5" name="태그"/>
          <p:cNvSpPr/>
          <p:nvPr/>
        </p:nvSpPr>
        <p:spPr>
          <a:xfrm>
            <a:off x="3096642" y="5670313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16" name="태그"/>
          <p:cNvSpPr>
            <a:spLocks noGrp="1"/>
          </p:cNvSpPr>
          <p:nvPr>
            <p:ph type="body" sz="quarter" idx="73"/>
          </p:nvPr>
        </p:nvSpPr>
        <p:spPr>
          <a:xfrm>
            <a:off x="3096642" y="5670313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117" name="KPI 글"/>
          <p:cNvSpPr>
            <a:spLocks noGrp="1"/>
          </p:cNvSpPr>
          <p:nvPr>
            <p:ph type="body" sz="quarter" idx="74"/>
          </p:nvPr>
        </p:nvSpPr>
        <p:spPr>
          <a:xfrm>
            <a:off x="3458614" y="5648400"/>
            <a:ext cx="1296955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고도화</a:t>
            </a:r>
          </a:p>
        </p:txBody>
      </p:sp>
      <p:sp>
        <p:nvSpPr>
          <p:cNvPr id="118" name="KPI 결과"/>
          <p:cNvSpPr/>
          <p:nvPr/>
        </p:nvSpPr>
        <p:spPr>
          <a:xfrm>
            <a:off x="3063772" y="6009965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9" name="KPI 결과"/>
          <p:cNvSpPr>
            <a:spLocks noGrp="1"/>
          </p:cNvSpPr>
          <p:nvPr>
            <p:ph type="body" sz="quarter" idx="75"/>
          </p:nvPr>
        </p:nvSpPr>
        <p:spPr>
          <a:xfrm>
            <a:off x="3063772" y="6009965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4개소 → 44개소</a:t>
            </a:r>
          </a:p>
        </p:txBody>
      </p:sp>
      <p:sp>
        <p:nvSpPr>
          <p:cNvPr id="120" name="로드맵 칸"/>
          <p:cNvSpPr/>
          <p:nvPr/>
        </p:nvSpPr>
        <p:spPr>
          <a:xfrm>
            <a:off x="4821308" y="5615530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1" name="단위"/>
          <p:cNvSpPr>
            <a:spLocks noGrp="1"/>
          </p:cNvSpPr>
          <p:nvPr>
            <p:ph type="body" sz="quarter" idx="76"/>
          </p:nvPr>
        </p:nvSpPr>
        <p:spPr>
          <a:xfrm>
            <a:off x="4843221" y="5626487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개소</a:t>
            </a:r>
          </a:p>
        </p:txBody>
      </p:sp>
      <p:cxnSp>
        <p:nvCxnSpPr>
          <p:cNvPr id="122" name="Connector 97"/>
          <p:cNvCxnSpPr/>
          <p:nvPr/>
        </p:nvCxnSpPr>
        <p:spPr>
          <a:xfrm flipV="1">
            <a:off x="4898003" y="5850000"/>
            <a:ext cx="465543" cy="138052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3" name="Connector 98"/>
          <p:cNvCxnSpPr/>
          <p:nvPr/>
        </p:nvCxnSpPr>
        <p:spPr>
          <a:xfrm flipV="1">
            <a:off x="5363546" y="5834661"/>
            <a:ext cx="465543" cy="15339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4" name="Connector 99"/>
          <p:cNvCxnSpPr/>
          <p:nvPr/>
        </p:nvCxnSpPr>
        <p:spPr>
          <a:xfrm>
            <a:off x="5829089" y="5834661"/>
            <a:ext cx="465542" cy="153391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5" name="Connector 100"/>
          <p:cNvCxnSpPr/>
          <p:nvPr/>
        </p:nvCxnSpPr>
        <p:spPr>
          <a:xfrm flipV="1">
            <a:off x="6294631" y="5834661"/>
            <a:ext cx="465543" cy="153391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26" name="점"/>
          <p:cNvSpPr/>
          <p:nvPr/>
        </p:nvSpPr>
        <p:spPr>
          <a:xfrm>
            <a:off x="4876090" y="59661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7" name="값"/>
          <p:cNvSpPr>
            <a:spLocks noGrp="1"/>
          </p:cNvSpPr>
          <p:nvPr>
            <p:ph type="body" sz="quarter" idx="77"/>
          </p:nvPr>
        </p:nvSpPr>
        <p:spPr>
          <a:xfrm>
            <a:off x="4733656" y="5790835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28" name="연도"/>
          <p:cNvSpPr>
            <a:spLocks noGrp="1"/>
          </p:cNvSpPr>
          <p:nvPr>
            <p:ph type="body" sz="quarter" idx="78"/>
          </p:nvPr>
        </p:nvSpPr>
        <p:spPr>
          <a:xfrm>
            <a:off x="4755569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29" name="점"/>
          <p:cNvSpPr/>
          <p:nvPr/>
        </p:nvSpPr>
        <p:spPr>
          <a:xfrm>
            <a:off x="5341633" y="5828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0" name="값"/>
          <p:cNvSpPr>
            <a:spLocks noGrp="1"/>
          </p:cNvSpPr>
          <p:nvPr>
            <p:ph type="body" sz="quarter" idx="79"/>
          </p:nvPr>
        </p:nvSpPr>
        <p:spPr>
          <a:xfrm>
            <a:off x="5199198" y="565278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31" name="연도"/>
          <p:cNvSpPr>
            <a:spLocks noGrp="1"/>
          </p:cNvSpPr>
          <p:nvPr>
            <p:ph type="body" sz="quarter" idx="80"/>
          </p:nvPr>
        </p:nvSpPr>
        <p:spPr>
          <a:xfrm>
            <a:off x="5221111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32" name="점"/>
          <p:cNvSpPr/>
          <p:nvPr/>
        </p:nvSpPr>
        <p:spPr>
          <a:xfrm>
            <a:off x="5807176" y="5812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3" name="값"/>
          <p:cNvSpPr>
            <a:spLocks noGrp="1"/>
          </p:cNvSpPr>
          <p:nvPr>
            <p:ph type="body" sz="quarter" idx="81"/>
          </p:nvPr>
        </p:nvSpPr>
        <p:spPr>
          <a:xfrm>
            <a:off x="5664741" y="5637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34" name="연도"/>
          <p:cNvSpPr>
            <a:spLocks noGrp="1"/>
          </p:cNvSpPr>
          <p:nvPr>
            <p:ph type="body" sz="quarter" idx="82"/>
          </p:nvPr>
        </p:nvSpPr>
        <p:spPr>
          <a:xfrm>
            <a:off x="5686654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35" name="점"/>
          <p:cNvSpPr/>
          <p:nvPr/>
        </p:nvSpPr>
        <p:spPr>
          <a:xfrm>
            <a:off x="6272718" y="59661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6" name="값"/>
          <p:cNvSpPr>
            <a:spLocks noGrp="1"/>
          </p:cNvSpPr>
          <p:nvPr>
            <p:ph type="body" sz="quarter" idx="83"/>
          </p:nvPr>
        </p:nvSpPr>
        <p:spPr>
          <a:xfrm>
            <a:off x="6130283" y="5790835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7" name="연도"/>
          <p:cNvSpPr>
            <a:spLocks noGrp="1"/>
          </p:cNvSpPr>
          <p:nvPr>
            <p:ph type="body" sz="quarter" idx="84"/>
          </p:nvPr>
        </p:nvSpPr>
        <p:spPr>
          <a:xfrm>
            <a:off x="6152197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38" name="점"/>
          <p:cNvSpPr/>
          <p:nvPr/>
        </p:nvSpPr>
        <p:spPr>
          <a:xfrm>
            <a:off x="6738261" y="5812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9" name="값"/>
          <p:cNvSpPr>
            <a:spLocks noGrp="1"/>
          </p:cNvSpPr>
          <p:nvPr>
            <p:ph type="body" sz="quarter" idx="85"/>
          </p:nvPr>
        </p:nvSpPr>
        <p:spPr>
          <a:xfrm>
            <a:off x="6595826" y="5637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40" name="연도"/>
          <p:cNvSpPr>
            <a:spLocks noGrp="1"/>
          </p:cNvSpPr>
          <p:nvPr>
            <p:ph type="body" sz="quarter" idx="86"/>
          </p:nvPr>
        </p:nvSpPr>
        <p:spPr>
          <a:xfrm>
            <a:off x="6617739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41" name="Connector 116"/>
          <p:cNvCxnSpPr/>
          <p:nvPr/>
        </p:nvCxnSpPr>
        <p:spPr>
          <a:xfrm>
            <a:off x="4854177" y="6020922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42" name="레일"/>
          <p:cNvSpPr/>
          <p:nvPr/>
        </p:nvSpPr>
        <p:spPr>
          <a:xfrm>
            <a:off x="536870" y="6261965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3" name="레일"/>
          <p:cNvSpPr>
            <a:spLocks noGrp="1"/>
          </p:cNvSpPr>
          <p:nvPr>
            <p:ph type="body" sz="quarter" idx="87"/>
          </p:nvPr>
        </p:nvSpPr>
        <p:spPr>
          <a:xfrm>
            <a:off x="536870" y="6261965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탄소중립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녹색전환</a:t>
            </a:r>
          </a:p>
        </p:txBody>
      </p:sp>
      <p:sp>
        <p:nvSpPr>
          <p:cNvPr id="144" name="PI 글"/>
          <p:cNvSpPr>
            <a:spLocks noGrp="1"/>
          </p:cNvSpPr>
          <p:nvPr>
            <p:ph type="body" sz="quarter" idx="88"/>
          </p:nvPr>
        </p:nvSpPr>
        <p:spPr>
          <a:xfrm>
            <a:off x="1172348" y="6261965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등 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수출기업 PPA 공급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수열클러스터 확대</a:t>
            </a:r>
          </a:p>
        </p:txBody>
      </p:sp>
      <p:sp>
        <p:nvSpPr>
          <p:cNvPr id="145" name="KPI 칸"/>
          <p:cNvSpPr/>
          <p:nvPr/>
        </p:nvSpPr>
        <p:spPr>
          <a:xfrm>
            <a:off x="3052816" y="6261965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6" name="태그"/>
          <p:cNvSpPr/>
          <p:nvPr/>
        </p:nvSpPr>
        <p:spPr>
          <a:xfrm>
            <a:off x="3096642" y="6316748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7" name="태그"/>
          <p:cNvSpPr>
            <a:spLocks noGrp="1"/>
          </p:cNvSpPr>
          <p:nvPr>
            <p:ph type="body" sz="quarter" idx="89"/>
          </p:nvPr>
        </p:nvSpPr>
        <p:spPr>
          <a:xfrm>
            <a:off x="3096642" y="6316748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48" name="KPI 글"/>
          <p:cNvSpPr>
            <a:spLocks noGrp="1"/>
          </p:cNvSpPr>
          <p:nvPr>
            <p:ph type="body" sz="quarter" idx="90"/>
          </p:nvPr>
        </p:nvSpPr>
        <p:spPr>
          <a:xfrm>
            <a:off x="3568382" y="6294835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육상·수상태양광 개발</a:t>
            </a:r>
          </a:p>
        </p:txBody>
      </p:sp>
      <p:sp>
        <p:nvSpPr>
          <p:cNvPr id="149" name="KPI 결과"/>
          <p:cNvSpPr/>
          <p:nvPr/>
        </p:nvSpPr>
        <p:spPr>
          <a:xfrm>
            <a:off x="3063772" y="665640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0" name="KPI 결과"/>
          <p:cNvSpPr>
            <a:spLocks noGrp="1"/>
          </p:cNvSpPr>
          <p:nvPr>
            <p:ph type="body" sz="quarter" idx="91"/>
          </p:nvPr>
        </p:nvSpPr>
        <p:spPr>
          <a:xfrm>
            <a:off x="3063772" y="665640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474.8MW → 7,227.0MW</a:t>
            </a:r>
          </a:p>
        </p:txBody>
      </p:sp>
      <p:sp>
        <p:nvSpPr>
          <p:cNvPr id="151" name="로드맵 칸"/>
          <p:cNvSpPr/>
          <p:nvPr/>
        </p:nvSpPr>
        <p:spPr>
          <a:xfrm>
            <a:off x="4821308" y="6261965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2" name="단위"/>
          <p:cNvSpPr>
            <a:spLocks noGrp="1"/>
          </p:cNvSpPr>
          <p:nvPr>
            <p:ph type="body" sz="quarter" idx="92"/>
          </p:nvPr>
        </p:nvSpPr>
        <p:spPr>
          <a:xfrm>
            <a:off x="4843221" y="6272922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MW</a:t>
            </a:r>
          </a:p>
        </p:txBody>
      </p:sp>
      <p:cxnSp>
        <p:nvCxnSpPr>
          <p:cNvPr id="153" name="Connector 125"/>
          <p:cNvCxnSpPr/>
          <p:nvPr/>
        </p:nvCxnSpPr>
        <p:spPr>
          <a:xfrm flipV="1">
            <a:off x="4898003" y="6630239"/>
            <a:ext cx="465543" cy="424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4" name="Connector 126"/>
          <p:cNvCxnSpPr/>
          <p:nvPr/>
        </p:nvCxnSpPr>
        <p:spPr>
          <a:xfrm flipV="1">
            <a:off x="5363546" y="6582925"/>
            <a:ext cx="465543" cy="47314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5" name="Connector 127"/>
          <p:cNvCxnSpPr/>
          <p:nvPr/>
        </p:nvCxnSpPr>
        <p:spPr>
          <a:xfrm flipV="1">
            <a:off x="5829089" y="6531908"/>
            <a:ext cx="465542" cy="51017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6" name="Connector 128"/>
          <p:cNvCxnSpPr/>
          <p:nvPr/>
        </p:nvCxnSpPr>
        <p:spPr>
          <a:xfrm flipV="1">
            <a:off x="6294631" y="6481096"/>
            <a:ext cx="465543" cy="50812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57" name="점"/>
          <p:cNvSpPr/>
          <p:nvPr/>
        </p:nvSpPr>
        <p:spPr>
          <a:xfrm>
            <a:off x="4876090" y="6612574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8" name="값"/>
          <p:cNvSpPr>
            <a:spLocks noGrp="1"/>
          </p:cNvSpPr>
          <p:nvPr>
            <p:ph type="body" sz="quarter" idx="93"/>
          </p:nvPr>
        </p:nvSpPr>
        <p:spPr>
          <a:xfrm>
            <a:off x="4733656" y="643727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474</a:t>
            </a:r>
          </a:p>
        </p:txBody>
      </p:sp>
      <p:sp>
        <p:nvSpPr>
          <p:cNvPr id="159" name="연도"/>
          <p:cNvSpPr>
            <a:spLocks noGrp="1"/>
          </p:cNvSpPr>
          <p:nvPr>
            <p:ph type="body" sz="quarter" idx="94"/>
          </p:nvPr>
        </p:nvSpPr>
        <p:spPr>
          <a:xfrm>
            <a:off x="4755569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60" name="점"/>
          <p:cNvSpPr/>
          <p:nvPr/>
        </p:nvSpPr>
        <p:spPr>
          <a:xfrm>
            <a:off x="5341633" y="6608326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1" name="값"/>
          <p:cNvSpPr>
            <a:spLocks noGrp="1"/>
          </p:cNvSpPr>
          <p:nvPr>
            <p:ph type="body" sz="quarter" idx="95"/>
          </p:nvPr>
        </p:nvSpPr>
        <p:spPr>
          <a:xfrm>
            <a:off x="5199198" y="6433022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661</a:t>
            </a:r>
          </a:p>
        </p:txBody>
      </p:sp>
      <p:sp>
        <p:nvSpPr>
          <p:cNvPr id="162" name="연도"/>
          <p:cNvSpPr>
            <a:spLocks noGrp="1"/>
          </p:cNvSpPr>
          <p:nvPr>
            <p:ph type="body" sz="quarter" idx="96"/>
          </p:nvPr>
        </p:nvSpPr>
        <p:spPr>
          <a:xfrm>
            <a:off x="5221111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63" name="점"/>
          <p:cNvSpPr/>
          <p:nvPr/>
        </p:nvSpPr>
        <p:spPr>
          <a:xfrm>
            <a:off x="5807176" y="6561012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4" name="값"/>
          <p:cNvSpPr>
            <a:spLocks noGrp="1"/>
          </p:cNvSpPr>
          <p:nvPr>
            <p:ph type="body" sz="quarter" idx="97"/>
          </p:nvPr>
        </p:nvSpPr>
        <p:spPr>
          <a:xfrm>
            <a:off x="5664741" y="638570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2744</a:t>
            </a:r>
          </a:p>
        </p:txBody>
      </p:sp>
      <p:sp>
        <p:nvSpPr>
          <p:cNvPr id="165" name="연도"/>
          <p:cNvSpPr>
            <a:spLocks noGrp="1"/>
          </p:cNvSpPr>
          <p:nvPr>
            <p:ph type="body" sz="quarter" idx="98"/>
          </p:nvPr>
        </p:nvSpPr>
        <p:spPr>
          <a:xfrm>
            <a:off x="5686654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66" name="점"/>
          <p:cNvSpPr/>
          <p:nvPr/>
        </p:nvSpPr>
        <p:spPr>
          <a:xfrm>
            <a:off x="6272718" y="650999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7" name="값"/>
          <p:cNvSpPr>
            <a:spLocks noGrp="1"/>
          </p:cNvSpPr>
          <p:nvPr>
            <p:ph type="body" sz="quarter" idx="99"/>
          </p:nvPr>
        </p:nvSpPr>
        <p:spPr>
          <a:xfrm>
            <a:off x="6130283" y="6334691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4990</a:t>
            </a:r>
          </a:p>
        </p:txBody>
      </p:sp>
      <p:sp>
        <p:nvSpPr>
          <p:cNvPr id="168" name="연도"/>
          <p:cNvSpPr>
            <a:spLocks noGrp="1"/>
          </p:cNvSpPr>
          <p:nvPr>
            <p:ph type="body" sz="quarter" idx="100"/>
          </p:nvPr>
        </p:nvSpPr>
        <p:spPr>
          <a:xfrm>
            <a:off x="6152197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69" name="점"/>
          <p:cNvSpPr/>
          <p:nvPr/>
        </p:nvSpPr>
        <p:spPr>
          <a:xfrm>
            <a:off x="6738261" y="645918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0" name="값"/>
          <p:cNvSpPr>
            <a:spLocks noGrp="1"/>
          </p:cNvSpPr>
          <p:nvPr>
            <p:ph type="body" sz="quarter" idx="101"/>
          </p:nvPr>
        </p:nvSpPr>
        <p:spPr>
          <a:xfrm>
            <a:off x="6595826" y="628387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7227</a:t>
            </a:r>
          </a:p>
        </p:txBody>
      </p:sp>
      <p:sp>
        <p:nvSpPr>
          <p:cNvPr id="171" name="연도"/>
          <p:cNvSpPr>
            <a:spLocks noGrp="1"/>
          </p:cNvSpPr>
          <p:nvPr>
            <p:ph type="body" sz="quarter" idx="102"/>
          </p:nvPr>
        </p:nvSpPr>
        <p:spPr>
          <a:xfrm>
            <a:off x="6617739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72" name="Connector 144"/>
          <p:cNvCxnSpPr/>
          <p:nvPr/>
        </p:nvCxnSpPr>
        <p:spPr>
          <a:xfrm>
            <a:off x="4854177" y="6667357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73" name="레일"/>
          <p:cNvSpPr/>
          <p:nvPr/>
        </p:nvSpPr>
        <p:spPr>
          <a:xfrm>
            <a:off x="536870" y="6908400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4" name="레일"/>
          <p:cNvSpPr>
            <a:spLocks noGrp="1"/>
          </p:cNvSpPr>
          <p:nvPr>
            <p:ph type="body" sz="quarter" idx="103"/>
          </p:nvPr>
        </p:nvSpPr>
        <p:spPr>
          <a:xfrm>
            <a:off x="536870" y="6908400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육성·수출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75" name="PI 글"/>
          <p:cNvSpPr>
            <a:spLocks noGrp="1"/>
          </p:cNvSpPr>
          <p:nvPr>
            <p:ph type="body" sz="quarter" idx="104"/>
          </p:nvPr>
        </p:nvSpPr>
        <p:spPr>
          <a:xfrm>
            <a:off x="1172348" y="6908400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K-기후테크 수출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유망 기후테크 기업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구독형 솔루션 사업화</a:t>
            </a:r>
          </a:p>
        </p:txBody>
      </p:sp>
      <p:sp>
        <p:nvSpPr>
          <p:cNvPr id="176" name="KPI 칸"/>
          <p:cNvSpPr/>
          <p:nvPr/>
        </p:nvSpPr>
        <p:spPr>
          <a:xfrm>
            <a:off x="3052816" y="6908400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7" name="태그"/>
          <p:cNvSpPr/>
          <p:nvPr/>
        </p:nvSpPr>
        <p:spPr>
          <a:xfrm>
            <a:off x="3096642" y="6963183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78" name="태그"/>
          <p:cNvSpPr>
            <a:spLocks noGrp="1"/>
          </p:cNvSpPr>
          <p:nvPr>
            <p:ph type="body" sz="quarter" idx="105"/>
          </p:nvPr>
        </p:nvSpPr>
        <p:spPr>
          <a:xfrm>
            <a:off x="3096642" y="6963183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</a:t>
            </a:r>
          </a:p>
        </p:txBody>
      </p:sp>
      <p:sp>
        <p:nvSpPr>
          <p:cNvPr id="179" name="KPI 글"/>
          <p:cNvSpPr>
            <a:spLocks noGrp="1"/>
          </p:cNvSpPr>
          <p:nvPr>
            <p:ph type="body" sz="quarter" idx="106"/>
          </p:nvPr>
        </p:nvSpPr>
        <p:spPr>
          <a:xfrm>
            <a:off x="3568382" y="6941270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테크기반 사업수주</a:t>
            </a:r>
          </a:p>
        </p:txBody>
      </p:sp>
      <p:sp>
        <p:nvSpPr>
          <p:cNvPr id="180" name="KPI 결과"/>
          <p:cNvSpPr/>
          <p:nvPr/>
        </p:nvSpPr>
        <p:spPr>
          <a:xfrm>
            <a:off x="3063772" y="7302835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1" name="KPI 결과"/>
          <p:cNvSpPr>
            <a:spLocks noGrp="1"/>
          </p:cNvSpPr>
          <p:nvPr>
            <p:ph type="body" sz="quarter" idx="107"/>
          </p:nvPr>
        </p:nvSpPr>
        <p:spPr>
          <a:xfrm>
            <a:off x="3063772" y="7302835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15건 → 25건</a:t>
            </a:r>
          </a:p>
        </p:txBody>
      </p:sp>
      <p:sp>
        <p:nvSpPr>
          <p:cNvPr id="182" name="로드맵 칸"/>
          <p:cNvSpPr/>
          <p:nvPr/>
        </p:nvSpPr>
        <p:spPr>
          <a:xfrm>
            <a:off x="4821308" y="6908400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3" name="단위"/>
          <p:cNvSpPr>
            <a:spLocks noGrp="1"/>
          </p:cNvSpPr>
          <p:nvPr>
            <p:ph type="body" sz="quarter" idx="108"/>
          </p:nvPr>
        </p:nvSpPr>
        <p:spPr>
          <a:xfrm>
            <a:off x="4843221" y="6919357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건</a:t>
            </a:r>
          </a:p>
        </p:txBody>
      </p:sp>
      <p:cxnSp>
        <p:nvCxnSpPr>
          <p:cNvPr id="184" name="Connector 153"/>
          <p:cNvCxnSpPr/>
          <p:nvPr/>
        </p:nvCxnSpPr>
        <p:spPr>
          <a:xfrm flipV="1">
            <a:off x="4898003" y="7250243"/>
            <a:ext cx="465543" cy="30679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5" name="Connector 154"/>
          <p:cNvCxnSpPr/>
          <p:nvPr/>
        </p:nvCxnSpPr>
        <p:spPr>
          <a:xfrm flipV="1">
            <a:off x="5363546" y="7219565"/>
            <a:ext cx="465543" cy="3067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6" name="Connector 155"/>
          <p:cNvCxnSpPr/>
          <p:nvPr/>
        </p:nvCxnSpPr>
        <p:spPr>
          <a:xfrm flipV="1">
            <a:off x="5829089" y="7173548"/>
            <a:ext cx="465542" cy="46017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7" name="Connector 156"/>
          <p:cNvCxnSpPr/>
          <p:nvPr/>
        </p:nvCxnSpPr>
        <p:spPr>
          <a:xfrm flipV="1">
            <a:off x="6294631" y="7127530"/>
            <a:ext cx="465543" cy="4601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88" name="점"/>
          <p:cNvSpPr/>
          <p:nvPr/>
        </p:nvSpPr>
        <p:spPr>
          <a:xfrm>
            <a:off x="4876090" y="7259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9" name="값"/>
          <p:cNvSpPr>
            <a:spLocks noGrp="1"/>
          </p:cNvSpPr>
          <p:nvPr>
            <p:ph type="body" sz="quarter" idx="109"/>
          </p:nvPr>
        </p:nvSpPr>
        <p:spPr>
          <a:xfrm>
            <a:off x="4733656" y="7083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</a:t>
            </a:r>
          </a:p>
        </p:txBody>
      </p:sp>
      <p:sp>
        <p:nvSpPr>
          <p:cNvPr id="190" name="연도"/>
          <p:cNvSpPr>
            <a:spLocks noGrp="1"/>
          </p:cNvSpPr>
          <p:nvPr>
            <p:ph type="body" sz="quarter" idx="110"/>
          </p:nvPr>
        </p:nvSpPr>
        <p:spPr>
          <a:xfrm>
            <a:off x="4755569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91" name="점"/>
          <p:cNvSpPr/>
          <p:nvPr/>
        </p:nvSpPr>
        <p:spPr>
          <a:xfrm>
            <a:off x="5341633" y="7228330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2" name="값"/>
          <p:cNvSpPr>
            <a:spLocks noGrp="1"/>
          </p:cNvSpPr>
          <p:nvPr>
            <p:ph type="body" sz="quarter" idx="111"/>
          </p:nvPr>
        </p:nvSpPr>
        <p:spPr>
          <a:xfrm>
            <a:off x="5199198" y="7053026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17</a:t>
            </a:r>
          </a:p>
        </p:txBody>
      </p:sp>
      <p:sp>
        <p:nvSpPr>
          <p:cNvPr id="193" name="연도"/>
          <p:cNvSpPr>
            <a:spLocks noGrp="1"/>
          </p:cNvSpPr>
          <p:nvPr>
            <p:ph type="body" sz="quarter" idx="112"/>
          </p:nvPr>
        </p:nvSpPr>
        <p:spPr>
          <a:xfrm>
            <a:off x="5221111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94" name="점"/>
          <p:cNvSpPr/>
          <p:nvPr/>
        </p:nvSpPr>
        <p:spPr>
          <a:xfrm>
            <a:off x="5807176" y="7197652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5" name="값"/>
          <p:cNvSpPr>
            <a:spLocks noGrp="1"/>
          </p:cNvSpPr>
          <p:nvPr>
            <p:ph type="body" sz="quarter" idx="113"/>
          </p:nvPr>
        </p:nvSpPr>
        <p:spPr>
          <a:xfrm>
            <a:off x="5664741" y="702234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19</a:t>
            </a:r>
          </a:p>
        </p:txBody>
      </p:sp>
      <p:sp>
        <p:nvSpPr>
          <p:cNvPr id="196" name="연도"/>
          <p:cNvSpPr>
            <a:spLocks noGrp="1"/>
          </p:cNvSpPr>
          <p:nvPr>
            <p:ph type="body" sz="quarter" idx="114"/>
          </p:nvPr>
        </p:nvSpPr>
        <p:spPr>
          <a:xfrm>
            <a:off x="5686654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97" name="점"/>
          <p:cNvSpPr/>
          <p:nvPr/>
        </p:nvSpPr>
        <p:spPr>
          <a:xfrm>
            <a:off x="6272718" y="71516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8" name="값"/>
          <p:cNvSpPr>
            <a:spLocks noGrp="1"/>
          </p:cNvSpPr>
          <p:nvPr>
            <p:ph type="body" sz="quarter" idx="115"/>
          </p:nvPr>
        </p:nvSpPr>
        <p:spPr>
          <a:xfrm>
            <a:off x="6130283" y="697633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22</a:t>
            </a:r>
          </a:p>
        </p:txBody>
      </p:sp>
      <p:sp>
        <p:nvSpPr>
          <p:cNvPr id="199" name="연도"/>
          <p:cNvSpPr>
            <a:spLocks noGrp="1"/>
          </p:cNvSpPr>
          <p:nvPr>
            <p:ph type="body" sz="quarter" idx="116"/>
          </p:nvPr>
        </p:nvSpPr>
        <p:spPr>
          <a:xfrm>
            <a:off x="6152197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200" name="점"/>
          <p:cNvSpPr/>
          <p:nvPr/>
        </p:nvSpPr>
        <p:spPr>
          <a:xfrm>
            <a:off x="6738261" y="710561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1" name="값"/>
          <p:cNvSpPr>
            <a:spLocks noGrp="1"/>
          </p:cNvSpPr>
          <p:nvPr>
            <p:ph type="body" sz="quarter" idx="117"/>
          </p:nvPr>
        </p:nvSpPr>
        <p:spPr>
          <a:xfrm>
            <a:off x="6595826" y="693031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25</a:t>
            </a:r>
          </a:p>
        </p:txBody>
      </p:sp>
      <p:sp>
        <p:nvSpPr>
          <p:cNvPr id="202" name="연도"/>
          <p:cNvSpPr>
            <a:spLocks noGrp="1"/>
          </p:cNvSpPr>
          <p:nvPr>
            <p:ph type="body" sz="quarter" idx="118"/>
          </p:nvPr>
        </p:nvSpPr>
        <p:spPr>
          <a:xfrm>
            <a:off x="6617739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203" name="Connector 172"/>
          <p:cNvCxnSpPr/>
          <p:nvPr/>
        </p:nvCxnSpPr>
        <p:spPr>
          <a:xfrm>
            <a:off x="4854177" y="7313791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204" name="레일"/>
          <p:cNvSpPr/>
          <p:nvPr/>
        </p:nvSpPr>
        <p:spPr>
          <a:xfrm>
            <a:off x="536870" y="7554835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5" name="레일"/>
          <p:cNvSpPr>
            <a:spLocks noGrp="1"/>
          </p:cNvSpPr>
          <p:nvPr>
            <p:ph type="body" sz="quarter" idx="119"/>
          </p:nvPr>
        </p:nvSpPr>
        <p:spPr>
          <a:xfrm>
            <a:off x="536870" y="7554835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세계최고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ESG경영</a:t>
            </a:r>
          </a:p>
        </p:txBody>
      </p:sp>
      <p:sp>
        <p:nvSpPr>
          <p:cNvPr id="206" name="PI 글"/>
          <p:cNvSpPr>
            <a:spLocks noGrp="1"/>
          </p:cNvSpPr>
          <p:nvPr>
            <p:ph type="body" sz="quarter" idx="120"/>
          </p:nvPr>
        </p:nvSpPr>
        <p:spPr>
          <a:xfrm>
            <a:off x="1172348" y="7554835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ESG경영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조직역량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같이 일하는 청렴조직 구현</a:t>
            </a:r>
          </a:p>
        </p:txBody>
      </p:sp>
      <p:sp>
        <p:nvSpPr>
          <p:cNvPr id="207" name="KPI 칸"/>
          <p:cNvSpPr/>
          <p:nvPr/>
        </p:nvSpPr>
        <p:spPr>
          <a:xfrm>
            <a:off x="3052816" y="7554835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8" name="태그"/>
          <p:cNvSpPr/>
          <p:nvPr/>
        </p:nvSpPr>
        <p:spPr>
          <a:xfrm>
            <a:off x="3096642" y="7609617"/>
            <a:ext cx="548640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9" name="태그"/>
          <p:cNvSpPr>
            <a:spLocks noGrp="1"/>
          </p:cNvSpPr>
          <p:nvPr>
            <p:ph type="body" sz="quarter" idx="121"/>
          </p:nvPr>
        </p:nvSpPr>
        <p:spPr>
          <a:xfrm>
            <a:off x="3096642" y="7609617"/>
            <a:ext cx="548640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기능전략</a:t>
            </a:r>
          </a:p>
        </p:txBody>
      </p:sp>
      <p:sp>
        <p:nvSpPr>
          <p:cNvPr id="210" name="KPI 글"/>
          <p:cNvSpPr>
            <a:spLocks noGrp="1"/>
          </p:cNvSpPr>
          <p:nvPr>
            <p:ph type="body" sz="quarter" idx="122"/>
          </p:nvPr>
        </p:nvSpPr>
        <p:spPr>
          <a:xfrm>
            <a:off x="3678151" y="7587704"/>
            <a:ext cx="1077418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경영수준</a:t>
            </a:r>
          </a:p>
        </p:txBody>
      </p:sp>
      <p:sp>
        <p:nvSpPr>
          <p:cNvPr id="211" name="KPI 결과"/>
          <p:cNvSpPr/>
          <p:nvPr/>
        </p:nvSpPr>
        <p:spPr>
          <a:xfrm>
            <a:off x="3063772" y="794927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212" name="KPI 결과"/>
          <p:cNvSpPr>
            <a:spLocks noGrp="1"/>
          </p:cNvSpPr>
          <p:nvPr>
            <p:ph type="body" sz="quarter" idx="123"/>
          </p:nvPr>
        </p:nvSpPr>
        <p:spPr>
          <a:xfrm>
            <a:off x="3063772" y="794927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최우수 → 최우수</a:t>
            </a:r>
          </a:p>
        </p:txBody>
      </p:sp>
      <p:sp>
        <p:nvSpPr>
          <p:cNvPr id="213" name="로드맵 칸"/>
          <p:cNvSpPr/>
          <p:nvPr/>
        </p:nvSpPr>
        <p:spPr>
          <a:xfrm>
            <a:off x="4821308" y="7554835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4" name="단위"/>
          <p:cNvSpPr>
            <a:spLocks noGrp="1"/>
          </p:cNvSpPr>
          <p:nvPr>
            <p:ph type="body" sz="quarter" idx="124"/>
          </p:nvPr>
        </p:nvSpPr>
        <p:spPr>
          <a:xfrm>
            <a:off x="4843221" y="7565791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등급</a:t>
            </a:r>
          </a:p>
        </p:txBody>
      </p:sp>
      <p:cxnSp>
        <p:nvCxnSpPr>
          <p:cNvPr id="215" name="Connector 181"/>
          <p:cNvCxnSpPr/>
          <p:nvPr/>
        </p:nvCxnSpPr>
        <p:spPr>
          <a:xfrm>
            <a:off x="4898003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6" name="Connector 182"/>
          <p:cNvCxnSpPr/>
          <p:nvPr/>
        </p:nvCxnSpPr>
        <p:spPr>
          <a:xfrm>
            <a:off x="5363546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7" name="Connector 183"/>
          <p:cNvCxnSpPr/>
          <p:nvPr/>
        </p:nvCxnSpPr>
        <p:spPr>
          <a:xfrm>
            <a:off x="5829089" y="7850661"/>
            <a:ext cx="465542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8" name="Connector 184"/>
          <p:cNvCxnSpPr/>
          <p:nvPr/>
        </p:nvCxnSpPr>
        <p:spPr>
          <a:xfrm>
            <a:off x="6294631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219" name="점"/>
          <p:cNvSpPr/>
          <p:nvPr/>
        </p:nvSpPr>
        <p:spPr>
          <a:xfrm>
            <a:off x="4876090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0" name="값"/>
          <p:cNvSpPr>
            <a:spLocks noGrp="1"/>
          </p:cNvSpPr>
          <p:nvPr>
            <p:ph type="body" sz="quarter" idx="125"/>
          </p:nvPr>
        </p:nvSpPr>
        <p:spPr>
          <a:xfrm>
            <a:off x="4733656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1" name="연도"/>
          <p:cNvSpPr>
            <a:spLocks noGrp="1"/>
          </p:cNvSpPr>
          <p:nvPr>
            <p:ph type="body" sz="quarter" idx="126"/>
          </p:nvPr>
        </p:nvSpPr>
        <p:spPr>
          <a:xfrm>
            <a:off x="4755569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222" name="점"/>
          <p:cNvSpPr/>
          <p:nvPr/>
        </p:nvSpPr>
        <p:spPr>
          <a:xfrm>
            <a:off x="5341633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3" name="값"/>
          <p:cNvSpPr>
            <a:spLocks noGrp="1"/>
          </p:cNvSpPr>
          <p:nvPr>
            <p:ph type="body" sz="quarter" idx="127"/>
          </p:nvPr>
        </p:nvSpPr>
        <p:spPr>
          <a:xfrm>
            <a:off x="5199198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4" name="연도"/>
          <p:cNvSpPr>
            <a:spLocks noGrp="1"/>
          </p:cNvSpPr>
          <p:nvPr>
            <p:ph type="body" sz="quarter" idx="128"/>
          </p:nvPr>
        </p:nvSpPr>
        <p:spPr>
          <a:xfrm>
            <a:off x="5221111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225" name="점"/>
          <p:cNvSpPr/>
          <p:nvPr/>
        </p:nvSpPr>
        <p:spPr>
          <a:xfrm>
            <a:off x="5807176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6" name="값"/>
          <p:cNvSpPr>
            <a:spLocks noGrp="1"/>
          </p:cNvSpPr>
          <p:nvPr>
            <p:ph type="body" sz="quarter" idx="129"/>
          </p:nvPr>
        </p:nvSpPr>
        <p:spPr>
          <a:xfrm>
            <a:off x="5664741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7" name="연도"/>
          <p:cNvSpPr>
            <a:spLocks noGrp="1"/>
          </p:cNvSpPr>
          <p:nvPr>
            <p:ph type="body" sz="quarter" idx="130"/>
          </p:nvPr>
        </p:nvSpPr>
        <p:spPr>
          <a:xfrm>
            <a:off x="5686654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228" name="점"/>
          <p:cNvSpPr/>
          <p:nvPr/>
        </p:nvSpPr>
        <p:spPr>
          <a:xfrm>
            <a:off x="6272718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9" name="값"/>
          <p:cNvSpPr>
            <a:spLocks noGrp="1"/>
          </p:cNvSpPr>
          <p:nvPr>
            <p:ph type="body" sz="quarter" idx="131"/>
          </p:nvPr>
        </p:nvSpPr>
        <p:spPr>
          <a:xfrm>
            <a:off x="6130283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0" name="연도"/>
          <p:cNvSpPr>
            <a:spLocks noGrp="1"/>
          </p:cNvSpPr>
          <p:nvPr>
            <p:ph type="body" sz="quarter" idx="132"/>
          </p:nvPr>
        </p:nvSpPr>
        <p:spPr>
          <a:xfrm>
            <a:off x="6152197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231" name="점"/>
          <p:cNvSpPr/>
          <p:nvPr/>
        </p:nvSpPr>
        <p:spPr>
          <a:xfrm>
            <a:off x="6738261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2" name="값"/>
          <p:cNvSpPr>
            <a:spLocks noGrp="1"/>
          </p:cNvSpPr>
          <p:nvPr>
            <p:ph type="body" sz="quarter" idx="133"/>
          </p:nvPr>
        </p:nvSpPr>
        <p:spPr>
          <a:xfrm>
            <a:off x="6595826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3" name="연도"/>
          <p:cNvSpPr>
            <a:spLocks noGrp="1"/>
          </p:cNvSpPr>
          <p:nvPr>
            <p:ph type="body" sz="quarter" idx="134"/>
          </p:nvPr>
        </p:nvSpPr>
        <p:spPr>
          <a:xfrm>
            <a:off x="6617739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234" name="Connector 200"/>
          <p:cNvCxnSpPr/>
          <p:nvPr/>
        </p:nvCxnSpPr>
        <p:spPr>
          <a:xfrm>
            <a:off x="4854177" y="7960226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0 서사 · 이행체계 → 이행관리 → 성과환류 → 선순환 환류 성과(분야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7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내실있는 전략과제 성과관리를 통해 차별화된 경영성과 창출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980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1040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CEO경영계약 ↔ 경영목표 ↔ 경영전략 Cascading 기반 이행체계 구축</a:t>
            </a:r>
          </a:p>
        </p:txBody>
      </p:sp>
      <p:sp>
        <p:nvSpPr>
          <p:cNvPr id="21" name="단계"/>
          <p:cNvSpPr/>
          <p:nvPr/>
        </p:nvSpPr>
        <p:spPr>
          <a:xfrm>
            <a:off x="1347652" y="140243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4024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전략과 Align된 연간 업무보고</a:t>
            </a:r>
          </a:p>
        </p:txBody>
      </p:sp>
      <p:sp>
        <p:nvSpPr>
          <p:cNvPr id="23" name="단계"/>
          <p:cNvSpPr/>
          <p:nvPr/>
        </p:nvSpPr>
        <p:spPr>
          <a:xfrm>
            <a:off x="4171696" y="140243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4171696" y="14024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KPI 100% 연계로 실질적 실행력 확보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4171695" y="1402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654435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중점방향 정부 국정과제 기반 신성장경로 등 경영전략과 연계된 핵심과제 중심 논의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과제 성과 점검 및 ’25년 방향성 도출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654435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투트랙 지표유형 기반 관리 이원화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MBO 지표관리 + OKR 지표관리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4171696" y="16873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734087" y="2202261"/>
            <a:ext cx="580696" cy="1101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202261"/>
            <a:ext cx="580696" cy="1101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2022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347652" y="222417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조직·기능 재배분으로 이슈과제 최적 이행</a:t>
            </a:r>
          </a:p>
        </p:txBody>
      </p:sp>
      <p:sp>
        <p:nvSpPr>
          <p:cNvPr id="34" name="단계"/>
          <p:cNvSpPr/>
          <p:nvPr/>
        </p:nvSpPr>
        <p:spPr>
          <a:xfrm>
            <a:off x="4171696" y="222417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4171696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성과점검은 빈틈없이 관리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4171695" y="2224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76174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연중 새정부 출범 연계 조직재정렬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청렴도 전사 역량결집 청렴혁신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만성 취약요인 토지보상 전업무 디지털화(역대 최고 92.4점)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476174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CEO경영과제 + 전략과제 상시점검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진척도 기반 조기경보 작동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현안대응 시나리오별 1~4단계 컨틴전시 플랜 운영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4171696" y="250904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3319826"/>
            <a:ext cx="580696" cy="772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319826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734086" y="3319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"/>
          <p:cNvSpPr/>
          <p:nvPr/>
        </p:nvSpPr>
        <p:spPr>
          <a:xfrm>
            <a:off x="1347652" y="334173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341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전략적 성과보상·지속성 강화</a:t>
            </a:r>
          </a:p>
        </p:txBody>
      </p:sp>
      <p:sp>
        <p:nvSpPr>
          <p:cNvPr id="45" name="단계"/>
          <p:cNvSpPr/>
          <p:nvPr/>
        </p:nvSpPr>
        <p:spPr>
          <a:xfrm>
            <a:off x="4171696" y="334173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6"/>
          </p:nvPr>
        </p:nvSpPr>
        <p:spPr>
          <a:xfrm>
            <a:off x="4171696" y="3341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성과·가치체계 내재화 및 동기부여 확산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4171695" y="3341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593739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高성과자 특별승진 및 성과급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우수성과 Step-Up제도 도입·발전 견인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3593739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주관 타운홀미팅 ➡ 전략·비전 공유·토론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60초경영(숏폼) ➡ 신속전파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4171696" y="3626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캡션 띠"/>
          <p:cNvSpPr/>
          <p:nvPr/>
        </p:nvSpPr>
        <p:spPr>
          <a:xfrm>
            <a:off x="723130" y="41306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캡션"/>
          <p:cNvSpPr>
            <a:spLocks noGrp="1"/>
          </p:cNvSpPr>
          <p:nvPr>
            <p:ph type="body" sz="quarter" idx="39"/>
          </p:nvPr>
        </p:nvSpPr>
        <p:spPr>
          <a:xfrm>
            <a:off x="942261" y="4130609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체계적인 선순환 환류체계 구축으로 사업 및 경영 전 분야에서 국민·기업 체감성과 창출 】</a:t>
            </a:r>
          </a:p>
        </p:txBody>
      </p:sp>
      <p:sp>
        <p:nvSpPr>
          <p:cNvPr id="53" name="표 외곽"/>
          <p:cNvSpPr/>
          <p:nvPr/>
        </p:nvSpPr>
        <p:spPr>
          <a:xfrm>
            <a:off x="723130" y="4437391"/>
            <a:ext cx="6300000" cy="25885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레일"/>
          <p:cNvSpPr/>
          <p:nvPr/>
        </p:nvSpPr>
        <p:spPr>
          <a:xfrm>
            <a:off x="734087" y="4453826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0"/>
          </p:nvPr>
        </p:nvSpPr>
        <p:spPr>
          <a:xfrm>
            <a:off x="734087" y="4453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475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최초 스마트댐 안전관리 플랫폼 전 댐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워터 포지티브 선도사업 완료</a:t>
            </a:r>
          </a:p>
        </p:txBody>
      </p:sp>
      <p:sp>
        <p:nvSpPr>
          <p:cNvPr id="57" name="사진 칸"/>
          <p:cNvSpPr/>
          <p:nvPr/>
        </p:nvSpPr>
        <p:spPr>
          <a:xfrm>
            <a:off x="5916522" y="4481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8" name="사진 칸"/>
          <p:cNvSpPr>
            <a:spLocks noGrp="1"/>
          </p:cNvSpPr>
          <p:nvPr>
            <p:ph type="body" sz="quarter" idx="42"/>
          </p:nvPr>
        </p:nvSpPr>
        <p:spPr>
          <a:xfrm>
            <a:off x="5916522" y="4481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신풍습지</a:t>
            </a:r>
          </a:p>
        </p:txBody>
      </p:sp>
      <p:sp>
        <p:nvSpPr>
          <p:cNvPr id="59" name="레일"/>
          <p:cNvSpPr/>
          <p:nvPr/>
        </p:nvSpPr>
        <p:spPr>
          <a:xfrm>
            <a:off x="734087" y="4957826"/>
            <a:ext cx="580696" cy="48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4957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61" name="레일 삼각형"/>
          <p:cNvSpPr/>
          <p:nvPr/>
        </p:nvSpPr>
        <p:spPr>
          <a:xfrm>
            <a:off x="734086" y="4957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4979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본격 운영 및 글로벌 표준화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공급(2.4만㎥/일), 해수담수화(10만㎥/일) 사업 준공</a:t>
            </a:r>
          </a:p>
        </p:txBody>
      </p:sp>
      <p:sp>
        <p:nvSpPr>
          <p:cNvPr id="63" name="사진 칸"/>
          <p:cNvSpPr/>
          <p:nvPr/>
        </p:nvSpPr>
        <p:spPr>
          <a:xfrm>
            <a:off x="5916522" y="4985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4" name="사진 칸"/>
          <p:cNvSpPr>
            <a:spLocks noGrp="1"/>
          </p:cNvSpPr>
          <p:nvPr>
            <p:ph type="body" sz="quarter" idx="45"/>
          </p:nvPr>
        </p:nvSpPr>
        <p:spPr>
          <a:xfrm>
            <a:off x="5916522" y="4985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AI정수장</a:t>
            </a:r>
          </a:p>
        </p:txBody>
      </p:sp>
      <p:sp>
        <p:nvSpPr>
          <p:cNvPr id="65" name="레일"/>
          <p:cNvSpPr/>
          <p:nvPr/>
        </p:nvSpPr>
        <p:spPr>
          <a:xfrm>
            <a:off x="734087" y="5461826"/>
            <a:ext cx="580696" cy="48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5461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5483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집적화 단지 국내 1호 준공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글로벌 RE100 달성 및 PPA 확대</a:t>
            </a:r>
          </a:p>
        </p:txBody>
      </p:sp>
      <p:sp>
        <p:nvSpPr>
          <p:cNvPr id="68" name="사진 칸"/>
          <p:cNvSpPr/>
          <p:nvPr/>
        </p:nvSpPr>
        <p:spPr>
          <a:xfrm>
            <a:off x="5916522" y="5489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9" name="사진 칸"/>
          <p:cNvSpPr>
            <a:spLocks noGrp="1"/>
          </p:cNvSpPr>
          <p:nvPr>
            <p:ph type="body" sz="quarter" idx="48"/>
          </p:nvPr>
        </p:nvSpPr>
        <p:spPr>
          <a:xfrm>
            <a:off x="5916522" y="5489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임하 집적화 단지</a:t>
            </a:r>
          </a:p>
        </p:txBody>
      </p:sp>
      <p:sp>
        <p:nvSpPr>
          <p:cNvPr id="70" name="레일"/>
          <p:cNvSpPr/>
          <p:nvPr/>
        </p:nvSpPr>
        <p:spPr>
          <a:xfrm>
            <a:off x="734087" y="5965826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9"/>
          </p:nvPr>
        </p:nvSpPr>
        <p:spPr>
          <a:xfrm>
            <a:off x="734087" y="5965826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734086" y="5965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1358609" y="5987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물관리 플랫폼 글로벌 확산 본격화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21개사 동반 참여, 7개 혁신상 수상</a:t>
            </a:r>
          </a:p>
        </p:txBody>
      </p:sp>
      <p:sp>
        <p:nvSpPr>
          <p:cNvPr id="74" name="사진 칸"/>
          <p:cNvSpPr/>
          <p:nvPr/>
        </p:nvSpPr>
        <p:spPr>
          <a:xfrm>
            <a:off x="5916522" y="5993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5" name="사진 칸"/>
          <p:cNvSpPr>
            <a:spLocks noGrp="1"/>
          </p:cNvSpPr>
          <p:nvPr>
            <p:ph type="body" sz="quarter" idx="51"/>
          </p:nvPr>
        </p:nvSpPr>
        <p:spPr>
          <a:xfrm>
            <a:off x="5916522" y="5993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밸리워터 MOU</a:t>
            </a:r>
          </a:p>
        </p:txBody>
      </p:sp>
      <p:sp>
        <p:nvSpPr>
          <p:cNvPr id="76" name="레일"/>
          <p:cNvSpPr/>
          <p:nvPr/>
        </p:nvSpPr>
        <p:spPr>
          <a:xfrm>
            <a:off x="734087" y="6521948"/>
            <a:ext cx="580696" cy="487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7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6521948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6543861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종합청렴도 공사 최초 1등급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4년 연속 ESG 최고등급(AA) 달성</a:t>
            </a:r>
          </a:p>
        </p:txBody>
      </p:sp>
      <p:sp>
        <p:nvSpPr>
          <p:cNvPr id="79" name="사진 칸"/>
          <p:cNvSpPr/>
          <p:nvPr/>
        </p:nvSpPr>
        <p:spPr>
          <a:xfrm>
            <a:off x="5916522" y="6549339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0" name="사진 칸"/>
          <p:cNvSpPr>
            <a:spLocks noGrp="1"/>
          </p:cNvSpPr>
          <p:nvPr>
            <p:ph type="body" sz="quarter" idx="54"/>
          </p:nvPr>
        </p:nvSpPr>
        <p:spPr>
          <a:xfrm>
            <a:off x="5916522" y="6549339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ESG 경영대상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1 서사 · 추진배경 → 방향설정 → 3대 분야 10대 과제 → 특화 조직 · 플랫폼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물처럼 국민 삶 속에 스며들어, 정책 시너지를 만드는 10대 혁신 과제 전개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569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5626174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출범과 함께 미래 신성장 동력 장착 및 정책 시너지 극대화를 위해 혁신경영은 선택이 아닌 존립을 위한 시대적 책무로 인식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558643"/>
            <a:ext cx="580696" cy="1112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558643"/>
            <a:ext cx="580696" cy="1112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배너"/>
          <p:cNvSpPr/>
          <p:nvPr/>
        </p:nvSpPr>
        <p:spPr>
          <a:xfrm>
            <a:off x="1161391" y="158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6"/>
          </p:nvPr>
        </p:nvSpPr>
        <p:spPr>
          <a:xfrm>
            <a:off x="1161391" y="158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정책의 성공적인 실현을 위해, 국정 철학과 긴밀하게 맞물린 혁신방향의 설정</a:t>
            </a:r>
          </a:p>
        </p:txBody>
      </p:sp>
      <p:sp>
        <p:nvSpPr>
          <p:cNvPr id="26" name="태그"/>
          <p:cNvSpPr/>
          <p:nvPr/>
        </p:nvSpPr>
        <p:spPr>
          <a:xfrm>
            <a:off x="1161391" y="1838035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7"/>
          </p:nvPr>
        </p:nvSpPr>
        <p:spPr>
          <a:xfrm>
            <a:off x="1161391" y="1838035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8"/>
          </p:nvPr>
        </p:nvSpPr>
        <p:spPr>
          <a:xfrm>
            <a:off x="2197893" y="1827078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실질적으로 느끼는 편의성·효율성 기반</a:t>
            </a:r>
          </a:p>
        </p:txBody>
      </p:sp>
      <p:sp>
        <p:nvSpPr>
          <p:cNvPr id="29" name="태그"/>
          <p:cNvSpPr/>
          <p:nvPr/>
        </p:nvSpPr>
        <p:spPr>
          <a:xfrm>
            <a:off x="1161391" y="2035252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035252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0"/>
          </p:nvPr>
        </p:nvSpPr>
        <p:spPr>
          <a:xfrm>
            <a:off x="2197893" y="2024296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대응·상생협력·국민신뢰 확보를 위한</a:t>
            </a:r>
          </a:p>
        </p:txBody>
      </p:sp>
      <p:sp>
        <p:nvSpPr>
          <p:cNvPr id="32" name="태그"/>
          <p:cNvSpPr/>
          <p:nvPr/>
        </p:nvSpPr>
        <p:spPr>
          <a:xfrm>
            <a:off x="1161391" y="2232470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232470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2"/>
          </p:nvPr>
        </p:nvSpPr>
        <p:spPr>
          <a:xfrm>
            <a:off x="2197893" y="2221513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정수장, 친환경, 기술나눔 등 기술력으로 도약하는</a:t>
            </a:r>
          </a:p>
        </p:txBody>
      </p:sp>
      <p:sp>
        <p:nvSpPr>
          <p:cNvPr id="35" name="배너"/>
          <p:cNvSpPr/>
          <p:nvPr/>
        </p:nvSpPr>
        <p:spPr>
          <a:xfrm>
            <a:off x="1161391" y="24461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4461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경영실적 평가결과 진단, 전직원 설문조사 및 혁신챌린지 결과분석</a:t>
            </a:r>
          </a:p>
        </p:txBody>
      </p:sp>
      <p:sp>
        <p:nvSpPr>
          <p:cNvPr id="37" name="배너"/>
          <p:cNvSpPr/>
          <p:nvPr/>
        </p:nvSpPr>
        <p:spPr>
          <a:xfrm>
            <a:off x="536870" y="2741948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38" name="Connector 26"/>
          <p:cNvCxnSpPr/>
          <p:nvPr/>
        </p:nvCxnSpPr>
        <p:spPr>
          <a:xfrm>
            <a:off x="536870" y="2741948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39" name="배너 글"/>
          <p:cNvSpPr>
            <a:spLocks noGrp="1"/>
          </p:cNvSpPr>
          <p:nvPr>
            <p:ph type="body" sz="quarter" idx="34"/>
          </p:nvPr>
        </p:nvSpPr>
        <p:spPr>
          <a:xfrm>
            <a:off x="536870" y="2796730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“국민체감, ESG LEAD, 생산성 제고” 3대 분야, 10개 혁신 과제 실행</a:t>
            </a:r>
          </a:p>
        </p:txBody>
      </p:sp>
      <p:sp>
        <p:nvSpPr>
          <p:cNvPr id="40" name="표 외곽"/>
          <p:cNvSpPr/>
          <p:nvPr/>
        </p:nvSpPr>
        <p:spPr>
          <a:xfrm>
            <a:off x="536870" y="3114470"/>
            <a:ext cx="6300000" cy="330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"/>
          <p:cNvSpPr/>
          <p:nvPr/>
        </p:nvSpPr>
        <p:spPr>
          <a:xfrm>
            <a:off x="547826" y="3130904"/>
            <a:ext cx="580696" cy="1232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130904"/>
            <a:ext cx="580696" cy="1232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10대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43" name="머리칸"/>
          <p:cNvSpPr/>
          <p:nvPr/>
        </p:nvSpPr>
        <p:spPr>
          <a:xfrm>
            <a:off x="1161391" y="3152817"/>
            <a:ext cx="23092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1161391" y="3152817"/>
            <a:ext cx="23092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45" name="머리칸"/>
          <p:cNvSpPr/>
          <p:nvPr/>
        </p:nvSpPr>
        <p:spPr>
          <a:xfrm>
            <a:off x="3487074" y="3152817"/>
            <a:ext cx="164476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7"/>
          </p:nvPr>
        </p:nvSpPr>
        <p:spPr>
          <a:xfrm>
            <a:off x="3487074" y="3152817"/>
            <a:ext cx="164476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47" name="머리칸"/>
          <p:cNvSpPr/>
          <p:nvPr/>
        </p:nvSpPr>
        <p:spPr>
          <a:xfrm>
            <a:off x="5148276" y="3152817"/>
            <a:ext cx="164476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8"/>
          </p:nvPr>
        </p:nvSpPr>
        <p:spPr>
          <a:xfrm>
            <a:off x="5148276" y="3152817"/>
            <a:ext cx="164476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393861"/>
            <a:ext cx="230377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최악의 강릉 가뭄 문제 신속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안동 지장 가옥 문제 적극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대국민 여가 증진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댐 주변 소멸지역 철도 상품 개발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3498031" y="3393861"/>
            <a:ext cx="1639289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워터포지티브 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주민이익공유 Ⓢ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청렴도 1등급 Ⓖ</a:t>
            </a:r>
          </a:p>
        </p:txBody>
      </p:sp>
      <p:cxnSp>
        <p:nvCxnSpPr>
          <p:cNvPr id="51" name="Connector 35"/>
          <p:cNvCxnSpPr/>
          <p:nvPr/>
        </p:nvCxnSpPr>
        <p:spPr>
          <a:xfrm>
            <a:off x="3487074" y="3426730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5159233" y="3393861"/>
            <a:ext cx="1639289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❽ 글로벌 등대 AI정수장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❾ 재생100% 병입수돗물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❿ 기업성장응답센터</a:t>
            </a:r>
          </a:p>
        </p:txBody>
      </p:sp>
      <p:cxnSp>
        <p:nvCxnSpPr>
          <p:cNvPr id="53" name="Connector 37"/>
          <p:cNvCxnSpPr/>
          <p:nvPr/>
        </p:nvCxnSpPr>
        <p:spPr>
          <a:xfrm>
            <a:off x="5148276" y="3426730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547826" y="4379948"/>
            <a:ext cx="580696" cy="13640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4379948"/>
            <a:ext cx="580696" cy="1364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특화형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 운영</a:t>
            </a:r>
          </a:p>
        </p:txBody>
      </p:sp>
      <p:sp>
        <p:nvSpPr>
          <p:cNvPr id="56" name="레일 삼각형"/>
          <p:cNvSpPr/>
          <p:nvPr/>
        </p:nvSpPr>
        <p:spPr>
          <a:xfrm>
            <a:off x="547826" y="43799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머리칸"/>
          <p:cNvSpPr/>
          <p:nvPr/>
        </p:nvSpPr>
        <p:spPr>
          <a:xfrm>
            <a:off x="1161391" y="44018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3"/>
          </p:nvPr>
        </p:nvSpPr>
        <p:spPr>
          <a:xfrm>
            <a:off x="1161391" y="44018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목표지향적 혁신 가속화를 위한 특화형 조직 운영</a:t>
            </a:r>
          </a:p>
        </p:txBody>
      </p:sp>
      <p:sp>
        <p:nvSpPr>
          <p:cNvPr id="59" name="머리칸"/>
          <p:cNvSpPr/>
          <p:nvPr/>
        </p:nvSpPr>
        <p:spPr>
          <a:xfrm>
            <a:off x="3985435" y="44018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0" name="머리칸"/>
          <p:cNvSpPr>
            <a:spLocks noGrp="1"/>
          </p:cNvSpPr>
          <p:nvPr>
            <p:ph type="body" sz="quarter" idx="44"/>
          </p:nvPr>
        </p:nvSpPr>
        <p:spPr>
          <a:xfrm>
            <a:off x="3985435" y="44018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기반 혁신 네트워크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4642904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혁신추진단: 혁신계획 수립운영 총괄(경영혁신실)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지원국 예산·기술지원 / 교육국 연구개발·인재양성 / 사무국 성과·리스크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특화 조직: AI추진단, 안전본부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실행조직 부문·본부 단위 목표 부여·실행, 전사 부서별 자율적 추진조직 구성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6"/>
          </p:nvPr>
        </p:nvSpPr>
        <p:spPr>
          <a:xfrm>
            <a:off x="3996391" y="4642904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전문가: ESG경영위원회, 안전경영위원회, 상생협력위원회, 미래혁신위원회(신설), ESG자문위원회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지역: 댐주변지원사업, 지역가치창출 프로젝트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국민: 국민디자인단, 청년동행단</a:t>
            </a:r>
          </a:p>
        </p:txBody>
      </p:sp>
      <p:cxnSp>
        <p:nvCxnSpPr>
          <p:cNvPr id="63" name="Connector 44"/>
          <p:cNvCxnSpPr/>
          <p:nvPr/>
        </p:nvCxnSpPr>
        <p:spPr>
          <a:xfrm>
            <a:off x="3985435" y="4675774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레일"/>
          <p:cNvSpPr/>
          <p:nvPr/>
        </p:nvSpPr>
        <p:spPr>
          <a:xfrm>
            <a:off x="547826" y="5760470"/>
            <a:ext cx="580696" cy="64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5" name="레일"/>
          <p:cNvSpPr>
            <a:spLocks noGrp="1"/>
          </p:cNvSpPr>
          <p:nvPr>
            <p:ph type="body" sz="quarter" idx="47"/>
          </p:nvPr>
        </p:nvSpPr>
        <p:spPr>
          <a:xfrm>
            <a:off x="547826" y="5760470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플랫폼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규정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547826" y="57604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태그"/>
          <p:cNvSpPr/>
          <p:nvPr/>
        </p:nvSpPr>
        <p:spPr>
          <a:xfrm>
            <a:off x="1161391" y="5804296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5804296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플랫폼</a:t>
            </a:r>
          </a:p>
        </p:txBody>
      </p:sp>
      <p:sp>
        <p:nvSpPr>
          <p:cNvPr id="69" name="태그 설명"/>
          <p:cNvSpPr>
            <a:spLocks noGrp="1"/>
          </p:cNvSpPr>
          <p:nvPr>
            <p:ph type="body" sz="quarter" idx="49"/>
          </p:nvPr>
        </p:nvSpPr>
        <p:spPr>
          <a:xfrm>
            <a:off x="1786727" y="5793339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국민소통센터, 인트라넷 혁신:커넥트(혁신챌린지), 지식포털</a:t>
            </a:r>
          </a:p>
        </p:txBody>
      </p:sp>
      <p:sp>
        <p:nvSpPr>
          <p:cNvPr id="70" name="태그"/>
          <p:cNvSpPr/>
          <p:nvPr/>
        </p:nvSpPr>
        <p:spPr>
          <a:xfrm>
            <a:off x="1161391" y="6001513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태그"/>
          <p:cNvSpPr>
            <a:spLocks noGrp="1"/>
          </p:cNvSpPr>
          <p:nvPr>
            <p:ph type="body" sz="quarter" idx="50"/>
          </p:nvPr>
        </p:nvSpPr>
        <p:spPr>
          <a:xfrm>
            <a:off x="1161391" y="600151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 정</a:t>
            </a:r>
          </a:p>
        </p:txBody>
      </p:sp>
      <p:sp>
        <p:nvSpPr>
          <p:cNvPr id="72" name="태그 설명"/>
          <p:cNvSpPr>
            <a:spLocks noGrp="1"/>
          </p:cNvSpPr>
          <p:nvPr>
            <p:ph type="body" sz="quarter" idx="51"/>
          </p:nvPr>
        </p:nvSpPr>
        <p:spPr>
          <a:xfrm>
            <a:off x="1786727" y="599055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지식관리규정</a:t>
            </a:r>
          </a:p>
        </p:txBody>
      </p:sp>
      <p:sp>
        <p:nvSpPr>
          <p:cNvPr id="73" name="태그"/>
          <p:cNvSpPr/>
          <p:nvPr/>
        </p:nvSpPr>
        <p:spPr>
          <a:xfrm>
            <a:off x="1161391" y="619873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4" name="태그"/>
          <p:cNvSpPr>
            <a:spLocks noGrp="1"/>
          </p:cNvSpPr>
          <p:nvPr>
            <p:ph type="body" sz="quarter" idx="52"/>
          </p:nvPr>
        </p:nvSpPr>
        <p:spPr>
          <a:xfrm>
            <a:off x="1161391" y="619873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75" name="태그 설명"/>
          <p:cNvSpPr>
            <a:spLocks noGrp="1"/>
          </p:cNvSpPr>
          <p:nvPr>
            <p:ph type="body" sz="quarter" idx="53"/>
          </p:nvPr>
        </p:nvSpPr>
        <p:spPr>
          <a:xfrm>
            <a:off x="1786727" y="6187774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Step-Up제도, 재경부 대국민서비스, ESG등급평가</a:t>
            </a:r>
          </a:p>
        </p:txBody>
      </p:sp>
      <p:sp>
        <p:nvSpPr>
          <p:cNvPr id="76" name="행 틀"/>
          <p:cNvSpPr/>
          <p:nvPr/>
        </p:nvSpPr>
        <p:spPr>
          <a:xfrm>
            <a:off x="536870" y="6483600"/>
            <a:ext cx="6300000" cy="1073739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레일"/>
          <p:cNvSpPr/>
          <p:nvPr/>
        </p:nvSpPr>
        <p:spPr>
          <a:xfrm>
            <a:off x="547826" y="6494557"/>
            <a:ext cx="580696" cy="1051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4"/>
          </p:nvPr>
        </p:nvSpPr>
        <p:spPr>
          <a:xfrm>
            <a:off x="547826" y="6494557"/>
            <a:ext cx="580696" cy="105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9" name="사진 칸"/>
          <p:cNvSpPr/>
          <p:nvPr/>
        </p:nvSpPr>
        <p:spPr>
          <a:xfrm>
            <a:off x="1172348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0" name="사진 칸"/>
          <p:cNvSpPr>
            <a:spLocks noGrp="1"/>
          </p:cNvSpPr>
          <p:nvPr>
            <p:ph type="body" sz="quarter" idx="55"/>
          </p:nvPr>
        </p:nvSpPr>
        <p:spPr>
          <a:xfrm>
            <a:off x="1172348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1" name="카드 제목"/>
          <p:cNvSpPr>
            <a:spLocks noGrp="1"/>
          </p:cNvSpPr>
          <p:nvPr>
            <p:ph type="body" sz="quarter" idx="56"/>
          </p:nvPr>
        </p:nvSpPr>
        <p:spPr>
          <a:xfrm>
            <a:off x="1172348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혁신챌린지 우수</a:t>
            </a:r>
          </a:p>
        </p:txBody>
      </p:sp>
      <p:sp>
        <p:nvSpPr>
          <p:cNvPr id="82" name="카드 설명"/>
          <p:cNvSpPr>
            <a:spLocks noGrp="1"/>
          </p:cNvSpPr>
          <p:nvPr>
            <p:ph type="body" sz="quarter" idx="57"/>
          </p:nvPr>
        </p:nvSpPr>
        <p:spPr>
          <a:xfrm>
            <a:off x="1172348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AI·안전 16건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83" name="사진 칸"/>
          <p:cNvSpPr/>
          <p:nvPr/>
        </p:nvSpPr>
        <p:spPr>
          <a:xfrm>
            <a:off x="2303061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4" name="사진 칸"/>
          <p:cNvSpPr>
            <a:spLocks noGrp="1"/>
          </p:cNvSpPr>
          <p:nvPr>
            <p:ph type="body" sz="quarter" idx="58"/>
          </p:nvPr>
        </p:nvSpPr>
        <p:spPr>
          <a:xfrm>
            <a:off x="2303061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5" name="카드 제목"/>
          <p:cNvSpPr>
            <a:spLocks noGrp="1"/>
          </p:cNvSpPr>
          <p:nvPr>
            <p:ph type="body" sz="quarter" idx="59"/>
          </p:nvPr>
        </p:nvSpPr>
        <p:spPr>
          <a:xfrm>
            <a:off x="2303061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 AA</a:t>
            </a:r>
          </a:p>
        </p:txBody>
      </p:sp>
      <p:sp>
        <p:nvSpPr>
          <p:cNvPr id="86" name="카드 설명"/>
          <p:cNvSpPr>
            <a:spLocks noGrp="1"/>
          </p:cNvSpPr>
          <p:nvPr>
            <p:ph type="body" sz="quarter" idx="60"/>
          </p:nvPr>
        </p:nvSpPr>
        <p:spPr>
          <a:xfrm>
            <a:off x="2303061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RiverRun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2025.9</a:t>
            </a:r>
          </a:p>
        </p:txBody>
      </p:sp>
      <p:sp>
        <p:nvSpPr>
          <p:cNvPr id="87" name="사진 칸"/>
          <p:cNvSpPr/>
          <p:nvPr/>
        </p:nvSpPr>
        <p:spPr>
          <a:xfrm>
            <a:off x="3433774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8" name="사진 칸"/>
          <p:cNvSpPr>
            <a:spLocks noGrp="1"/>
          </p:cNvSpPr>
          <p:nvPr>
            <p:ph type="body" sz="quarter" idx="61"/>
          </p:nvPr>
        </p:nvSpPr>
        <p:spPr>
          <a:xfrm>
            <a:off x="3433774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9" name="카드 제목"/>
          <p:cNvSpPr>
            <a:spLocks noGrp="1"/>
          </p:cNvSpPr>
          <p:nvPr>
            <p:ph type="body" sz="quarter" idx="62"/>
          </p:nvPr>
        </p:nvSpPr>
        <p:spPr>
          <a:xfrm>
            <a:off x="3433774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종합평가 최고</a:t>
            </a:r>
          </a:p>
        </p:txBody>
      </p:sp>
      <p:sp>
        <p:nvSpPr>
          <p:cNvPr id="90" name="카드 설명"/>
          <p:cNvSpPr>
            <a:spLocks noGrp="1"/>
          </p:cNvSpPr>
          <p:nvPr>
            <p:ph type="body" sz="quarter" idx="63"/>
          </p:nvPr>
        </p:nvSpPr>
        <p:spPr>
          <a:xfrm>
            <a:off x="3433774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4년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  <p:sp>
        <p:nvSpPr>
          <p:cNvPr id="91" name="사진 칸"/>
          <p:cNvSpPr/>
          <p:nvPr/>
        </p:nvSpPr>
        <p:spPr>
          <a:xfrm>
            <a:off x="4564487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2" name="사진 칸"/>
          <p:cNvSpPr>
            <a:spLocks noGrp="1"/>
          </p:cNvSpPr>
          <p:nvPr>
            <p:ph type="body" sz="quarter" idx="64"/>
          </p:nvPr>
        </p:nvSpPr>
        <p:spPr>
          <a:xfrm>
            <a:off x="4564487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93" name="카드 제목"/>
          <p:cNvSpPr>
            <a:spLocks noGrp="1"/>
          </p:cNvSpPr>
          <p:nvPr>
            <p:ph type="body" sz="quarter" idx="65"/>
          </p:nvPr>
        </p:nvSpPr>
        <p:spPr>
          <a:xfrm>
            <a:off x="4564487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AI 선도기관</a:t>
            </a:r>
          </a:p>
        </p:txBody>
      </p:sp>
      <p:sp>
        <p:nvSpPr>
          <p:cNvPr id="94" name="카드 설명"/>
          <p:cNvSpPr>
            <a:spLocks noGrp="1"/>
          </p:cNvSpPr>
          <p:nvPr>
            <p:ph type="body" sz="quarter" idx="66"/>
          </p:nvPr>
        </p:nvSpPr>
        <p:spPr>
          <a:xfrm>
            <a:off x="4564487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재경부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95" name="사진 칸"/>
          <p:cNvSpPr/>
          <p:nvPr/>
        </p:nvSpPr>
        <p:spPr>
          <a:xfrm>
            <a:off x="5695200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6" name="사진 칸"/>
          <p:cNvSpPr>
            <a:spLocks noGrp="1"/>
          </p:cNvSpPr>
          <p:nvPr>
            <p:ph type="body" sz="quarter" idx="67"/>
          </p:nvPr>
        </p:nvSpPr>
        <p:spPr>
          <a:xfrm>
            <a:off x="5695200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97" name="카드 제목"/>
          <p:cNvSpPr>
            <a:spLocks noGrp="1"/>
          </p:cNvSpPr>
          <p:nvPr>
            <p:ph type="body" sz="quarter" idx="68"/>
          </p:nvPr>
        </p:nvSpPr>
        <p:spPr>
          <a:xfrm>
            <a:off x="5695200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사전컨설팅 대상</a:t>
            </a:r>
          </a:p>
        </p:txBody>
      </p:sp>
      <p:sp>
        <p:nvSpPr>
          <p:cNvPr id="98" name="카드 설명"/>
          <p:cNvSpPr>
            <a:spLocks noGrp="1"/>
          </p:cNvSpPr>
          <p:nvPr>
            <p:ph type="body" sz="quarter" idx="69"/>
          </p:nvPr>
        </p:nvSpPr>
        <p:spPr>
          <a:xfrm>
            <a:off x="5695200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3년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2 서사 · 적극행정 혁신(추진배경 → 참여자 니즈 → 국민의 문제 →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규제한계를 넘고, 국민 삶에 빈틈없이 스며드는 체감형 포용 혁신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106738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10673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적극행정·규제개선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2085776" y="1358609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2085776" y="1205217"/>
            <a:ext cx="4937354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되는 방법을 찾아 시민이 체감할 수 있는 적극행정 혁신</a:t>
            </a:r>
          </a:p>
        </p:txBody>
      </p:sp>
      <p:sp>
        <p:nvSpPr>
          <p:cNvPr id="19" name="태그칩"/>
          <p:cNvSpPr/>
          <p:nvPr/>
        </p:nvSpPr>
        <p:spPr>
          <a:xfrm>
            <a:off x="5385196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385196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1" name="표 외곽"/>
          <p:cNvSpPr/>
          <p:nvPr/>
        </p:nvSpPr>
        <p:spPr>
          <a:xfrm>
            <a:off x="723130" y="1490087"/>
            <a:ext cx="6300000" cy="23475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국민의 시각에서 적극행정을 발굴, 보상 체계를 마련하여 참여 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방향 참여자의 적극성 확보, 협력 강화를 통한 제도개선, 실질적 해소에 집중</a:t>
            </a:r>
          </a:p>
        </p:txBody>
      </p:sp>
      <p:cxnSp>
        <p:nvCxnSpPr>
          <p:cNvPr id="26" name="Connector 17"/>
          <p:cNvCxnSpPr/>
          <p:nvPr/>
        </p:nvCxnSpPr>
        <p:spPr>
          <a:xfrm>
            <a:off x="4171696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1931165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931165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니즈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734086" y="193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"/>
          <p:cNvSpPr/>
          <p:nvPr/>
        </p:nvSpPr>
        <p:spPr>
          <a:xfrm>
            <a:off x="1347652" y="19530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108년만 최악의 강릉가뭄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19530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 공익성 점검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19530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메마른 강릉 무너진 일상을 해결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19530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19530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신속 관정 개발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신규 발주는 규정상 최소 1개월 이상 소요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 기준상 위반사항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예방 감사, 면책조력 제도 강화로 공익성 입증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230348" y="22379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 용역 변경 ➡ 2주 내 강릉 물 공급 완료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5113043" y="22379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2939165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2939165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함께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2939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"/>
          <p:cNvSpPr/>
          <p:nvPr/>
        </p:nvSpPr>
        <p:spPr>
          <a:xfrm>
            <a:off x="1347652" y="29610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안동댐 지장가옥 문제</a:t>
            </a:r>
          </a:p>
        </p:txBody>
      </p:sp>
      <p:sp>
        <p:nvSpPr>
          <p:cNvPr id="48" name="단계"/>
          <p:cNvSpPr/>
          <p:nvPr/>
        </p:nvSpPr>
        <p:spPr>
          <a:xfrm>
            <a:off x="3230348" y="29610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230348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협력 해결책 탐색</a:t>
            </a:r>
          </a:p>
        </p:txBody>
      </p:sp>
      <p:sp>
        <p:nvSpPr>
          <p:cNvPr id="50" name="단계"/>
          <p:cNvSpPr/>
          <p:nvPr/>
        </p:nvSpPr>
        <p:spPr>
          <a:xfrm>
            <a:off x="5113043" y="29610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113043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불법 지장가옥 전부 해소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3230347" y="29610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5113043" y="29610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저수구역 내 불법가옥 존치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댐 운영 제한 및 침수위험 상시 노출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3241304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생존권이 걸린 문제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민·관 협력으로 주민 이주 방안 마련·설득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3230348" y="3245948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5124000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중복보상 예방(사전컨설팅)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이주 상담·설계 지원 ➡ 47가구 모두 이주 완료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5113043" y="3245948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주요성과 박스"/>
          <p:cNvSpPr/>
          <p:nvPr/>
        </p:nvSpPr>
        <p:spPr>
          <a:xfrm>
            <a:off x="723130" y="3914296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주요성과 라벨"/>
          <p:cNvSpPr/>
          <p:nvPr/>
        </p:nvSpPr>
        <p:spPr>
          <a:xfrm>
            <a:off x="756000" y="3947165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1" name="주요성과 라벨"/>
          <p:cNvSpPr>
            <a:spLocks noGrp="1"/>
          </p:cNvSpPr>
          <p:nvPr>
            <p:ph type="body" sz="quarter" idx="43"/>
          </p:nvPr>
        </p:nvSpPr>
        <p:spPr>
          <a:xfrm>
            <a:off x="756000" y="394716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62" name="주요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3930730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예방감사관·면책조력자 참여 활성화 ➡ 사전컨설팅(18건) 및 적극행정 면책(5건) 지원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감사원 「사전컨설팅 콘테스트」 ‘대상’ 수상(3년 연속 1등 달성)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3 서사 · 신 공공서비스(추진배경 → 하천 러닝코스 → 댐 관광 스펙트럼 →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81200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8120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644132" y="920348"/>
            <a:ext cx="410842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644132" y="766957"/>
            <a:ext cx="519273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자체 인프라 활용으로 국민에게 일상의 쉼표를 선사하는 新공공서비스</a:t>
            </a:r>
          </a:p>
        </p:txBody>
      </p:sp>
      <p:sp>
        <p:nvSpPr>
          <p:cNvPr id="15" name="태그칩"/>
          <p:cNvSpPr/>
          <p:nvPr/>
        </p:nvSpPr>
        <p:spPr>
          <a:xfrm>
            <a:off x="5851170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851170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1695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물관리 역량을 기반으로, 국민 생활편의 향상에 집중 ➡ 요금동결·감면, 고독자 사회안전망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공공기관도 트렌드를 주도하는 시대 자체 인프라 활용 新 서비스 분야를 개척</a:t>
            </a:r>
          </a:p>
        </p:txBody>
      </p:sp>
      <p:cxnSp>
        <p:nvCxnSpPr>
          <p:cNvPr id="22" name="Connector 15"/>
          <p:cNvCxnSpPr/>
          <p:nvPr/>
        </p:nvCxnSpPr>
        <p:spPr>
          <a:xfrm>
            <a:off x="3985435" y="11230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492904"/>
            <a:ext cx="580696" cy="1238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 태그"/>
          <p:cNvSpPr/>
          <p:nvPr/>
        </p:nvSpPr>
        <p:spPr>
          <a:xfrm>
            <a:off x="558376" y="16572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레일 태그"/>
          <p:cNvSpPr>
            <a:spLocks noGrp="1"/>
          </p:cNvSpPr>
          <p:nvPr>
            <p:ph type="body" sz="quarter" idx="27"/>
          </p:nvPr>
        </p:nvSpPr>
        <p:spPr>
          <a:xfrm>
            <a:off x="558376" y="16572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하천활용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28"/>
          </p:nvPr>
        </p:nvSpPr>
        <p:spPr>
          <a:xfrm>
            <a:off x="547826" y="1843513"/>
            <a:ext cx="580696" cy="865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국민사랑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러닝코스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"/>
          <p:cNvSpPr/>
          <p:nvPr/>
        </p:nvSpPr>
        <p:spPr>
          <a:xfrm>
            <a:off x="1161391" y="151481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코스 선정</a:t>
            </a:r>
          </a:p>
        </p:txBody>
      </p:sp>
      <p:sp>
        <p:nvSpPr>
          <p:cNvPr id="30" name="단계"/>
          <p:cNvSpPr/>
          <p:nvPr/>
        </p:nvSpPr>
        <p:spPr>
          <a:xfrm>
            <a:off x="3044087" y="151481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3044087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러닝코스 디자인</a:t>
            </a:r>
          </a:p>
        </p:txBody>
      </p:sp>
      <p:sp>
        <p:nvSpPr>
          <p:cNvPr id="32" name="단계"/>
          <p:cNvSpPr/>
          <p:nvPr/>
        </p:nvSpPr>
        <p:spPr>
          <a:xfrm>
            <a:off x="4926783" y="151481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4926783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하천 러닝 활성화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044086" y="151481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4926782" y="15148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니즈 수집, 하천현장 조사 등 대상지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보 인접 자전거 종주길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전문가로 구성된 디자인팀이 만드는 RiverRun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국민디자인단, 러닝크루 참여</a:t>
            </a:r>
          </a:p>
        </p:txBody>
      </p:sp>
      <p:cxnSp>
        <p:nvCxnSpPr>
          <p:cNvPr id="38" name="Connector 27"/>
          <p:cNvCxnSpPr/>
          <p:nvPr/>
        </p:nvCxnSpPr>
        <p:spPr>
          <a:xfrm>
            <a:off x="3044087" y="1799687"/>
            <a:ext cx="0" cy="89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대표서비스로 자리잡을 수 있도록 지원 서비스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편의성 러닝 편의 기반 노면정비 / 홍보 구간 포토존 / 안전 경사 안내판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4926783" y="1799687"/>
            <a:ext cx="0" cy="89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주요성과 박스"/>
          <p:cNvSpPr/>
          <p:nvPr/>
        </p:nvSpPr>
        <p:spPr>
          <a:xfrm>
            <a:off x="536870" y="2824122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주요성과 라벨"/>
          <p:cNvSpPr/>
          <p:nvPr/>
        </p:nvSpPr>
        <p:spPr>
          <a:xfrm>
            <a:off x="569739" y="2856991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3" name="주요성과 라벨"/>
          <p:cNvSpPr>
            <a:spLocks noGrp="1"/>
          </p:cNvSpPr>
          <p:nvPr>
            <p:ph type="body" sz="quarter" idx="35"/>
          </p:nvPr>
        </p:nvSpPr>
        <p:spPr>
          <a:xfrm>
            <a:off x="569739" y="285699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44" name="주요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2840557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재경부 국민체감 대국민서비스 과제 선정(’25.9)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* 리버런 참여자 1800명, 만족도 99% 달성</a:t>
            </a:r>
          </a:p>
        </p:txBody>
      </p:sp>
      <p:sp>
        <p:nvSpPr>
          <p:cNvPr id="45" name="표 외곽"/>
          <p:cNvSpPr/>
          <p:nvPr/>
        </p:nvSpPr>
        <p:spPr>
          <a:xfrm>
            <a:off x="536870" y="3392296"/>
            <a:ext cx="6300000" cy="1490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"/>
          <p:cNvSpPr/>
          <p:nvPr/>
        </p:nvSpPr>
        <p:spPr>
          <a:xfrm>
            <a:off x="547826" y="3408730"/>
            <a:ext cx="580696" cy="1457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 태그"/>
          <p:cNvSpPr/>
          <p:nvPr/>
        </p:nvSpPr>
        <p:spPr>
          <a:xfrm>
            <a:off x="598624" y="3452557"/>
            <a:ext cx="47909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레일 태그"/>
          <p:cNvSpPr>
            <a:spLocks noGrp="1"/>
          </p:cNvSpPr>
          <p:nvPr>
            <p:ph type="body" sz="quarter" idx="37"/>
          </p:nvPr>
        </p:nvSpPr>
        <p:spPr>
          <a:xfrm>
            <a:off x="598624" y="3452557"/>
            <a:ext cx="47909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활용</a:t>
            </a:r>
          </a:p>
        </p:txBody>
      </p:sp>
      <p:sp>
        <p:nvSpPr>
          <p:cNvPr id="49" name="레일 라벨"/>
          <p:cNvSpPr>
            <a:spLocks noGrp="1"/>
          </p:cNvSpPr>
          <p:nvPr>
            <p:ph type="body" sz="quarter" idx="38"/>
          </p:nvPr>
        </p:nvSpPr>
        <p:spPr>
          <a:xfrm>
            <a:off x="547826" y="3638817"/>
            <a:ext cx="580696" cy="120521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스펙트럼</a:t>
            </a:r>
          </a:p>
        </p:txBody>
      </p:sp>
      <p:sp>
        <p:nvSpPr>
          <p:cNvPr id="50" name="단계"/>
          <p:cNvSpPr/>
          <p:nvPr/>
        </p:nvSpPr>
        <p:spPr>
          <a:xfrm>
            <a:off x="1161391" y="34306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협업체계 확립</a:t>
            </a:r>
          </a:p>
        </p:txBody>
      </p:sp>
      <p:sp>
        <p:nvSpPr>
          <p:cNvPr id="52" name="단계"/>
          <p:cNvSpPr/>
          <p:nvPr/>
        </p:nvSpPr>
        <p:spPr>
          <a:xfrm>
            <a:off x="3044087" y="34306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3044087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대상지 선정</a:t>
            </a:r>
          </a:p>
        </p:txBody>
      </p:sp>
      <p:sp>
        <p:nvSpPr>
          <p:cNvPr id="54" name="단계"/>
          <p:cNvSpPr/>
          <p:nvPr/>
        </p:nvSpPr>
        <p:spPr>
          <a:xfrm>
            <a:off x="4926783" y="34306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4926783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관광상품 기획</a:t>
            </a:r>
          </a:p>
        </p:txBody>
      </p:sp>
      <p:sp>
        <p:nvSpPr>
          <p:cNvPr id="56" name="단계 삼각형"/>
          <p:cNvSpPr/>
          <p:nvPr/>
        </p:nvSpPr>
        <p:spPr>
          <a:xfrm>
            <a:off x="3044086" y="34306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단계 삼각형"/>
          <p:cNvSpPr/>
          <p:nvPr/>
        </p:nvSpPr>
        <p:spPr>
          <a:xfrm>
            <a:off x="4926782" y="34306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↔ K-water ↔ 철도공사 협의체 구축(’25.2)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지역 관광자원 제공 / K-water 프로그램 기획 / 철도공사 관광상품 기획·컨설팅·홍보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055043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여행 상품 개발 위한 데이터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인구감소지역 소재 댐(14개소) → 데이터 정밀분석 → 시범사업 대상 ‘영주댐’ 선정</a:t>
            </a:r>
          </a:p>
        </p:txBody>
      </p:sp>
      <p:cxnSp>
        <p:nvCxnSpPr>
          <p:cNvPr id="60" name="Connector 44"/>
          <p:cNvCxnSpPr/>
          <p:nvPr/>
        </p:nvCxnSpPr>
        <p:spPr>
          <a:xfrm>
            <a:off x="3044087" y="3715513"/>
            <a:ext cx="0" cy="111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4937739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댐·철도 영주댐 기차여행 상품 런칭(’25.5)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역사탐방 · 관광지투어 · 프로모션</a:t>
            </a:r>
          </a:p>
        </p:txBody>
      </p:sp>
      <p:cxnSp>
        <p:nvCxnSpPr>
          <p:cNvPr id="62" name="Connector 46"/>
          <p:cNvCxnSpPr/>
          <p:nvPr/>
        </p:nvCxnSpPr>
        <p:spPr>
          <a:xfrm>
            <a:off x="4926783" y="3715513"/>
            <a:ext cx="0" cy="111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주요성과 박스"/>
          <p:cNvSpPr/>
          <p:nvPr/>
        </p:nvSpPr>
        <p:spPr>
          <a:xfrm>
            <a:off x="536870" y="4959078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주요성과 라벨"/>
          <p:cNvSpPr/>
          <p:nvPr/>
        </p:nvSpPr>
        <p:spPr>
          <a:xfrm>
            <a:off x="569739" y="4991948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주요성과 라벨"/>
          <p:cNvSpPr>
            <a:spLocks noGrp="1"/>
          </p:cNvSpPr>
          <p:nvPr>
            <p:ph type="body" sz="quarter" idx="45"/>
          </p:nvPr>
        </p:nvSpPr>
        <p:spPr>
          <a:xfrm>
            <a:off x="569739" y="4991948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66" name="주요성과 문구"/>
          <p:cNvSpPr>
            <a:spLocks noGrp="1"/>
          </p:cNvSpPr>
          <p:nvPr>
            <p:ph type="body" sz="quarter" idx="46"/>
          </p:nvPr>
        </p:nvSpPr>
        <p:spPr>
          <a:xfrm>
            <a:off x="1314783" y="497551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댐 주변 지역 매력도 어필, 영주댐 첫 상품 31명 판매, 추가런칭 섬진강·밀양댐 170명 판매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4 서사 · 환경진단 → 기존 해석 → 설립목적 재정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출범에 따른 중장기 전략 기본 나침반 재설정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형광 밑줄"/>
          <p:cNvSpPr/>
          <p:nvPr/>
        </p:nvSpPr>
        <p:spPr>
          <a:xfrm>
            <a:off x="723130" y="1358609"/>
            <a:ext cx="303701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소제목"/>
          <p:cNvSpPr>
            <a:spLocks noGrp="1"/>
          </p:cNvSpPr>
          <p:nvPr>
            <p:ph type="body" sz="quarter" idx="23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경영환경 변화와 국정과제 기반 설립목적 재정의</a:t>
            </a:r>
          </a:p>
        </p:txBody>
      </p:sp>
      <p:sp>
        <p:nvSpPr>
          <p:cNvPr id="18" name="패널 외곽"/>
          <p:cNvSpPr/>
          <p:nvPr/>
        </p:nvSpPr>
        <p:spPr>
          <a:xfrm>
            <a:off x="723130" y="1512000"/>
            <a:ext cx="6300000" cy="2640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22957"/>
            <a:ext cx="580696" cy="2618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22957"/>
            <a:ext cx="580696" cy="261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21" name="소제목 띠"/>
          <p:cNvSpPr/>
          <p:nvPr/>
        </p:nvSpPr>
        <p:spPr>
          <a:xfrm>
            <a:off x="1369565" y="1544870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띠 제목"/>
          <p:cNvSpPr>
            <a:spLocks noGrp="1"/>
          </p:cNvSpPr>
          <p:nvPr>
            <p:ph type="body" sz="quarter" idx="25"/>
          </p:nvPr>
        </p:nvSpPr>
        <p:spPr>
          <a:xfrm>
            <a:off x="1643478" y="1544870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기후재난의 현실화</a:t>
            </a:r>
          </a:p>
        </p:txBody>
      </p:sp>
      <p:sp>
        <p:nvSpPr>
          <p:cNvPr id="23" name="아이콘 칸"/>
          <p:cNvSpPr/>
          <p:nvPr/>
        </p:nvSpPr>
        <p:spPr>
          <a:xfrm>
            <a:off x="1391478" y="1566783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24" name="소제목 띠"/>
          <p:cNvSpPr/>
          <p:nvPr/>
        </p:nvSpPr>
        <p:spPr>
          <a:xfrm>
            <a:off x="4886609" y="1544870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1080000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띠 제목"/>
          <p:cNvSpPr>
            <a:spLocks noGrp="1"/>
          </p:cNvSpPr>
          <p:nvPr>
            <p:ph type="body" sz="quarter" idx="26"/>
          </p:nvPr>
        </p:nvSpPr>
        <p:spPr>
          <a:xfrm>
            <a:off x="4919478" y="1544870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 핵심 국정과제</a:t>
            </a:r>
          </a:p>
        </p:txBody>
      </p:sp>
      <p:sp>
        <p:nvSpPr>
          <p:cNvPr id="26" name="아이콘 칸"/>
          <p:cNvSpPr/>
          <p:nvPr/>
        </p:nvSpPr>
        <p:spPr>
          <a:xfrm>
            <a:off x="6771130" y="1566783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7"/>
          </p:nvPr>
        </p:nvSpPr>
        <p:spPr>
          <a:xfrm>
            <a:off x="1369565" y="182973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한계선 돌파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상승 전망치 보충 문구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가뭄·홍수 빈번·심화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관리 복잡성·불확실성 가중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4886609" y="182973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구축·재생e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AI 강국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핵심 전략산업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공공기관의 선도적 역할 당부</a:t>
            </a:r>
          </a:p>
        </p:txBody>
      </p:sp>
      <p:sp>
        <p:nvSpPr>
          <p:cNvPr id="29" name="사진 칸"/>
          <p:cNvSpPr/>
          <p:nvPr/>
        </p:nvSpPr>
        <p:spPr>
          <a:xfrm>
            <a:off x="3506087" y="170921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0" name="사진 칸"/>
          <p:cNvSpPr>
            <a:spLocks noGrp="1"/>
          </p:cNvSpPr>
          <p:nvPr>
            <p:ph type="body" sz="quarter" idx="29"/>
          </p:nvPr>
        </p:nvSpPr>
        <p:spPr>
          <a:xfrm>
            <a:off x="3506087" y="170921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1" name="태그"/>
          <p:cNvSpPr/>
          <p:nvPr/>
        </p:nvSpPr>
        <p:spPr>
          <a:xfrm>
            <a:off x="3571826" y="1577739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3571826" y="1577739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33" name="사진 칸"/>
          <p:cNvSpPr/>
          <p:nvPr/>
        </p:nvSpPr>
        <p:spPr>
          <a:xfrm>
            <a:off x="4190870" y="170921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4" name="사진 칸"/>
          <p:cNvSpPr>
            <a:spLocks noGrp="1"/>
          </p:cNvSpPr>
          <p:nvPr>
            <p:ph type="body" sz="quarter" idx="31"/>
          </p:nvPr>
        </p:nvSpPr>
        <p:spPr>
          <a:xfrm>
            <a:off x="4190870" y="170921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5" name="태그"/>
          <p:cNvSpPr/>
          <p:nvPr/>
        </p:nvSpPr>
        <p:spPr>
          <a:xfrm>
            <a:off x="4256609" y="1577739"/>
            <a:ext cx="71695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4256609" y="1577739"/>
            <a:ext cx="71695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</a:t>
            </a:r>
          </a:p>
        </p:txBody>
      </p:sp>
      <p:cxnSp>
        <p:nvCxnSpPr>
          <p:cNvPr id="37" name="Connector 25"/>
          <p:cNvCxnSpPr/>
          <p:nvPr/>
        </p:nvCxnSpPr>
        <p:spPr>
          <a:xfrm>
            <a:off x="1369565" y="2793913"/>
            <a:ext cx="5620696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삼각 화살표"/>
          <p:cNvSpPr/>
          <p:nvPr/>
        </p:nvSpPr>
        <p:spPr>
          <a:xfrm>
            <a:off x="2366608" y="2761043"/>
            <a:ext cx="131478" cy="65739"/>
          </a:xfrm>
          <a:custGeom>
            <a:avLst/>
            <a:gdLst/>
            <a:ahLst/>
            <a:cxnLst/>
            <a:rect l="l" t="t" r="r" b="b"/>
            <a:pathLst>
              <a:path w="131478" h="65739">
                <a:moveTo>
                  <a:pt x="0" y="0"/>
                </a:moveTo>
                <a:lnTo>
                  <a:pt x="131478" y="0"/>
                </a:lnTo>
                <a:lnTo>
                  <a:pt x="65739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삼각 화살표"/>
          <p:cNvSpPr/>
          <p:nvPr/>
        </p:nvSpPr>
        <p:spPr>
          <a:xfrm>
            <a:off x="5861739" y="2761043"/>
            <a:ext cx="131478" cy="65739"/>
          </a:xfrm>
          <a:custGeom>
            <a:avLst/>
            <a:gdLst/>
            <a:ahLst/>
            <a:cxnLst/>
            <a:rect l="l" t="t" r="r" b="b"/>
            <a:pathLst>
              <a:path w="131478" h="65739">
                <a:moveTo>
                  <a:pt x="0" y="0"/>
                </a:moveTo>
                <a:lnTo>
                  <a:pt x="131478" y="0"/>
                </a:lnTo>
                <a:lnTo>
                  <a:pt x="65739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소제목 띠"/>
          <p:cNvSpPr/>
          <p:nvPr/>
        </p:nvSpPr>
        <p:spPr>
          <a:xfrm>
            <a:off x="1369565" y="2837739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띠 제목"/>
          <p:cNvSpPr>
            <a:spLocks noGrp="1"/>
          </p:cNvSpPr>
          <p:nvPr>
            <p:ph type="body" sz="quarter" idx="33"/>
          </p:nvPr>
        </p:nvSpPr>
        <p:spPr>
          <a:xfrm>
            <a:off x="1643478" y="2837739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초가속 성장 + 물 수요 급증</a:t>
            </a:r>
          </a:p>
        </p:txBody>
      </p:sp>
      <p:sp>
        <p:nvSpPr>
          <p:cNvPr id="42" name="아이콘 칸"/>
          <p:cNvSpPr/>
          <p:nvPr/>
        </p:nvSpPr>
        <p:spPr>
          <a:xfrm>
            <a:off x="1391478" y="2859652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3" name="소제목 띠"/>
          <p:cNvSpPr/>
          <p:nvPr/>
        </p:nvSpPr>
        <p:spPr>
          <a:xfrm>
            <a:off x="4886609" y="2837739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1080000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띠 제목"/>
          <p:cNvSpPr>
            <a:spLocks noGrp="1"/>
          </p:cNvSpPr>
          <p:nvPr>
            <p:ph type="body" sz="quarter" idx="34"/>
          </p:nvPr>
        </p:nvSpPr>
        <p:spPr>
          <a:xfrm>
            <a:off x="4919478" y="2837739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공공기관 혁신 방향</a:t>
            </a:r>
          </a:p>
        </p:txBody>
      </p:sp>
      <p:sp>
        <p:nvSpPr>
          <p:cNvPr id="45" name="아이콘 칸"/>
          <p:cNvSpPr/>
          <p:nvPr/>
        </p:nvSpPr>
        <p:spPr>
          <a:xfrm>
            <a:off x="6771130" y="2859652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5"/>
          </p:nvPr>
        </p:nvSpPr>
        <p:spPr>
          <a:xfrm>
            <a:off x="1369565" y="312260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 사용량 폭증 전망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반도체 산단, 데이터센터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물산업에도 AI 활용 확대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6"/>
          </p:nvPr>
        </p:nvSpPr>
        <p:spPr>
          <a:xfrm>
            <a:off x="4886609" y="312260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‘성장과 민생에 기여하는 혁신’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본연의 역할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윤리·ESG·안전경영 강화</a:t>
            </a:r>
          </a:p>
        </p:txBody>
      </p:sp>
      <p:sp>
        <p:nvSpPr>
          <p:cNvPr id="48" name="사진 칸"/>
          <p:cNvSpPr/>
          <p:nvPr/>
        </p:nvSpPr>
        <p:spPr>
          <a:xfrm>
            <a:off x="3506087" y="300208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9" name="사진 칸"/>
          <p:cNvSpPr>
            <a:spLocks noGrp="1"/>
          </p:cNvSpPr>
          <p:nvPr>
            <p:ph type="body" sz="quarter" idx="37"/>
          </p:nvPr>
        </p:nvSpPr>
        <p:spPr>
          <a:xfrm>
            <a:off x="3506087" y="300208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0" name="태그"/>
          <p:cNvSpPr/>
          <p:nvPr/>
        </p:nvSpPr>
        <p:spPr>
          <a:xfrm>
            <a:off x="3571826" y="2870609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태그"/>
          <p:cNvSpPr>
            <a:spLocks noGrp="1"/>
          </p:cNvSpPr>
          <p:nvPr>
            <p:ph type="body" sz="quarter" idx="38"/>
          </p:nvPr>
        </p:nvSpPr>
        <p:spPr>
          <a:xfrm>
            <a:off x="3571826" y="2870609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산업동향</a:t>
            </a:r>
          </a:p>
        </p:txBody>
      </p:sp>
      <p:sp>
        <p:nvSpPr>
          <p:cNvPr id="52" name="사진 칸"/>
          <p:cNvSpPr/>
          <p:nvPr/>
        </p:nvSpPr>
        <p:spPr>
          <a:xfrm>
            <a:off x="4190870" y="300208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3" name="사진 칸"/>
          <p:cNvSpPr>
            <a:spLocks noGrp="1"/>
          </p:cNvSpPr>
          <p:nvPr>
            <p:ph type="body" sz="quarter" idx="39"/>
          </p:nvPr>
        </p:nvSpPr>
        <p:spPr>
          <a:xfrm>
            <a:off x="4190870" y="300208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4" name="태그"/>
          <p:cNvSpPr/>
          <p:nvPr/>
        </p:nvSpPr>
        <p:spPr>
          <a:xfrm>
            <a:off x="4256609" y="2870609"/>
            <a:ext cx="797448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태그"/>
          <p:cNvSpPr>
            <a:spLocks noGrp="1"/>
          </p:cNvSpPr>
          <p:nvPr>
            <p:ph type="body" sz="quarter" idx="40"/>
          </p:nvPr>
        </p:nvSpPr>
        <p:spPr>
          <a:xfrm>
            <a:off x="4256609" y="2870609"/>
            <a:ext cx="797448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바라는 기업상</a:t>
            </a:r>
          </a:p>
        </p:txBody>
      </p:sp>
      <p:sp>
        <p:nvSpPr>
          <p:cNvPr id="56" name="배너"/>
          <p:cNvSpPr/>
          <p:nvPr/>
        </p:nvSpPr>
        <p:spPr>
          <a:xfrm>
            <a:off x="723130" y="4196347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942261" y="4251130"/>
            <a:ext cx="520732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1"/>
          </p:nvPr>
        </p:nvSpPr>
        <p:spPr>
          <a:xfrm>
            <a:off x="942261" y="4251130"/>
            <a:ext cx="520732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Insight</a:t>
            </a:r>
          </a:p>
        </p:txBody>
      </p:sp>
      <p:sp>
        <p:nvSpPr>
          <p:cNvPr id="59" name="배너 글"/>
          <p:cNvSpPr>
            <a:spLocks noGrp="1"/>
          </p:cNvSpPr>
          <p:nvPr>
            <p:ph type="body" sz="quarter" idx="42"/>
          </p:nvPr>
        </p:nvSpPr>
        <p:spPr>
          <a:xfrm>
            <a:off x="1517775" y="4196348"/>
            <a:ext cx="5341007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복합적 환경변화와 시대적 요구 부응을 위해 ‘기관의 정체성’ 재정의 필요</a:t>
            </a:r>
          </a:p>
        </p:txBody>
      </p:sp>
      <p:sp>
        <p:nvSpPr>
          <p:cNvPr id="60" name="틀"/>
          <p:cNvSpPr/>
          <p:nvPr/>
        </p:nvSpPr>
        <p:spPr>
          <a:xfrm>
            <a:off x="723130" y="4536000"/>
            <a:ext cx="6300000" cy="3067826"/>
          </a:xfrm>
          <a:prstGeom prst="rect">
            <a:avLst/>
          </a:prstGeom>
          <a:solidFill>
            <a:srgbClr val="EFF9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상단 칸"/>
          <p:cNvSpPr/>
          <p:nvPr/>
        </p:nvSpPr>
        <p:spPr>
          <a:xfrm>
            <a:off x="1369565" y="4568870"/>
            <a:ext cx="270078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2" name="상단 칸"/>
          <p:cNvSpPr>
            <a:spLocks noGrp="1"/>
          </p:cNvSpPr>
          <p:nvPr>
            <p:ph type="body" sz="quarter" idx="43"/>
          </p:nvPr>
        </p:nvSpPr>
        <p:spPr>
          <a:xfrm>
            <a:off x="1369565" y="4568870"/>
            <a:ext cx="270078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 근거 법률 제1조(목적)</a:t>
            </a:r>
          </a:p>
        </p:txBody>
      </p:sp>
      <p:sp>
        <p:nvSpPr>
          <p:cNvPr id="63" name="상단 칸"/>
          <p:cNvSpPr/>
          <p:nvPr/>
        </p:nvSpPr>
        <p:spPr>
          <a:xfrm>
            <a:off x="4289478" y="4568870"/>
            <a:ext cx="270078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4" name="상단 칸"/>
          <p:cNvSpPr>
            <a:spLocks noGrp="1"/>
          </p:cNvSpPr>
          <p:nvPr>
            <p:ph type="body" sz="quarter" idx="44"/>
          </p:nvPr>
        </p:nvSpPr>
        <p:spPr>
          <a:xfrm>
            <a:off x="4289478" y="4568870"/>
            <a:ext cx="270078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정관 제2조(목적)</a:t>
            </a:r>
          </a:p>
        </p:txBody>
      </p:sp>
      <p:sp>
        <p:nvSpPr>
          <p:cNvPr id="65" name="더하기"/>
          <p:cNvSpPr/>
          <p:nvPr/>
        </p:nvSpPr>
        <p:spPr>
          <a:xfrm>
            <a:off x="4081304" y="4579826"/>
            <a:ext cx="197217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6" name="더하기"/>
          <p:cNvSpPr>
            <a:spLocks noGrp="1"/>
          </p:cNvSpPr>
          <p:nvPr>
            <p:ph type="body" sz="quarter" idx="45"/>
          </p:nvPr>
        </p:nvSpPr>
        <p:spPr>
          <a:xfrm>
            <a:off x="4081304" y="4579826"/>
            <a:ext cx="197217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+</a:t>
            </a:r>
          </a:p>
        </p:txBody>
      </p:sp>
      <p:sp>
        <p:nvSpPr>
          <p:cNvPr id="67" name="레일"/>
          <p:cNvSpPr/>
          <p:nvPr/>
        </p:nvSpPr>
        <p:spPr>
          <a:xfrm>
            <a:off x="734087" y="4809913"/>
            <a:ext cx="580696" cy="1095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4809913"/>
            <a:ext cx="580696" cy="1095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해석</a:t>
            </a:r>
          </a:p>
        </p:txBody>
      </p:sp>
      <p:sp>
        <p:nvSpPr>
          <p:cNvPr id="69" name="카드"/>
          <p:cNvSpPr/>
          <p:nvPr/>
        </p:nvSpPr>
        <p:spPr>
          <a:xfrm>
            <a:off x="1369565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아이콘 칸"/>
          <p:cNvSpPr/>
          <p:nvPr/>
        </p:nvSpPr>
        <p:spPr>
          <a:xfrm>
            <a:off x="1402435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1" name="카드 글"/>
          <p:cNvSpPr>
            <a:spLocks noGrp="1"/>
          </p:cNvSpPr>
          <p:nvPr>
            <p:ph type="body" sz="quarter" idx="47"/>
          </p:nvPr>
        </p:nvSpPr>
        <p:spPr>
          <a:xfrm>
            <a:off x="1851652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수자원의
종합적 개발관리</a:t>
            </a:r>
          </a:p>
        </p:txBody>
      </p:sp>
      <p:sp>
        <p:nvSpPr>
          <p:cNvPr id="72" name="카드"/>
          <p:cNvSpPr/>
          <p:nvPr/>
        </p:nvSpPr>
        <p:spPr>
          <a:xfrm>
            <a:off x="3250435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아이콘 칸"/>
          <p:cNvSpPr/>
          <p:nvPr/>
        </p:nvSpPr>
        <p:spPr>
          <a:xfrm>
            <a:off x="3283304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4" name="카드 글"/>
          <p:cNvSpPr>
            <a:spLocks noGrp="1"/>
          </p:cNvSpPr>
          <p:nvPr>
            <p:ph type="body" sz="quarter" idx="48"/>
          </p:nvPr>
        </p:nvSpPr>
        <p:spPr>
          <a:xfrm>
            <a:off x="3732522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안정적 용수공급
및 수질개선</a:t>
            </a:r>
          </a:p>
        </p:txBody>
      </p:sp>
      <p:sp>
        <p:nvSpPr>
          <p:cNvPr id="75" name="카드"/>
          <p:cNvSpPr/>
          <p:nvPr/>
        </p:nvSpPr>
        <p:spPr>
          <a:xfrm>
            <a:off x="5131304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아이콘 칸"/>
          <p:cNvSpPr/>
          <p:nvPr/>
        </p:nvSpPr>
        <p:spPr>
          <a:xfrm>
            <a:off x="5164174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7" name="카드 글"/>
          <p:cNvSpPr>
            <a:spLocks noGrp="1"/>
          </p:cNvSpPr>
          <p:nvPr>
            <p:ph type="body" sz="quarter" idx="49"/>
          </p:nvPr>
        </p:nvSpPr>
        <p:spPr>
          <a:xfrm>
            <a:off x="5613391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국민생활 향상
및 공공복리 증진</a:t>
            </a:r>
          </a:p>
        </p:txBody>
      </p:sp>
      <p:sp>
        <p:nvSpPr>
          <p:cNvPr id="78" name="설명 글"/>
          <p:cNvSpPr>
            <a:spLocks noGrp="1"/>
          </p:cNvSpPr>
          <p:nvPr>
            <p:ph type="body" sz="quarter" idx="50"/>
          </p:nvPr>
        </p:nvSpPr>
        <p:spPr>
          <a:xfrm>
            <a:off x="1369565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물문제 주도적 해결 및
선제적 대응방안 모색</a:t>
            </a:r>
          </a:p>
        </p:txBody>
      </p:sp>
      <p:sp>
        <p:nvSpPr>
          <p:cNvPr id="79" name="설명 글"/>
          <p:cNvSpPr>
            <a:spLocks noGrp="1"/>
          </p:cNvSpPr>
          <p:nvPr>
            <p:ph type="body" sz="quarter" idx="51"/>
          </p:nvPr>
        </p:nvSpPr>
        <p:spPr>
          <a:xfrm>
            <a:off x="3250435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국민·지역·산업에 연계
안정적 용수 제공</a:t>
            </a:r>
          </a:p>
        </p:txBody>
      </p:sp>
      <p:cxnSp>
        <p:nvCxnSpPr>
          <p:cNvPr id="80" name="Connector 59"/>
          <p:cNvCxnSpPr/>
          <p:nvPr/>
        </p:nvCxnSpPr>
        <p:spPr>
          <a:xfrm>
            <a:off x="3239478" y="545634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설명 글"/>
          <p:cNvSpPr>
            <a:spLocks noGrp="1"/>
          </p:cNvSpPr>
          <p:nvPr>
            <p:ph type="body" sz="quarter" idx="52"/>
          </p:nvPr>
        </p:nvSpPr>
        <p:spPr>
          <a:xfrm>
            <a:off x="5131304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산업 생태계 육성, 안전·
사회적 책임 경영 선도</a:t>
            </a:r>
          </a:p>
        </p:txBody>
      </p:sp>
      <p:cxnSp>
        <p:nvCxnSpPr>
          <p:cNvPr id="82" name="Connector 61"/>
          <p:cNvCxnSpPr/>
          <p:nvPr/>
        </p:nvCxnSpPr>
        <p:spPr>
          <a:xfrm>
            <a:off x="5120348" y="545634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레일"/>
          <p:cNvSpPr/>
          <p:nvPr/>
        </p:nvSpPr>
        <p:spPr>
          <a:xfrm>
            <a:off x="734087" y="5927478"/>
            <a:ext cx="580696" cy="712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3"/>
          </p:nvPr>
        </p:nvSpPr>
        <p:spPr>
          <a:xfrm>
            <a:off x="734087" y="5927478"/>
            <a:ext cx="580696" cy="712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필요성</a:t>
            </a:r>
          </a:p>
        </p:txBody>
      </p:sp>
      <p:sp>
        <p:nvSpPr>
          <p:cNvPr id="85" name="열 머리"/>
          <p:cNvSpPr/>
          <p:nvPr/>
        </p:nvSpPr>
        <p:spPr>
          <a:xfrm>
            <a:off x="1369565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6" name="열 머리"/>
          <p:cNvSpPr>
            <a:spLocks noGrp="1"/>
          </p:cNvSpPr>
          <p:nvPr>
            <p:ph type="body" sz="quarter" idx="54"/>
          </p:nvPr>
        </p:nvSpPr>
        <p:spPr>
          <a:xfrm>
            <a:off x="1369565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＋ 재생e 100GW</a:t>
            </a:r>
          </a:p>
        </p:txBody>
      </p:sp>
      <p:sp>
        <p:nvSpPr>
          <p:cNvPr id="87" name="열 머리"/>
          <p:cNvSpPr/>
          <p:nvPr/>
        </p:nvSpPr>
        <p:spPr>
          <a:xfrm>
            <a:off x="3250435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8" name="열 머리"/>
          <p:cNvSpPr>
            <a:spLocks noGrp="1"/>
          </p:cNvSpPr>
          <p:nvPr>
            <p:ph type="body" sz="quarter" idx="55"/>
          </p:nvPr>
        </p:nvSpPr>
        <p:spPr>
          <a:xfrm>
            <a:off x="3250435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반도체 수출 1,700억불</a:t>
            </a:r>
          </a:p>
        </p:txBody>
      </p:sp>
      <p:sp>
        <p:nvSpPr>
          <p:cNvPr id="89" name="열 머리"/>
          <p:cNvSpPr/>
          <p:nvPr/>
        </p:nvSpPr>
        <p:spPr>
          <a:xfrm>
            <a:off x="5131304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90" name="열 머리"/>
          <p:cNvSpPr>
            <a:spLocks noGrp="1"/>
          </p:cNvSpPr>
          <p:nvPr>
            <p:ph type="body" sz="quarter" idx="56"/>
          </p:nvPr>
        </p:nvSpPr>
        <p:spPr>
          <a:xfrm>
            <a:off x="5131304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 전환 및 ESG·안전 최우선</a:t>
            </a:r>
          </a:p>
        </p:txBody>
      </p:sp>
      <p:sp>
        <p:nvSpPr>
          <p:cNvPr id="91" name="설명 글"/>
          <p:cNvSpPr>
            <a:spLocks noGrp="1"/>
          </p:cNvSpPr>
          <p:nvPr>
            <p:ph type="body" sz="quarter" idx="57"/>
          </p:nvPr>
        </p:nvSpPr>
        <p:spPr>
          <a:xfrm>
            <a:off x="1369565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기후변화 적응·완화를 위한
물관리 인프라 대전환 요구</a:t>
            </a:r>
          </a:p>
        </p:txBody>
      </p:sp>
      <p:sp>
        <p:nvSpPr>
          <p:cNvPr id="92" name="설명 글"/>
          <p:cNvSpPr>
            <a:spLocks noGrp="1"/>
          </p:cNvSpPr>
          <p:nvPr>
            <p:ph type="body" sz="quarter" idx="58"/>
          </p:nvPr>
        </p:nvSpPr>
        <p:spPr>
          <a:xfrm>
            <a:off x="3250435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AI 전환 등 다양한 첨단용수
폭발적 수요 적기 대응</a:t>
            </a:r>
          </a:p>
        </p:txBody>
      </p:sp>
      <p:cxnSp>
        <p:nvCxnSpPr>
          <p:cNvPr id="93" name="Connector 68"/>
          <p:cNvCxnSpPr/>
          <p:nvPr/>
        </p:nvCxnSpPr>
        <p:spPr>
          <a:xfrm>
            <a:off x="3239478" y="6190435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설명 글"/>
          <p:cNvSpPr>
            <a:spLocks noGrp="1"/>
          </p:cNvSpPr>
          <p:nvPr>
            <p:ph type="body" sz="quarter" idx="59"/>
          </p:nvPr>
        </p:nvSpPr>
        <p:spPr>
          <a:xfrm>
            <a:off x="5131304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기후테크 도약 교두보 필요
국민 눈높이 체질혁신</a:t>
            </a:r>
          </a:p>
        </p:txBody>
      </p:sp>
      <p:cxnSp>
        <p:nvCxnSpPr>
          <p:cNvPr id="95" name="Connector 70"/>
          <p:cNvCxnSpPr/>
          <p:nvPr/>
        </p:nvCxnSpPr>
        <p:spPr>
          <a:xfrm>
            <a:off x="5120348" y="6190435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레일"/>
          <p:cNvSpPr/>
          <p:nvPr/>
        </p:nvSpPr>
        <p:spPr>
          <a:xfrm>
            <a:off x="734087" y="6661565"/>
            <a:ext cx="580696" cy="635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7" name="레일"/>
          <p:cNvSpPr>
            <a:spLocks noGrp="1"/>
          </p:cNvSpPr>
          <p:nvPr>
            <p:ph type="body" sz="quarter" idx="60"/>
          </p:nvPr>
        </p:nvSpPr>
        <p:spPr>
          <a:xfrm>
            <a:off x="734087" y="6661565"/>
            <a:ext cx="580696" cy="635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설립목적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재정의</a:t>
            </a:r>
          </a:p>
        </p:txBody>
      </p:sp>
      <p:sp>
        <p:nvSpPr>
          <p:cNvPr id="98" name="카드"/>
          <p:cNvSpPr/>
          <p:nvPr/>
        </p:nvSpPr>
        <p:spPr>
          <a:xfrm>
            <a:off x="1369565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9" name="아이콘 칸"/>
          <p:cNvSpPr/>
          <p:nvPr/>
        </p:nvSpPr>
        <p:spPr>
          <a:xfrm>
            <a:off x="1402435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0" name="카드 글"/>
          <p:cNvSpPr>
            <a:spLocks noGrp="1"/>
          </p:cNvSpPr>
          <p:nvPr>
            <p:ph type="body" sz="quarter" idx="61"/>
          </p:nvPr>
        </p:nvSpPr>
        <p:spPr>
          <a:xfrm>
            <a:off x="1851652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기반 기후안전망
구축 및 에너지 전환</a:t>
            </a:r>
          </a:p>
        </p:txBody>
      </p:sp>
      <p:sp>
        <p:nvSpPr>
          <p:cNvPr id="101" name="카드"/>
          <p:cNvSpPr/>
          <p:nvPr/>
        </p:nvSpPr>
        <p:spPr>
          <a:xfrm>
            <a:off x="3250435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아이콘 칸"/>
          <p:cNvSpPr/>
          <p:nvPr/>
        </p:nvSpPr>
        <p:spPr>
          <a:xfrm>
            <a:off x="3283304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3" name="카드 글"/>
          <p:cNvSpPr>
            <a:spLocks noGrp="1"/>
          </p:cNvSpPr>
          <p:nvPr>
            <p:ph type="body" sz="quarter" idx="62"/>
          </p:nvPr>
        </p:nvSpPr>
        <p:spPr>
          <a:xfrm>
            <a:off x="3732522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첨단산업 성장 견인
고순도 산업용수 공급</a:t>
            </a:r>
          </a:p>
        </p:txBody>
      </p:sp>
      <p:sp>
        <p:nvSpPr>
          <p:cNvPr id="104" name="카드"/>
          <p:cNvSpPr/>
          <p:nvPr/>
        </p:nvSpPr>
        <p:spPr>
          <a:xfrm>
            <a:off x="5131304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아이콘 칸"/>
          <p:cNvSpPr/>
          <p:nvPr/>
        </p:nvSpPr>
        <p:spPr>
          <a:xfrm>
            <a:off x="5164174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6" name="카드 글"/>
          <p:cNvSpPr>
            <a:spLocks noGrp="1"/>
          </p:cNvSpPr>
          <p:nvPr>
            <p:ph type="body" sz="quarter" idx="63"/>
          </p:nvPr>
        </p:nvSpPr>
        <p:spPr>
          <a:xfrm>
            <a:off x="5613391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K-기후테크 육성 및
국민체감형 ESG·안전경영</a:t>
            </a:r>
          </a:p>
        </p:txBody>
      </p:sp>
      <p:sp>
        <p:nvSpPr>
          <p:cNvPr id="107" name="요약 바"/>
          <p:cNvSpPr/>
          <p:nvPr/>
        </p:nvSpPr>
        <p:spPr>
          <a:xfrm>
            <a:off x="1369565" y="7340870"/>
            <a:ext cx="5620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08" name="요약 바"/>
          <p:cNvSpPr>
            <a:spLocks noGrp="1"/>
          </p:cNvSpPr>
          <p:nvPr>
            <p:ph type="body" sz="quarter" idx="64"/>
          </p:nvPr>
        </p:nvSpPr>
        <p:spPr>
          <a:xfrm>
            <a:off x="1369565" y="7340870"/>
            <a:ext cx="5620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법상 설립목적에 더해 국정과제 및 미래성장을 선도하는 주체로 재정의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5 서사 · 이해관계자 재분류 → 가치전략 진단 → 체계 롤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238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사업별 이해관계자 재분류 및 기존 체계 유효성 검증</a:t>
            </a:r>
          </a:p>
        </p:txBody>
      </p:sp>
      <p:sp>
        <p:nvSpPr>
          <p:cNvPr id="12" name="패널 외곽"/>
          <p:cNvSpPr/>
          <p:nvPr/>
        </p:nvSpPr>
        <p:spPr>
          <a:xfrm>
            <a:off x="536870" y="1073739"/>
            <a:ext cx="6300000" cy="2498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547826" y="1084696"/>
            <a:ext cx="580696" cy="247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084696"/>
            <a:ext cx="580696" cy="247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재분류</a:t>
            </a:r>
          </a:p>
        </p:txBody>
      </p:sp>
      <p:sp>
        <p:nvSpPr>
          <p:cNvPr id="15" name="배너"/>
          <p:cNvSpPr/>
          <p:nvPr/>
        </p:nvSpPr>
        <p:spPr>
          <a:xfrm>
            <a:off x="1183304" y="1106609"/>
            <a:ext cx="5620696" cy="21913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6" name="배너"/>
          <p:cNvSpPr>
            <a:spLocks noGrp="1"/>
          </p:cNvSpPr>
          <p:nvPr>
            <p:ph type="body" sz="quarter" idx="22"/>
          </p:nvPr>
        </p:nvSpPr>
        <p:spPr>
          <a:xfrm>
            <a:off x="1183304" y="1106609"/>
            <a:ext cx="5620696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이해관계자를 수혜자 중심에서 전문·산업파트너까지 확장</a:t>
            </a:r>
          </a:p>
        </p:txBody>
      </p:sp>
      <p:sp>
        <p:nvSpPr>
          <p:cNvPr id="17" name="단계"/>
          <p:cNvSpPr/>
          <p:nvPr/>
        </p:nvSpPr>
        <p:spPr>
          <a:xfrm>
            <a:off x="1183304" y="1358609"/>
            <a:ext cx="1405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83304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 진단(5월)</a:t>
            </a:r>
          </a:p>
        </p:txBody>
      </p:sp>
      <p:sp>
        <p:nvSpPr>
          <p:cNvPr id="19" name="단계"/>
          <p:cNvSpPr/>
          <p:nvPr/>
        </p:nvSpPr>
        <p:spPr>
          <a:xfrm>
            <a:off x="2588478" y="1358609"/>
            <a:ext cx="1405174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2588478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의견수렴(5월)</a:t>
            </a:r>
          </a:p>
        </p:txBody>
      </p:sp>
      <p:sp>
        <p:nvSpPr>
          <p:cNvPr id="21" name="단계"/>
          <p:cNvSpPr/>
          <p:nvPr/>
        </p:nvSpPr>
        <p:spPr>
          <a:xfrm>
            <a:off x="3993652" y="1358609"/>
            <a:ext cx="1405174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3993652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컨설팅(6월)</a:t>
            </a:r>
          </a:p>
        </p:txBody>
      </p:sp>
      <p:sp>
        <p:nvSpPr>
          <p:cNvPr id="23" name="단계"/>
          <p:cNvSpPr/>
          <p:nvPr/>
        </p:nvSpPr>
        <p:spPr>
          <a:xfrm>
            <a:off x="5398826" y="1358609"/>
            <a:ext cx="1405174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5398826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재구성(7월)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2588478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 삼각형"/>
          <p:cNvSpPr/>
          <p:nvPr/>
        </p:nvSpPr>
        <p:spPr>
          <a:xfrm>
            <a:off x="3993652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5398826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카드"/>
          <p:cNvSpPr/>
          <p:nvPr/>
        </p:nvSpPr>
        <p:spPr>
          <a:xfrm>
            <a:off x="1183304" y="1632522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아이콘 칸"/>
          <p:cNvSpPr/>
          <p:nvPr/>
        </p:nvSpPr>
        <p:spPr>
          <a:xfrm>
            <a:off x="1216174" y="1676348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30" name="아이콘 칸"/>
          <p:cNvSpPr>
            <a:spLocks noGrp="1"/>
          </p:cNvSpPr>
          <p:nvPr>
            <p:ph type="body" sz="quarter" idx="27"/>
          </p:nvPr>
        </p:nvSpPr>
        <p:spPr>
          <a:xfrm>
            <a:off x="1216174" y="1676348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A</a:t>
            </a:r>
          </a:p>
        </p:txBody>
      </p:sp>
      <p:sp>
        <p:nvSpPr>
          <p:cNvPr id="31" name="구분 칩"/>
          <p:cNvSpPr/>
          <p:nvPr/>
        </p:nvSpPr>
        <p:spPr>
          <a:xfrm>
            <a:off x="1687304" y="167634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구분 칩"/>
          <p:cNvSpPr>
            <a:spLocks noGrp="1"/>
          </p:cNvSpPr>
          <p:nvPr>
            <p:ph type="body" sz="quarter" idx="28"/>
          </p:nvPr>
        </p:nvSpPr>
        <p:spPr>
          <a:xfrm>
            <a:off x="1687304" y="167634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33" name="칩 줄 글"/>
          <p:cNvSpPr>
            <a:spLocks noGrp="1"/>
          </p:cNvSpPr>
          <p:nvPr>
            <p:ph type="body" sz="quarter" idx="29"/>
          </p:nvPr>
        </p:nvSpPr>
        <p:spPr>
          <a:xfrm>
            <a:off x="2005043" y="167634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주변 주민·지자체</a:t>
            </a:r>
          </a:p>
        </p:txBody>
      </p:sp>
      <p:sp>
        <p:nvSpPr>
          <p:cNvPr id="34" name="구분 칩"/>
          <p:cNvSpPr/>
          <p:nvPr/>
        </p:nvSpPr>
        <p:spPr>
          <a:xfrm>
            <a:off x="1687304" y="189547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구분 칩"/>
          <p:cNvSpPr>
            <a:spLocks noGrp="1"/>
          </p:cNvSpPr>
          <p:nvPr>
            <p:ph type="body" sz="quarter" idx="30"/>
          </p:nvPr>
        </p:nvSpPr>
        <p:spPr>
          <a:xfrm>
            <a:off x="1687304" y="189547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36" name="칩 줄 글"/>
          <p:cNvSpPr>
            <a:spLocks noGrp="1"/>
          </p:cNvSpPr>
          <p:nvPr>
            <p:ph type="body" sz="quarter" idx="31"/>
          </p:nvPr>
        </p:nvSpPr>
        <p:spPr>
          <a:xfrm>
            <a:off x="2005043" y="189547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글로벌기업, 전문가 등</a:t>
            </a:r>
          </a:p>
        </p:txBody>
      </p:sp>
      <p:sp>
        <p:nvSpPr>
          <p:cNvPr id="37" name="카드 요약"/>
          <p:cNvSpPr/>
          <p:nvPr/>
        </p:nvSpPr>
        <p:spPr>
          <a:xfrm>
            <a:off x="1205217" y="2158435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8" name="카드 요약"/>
          <p:cNvSpPr>
            <a:spLocks noGrp="1"/>
          </p:cNvSpPr>
          <p:nvPr>
            <p:ph type="body" sz="quarter" idx="32"/>
          </p:nvPr>
        </p:nvSpPr>
        <p:spPr>
          <a:xfrm>
            <a:off x="1205217" y="2158435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 파트너 등 추가</a:t>
            </a:r>
          </a:p>
        </p:txBody>
      </p:sp>
      <p:sp>
        <p:nvSpPr>
          <p:cNvPr id="39" name="카드"/>
          <p:cNvSpPr/>
          <p:nvPr/>
        </p:nvSpPr>
        <p:spPr>
          <a:xfrm>
            <a:off x="4015565" y="1632522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아이콘 칸"/>
          <p:cNvSpPr/>
          <p:nvPr/>
        </p:nvSpPr>
        <p:spPr>
          <a:xfrm>
            <a:off x="4048435" y="1676348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41" name="아이콘 칸"/>
          <p:cNvSpPr>
            <a:spLocks noGrp="1"/>
          </p:cNvSpPr>
          <p:nvPr>
            <p:ph type="body" sz="quarter" idx="33"/>
          </p:nvPr>
        </p:nvSpPr>
        <p:spPr>
          <a:xfrm>
            <a:off x="4048435" y="1676348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B</a:t>
            </a:r>
          </a:p>
        </p:txBody>
      </p:sp>
      <p:sp>
        <p:nvSpPr>
          <p:cNvPr id="42" name="구분 칩"/>
          <p:cNvSpPr/>
          <p:nvPr/>
        </p:nvSpPr>
        <p:spPr>
          <a:xfrm>
            <a:off x="4519565" y="167634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구분 칩"/>
          <p:cNvSpPr>
            <a:spLocks noGrp="1"/>
          </p:cNvSpPr>
          <p:nvPr>
            <p:ph type="body" sz="quarter" idx="34"/>
          </p:nvPr>
        </p:nvSpPr>
        <p:spPr>
          <a:xfrm>
            <a:off x="4519565" y="167634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44" name="칩 줄 글"/>
          <p:cNvSpPr>
            <a:spLocks noGrp="1"/>
          </p:cNvSpPr>
          <p:nvPr>
            <p:ph type="body" sz="quarter" idx="35"/>
          </p:nvPr>
        </p:nvSpPr>
        <p:spPr>
          <a:xfrm>
            <a:off x="4837304" y="167634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기업, 지자체</a:t>
            </a:r>
          </a:p>
        </p:txBody>
      </p:sp>
      <p:sp>
        <p:nvSpPr>
          <p:cNvPr id="45" name="구분 칩"/>
          <p:cNvSpPr/>
          <p:nvPr/>
        </p:nvSpPr>
        <p:spPr>
          <a:xfrm>
            <a:off x="4519565" y="189547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구분 칩"/>
          <p:cNvSpPr>
            <a:spLocks noGrp="1"/>
          </p:cNvSpPr>
          <p:nvPr>
            <p:ph type="body" sz="quarter" idx="36"/>
          </p:nvPr>
        </p:nvSpPr>
        <p:spPr>
          <a:xfrm>
            <a:off x="4519565" y="189547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47" name="칩 줄 글"/>
          <p:cNvSpPr>
            <a:spLocks noGrp="1"/>
          </p:cNvSpPr>
          <p:nvPr>
            <p:ph type="body" sz="quarter" idx="37"/>
          </p:nvPr>
        </p:nvSpPr>
        <p:spPr>
          <a:xfrm>
            <a:off x="4837304" y="189547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협력기업, 신산업 기업 등</a:t>
            </a:r>
          </a:p>
        </p:txBody>
      </p:sp>
      <p:sp>
        <p:nvSpPr>
          <p:cNvPr id="48" name="카드 요약"/>
          <p:cNvSpPr/>
          <p:nvPr/>
        </p:nvSpPr>
        <p:spPr>
          <a:xfrm>
            <a:off x="4037478" y="2158435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49" name="카드 요약"/>
          <p:cNvSpPr>
            <a:spLocks noGrp="1"/>
          </p:cNvSpPr>
          <p:nvPr>
            <p:ph type="body" sz="quarter" idx="38"/>
          </p:nvPr>
        </p:nvSpPr>
        <p:spPr>
          <a:xfrm>
            <a:off x="4037478" y="2158435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 파트너까지 확대</a:t>
            </a:r>
          </a:p>
        </p:txBody>
      </p:sp>
      <p:sp>
        <p:nvSpPr>
          <p:cNvPr id="50" name="카드"/>
          <p:cNvSpPr/>
          <p:nvPr/>
        </p:nvSpPr>
        <p:spPr>
          <a:xfrm>
            <a:off x="1183304" y="2574783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아이콘 칸"/>
          <p:cNvSpPr/>
          <p:nvPr/>
        </p:nvSpPr>
        <p:spPr>
          <a:xfrm>
            <a:off x="1216174" y="2618609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52" name="아이콘 칸"/>
          <p:cNvSpPr>
            <a:spLocks noGrp="1"/>
          </p:cNvSpPr>
          <p:nvPr>
            <p:ph type="body" sz="quarter" idx="39"/>
          </p:nvPr>
        </p:nvSpPr>
        <p:spPr>
          <a:xfrm>
            <a:off x="1216174" y="2618609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C</a:t>
            </a:r>
          </a:p>
        </p:txBody>
      </p:sp>
      <p:sp>
        <p:nvSpPr>
          <p:cNvPr id="53" name="구분 칩"/>
          <p:cNvSpPr/>
          <p:nvPr/>
        </p:nvSpPr>
        <p:spPr>
          <a:xfrm>
            <a:off x="1687304" y="261860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4" name="구분 칩"/>
          <p:cNvSpPr>
            <a:spLocks noGrp="1"/>
          </p:cNvSpPr>
          <p:nvPr>
            <p:ph type="body" sz="quarter" idx="40"/>
          </p:nvPr>
        </p:nvSpPr>
        <p:spPr>
          <a:xfrm>
            <a:off x="1687304" y="261860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5" name="칩 줄 글"/>
          <p:cNvSpPr>
            <a:spLocks noGrp="1"/>
          </p:cNvSpPr>
          <p:nvPr>
            <p:ph type="body" sz="quarter" idx="41"/>
          </p:nvPr>
        </p:nvSpPr>
        <p:spPr>
          <a:xfrm>
            <a:off x="2005043" y="261860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주민·건설기업·지자체</a:t>
            </a:r>
          </a:p>
        </p:txBody>
      </p:sp>
      <p:sp>
        <p:nvSpPr>
          <p:cNvPr id="56" name="구분 칩"/>
          <p:cNvSpPr/>
          <p:nvPr/>
        </p:nvSpPr>
        <p:spPr>
          <a:xfrm>
            <a:off x="1687304" y="283773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7" name="구분 칩"/>
          <p:cNvSpPr>
            <a:spLocks noGrp="1"/>
          </p:cNvSpPr>
          <p:nvPr>
            <p:ph type="body" sz="quarter" idx="42"/>
          </p:nvPr>
        </p:nvSpPr>
        <p:spPr>
          <a:xfrm>
            <a:off x="1687304" y="283773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58" name="칩 줄 글"/>
          <p:cNvSpPr>
            <a:spLocks noGrp="1"/>
          </p:cNvSpPr>
          <p:nvPr>
            <p:ph type="body" sz="quarter" idx="43"/>
          </p:nvPr>
        </p:nvSpPr>
        <p:spPr>
          <a:xfrm>
            <a:off x="2005043" y="283773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정부, 수요기업 등</a:t>
            </a:r>
          </a:p>
        </p:txBody>
      </p:sp>
      <p:sp>
        <p:nvSpPr>
          <p:cNvPr id="59" name="카드 요약"/>
          <p:cNvSpPr/>
          <p:nvPr/>
        </p:nvSpPr>
        <p:spPr>
          <a:xfrm>
            <a:off x="1205217" y="3100696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0" name="카드 요약"/>
          <p:cNvSpPr>
            <a:spLocks noGrp="1"/>
          </p:cNvSpPr>
          <p:nvPr>
            <p:ph type="body" sz="quarter" idx="44"/>
          </p:nvPr>
        </p:nvSpPr>
        <p:spPr>
          <a:xfrm>
            <a:off x="1205217" y="3100696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정부·기업 협력 필요</a:t>
            </a:r>
          </a:p>
        </p:txBody>
      </p:sp>
      <p:sp>
        <p:nvSpPr>
          <p:cNvPr id="61" name="카드"/>
          <p:cNvSpPr/>
          <p:nvPr/>
        </p:nvSpPr>
        <p:spPr>
          <a:xfrm>
            <a:off x="4015565" y="2574783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아이콘 칸"/>
          <p:cNvSpPr/>
          <p:nvPr/>
        </p:nvSpPr>
        <p:spPr>
          <a:xfrm>
            <a:off x="4048435" y="2618609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63" name="아이콘 칸"/>
          <p:cNvSpPr>
            <a:spLocks noGrp="1"/>
          </p:cNvSpPr>
          <p:nvPr>
            <p:ph type="body" sz="quarter" idx="45"/>
          </p:nvPr>
        </p:nvSpPr>
        <p:spPr>
          <a:xfrm>
            <a:off x="4048435" y="2618609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D</a:t>
            </a:r>
          </a:p>
        </p:txBody>
      </p:sp>
      <p:sp>
        <p:nvSpPr>
          <p:cNvPr id="64" name="구분 칩"/>
          <p:cNvSpPr/>
          <p:nvPr/>
        </p:nvSpPr>
        <p:spPr>
          <a:xfrm>
            <a:off x="4519565" y="261860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구분 칩"/>
          <p:cNvSpPr>
            <a:spLocks noGrp="1"/>
          </p:cNvSpPr>
          <p:nvPr>
            <p:ph type="body" sz="quarter" idx="46"/>
          </p:nvPr>
        </p:nvSpPr>
        <p:spPr>
          <a:xfrm>
            <a:off x="4519565" y="261860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66" name="칩 줄 글"/>
          <p:cNvSpPr>
            <a:spLocks noGrp="1"/>
          </p:cNvSpPr>
          <p:nvPr>
            <p:ph type="body" sz="quarter" idx="47"/>
          </p:nvPr>
        </p:nvSpPr>
        <p:spPr>
          <a:xfrm>
            <a:off x="4837304" y="261860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유관기관, 지자체, 기업</a:t>
            </a:r>
          </a:p>
        </p:txBody>
      </p:sp>
      <p:sp>
        <p:nvSpPr>
          <p:cNvPr id="67" name="구분 칩"/>
          <p:cNvSpPr/>
          <p:nvPr/>
        </p:nvSpPr>
        <p:spPr>
          <a:xfrm>
            <a:off x="4519565" y="283773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구분 칩"/>
          <p:cNvSpPr>
            <a:spLocks noGrp="1"/>
          </p:cNvSpPr>
          <p:nvPr>
            <p:ph type="body" sz="quarter" idx="48"/>
          </p:nvPr>
        </p:nvSpPr>
        <p:spPr>
          <a:xfrm>
            <a:off x="4519565" y="283773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69" name="칩 줄 글"/>
          <p:cNvSpPr>
            <a:spLocks noGrp="1"/>
          </p:cNvSpPr>
          <p:nvPr>
            <p:ph type="body" sz="quarter" idx="49"/>
          </p:nvPr>
        </p:nvSpPr>
        <p:spPr>
          <a:xfrm>
            <a:off x="4837304" y="283773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신산업 기업, 해외 정부</a:t>
            </a:r>
          </a:p>
        </p:txBody>
      </p:sp>
      <p:sp>
        <p:nvSpPr>
          <p:cNvPr id="70" name="카드 요약"/>
          <p:cNvSpPr/>
          <p:nvPr/>
        </p:nvSpPr>
        <p:spPr>
          <a:xfrm>
            <a:off x="4037478" y="3100696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1" name="카드 요약"/>
          <p:cNvSpPr>
            <a:spLocks noGrp="1"/>
          </p:cNvSpPr>
          <p:nvPr>
            <p:ph type="body" sz="quarter" idx="50"/>
          </p:nvPr>
        </p:nvSpPr>
        <p:spPr>
          <a:xfrm>
            <a:off x="4037478" y="3100696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협력주체 확대</a:t>
            </a:r>
          </a:p>
        </p:txBody>
      </p:sp>
      <p:sp>
        <p:nvSpPr>
          <p:cNvPr id="72" name="캡션 띠"/>
          <p:cNvSpPr/>
          <p:nvPr/>
        </p:nvSpPr>
        <p:spPr>
          <a:xfrm>
            <a:off x="536869" y="35937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캡션"/>
          <p:cNvSpPr>
            <a:spLocks noGrp="1"/>
          </p:cNvSpPr>
          <p:nvPr>
            <p:ph type="body" sz="quarter" idx="51"/>
          </p:nvPr>
        </p:nvSpPr>
        <p:spPr>
          <a:xfrm>
            <a:off x="756000" y="3593739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재분류된 이해관계자 대상 현 미션·비전·가치 유효성 검증 】</a:t>
            </a:r>
          </a:p>
        </p:txBody>
      </p:sp>
      <p:sp>
        <p:nvSpPr>
          <p:cNvPr id="74" name="패널 외곽"/>
          <p:cNvSpPr/>
          <p:nvPr/>
        </p:nvSpPr>
        <p:spPr>
          <a:xfrm>
            <a:off x="536870" y="3922435"/>
            <a:ext cx="6300000" cy="2246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레일"/>
          <p:cNvSpPr/>
          <p:nvPr/>
        </p:nvSpPr>
        <p:spPr>
          <a:xfrm>
            <a:off x="547826" y="3933391"/>
            <a:ext cx="580696" cy="2224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6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3933391"/>
            <a:ext cx="580696" cy="2224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77" name="도입 글"/>
          <p:cNvSpPr>
            <a:spLocks noGrp="1"/>
          </p:cNvSpPr>
          <p:nvPr>
            <p:ph type="body" sz="quarter" idx="53"/>
          </p:nvPr>
        </p:nvSpPr>
        <p:spPr>
          <a:xfrm>
            <a:off x="1183304" y="3944348"/>
            <a:ext cx="5620696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소통은 세분화하고, 외부 소통은 대폭 확대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정책 반영 과정에서 나온 정보를 지속 공유</a:t>
            </a:r>
          </a:p>
        </p:txBody>
      </p:sp>
      <p:sp>
        <p:nvSpPr>
          <p:cNvPr id="78" name="열 머리"/>
          <p:cNvSpPr/>
          <p:nvPr/>
        </p:nvSpPr>
        <p:spPr>
          <a:xfrm>
            <a:off x="1183304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79" name="열 머리"/>
          <p:cNvSpPr>
            <a:spLocks noGrp="1"/>
          </p:cNvSpPr>
          <p:nvPr>
            <p:ph type="body" sz="quarter" idx="54"/>
          </p:nvPr>
        </p:nvSpPr>
        <p:spPr>
          <a:xfrm>
            <a:off x="1183304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직원·전문가 설문(1차, 7월)</a:t>
            </a:r>
          </a:p>
        </p:txBody>
      </p:sp>
      <p:sp>
        <p:nvSpPr>
          <p:cNvPr id="80" name="열 본문"/>
          <p:cNvSpPr>
            <a:spLocks noGrp="1"/>
          </p:cNvSpPr>
          <p:nvPr>
            <p:ph type="body" sz="quarter" idx="55"/>
          </p:nvPr>
        </p:nvSpPr>
        <p:spPr>
          <a:xfrm>
            <a:off x="1183304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격차 진단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임직원·외부전문가 대상</a:t>
            </a:r>
          </a:p>
        </p:txBody>
      </p:sp>
      <p:sp>
        <p:nvSpPr>
          <p:cNvPr id="81" name="열 머리"/>
          <p:cNvSpPr/>
          <p:nvPr/>
        </p:nvSpPr>
        <p:spPr>
          <a:xfrm>
            <a:off x="3064174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2" name="열 머리"/>
          <p:cNvSpPr>
            <a:spLocks noGrp="1"/>
          </p:cNvSpPr>
          <p:nvPr>
            <p:ph type="body" sz="quarter" idx="56"/>
          </p:nvPr>
        </p:nvSpPr>
        <p:spPr>
          <a:xfrm>
            <a:off x="3064174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소통(2차, 7~10월)</a:t>
            </a:r>
          </a:p>
        </p:txBody>
      </p:sp>
      <p:sp>
        <p:nvSpPr>
          <p:cNvPr id="83" name="열 본문"/>
          <p:cNvSpPr>
            <a:spLocks noGrp="1"/>
          </p:cNvSpPr>
          <p:nvPr>
            <p:ph type="body" sz="quarter" idx="57"/>
          </p:nvPr>
        </p:nvSpPr>
        <p:spPr>
          <a:xfrm>
            <a:off x="3064174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정부·지자체 의견 수렴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면담 12회</a:t>
            </a:r>
          </a:p>
        </p:txBody>
      </p:sp>
      <p:sp>
        <p:nvSpPr>
          <p:cNvPr id="84" name="열 머리"/>
          <p:cNvSpPr/>
          <p:nvPr/>
        </p:nvSpPr>
        <p:spPr>
          <a:xfrm>
            <a:off x="4945043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5" name="열 머리"/>
          <p:cNvSpPr>
            <a:spLocks noGrp="1"/>
          </p:cNvSpPr>
          <p:nvPr>
            <p:ph type="body" sz="quarter" idx="58"/>
          </p:nvPr>
        </p:nvSpPr>
        <p:spPr>
          <a:xfrm>
            <a:off x="4945043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직원·국민 설문(3차, 11월)</a:t>
            </a:r>
          </a:p>
        </p:txBody>
      </p:sp>
      <p:sp>
        <p:nvSpPr>
          <p:cNvPr id="86" name="열 본문"/>
          <p:cNvSpPr>
            <a:spLocks noGrp="1"/>
          </p:cNvSpPr>
          <p:nvPr>
            <p:ph type="body" sz="quarter" idx="59"/>
          </p:nvPr>
        </p:nvSpPr>
        <p:spPr>
          <a:xfrm>
            <a:off x="4945043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변화방향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직원·국민 대상 온라인 등</a:t>
            </a:r>
          </a:p>
        </p:txBody>
      </p:sp>
      <p:sp>
        <p:nvSpPr>
          <p:cNvPr id="87" name="강조 띠"/>
          <p:cNvSpPr/>
          <p:nvPr/>
        </p:nvSpPr>
        <p:spPr>
          <a:xfrm>
            <a:off x="1183304" y="5029043"/>
            <a:ext cx="5620696" cy="21913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88" name="강조 띠"/>
          <p:cNvSpPr>
            <a:spLocks noGrp="1"/>
          </p:cNvSpPr>
          <p:nvPr>
            <p:ph type="body" sz="quarter" idx="60"/>
          </p:nvPr>
        </p:nvSpPr>
        <p:spPr>
          <a:xfrm>
            <a:off x="1183304" y="5029043"/>
            <a:ext cx="5620696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큰 틀은 유지하되 새 요구 및 국정과제 반영·세부 의미 재해석</a:t>
            </a:r>
          </a:p>
        </p:txBody>
      </p:sp>
      <p:sp>
        <p:nvSpPr>
          <p:cNvPr id="89" name="행 라벨"/>
          <p:cNvSpPr/>
          <p:nvPr/>
        </p:nvSpPr>
        <p:spPr>
          <a:xfrm>
            <a:off x="1183304" y="5281043"/>
            <a:ext cx="350609" cy="383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0" name="행 라벨"/>
          <p:cNvSpPr>
            <a:spLocks noGrp="1"/>
          </p:cNvSpPr>
          <p:nvPr>
            <p:ph type="body" sz="quarter" idx="61"/>
          </p:nvPr>
        </p:nvSpPr>
        <p:spPr>
          <a:xfrm>
            <a:off x="1183304" y="5281043"/>
            <a:ext cx="350609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91" name="지표"/>
          <p:cNvSpPr>
            <a:spLocks noGrp="1"/>
          </p:cNvSpPr>
          <p:nvPr>
            <p:ph type="body" sz="quarter" idx="62"/>
          </p:nvPr>
        </p:nvSpPr>
        <p:spPr>
          <a:xfrm>
            <a:off x="1566783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설립목적 부합</a:t>
            </a:r>
          </a:p>
        </p:txBody>
      </p:sp>
      <p:sp>
        <p:nvSpPr>
          <p:cNvPr id="92" name="수치"/>
          <p:cNvSpPr>
            <a:spLocks noGrp="1"/>
          </p:cNvSpPr>
          <p:nvPr>
            <p:ph type="body" sz="quarter" idx="63"/>
          </p:nvPr>
        </p:nvSpPr>
        <p:spPr>
          <a:xfrm>
            <a:off x="1566783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95.5%  외 97.3%</a:t>
            </a:r>
          </a:p>
        </p:txBody>
      </p:sp>
      <p:sp>
        <p:nvSpPr>
          <p:cNvPr id="93" name="지표"/>
          <p:cNvSpPr>
            <a:spLocks noGrp="1"/>
          </p:cNvSpPr>
          <p:nvPr>
            <p:ph type="body" sz="quarter" idx="64"/>
          </p:nvPr>
        </p:nvSpPr>
        <p:spPr>
          <a:xfrm>
            <a:off x="2750452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환경변화 부합</a:t>
            </a:r>
          </a:p>
        </p:txBody>
      </p:sp>
      <p:sp>
        <p:nvSpPr>
          <p:cNvPr id="94" name="수치"/>
          <p:cNvSpPr>
            <a:spLocks noGrp="1"/>
          </p:cNvSpPr>
          <p:nvPr>
            <p:ph type="body" sz="quarter" idx="65"/>
          </p:nvPr>
        </p:nvSpPr>
        <p:spPr>
          <a:xfrm>
            <a:off x="2750452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97.4%  외 98.4%</a:t>
            </a:r>
          </a:p>
        </p:txBody>
      </p:sp>
      <p:sp>
        <p:nvSpPr>
          <p:cNvPr id="95" name="지표"/>
          <p:cNvSpPr>
            <a:spLocks noGrp="1"/>
          </p:cNvSpPr>
          <p:nvPr>
            <p:ph type="body" sz="quarter" idx="66"/>
          </p:nvPr>
        </p:nvSpPr>
        <p:spPr>
          <a:xfrm>
            <a:off x="3934122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장기적 유지·확산</a:t>
            </a:r>
          </a:p>
        </p:txBody>
      </p:sp>
      <p:sp>
        <p:nvSpPr>
          <p:cNvPr id="96" name="수치"/>
          <p:cNvSpPr>
            <a:spLocks noGrp="1"/>
          </p:cNvSpPr>
          <p:nvPr>
            <p:ph type="body" sz="quarter" idx="67"/>
          </p:nvPr>
        </p:nvSpPr>
        <p:spPr>
          <a:xfrm>
            <a:off x="3934122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  외 98.9%</a:t>
            </a:r>
          </a:p>
        </p:txBody>
      </p:sp>
      <p:cxnSp>
        <p:nvCxnSpPr>
          <p:cNvPr id="97" name="Connector 65"/>
          <p:cNvCxnSpPr/>
          <p:nvPr/>
        </p:nvCxnSpPr>
        <p:spPr>
          <a:xfrm>
            <a:off x="1566783" y="5472783"/>
            <a:ext cx="3551008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8" name="행 라벨"/>
          <p:cNvSpPr/>
          <p:nvPr/>
        </p:nvSpPr>
        <p:spPr>
          <a:xfrm>
            <a:off x="1183304" y="5697391"/>
            <a:ext cx="350609" cy="383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9" name="행 라벨"/>
          <p:cNvSpPr>
            <a:spLocks noGrp="1"/>
          </p:cNvSpPr>
          <p:nvPr>
            <p:ph type="body" sz="quarter" idx="68"/>
          </p:nvPr>
        </p:nvSpPr>
        <p:spPr>
          <a:xfrm>
            <a:off x="1183304" y="5697391"/>
            <a:ext cx="350609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100" name="지표"/>
          <p:cNvSpPr>
            <a:spLocks noGrp="1"/>
          </p:cNvSpPr>
          <p:nvPr>
            <p:ph type="body" sz="quarter" idx="69"/>
          </p:nvPr>
        </p:nvSpPr>
        <p:spPr>
          <a:xfrm>
            <a:off x="1566783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전략체계 변화 필요</a:t>
            </a:r>
          </a:p>
        </p:txBody>
      </p:sp>
      <p:sp>
        <p:nvSpPr>
          <p:cNvPr id="101" name="수치"/>
          <p:cNvSpPr>
            <a:spLocks noGrp="1"/>
          </p:cNvSpPr>
          <p:nvPr>
            <p:ph type="body" sz="quarter" idx="70"/>
          </p:nvPr>
        </p:nvSpPr>
        <p:spPr>
          <a:xfrm>
            <a:off x="1566783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</a:t>
            </a:r>
          </a:p>
        </p:txBody>
      </p:sp>
      <p:sp>
        <p:nvSpPr>
          <p:cNvPr id="102" name="지표"/>
          <p:cNvSpPr>
            <a:spLocks noGrp="1"/>
          </p:cNvSpPr>
          <p:nvPr>
            <p:ph type="body" sz="quarter" idx="71"/>
          </p:nvPr>
        </p:nvSpPr>
        <p:spPr>
          <a:xfrm>
            <a:off x="2750452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직관적 이해도 향상</a:t>
            </a:r>
          </a:p>
        </p:txBody>
      </p:sp>
      <p:sp>
        <p:nvSpPr>
          <p:cNvPr id="103" name="수치"/>
          <p:cNvSpPr>
            <a:spLocks noGrp="1"/>
          </p:cNvSpPr>
          <p:nvPr>
            <p:ph type="body" sz="quarter" idx="72"/>
          </p:nvPr>
        </p:nvSpPr>
        <p:spPr>
          <a:xfrm>
            <a:off x="2750452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92.6%  외 91.1%</a:t>
            </a:r>
          </a:p>
        </p:txBody>
      </p:sp>
      <p:sp>
        <p:nvSpPr>
          <p:cNvPr id="104" name="지표"/>
          <p:cNvSpPr>
            <a:spLocks noGrp="1"/>
          </p:cNvSpPr>
          <p:nvPr>
            <p:ph type="body" sz="quarter" idx="73"/>
          </p:nvPr>
        </p:nvSpPr>
        <p:spPr>
          <a:xfrm>
            <a:off x="3934122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변경</a:t>
            </a:r>
          </a:p>
        </p:txBody>
      </p:sp>
      <p:sp>
        <p:nvSpPr>
          <p:cNvPr id="105" name="수치"/>
          <p:cNvSpPr>
            <a:spLocks noGrp="1"/>
          </p:cNvSpPr>
          <p:nvPr>
            <p:ph type="body" sz="quarter" idx="74"/>
          </p:nvPr>
        </p:nvSpPr>
        <p:spPr>
          <a:xfrm>
            <a:off x="3934122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95.0%  외 93.3%</a:t>
            </a:r>
          </a:p>
        </p:txBody>
      </p:sp>
      <p:cxnSp>
        <p:nvCxnSpPr>
          <p:cNvPr id="106" name="Connector 73"/>
          <p:cNvCxnSpPr/>
          <p:nvPr/>
        </p:nvCxnSpPr>
        <p:spPr>
          <a:xfrm>
            <a:off x="1566783" y="5889130"/>
            <a:ext cx="3551008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판단 글"/>
          <p:cNvSpPr>
            <a:spLocks noGrp="1"/>
          </p:cNvSpPr>
          <p:nvPr>
            <p:ph type="body" sz="quarter" idx="75"/>
          </p:nvPr>
        </p:nvSpPr>
        <p:spPr>
          <a:xfrm>
            <a:off x="5161617" y="5281043"/>
            <a:ext cx="1642383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국민 기대·역할 기본방향은 전반적 적합</a:t>
            </a:r>
          </a:p>
        </p:txBody>
      </p:sp>
      <p:sp>
        <p:nvSpPr>
          <p:cNvPr id="108" name="판단 글"/>
          <p:cNvSpPr>
            <a:spLocks noGrp="1"/>
          </p:cNvSpPr>
          <p:nvPr>
            <p:ph type="body" sz="quarter" idx="76"/>
          </p:nvPr>
        </p:nvSpPr>
        <p:spPr>
          <a:xfrm>
            <a:off x="5161617" y="5697391"/>
            <a:ext cx="1642383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새 정부 출범·여건 변화 반영 필요</a:t>
            </a:r>
          </a:p>
        </p:txBody>
      </p:sp>
      <p:sp>
        <p:nvSpPr>
          <p:cNvPr id="109" name="캡션 띠"/>
          <p:cNvSpPr/>
          <p:nvPr/>
        </p:nvSpPr>
        <p:spPr>
          <a:xfrm>
            <a:off x="536869" y="61904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캡션"/>
          <p:cNvSpPr>
            <a:spLocks noGrp="1"/>
          </p:cNvSpPr>
          <p:nvPr>
            <p:ph type="body" sz="quarter" idx="77"/>
          </p:nvPr>
        </p:nvSpPr>
        <p:spPr>
          <a:xfrm>
            <a:off x="756000" y="6190435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가치 전략체계 롤링 】</a:t>
            </a:r>
          </a:p>
        </p:txBody>
      </p:sp>
      <p:sp>
        <p:nvSpPr>
          <p:cNvPr id="111" name="틀"/>
          <p:cNvSpPr/>
          <p:nvPr/>
        </p:nvSpPr>
        <p:spPr>
          <a:xfrm>
            <a:off x="536870" y="6519130"/>
            <a:ext cx="6300000" cy="1566783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2" name="단계"/>
          <p:cNvSpPr/>
          <p:nvPr/>
        </p:nvSpPr>
        <p:spPr>
          <a:xfrm>
            <a:off x="536870" y="6519130"/>
            <a:ext cx="2100000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3" name="단계"/>
          <p:cNvSpPr>
            <a:spLocks noGrp="1"/>
          </p:cNvSpPr>
          <p:nvPr>
            <p:ph type="body" sz="quarter" idx="78"/>
          </p:nvPr>
        </p:nvSpPr>
        <p:spPr>
          <a:xfrm>
            <a:off x="5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미션 [재해석]</a:t>
            </a:r>
          </a:p>
        </p:txBody>
      </p:sp>
      <p:sp>
        <p:nvSpPr>
          <p:cNvPr id="114" name="단계"/>
          <p:cNvSpPr/>
          <p:nvPr/>
        </p:nvSpPr>
        <p:spPr>
          <a:xfrm>
            <a:off x="2636870" y="6519130"/>
            <a:ext cx="2100000" cy="25200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5" name="단계"/>
          <p:cNvSpPr>
            <a:spLocks noGrp="1"/>
          </p:cNvSpPr>
          <p:nvPr>
            <p:ph type="body" sz="quarter" idx="79"/>
          </p:nvPr>
        </p:nvSpPr>
        <p:spPr>
          <a:xfrm>
            <a:off x="26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비전 [재해석] 목표 [강화]</a:t>
            </a:r>
          </a:p>
        </p:txBody>
      </p:sp>
      <p:sp>
        <p:nvSpPr>
          <p:cNvPr id="116" name="단계"/>
          <p:cNvSpPr/>
          <p:nvPr/>
        </p:nvSpPr>
        <p:spPr>
          <a:xfrm>
            <a:off x="4736870" y="6519130"/>
            <a:ext cx="2100000" cy="252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7" name="단계"/>
          <p:cNvSpPr>
            <a:spLocks noGrp="1"/>
          </p:cNvSpPr>
          <p:nvPr>
            <p:ph type="body" sz="quarter" idx="80"/>
          </p:nvPr>
        </p:nvSpPr>
        <p:spPr>
          <a:xfrm>
            <a:off x="47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핵심가치 [재해석]</a:t>
            </a:r>
          </a:p>
        </p:txBody>
      </p:sp>
      <p:sp>
        <p:nvSpPr>
          <p:cNvPr id="118" name="단계 삼각형"/>
          <p:cNvSpPr/>
          <p:nvPr/>
        </p:nvSpPr>
        <p:spPr>
          <a:xfrm>
            <a:off x="2636869" y="6519130"/>
            <a:ext cx="109565" cy="252000"/>
          </a:xfrm>
          <a:custGeom>
            <a:avLst/>
            <a:gdLst/>
            <a:ahLst/>
            <a:cxnLst/>
            <a:rect l="l" t="t" r="r" b="b"/>
            <a:pathLst>
              <a:path w="109565" h="252000">
                <a:moveTo>
                  <a:pt x="0" y="0"/>
                </a:moveTo>
                <a:lnTo>
                  <a:pt x="109565" y="126000"/>
                </a:lnTo>
                <a:lnTo>
                  <a:pt x="0" y="252000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단계 삼각형"/>
          <p:cNvSpPr/>
          <p:nvPr/>
        </p:nvSpPr>
        <p:spPr>
          <a:xfrm>
            <a:off x="4736869" y="6519130"/>
            <a:ext cx="109565" cy="252000"/>
          </a:xfrm>
          <a:custGeom>
            <a:avLst/>
            <a:gdLst/>
            <a:ahLst/>
            <a:cxnLst/>
            <a:rect l="l" t="t" r="r" b="b"/>
            <a:pathLst>
              <a:path w="109565" h="252000">
                <a:moveTo>
                  <a:pt x="0" y="0"/>
                </a:moveTo>
                <a:lnTo>
                  <a:pt x="109565" y="126000"/>
                </a:lnTo>
                <a:lnTo>
                  <a:pt x="0" y="252000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아이콘 칸"/>
          <p:cNvSpPr/>
          <p:nvPr/>
        </p:nvSpPr>
        <p:spPr>
          <a:xfrm>
            <a:off x="5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21" name="큰 문구"/>
          <p:cNvSpPr>
            <a:spLocks noGrp="1"/>
          </p:cNvSpPr>
          <p:nvPr>
            <p:ph type="body" sz="quarter" idx="81"/>
          </p:nvPr>
        </p:nvSpPr>
        <p:spPr>
          <a:xfrm>
            <a:off x="10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물이 여는 미래,
물로 나누는 행복</a:t>
            </a:r>
          </a:p>
        </p:txBody>
      </p:sp>
      <p:sp>
        <p:nvSpPr>
          <p:cNvPr id="122" name="요약 줄"/>
          <p:cNvSpPr/>
          <p:nvPr/>
        </p:nvSpPr>
        <p:spPr>
          <a:xfrm>
            <a:off x="5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23" name="요약 줄"/>
          <p:cNvSpPr>
            <a:spLocks noGrp="1"/>
          </p:cNvSpPr>
          <p:nvPr>
            <p:ph type="body" sz="quarter" idx="82"/>
          </p:nvPr>
        </p:nvSpPr>
        <p:spPr>
          <a:xfrm>
            <a:off x="5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물의 가치로 열린 미래와 행복 나눔</a:t>
            </a:r>
          </a:p>
        </p:txBody>
      </p:sp>
      <p:sp>
        <p:nvSpPr>
          <p:cNvPr id="124" name="불릿"/>
          <p:cNvSpPr>
            <a:spLocks noGrp="1"/>
          </p:cNvSpPr>
          <p:nvPr>
            <p:ph type="body" sz="quarter" idx="83"/>
          </p:nvPr>
        </p:nvSpPr>
        <p:spPr>
          <a:xfrm>
            <a:off x="5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물관리·녹색전환 지원 등 의미 보완</a:t>
            </a:r>
          </a:p>
        </p:txBody>
      </p:sp>
      <p:sp>
        <p:nvSpPr>
          <p:cNvPr id="125" name="아이콘 칸"/>
          <p:cNvSpPr/>
          <p:nvPr/>
        </p:nvSpPr>
        <p:spPr>
          <a:xfrm>
            <a:off x="26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26" name="큰 문구"/>
          <p:cNvSpPr>
            <a:spLocks noGrp="1"/>
          </p:cNvSpPr>
          <p:nvPr>
            <p:ph type="body" sz="quarter" idx="84"/>
          </p:nvPr>
        </p:nvSpPr>
        <p:spPr>
          <a:xfrm>
            <a:off x="31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127" name="요약 줄"/>
          <p:cNvSpPr/>
          <p:nvPr/>
        </p:nvSpPr>
        <p:spPr>
          <a:xfrm>
            <a:off x="26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28" name="요약 줄"/>
          <p:cNvSpPr>
            <a:spLocks noGrp="1"/>
          </p:cNvSpPr>
          <p:nvPr>
            <p:ph type="body" sz="quarter" idx="85"/>
          </p:nvPr>
        </p:nvSpPr>
        <p:spPr>
          <a:xfrm>
            <a:off x="26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새로운 시대, 기후위기 대응 솔루션 구현</a:t>
            </a:r>
          </a:p>
        </p:txBody>
      </p:sp>
      <p:sp>
        <p:nvSpPr>
          <p:cNvPr id="129" name="불릿"/>
          <p:cNvSpPr>
            <a:spLocks noGrp="1"/>
          </p:cNvSpPr>
          <p:nvPr>
            <p:ph type="body" sz="quarter" idx="86"/>
          </p:nvPr>
        </p:nvSpPr>
        <p:spPr>
          <a:xfrm>
            <a:off x="26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강화 ＋ AI·기후테크 역량 구체화</a:t>
            </a:r>
          </a:p>
        </p:txBody>
      </p:sp>
      <p:cxnSp>
        <p:nvCxnSpPr>
          <p:cNvPr id="130" name="Connector 92"/>
          <p:cNvCxnSpPr/>
          <p:nvPr/>
        </p:nvCxnSpPr>
        <p:spPr>
          <a:xfrm>
            <a:off x="2636870" y="6825913"/>
            <a:ext cx="0" cy="1216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1" name="아이콘 칸"/>
          <p:cNvSpPr/>
          <p:nvPr/>
        </p:nvSpPr>
        <p:spPr>
          <a:xfrm>
            <a:off x="47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32" name="큰 문구"/>
          <p:cNvSpPr>
            <a:spLocks noGrp="1"/>
          </p:cNvSpPr>
          <p:nvPr>
            <p:ph type="body" sz="quarter" idx="87"/>
          </p:nvPr>
        </p:nvSpPr>
        <p:spPr>
          <a:xfrm>
            <a:off x="52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 · 역동 · 공정</a:t>
            </a:r>
          </a:p>
        </p:txBody>
      </p:sp>
      <p:sp>
        <p:nvSpPr>
          <p:cNvPr id="133" name="요약 줄"/>
          <p:cNvSpPr/>
          <p:nvPr/>
        </p:nvSpPr>
        <p:spPr>
          <a:xfrm>
            <a:off x="47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34" name="요약 줄"/>
          <p:cNvSpPr>
            <a:spLocks noGrp="1"/>
          </p:cNvSpPr>
          <p:nvPr>
            <p:ph type="body" sz="quarter" idx="88"/>
          </p:nvPr>
        </p:nvSpPr>
        <p:spPr>
          <a:xfrm>
            <a:off x="47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안전망, 세계 일류기업, 국민 공기업</a:t>
            </a:r>
          </a:p>
        </p:txBody>
      </p:sp>
      <p:sp>
        <p:nvSpPr>
          <p:cNvPr id="135" name="불릿"/>
          <p:cNvSpPr>
            <a:spLocks noGrp="1"/>
          </p:cNvSpPr>
          <p:nvPr>
            <p:ph type="body" sz="quarter" idx="89"/>
          </p:nvPr>
        </p:nvSpPr>
        <p:spPr>
          <a:xfrm>
            <a:off x="47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최우선, ESG 경영 등 중심 실천기준 재해석</a:t>
            </a:r>
          </a:p>
        </p:txBody>
      </p:sp>
      <p:cxnSp>
        <p:nvCxnSpPr>
          <p:cNvPr id="136" name="Connector 97"/>
          <p:cNvCxnSpPr/>
          <p:nvPr/>
        </p:nvCxnSpPr>
        <p:spPr>
          <a:xfrm>
            <a:off x="4736870" y="6825913"/>
            <a:ext cx="0" cy="1216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6 서사 · 유형 분류 → 맞춤형 소통 · 전방위 확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6694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이해관계자 대상 가치전략 체계 적극 공유·확산으로 공감대 및 추진동력 확보</a:t>
            </a:r>
          </a:p>
        </p:txBody>
      </p:sp>
      <p:sp>
        <p:nvSpPr>
          <p:cNvPr id="11" name="분류 패널"/>
          <p:cNvSpPr/>
          <p:nvPr/>
        </p:nvSpPr>
        <p:spPr>
          <a:xfrm>
            <a:off x="723130" y="1084696"/>
            <a:ext cx="2142000" cy="2246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4분면"/>
          <p:cNvSpPr/>
          <p:nvPr/>
        </p:nvSpPr>
        <p:spPr>
          <a:xfrm>
            <a:off x="887478" y="1139478"/>
            <a:ext cx="1922870" cy="1742087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3" name="Connector 7"/>
          <p:cNvCxnSpPr/>
          <p:nvPr/>
        </p:nvCxnSpPr>
        <p:spPr>
          <a:xfrm>
            <a:off x="1848913" y="1139478"/>
            <a:ext cx="0" cy="1742087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cxnSp>
        <p:nvCxnSpPr>
          <p:cNvPr id="14" name="Connector 8"/>
          <p:cNvCxnSpPr/>
          <p:nvPr/>
        </p:nvCxnSpPr>
        <p:spPr>
          <a:xfrm>
            <a:off x="887478" y="2010522"/>
            <a:ext cx="1922870" cy="0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5" name="분면 이름"/>
          <p:cNvSpPr/>
          <p:nvPr/>
        </p:nvSpPr>
        <p:spPr>
          <a:xfrm>
            <a:off x="909391" y="1161391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분면 이름"/>
          <p:cNvSpPr>
            <a:spLocks noGrp="1"/>
          </p:cNvSpPr>
          <p:nvPr>
            <p:ph type="body" sz="quarter" idx="21"/>
          </p:nvPr>
        </p:nvSpPr>
        <p:spPr>
          <a:xfrm>
            <a:off x="909391" y="1161391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상세 설명·자료</a:t>
            </a:r>
          </a:p>
        </p:txBody>
      </p:sp>
      <p:sp>
        <p:nvSpPr>
          <p:cNvPr id="17" name="분면 글"/>
          <p:cNvSpPr>
            <a:spLocks noGrp="1"/>
          </p:cNvSpPr>
          <p:nvPr>
            <p:ph type="body" sz="quarter" idx="22"/>
          </p:nvPr>
        </p:nvSpPr>
        <p:spPr>
          <a:xfrm>
            <a:off x="909391" y="1336696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전문가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해외정부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유관기관</a:t>
            </a:r>
          </a:p>
        </p:txBody>
      </p:sp>
      <p:sp>
        <p:nvSpPr>
          <p:cNvPr id="18" name="분면 이름"/>
          <p:cNvSpPr/>
          <p:nvPr/>
        </p:nvSpPr>
        <p:spPr>
          <a:xfrm>
            <a:off x="1870826" y="1161391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분면 이름"/>
          <p:cNvSpPr>
            <a:spLocks noGrp="1"/>
          </p:cNvSpPr>
          <p:nvPr>
            <p:ph type="body" sz="quarter" idx="23"/>
          </p:nvPr>
        </p:nvSpPr>
        <p:spPr>
          <a:xfrm>
            <a:off x="1870826" y="1161391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① 적극·대면 설명</a:t>
            </a:r>
          </a:p>
        </p:txBody>
      </p:sp>
      <p:sp>
        <p:nvSpPr>
          <p:cNvPr id="20" name="분면 글"/>
          <p:cNvSpPr>
            <a:spLocks noGrp="1"/>
          </p:cNvSpPr>
          <p:nvPr>
            <p:ph type="body" sz="quarter" idx="24"/>
          </p:nvPr>
        </p:nvSpPr>
        <p:spPr>
          <a:xfrm>
            <a:off x="1870826" y="1336696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주변 주민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지자체</a:t>
            </a:r>
          </a:p>
        </p:txBody>
      </p:sp>
      <p:sp>
        <p:nvSpPr>
          <p:cNvPr id="21" name="분면 이름"/>
          <p:cNvSpPr/>
          <p:nvPr/>
        </p:nvSpPr>
        <p:spPr>
          <a:xfrm>
            <a:off x="909391" y="2695304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분면 이름"/>
          <p:cNvSpPr>
            <a:spLocks noGrp="1"/>
          </p:cNvSpPr>
          <p:nvPr>
            <p:ph type="body" sz="quarter" idx="25"/>
          </p:nvPr>
        </p:nvSpPr>
        <p:spPr>
          <a:xfrm>
            <a:off x="909391" y="2695304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③ 전방위 확산</a:t>
            </a:r>
          </a:p>
        </p:txBody>
      </p:sp>
      <p:sp>
        <p:nvSpPr>
          <p:cNvPr id="23" name="분면 글"/>
          <p:cNvSpPr>
            <a:spLocks noGrp="1"/>
          </p:cNvSpPr>
          <p:nvPr>
            <p:ph type="body" sz="quarter" idx="26"/>
          </p:nvPr>
        </p:nvSpPr>
        <p:spPr>
          <a:xfrm>
            <a:off x="909391" y="2032435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국민(대중)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기업·연구기관</a:t>
            </a:r>
          </a:p>
        </p:txBody>
      </p:sp>
      <p:sp>
        <p:nvSpPr>
          <p:cNvPr id="24" name="분면 이름"/>
          <p:cNvSpPr/>
          <p:nvPr/>
        </p:nvSpPr>
        <p:spPr>
          <a:xfrm>
            <a:off x="1870826" y="2695304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분면 이름"/>
          <p:cNvSpPr>
            <a:spLocks noGrp="1"/>
          </p:cNvSpPr>
          <p:nvPr>
            <p:ph type="body" sz="quarter" idx="27"/>
          </p:nvPr>
        </p:nvSpPr>
        <p:spPr>
          <a:xfrm>
            <a:off x="1870826" y="2695304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④ 사업연계 홍보</a:t>
            </a:r>
          </a:p>
        </p:txBody>
      </p:sp>
      <p:sp>
        <p:nvSpPr>
          <p:cNvPr id="26" name="분면 글"/>
          <p:cNvSpPr>
            <a:spLocks noGrp="1"/>
          </p:cNvSpPr>
          <p:nvPr>
            <p:ph type="body" sz="quarter" idx="28"/>
          </p:nvPr>
        </p:nvSpPr>
        <p:spPr>
          <a:xfrm>
            <a:off x="1870826" y="2032435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협력 기업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신산업 기업</a:t>
            </a:r>
          </a:p>
        </p:txBody>
      </p:sp>
      <p:sp>
        <p:nvSpPr>
          <p:cNvPr id="27" name="세로축"/>
          <p:cNvSpPr>
            <a:spLocks noGrp="1"/>
          </p:cNvSpPr>
          <p:nvPr>
            <p:ph type="body" sz="quarter" idx="29"/>
          </p:nvPr>
        </p:nvSpPr>
        <p:spPr>
          <a:xfrm>
            <a:off x="734087" y="1139478"/>
            <a:ext cx="142435" cy="1687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영향력</a:t>
            </a:r>
          </a:p>
        </p:txBody>
      </p:sp>
      <p:sp>
        <p:nvSpPr>
          <p:cNvPr id="28" name="가로축"/>
          <p:cNvSpPr>
            <a:spLocks noGrp="1"/>
          </p:cNvSpPr>
          <p:nvPr>
            <p:ph type="body" sz="quarter" idx="30"/>
          </p:nvPr>
        </p:nvSpPr>
        <p:spPr>
          <a:xfrm>
            <a:off x="887478" y="2892522"/>
            <a:ext cx="1922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관심도 ▶</a:t>
            </a:r>
          </a:p>
        </p:txBody>
      </p:sp>
      <p:sp>
        <p:nvSpPr>
          <p:cNvPr id="29" name="분류 설명"/>
          <p:cNvSpPr/>
          <p:nvPr/>
        </p:nvSpPr>
        <p:spPr>
          <a:xfrm>
            <a:off x="756000" y="3045913"/>
            <a:ext cx="2076261" cy="252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0" name="분류 설명"/>
          <p:cNvSpPr>
            <a:spLocks noGrp="1"/>
          </p:cNvSpPr>
          <p:nvPr>
            <p:ph type="body" sz="quarter" idx="31"/>
          </p:nvPr>
        </p:nvSpPr>
        <p:spPr>
          <a:xfrm>
            <a:off x="756000" y="3045913"/>
            <a:ext cx="2076261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영향력·관심도 기반 유형 분류</a:t>
            </a:r>
          </a:p>
        </p:txBody>
      </p:sp>
      <p:sp>
        <p:nvSpPr>
          <p:cNvPr id="31" name="소통 패널"/>
          <p:cNvSpPr/>
          <p:nvPr/>
        </p:nvSpPr>
        <p:spPr>
          <a:xfrm>
            <a:off x="2908957" y="1084696"/>
            <a:ext cx="4114174" cy="2246087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패널 머리"/>
          <p:cNvSpPr/>
          <p:nvPr/>
        </p:nvSpPr>
        <p:spPr>
          <a:xfrm>
            <a:off x="2908957" y="1084696"/>
            <a:ext cx="2468504" cy="24104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3" name="패널 머리"/>
          <p:cNvSpPr>
            <a:spLocks noGrp="1"/>
          </p:cNvSpPr>
          <p:nvPr>
            <p:ph type="body" sz="quarter" idx="32"/>
          </p:nvPr>
        </p:nvSpPr>
        <p:spPr>
          <a:xfrm>
            <a:off x="2908957" y="1084696"/>
            <a:ext cx="2468504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유형별 맞춤형 소통</a:t>
            </a:r>
          </a:p>
        </p:txBody>
      </p:sp>
      <p:sp>
        <p:nvSpPr>
          <p:cNvPr id="34" name="패널 머리"/>
          <p:cNvSpPr/>
          <p:nvPr/>
        </p:nvSpPr>
        <p:spPr>
          <a:xfrm>
            <a:off x="5410330" y="1084696"/>
            <a:ext cx="1612800" cy="241043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5" name="패널 머리"/>
          <p:cNvSpPr>
            <a:spLocks noGrp="1"/>
          </p:cNvSpPr>
          <p:nvPr>
            <p:ph type="body" sz="quarter" idx="33"/>
          </p:nvPr>
        </p:nvSpPr>
        <p:spPr>
          <a:xfrm>
            <a:off x="5410330" y="1084696"/>
            <a:ext cx="16128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＋ 전방위 확산(조회수 518만)</a:t>
            </a:r>
          </a:p>
        </p:txBody>
      </p:sp>
      <p:sp>
        <p:nvSpPr>
          <p:cNvPr id="36" name="번호"/>
          <p:cNvSpPr>
            <a:spLocks noGrp="1"/>
          </p:cNvSpPr>
          <p:nvPr>
            <p:ph type="body" sz="quarter" idx="34"/>
          </p:nvPr>
        </p:nvSpPr>
        <p:spPr>
          <a:xfrm>
            <a:off x="2919913" y="1358609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37" name="소통 이름"/>
          <p:cNvSpPr>
            <a:spLocks noGrp="1"/>
          </p:cNvSpPr>
          <p:nvPr>
            <p:ph type="body" sz="quarter" idx="35"/>
          </p:nvPr>
        </p:nvSpPr>
        <p:spPr>
          <a:xfrm>
            <a:off x="3117130" y="1358609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38" name="소통 칩"/>
          <p:cNvSpPr/>
          <p:nvPr/>
        </p:nvSpPr>
        <p:spPr>
          <a:xfrm>
            <a:off x="3117130" y="1593955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소통 칩"/>
          <p:cNvSpPr>
            <a:spLocks noGrp="1"/>
          </p:cNvSpPr>
          <p:nvPr>
            <p:ph type="body" sz="quarter" idx="36"/>
          </p:nvPr>
        </p:nvSpPr>
        <p:spPr>
          <a:xfrm>
            <a:off x="3117130" y="1593955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대응 체계</a:t>
            </a:r>
          </a:p>
        </p:txBody>
      </p:sp>
      <p:sp>
        <p:nvSpPr>
          <p:cNvPr id="40" name="소통 이름"/>
          <p:cNvSpPr>
            <a:spLocks noGrp="1"/>
          </p:cNvSpPr>
          <p:nvPr>
            <p:ph type="body" sz="quarter" idx="37"/>
          </p:nvPr>
        </p:nvSpPr>
        <p:spPr>
          <a:xfrm>
            <a:off x="4241817" y="1358609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종합포털</a:t>
            </a:r>
          </a:p>
        </p:txBody>
      </p:sp>
      <p:sp>
        <p:nvSpPr>
          <p:cNvPr id="41" name="소통 칩"/>
          <p:cNvSpPr/>
          <p:nvPr/>
        </p:nvSpPr>
        <p:spPr>
          <a:xfrm>
            <a:off x="4241817" y="1593955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소통 칩"/>
          <p:cNvSpPr>
            <a:spLocks noGrp="1"/>
          </p:cNvSpPr>
          <p:nvPr>
            <p:ph type="body" sz="quarter" idx="38"/>
          </p:nvPr>
        </p:nvSpPr>
        <p:spPr>
          <a:xfrm>
            <a:off x="4241817" y="1593955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 제공</a:t>
            </a:r>
          </a:p>
        </p:txBody>
      </p:sp>
      <p:sp>
        <p:nvSpPr>
          <p:cNvPr id="43" name="번호"/>
          <p:cNvSpPr>
            <a:spLocks noGrp="1"/>
          </p:cNvSpPr>
          <p:nvPr>
            <p:ph type="body" sz="quarter" idx="39"/>
          </p:nvPr>
        </p:nvSpPr>
        <p:spPr>
          <a:xfrm>
            <a:off x="2919913" y="1848913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44" name="소통 이름"/>
          <p:cNvSpPr>
            <a:spLocks noGrp="1"/>
          </p:cNvSpPr>
          <p:nvPr>
            <p:ph type="body" sz="quarter" idx="40"/>
          </p:nvPr>
        </p:nvSpPr>
        <p:spPr>
          <a:xfrm>
            <a:off x="3117130" y="1848913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협력위원회</a:t>
            </a:r>
          </a:p>
        </p:txBody>
      </p:sp>
      <p:sp>
        <p:nvSpPr>
          <p:cNvPr id="45" name="소통 칩"/>
          <p:cNvSpPr/>
          <p:nvPr/>
        </p:nvSpPr>
        <p:spPr>
          <a:xfrm>
            <a:off x="3117130" y="2084259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소통 칩"/>
          <p:cNvSpPr>
            <a:spLocks noGrp="1"/>
          </p:cNvSpPr>
          <p:nvPr>
            <p:ph type="body" sz="quarter" idx="41"/>
          </p:nvPr>
        </p:nvSpPr>
        <p:spPr>
          <a:xfrm>
            <a:off x="3117130" y="2084259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미래자문위</a:t>
            </a:r>
          </a:p>
        </p:txBody>
      </p:sp>
      <p:sp>
        <p:nvSpPr>
          <p:cNvPr id="47" name="소통 이름"/>
          <p:cNvSpPr>
            <a:spLocks noGrp="1"/>
          </p:cNvSpPr>
          <p:nvPr>
            <p:ph type="body" sz="quarter" idx="42"/>
          </p:nvPr>
        </p:nvSpPr>
        <p:spPr>
          <a:xfrm>
            <a:off x="4241817" y="1848913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경영·정책 제언</a:t>
            </a:r>
          </a:p>
        </p:txBody>
      </p:sp>
      <p:sp>
        <p:nvSpPr>
          <p:cNvPr id="48" name="소통 칩"/>
          <p:cNvSpPr/>
          <p:nvPr/>
        </p:nvSpPr>
        <p:spPr>
          <a:xfrm>
            <a:off x="4241817" y="2084259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소통 칩"/>
          <p:cNvSpPr>
            <a:spLocks noGrp="1"/>
          </p:cNvSpPr>
          <p:nvPr>
            <p:ph type="body" sz="quarter" idx="43"/>
          </p:nvPr>
        </p:nvSpPr>
        <p:spPr>
          <a:xfrm>
            <a:off x="4241817" y="2084259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 소통</a:t>
            </a:r>
          </a:p>
        </p:txBody>
      </p:sp>
      <p:sp>
        <p:nvSpPr>
          <p:cNvPr id="50" name="번호"/>
          <p:cNvSpPr>
            <a:spLocks noGrp="1"/>
          </p:cNvSpPr>
          <p:nvPr>
            <p:ph type="body" sz="quarter" idx="44"/>
          </p:nvPr>
        </p:nvSpPr>
        <p:spPr>
          <a:xfrm>
            <a:off x="2919913" y="2339217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51" name="소통 이름"/>
          <p:cNvSpPr>
            <a:spLocks noGrp="1"/>
          </p:cNvSpPr>
          <p:nvPr>
            <p:ph type="body" sz="quarter" idx="45"/>
          </p:nvPr>
        </p:nvSpPr>
        <p:spPr>
          <a:xfrm>
            <a:off x="3117130" y="2339217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라운드</a:t>
            </a:r>
          </a:p>
        </p:txBody>
      </p:sp>
      <p:sp>
        <p:nvSpPr>
          <p:cNvPr id="52" name="소통 칩"/>
          <p:cNvSpPr/>
          <p:nvPr/>
        </p:nvSpPr>
        <p:spPr>
          <a:xfrm>
            <a:off x="3117130" y="2574563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소통 칩"/>
          <p:cNvSpPr>
            <a:spLocks noGrp="1"/>
          </p:cNvSpPr>
          <p:nvPr>
            <p:ph type="body" sz="quarter" idx="46"/>
          </p:nvPr>
        </p:nvSpPr>
        <p:spPr>
          <a:xfrm>
            <a:off x="3117130" y="2574563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박람회</a:t>
            </a:r>
          </a:p>
        </p:txBody>
      </p:sp>
      <p:sp>
        <p:nvSpPr>
          <p:cNvPr id="54" name="소통 이름"/>
          <p:cNvSpPr>
            <a:spLocks noGrp="1"/>
          </p:cNvSpPr>
          <p:nvPr>
            <p:ph type="body" sz="quarter" idx="47"/>
          </p:nvPr>
        </p:nvSpPr>
        <p:spPr>
          <a:xfrm>
            <a:off x="4241817" y="2339217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육성</a:t>
            </a:r>
          </a:p>
        </p:txBody>
      </p:sp>
      <p:sp>
        <p:nvSpPr>
          <p:cNvPr id="55" name="소통 칩"/>
          <p:cNvSpPr/>
          <p:nvPr/>
        </p:nvSpPr>
        <p:spPr>
          <a:xfrm>
            <a:off x="4241817" y="2574563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6" name="소통 칩"/>
          <p:cNvSpPr>
            <a:spLocks noGrp="1"/>
          </p:cNvSpPr>
          <p:nvPr>
            <p:ph type="body" sz="quarter" idx="48"/>
          </p:nvPr>
        </p:nvSpPr>
        <p:spPr>
          <a:xfrm>
            <a:off x="4241817" y="2574563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지원</a:t>
            </a:r>
          </a:p>
        </p:txBody>
      </p:sp>
      <p:sp>
        <p:nvSpPr>
          <p:cNvPr id="57" name="번호"/>
          <p:cNvSpPr>
            <a:spLocks noGrp="1"/>
          </p:cNvSpPr>
          <p:nvPr>
            <p:ph type="body" sz="quarter" idx="49"/>
          </p:nvPr>
        </p:nvSpPr>
        <p:spPr>
          <a:xfrm>
            <a:off x="2919913" y="2829522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58" name="소통 이름"/>
          <p:cNvSpPr>
            <a:spLocks noGrp="1"/>
          </p:cNvSpPr>
          <p:nvPr>
            <p:ph type="body" sz="quarter" idx="50"/>
          </p:nvPr>
        </p:nvSpPr>
        <p:spPr>
          <a:xfrm>
            <a:off x="3117130" y="2829522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소통센터</a:t>
            </a:r>
          </a:p>
        </p:txBody>
      </p:sp>
      <p:sp>
        <p:nvSpPr>
          <p:cNvPr id="59" name="소통 칩"/>
          <p:cNvSpPr/>
          <p:nvPr/>
        </p:nvSpPr>
        <p:spPr>
          <a:xfrm>
            <a:off x="3117130" y="3064868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0" name="소통 칩"/>
          <p:cNvSpPr>
            <a:spLocks noGrp="1"/>
          </p:cNvSpPr>
          <p:nvPr>
            <p:ph type="body" sz="quarter" idx="51"/>
          </p:nvPr>
        </p:nvSpPr>
        <p:spPr>
          <a:xfrm>
            <a:off x="3117130" y="3064868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교육</a:t>
            </a:r>
          </a:p>
        </p:txBody>
      </p:sp>
      <p:sp>
        <p:nvSpPr>
          <p:cNvPr id="61" name="소통 이름"/>
          <p:cNvSpPr>
            <a:spLocks noGrp="1"/>
          </p:cNvSpPr>
          <p:nvPr>
            <p:ph type="body" sz="quarter" idx="52"/>
          </p:nvPr>
        </p:nvSpPr>
        <p:spPr>
          <a:xfrm>
            <a:off x="4241817" y="2829522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VoC 창구</a:t>
            </a:r>
          </a:p>
        </p:txBody>
      </p:sp>
      <p:sp>
        <p:nvSpPr>
          <p:cNvPr id="62" name="소통 칩"/>
          <p:cNvSpPr/>
          <p:nvPr/>
        </p:nvSpPr>
        <p:spPr>
          <a:xfrm>
            <a:off x="4241817" y="3064868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소통 칩"/>
          <p:cNvSpPr>
            <a:spLocks noGrp="1"/>
          </p:cNvSpPr>
          <p:nvPr>
            <p:ph type="body" sz="quarter" idx="53"/>
          </p:nvPr>
        </p:nvSpPr>
        <p:spPr>
          <a:xfrm>
            <a:off x="4241817" y="3064868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 제고</a:t>
            </a:r>
          </a:p>
        </p:txBody>
      </p:sp>
      <p:sp>
        <p:nvSpPr>
          <p:cNvPr id="64" name="사진 칸"/>
          <p:cNvSpPr/>
          <p:nvPr/>
        </p:nvSpPr>
        <p:spPr>
          <a:xfrm>
            <a:off x="5421287" y="1358609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5" name="사진 칸"/>
          <p:cNvSpPr>
            <a:spLocks noGrp="1"/>
          </p:cNvSpPr>
          <p:nvPr>
            <p:ph type="body" sz="quarter" idx="54"/>
          </p:nvPr>
        </p:nvSpPr>
        <p:spPr>
          <a:xfrm>
            <a:off x="5421287" y="1358609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6" name="태그"/>
          <p:cNvSpPr/>
          <p:nvPr/>
        </p:nvSpPr>
        <p:spPr>
          <a:xfrm>
            <a:off x="6087706" y="1380522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55"/>
          </p:nvPr>
        </p:nvSpPr>
        <p:spPr>
          <a:xfrm>
            <a:off x="6087706" y="1380522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68" name="확산 글"/>
          <p:cNvSpPr>
            <a:spLocks noGrp="1"/>
          </p:cNvSpPr>
          <p:nvPr>
            <p:ph type="body" sz="quarter" idx="56"/>
          </p:nvPr>
        </p:nvSpPr>
        <p:spPr>
          <a:xfrm>
            <a:off x="6087706" y="1522957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영상 채널 협업</a:t>
            </a:r>
          </a:p>
        </p:txBody>
      </p:sp>
      <p:sp>
        <p:nvSpPr>
          <p:cNvPr id="69" name="사진 칸"/>
          <p:cNvSpPr/>
          <p:nvPr/>
        </p:nvSpPr>
        <p:spPr>
          <a:xfrm>
            <a:off x="5421287" y="2012348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0" name="사진 칸"/>
          <p:cNvSpPr>
            <a:spLocks noGrp="1"/>
          </p:cNvSpPr>
          <p:nvPr>
            <p:ph type="body" sz="quarter" idx="57"/>
          </p:nvPr>
        </p:nvSpPr>
        <p:spPr>
          <a:xfrm>
            <a:off x="5421287" y="2012348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1" name="태그"/>
          <p:cNvSpPr/>
          <p:nvPr/>
        </p:nvSpPr>
        <p:spPr>
          <a:xfrm>
            <a:off x="6087706" y="2034261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2" name="태그"/>
          <p:cNvSpPr>
            <a:spLocks noGrp="1"/>
          </p:cNvSpPr>
          <p:nvPr>
            <p:ph type="body" sz="quarter" idx="58"/>
          </p:nvPr>
        </p:nvSpPr>
        <p:spPr>
          <a:xfrm>
            <a:off x="6087706" y="2034261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</a:t>
            </a:r>
          </a:p>
        </p:txBody>
      </p:sp>
      <p:sp>
        <p:nvSpPr>
          <p:cNvPr id="73" name="확산 글"/>
          <p:cNvSpPr>
            <a:spLocks noGrp="1"/>
          </p:cNvSpPr>
          <p:nvPr>
            <p:ph type="body" sz="quarter" idx="59"/>
          </p:nvPr>
        </p:nvSpPr>
        <p:spPr>
          <a:xfrm>
            <a:off x="6087706" y="2176696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콘텐츠 도입</a:t>
            </a:r>
          </a:p>
        </p:txBody>
      </p:sp>
      <p:sp>
        <p:nvSpPr>
          <p:cNvPr id="74" name="사진 칸"/>
          <p:cNvSpPr/>
          <p:nvPr/>
        </p:nvSpPr>
        <p:spPr>
          <a:xfrm>
            <a:off x="5421287" y="2666087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5" name="사진 칸"/>
          <p:cNvSpPr>
            <a:spLocks noGrp="1"/>
          </p:cNvSpPr>
          <p:nvPr>
            <p:ph type="body" sz="quarter" idx="60"/>
          </p:nvPr>
        </p:nvSpPr>
        <p:spPr>
          <a:xfrm>
            <a:off x="5421287" y="2666087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6" name="태그"/>
          <p:cNvSpPr/>
          <p:nvPr/>
        </p:nvSpPr>
        <p:spPr>
          <a:xfrm>
            <a:off x="6087706" y="2688000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7" name="태그"/>
          <p:cNvSpPr>
            <a:spLocks noGrp="1"/>
          </p:cNvSpPr>
          <p:nvPr>
            <p:ph type="body" sz="quarter" idx="61"/>
          </p:nvPr>
        </p:nvSpPr>
        <p:spPr>
          <a:xfrm>
            <a:off x="6087706" y="2688000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몰입</a:t>
            </a:r>
          </a:p>
        </p:txBody>
      </p:sp>
      <p:sp>
        <p:nvSpPr>
          <p:cNvPr id="78" name="확산 글"/>
          <p:cNvSpPr>
            <a:spLocks noGrp="1"/>
          </p:cNvSpPr>
          <p:nvPr>
            <p:ph type="body" sz="quarter" idx="62"/>
          </p:nvPr>
        </p:nvSpPr>
        <p:spPr>
          <a:xfrm>
            <a:off x="6087706" y="2830435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숏폼 등 확대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7 서사 · 혁신연계 → 3대 TF(전략·실행·2030 미래상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설립목적·가치체계 등 본격 이행을 위한 3대 TF 운영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890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857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857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혁신연계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그동안 다져온 역량과 기술력을 기반으로 선제적 실행엔진 가동</a:t>
            </a:r>
          </a:p>
        </p:txBody>
      </p:sp>
      <p:sp>
        <p:nvSpPr>
          <p:cNvPr id="22" name="단계"/>
          <p:cNvSpPr/>
          <p:nvPr/>
        </p:nvSpPr>
        <p:spPr>
          <a:xfrm>
            <a:off x="1161391" y="13914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’23년 새로운 전략</a:t>
            </a:r>
          </a:p>
        </p:txBody>
      </p:sp>
      <p:sp>
        <p:nvSpPr>
          <p:cNvPr id="24" name="단계"/>
          <p:cNvSpPr/>
          <p:nvPr/>
        </p:nvSpPr>
        <p:spPr>
          <a:xfrm>
            <a:off x="3044087" y="13914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재도약의 원년</a:t>
            </a:r>
          </a:p>
        </p:txBody>
      </p:sp>
      <p:sp>
        <p:nvSpPr>
          <p:cNvPr id="26" name="단계"/>
          <p:cNvSpPr/>
          <p:nvPr/>
        </p:nvSpPr>
        <p:spPr>
          <a:xfrm>
            <a:off x="4926783" y="13914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핵심과제로 구체화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3044086" y="1391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4926782" y="1391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출범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「비전」 선포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사업규모와 시장을 넓히는 추진단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3044087" y="1676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 ＋ TF 신설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926783" y="1676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캡션 띠"/>
          <p:cNvSpPr/>
          <p:nvPr/>
        </p:nvSpPr>
        <p:spPr>
          <a:xfrm>
            <a:off x="536869" y="202977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태그"/>
          <p:cNvSpPr/>
          <p:nvPr/>
        </p:nvSpPr>
        <p:spPr>
          <a:xfrm>
            <a:off x="865565" y="2073600"/>
            <a:ext cx="48327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1"/>
          </p:nvPr>
        </p:nvSpPr>
        <p:spPr>
          <a:xfrm>
            <a:off x="865565" y="2073600"/>
            <a:ext cx="48327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전환</a:t>
            </a:r>
          </a:p>
        </p:txBody>
      </p:sp>
      <p:sp>
        <p:nvSpPr>
          <p:cNvPr id="38" name="캡션"/>
          <p:cNvSpPr>
            <a:spLocks noGrp="1"/>
          </p:cNvSpPr>
          <p:nvPr>
            <p:ph type="body" sz="quarter" idx="32"/>
          </p:nvPr>
        </p:nvSpPr>
        <p:spPr>
          <a:xfrm>
            <a:off x="1403622" y="2029774"/>
            <a:ext cx="5214117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정부는 글로벌 AI 3대 강국, 우리는 2030 1위 도약</a:t>
            </a:r>
          </a:p>
        </p:txBody>
      </p:sp>
      <p:sp>
        <p:nvSpPr>
          <p:cNvPr id="39" name="표 외곽"/>
          <p:cNvSpPr/>
          <p:nvPr/>
        </p:nvSpPr>
        <p:spPr>
          <a:xfrm>
            <a:off x="536870" y="2336557"/>
            <a:ext cx="6300000" cy="20313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레일"/>
          <p:cNvSpPr/>
          <p:nvPr/>
        </p:nvSpPr>
        <p:spPr>
          <a:xfrm>
            <a:off x="547826" y="2352991"/>
            <a:ext cx="580696" cy="9698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2352991"/>
            <a:ext cx="580696" cy="9698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기획단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374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입증된 AI 글로벌 역량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374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5"/>
          </p:nvPr>
        </p:nvSpPr>
        <p:spPr>
          <a:xfrm>
            <a:off x="3044087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374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6"/>
          </p:nvPr>
        </p:nvSpPr>
        <p:spPr>
          <a:xfrm>
            <a:off x="4926783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 연계 전략기획단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374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37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선정 사례(최초)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초격차 기술로 글로벌 선도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2659774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‘3대 목표 – 7대 전략 – 132개 과제’ 수립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2659774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전략방향: AI 확산 본격화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국정과제: AI 3대 강국 도약</a:t>
            </a:r>
          </a:p>
        </p:txBody>
      </p:sp>
      <p:cxnSp>
        <p:nvCxnSpPr>
          <p:cNvPr id="57" name="Connector 42"/>
          <p:cNvCxnSpPr/>
          <p:nvPr/>
        </p:nvCxnSpPr>
        <p:spPr>
          <a:xfrm>
            <a:off x="3044087" y="30132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초연결 업무환경 · 완전 자율운영 · 생태계</a:t>
            </a:r>
          </a:p>
        </p:txBody>
      </p:sp>
      <p:cxnSp>
        <p:nvCxnSpPr>
          <p:cNvPr id="59" name="Connector 44"/>
          <p:cNvCxnSpPr/>
          <p:nvPr/>
        </p:nvCxnSpPr>
        <p:spPr>
          <a:xfrm>
            <a:off x="4926783" y="30132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레일"/>
          <p:cNvSpPr/>
          <p:nvPr/>
        </p:nvSpPr>
        <p:spPr>
          <a:xfrm>
            <a:off x="547826" y="3339235"/>
            <a:ext cx="580696" cy="10122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339235"/>
            <a:ext cx="580696" cy="1012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547826" y="33392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배너"/>
          <p:cNvSpPr/>
          <p:nvPr/>
        </p:nvSpPr>
        <p:spPr>
          <a:xfrm>
            <a:off x="1161391" y="33611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4" name="배너"/>
          <p:cNvSpPr>
            <a:spLocks noGrp="1"/>
          </p:cNvSpPr>
          <p:nvPr>
            <p:ph type="body" sz="quarter" idx="44"/>
          </p:nvPr>
        </p:nvSpPr>
        <p:spPr>
          <a:xfrm>
            <a:off x="1161391" y="33611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2030년까지 AI분야 글로벌 Top1 달성을 위한 전략·실행로드맵 수립</a:t>
            </a:r>
          </a:p>
        </p:txBody>
      </p:sp>
      <p:sp>
        <p:nvSpPr>
          <p:cNvPr id="65" name="단계"/>
          <p:cNvSpPr/>
          <p:nvPr/>
        </p:nvSpPr>
        <p:spPr>
          <a:xfrm>
            <a:off x="1161391" y="35967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6" name="단계"/>
          <p:cNvSpPr>
            <a:spLocks noGrp="1"/>
          </p:cNvSpPr>
          <p:nvPr>
            <p:ph type="body" sz="quarter" idx="45"/>
          </p:nvPr>
        </p:nvSpPr>
        <p:spPr>
          <a:xfrm>
            <a:off x="1161391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금년(’25)</a:t>
            </a:r>
          </a:p>
        </p:txBody>
      </p:sp>
      <p:sp>
        <p:nvSpPr>
          <p:cNvPr id="67" name="단계"/>
          <p:cNvSpPr/>
          <p:nvPr/>
        </p:nvSpPr>
        <p:spPr>
          <a:xfrm>
            <a:off x="3044087" y="35967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8" name="단계"/>
          <p:cNvSpPr>
            <a:spLocks noGrp="1"/>
          </p:cNvSpPr>
          <p:nvPr>
            <p:ph type="body" sz="quarter" idx="46"/>
          </p:nvPr>
        </p:nvSpPr>
        <p:spPr>
          <a:xfrm>
            <a:off x="3044087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단기(’28)</a:t>
            </a:r>
          </a:p>
        </p:txBody>
      </p:sp>
      <p:sp>
        <p:nvSpPr>
          <p:cNvPr id="69" name="단계"/>
          <p:cNvSpPr/>
          <p:nvPr/>
        </p:nvSpPr>
        <p:spPr>
          <a:xfrm>
            <a:off x="4926783" y="35967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47"/>
          </p:nvPr>
        </p:nvSpPr>
        <p:spPr>
          <a:xfrm>
            <a:off x="4926783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장기(’30)</a:t>
            </a:r>
          </a:p>
        </p:txBody>
      </p:sp>
      <p:sp>
        <p:nvSpPr>
          <p:cNvPr id="71" name="단계 삼각형"/>
          <p:cNvSpPr/>
          <p:nvPr/>
        </p:nvSpPr>
        <p:spPr>
          <a:xfrm>
            <a:off x="3044086" y="35967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단계 삼각형"/>
          <p:cNvSpPr/>
          <p:nvPr/>
        </p:nvSpPr>
        <p:spPr>
          <a:xfrm>
            <a:off x="4926782" y="35967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기술·인적·제도적 토대 구축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49"/>
          </p:nvPr>
        </p:nvSpPr>
        <p:spPr>
          <a:xfrm>
            <a:off x="3055043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솔루션 도입 및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표준화 글로벌 확산기반 마련</a:t>
            </a:r>
          </a:p>
        </p:txBody>
      </p:sp>
      <p:cxnSp>
        <p:nvCxnSpPr>
          <p:cNvPr id="75" name="Connector 55"/>
          <p:cNvCxnSpPr/>
          <p:nvPr/>
        </p:nvCxnSpPr>
        <p:spPr>
          <a:xfrm>
            <a:off x="3044087" y="3881583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칸 본문"/>
          <p:cNvSpPr>
            <a:spLocks noGrp="1"/>
          </p:cNvSpPr>
          <p:nvPr>
            <p:ph type="body" sz="quarter" idx="50"/>
          </p:nvPr>
        </p:nvSpPr>
        <p:spPr>
          <a:xfrm>
            <a:off x="4937739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자율형 시스템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시장 리더십 확보</a:t>
            </a:r>
          </a:p>
        </p:txBody>
      </p:sp>
      <p:cxnSp>
        <p:nvCxnSpPr>
          <p:cNvPr id="77" name="Connector 57"/>
          <p:cNvCxnSpPr/>
          <p:nvPr/>
        </p:nvCxnSpPr>
        <p:spPr>
          <a:xfrm>
            <a:off x="4926783" y="3881583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8" name="캡션 띠"/>
          <p:cNvSpPr/>
          <p:nvPr/>
        </p:nvSpPr>
        <p:spPr>
          <a:xfrm>
            <a:off x="536869" y="43898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태그"/>
          <p:cNvSpPr/>
          <p:nvPr/>
        </p:nvSpPr>
        <p:spPr>
          <a:xfrm>
            <a:off x="865565" y="4433635"/>
            <a:ext cx="40203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0" name="태그"/>
          <p:cNvSpPr>
            <a:spLocks noGrp="1"/>
          </p:cNvSpPr>
          <p:nvPr>
            <p:ph type="body" sz="quarter" idx="51"/>
          </p:nvPr>
        </p:nvSpPr>
        <p:spPr>
          <a:xfrm>
            <a:off x="865565" y="4433635"/>
            <a:ext cx="40203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재생e</a:t>
            </a:r>
          </a:p>
        </p:txBody>
      </p:sp>
      <p:sp>
        <p:nvSpPr>
          <p:cNvPr id="81" name="캡션"/>
          <p:cNvSpPr>
            <a:spLocks noGrp="1"/>
          </p:cNvSpPr>
          <p:nvPr>
            <p:ph type="body" sz="quarter" idx="52"/>
          </p:nvPr>
        </p:nvSpPr>
        <p:spPr>
          <a:xfrm>
            <a:off x="1322381" y="4389809"/>
            <a:ext cx="5295358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재생에너지 100GW 국정과제 동행, 인프라로 10GW 조기확보</a:t>
            </a:r>
          </a:p>
        </p:txBody>
      </p:sp>
      <p:sp>
        <p:nvSpPr>
          <p:cNvPr id="82" name="표 외곽"/>
          <p:cNvSpPr/>
          <p:nvPr/>
        </p:nvSpPr>
        <p:spPr>
          <a:xfrm>
            <a:off x="536870" y="4696591"/>
            <a:ext cx="6300000" cy="1747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레일"/>
          <p:cNvSpPr/>
          <p:nvPr/>
        </p:nvSpPr>
        <p:spPr>
          <a:xfrm>
            <a:off x="547826" y="4713026"/>
            <a:ext cx="580696" cy="865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3"/>
          </p:nvPr>
        </p:nvSpPr>
        <p:spPr>
          <a:xfrm>
            <a:off x="547826" y="4713026"/>
            <a:ext cx="580696" cy="865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85" name="단계"/>
          <p:cNvSpPr/>
          <p:nvPr/>
        </p:nvSpPr>
        <p:spPr>
          <a:xfrm>
            <a:off x="1161391" y="47349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6" name="단계"/>
          <p:cNvSpPr>
            <a:spLocks noGrp="1"/>
          </p:cNvSpPr>
          <p:nvPr>
            <p:ph type="body" sz="quarter" idx="54"/>
          </p:nvPr>
        </p:nvSpPr>
        <p:spPr>
          <a:xfrm>
            <a:off x="1161391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설비용량 1위</a:t>
            </a:r>
          </a:p>
        </p:txBody>
      </p:sp>
      <p:sp>
        <p:nvSpPr>
          <p:cNvPr id="87" name="단계"/>
          <p:cNvSpPr/>
          <p:nvPr/>
        </p:nvSpPr>
        <p:spPr>
          <a:xfrm>
            <a:off x="3044087" y="47349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8" name="단계"/>
          <p:cNvSpPr>
            <a:spLocks noGrp="1"/>
          </p:cNvSpPr>
          <p:nvPr>
            <p:ph type="body" sz="quarter" idx="55"/>
          </p:nvPr>
        </p:nvSpPr>
        <p:spPr>
          <a:xfrm>
            <a:off x="3044087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89" name="단계"/>
          <p:cNvSpPr/>
          <p:nvPr/>
        </p:nvSpPr>
        <p:spPr>
          <a:xfrm>
            <a:off x="4926783" y="47349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0" name="단계"/>
          <p:cNvSpPr>
            <a:spLocks noGrp="1"/>
          </p:cNvSpPr>
          <p:nvPr>
            <p:ph type="body" sz="quarter" idx="56"/>
          </p:nvPr>
        </p:nvSpPr>
        <p:spPr>
          <a:xfrm>
            <a:off x="4926783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속도감 있는 도전</a:t>
            </a:r>
          </a:p>
        </p:txBody>
      </p:sp>
      <p:sp>
        <p:nvSpPr>
          <p:cNvPr id="91" name="단계 삼각형"/>
          <p:cNvSpPr/>
          <p:nvPr/>
        </p:nvSpPr>
        <p:spPr>
          <a:xfrm>
            <a:off x="3044086" y="47349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단계 삼각형"/>
          <p:cNvSpPr/>
          <p:nvPr/>
        </p:nvSpPr>
        <p:spPr>
          <a:xfrm>
            <a:off x="4926782" y="47349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정체 우려</a:t>
            </a:r>
          </a:p>
        </p:txBody>
      </p:sp>
      <p:sp>
        <p:nvSpPr>
          <p:cNvPr id="94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저탄소 에너지 전환</a:t>
            </a:r>
          </a:p>
        </p:txBody>
      </p:sp>
      <p:cxnSp>
        <p:nvCxnSpPr>
          <p:cNvPr id="95" name="Connector 70"/>
          <p:cNvCxnSpPr/>
          <p:nvPr/>
        </p:nvCxnSpPr>
        <p:spPr>
          <a:xfrm>
            <a:off x="3044087" y="5019809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10GW(누적) 개발’</a:t>
            </a:r>
          </a:p>
        </p:txBody>
      </p:sp>
      <p:cxnSp>
        <p:nvCxnSpPr>
          <p:cNvPr id="97" name="Connector 72"/>
          <p:cNvCxnSpPr/>
          <p:nvPr/>
        </p:nvCxnSpPr>
        <p:spPr>
          <a:xfrm>
            <a:off x="4926783" y="5019809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8" name="칸 본문"/>
          <p:cNvSpPr>
            <a:spLocks noGrp="1"/>
          </p:cNvSpPr>
          <p:nvPr>
            <p:ph type="body" sz="quarter" idx="60"/>
          </p:nvPr>
        </p:nvSpPr>
        <p:spPr>
          <a:xfrm>
            <a:off x="1172348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이익공유형 태양광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1"/>
          </p:nvPr>
        </p:nvSpPr>
        <p:spPr>
          <a:xfrm>
            <a:off x="3055043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개발 확대</a:t>
            </a:r>
          </a:p>
        </p:txBody>
      </p:sp>
      <p:cxnSp>
        <p:nvCxnSpPr>
          <p:cNvPr id="100" name="Connector 75"/>
          <p:cNvCxnSpPr/>
          <p:nvPr/>
        </p:nvCxnSpPr>
        <p:spPr>
          <a:xfrm>
            <a:off x="3044087" y="5343026"/>
            <a:ext cx="0" cy="197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2"/>
          </p:nvPr>
        </p:nvSpPr>
        <p:spPr>
          <a:xfrm>
            <a:off x="4937739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확산</a:t>
            </a:r>
          </a:p>
        </p:txBody>
      </p:sp>
      <p:cxnSp>
        <p:nvCxnSpPr>
          <p:cNvPr id="102" name="Connector 77"/>
          <p:cNvCxnSpPr/>
          <p:nvPr/>
        </p:nvCxnSpPr>
        <p:spPr>
          <a:xfrm>
            <a:off x="4926783" y="5343026"/>
            <a:ext cx="0" cy="197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레일"/>
          <p:cNvSpPr/>
          <p:nvPr/>
        </p:nvSpPr>
        <p:spPr>
          <a:xfrm>
            <a:off x="547826" y="5595026"/>
            <a:ext cx="580696" cy="83269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4" name="레일"/>
          <p:cNvSpPr>
            <a:spLocks noGrp="1"/>
          </p:cNvSpPr>
          <p:nvPr>
            <p:ph type="body" sz="quarter" idx="63"/>
          </p:nvPr>
        </p:nvSpPr>
        <p:spPr>
          <a:xfrm>
            <a:off x="547826" y="5595026"/>
            <a:ext cx="580696" cy="83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05" name="레일 삼각형"/>
          <p:cNvSpPr/>
          <p:nvPr/>
        </p:nvSpPr>
        <p:spPr>
          <a:xfrm>
            <a:off x="547826" y="55950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배너"/>
          <p:cNvSpPr/>
          <p:nvPr/>
        </p:nvSpPr>
        <p:spPr>
          <a:xfrm>
            <a:off x="1161391" y="56169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7" name="배너"/>
          <p:cNvSpPr>
            <a:spLocks noGrp="1"/>
          </p:cNvSpPr>
          <p:nvPr>
            <p:ph type="body" sz="quarter" idx="64"/>
          </p:nvPr>
        </p:nvSpPr>
        <p:spPr>
          <a:xfrm>
            <a:off x="1161391" y="56169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10년의 기반 위에 재생e 국가목표의 10% 10GW 도약·달성</a:t>
            </a:r>
          </a:p>
        </p:txBody>
      </p:sp>
      <p:sp>
        <p:nvSpPr>
          <p:cNvPr id="108" name="머리칸"/>
          <p:cNvSpPr/>
          <p:nvPr/>
        </p:nvSpPr>
        <p:spPr>
          <a:xfrm>
            <a:off x="1161391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9" name="머리칸"/>
          <p:cNvSpPr>
            <a:spLocks noGrp="1"/>
          </p:cNvSpPr>
          <p:nvPr>
            <p:ph type="body" sz="quarter" idx="65"/>
          </p:nvPr>
        </p:nvSpPr>
        <p:spPr>
          <a:xfrm>
            <a:off x="1161391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주민이익 공유형 마을</a:t>
            </a:r>
          </a:p>
        </p:txBody>
      </p:sp>
      <p:sp>
        <p:nvSpPr>
          <p:cNvPr id="110" name="머리칸"/>
          <p:cNvSpPr/>
          <p:nvPr/>
        </p:nvSpPr>
        <p:spPr>
          <a:xfrm>
            <a:off x="3044087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1" name="머리칸"/>
          <p:cNvSpPr>
            <a:spLocks noGrp="1"/>
          </p:cNvSpPr>
          <p:nvPr>
            <p:ph type="body" sz="quarter" idx="66"/>
          </p:nvPr>
        </p:nvSpPr>
        <p:spPr>
          <a:xfrm>
            <a:off x="3044087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직접공급(PPA)</a:t>
            </a:r>
          </a:p>
        </p:txBody>
      </p:sp>
      <p:sp>
        <p:nvSpPr>
          <p:cNvPr id="112" name="머리칸"/>
          <p:cNvSpPr/>
          <p:nvPr/>
        </p:nvSpPr>
        <p:spPr>
          <a:xfrm>
            <a:off x="4926783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3" name="머리칸"/>
          <p:cNvSpPr>
            <a:spLocks noGrp="1"/>
          </p:cNvSpPr>
          <p:nvPr>
            <p:ph type="body" sz="quarter" idx="67"/>
          </p:nvPr>
        </p:nvSpPr>
        <p:spPr>
          <a:xfrm>
            <a:off x="4926783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→ 확대</a:t>
            </a:r>
          </a:p>
        </p:txBody>
      </p:sp>
      <p:sp>
        <p:nvSpPr>
          <p:cNvPr id="114" name="칸 본문"/>
          <p:cNvSpPr>
            <a:spLocks noGrp="1"/>
          </p:cNvSpPr>
          <p:nvPr>
            <p:ph type="body" sz="quarter" idx="68"/>
          </p:nvPr>
        </p:nvSpPr>
        <p:spPr>
          <a:xfrm>
            <a:off x="1172348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32개소 마을 조성</a:t>
            </a:r>
          </a:p>
        </p:txBody>
      </p:sp>
      <p:sp>
        <p:nvSpPr>
          <p:cNvPr id="115" name="칸 본문"/>
          <p:cNvSpPr>
            <a:spLocks noGrp="1"/>
          </p:cNvSpPr>
          <p:nvPr>
            <p:ph type="body" sz="quarter" idx="69"/>
          </p:nvPr>
        </p:nvSpPr>
        <p:spPr>
          <a:xfrm>
            <a:off x="3055043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소수력 등 444MW</a:t>
            </a:r>
          </a:p>
        </p:txBody>
      </p:sp>
      <p:cxnSp>
        <p:nvCxnSpPr>
          <p:cNvPr id="116" name="Connector 86"/>
          <p:cNvCxnSpPr/>
          <p:nvPr/>
        </p:nvCxnSpPr>
        <p:spPr>
          <a:xfrm>
            <a:off x="3044087" y="6126417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7" name="칸 본문"/>
          <p:cNvSpPr>
            <a:spLocks noGrp="1"/>
          </p:cNvSpPr>
          <p:nvPr>
            <p:ph type="body" sz="quarter" idx="70"/>
          </p:nvPr>
        </p:nvSpPr>
        <p:spPr>
          <a:xfrm>
            <a:off x="4937739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대수력 포함 975MW</a:t>
            </a:r>
          </a:p>
        </p:txBody>
      </p:sp>
      <p:cxnSp>
        <p:nvCxnSpPr>
          <p:cNvPr id="118" name="Connector 88"/>
          <p:cNvCxnSpPr/>
          <p:nvPr/>
        </p:nvCxnSpPr>
        <p:spPr>
          <a:xfrm>
            <a:off x="4926783" y="6126417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9" name="캡션 띠"/>
          <p:cNvSpPr/>
          <p:nvPr/>
        </p:nvSpPr>
        <p:spPr>
          <a:xfrm>
            <a:off x="536869" y="64660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태그"/>
          <p:cNvSpPr/>
          <p:nvPr/>
        </p:nvSpPr>
        <p:spPr>
          <a:xfrm>
            <a:off x="865565" y="6509896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21" name="태그"/>
          <p:cNvSpPr>
            <a:spLocks noGrp="1"/>
          </p:cNvSpPr>
          <p:nvPr>
            <p:ph type="body" sz="quarter" idx="71"/>
          </p:nvPr>
        </p:nvSpPr>
        <p:spPr>
          <a:xfrm>
            <a:off x="865565" y="6509896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</a:t>
            </a:r>
          </a:p>
        </p:txBody>
      </p:sp>
      <p:sp>
        <p:nvSpPr>
          <p:cNvPr id="122" name="캡션"/>
          <p:cNvSpPr>
            <a:spLocks noGrp="1"/>
          </p:cNvSpPr>
          <p:nvPr>
            <p:ph type="body" sz="quarter" idx="72"/>
          </p:nvPr>
        </p:nvSpPr>
        <p:spPr>
          <a:xfrm>
            <a:off x="1468988" y="6466070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첨단산업 초격차를 지키는 생명수 공급</a:t>
            </a:r>
          </a:p>
        </p:txBody>
      </p:sp>
      <p:sp>
        <p:nvSpPr>
          <p:cNvPr id="123" name="표 외곽"/>
          <p:cNvSpPr/>
          <p:nvPr/>
        </p:nvSpPr>
        <p:spPr>
          <a:xfrm>
            <a:off x="536870" y="6772852"/>
            <a:ext cx="6300000" cy="1314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"/>
          <p:cNvSpPr/>
          <p:nvPr/>
        </p:nvSpPr>
        <p:spPr>
          <a:xfrm>
            <a:off x="547826" y="6789287"/>
            <a:ext cx="580696" cy="58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5" name="레일"/>
          <p:cNvSpPr>
            <a:spLocks noGrp="1"/>
          </p:cNvSpPr>
          <p:nvPr>
            <p:ph type="body" sz="quarter" idx="73"/>
          </p:nvPr>
        </p:nvSpPr>
        <p:spPr>
          <a:xfrm>
            <a:off x="547826" y="6789287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126" name="단계"/>
          <p:cNvSpPr/>
          <p:nvPr/>
        </p:nvSpPr>
        <p:spPr>
          <a:xfrm>
            <a:off x="1161391" y="681120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27" name="단계"/>
          <p:cNvSpPr>
            <a:spLocks noGrp="1"/>
          </p:cNvSpPr>
          <p:nvPr>
            <p:ph type="body" sz="quarter" idx="74"/>
          </p:nvPr>
        </p:nvSpPr>
        <p:spPr>
          <a:xfrm>
            <a:off x="1161391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 4대 강국 도약</a:t>
            </a:r>
          </a:p>
        </p:txBody>
      </p:sp>
      <p:sp>
        <p:nvSpPr>
          <p:cNvPr id="128" name="단계"/>
          <p:cNvSpPr/>
          <p:nvPr/>
        </p:nvSpPr>
        <p:spPr>
          <a:xfrm>
            <a:off x="3044087" y="681120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29" name="단계"/>
          <p:cNvSpPr>
            <a:spLocks noGrp="1"/>
          </p:cNvSpPr>
          <p:nvPr>
            <p:ph type="body" sz="quarter" idx="75"/>
          </p:nvPr>
        </p:nvSpPr>
        <p:spPr>
          <a:xfrm>
            <a:off x="3044087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130" name="단계"/>
          <p:cNvSpPr/>
          <p:nvPr/>
        </p:nvSpPr>
        <p:spPr>
          <a:xfrm>
            <a:off x="4926783" y="681120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31" name="단계"/>
          <p:cNvSpPr>
            <a:spLocks noGrp="1"/>
          </p:cNvSpPr>
          <p:nvPr>
            <p:ph type="body" sz="quarter" idx="76"/>
          </p:nvPr>
        </p:nvSpPr>
        <p:spPr>
          <a:xfrm>
            <a:off x="4926783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 활성화</a:t>
            </a:r>
          </a:p>
        </p:txBody>
      </p:sp>
      <p:sp>
        <p:nvSpPr>
          <p:cNvPr id="132" name="단계 삼각형"/>
          <p:cNvSpPr/>
          <p:nvPr/>
        </p:nvSpPr>
        <p:spPr>
          <a:xfrm>
            <a:off x="3044086" y="68112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단계 삼각형"/>
          <p:cNvSpPr/>
          <p:nvPr/>
        </p:nvSpPr>
        <p:spPr>
          <a:xfrm>
            <a:off x="4926782" y="68112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4" name="칸 본문"/>
          <p:cNvSpPr>
            <a:spLocks noGrp="1"/>
          </p:cNvSpPr>
          <p:nvPr>
            <p:ph type="body" sz="quarter" idx="77"/>
          </p:nvPr>
        </p:nvSpPr>
        <p:spPr>
          <a:xfrm>
            <a:off x="1172348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글로벌·R&amp;D 진출</a:t>
            </a:r>
          </a:p>
        </p:txBody>
      </p:sp>
      <p:sp>
        <p:nvSpPr>
          <p:cNvPr id="135" name="칸 본문"/>
          <p:cNvSpPr>
            <a:spLocks noGrp="1"/>
          </p:cNvSpPr>
          <p:nvPr>
            <p:ph type="body" sz="quarter" idx="78"/>
          </p:nvPr>
        </p:nvSpPr>
        <p:spPr>
          <a:xfrm>
            <a:off x="3055043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적기 용수공급</a:t>
            </a:r>
          </a:p>
        </p:txBody>
      </p:sp>
      <p:cxnSp>
        <p:nvCxnSpPr>
          <p:cNvPr id="136" name="Connector 101"/>
          <p:cNvCxnSpPr/>
          <p:nvPr/>
        </p:nvCxnSpPr>
        <p:spPr>
          <a:xfrm>
            <a:off x="3044087" y="7096070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7" name="칸 본문"/>
          <p:cNvSpPr>
            <a:spLocks noGrp="1"/>
          </p:cNvSpPr>
          <p:nvPr>
            <p:ph type="body" sz="quarter" idx="79"/>
          </p:nvPr>
        </p:nvSpPr>
        <p:spPr>
          <a:xfrm>
            <a:off x="4937739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일 87만㎥ 공급’</a:t>
            </a:r>
          </a:p>
        </p:txBody>
      </p:sp>
      <p:cxnSp>
        <p:nvCxnSpPr>
          <p:cNvPr id="138" name="Connector 103"/>
          <p:cNvCxnSpPr/>
          <p:nvPr/>
        </p:nvCxnSpPr>
        <p:spPr>
          <a:xfrm>
            <a:off x="4926783" y="7096070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9" name="레일"/>
          <p:cNvSpPr/>
          <p:nvPr/>
        </p:nvSpPr>
        <p:spPr>
          <a:xfrm>
            <a:off x="547826" y="7391896"/>
            <a:ext cx="580696" cy="67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0" name="레일"/>
          <p:cNvSpPr>
            <a:spLocks noGrp="1"/>
          </p:cNvSpPr>
          <p:nvPr>
            <p:ph type="body" sz="quarter" idx="80"/>
          </p:nvPr>
        </p:nvSpPr>
        <p:spPr>
          <a:xfrm>
            <a:off x="547826" y="7391896"/>
            <a:ext cx="580696" cy="67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41" name="레일 삼각형"/>
          <p:cNvSpPr/>
          <p:nvPr/>
        </p:nvSpPr>
        <p:spPr>
          <a:xfrm>
            <a:off x="547826" y="739189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2" name="배너"/>
          <p:cNvSpPr/>
          <p:nvPr/>
        </p:nvSpPr>
        <p:spPr>
          <a:xfrm>
            <a:off x="1161391" y="741380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43" name="배너"/>
          <p:cNvSpPr>
            <a:spLocks noGrp="1"/>
          </p:cNvSpPr>
          <p:nvPr>
            <p:ph type="body" sz="quarter" idx="81"/>
          </p:nvPr>
        </p:nvSpPr>
        <p:spPr>
          <a:xfrm>
            <a:off x="1161391" y="741380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사업·기술·인적 역량 강화로 물산업 글로벌 진출 촉진</a:t>
            </a:r>
          </a:p>
        </p:txBody>
      </p:sp>
      <p:sp>
        <p:nvSpPr>
          <p:cNvPr id="144" name="태그"/>
          <p:cNvSpPr/>
          <p:nvPr/>
        </p:nvSpPr>
        <p:spPr>
          <a:xfrm>
            <a:off x="1161391" y="767128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5" name="태그"/>
          <p:cNvSpPr>
            <a:spLocks noGrp="1"/>
          </p:cNvSpPr>
          <p:nvPr>
            <p:ph type="body" sz="quarter" idx="82"/>
          </p:nvPr>
        </p:nvSpPr>
        <p:spPr>
          <a:xfrm>
            <a:off x="1161391" y="76712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</a:t>
            </a:r>
          </a:p>
        </p:txBody>
      </p:sp>
      <p:sp>
        <p:nvSpPr>
          <p:cNvPr id="146" name="태그 설명"/>
          <p:cNvSpPr>
            <a:spLocks noGrp="1"/>
          </p:cNvSpPr>
          <p:nvPr>
            <p:ph type="body" sz="quarter" idx="83"/>
          </p:nvPr>
        </p:nvSpPr>
        <p:spPr>
          <a:xfrm>
            <a:off x="1786727" y="76603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운영관리에서 건설운영까지 국내 시장 14% 진출</a:t>
            </a:r>
          </a:p>
        </p:txBody>
      </p:sp>
      <p:sp>
        <p:nvSpPr>
          <p:cNvPr id="147" name="태그"/>
          <p:cNvSpPr/>
          <p:nvPr/>
        </p:nvSpPr>
        <p:spPr>
          <a:xfrm>
            <a:off x="1161391" y="7868504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8" name="태그"/>
          <p:cNvSpPr>
            <a:spLocks noGrp="1"/>
          </p:cNvSpPr>
          <p:nvPr>
            <p:ph type="body" sz="quarter" idx="84"/>
          </p:nvPr>
        </p:nvSpPr>
        <p:spPr>
          <a:xfrm>
            <a:off x="1161391" y="7868504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물재이용</a:t>
            </a:r>
          </a:p>
        </p:txBody>
      </p:sp>
      <p:sp>
        <p:nvSpPr>
          <p:cNvPr id="149" name="태그 설명"/>
          <p:cNvSpPr>
            <a:spLocks noGrp="1"/>
          </p:cNvSpPr>
          <p:nvPr>
            <p:ph type="body" sz="quarter" idx="85"/>
          </p:nvPr>
        </p:nvSpPr>
        <p:spPr>
          <a:xfrm>
            <a:off x="1786727" y="785754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공공주도 사업 다각화로 시장 30% 진출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8 서사 · 프로세스 로드맵 → 정책 제안 → 과제 지도 → 방향 설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제안·반영으로 임무지향성 확보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배너"/>
          <p:cNvSpPr/>
          <p:nvPr/>
        </p:nvSpPr>
        <p:spPr>
          <a:xfrm>
            <a:off x="723130" y="1128521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태그"/>
          <p:cNvSpPr/>
          <p:nvPr/>
        </p:nvSpPr>
        <p:spPr>
          <a:xfrm>
            <a:off x="942261" y="1183304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태그"/>
          <p:cNvSpPr>
            <a:spLocks noGrp="1"/>
          </p:cNvSpPr>
          <p:nvPr>
            <p:ph type="body" sz="quarter" idx="23"/>
          </p:nvPr>
        </p:nvSpPr>
        <p:spPr>
          <a:xfrm>
            <a:off x="942261" y="1183304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19" name="배너 글"/>
          <p:cNvSpPr>
            <a:spLocks noGrp="1"/>
          </p:cNvSpPr>
          <p:nvPr>
            <p:ph type="body" sz="quarter" idx="24"/>
          </p:nvPr>
        </p:nvSpPr>
        <p:spPr>
          <a:xfrm>
            <a:off x="1545683" y="1128522"/>
            <a:ext cx="5313099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공약 단계부터 국정과제 이행계획 수립 및 전략 반영까지 로드맵</a:t>
            </a:r>
          </a:p>
        </p:txBody>
      </p:sp>
      <p:sp>
        <p:nvSpPr>
          <p:cNvPr id="20" name="주체 박스"/>
          <p:cNvSpPr/>
          <p:nvPr/>
        </p:nvSpPr>
        <p:spPr>
          <a:xfrm>
            <a:off x="723130" y="1457217"/>
            <a:ext cx="1197000" cy="127095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21" name="주체 박스"/>
          <p:cNvSpPr>
            <a:spLocks noGrp="1"/>
          </p:cNvSpPr>
          <p:nvPr>
            <p:ph type="body" sz="quarter" idx="25"/>
          </p:nvPr>
        </p:nvSpPr>
        <p:spPr>
          <a:xfrm>
            <a:off x="723130" y="1457217"/>
            <a:ext cx="1197000" cy="127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First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＋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 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 TF</a:t>
            </a:r>
          </a:p>
        </p:txBody>
      </p:sp>
      <p:sp>
        <p:nvSpPr>
          <p:cNvPr id="22" name="시작"/>
          <p:cNvSpPr>
            <a:spLocks noGrp="1"/>
          </p:cNvSpPr>
          <p:nvPr>
            <p:ph type="body" sz="quarter" idx="26"/>
          </p:nvPr>
        </p:nvSpPr>
        <p:spPr>
          <a:xfrm>
            <a:off x="1942043" y="2016000"/>
            <a:ext cx="449217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START</a:t>
            </a:r>
          </a:p>
        </p:txBody>
      </p:sp>
      <p:sp>
        <p:nvSpPr>
          <p:cNvPr id="23" name="로드맵 선"/>
          <p:cNvSpPr/>
          <p:nvPr/>
        </p:nvSpPr>
        <p:spPr>
          <a:xfrm>
            <a:off x="2413174" y="2076261"/>
            <a:ext cx="4577087" cy="3287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위 마디"/>
          <p:cNvSpPr/>
          <p:nvPr/>
        </p:nvSpPr>
        <p:spPr>
          <a:xfrm>
            <a:off x="2424130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위 마디"/>
          <p:cNvSpPr>
            <a:spLocks noGrp="1"/>
          </p:cNvSpPr>
          <p:nvPr>
            <p:ph type="body" sz="quarter" idx="27"/>
          </p:nvPr>
        </p:nvSpPr>
        <p:spPr>
          <a:xfrm>
            <a:off x="2424130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공약분석</a:t>
            </a:r>
          </a:p>
        </p:txBody>
      </p:sp>
      <p:sp>
        <p:nvSpPr>
          <p:cNvPr id="26" name="삼각 화살표"/>
          <p:cNvSpPr/>
          <p:nvPr/>
        </p:nvSpPr>
        <p:spPr>
          <a:xfrm>
            <a:off x="2821578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날짜"/>
          <p:cNvSpPr>
            <a:spLocks noGrp="1"/>
          </p:cNvSpPr>
          <p:nvPr>
            <p:ph type="body" sz="quarter" idx="28"/>
          </p:nvPr>
        </p:nvSpPr>
        <p:spPr>
          <a:xfrm>
            <a:off x="2413174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~5월</a:t>
            </a:r>
          </a:p>
        </p:txBody>
      </p:sp>
      <p:sp>
        <p:nvSpPr>
          <p:cNvPr id="28" name="마디 점"/>
          <p:cNvSpPr/>
          <p:nvPr/>
        </p:nvSpPr>
        <p:spPr>
          <a:xfrm>
            <a:off x="2832535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위 마디"/>
          <p:cNvSpPr/>
          <p:nvPr/>
        </p:nvSpPr>
        <p:spPr>
          <a:xfrm>
            <a:off x="3339548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위 마디"/>
          <p:cNvSpPr>
            <a:spLocks noGrp="1"/>
          </p:cNvSpPr>
          <p:nvPr>
            <p:ph type="body" sz="quarter" idx="29"/>
          </p:nvPr>
        </p:nvSpPr>
        <p:spPr>
          <a:xfrm>
            <a:off x="3339548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출범</a:t>
            </a:r>
          </a:p>
        </p:txBody>
      </p:sp>
      <p:sp>
        <p:nvSpPr>
          <p:cNvPr id="31" name="삼각 화살표"/>
          <p:cNvSpPr/>
          <p:nvPr/>
        </p:nvSpPr>
        <p:spPr>
          <a:xfrm>
            <a:off x="3736995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날짜"/>
          <p:cNvSpPr>
            <a:spLocks noGrp="1"/>
          </p:cNvSpPr>
          <p:nvPr>
            <p:ph type="body" sz="quarter" idx="30"/>
          </p:nvPr>
        </p:nvSpPr>
        <p:spPr>
          <a:xfrm>
            <a:off x="3328591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6.4</a:t>
            </a:r>
          </a:p>
        </p:txBody>
      </p:sp>
      <p:sp>
        <p:nvSpPr>
          <p:cNvPr id="33" name="마디 점"/>
          <p:cNvSpPr/>
          <p:nvPr/>
        </p:nvSpPr>
        <p:spPr>
          <a:xfrm>
            <a:off x="3747952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위 마디"/>
          <p:cNvSpPr/>
          <p:nvPr/>
        </p:nvSpPr>
        <p:spPr>
          <a:xfrm>
            <a:off x="4254965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위 마디"/>
          <p:cNvSpPr>
            <a:spLocks noGrp="1"/>
          </p:cNvSpPr>
          <p:nvPr>
            <p:ph type="body" sz="quarter" idx="31"/>
          </p:nvPr>
        </p:nvSpPr>
        <p:spPr>
          <a:xfrm>
            <a:off x="4254965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수립</a:t>
            </a:r>
          </a:p>
        </p:txBody>
      </p:sp>
      <p:sp>
        <p:nvSpPr>
          <p:cNvPr id="36" name="삼각 화살표"/>
          <p:cNvSpPr/>
          <p:nvPr/>
        </p:nvSpPr>
        <p:spPr>
          <a:xfrm>
            <a:off x="4652413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날짜"/>
          <p:cNvSpPr>
            <a:spLocks noGrp="1"/>
          </p:cNvSpPr>
          <p:nvPr>
            <p:ph type="body" sz="quarter" idx="32"/>
          </p:nvPr>
        </p:nvSpPr>
        <p:spPr>
          <a:xfrm>
            <a:off x="4244009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6월</a:t>
            </a:r>
          </a:p>
        </p:txBody>
      </p:sp>
      <p:sp>
        <p:nvSpPr>
          <p:cNvPr id="38" name="마디 점"/>
          <p:cNvSpPr/>
          <p:nvPr/>
        </p:nvSpPr>
        <p:spPr>
          <a:xfrm>
            <a:off x="4663370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위 마디"/>
          <p:cNvSpPr/>
          <p:nvPr/>
        </p:nvSpPr>
        <p:spPr>
          <a:xfrm>
            <a:off x="5170383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위 마디"/>
          <p:cNvSpPr>
            <a:spLocks noGrp="1"/>
          </p:cNvSpPr>
          <p:nvPr>
            <p:ph type="body" sz="quarter" idx="33"/>
          </p:nvPr>
        </p:nvSpPr>
        <p:spPr>
          <a:xfrm>
            <a:off x="5170383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5개년 계획</a:t>
            </a:r>
          </a:p>
        </p:txBody>
      </p:sp>
      <p:sp>
        <p:nvSpPr>
          <p:cNvPr id="41" name="삼각 화살표"/>
          <p:cNvSpPr/>
          <p:nvPr/>
        </p:nvSpPr>
        <p:spPr>
          <a:xfrm>
            <a:off x="5567830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날짜"/>
          <p:cNvSpPr>
            <a:spLocks noGrp="1"/>
          </p:cNvSpPr>
          <p:nvPr>
            <p:ph type="body" sz="quarter" idx="34"/>
          </p:nvPr>
        </p:nvSpPr>
        <p:spPr>
          <a:xfrm>
            <a:off x="5159426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~8월</a:t>
            </a:r>
          </a:p>
        </p:txBody>
      </p:sp>
      <p:sp>
        <p:nvSpPr>
          <p:cNvPr id="43" name="마디 점"/>
          <p:cNvSpPr/>
          <p:nvPr/>
        </p:nvSpPr>
        <p:spPr>
          <a:xfrm>
            <a:off x="5578787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위 마디"/>
          <p:cNvSpPr/>
          <p:nvPr/>
        </p:nvSpPr>
        <p:spPr>
          <a:xfrm>
            <a:off x="6085800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위 마디"/>
          <p:cNvSpPr>
            <a:spLocks noGrp="1"/>
          </p:cNvSpPr>
          <p:nvPr>
            <p:ph type="body" sz="quarter" idx="35"/>
          </p:nvPr>
        </p:nvSpPr>
        <p:spPr>
          <a:xfrm>
            <a:off x="6085800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확정</a:t>
            </a:r>
          </a:p>
        </p:txBody>
      </p:sp>
      <p:sp>
        <p:nvSpPr>
          <p:cNvPr id="46" name="삼각 화살표"/>
          <p:cNvSpPr/>
          <p:nvPr/>
        </p:nvSpPr>
        <p:spPr>
          <a:xfrm>
            <a:off x="6483247" y="1827000"/>
            <a:ext cx="87653" cy="49304"/>
          </a:xfrm>
          <a:custGeom>
            <a:avLst/>
            <a:gdLst/>
            <a:ahLst/>
            <a:cxnLst/>
            <a:rect l="l" t="t" r="r" b="b"/>
            <a:pathLst>
              <a:path w="87653" h="49304">
                <a:moveTo>
                  <a:pt x="0" y="0"/>
                </a:moveTo>
                <a:lnTo>
                  <a:pt x="87653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날짜"/>
          <p:cNvSpPr>
            <a:spLocks noGrp="1"/>
          </p:cNvSpPr>
          <p:nvPr>
            <p:ph type="body" sz="quarter" idx="36"/>
          </p:nvPr>
        </p:nvSpPr>
        <p:spPr>
          <a:xfrm>
            <a:off x="6074843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9.16</a:t>
            </a:r>
          </a:p>
        </p:txBody>
      </p:sp>
      <p:sp>
        <p:nvSpPr>
          <p:cNvPr id="48" name="마디 점"/>
          <p:cNvSpPr/>
          <p:nvPr/>
        </p:nvSpPr>
        <p:spPr>
          <a:xfrm>
            <a:off x="6494204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마디 점"/>
          <p:cNvSpPr/>
          <p:nvPr/>
        </p:nvSpPr>
        <p:spPr>
          <a:xfrm>
            <a:off x="2946962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날짜"/>
          <p:cNvSpPr>
            <a:spLocks noGrp="1"/>
          </p:cNvSpPr>
          <p:nvPr>
            <p:ph type="body" sz="quarter" idx="37"/>
          </p:nvPr>
        </p:nvSpPr>
        <p:spPr>
          <a:xfrm>
            <a:off x="2413174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12월</a:t>
            </a:r>
          </a:p>
        </p:txBody>
      </p:sp>
      <p:sp>
        <p:nvSpPr>
          <p:cNvPr id="51" name="아래 마디"/>
          <p:cNvSpPr/>
          <p:nvPr/>
        </p:nvSpPr>
        <p:spPr>
          <a:xfrm>
            <a:off x="2424130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아래 마디"/>
          <p:cNvSpPr>
            <a:spLocks noGrp="1"/>
          </p:cNvSpPr>
          <p:nvPr>
            <p:ph type="body" sz="quarter" idx="38"/>
          </p:nvPr>
        </p:nvSpPr>
        <p:spPr>
          <a:xfrm>
            <a:off x="2424130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경영방향 시행</a:t>
            </a:r>
          </a:p>
        </p:txBody>
      </p:sp>
      <p:sp>
        <p:nvSpPr>
          <p:cNvPr id="53" name="마디 점"/>
          <p:cNvSpPr/>
          <p:nvPr/>
        </p:nvSpPr>
        <p:spPr>
          <a:xfrm>
            <a:off x="4091234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날짜"/>
          <p:cNvSpPr>
            <a:spLocks noGrp="1"/>
          </p:cNvSpPr>
          <p:nvPr>
            <p:ph type="body" sz="quarter" idx="39"/>
          </p:nvPr>
        </p:nvSpPr>
        <p:spPr>
          <a:xfrm>
            <a:off x="3557446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11월</a:t>
            </a:r>
          </a:p>
        </p:txBody>
      </p:sp>
      <p:sp>
        <p:nvSpPr>
          <p:cNvPr id="55" name="아래 마디"/>
          <p:cNvSpPr/>
          <p:nvPr/>
        </p:nvSpPr>
        <p:spPr>
          <a:xfrm>
            <a:off x="3568402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아래 마디"/>
          <p:cNvSpPr>
            <a:spLocks noGrp="1"/>
          </p:cNvSpPr>
          <p:nvPr>
            <p:ph type="body" sz="quarter" idx="40"/>
          </p:nvPr>
        </p:nvSpPr>
        <p:spPr>
          <a:xfrm>
            <a:off x="3568402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전략경영계획</a:t>
            </a:r>
          </a:p>
        </p:txBody>
      </p:sp>
      <p:sp>
        <p:nvSpPr>
          <p:cNvPr id="57" name="마디 점"/>
          <p:cNvSpPr/>
          <p:nvPr/>
        </p:nvSpPr>
        <p:spPr>
          <a:xfrm>
            <a:off x="5235505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날짜"/>
          <p:cNvSpPr>
            <a:spLocks noGrp="1"/>
          </p:cNvSpPr>
          <p:nvPr>
            <p:ph type="body" sz="quarter" idx="41"/>
          </p:nvPr>
        </p:nvSpPr>
        <p:spPr>
          <a:xfrm>
            <a:off x="4701717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10월</a:t>
            </a:r>
          </a:p>
        </p:txBody>
      </p:sp>
      <p:sp>
        <p:nvSpPr>
          <p:cNvPr id="59" name="아래 마디"/>
          <p:cNvSpPr/>
          <p:nvPr/>
        </p:nvSpPr>
        <p:spPr>
          <a:xfrm>
            <a:off x="4712674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아래 마디"/>
          <p:cNvSpPr>
            <a:spLocks noGrp="1"/>
          </p:cNvSpPr>
          <p:nvPr>
            <p:ph type="body" sz="quarter" idx="42"/>
          </p:nvPr>
        </p:nvSpPr>
        <p:spPr>
          <a:xfrm>
            <a:off x="4712674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</a:t>
            </a:r>
          </a:p>
        </p:txBody>
      </p:sp>
      <p:sp>
        <p:nvSpPr>
          <p:cNvPr id="61" name="마디 점"/>
          <p:cNvSpPr/>
          <p:nvPr/>
        </p:nvSpPr>
        <p:spPr>
          <a:xfrm>
            <a:off x="6379777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날짜"/>
          <p:cNvSpPr>
            <a:spLocks noGrp="1"/>
          </p:cNvSpPr>
          <p:nvPr>
            <p:ph type="body" sz="quarter" idx="43"/>
          </p:nvPr>
        </p:nvSpPr>
        <p:spPr>
          <a:xfrm>
            <a:off x="5845989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~9월</a:t>
            </a:r>
          </a:p>
        </p:txBody>
      </p:sp>
      <p:sp>
        <p:nvSpPr>
          <p:cNvPr id="63" name="아래 마디"/>
          <p:cNvSpPr/>
          <p:nvPr/>
        </p:nvSpPr>
        <p:spPr>
          <a:xfrm>
            <a:off x="5856946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아래 마디"/>
          <p:cNvSpPr>
            <a:spLocks noGrp="1"/>
          </p:cNvSpPr>
          <p:nvPr>
            <p:ph type="body" sz="quarter" idx="44"/>
          </p:nvPr>
        </p:nvSpPr>
        <p:spPr>
          <a:xfrm>
            <a:off x="5856946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이행계획 수립</a:t>
            </a:r>
          </a:p>
        </p:txBody>
      </p:sp>
      <p:sp>
        <p:nvSpPr>
          <p:cNvPr id="65" name="배너"/>
          <p:cNvSpPr/>
          <p:nvPr/>
        </p:nvSpPr>
        <p:spPr>
          <a:xfrm>
            <a:off x="723130" y="2782956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942261" y="2837739"/>
            <a:ext cx="57791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5"/>
          </p:nvPr>
        </p:nvSpPr>
        <p:spPr>
          <a:xfrm>
            <a:off x="942261" y="2837739"/>
            <a:ext cx="57791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제안</a:t>
            </a:r>
          </a:p>
        </p:txBody>
      </p:sp>
      <p:sp>
        <p:nvSpPr>
          <p:cNvPr id="68" name="배너 글"/>
          <p:cNvSpPr>
            <a:spLocks noGrp="1"/>
          </p:cNvSpPr>
          <p:nvPr>
            <p:ph type="body" sz="quarter" idx="46"/>
          </p:nvPr>
        </p:nvSpPr>
        <p:spPr>
          <a:xfrm>
            <a:off x="1574955" y="2782957"/>
            <a:ext cx="528382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국정기획위원회 및 정부부처 대상 핵심 솔루션 과제 반영 설득</a:t>
            </a:r>
          </a:p>
        </p:txBody>
      </p:sp>
      <p:sp>
        <p:nvSpPr>
          <p:cNvPr id="69" name="머리"/>
          <p:cNvSpPr/>
          <p:nvPr/>
        </p:nvSpPr>
        <p:spPr>
          <a:xfrm>
            <a:off x="7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태그"/>
          <p:cNvSpPr/>
          <p:nvPr/>
        </p:nvSpPr>
        <p:spPr>
          <a:xfrm>
            <a:off x="777913" y="3139043"/>
            <a:ext cx="292389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1" name="태그"/>
          <p:cNvSpPr>
            <a:spLocks noGrp="1"/>
          </p:cNvSpPr>
          <p:nvPr>
            <p:ph type="body" sz="quarter" idx="47"/>
          </p:nvPr>
        </p:nvSpPr>
        <p:spPr>
          <a:xfrm>
            <a:off x="777913" y="3139043"/>
            <a:ext cx="29238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7월</a:t>
            </a:r>
          </a:p>
        </p:txBody>
      </p:sp>
      <p:sp>
        <p:nvSpPr>
          <p:cNvPr id="72" name="머리 글"/>
          <p:cNvSpPr>
            <a:spLocks noGrp="1"/>
          </p:cNvSpPr>
          <p:nvPr>
            <p:ph type="body" sz="quarter" idx="48"/>
          </p:nvPr>
        </p:nvSpPr>
        <p:spPr>
          <a:xfrm>
            <a:off x="1103172" y="3100696"/>
            <a:ext cx="1676132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 보고</a:t>
            </a:r>
          </a:p>
        </p:txBody>
      </p:sp>
      <p:sp>
        <p:nvSpPr>
          <p:cNvPr id="73" name="본문"/>
          <p:cNvSpPr>
            <a:spLocks noGrp="1"/>
          </p:cNvSpPr>
          <p:nvPr>
            <p:ph type="body" sz="quarter" idx="49"/>
          </p:nvPr>
        </p:nvSpPr>
        <p:spPr>
          <a:xfrm>
            <a:off x="7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주요사업 3개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물관리, 에너지 등</a:t>
            </a:r>
          </a:p>
        </p:txBody>
      </p:sp>
      <p:sp>
        <p:nvSpPr>
          <p:cNvPr id="74" name="머리"/>
          <p:cNvSpPr/>
          <p:nvPr/>
        </p:nvSpPr>
        <p:spPr>
          <a:xfrm>
            <a:off x="28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태그"/>
          <p:cNvSpPr/>
          <p:nvPr/>
        </p:nvSpPr>
        <p:spPr>
          <a:xfrm>
            <a:off x="2877913" y="3139043"/>
            <a:ext cx="3010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6" name="태그"/>
          <p:cNvSpPr>
            <a:spLocks noGrp="1"/>
          </p:cNvSpPr>
          <p:nvPr>
            <p:ph type="body" sz="quarter" idx="50"/>
          </p:nvPr>
        </p:nvSpPr>
        <p:spPr>
          <a:xfrm>
            <a:off x="2877913" y="3139043"/>
            <a:ext cx="3010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8월</a:t>
            </a:r>
          </a:p>
        </p:txBody>
      </p:sp>
      <p:sp>
        <p:nvSpPr>
          <p:cNvPr id="77" name="머리 글"/>
          <p:cNvSpPr>
            <a:spLocks noGrp="1"/>
          </p:cNvSpPr>
          <p:nvPr>
            <p:ph type="body" sz="quarter" idx="51"/>
          </p:nvPr>
        </p:nvSpPr>
        <p:spPr>
          <a:xfrm>
            <a:off x="3211854" y="3100696"/>
            <a:ext cx="1667450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국정운영계획 발표</a:t>
            </a:r>
          </a:p>
        </p:txBody>
      </p:sp>
      <p:sp>
        <p:nvSpPr>
          <p:cNvPr id="78" name="본문"/>
          <p:cNvSpPr>
            <a:spLocks noGrp="1"/>
          </p:cNvSpPr>
          <p:nvPr>
            <p:ph type="body" sz="quarter" idx="52"/>
          </p:nvPr>
        </p:nvSpPr>
        <p:spPr>
          <a:xfrm>
            <a:off x="28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14개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AI·재생e 지원 정책</a:t>
            </a:r>
          </a:p>
        </p:txBody>
      </p:sp>
      <p:cxnSp>
        <p:nvCxnSpPr>
          <p:cNvPr id="79" name="Connector 58"/>
          <p:cNvCxnSpPr/>
          <p:nvPr/>
        </p:nvCxnSpPr>
        <p:spPr>
          <a:xfrm>
            <a:off x="2812174" y="3385565"/>
            <a:ext cx="0" cy="361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0" name="머리"/>
          <p:cNvSpPr/>
          <p:nvPr/>
        </p:nvSpPr>
        <p:spPr>
          <a:xfrm>
            <a:off x="49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태그"/>
          <p:cNvSpPr/>
          <p:nvPr/>
        </p:nvSpPr>
        <p:spPr>
          <a:xfrm>
            <a:off x="4977913" y="3139043"/>
            <a:ext cx="30094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2" name="태그"/>
          <p:cNvSpPr>
            <a:spLocks noGrp="1"/>
          </p:cNvSpPr>
          <p:nvPr>
            <p:ph type="body" sz="quarter" idx="53"/>
          </p:nvPr>
        </p:nvSpPr>
        <p:spPr>
          <a:xfrm>
            <a:off x="4977913" y="3139043"/>
            <a:ext cx="30094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9월</a:t>
            </a:r>
          </a:p>
        </p:txBody>
      </p:sp>
      <p:sp>
        <p:nvSpPr>
          <p:cNvPr id="83" name="머리 글"/>
          <p:cNvSpPr>
            <a:spLocks noGrp="1"/>
          </p:cNvSpPr>
          <p:nvPr>
            <p:ph type="body" sz="quarter" idx="54"/>
          </p:nvPr>
        </p:nvSpPr>
        <p:spPr>
          <a:xfrm>
            <a:off x="5311729" y="3100696"/>
            <a:ext cx="1667575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123대 국정과제 확정</a:t>
            </a:r>
          </a:p>
        </p:txBody>
      </p:sp>
      <p:sp>
        <p:nvSpPr>
          <p:cNvPr id="84" name="본문"/>
          <p:cNvSpPr>
            <a:spLocks noGrp="1"/>
          </p:cNvSpPr>
          <p:nvPr>
            <p:ph type="body" sz="quarter" idx="55"/>
          </p:nvPr>
        </p:nvSpPr>
        <p:spPr>
          <a:xfrm>
            <a:off x="49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15개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성과 구체화 가능 과제 확장</a:t>
            </a:r>
          </a:p>
        </p:txBody>
      </p:sp>
      <p:cxnSp>
        <p:nvCxnSpPr>
          <p:cNvPr id="85" name="Connector 63"/>
          <p:cNvCxnSpPr/>
          <p:nvPr/>
        </p:nvCxnSpPr>
        <p:spPr>
          <a:xfrm>
            <a:off x="4912174" y="3385565"/>
            <a:ext cx="0" cy="361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단계"/>
          <p:cNvSpPr/>
          <p:nvPr/>
        </p:nvSpPr>
        <p:spPr>
          <a:xfrm>
            <a:off x="1249043" y="3812870"/>
            <a:ext cx="28760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6"/>
          </p:nvPr>
        </p:nvSpPr>
        <p:spPr>
          <a:xfrm>
            <a:off x="1249043" y="3812870"/>
            <a:ext cx="2876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직접반영 과제(14개)</a:t>
            </a:r>
          </a:p>
        </p:txBody>
      </p:sp>
      <p:sp>
        <p:nvSpPr>
          <p:cNvPr id="88" name="단계"/>
          <p:cNvSpPr/>
          <p:nvPr/>
        </p:nvSpPr>
        <p:spPr>
          <a:xfrm>
            <a:off x="4125130" y="3812870"/>
            <a:ext cx="289800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7"/>
          </p:nvPr>
        </p:nvSpPr>
        <p:spPr>
          <a:xfrm>
            <a:off x="4125130" y="3812870"/>
            <a:ext cx="2898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국민·기업·지역체감 확장반영 과제(15개)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4125130" y="3812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행 틀"/>
          <p:cNvSpPr/>
          <p:nvPr/>
        </p:nvSpPr>
        <p:spPr>
          <a:xfrm>
            <a:off x="723130" y="4064870"/>
            <a:ext cx="6300000" cy="405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레일"/>
          <p:cNvSpPr/>
          <p:nvPr/>
        </p:nvSpPr>
        <p:spPr>
          <a:xfrm>
            <a:off x="734087" y="4075826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58"/>
          </p:nvPr>
        </p:nvSpPr>
        <p:spPr>
          <a:xfrm>
            <a:off x="734087" y="4075826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94" name="번호 칩"/>
          <p:cNvSpPr/>
          <p:nvPr/>
        </p:nvSpPr>
        <p:spPr>
          <a:xfrm>
            <a:off x="1270957" y="4114174"/>
            <a:ext cx="224827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5" name="번호 칩"/>
          <p:cNvSpPr>
            <a:spLocks noGrp="1"/>
          </p:cNvSpPr>
          <p:nvPr>
            <p:ph type="body" sz="quarter" idx="59"/>
          </p:nvPr>
        </p:nvSpPr>
        <p:spPr>
          <a:xfrm>
            <a:off x="1270957" y="4114174"/>
            <a:ext cx="224827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43</a:t>
            </a:r>
          </a:p>
        </p:txBody>
      </p:sp>
      <p:sp>
        <p:nvSpPr>
          <p:cNvPr id="96" name="과제명"/>
          <p:cNvSpPr>
            <a:spLocks noGrp="1"/>
          </p:cNvSpPr>
          <p:nvPr>
            <p:ph type="body" sz="quarter" idx="60"/>
          </p:nvPr>
        </p:nvSpPr>
        <p:spPr>
          <a:xfrm>
            <a:off x="1528653" y="4097739"/>
            <a:ext cx="2574564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안전성 강화</a:t>
            </a:r>
          </a:p>
        </p:txBody>
      </p:sp>
      <p:sp>
        <p:nvSpPr>
          <p:cNvPr id="97" name="번호 칩"/>
          <p:cNvSpPr/>
          <p:nvPr/>
        </p:nvSpPr>
        <p:spPr>
          <a:xfrm>
            <a:off x="1270957" y="4284000"/>
            <a:ext cx="21355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8" name="번호 칩"/>
          <p:cNvSpPr>
            <a:spLocks noGrp="1"/>
          </p:cNvSpPr>
          <p:nvPr>
            <p:ph type="body" sz="quarter" idx="61"/>
          </p:nvPr>
        </p:nvSpPr>
        <p:spPr>
          <a:xfrm>
            <a:off x="1270957" y="4284000"/>
            <a:ext cx="21355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73</a:t>
            </a:r>
          </a:p>
        </p:txBody>
      </p:sp>
      <p:sp>
        <p:nvSpPr>
          <p:cNvPr id="99" name="과제명"/>
          <p:cNvSpPr>
            <a:spLocks noGrp="1"/>
          </p:cNvSpPr>
          <p:nvPr>
            <p:ph type="body" sz="quarter" idx="62"/>
          </p:nvPr>
        </p:nvSpPr>
        <p:spPr>
          <a:xfrm>
            <a:off x="1517380" y="4267565"/>
            <a:ext cx="2585838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워터그리드</a:t>
            </a:r>
          </a:p>
        </p:txBody>
      </p:sp>
      <p:sp>
        <p:nvSpPr>
          <p:cNvPr id="100" name="번호 칩"/>
          <p:cNvSpPr/>
          <p:nvPr/>
        </p:nvSpPr>
        <p:spPr>
          <a:xfrm>
            <a:off x="4147043" y="4114174"/>
            <a:ext cx="221591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1" name="번호 칩"/>
          <p:cNvSpPr>
            <a:spLocks noGrp="1"/>
          </p:cNvSpPr>
          <p:nvPr>
            <p:ph type="body" sz="quarter" idx="63"/>
          </p:nvPr>
        </p:nvSpPr>
        <p:spPr>
          <a:xfrm>
            <a:off x="4147043" y="4114174"/>
            <a:ext cx="221591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42</a:t>
            </a:r>
          </a:p>
        </p:txBody>
      </p:sp>
      <p:sp>
        <p:nvSpPr>
          <p:cNvPr id="102" name="과제명"/>
          <p:cNvSpPr>
            <a:spLocks noGrp="1"/>
          </p:cNvSpPr>
          <p:nvPr>
            <p:ph type="body" sz="quarter" idx="64"/>
          </p:nvPr>
        </p:nvSpPr>
        <p:spPr>
          <a:xfrm>
            <a:off x="4401504" y="4097739"/>
            <a:ext cx="2577801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자원순환</a:t>
            </a:r>
          </a:p>
        </p:txBody>
      </p:sp>
      <p:sp>
        <p:nvSpPr>
          <p:cNvPr id="103" name="번호 칩"/>
          <p:cNvSpPr/>
          <p:nvPr/>
        </p:nvSpPr>
        <p:spPr>
          <a:xfrm>
            <a:off x="4147043" y="4284000"/>
            <a:ext cx="226949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4" name="번호 칩"/>
          <p:cNvSpPr>
            <a:spLocks noGrp="1"/>
          </p:cNvSpPr>
          <p:nvPr>
            <p:ph type="body" sz="quarter" idx="65"/>
          </p:nvPr>
        </p:nvSpPr>
        <p:spPr>
          <a:xfrm>
            <a:off x="4147043" y="4284000"/>
            <a:ext cx="226949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05" name="과제명"/>
          <p:cNvSpPr>
            <a:spLocks noGrp="1"/>
          </p:cNvSpPr>
          <p:nvPr>
            <p:ph type="body" sz="quarter" idx="66"/>
          </p:nvPr>
        </p:nvSpPr>
        <p:spPr>
          <a:xfrm>
            <a:off x="4406862" y="4267565"/>
            <a:ext cx="2572442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물환경 DT, 녹조 대응</a:t>
            </a:r>
          </a:p>
        </p:txBody>
      </p:sp>
      <p:cxnSp>
        <p:nvCxnSpPr>
          <p:cNvPr id="106" name="Connector 77"/>
          <p:cNvCxnSpPr/>
          <p:nvPr/>
        </p:nvCxnSpPr>
        <p:spPr>
          <a:xfrm>
            <a:off x="4114174" y="4086783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07" name="행 틀"/>
          <p:cNvSpPr/>
          <p:nvPr/>
        </p:nvSpPr>
        <p:spPr>
          <a:xfrm>
            <a:off x="723130" y="4470261"/>
            <a:ext cx="6300000" cy="405391"/>
          </a:xfrm>
          <a:prstGeom prst="rect">
            <a:avLst/>
          </a:prstGeom>
          <a:solidFill>
            <a:srgbClr val="EFF9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레일"/>
          <p:cNvSpPr/>
          <p:nvPr/>
        </p:nvSpPr>
        <p:spPr>
          <a:xfrm>
            <a:off x="734087" y="4481217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9" name="레일"/>
          <p:cNvSpPr>
            <a:spLocks noGrp="1"/>
          </p:cNvSpPr>
          <p:nvPr>
            <p:ph type="body" sz="quarter" idx="67"/>
          </p:nvPr>
        </p:nvSpPr>
        <p:spPr>
          <a:xfrm>
            <a:off x="734087" y="4481217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110" name="번호 칩"/>
          <p:cNvSpPr/>
          <p:nvPr/>
        </p:nvSpPr>
        <p:spPr>
          <a:xfrm>
            <a:off x="1270957" y="4519565"/>
            <a:ext cx="200046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1" name="번호 칩"/>
          <p:cNvSpPr>
            <a:spLocks noGrp="1"/>
          </p:cNvSpPr>
          <p:nvPr>
            <p:ph type="body" sz="quarter" idx="68"/>
          </p:nvPr>
        </p:nvSpPr>
        <p:spPr>
          <a:xfrm>
            <a:off x="1270957" y="4519565"/>
            <a:ext cx="200046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21</a:t>
            </a:r>
          </a:p>
        </p:txBody>
      </p:sp>
      <p:sp>
        <p:nvSpPr>
          <p:cNvPr id="112" name="과제명"/>
          <p:cNvSpPr>
            <a:spLocks noGrp="1"/>
          </p:cNvSpPr>
          <p:nvPr>
            <p:ph type="body" sz="quarter" idx="69"/>
          </p:nvPr>
        </p:nvSpPr>
        <p:spPr>
          <a:xfrm>
            <a:off x="1503872" y="4503130"/>
            <a:ext cx="2599346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</a:t>
            </a:r>
          </a:p>
        </p:txBody>
      </p:sp>
      <p:sp>
        <p:nvSpPr>
          <p:cNvPr id="113" name="번호 칩"/>
          <p:cNvSpPr/>
          <p:nvPr/>
        </p:nvSpPr>
        <p:spPr>
          <a:xfrm>
            <a:off x="1270957" y="4689391"/>
            <a:ext cx="21221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4" name="번호 칩"/>
          <p:cNvSpPr>
            <a:spLocks noGrp="1"/>
          </p:cNvSpPr>
          <p:nvPr>
            <p:ph type="body" sz="quarter" idx="70"/>
          </p:nvPr>
        </p:nvSpPr>
        <p:spPr>
          <a:xfrm>
            <a:off x="1270957" y="4689391"/>
            <a:ext cx="21221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115" name="과제명"/>
          <p:cNvSpPr>
            <a:spLocks noGrp="1"/>
          </p:cNvSpPr>
          <p:nvPr>
            <p:ph type="body" sz="quarter" idx="71"/>
          </p:nvPr>
        </p:nvSpPr>
        <p:spPr>
          <a:xfrm>
            <a:off x="1516040" y="4672957"/>
            <a:ext cx="2587177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 상수도관 정비</a:t>
            </a:r>
          </a:p>
        </p:txBody>
      </p:sp>
      <p:sp>
        <p:nvSpPr>
          <p:cNvPr id="116" name="번호 칩"/>
          <p:cNvSpPr/>
          <p:nvPr/>
        </p:nvSpPr>
        <p:spPr>
          <a:xfrm>
            <a:off x="4147043" y="4519565"/>
            <a:ext cx="225161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7" name="번호 칩"/>
          <p:cNvSpPr>
            <a:spLocks noGrp="1"/>
          </p:cNvSpPr>
          <p:nvPr>
            <p:ph type="body" sz="quarter" idx="72"/>
          </p:nvPr>
        </p:nvSpPr>
        <p:spPr>
          <a:xfrm>
            <a:off x="4147043" y="4519565"/>
            <a:ext cx="225161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30</a:t>
            </a:r>
          </a:p>
        </p:txBody>
      </p:sp>
      <p:sp>
        <p:nvSpPr>
          <p:cNvPr id="118" name="과제명"/>
          <p:cNvSpPr>
            <a:spLocks noGrp="1"/>
          </p:cNvSpPr>
          <p:nvPr>
            <p:ph type="body" sz="quarter" idx="73"/>
          </p:nvPr>
        </p:nvSpPr>
        <p:spPr>
          <a:xfrm>
            <a:off x="4405074" y="4503130"/>
            <a:ext cx="2574230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운영관리, 기술 국산화</a:t>
            </a:r>
          </a:p>
        </p:txBody>
      </p:sp>
      <p:sp>
        <p:nvSpPr>
          <p:cNvPr id="119" name="번호 칩"/>
          <p:cNvSpPr/>
          <p:nvPr/>
        </p:nvSpPr>
        <p:spPr>
          <a:xfrm>
            <a:off x="4147043" y="4689391"/>
            <a:ext cx="21221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0" name="번호 칩"/>
          <p:cNvSpPr>
            <a:spLocks noGrp="1"/>
          </p:cNvSpPr>
          <p:nvPr>
            <p:ph type="body" sz="quarter" idx="74"/>
          </p:nvPr>
        </p:nvSpPr>
        <p:spPr>
          <a:xfrm>
            <a:off x="4147043" y="4689391"/>
            <a:ext cx="21221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121" name="과제명"/>
          <p:cNvSpPr>
            <a:spLocks noGrp="1"/>
          </p:cNvSpPr>
          <p:nvPr>
            <p:ph type="body" sz="quarter" idx="75"/>
          </p:nvPr>
        </p:nvSpPr>
        <p:spPr>
          <a:xfrm>
            <a:off x="4392127" y="4672957"/>
            <a:ext cx="2587177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 복선화 및 노후관 개량</a:t>
            </a:r>
          </a:p>
        </p:txBody>
      </p:sp>
      <p:cxnSp>
        <p:nvCxnSpPr>
          <p:cNvPr id="122" name="Connector 88"/>
          <p:cNvCxnSpPr/>
          <p:nvPr/>
        </p:nvCxnSpPr>
        <p:spPr>
          <a:xfrm>
            <a:off x="4114174" y="4492174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23" name="행 틀"/>
          <p:cNvSpPr/>
          <p:nvPr/>
        </p:nvSpPr>
        <p:spPr>
          <a:xfrm>
            <a:off x="723130" y="4875652"/>
            <a:ext cx="6300000" cy="405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"/>
          <p:cNvSpPr/>
          <p:nvPr/>
        </p:nvSpPr>
        <p:spPr>
          <a:xfrm>
            <a:off x="734087" y="4886609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5" name="레일"/>
          <p:cNvSpPr>
            <a:spLocks noGrp="1"/>
          </p:cNvSpPr>
          <p:nvPr>
            <p:ph type="body" sz="quarter" idx="76"/>
          </p:nvPr>
        </p:nvSpPr>
        <p:spPr>
          <a:xfrm>
            <a:off x="734087" y="4886609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126" name="번호 칩"/>
          <p:cNvSpPr/>
          <p:nvPr/>
        </p:nvSpPr>
        <p:spPr>
          <a:xfrm>
            <a:off x="1270957" y="4924957"/>
            <a:ext cx="223152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7" name="번호 칩"/>
          <p:cNvSpPr>
            <a:spLocks noGrp="1"/>
          </p:cNvSpPr>
          <p:nvPr>
            <p:ph type="body" sz="quarter" idx="77"/>
          </p:nvPr>
        </p:nvSpPr>
        <p:spPr>
          <a:xfrm>
            <a:off x="1270957" y="4924957"/>
            <a:ext cx="223152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</a:t>
            </a:r>
          </a:p>
        </p:txBody>
      </p:sp>
      <p:sp>
        <p:nvSpPr>
          <p:cNvPr id="128" name="과제명"/>
          <p:cNvSpPr>
            <a:spLocks noGrp="1"/>
          </p:cNvSpPr>
          <p:nvPr>
            <p:ph type="body" sz="quarter" idx="78"/>
          </p:nvPr>
        </p:nvSpPr>
        <p:spPr>
          <a:xfrm>
            <a:off x="1526978" y="4908522"/>
            <a:ext cx="2576240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확대</a:t>
            </a:r>
          </a:p>
        </p:txBody>
      </p:sp>
      <p:sp>
        <p:nvSpPr>
          <p:cNvPr id="129" name="번호 칩"/>
          <p:cNvSpPr/>
          <p:nvPr/>
        </p:nvSpPr>
        <p:spPr>
          <a:xfrm>
            <a:off x="1270957" y="5094783"/>
            <a:ext cx="227283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0" name="번호 칩"/>
          <p:cNvSpPr>
            <a:spLocks noGrp="1"/>
          </p:cNvSpPr>
          <p:nvPr>
            <p:ph type="body" sz="quarter" idx="79"/>
          </p:nvPr>
        </p:nvSpPr>
        <p:spPr>
          <a:xfrm>
            <a:off x="1270957" y="5094783"/>
            <a:ext cx="227283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31" name="과제명"/>
          <p:cNvSpPr>
            <a:spLocks noGrp="1"/>
          </p:cNvSpPr>
          <p:nvPr>
            <p:ph type="body" sz="quarter" idx="80"/>
          </p:nvPr>
        </p:nvSpPr>
        <p:spPr>
          <a:xfrm>
            <a:off x="1531109" y="5078348"/>
            <a:ext cx="2572108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탄소중립도시</a:t>
            </a:r>
          </a:p>
        </p:txBody>
      </p:sp>
      <p:sp>
        <p:nvSpPr>
          <p:cNvPr id="132" name="번호 칩"/>
          <p:cNvSpPr/>
          <p:nvPr/>
        </p:nvSpPr>
        <p:spPr>
          <a:xfrm>
            <a:off x="4147043" y="4924957"/>
            <a:ext cx="203282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3" name="번호 칩"/>
          <p:cNvSpPr>
            <a:spLocks noGrp="1"/>
          </p:cNvSpPr>
          <p:nvPr>
            <p:ph type="body" sz="quarter" idx="81"/>
          </p:nvPr>
        </p:nvSpPr>
        <p:spPr>
          <a:xfrm>
            <a:off x="4147043" y="4924957"/>
            <a:ext cx="203282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</a:t>
            </a:r>
          </a:p>
        </p:txBody>
      </p:sp>
      <p:sp>
        <p:nvSpPr>
          <p:cNvPr id="134" name="과제명"/>
          <p:cNvSpPr>
            <a:spLocks noGrp="1"/>
          </p:cNvSpPr>
          <p:nvPr>
            <p:ph type="body" sz="quarter" idx="82"/>
          </p:nvPr>
        </p:nvSpPr>
        <p:spPr>
          <a:xfrm>
            <a:off x="4383195" y="4908522"/>
            <a:ext cx="2596109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‘AI시티’ 실증</a:t>
            </a:r>
          </a:p>
        </p:txBody>
      </p:sp>
      <p:sp>
        <p:nvSpPr>
          <p:cNvPr id="135" name="번호 칩"/>
          <p:cNvSpPr/>
          <p:nvPr/>
        </p:nvSpPr>
        <p:spPr>
          <a:xfrm>
            <a:off x="4147043" y="5094783"/>
            <a:ext cx="391599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6" name="번호 칩"/>
          <p:cNvSpPr>
            <a:spLocks noGrp="1"/>
          </p:cNvSpPr>
          <p:nvPr>
            <p:ph type="body" sz="quarter" idx="83"/>
          </p:nvPr>
        </p:nvSpPr>
        <p:spPr>
          <a:xfrm>
            <a:off x="4147043" y="5094783"/>
            <a:ext cx="391599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39·70</a:t>
            </a:r>
          </a:p>
        </p:txBody>
      </p:sp>
      <p:sp>
        <p:nvSpPr>
          <p:cNvPr id="137" name="과제명"/>
          <p:cNvSpPr>
            <a:spLocks noGrp="1"/>
          </p:cNvSpPr>
          <p:nvPr>
            <p:ph type="body" sz="quarter" idx="84"/>
          </p:nvPr>
        </p:nvSpPr>
        <p:spPr>
          <a:xfrm>
            <a:off x="4571513" y="5078348"/>
            <a:ext cx="2407792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이익공유형 에너지사업</a:t>
            </a:r>
          </a:p>
        </p:txBody>
      </p:sp>
      <p:cxnSp>
        <p:nvCxnSpPr>
          <p:cNvPr id="138" name="Connector 99"/>
          <p:cNvCxnSpPr/>
          <p:nvPr/>
        </p:nvCxnSpPr>
        <p:spPr>
          <a:xfrm>
            <a:off x="4114174" y="4897565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39" name="배너"/>
          <p:cNvSpPr/>
          <p:nvPr/>
        </p:nvSpPr>
        <p:spPr>
          <a:xfrm>
            <a:off x="723130" y="5324869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0" name="태그"/>
          <p:cNvSpPr/>
          <p:nvPr/>
        </p:nvSpPr>
        <p:spPr>
          <a:xfrm>
            <a:off x="942261" y="5379652"/>
            <a:ext cx="57791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1" name="태그"/>
          <p:cNvSpPr>
            <a:spLocks noGrp="1"/>
          </p:cNvSpPr>
          <p:nvPr>
            <p:ph type="body" sz="quarter" idx="85"/>
          </p:nvPr>
        </p:nvSpPr>
        <p:spPr>
          <a:xfrm>
            <a:off x="942261" y="5379652"/>
            <a:ext cx="57791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방향 설정</a:t>
            </a:r>
          </a:p>
        </p:txBody>
      </p:sp>
      <p:sp>
        <p:nvSpPr>
          <p:cNvPr id="142" name="배너 글"/>
          <p:cNvSpPr>
            <a:spLocks noGrp="1"/>
          </p:cNvSpPr>
          <p:nvPr>
            <p:ph type="body" sz="quarter" idx="86"/>
          </p:nvPr>
        </p:nvSpPr>
        <p:spPr>
          <a:xfrm>
            <a:off x="1574955" y="5324870"/>
            <a:ext cx="528382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확정된 국정목표·과제 분석을 통한 ‘국정기조’ 도출로 미래 방향성 구체화</a:t>
            </a:r>
          </a:p>
        </p:txBody>
      </p:sp>
      <p:sp>
        <p:nvSpPr>
          <p:cNvPr id="143" name="머리"/>
          <p:cNvSpPr/>
          <p:nvPr/>
        </p:nvSpPr>
        <p:spPr>
          <a:xfrm>
            <a:off x="723130" y="5642609"/>
            <a:ext cx="3117130" cy="241043"/>
          </a:xfrm>
          <a:prstGeom prst="rect">
            <a:avLst/>
          </a:pr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4" name="태그"/>
          <p:cNvSpPr/>
          <p:nvPr/>
        </p:nvSpPr>
        <p:spPr>
          <a:xfrm>
            <a:off x="766957" y="5680957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5" name="태그"/>
          <p:cNvSpPr>
            <a:spLocks noGrp="1"/>
          </p:cNvSpPr>
          <p:nvPr>
            <p:ph type="body" sz="quarter" idx="87"/>
          </p:nvPr>
        </p:nvSpPr>
        <p:spPr>
          <a:xfrm>
            <a:off x="766957" y="5680957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</a:t>
            </a:r>
          </a:p>
        </p:txBody>
      </p:sp>
      <p:sp>
        <p:nvSpPr>
          <p:cNvPr id="146" name="머리 글"/>
          <p:cNvSpPr>
            <a:spLocks noGrp="1"/>
          </p:cNvSpPr>
          <p:nvPr>
            <p:ph type="body" sz="quarter" idx="88"/>
          </p:nvPr>
        </p:nvSpPr>
        <p:spPr>
          <a:xfrm>
            <a:off x="1128929" y="5642609"/>
            <a:ext cx="2601767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추진사업 재구성 방향</a:t>
            </a:r>
          </a:p>
        </p:txBody>
      </p:sp>
      <p:sp>
        <p:nvSpPr>
          <p:cNvPr id="147" name="삼각 화살표"/>
          <p:cNvSpPr/>
          <p:nvPr/>
        </p:nvSpPr>
        <p:spPr>
          <a:xfrm>
            <a:off x="3747130" y="5697391"/>
            <a:ext cx="76696" cy="131478"/>
          </a:xfrm>
          <a:custGeom>
            <a:avLst/>
            <a:gdLst/>
            <a:ahLst/>
            <a:cxnLst/>
            <a:rect l="l" t="t" r="r" b="b"/>
            <a:pathLst>
              <a:path w="76696" h="131478">
                <a:moveTo>
                  <a:pt x="0" y="0"/>
                </a:moveTo>
                <a:lnTo>
                  <a:pt x="0" y="131478"/>
                </a:lnTo>
                <a:lnTo>
                  <a:pt x="76696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8" name="알약 칸"/>
          <p:cNvSpPr/>
          <p:nvPr/>
        </p:nvSpPr>
        <p:spPr>
          <a:xfrm>
            <a:off x="723130" y="5938435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49" name="알약 칸"/>
          <p:cNvSpPr>
            <a:spLocks noGrp="1"/>
          </p:cNvSpPr>
          <p:nvPr>
            <p:ph type="body" sz="quarter" idx="89"/>
          </p:nvPr>
        </p:nvSpPr>
        <p:spPr>
          <a:xfrm>
            <a:off x="723130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</a:t>
            </a:r>
          </a:p>
        </p:txBody>
      </p:sp>
      <p:cxnSp>
        <p:nvCxnSpPr>
          <p:cNvPr id="150" name="Connector 108"/>
          <p:cNvCxnSpPr/>
          <p:nvPr/>
        </p:nvCxnSpPr>
        <p:spPr>
          <a:xfrm>
            <a:off x="2125839" y="6086348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51" name="연결 점"/>
          <p:cNvSpPr/>
          <p:nvPr/>
        </p:nvSpPr>
        <p:spPr>
          <a:xfrm>
            <a:off x="2103926" y="60644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2" name="상자"/>
          <p:cNvSpPr/>
          <p:nvPr/>
        </p:nvSpPr>
        <p:spPr>
          <a:xfrm>
            <a:off x="2437552" y="5938435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3" name="상자"/>
          <p:cNvSpPr>
            <a:spLocks noGrp="1"/>
          </p:cNvSpPr>
          <p:nvPr>
            <p:ph type="body" sz="quarter" idx="90"/>
          </p:nvPr>
        </p:nvSpPr>
        <p:spPr>
          <a:xfrm>
            <a:off x="2437552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</a:t>
            </a:r>
          </a:p>
        </p:txBody>
      </p:sp>
      <p:sp>
        <p:nvSpPr>
          <p:cNvPr id="154" name="알약 칸"/>
          <p:cNvSpPr/>
          <p:nvPr/>
        </p:nvSpPr>
        <p:spPr>
          <a:xfrm>
            <a:off x="723130" y="6278087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55" name="알약 칸"/>
          <p:cNvSpPr>
            <a:spLocks noGrp="1"/>
          </p:cNvSpPr>
          <p:nvPr>
            <p:ph type="body" sz="quarter" idx="91"/>
          </p:nvPr>
        </p:nvSpPr>
        <p:spPr>
          <a:xfrm>
            <a:off x="723130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cxnSp>
        <p:nvCxnSpPr>
          <p:cNvPr id="156" name="Connector 112"/>
          <p:cNvCxnSpPr/>
          <p:nvPr/>
        </p:nvCxnSpPr>
        <p:spPr>
          <a:xfrm>
            <a:off x="2125839" y="6426000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57" name="연결 점"/>
          <p:cNvSpPr/>
          <p:nvPr/>
        </p:nvSpPr>
        <p:spPr>
          <a:xfrm>
            <a:off x="2103926" y="6404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8" name="상자"/>
          <p:cNvSpPr/>
          <p:nvPr/>
        </p:nvSpPr>
        <p:spPr>
          <a:xfrm>
            <a:off x="2437552" y="6278087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9" name="상자"/>
          <p:cNvSpPr>
            <a:spLocks noGrp="1"/>
          </p:cNvSpPr>
          <p:nvPr>
            <p:ph type="body" sz="quarter" idx="92"/>
          </p:nvPr>
        </p:nvSpPr>
        <p:spPr>
          <a:xfrm>
            <a:off x="2437552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AI전환</a:t>
            </a:r>
          </a:p>
        </p:txBody>
      </p:sp>
      <p:sp>
        <p:nvSpPr>
          <p:cNvPr id="160" name="알약 칸"/>
          <p:cNvSpPr/>
          <p:nvPr/>
        </p:nvSpPr>
        <p:spPr>
          <a:xfrm>
            <a:off x="723130" y="6617739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61" name="알약 칸"/>
          <p:cNvSpPr>
            <a:spLocks noGrp="1"/>
          </p:cNvSpPr>
          <p:nvPr>
            <p:ph type="body" sz="quarter" idx="93"/>
          </p:nvPr>
        </p:nvSpPr>
        <p:spPr>
          <a:xfrm>
            <a:off x="723130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 기본 책무 충실</a:t>
            </a:r>
          </a:p>
        </p:txBody>
      </p:sp>
      <p:cxnSp>
        <p:nvCxnSpPr>
          <p:cNvPr id="162" name="Connector 116"/>
          <p:cNvCxnSpPr/>
          <p:nvPr/>
        </p:nvCxnSpPr>
        <p:spPr>
          <a:xfrm>
            <a:off x="2125839" y="6765652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63" name="연결 점"/>
          <p:cNvSpPr/>
          <p:nvPr/>
        </p:nvSpPr>
        <p:spPr>
          <a:xfrm>
            <a:off x="2103926" y="67437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4" name="상자"/>
          <p:cNvSpPr/>
          <p:nvPr/>
        </p:nvSpPr>
        <p:spPr>
          <a:xfrm>
            <a:off x="2437552" y="6617739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65" name="상자"/>
          <p:cNvSpPr>
            <a:spLocks noGrp="1"/>
          </p:cNvSpPr>
          <p:nvPr>
            <p:ph type="body" sz="quarter" idx="94"/>
          </p:nvPr>
        </p:nvSpPr>
        <p:spPr>
          <a:xfrm>
            <a:off x="2437552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강화</a:t>
            </a:r>
          </a:p>
        </p:txBody>
      </p:sp>
      <p:sp>
        <p:nvSpPr>
          <p:cNvPr id="166" name="머리"/>
          <p:cNvSpPr/>
          <p:nvPr/>
        </p:nvSpPr>
        <p:spPr>
          <a:xfrm>
            <a:off x="3906000" y="5642609"/>
            <a:ext cx="3117130" cy="241043"/>
          </a:xfrm>
          <a:prstGeom prst="rect">
            <a:avLst/>
          </a:pr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7" name="태그"/>
          <p:cNvSpPr/>
          <p:nvPr/>
        </p:nvSpPr>
        <p:spPr>
          <a:xfrm>
            <a:off x="3949826" y="5680957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8" name="태그"/>
          <p:cNvSpPr>
            <a:spLocks noGrp="1"/>
          </p:cNvSpPr>
          <p:nvPr>
            <p:ph type="body" sz="quarter" idx="95"/>
          </p:nvPr>
        </p:nvSpPr>
        <p:spPr>
          <a:xfrm>
            <a:off x="3949826" y="5680957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</a:t>
            </a:r>
          </a:p>
        </p:txBody>
      </p:sp>
      <p:sp>
        <p:nvSpPr>
          <p:cNvPr id="169" name="머리 글"/>
          <p:cNvSpPr>
            <a:spLocks noGrp="1"/>
          </p:cNvSpPr>
          <p:nvPr>
            <p:ph type="body" sz="quarter" idx="96"/>
          </p:nvPr>
        </p:nvSpPr>
        <p:spPr>
          <a:xfrm>
            <a:off x="4311798" y="5642609"/>
            <a:ext cx="2601767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경영체계 고도화 방향</a:t>
            </a:r>
          </a:p>
        </p:txBody>
      </p:sp>
      <p:sp>
        <p:nvSpPr>
          <p:cNvPr id="170" name="삼각 화살표"/>
          <p:cNvSpPr/>
          <p:nvPr/>
        </p:nvSpPr>
        <p:spPr>
          <a:xfrm>
            <a:off x="6930000" y="5697391"/>
            <a:ext cx="76695" cy="131478"/>
          </a:xfrm>
          <a:custGeom>
            <a:avLst/>
            <a:gdLst/>
            <a:ahLst/>
            <a:cxnLst/>
            <a:rect l="l" t="t" r="r" b="b"/>
            <a:pathLst>
              <a:path w="76695" h="131478">
                <a:moveTo>
                  <a:pt x="0" y="0"/>
                </a:moveTo>
                <a:lnTo>
                  <a:pt x="0" y="131478"/>
                </a:lnTo>
                <a:lnTo>
                  <a:pt x="76695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1" name="알약 칸"/>
          <p:cNvSpPr/>
          <p:nvPr/>
        </p:nvSpPr>
        <p:spPr>
          <a:xfrm>
            <a:off x="3906000" y="5938435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72" name="알약 칸"/>
          <p:cNvSpPr>
            <a:spLocks noGrp="1"/>
          </p:cNvSpPr>
          <p:nvPr>
            <p:ph type="body" sz="quarter" idx="97"/>
          </p:nvPr>
        </p:nvSpPr>
        <p:spPr>
          <a:xfrm>
            <a:off x="3906000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cxnSp>
        <p:nvCxnSpPr>
          <p:cNvPr id="173" name="Connector 124"/>
          <p:cNvCxnSpPr/>
          <p:nvPr/>
        </p:nvCxnSpPr>
        <p:spPr>
          <a:xfrm>
            <a:off x="5308709" y="6086348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74" name="연결 점"/>
          <p:cNvSpPr/>
          <p:nvPr/>
        </p:nvSpPr>
        <p:spPr>
          <a:xfrm>
            <a:off x="5286796" y="60644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5" name="상자"/>
          <p:cNvSpPr/>
          <p:nvPr/>
        </p:nvSpPr>
        <p:spPr>
          <a:xfrm>
            <a:off x="5620422" y="5938435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76" name="상자"/>
          <p:cNvSpPr>
            <a:spLocks noGrp="1"/>
          </p:cNvSpPr>
          <p:nvPr>
            <p:ph type="body" sz="quarter" idx="98"/>
          </p:nvPr>
        </p:nvSpPr>
        <p:spPr>
          <a:xfrm>
            <a:off x="5620422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AI·디지털 인프라 강화</a:t>
            </a:r>
          </a:p>
        </p:txBody>
      </p:sp>
      <p:sp>
        <p:nvSpPr>
          <p:cNvPr id="177" name="알약 칸"/>
          <p:cNvSpPr/>
          <p:nvPr/>
        </p:nvSpPr>
        <p:spPr>
          <a:xfrm>
            <a:off x="3906000" y="6278087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78" name="알약 칸"/>
          <p:cNvSpPr>
            <a:spLocks noGrp="1"/>
          </p:cNvSpPr>
          <p:nvPr>
            <p:ph type="body" sz="quarter" idx="99"/>
          </p:nvPr>
        </p:nvSpPr>
        <p:spPr>
          <a:xfrm>
            <a:off x="3906000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주인인 나라</a:t>
            </a:r>
          </a:p>
        </p:txBody>
      </p:sp>
      <p:cxnSp>
        <p:nvCxnSpPr>
          <p:cNvPr id="179" name="Connector 128"/>
          <p:cNvCxnSpPr/>
          <p:nvPr/>
        </p:nvCxnSpPr>
        <p:spPr>
          <a:xfrm>
            <a:off x="5308709" y="6426000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80" name="연결 점"/>
          <p:cNvSpPr/>
          <p:nvPr/>
        </p:nvSpPr>
        <p:spPr>
          <a:xfrm>
            <a:off x="5286796" y="6404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1" name="상자"/>
          <p:cNvSpPr/>
          <p:nvPr/>
        </p:nvSpPr>
        <p:spPr>
          <a:xfrm>
            <a:off x="5620422" y="6278087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2" name="상자"/>
          <p:cNvSpPr>
            <a:spLocks noGrp="1"/>
          </p:cNvSpPr>
          <p:nvPr>
            <p:ph type="body" sz="quarter" idx="100"/>
          </p:nvPr>
        </p:nvSpPr>
        <p:spPr>
          <a:xfrm>
            <a:off x="5620422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성장 조직</a:t>
            </a:r>
          </a:p>
        </p:txBody>
      </p:sp>
      <p:sp>
        <p:nvSpPr>
          <p:cNvPr id="183" name="알약 칸"/>
          <p:cNvSpPr/>
          <p:nvPr/>
        </p:nvSpPr>
        <p:spPr>
          <a:xfrm>
            <a:off x="3906000" y="6617739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84" name="알약 칸"/>
          <p:cNvSpPr>
            <a:spLocks noGrp="1"/>
          </p:cNvSpPr>
          <p:nvPr>
            <p:ph type="body" sz="quarter" idx="101"/>
          </p:nvPr>
        </p:nvSpPr>
        <p:spPr>
          <a:xfrm>
            <a:off x="3906000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ESG 경영</a:t>
            </a:r>
          </a:p>
        </p:txBody>
      </p:sp>
      <p:cxnSp>
        <p:nvCxnSpPr>
          <p:cNvPr id="185" name="Connector 132"/>
          <p:cNvCxnSpPr/>
          <p:nvPr/>
        </p:nvCxnSpPr>
        <p:spPr>
          <a:xfrm>
            <a:off x="5308709" y="6765652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86" name="연결 점"/>
          <p:cNvSpPr/>
          <p:nvPr/>
        </p:nvSpPr>
        <p:spPr>
          <a:xfrm>
            <a:off x="5286796" y="67437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7" name="상자"/>
          <p:cNvSpPr/>
          <p:nvPr/>
        </p:nvSpPr>
        <p:spPr>
          <a:xfrm>
            <a:off x="5620422" y="6617739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8" name="상자"/>
          <p:cNvSpPr>
            <a:spLocks noGrp="1"/>
          </p:cNvSpPr>
          <p:nvPr>
            <p:ph type="body" sz="quarter" idx="102"/>
          </p:nvPr>
        </p:nvSpPr>
        <p:spPr>
          <a:xfrm>
            <a:off x="5620422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지속가능 경영체계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9 서사 · 추진배경 → E·S·G 3축 실천 → 주요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ESG LEAD 독보적 ESG 모델로 여는 새 이정표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형광 밑줄"/>
          <p:cNvSpPr/>
          <p:nvPr/>
        </p:nvSpPr>
        <p:spPr>
          <a:xfrm>
            <a:off x="536870" y="1347652"/>
            <a:ext cx="404450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소제목"/>
          <p:cNvSpPr>
            <a:spLocks noGrp="1"/>
          </p:cNvSpPr>
          <p:nvPr>
            <p:ph type="body" sz="quarter" idx="24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자연을 되살리고, 이익은 공유하며, 신뢰는 올리는 ESG 경영 혁신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38596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기후대응 사업 등 위기 대응 ESG 경영 집중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평가 제언을 바탕으로 전 분야 ESG 경영 혁신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920209"/>
            <a:ext cx="580696" cy="10546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 태그"/>
          <p:cNvSpPr/>
          <p:nvPr/>
        </p:nvSpPr>
        <p:spPr>
          <a:xfrm>
            <a:off x="740517" y="2084557"/>
            <a:ext cx="19531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9" name="레일 태그"/>
          <p:cNvSpPr>
            <a:spLocks noGrp="1"/>
          </p:cNvSpPr>
          <p:nvPr>
            <p:ph type="body" sz="quarter" idx="28"/>
          </p:nvPr>
        </p:nvSpPr>
        <p:spPr>
          <a:xfrm>
            <a:off x="740517" y="2084557"/>
            <a:ext cx="19531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29"/>
          </p:nvPr>
        </p:nvSpPr>
        <p:spPr>
          <a:xfrm>
            <a:off x="547826" y="2270817"/>
            <a:ext cx="580696" cy="6821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Positive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202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태그"/>
          <p:cNvSpPr/>
          <p:nvPr/>
        </p:nvSpPr>
        <p:spPr>
          <a:xfrm>
            <a:off x="1161391" y="1964035"/>
            <a:ext cx="61078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64035"/>
            <a:ext cx="61078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니즈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1"/>
          </p:nvPr>
        </p:nvSpPr>
        <p:spPr>
          <a:xfrm>
            <a:off x="1815998" y="1953078"/>
            <a:ext cx="499348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기후위기로 사용 가능한 물의 양 감소, 수량 확보 필요</a:t>
            </a:r>
          </a:p>
        </p:txBody>
      </p:sp>
      <p:sp>
        <p:nvSpPr>
          <p:cNvPr id="35" name="태그"/>
          <p:cNvSpPr/>
          <p:nvPr/>
        </p:nvSpPr>
        <p:spPr>
          <a:xfrm>
            <a:off x="1161391" y="2161252"/>
            <a:ext cx="61078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1161391" y="2161252"/>
            <a:ext cx="61078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강점</a:t>
            </a:r>
          </a:p>
        </p:txBody>
      </p:sp>
      <p:sp>
        <p:nvSpPr>
          <p:cNvPr id="37" name="태그 설명"/>
          <p:cNvSpPr>
            <a:spLocks noGrp="1"/>
          </p:cNvSpPr>
          <p:nvPr>
            <p:ph type="body" sz="quarter" idx="33"/>
          </p:nvPr>
        </p:nvSpPr>
        <p:spPr>
          <a:xfrm>
            <a:off x="1815998" y="2150296"/>
            <a:ext cx="499348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저류지 설치, 하수 재이용 등 물관리 전반 최적화 수행 중</a:t>
            </a:r>
          </a:p>
        </p:txBody>
      </p:sp>
      <p:sp>
        <p:nvSpPr>
          <p:cNvPr id="38" name="단계"/>
          <p:cNvSpPr/>
          <p:nvPr/>
        </p:nvSpPr>
        <p:spPr>
          <a:xfrm>
            <a:off x="1161391" y="2374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A사</a:t>
            </a:r>
          </a:p>
        </p:txBody>
      </p:sp>
      <p:sp>
        <p:nvSpPr>
          <p:cNvPr id="40" name="단계"/>
          <p:cNvSpPr/>
          <p:nvPr/>
        </p:nvSpPr>
        <p:spPr>
          <a:xfrm>
            <a:off x="3044087" y="2374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3044087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착수 B사 본사</a:t>
            </a:r>
          </a:p>
        </p:txBody>
      </p:sp>
      <p:sp>
        <p:nvSpPr>
          <p:cNvPr id="42" name="단계"/>
          <p:cNvSpPr/>
          <p:nvPr/>
        </p:nvSpPr>
        <p:spPr>
          <a:xfrm>
            <a:off x="4926783" y="2374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4926783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 예정 A사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3044086" y="2374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4926782" y="237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상류 노후 습지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인공습지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3044087" y="2659774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식수원 확보 모래샘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700명/일 사용분 복원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4926783" y="2659774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547826" y="2991287"/>
            <a:ext cx="580696" cy="10546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 태그"/>
          <p:cNvSpPr/>
          <p:nvPr/>
        </p:nvSpPr>
        <p:spPr>
          <a:xfrm>
            <a:off x="737912" y="3035113"/>
            <a:ext cx="200523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레일 태그"/>
          <p:cNvSpPr>
            <a:spLocks noGrp="1"/>
          </p:cNvSpPr>
          <p:nvPr>
            <p:ph type="body" sz="quarter" idx="40"/>
          </p:nvPr>
        </p:nvSpPr>
        <p:spPr>
          <a:xfrm>
            <a:off x="737912" y="3035113"/>
            <a:ext cx="200523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41"/>
          </p:nvPr>
        </p:nvSpPr>
        <p:spPr>
          <a:xfrm>
            <a:off x="547826" y="3221374"/>
            <a:ext cx="580696" cy="8026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주민이익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공유모델</a:t>
            </a:r>
          </a:p>
        </p:txBody>
      </p:sp>
      <p:sp>
        <p:nvSpPr>
          <p:cNvPr id="55" name="태그"/>
          <p:cNvSpPr/>
          <p:nvPr/>
        </p:nvSpPr>
        <p:spPr>
          <a:xfrm>
            <a:off x="1161391" y="3035113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태그"/>
          <p:cNvSpPr>
            <a:spLocks noGrp="1"/>
          </p:cNvSpPr>
          <p:nvPr>
            <p:ph type="body" sz="quarter" idx="42"/>
          </p:nvPr>
        </p:nvSpPr>
        <p:spPr>
          <a:xfrm>
            <a:off x="1161391" y="3035113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57" name="태그 설명"/>
          <p:cNvSpPr>
            <a:spLocks noGrp="1"/>
          </p:cNvSpPr>
          <p:nvPr>
            <p:ph type="body" sz="quarter" idx="43"/>
          </p:nvPr>
        </p:nvSpPr>
        <p:spPr>
          <a:xfrm>
            <a:off x="1826913" y="3024157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여의도 17배에 달하는 풍부한 활용 가능 수면 보유</a:t>
            </a:r>
          </a:p>
        </p:txBody>
      </p:sp>
      <p:sp>
        <p:nvSpPr>
          <p:cNvPr id="58" name="태그"/>
          <p:cNvSpPr/>
          <p:nvPr/>
        </p:nvSpPr>
        <p:spPr>
          <a:xfrm>
            <a:off x="1161391" y="3232330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9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232330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60" name="태그 설명"/>
          <p:cNvSpPr>
            <a:spLocks noGrp="1"/>
          </p:cNvSpPr>
          <p:nvPr>
            <p:ph type="body" sz="quarter" idx="45"/>
          </p:nvPr>
        </p:nvSpPr>
        <p:spPr>
          <a:xfrm>
            <a:off x="1826913" y="3221374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피해의식으로 보상심리 및 지역 활성화 요구 강함</a:t>
            </a:r>
          </a:p>
        </p:txBody>
      </p:sp>
      <p:sp>
        <p:nvSpPr>
          <p:cNvPr id="61" name="단계"/>
          <p:cNvSpPr/>
          <p:nvPr/>
        </p:nvSpPr>
        <p:spPr>
          <a:xfrm>
            <a:off x="1161391" y="344598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A댐 수상태양광</a:t>
            </a:r>
          </a:p>
        </p:txBody>
      </p:sp>
      <p:sp>
        <p:nvSpPr>
          <p:cNvPr id="63" name="단계"/>
          <p:cNvSpPr/>
          <p:nvPr/>
        </p:nvSpPr>
        <p:spPr>
          <a:xfrm>
            <a:off x="3044087" y="344598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7"/>
          </p:nvPr>
        </p:nvSpPr>
        <p:spPr>
          <a:xfrm>
            <a:off x="3044087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이익환원 시작</a:t>
            </a:r>
          </a:p>
        </p:txBody>
      </p:sp>
      <p:sp>
        <p:nvSpPr>
          <p:cNvPr id="65" name="단계"/>
          <p:cNvSpPr/>
          <p:nvPr/>
        </p:nvSpPr>
        <p:spPr>
          <a:xfrm>
            <a:off x="4926783" y="344598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6" name="단계"/>
          <p:cNvSpPr>
            <a:spLocks noGrp="1"/>
          </p:cNvSpPr>
          <p:nvPr>
            <p:ph type="body" sz="quarter" idx="48"/>
          </p:nvPr>
        </p:nvSpPr>
        <p:spPr>
          <a:xfrm>
            <a:off x="4926783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착수 B댐 수상태양광</a:t>
            </a:r>
          </a:p>
        </p:txBody>
      </p:sp>
      <p:sp>
        <p:nvSpPr>
          <p:cNvPr id="67" name="단계 삼각형"/>
          <p:cNvSpPr/>
          <p:nvPr/>
        </p:nvSpPr>
        <p:spPr>
          <a:xfrm>
            <a:off x="3044086" y="34459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단계 삼각형"/>
          <p:cNvSpPr/>
          <p:nvPr/>
        </p:nvSpPr>
        <p:spPr>
          <a:xfrm>
            <a:off x="4926782" y="34459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사업구조 도해 자리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0"/>
          </p:nvPr>
        </p:nvSpPr>
        <p:spPr>
          <a:xfrm>
            <a:off x="3055043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 2,600가구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20년간 222억원 지급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3044087" y="37308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합동 주민 설명회(7회)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주민주도 협의체 발족</a:t>
            </a:r>
          </a:p>
        </p:txBody>
      </p:sp>
      <p:cxnSp>
        <p:nvCxnSpPr>
          <p:cNvPr id="73" name="Connector 54"/>
          <p:cNvCxnSpPr/>
          <p:nvPr/>
        </p:nvCxnSpPr>
        <p:spPr>
          <a:xfrm>
            <a:off x="4926783" y="37308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레일"/>
          <p:cNvSpPr/>
          <p:nvPr/>
        </p:nvSpPr>
        <p:spPr>
          <a:xfrm>
            <a:off x="547826" y="4062365"/>
            <a:ext cx="580696" cy="1260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레일 태그"/>
          <p:cNvSpPr/>
          <p:nvPr/>
        </p:nvSpPr>
        <p:spPr>
          <a:xfrm>
            <a:off x="731401" y="4226713"/>
            <a:ext cx="21354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6" name="레일 태그"/>
          <p:cNvSpPr>
            <a:spLocks noGrp="1"/>
          </p:cNvSpPr>
          <p:nvPr>
            <p:ph type="body" sz="quarter" idx="52"/>
          </p:nvPr>
        </p:nvSpPr>
        <p:spPr>
          <a:xfrm>
            <a:off x="731401" y="4226713"/>
            <a:ext cx="21354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G</a:t>
            </a:r>
          </a:p>
        </p:txBody>
      </p:sp>
      <p:sp>
        <p:nvSpPr>
          <p:cNvPr id="77" name="레일 라벨"/>
          <p:cNvSpPr>
            <a:spLocks noGrp="1"/>
          </p:cNvSpPr>
          <p:nvPr>
            <p:ph type="body" sz="quarter" idx="53"/>
          </p:nvPr>
        </p:nvSpPr>
        <p:spPr>
          <a:xfrm>
            <a:off x="547826" y="4412974"/>
            <a:ext cx="580696" cy="88747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78" name="레일 삼각형"/>
          <p:cNvSpPr/>
          <p:nvPr/>
        </p:nvSpPr>
        <p:spPr>
          <a:xfrm>
            <a:off x="547826" y="40623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단계"/>
          <p:cNvSpPr/>
          <p:nvPr/>
        </p:nvSpPr>
        <p:spPr>
          <a:xfrm>
            <a:off x="1161391" y="40842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0" name="단계"/>
          <p:cNvSpPr>
            <a:spLocks noGrp="1"/>
          </p:cNvSpPr>
          <p:nvPr>
            <p:ph type="body" sz="quarter" idx="54"/>
          </p:nvPr>
        </p:nvSpPr>
        <p:spPr>
          <a:xfrm>
            <a:off x="1161391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81" name="단계"/>
          <p:cNvSpPr/>
          <p:nvPr/>
        </p:nvSpPr>
        <p:spPr>
          <a:xfrm>
            <a:off x="3044087" y="40842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2" name="단계"/>
          <p:cNvSpPr>
            <a:spLocks noGrp="1"/>
          </p:cNvSpPr>
          <p:nvPr>
            <p:ph type="body" sz="quarter" idx="55"/>
          </p:nvPr>
        </p:nvSpPr>
        <p:spPr>
          <a:xfrm>
            <a:off x="3044087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83" name="단계"/>
          <p:cNvSpPr/>
          <p:nvPr/>
        </p:nvSpPr>
        <p:spPr>
          <a:xfrm>
            <a:off x="4926783" y="40842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4" name="단계"/>
          <p:cNvSpPr>
            <a:spLocks noGrp="1"/>
          </p:cNvSpPr>
          <p:nvPr>
            <p:ph type="body" sz="quarter" idx="56"/>
          </p:nvPr>
        </p:nvSpPr>
        <p:spPr>
          <a:xfrm>
            <a:off x="4926783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85" name="단계 삼각형"/>
          <p:cNvSpPr/>
          <p:nvPr/>
        </p:nvSpPr>
        <p:spPr>
          <a:xfrm>
            <a:off x="3044086" y="40842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단계 삼각형"/>
          <p:cNvSpPr/>
          <p:nvPr/>
        </p:nvSpPr>
        <p:spPr>
          <a:xfrm>
            <a:off x="4926782" y="40842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cxnSp>
        <p:nvCxnSpPr>
          <p:cNvPr id="89" name="Connector 66"/>
          <p:cNvCxnSpPr/>
          <p:nvPr/>
        </p:nvCxnSpPr>
        <p:spPr>
          <a:xfrm>
            <a:off x="3044087" y="4369148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cxnSp>
        <p:nvCxnSpPr>
          <p:cNvPr id="91" name="Connector 68"/>
          <p:cNvCxnSpPr/>
          <p:nvPr/>
        </p:nvCxnSpPr>
        <p:spPr>
          <a:xfrm>
            <a:off x="4926783" y="4369148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머리칸"/>
          <p:cNvSpPr/>
          <p:nvPr/>
        </p:nvSpPr>
        <p:spPr>
          <a:xfrm>
            <a:off x="1161391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3" name="머리칸"/>
          <p:cNvSpPr>
            <a:spLocks noGrp="1"/>
          </p:cNvSpPr>
          <p:nvPr>
            <p:ph type="body" sz="quarter" idx="60"/>
          </p:nvPr>
        </p:nvSpPr>
        <p:spPr>
          <a:xfrm>
            <a:off x="1161391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청렴의식 내재화</a:t>
            </a:r>
          </a:p>
        </p:txBody>
      </p:sp>
      <p:sp>
        <p:nvSpPr>
          <p:cNvPr id="94" name="머리칸"/>
          <p:cNvSpPr/>
          <p:nvPr/>
        </p:nvSpPr>
        <p:spPr>
          <a:xfrm>
            <a:off x="3044087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1"/>
          </p:nvPr>
        </p:nvSpPr>
        <p:spPr>
          <a:xfrm>
            <a:off x="3044087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현장중심 리스크관리</a:t>
            </a:r>
          </a:p>
        </p:txBody>
      </p:sp>
      <p:sp>
        <p:nvSpPr>
          <p:cNvPr id="96" name="머리칸"/>
          <p:cNvSpPr/>
          <p:nvPr/>
        </p:nvSpPr>
        <p:spPr>
          <a:xfrm>
            <a:off x="4926783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2"/>
          </p:nvPr>
        </p:nvSpPr>
        <p:spPr>
          <a:xfrm>
            <a:off x="4926783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전문적 모니터링 체계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3"/>
          </p:nvPr>
        </p:nvSpPr>
        <p:spPr>
          <a:xfrm>
            <a:off x="1172348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협력강화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4"/>
          </p:nvPr>
        </p:nvSpPr>
        <p:spPr>
          <a:xfrm>
            <a:off x="3055043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현장통제 고객체감 통제활동</a:t>
            </a:r>
          </a:p>
        </p:txBody>
      </p:sp>
      <p:cxnSp>
        <p:nvCxnSpPr>
          <p:cNvPr id="100" name="Connector 74"/>
          <p:cNvCxnSpPr/>
          <p:nvPr/>
        </p:nvCxnSpPr>
        <p:spPr>
          <a:xfrm>
            <a:off x="3044087" y="4933409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5"/>
          </p:nvPr>
        </p:nvSpPr>
        <p:spPr>
          <a:xfrm>
            <a:off x="4937739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 선진화</a:t>
            </a:r>
          </a:p>
        </p:txBody>
      </p:sp>
      <p:cxnSp>
        <p:nvCxnSpPr>
          <p:cNvPr id="102" name="Connector 76"/>
          <p:cNvCxnSpPr/>
          <p:nvPr/>
        </p:nvCxnSpPr>
        <p:spPr>
          <a:xfrm>
            <a:off x="4926783" y="4933409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주요성과 박스"/>
          <p:cNvSpPr/>
          <p:nvPr/>
        </p:nvSpPr>
        <p:spPr>
          <a:xfrm>
            <a:off x="536870" y="5415496"/>
            <a:ext cx="6300000" cy="737217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4" name="주요성과 라벨"/>
          <p:cNvSpPr/>
          <p:nvPr/>
        </p:nvSpPr>
        <p:spPr>
          <a:xfrm>
            <a:off x="569739" y="5448365"/>
            <a:ext cx="657391" cy="67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5" name="주요성과 라벨"/>
          <p:cNvSpPr>
            <a:spLocks noGrp="1"/>
          </p:cNvSpPr>
          <p:nvPr>
            <p:ph type="body" sz="quarter" idx="66"/>
          </p:nvPr>
        </p:nvSpPr>
        <p:spPr>
          <a:xfrm>
            <a:off x="569739" y="5448365"/>
            <a:ext cx="657391" cy="67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106" name="주요성과 문구"/>
          <p:cNvSpPr>
            <a:spLocks noGrp="1"/>
          </p:cNvSpPr>
          <p:nvPr>
            <p:ph type="body" sz="quarter" idx="67"/>
          </p:nvPr>
        </p:nvSpPr>
        <p:spPr>
          <a:xfrm>
            <a:off x="1314783" y="5431930"/>
            <a:ext cx="5456348" cy="704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WP 누적 물 복원 4,000명분 달성, 국정과제 선도적 이행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주민이익 공유 주민공감대 형성으로 마을 조성(총 3개소)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청렴도 강도 높은 노력으로 종합청렴도 최고·최초 1등급 결실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0 서사 · 추진배경 → 분야 3개(각각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기술로 세우는 국가의 기반, 혁신으로 빛나는 행복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55149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55149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723130" y="1358609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보이지 않는 미래의 행복을 위해, 자율적 기술혁신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17449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40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3" name="태그"/>
          <p:cNvSpPr/>
          <p:nvPr/>
        </p:nvSpPr>
        <p:spPr>
          <a:xfrm>
            <a:off x="1347652" y="1550348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1347652" y="1550348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7"/>
          </p:nvPr>
        </p:nvSpPr>
        <p:spPr>
          <a:xfrm>
            <a:off x="1988119" y="1539391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불확실성 심화 ➡ 일관된 안정적 물 공급 위한 혁신 긴요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1747565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1747565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988119" y="1736609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규제 강화 ➡ 선제적 기술 도입으로 마중물 역할 필요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1944783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1944783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산업기반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1988119" y="1933826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진입장벽으로 신기술 도입 어려움 ➡ 공공중심 기술 활성화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2163913"/>
            <a:ext cx="580696" cy="10546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667551" y="2328261"/>
            <a:ext cx="7137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2"/>
          </p:nvPr>
        </p:nvSpPr>
        <p:spPr>
          <a:xfrm>
            <a:off x="667551" y="2328261"/>
            <a:ext cx="7137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국가AI 선도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514522"/>
            <a:ext cx="580696" cy="6821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정수장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734086" y="2163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태그"/>
          <p:cNvSpPr/>
          <p:nvPr/>
        </p:nvSpPr>
        <p:spPr>
          <a:xfrm>
            <a:off x="1347652" y="2207739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태그"/>
          <p:cNvSpPr>
            <a:spLocks noGrp="1"/>
          </p:cNvSpPr>
          <p:nvPr>
            <p:ph type="body" sz="quarter" idx="34"/>
          </p:nvPr>
        </p:nvSpPr>
        <p:spPr>
          <a:xfrm>
            <a:off x="1347652" y="2207739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39" name="태그 설명"/>
          <p:cNvSpPr>
            <a:spLocks noGrp="1"/>
          </p:cNvSpPr>
          <p:nvPr>
            <p:ph type="body" sz="quarter" idx="35"/>
          </p:nvPr>
        </p:nvSpPr>
        <p:spPr>
          <a:xfrm>
            <a:off x="1753450" y="2196783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AI 대전환 촉구</a:t>
            </a:r>
          </a:p>
        </p:txBody>
      </p:sp>
      <p:sp>
        <p:nvSpPr>
          <p:cNvPr id="40" name="태그"/>
          <p:cNvSpPr/>
          <p:nvPr/>
        </p:nvSpPr>
        <p:spPr>
          <a:xfrm>
            <a:off x="1347652" y="240495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태그"/>
          <p:cNvSpPr>
            <a:spLocks noGrp="1"/>
          </p:cNvSpPr>
          <p:nvPr>
            <p:ph type="body" sz="quarter" idx="36"/>
          </p:nvPr>
        </p:nvSpPr>
        <p:spPr>
          <a:xfrm>
            <a:off x="1347652" y="240495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42" name="태그 설명"/>
          <p:cNvSpPr>
            <a:spLocks noGrp="1"/>
          </p:cNvSpPr>
          <p:nvPr>
            <p:ph type="body" sz="quarter" idx="37"/>
          </p:nvPr>
        </p:nvSpPr>
        <p:spPr>
          <a:xfrm>
            <a:off x="1753450" y="239400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전 과정 AI 내재화</a:t>
            </a:r>
          </a:p>
        </p:txBody>
      </p:sp>
      <p:sp>
        <p:nvSpPr>
          <p:cNvPr id="43" name="단계"/>
          <p:cNvSpPr/>
          <p:nvPr/>
        </p:nvSpPr>
        <p:spPr>
          <a:xfrm>
            <a:off x="1347652" y="261860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8"/>
          </p:nvPr>
        </p:nvSpPr>
        <p:spPr>
          <a:xfrm>
            <a:off x="1347652" y="261860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세계적으로 인정받은 AI정수장</a:t>
            </a:r>
          </a:p>
        </p:txBody>
      </p:sp>
      <p:sp>
        <p:nvSpPr>
          <p:cNvPr id="45" name="단계"/>
          <p:cNvSpPr/>
          <p:nvPr/>
        </p:nvSpPr>
        <p:spPr>
          <a:xfrm>
            <a:off x="4171696" y="261860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9"/>
          </p:nvPr>
        </p:nvSpPr>
        <p:spPr>
          <a:xfrm>
            <a:off x="4171696" y="261860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행동하는 Physical AI로 진화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4171695" y="261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2870609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물기업 최초 등대공장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평시 수질관리·최적 의사결정 지원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2870609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공정 스스로 움직이는 AI 접목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의사결정 제시 → 위기시 직접 제어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4171696" y="2903478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주요성과 박스"/>
          <p:cNvSpPr/>
          <p:nvPr/>
        </p:nvSpPr>
        <p:spPr>
          <a:xfrm>
            <a:off x="723130" y="3311687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주요성과 라벨"/>
          <p:cNvSpPr/>
          <p:nvPr/>
        </p:nvSpPr>
        <p:spPr>
          <a:xfrm>
            <a:off x="756000" y="3344557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주요성과 라벨"/>
          <p:cNvSpPr>
            <a:spLocks noGrp="1"/>
          </p:cNvSpPr>
          <p:nvPr>
            <p:ph type="body" sz="quarter" idx="42"/>
          </p:nvPr>
        </p:nvSpPr>
        <p:spPr>
          <a:xfrm>
            <a:off x="756000" y="334455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54" name="주요성과 문구"/>
          <p:cNvSpPr>
            <a:spLocks noGrp="1"/>
          </p:cNvSpPr>
          <p:nvPr>
            <p:ph type="body" sz="quarter" idx="43"/>
          </p:nvPr>
        </p:nvSpPr>
        <p:spPr>
          <a:xfrm>
            <a:off x="1501043" y="3328122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AI정수장 국제표준인증 기술위원회 참여완료, 원가 110억원 절감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우수성 인증, 동반성장 기업 기술이전 35건 등 AI 기술 선도</a:t>
            </a:r>
          </a:p>
        </p:txBody>
      </p:sp>
      <p:sp>
        <p:nvSpPr>
          <p:cNvPr id="55" name="표 외곽"/>
          <p:cNvSpPr/>
          <p:nvPr/>
        </p:nvSpPr>
        <p:spPr>
          <a:xfrm>
            <a:off x="723130" y="3879861"/>
            <a:ext cx="6300000" cy="10820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레일"/>
          <p:cNvSpPr/>
          <p:nvPr/>
        </p:nvSpPr>
        <p:spPr>
          <a:xfrm>
            <a:off x="734087" y="3896296"/>
            <a:ext cx="580696" cy="10491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 태그"/>
          <p:cNvSpPr/>
          <p:nvPr/>
        </p:nvSpPr>
        <p:spPr>
          <a:xfrm>
            <a:off x="620232" y="3940122"/>
            <a:ext cx="80840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레일 태그"/>
          <p:cNvSpPr>
            <a:spLocks noGrp="1"/>
          </p:cNvSpPr>
          <p:nvPr>
            <p:ph type="body" sz="quarter" idx="44"/>
          </p:nvPr>
        </p:nvSpPr>
        <p:spPr>
          <a:xfrm>
            <a:off x="620232" y="3940122"/>
            <a:ext cx="80840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 리딩</a:t>
            </a:r>
          </a:p>
        </p:txBody>
      </p:sp>
      <p:sp>
        <p:nvSpPr>
          <p:cNvPr id="59" name="레일 라벨"/>
          <p:cNvSpPr>
            <a:spLocks noGrp="1"/>
          </p:cNvSpPr>
          <p:nvPr>
            <p:ph type="body" sz="quarter" idx="45"/>
          </p:nvPr>
        </p:nvSpPr>
        <p:spPr>
          <a:xfrm>
            <a:off x="734087" y="4126383"/>
            <a:ext cx="580696" cy="7971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 100%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병입수돗물</a:t>
            </a:r>
          </a:p>
        </p:txBody>
      </p:sp>
      <p:sp>
        <p:nvSpPr>
          <p:cNvPr id="60" name="태그"/>
          <p:cNvSpPr/>
          <p:nvPr/>
        </p:nvSpPr>
        <p:spPr>
          <a:xfrm>
            <a:off x="1347652" y="3940122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6"/>
          </p:nvPr>
        </p:nvSpPr>
        <p:spPr>
          <a:xfrm>
            <a:off x="1347652" y="3940122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7"/>
          </p:nvPr>
        </p:nvSpPr>
        <p:spPr>
          <a:xfrm>
            <a:off x="2112028" y="3929165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의무 사용</a:t>
            </a:r>
          </a:p>
        </p:txBody>
      </p:sp>
      <p:sp>
        <p:nvSpPr>
          <p:cNvPr id="63" name="태그"/>
          <p:cNvSpPr/>
          <p:nvPr/>
        </p:nvSpPr>
        <p:spPr>
          <a:xfrm>
            <a:off x="1347652" y="4137339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8"/>
          </p:nvPr>
        </p:nvSpPr>
        <p:spPr>
          <a:xfrm>
            <a:off x="1347652" y="4137339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도입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9"/>
          </p:nvPr>
        </p:nvSpPr>
        <p:spPr>
          <a:xfrm>
            <a:off x="2112028" y="4126383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활용</a:t>
            </a:r>
          </a:p>
        </p:txBody>
      </p:sp>
      <p:sp>
        <p:nvSpPr>
          <p:cNvPr id="66" name="단계"/>
          <p:cNvSpPr/>
          <p:nvPr/>
        </p:nvSpPr>
        <p:spPr>
          <a:xfrm>
            <a:off x="1347652" y="43509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50"/>
          </p:nvPr>
        </p:nvSpPr>
        <p:spPr>
          <a:xfrm>
            <a:off x="1347652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시제품 제작 ➡ 검증</a:t>
            </a:r>
          </a:p>
        </p:txBody>
      </p:sp>
      <p:sp>
        <p:nvSpPr>
          <p:cNvPr id="68" name="단계"/>
          <p:cNvSpPr/>
          <p:nvPr/>
        </p:nvSpPr>
        <p:spPr>
          <a:xfrm>
            <a:off x="3230348" y="43509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51"/>
          </p:nvPr>
        </p:nvSpPr>
        <p:spPr>
          <a:xfrm>
            <a:off x="3230348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재생원료 인식조사</a:t>
            </a:r>
          </a:p>
        </p:txBody>
      </p:sp>
      <p:sp>
        <p:nvSpPr>
          <p:cNvPr id="70" name="단계"/>
          <p:cNvSpPr/>
          <p:nvPr/>
        </p:nvSpPr>
        <p:spPr>
          <a:xfrm>
            <a:off x="5113043" y="43509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1" name="단계"/>
          <p:cNvSpPr>
            <a:spLocks noGrp="1"/>
          </p:cNvSpPr>
          <p:nvPr>
            <p:ph type="body" sz="quarter" idx="52"/>
          </p:nvPr>
        </p:nvSpPr>
        <p:spPr>
          <a:xfrm>
            <a:off x="5113043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재생100% 병입수돗물 생산</a:t>
            </a:r>
          </a:p>
        </p:txBody>
      </p:sp>
      <p:sp>
        <p:nvSpPr>
          <p:cNvPr id="72" name="단계 삼각형"/>
          <p:cNvSpPr/>
          <p:nvPr/>
        </p:nvSpPr>
        <p:spPr>
          <a:xfrm>
            <a:off x="3230347" y="43509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단계 삼각형"/>
          <p:cNvSpPr/>
          <p:nvPr/>
        </p:nvSpPr>
        <p:spPr>
          <a:xfrm>
            <a:off x="5113043" y="4350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생산·비축 공급 위한 품질 안정성 확인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54"/>
          </p:nvPr>
        </p:nvSpPr>
        <p:spPr>
          <a:xfrm>
            <a:off x="3241304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대상 시제품 의견 조사</a:t>
            </a:r>
          </a:p>
        </p:txBody>
      </p:sp>
      <p:cxnSp>
        <p:nvCxnSpPr>
          <p:cNvPr id="76" name="Connector 52"/>
          <p:cNvCxnSpPr/>
          <p:nvPr/>
        </p:nvCxnSpPr>
        <p:spPr>
          <a:xfrm>
            <a:off x="3230348" y="463586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칸 본문"/>
          <p:cNvSpPr>
            <a:spLocks noGrp="1"/>
          </p:cNvSpPr>
          <p:nvPr>
            <p:ph type="body" sz="quarter" idx="55"/>
          </p:nvPr>
        </p:nvSpPr>
        <p:spPr>
          <a:xfrm>
            <a:off x="5124000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병입 수돗물 생산</a:t>
            </a:r>
          </a:p>
        </p:txBody>
      </p:sp>
      <p:cxnSp>
        <p:nvCxnSpPr>
          <p:cNvPr id="78" name="Connector 54"/>
          <p:cNvCxnSpPr/>
          <p:nvPr/>
        </p:nvCxnSpPr>
        <p:spPr>
          <a:xfrm>
            <a:off x="5113043" y="463586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주요성과 박스"/>
          <p:cNvSpPr/>
          <p:nvPr/>
        </p:nvSpPr>
        <p:spPr>
          <a:xfrm>
            <a:off x="723130" y="5038591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주요성과 라벨"/>
          <p:cNvSpPr/>
          <p:nvPr/>
        </p:nvSpPr>
        <p:spPr>
          <a:xfrm>
            <a:off x="756000" y="5071461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1" name="주요성과 라벨"/>
          <p:cNvSpPr>
            <a:spLocks noGrp="1"/>
          </p:cNvSpPr>
          <p:nvPr>
            <p:ph type="body" sz="quarter" idx="56"/>
          </p:nvPr>
        </p:nvSpPr>
        <p:spPr>
          <a:xfrm>
            <a:off x="756000" y="5071461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82" name="주요성과 문구"/>
          <p:cNvSpPr>
            <a:spLocks noGrp="1"/>
          </p:cNvSpPr>
          <p:nvPr>
            <p:ph type="body" sz="quarter" idx="57"/>
          </p:nvPr>
        </p:nvSpPr>
        <p:spPr>
          <a:xfrm>
            <a:off x="1501043" y="50550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지정 공공부문 수도사업자 중 재생원료 100% 활용 선도 기관 선정</a:t>
            </a:r>
          </a:p>
        </p:txBody>
      </p:sp>
      <p:sp>
        <p:nvSpPr>
          <p:cNvPr id="83" name="표 외곽"/>
          <p:cNvSpPr/>
          <p:nvPr/>
        </p:nvSpPr>
        <p:spPr>
          <a:xfrm>
            <a:off x="723130" y="5393896"/>
            <a:ext cx="6300000" cy="10875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레일"/>
          <p:cNvSpPr/>
          <p:nvPr/>
        </p:nvSpPr>
        <p:spPr>
          <a:xfrm>
            <a:off x="734087" y="5410330"/>
            <a:ext cx="580696" cy="10546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레일 태그"/>
          <p:cNvSpPr/>
          <p:nvPr/>
        </p:nvSpPr>
        <p:spPr>
          <a:xfrm>
            <a:off x="510464" y="5454157"/>
            <a:ext cx="1027942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6" name="레일 태그"/>
          <p:cNvSpPr>
            <a:spLocks noGrp="1"/>
          </p:cNvSpPr>
          <p:nvPr>
            <p:ph type="body" sz="quarter" idx="58"/>
          </p:nvPr>
        </p:nvSpPr>
        <p:spPr>
          <a:xfrm>
            <a:off x="510464" y="5454157"/>
            <a:ext cx="1027942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기업성장 응답센터</a:t>
            </a:r>
          </a:p>
        </p:txBody>
      </p:sp>
      <p:sp>
        <p:nvSpPr>
          <p:cNvPr id="87" name="레일 라벨"/>
          <p:cNvSpPr>
            <a:spLocks noGrp="1"/>
          </p:cNvSpPr>
          <p:nvPr>
            <p:ph type="body" sz="quarter" idx="59"/>
          </p:nvPr>
        </p:nvSpPr>
        <p:spPr>
          <a:xfrm>
            <a:off x="734087" y="5640417"/>
            <a:ext cx="580696" cy="8026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AI실증랩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기술나눔</a:t>
            </a:r>
          </a:p>
        </p:txBody>
      </p:sp>
      <p:sp>
        <p:nvSpPr>
          <p:cNvPr id="88" name="태그"/>
          <p:cNvSpPr/>
          <p:nvPr/>
        </p:nvSpPr>
        <p:spPr>
          <a:xfrm>
            <a:off x="1347652" y="545415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9" name="태그"/>
          <p:cNvSpPr>
            <a:spLocks noGrp="1"/>
          </p:cNvSpPr>
          <p:nvPr>
            <p:ph type="body" sz="quarter" idx="60"/>
          </p:nvPr>
        </p:nvSpPr>
        <p:spPr>
          <a:xfrm>
            <a:off x="1347652" y="545415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고민</a:t>
            </a:r>
          </a:p>
        </p:txBody>
      </p:sp>
      <p:sp>
        <p:nvSpPr>
          <p:cNvPr id="90" name="태그 설명"/>
          <p:cNvSpPr>
            <a:spLocks noGrp="1"/>
          </p:cNvSpPr>
          <p:nvPr>
            <p:ph type="body" sz="quarter" idx="61"/>
          </p:nvPr>
        </p:nvSpPr>
        <p:spPr>
          <a:xfrm>
            <a:off x="1753450" y="544320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규제보다 무서운 신기술 도입 난제</a:t>
            </a:r>
          </a:p>
        </p:txBody>
      </p:sp>
      <p:sp>
        <p:nvSpPr>
          <p:cNvPr id="91" name="태그"/>
          <p:cNvSpPr/>
          <p:nvPr/>
        </p:nvSpPr>
        <p:spPr>
          <a:xfrm>
            <a:off x="1347652" y="5651374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2" name="태그"/>
          <p:cNvSpPr>
            <a:spLocks noGrp="1"/>
          </p:cNvSpPr>
          <p:nvPr>
            <p:ph type="body" sz="quarter" idx="62"/>
          </p:nvPr>
        </p:nvSpPr>
        <p:spPr>
          <a:xfrm>
            <a:off x="1347652" y="5651374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93" name="태그 설명"/>
          <p:cNvSpPr>
            <a:spLocks noGrp="1"/>
          </p:cNvSpPr>
          <p:nvPr>
            <p:ph type="body" sz="quarter" idx="63"/>
          </p:nvPr>
        </p:nvSpPr>
        <p:spPr>
          <a:xfrm>
            <a:off x="1753450" y="564041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AI발전 위한 선도역할 수행</a:t>
            </a:r>
          </a:p>
        </p:txBody>
      </p:sp>
      <p:sp>
        <p:nvSpPr>
          <p:cNvPr id="94" name="단계"/>
          <p:cNvSpPr/>
          <p:nvPr/>
        </p:nvSpPr>
        <p:spPr>
          <a:xfrm>
            <a:off x="1347652" y="586502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5" name="단계"/>
          <p:cNvSpPr>
            <a:spLocks noGrp="1"/>
          </p:cNvSpPr>
          <p:nvPr>
            <p:ph type="body" sz="quarter" idx="64"/>
          </p:nvPr>
        </p:nvSpPr>
        <p:spPr>
          <a:xfrm>
            <a:off x="1347652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디지털 실증랩 구축</a:t>
            </a:r>
          </a:p>
        </p:txBody>
      </p:sp>
      <p:sp>
        <p:nvSpPr>
          <p:cNvPr id="96" name="단계"/>
          <p:cNvSpPr/>
          <p:nvPr/>
        </p:nvSpPr>
        <p:spPr>
          <a:xfrm>
            <a:off x="3230348" y="586502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7" name="단계"/>
          <p:cNvSpPr>
            <a:spLocks noGrp="1"/>
          </p:cNvSpPr>
          <p:nvPr>
            <p:ph type="body" sz="quarter" idx="65"/>
          </p:nvPr>
        </p:nvSpPr>
        <p:spPr>
          <a:xfrm>
            <a:off x="3230348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고도화</a:t>
            </a:r>
          </a:p>
        </p:txBody>
      </p:sp>
      <p:sp>
        <p:nvSpPr>
          <p:cNvPr id="98" name="단계"/>
          <p:cNvSpPr/>
          <p:nvPr/>
        </p:nvSpPr>
        <p:spPr>
          <a:xfrm>
            <a:off x="5113043" y="586502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9" name="단계"/>
          <p:cNvSpPr>
            <a:spLocks noGrp="1"/>
          </p:cNvSpPr>
          <p:nvPr>
            <p:ph type="body" sz="quarter" idx="66"/>
          </p:nvPr>
        </p:nvSpPr>
        <p:spPr>
          <a:xfrm>
            <a:off x="5113043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안정성·시장진출 확보</a:t>
            </a:r>
          </a:p>
        </p:txBody>
      </p:sp>
      <p:sp>
        <p:nvSpPr>
          <p:cNvPr id="100" name="단계 삼각형"/>
          <p:cNvSpPr/>
          <p:nvPr/>
        </p:nvSpPr>
        <p:spPr>
          <a:xfrm>
            <a:off x="3230347" y="58650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단계 삼각형"/>
          <p:cNvSpPr/>
          <p:nvPr/>
        </p:nvSpPr>
        <p:spPr>
          <a:xfrm>
            <a:off x="5113043" y="5865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칸 본문"/>
          <p:cNvSpPr>
            <a:spLocks noGrp="1"/>
          </p:cNvSpPr>
          <p:nvPr>
            <p:ph type="body" sz="quarter" idx="67"/>
          </p:nvPr>
        </p:nvSpPr>
        <p:spPr>
          <a:xfrm>
            <a:off x="1358609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서비스 플랫폼 활용 실증랩 완성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68"/>
          </p:nvPr>
        </p:nvSpPr>
        <p:spPr>
          <a:xfrm>
            <a:off x="3241304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 기업 선정·컨설팅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 자원 할당</a:t>
            </a:r>
          </a:p>
        </p:txBody>
      </p:sp>
      <p:cxnSp>
        <p:nvCxnSpPr>
          <p:cNvPr id="104" name="Connector 73"/>
          <p:cNvCxnSpPr/>
          <p:nvPr/>
        </p:nvCxnSpPr>
        <p:spPr>
          <a:xfrm>
            <a:off x="3230348" y="61498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5" name="칸 본문"/>
          <p:cNvSpPr>
            <a:spLocks noGrp="1"/>
          </p:cNvSpPr>
          <p:nvPr>
            <p:ph type="body" sz="quarter" idx="69"/>
          </p:nvPr>
        </p:nvSpPr>
        <p:spPr>
          <a:xfrm>
            <a:off x="5124000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개발 환경 안정화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개발성과 지원</a:t>
            </a:r>
          </a:p>
        </p:txBody>
      </p:sp>
      <p:cxnSp>
        <p:nvCxnSpPr>
          <p:cNvPr id="106" name="Connector 75"/>
          <p:cNvCxnSpPr/>
          <p:nvPr/>
        </p:nvCxnSpPr>
        <p:spPr>
          <a:xfrm>
            <a:off x="5113043" y="61498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주요성과 박스"/>
          <p:cNvSpPr/>
          <p:nvPr/>
        </p:nvSpPr>
        <p:spPr>
          <a:xfrm>
            <a:off x="723130" y="6558104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주요성과 라벨"/>
          <p:cNvSpPr/>
          <p:nvPr/>
        </p:nvSpPr>
        <p:spPr>
          <a:xfrm>
            <a:off x="756000" y="6590974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9" name="주요성과 라벨"/>
          <p:cNvSpPr>
            <a:spLocks noGrp="1"/>
          </p:cNvSpPr>
          <p:nvPr>
            <p:ph type="body" sz="quarter" idx="70"/>
          </p:nvPr>
        </p:nvSpPr>
        <p:spPr>
          <a:xfrm>
            <a:off x="756000" y="6590974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110" name="주요성과 문구"/>
          <p:cNvSpPr>
            <a:spLocks noGrp="1"/>
          </p:cNvSpPr>
          <p:nvPr>
            <p:ph type="body" sz="quarter" idx="71"/>
          </p:nvPr>
        </p:nvSpPr>
        <p:spPr>
          <a:xfrm>
            <a:off x="1501043" y="65745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참여기업 SaaS형 플랫폼 제작, 대상 수상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1 서사 · 환경분석 → 추진방향 → 질·양 개선 → 추진성과 사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조각의 생각이 만드는 단단한 미래, 20년 혁신챌린지의 재도약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022385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022385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챌린지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’05년 자유 제안에서 시작되어 20년간 고유 ‘자율 혁신’으로 정착</a:t>
            </a:r>
          </a:p>
        </p:txBody>
      </p:sp>
      <p:sp>
        <p:nvSpPr>
          <p:cNvPr id="22" name="틀"/>
          <p:cNvSpPr/>
          <p:nvPr/>
        </p:nvSpPr>
        <p:spPr>
          <a:xfrm>
            <a:off x="536870" y="1613426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624383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624383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칸 제목 띠"/>
          <p:cNvSpPr/>
          <p:nvPr/>
        </p:nvSpPr>
        <p:spPr>
          <a:xfrm>
            <a:off x="1194261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칸 제목"/>
          <p:cNvSpPr>
            <a:spLocks noGrp="1"/>
          </p:cNvSpPr>
          <p:nvPr>
            <p:ph type="body" sz="quarter" idx="26"/>
          </p:nvPr>
        </p:nvSpPr>
        <p:spPr>
          <a:xfrm>
            <a:off x="1194261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‘국정기조’ 반영</a:t>
            </a:r>
          </a:p>
        </p:txBody>
      </p:sp>
      <p:sp>
        <p:nvSpPr>
          <p:cNvPr id="27" name="삼각 화살표"/>
          <p:cNvSpPr/>
          <p:nvPr/>
        </p:nvSpPr>
        <p:spPr>
          <a:xfrm>
            <a:off x="2050695" y="1843513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7"/>
          </p:nvPr>
        </p:nvSpPr>
        <p:spPr>
          <a:xfrm>
            <a:off x="1205217" y="1909252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발전을 위한 공공의 혁신 노력 강조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체감할 수 있는 서비스 최우선</a:t>
            </a:r>
          </a:p>
        </p:txBody>
      </p:sp>
      <p:sp>
        <p:nvSpPr>
          <p:cNvPr id="29" name="칸 제목 띠"/>
          <p:cNvSpPr/>
          <p:nvPr/>
        </p:nvSpPr>
        <p:spPr>
          <a:xfrm>
            <a:off x="3071478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칸 제목"/>
          <p:cNvSpPr>
            <a:spLocks noGrp="1"/>
          </p:cNvSpPr>
          <p:nvPr>
            <p:ph type="body" sz="quarter" idx="28"/>
          </p:nvPr>
        </p:nvSpPr>
        <p:spPr>
          <a:xfrm>
            <a:off x="3071478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전문가 ‘혁신발전 제언’</a:t>
            </a:r>
          </a:p>
        </p:txBody>
      </p:sp>
      <p:sp>
        <p:nvSpPr>
          <p:cNvPr id="31" name="삼각 화살표"/>
          <p:cNvSpPr/>
          <p:nvPr/>
        </p:nvSpPr>
        <p:spPr>
          <a:xfrm>
            <a:off x="3927913" y="1843513"/>
            <a:ext cx="120521" cy="54782"/>
          </a:xfrm>
          <a:custGeom>
            <a:avLst/>
            <a:gdLst/>
            <a:ahLst/>
            <a:cxnLst/>
            <a:rect l="l" t="t" r="r" b="b"/>
            <a:pathLst>
              <a:path w="120521" h="54782">
                <a:moveTo>
                  <a:pt x="0" y="0"/>
                </a:moveTo>
                <a:lnTo>
                  <a:pt x="120521" y="0"/>
                </a:lnTo>
                <a:lnTo>
                  <a:pt x="60260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사진 칸"/>
          <p:cNvSpPr/>
          <p:nvPr/>
        </p:nvSpPr>
        <p:spPr>
          <a:xfrm>
            <a:off x="4025718" y="1920209"/>
            <a:ext cx="868195" cy="76695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3" name="사진 칸"/>
          <p:cNvSpPr>
            <a:spLocks noGrp="1"/>
          </p:cNvSpPr>
          <p:nvPr>
            <p:ph type="body" sz="quarter" idx="29"/>
          </p:nvPr>
        </p:nvSpPr>
        <p:spPr>
          <a:xfrm>
            <a:off x="4025718" y="1920209"/>
            <a:ext cx="868195" cy="76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인물 사진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3082435" y="1909252"/>
            <a:ext cx="905739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혁신의 질과 양을 높일 수 있는 고민이 필요</a:t>
            </a:r>
          </a:p>
        </p:txBody>
      </p:sp>
      <p:cxnSp>
        <p:nvCxnSpPr>
          <p:cNvPr id="35" name="Connector 26"/>
          <p:cNvCxnSpPr/>
          <p:nvPr/>
        </p:nvCxnSpPr>
        <p:spPr>
          <a:xfrm>
            <a:off x="3049565" y="1898296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제목 띠"/>
          <p:cNvSpPr/>
          <p:nvPr/>
        </p:nvSpPr>
        <p:spPr>
          <a:xfrm>
            <a:off x="4948696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칸 제목"/>
          <p:cNvSpPr>
            <a:spLocks noGrp="1"/>
          </p:cNvSpPr>
          <p:nvPr>
            <p:ph type="body" sz="quarter" idx="31"/>
          </p:nvPr>
        </p:nvSpPr>
        <p:spPr>
          <a:xfrm>
            <a:off x="4948696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구성원의 ‘관심과 니즈’</a:t>
            </a:r>
          </a:p>
        </p:txBody>
      </p:sp>
      <p:sp>
        <p:nvSpPr>
          <p:cNvPr id="38" name="삼각 화살표"/>
          <p:cNvSpPr/>
          <p:nvPr/>
        </p:nvSpPr>
        <p:spPr>
          <a:xfrm>
            <a:off x="5805130" y="1843513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2"/>
          </p:nvPr>
        </p:nvSpPr>
        <p:spPr>
          <a:xfrm>
            <a:off x="4959652" y="1909252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예산·지원 부족 ➡ 실행 지원제도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기대심리 ➡ 성과 보상체계 확대</a:t>
            </a:r>
          </a:p>
        </p:txBody>
      </p:sp>
      <p:cxnSp>
        <p:nvCxnSpPr>
          <p:cNvPr id="40" name="Connector 31"/>
          <p:cNvCxnSpPr/>
          <p:nvPr/>
        </p:nvCxnSpPr>
        <p:spPr>
          <a:xfrm>
            <a:off x="4926783" y="1898296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배너"/>
          <p:cNvSpPr/>
          <p:nvPr/>
        </p:nvSpPr>
        <p:spPr>
          <a:xfrm>
            <a:off x="536869" y="2807686"/>
            <a:ext cx="6300000" cy="273914"/>
          </a:xfrm>
          <a:custGeom>
            <a:avLst/>
            <a:gdLst/>
            <a:ahLst/>
            <a:cxnLst/>
            <a:rect l="l" t="t" r="r" b="b"/>
            <a:pathLst>
              <a:path w="6300000" h="273914">
                <a:moveTo>
                  <a:pt x="0" y="0"/>
                </a:moveTo>
                <a:lnTo>
                  <a:pt x="6300000" y="0"/>
                </a:lnTo>
                <a:lnTo>
                  <a:pt x="6234261" y="273914"/>
                </a:lnTo>
                <a:lnTo>
                  <a:pt x="65739" y="273914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태그"/>
          <p:cNvSpPr/>
          <p:nvPr/>
        </p:nvSpPr>
        <p:spPr>
          <a:xfrm>
            <a:off x="756000" y="2862470"/>
            <a:ext cx="87831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태그"/>
          <p:cNvSpPr>
            <a:spLocks noGrp="1"/>
          </p:cNvSpPr>
          <p:nvPr>
            <p:ph type="body" sz="quarter" idx="33"/>
          </p:nvPr>
        </p:nvSpPr>
        <p:spPr>
          <a:xfrm>
            <a:off x="756000" y="2862470"/>
            <a:ext cx="87831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추진방향</a:t>
            </a:r>
          </a:p>
        </p:txBody>
      </p:sp>
      <p:sp>
        <p:nvSpPr>
          <p:cNvPr id="44" name="배너 글"/>
          <p:cNvSpPr>
            <a:spLocks noGrp="1"/>
          </p:cNvSpPr>
          <p:nvPr>
            <p:ph type="body" sz="quarter" idx="34"/>
          </p:nvPr>
        </p:nvSpPr>
        <p:spPr>
          <a:xfrm>
            <a:off x="1689099" y="2807687"/>
            <a:ext cx="4983422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혁신이 제대로 작동하여 ‘질과 양을 높이는’ 혁신챌린지 제도 운영</a:t>
            </a:r>
          </a:p>
        </p:txBody>
      </p:sp>
      <p:sp>
        <p:nvSpPr>
          <p:cNvPr id="45" name="표 외곽"/>
          <p:cNvSpPr/>
          <p:nvPr/>
        </p:nvSpPr>
        <p:spPr>
          <a:xfrm>
            <a:off x="536870" y="3125426"/>
            <a:ext cx="6300000" cy="144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"/>
          <p:cNvSpPr/>
          <p:nvPr/>
        </p:nvSpPr>
        <p:spPr>
          <a:xfrm>
            <a:off x="547826" y="3141861"/>
            <a:ext cx="580696" cy="7766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141861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質</a:t>
            </a:r>
          </a:p>
        </p:txBody>
      </p:sp>
      <p:sp>
        <p:nvSpPr>
          <p:cNvPr id="48" name="단계"/>
          <p:cNvSpPr/>
          <p:nvPr/>
        </p:nvSpPr>
        <p:spPr>
          <a:xfrm>
            <a:off x="1161391" y="31637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0" name="단계"/>
          <p:cNvSpPr/>
          <p:nvPr/>
        </p:nvSpPr>
        <p:spPr>
          <a:xfrm>
            <a:off x="3044087" y="31637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과제선정의 방향성 제안</a:t>
            </a:r>
          </a:p>
        </p:txBody>
      </p:sp>
      <p:sp>
        <p:nvSpPr>
          <p:cNvPr id="52" name="단계"/>
          <p:cNvSpPr/>
          <p:nvPr/>
        </p:nvSpPr>
        <p:spPr>
          <a:xfrm>
            <a:off x="4926783" y="31637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혁신인재 육성·성과 고도화</a:t>
            </a:r>
          </a:p>
        </p:txBody>
      </p:sp>
      <p:sp>
        <p:nvSpPr>
          <p:cNvPr id="54" name="단계 삼각형"/>
          <p:cNvSpPr/>
          <p:nvPr/>
        </p:nvSpPr>
        <p:spPr>
          <a:xfrm>
            <a:off x="3044086" y="31637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4926782" y="31637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자율성에 기반을 둔 제도 운영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 제안에서 정책 연계 ‘중점 분야’를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중점 분야 52건 발굴</a:t>
            </a:r>
          </a:p>
        </p:txBody>
      </p:sp>
      <p:cxnSp>
        <p:nvCxnSpPr>
          <p:cNvPr id="58" name="Connector 44"/>
          <p:cNvCxnSpPr/>
          <p:nvPr/>
        </p:nvCxnSpPr>
        <p:spPr>
          <a:xfrm>
            <a:off x="3044087" y="34486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역량교육(6회)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‘Step-Up’ 제도 도입으로 단계 점검</a:t>
            </a:r>
          </a:p>
        </p:txBody>
      </p:sp>
      <p:cxnSp>
        <p:nvCxnSpPr>
          <p:cNvPr id="60" name="Connector 46"/>
          <p:cNvCxnSpPr/>
          <p:nvPr/>
        </p:nvCxnSpPr>
        <p:spPr>
          <a:xfrm>
            <a:off x="4926783" y="34486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3934957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393495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量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547826" y="3934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단계"/>
          <p:cNvSpPr/>
          <p:nvPr/>
        </p:nvSpPr>
        <p:spPr>
          <a:xfrm>
            <a:off x="1161391" y="39568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3"/>
          </p:nvPr>
        </p:nvSpPr>
        <p:spPr>
          <a:xfrm>
            <a:off x="1161391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66" name="단계"/>
          <p:cNvSpPr/>
          <p:nvPr/>
        </p:nvSpPr>
        <p:spPr>
          <a:xfrm>
            <a:off x="3044087" y="39568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4"/>
          </p:nvPr>
        </p:nvSpPr>
        <p:spPr>
          <a:xfrm>
            <a:off x="3044087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 완성지원 강화</a:t>
            </a:r>
          </a:p>
        </p:txBody>
      </p:sp>
      <p:sp>
        <p:nvSpPr>
          <p:cNvPr id="68" name="단계"/>
          <p:cNvSpPr/>
          <p:nvPr/>
        </p:nvSpPr>
        <p:spPr>
          <a:xfrm>
            <a:off x="4926783" y="39568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5"/>
          </p:nvPr>
        </p:nvSpPr>
        <p:spPr>
          <a:xfrm>
            <a:off x="4926783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혁신의 주역에게 명예보상 강화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044086" y="3956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4926782" y="395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지원제도 점검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명예보상 부재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7"/>
          </p:nvPr>
        </p:nvSpPr>
        <p:spPr>
          <a:xfrm>
            <a:off x="3055043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방향성을 고려한 지원제도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플랫폼 참여 43팀, 7억원 지원</a:t>
            </a:r>
          </a:p>
        </p:txBody>
      </p:sp>
      <p:cxnSp>
        <p:nvCxnSpPr>
          <p:cNvPr id="74" name="Connector 56"/>
          <p:cNvCxnSpPr/>
          <p:nvPr/>
        </p:nvCxnSpPr>
        <p:spPr>
          <a:xfrm>
            <a:off x="3044087" y="42417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48"/>
          </p:nvPr>
        </p:nvSpPr>
        <p:spPr>
          <a:xfrm>
            <a:off x="4937739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‘혁신챌린지 특별승진’ 제도화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1명 특별승진</a:t>
            </a:r>
          </a:p>
        </p:txBody>
      </p:sp>
      <p:cxnSp>
        <p:nvCxnSpPr>
          <p:cNvPr id="76" name="Connector 58"/>
          <p:cNvCxnSpPr/>
          <p:nvPr/>
        </p:nvCxnSpPr>
        <p:spPr>
          <a:xfrm>
            <a:off x="4926783" y="42417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캡션 띠"/>
          <p:cNvSpPr/>
          <p:nvPr/>
        </p:nvSpPr>
        <p:spPr>
          <a:xfrm>
            <a:off x="536869" y="459516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태그"/>
          <p:cNvSpPr/>
          <p:nvPr/>
        </p:nvSpPr>
        <p:spPr>
          <a:xfrm>
            <a:off x="865565" y="4638991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태그"/>
          <p:cNvSpPr>
            <a:spLocks noGrp="1"/>
          </p:cNvSpPr>
          <p:nvPr>
            <p:ph type="body" sz="quarter" idx="49"/>
          </p:nvPr>
        </p:nvSpPr>
        <p:spPr>
          <a:xfrm>
            <a:off x="865565" y="4638991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0" name="캡션"/>
          <p:cNvSpPr>
            <a:spLocks noGrp="1"/>
          </p:cNvSpPr>
          <p:nvPr>
            <p:ph type="body" sz="quarter" idx="50"/>
          </p:nvPr>
        </p:nvSpPr>
        <p:spPr>
          <a:xfrm>
            <a:off x="1468988" y="4595165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활용, 국민안전, 공공서비스 향상 등 정책 방향성을 담은 과제 52건 발굴</a:t>
            </a:r>
          </a:p>
        </p:txBody>
      </p:sp>
      <p:sp>
        <p:nvSpPr>
          <p:cNvPr id="81" name="표 외곽"/>
          <p:cNvSpPr/>
          <p:nvPr/>
        </p:nvSpPr>
        <p:spPr>
          <a:xfrm>
            <a:off x="536870" y="4901948"/>
            <a:ext cx="6300000" cy="190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레일"/>
          <p:cNvSpPr/>
          <p:nvPr/>
        </p:nvSpPr>
        <p:spPr>
          <a:xfrm>
            <a:off x="547826" y="4918383"/>
            <a:ext cx="580696" cy="12313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3" name="레일"/>
          <p:cNvSpPr>
            <a:spLocks noGrp="1"/>
          </p:cNvSpPr>
          <p:nvPr>
            <p:ph type="body" sz="quarter" idx="51"/>
          </p:nvPr>
        </p:nvSpPr>
        <p:spPr>
          <a:xfrm>
            <a:off x="547826" y="4918383"/>
            <a:ext cx="580696" cy="12313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위험제거</a:t>
            </a:r>
          </a:p>
        </p:txBody>
      </p:sp>
      <p:sp>
        <p:nvSpPr>
          <p:cNvPr id="84" name="단계"/>
          <p:cNvSpPr/>
          <p:nvPr/>
        </p:nvSpPr>
        <p:spPr>
          <a:xfrm>
            <a:off x="1161391" y="49402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5" name="단계"/>
          <p:cNvSpPr>
            <a:spLocks noGrp="1"/>
          </p:cNvSpPr>
          <p:nvPr>
            <p:ph type="body" sz="quarter" idx="52"/>
          </p:nvPr>
        </p:nvSpPr>
        <p:spPr>
          <a:xfrm>
            <a:off x="1161391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발밑의 습격</a:t>
            </a:r>
          </a:p>
        </p:txBody>
      </p:sp>
      <p:sp>
        <p:nvSpPr>
          <p:cNvPr id="86" name="단계"/>
          <p:cNvSpPr/>
          <p:nvPr/>
        </p:nvSpPr>
        <p:spPr>
          <a:xfrm>
            <a:off x="3044087" y="49402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3"/>
          </p:nvPr>
        </p:nvSpPr>
        <p:spPr>
          <a:xfrm>
            <a:off x="3044087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기술 활용 위험 제거</a:t>
            </a:r>
          </a:p>
        </p:txBody>
      </p:sp>
      <p:sp>
        <p:nvSpPr>
          <p:cNvPr id="88" name="단계"/>
          <p:cNvSpPr/>
          <p:nvPr/>
        </p:nvSpPr>
        <p:spPr>
          <a:xfrm>
            <a:off x="4926783" y="49402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4"/>
          </p:nvPr>
        </p:nvSpPr>
        <p:spPr>
          <a:xfrm>
            <a:off x="4926783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관로주변 위험 제거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3044086" y="49402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단계 삼각형"/>
          <p:cNvSpPr/>
          <p:nvPr/>
        </p:nvSpPr>
        <p:spPr>
          <a:xfrm>
            <a:off x="4926782" y="49402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5"/>
          </p:nvPr>
        </p:nvSpPr>
        <p:spPr>
          <a:xfrm>
            <a:off x="1172348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주요원인은 상·하수관 손상 50.2%</a:t>
            </a:r>
          </a:p>
        </p:txBody>
      </p:sp>
      <p:sp>
        <p:nvSpPr>
          <p:cNvPr id="93" name="칸 본문"/>
          <p:cNvSpPr>
            <a:spLocks noGrp="1"/>
          </p:cNvSpPr>
          <p:nvPr>
            <p:ph type="body" sz="quarter" idx="56"/>
          </p:nvPr>
        </p:nvSpPr>
        <p:spPr>
          <a:xfrm>
            <a:off x="3055043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침하영향 AI 학습으로 위험등급 시각화</a:t>
            </a:r>
          </a:p>
        </p:txBody>
      </p:sp>
      <p:cxnSp>
        <p:nvCxnSpPr>
          <p:cNvPr id="94" name="Connector 71"/>
          <p:cNvCxnSpPr/>
          <p:nvPr/>
        </p:nvCxnSpPr>
        <p:spPr>
          <a:xfrm>
            <a:off x="3044087" y="5225165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5" name="칸 본문"/>
          <p:cNvSpPr>
            <a:spLocks noGrp="1"/>
          </p:cNvSpPr>
          <p:nvPr>
            <p:ph type="body" sz="quarter" idx="57"/>
          </p:nvPr>
        </p:nvSpPr>
        <p:spPr>
          <a:xfrm>
            <a:off x="4937739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44개 지점, 관로 78.5km 시범운영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예측정확도 73.9% 달성</a:t>
            </a:r>
          </a:p>
        </p:txBody>
      </p:sp>
      <p:cxnSp>
        <p:nvCxnSpPr>
          <p:cNvPr id="96" name="Connector 73"/>
          <p:cNvCxnSpPr/>
          <p:nvPr/>
        </p:nvCxnSpPr>
        <p:spPr>
          <a:xfrm>
            <a:off x="4926783" y="5225165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7" name="칸 본문"/>
          <p:cNvSpPr>
            <a:spLocks noGrp="1"/>
          </p:cNvSpPr>
          <p:nvPr>
            <p:ph type="body" sz="quarter" idx="58"/>
          </p:nvPr>
        </p:nvSpPr>
        <p:spPr>
          <a:xfrm>
            <a:off x="1172348" y="5706000"/>
            <a:ext cx="4514087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사진 자리: 점검 전후</a:t>
            </a:r>
          </a:p>
        </p:txBody>
      </p:sp>
      <p:sp>
        <p:nvSpPr>
          <p:cNvPr id="98" name="사진 칸"/>
          <p:cNvSpPr/>
          <p:nvPr/>
        </p:nvSpPr>
        <p:spPr>
          <a:xfrm>
            <a:off x="5730261" y="5711478"/>
            <a:ext cx="1079217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9" name="사진 칸"/>
          <p:cNvSpPr>
            <a:spLocks noGrp="1"/>
          </p:cNvSpPr>
          <p:nvPr>
            <p:ph type="body" sz="quarter" idx="59"/>
          </p:nvPr>
        </p:nvSpPr>
        <p:spPr>
          <a:xfrm>
            <a:off x="5730261" y="5711478"/>
            <a:ext cx="1079217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100" name="레일"/>
          <p:cNvSpPr/>
          <p:nvPr/>
        </p:nvSpPr>
        <p:spPr>
          <a:xfrm>
            <a:off x="547826" y="6166174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1" name="레일"/>
          <p:cNvSpPr>
            <a:spLocks noGrp="1"/>
          </p:cNvSpPr>
          <p:nvPr>
            <p:ph type="body" sz="quarter" idx="60"/>
          </p:nvPr>
        </p:nvSpPr>
        <p:spPr>
          <a:xfrm>
            <a:off x="547826" y="6166174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업무효율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예방</a:t>
            </a:r>
          </a:p>
        </p:txBody>
      </p:sp>
      <p:sp>
        <p:nvSpPr>
          <p:cNvPr id="102" name="레일 삼각형"/>
          <p:cNvSpPr/>
          <p:nvPr/>
        </p:nvSpPr>
        <p:spPr>
          <a:xfrm>
            <a:off x="547826" y="6166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단계"/>
          <p:cNvSpPr/>
          <p:nvPr/>
        </p:nvSpPr>
        <p:spPr>
          <a:xfrm>
            <a:off x="1161391" y="61880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4" name="단계"/>
          <p:cNvSpPr>
            <a:spLocks noGrp="1"/>
          </p:cNvSpPr>
          <p:nvPr>
            <p:ph type="body" sz="quarter" idx="61"/>
          </p:nvPr>
        </p:nvSpPr>
        <p:spPr>
          <a:xfrm>
            <a:off x="1161391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담당자가 공사 개별 확인</a:t>
            </a:r>
          </a:p>
        </p:txBody>
      </p:sp>
      <p:sp>
        <p:nvSpPr>
          <p:cNvPr id="105" name="단계"/>
          <p:cNvSpPr/>
          <p:nvPr/>
        </p:nvSpPr>
        <p:spPr>
          <a:xfrm>
            <a:off x="3044087" y="61880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6" name="단계"/>
          <p:cNvSpPr>
            <a:spLocks noGrp="1"/>
          </p:cNvSpPr>
          <p:nvPr>
            <p:ph type="body" sz="quarter" idx="62"/>
          </p:nvPr>
        </p:nvSpPr>
        <p:spPr>
          <a:xfrm>
            <a:off x="3044087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집중 검토 대상을 한 곳에</a:t>
            </a:r>
          </a:p>
        </p:txBody>
      </p:sp>
      <p:sp>
        <p:nvSpPr>
          <p:cNvPr id="107" name="단계"/>
          <p:cNvSpPr/>
          <p:nvPr/>
        </p:nvSpPr>
        <p:spPr>
          <a:xfrm>
            <a:off x="4926783" y="61880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8" name="단계"/>
          <p:cNvSpPr>
            <a:spLocks noGrp="1"/>
          </p:cNvSpPr>
          <p:nvPr>
            <p:ph type="body" sz="quarter" idx="63"/>
          </p:nvPr>
        </p:nvSpPr>
        <p:spPr>
          <a:xfrm>
            <a:off x="4926783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통합플랫폼 구축</a:t>
            </a:r>
          </a:p>
        </p:txBody>
      </p:sp>
      <p:sp>
        <p:nvSpPr>
          <p:cNvPr id="109" name="단계 삼각형"/>
          <p:cNvSpPr/>
          <p:nvPr/>
        </p:nvSpPr>
        <p:spPr>
          <a:xfrm>
            <a:off x="3044086" y="61880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단계 삼각형"/>
          <p:cNvSpPr/>
          <p:nvPr/>
        </p:nvSpPr>
        <p:spPr>
          <a:xfrm>
            <a:off x="4926782" y="6188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칸 본문"/>
          <p:cNvSpPr>
            <a:spLocks noGrp="1"/>
          </p:cNvSpPr>
          <p:nvPr>
            <p:ph type="body" sz="quarter" idx="64"/>
          </p:nvPr>
        </p:nvSpPr>
        <p:spPr>
          <a:xfrm>
            <a:off x="1172348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도시 개발로 저촉 공사 과다</a:t>
            </a:r>
          </a:p>
        </p:txBody>
      </p:sp>
      <p:sp>
        <p:nvSpPr>
          <p:cNvPr id="112" name="칸 본문"/>
          <p:cNvSpPr>
            <a:spLocks noGrp="1"/>
          </p:cNvSpPr>
          <p:nvPr>
            <p:ph type="body" sz="quarter" idx="65"/>
          </p:nvPr>
        </p:nvSpPr>
        <p:spPr>
          <a:xfrm>
            <a:off x="3055043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저촉 여부 판별 시스템 개발</a:t>
            </a:r>
          </a:p>
        </p:txBody>
      </p:sp>
      <p:cxnSp>
        <p:nvCxnSpPr>
          <p:cNvPr id="113" name="Connector 85"/>
          <p:cNvCxnSpPr/>
          <p:nvPr/>
        </p:nvCxnSpPr>
        <p:spPr>
          <a:xfrm>
            <a:off x="3044087" y="64729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4" name="칸 본문"/>
          <p:cNvSpPr>
            <a:spLocks noGrp="1"/>
          </p:cNvSpPr>
          <p:nvPr>
            <p:ph type="body" sz="quarter" idx="66"/>
          </p:nvPr>
        </p:nvSpPr>
        <p:spPr>
          <a:xfrm>
            <a:off x="4937739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검토시간 83%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물 공급 실현</a:t>
            </a:r>
          </a:p>
        </p:txBody>
      </p:sp>
      <p:cxnSp>
        <p:nvCxnSpPr>
          <p:cNvPr id="115" name="Connector 87"/>
          <p:cNvCxnSpPr/>
          <p:nvPr/>
        </p:nvCxnSpPr>
        <p:spPr>
          <a:xfrm>
            <a:off x="4926783" y="64729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2 서사 · 환경·성과분석 → 시사점 → 로드맵 → 추진체계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마음으로 이뤄낸 최고의 결실, 청렴도 1위 달성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2697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</p:txBody>
      </p:sp>
      <p:sp>
        <p:nvSpPr>
          <p:cNvPr id="21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배너"/>
          <p:cNvSpPr>
            <a:spLocks noGrp="1"/>
          </p:cNvSpPr>
          <p:nvPr>
            <p:ph type="body" sz="quarter" idx="25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“청렴은 가장 기본, 강력한 내부통제 기반 윤리경영으로 청렴도 제고”(’25 신년사)</a:t>
            </a:r>
          </a:p>
        </p:txBody>
      </p:sp>
      <p:sp>
        <p:nvSpPr>
          <p:cNvPr id="23" name="레일"/>
          <p:cNvSpPr/>
          <p:nvPr/>
        </p:nvSpPr>
        <p:spPr>
          <a:xfrm>
            <a:off x="734087" y="1414800"/>
            <a:ext cx="580696" cy="41087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14800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4148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36713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829283" y="1436713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정부목표 국가청렴도 20위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반부패 개혁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1818326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436713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4171696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653326" y="1436713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내부체감 소폭 반등에도 60점대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외부체감 평균 하회</a:t>
            </a:r>
          </a:p>
        </p:txBody>
      </p:sp>
      <p:cxnSp>
        <p:nvCxnSpPr>
          <p:cNvPr id="32" name="Connector 21"/>
          <p:cNvCxnSpPr/>
          <p:nvPr/>
        </p:nvCxnSpPr>
        <p:spPr>
          <a:xfrm>
            <a:off x="4642370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1842104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1842104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(~’24년)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18421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1864017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829283" y="1864017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’23년 표준모델 선제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실행조직 발족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1818326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1864017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4171696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653326" y="1864017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중심 활동, 현장 반영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현안과 단기 성과 집중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642370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캡션 띠"/>
          <p:cNvSpPr/>
          <p:nvPr/>
        </p:nvSpPr>
        <p:spPr>
          <a:xfrm>
            <a:off x="723130" y="24201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1051826" y="246396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6"/>
          </p:nvPr>
        </p:nvSpPr>
        <p:spPr>
          <a:xfrm>
            <a:off x="1051826" y="246396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6" name="캡션"/>
          <p:cNvSpPr>
            <a:spLocks noGrp="1"/>
          </p:cNvSpPr>
          <p:nvPr>
            <p:ph type="body" sz="quarter" idx="37"/>
          </p:nvPr>
        </p:nvSpPr>
        <p:spPr>
          <a:xfrm>
            <a:off x="1545480" y="242013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국민·구성원이 체감 가능한, 청렴위기 극복 위한 뼈를 깎는 노력 필요</a:t>
            </a:r>
          </a:p>
        </p:txBody>
      </p:sp>
      <p:sp>
        <p:nvSpPr>
          <p:cNvPr id="47" name="표 외곽"/>
          <p:cNvSpPr/>
          <p:nvPr/>
        </p:nvSpPr>
        <p:spPr>
          <a:xfrm>
            <a:off x="723130" y="2726922"/>
            <a:ext cx="6300000" cy="619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"/>
          <p:cNvSpPr/>
          <p:nvPr/>
        </p:nvSpPr>
        <p:spPr>
          <a:xfrm>
            <a:off x="734087" y="2743357"/>
            <a:ext cx="580696" cy="58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2743357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50" name="단계"/>
          <p:cNvSpPr/>
          <p:nvPr/>
        </p:nvSpPr>
        <p:spPr>
          <a:xfrm>
            <a:off x="1347652" y="27652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52" name="단계"/>
          <p:cNvSpPr/>
          <p:nvPr/>
        </p:nvSpPr>
        <p:spPr>
          <a:xfrm>
            <a:off x="3230348" y="27652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54" name="단계"/>
          <p:cNvSpPr/>
          <p:nvPr/>
        </p:nvSpPr>
        <p:spPr>
          <a:xfrm>
            <a:off x="5113043" y="27652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56" name="단계 삼각형"/>
          <p:cNvSpPr/>
          <p:nvPr/>
        </p:nvSpPr>
        <p:spPr>
          <a:xfrm>
            <a:off x="3230347" y="27652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단계 삼각형"/>
          <p:cNvSpPr/>
          <p:nvPr/>
        </p:nvSpPr>
        <p:spPr>
          <a:xfrm>
            <a:off x="5113043" y="27652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3230348" y="30501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cxnSp>
        <p:nvCxnSpPr>
          <p:cNvPr id="62" name="Connector 45"/>
          <p:cNvCxnSpPr/>
          <p:nvPr/>
        </p:nvCxnSpPr>
        <p:spPr>
          <a:xfrm>
            <a:off x="5113043" y="30501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삼각 화살표"/>
          <p:cNvSpPr/>
          <p:nvPr/>
        </p:nvSpPr>
        <p:spPr>
          <a:xfrm>
            <a:off x="4010086" y="3389791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표 외곽"/>
          <p:cNvSpPr/>
          <p:nvPr/>
        </p:nvSpPr>
        <p:spPr>
          <a:xfrm>
            <a:off x="723130" y="3603443"/>
            <a:ext cx="6300000" cy="23270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레일"/>
          <p:cNvSpPr/>
          <p:nvPr/>
        </p:nvSpPr>
        <p:spPr>
          <a:xfrm>
            <a:off x="734087" y="36198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6198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67" name="배너"/>
          <p:cNvSpPr/>
          <p:nvPr/>
        </p:nvSpPr>
        <p:spPr>
          <a:xfrm>
            <a:off x="1347652" y="36417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배너"/>
          <p:cNvSpPr>
            <a:spLocks noGrp="1"/>
          </p:cNvSpPr>
          <p:nvPr>
            <p:ph type="body" sz="quarter" idx="46"/>
          </p:nvPr>
        </p:nvSpPr>
        <p:spPr>
          <a:xfrm>
            <a:off x="1347652" y="36417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최고수준의 청렴기관으로서 국민 눈높이에 부합하는 윤리경영 실천</a:t>
            </a:r>
          </a:p>
        </p:txBody>
      </p:sp>
      <p:sp>
        <p:nvSpPr>
          <p:cNvPr id="69" name="레일"/>
          <p:cNvSpPr/>
          <p:nvPr/>
        </p:nvSpPr>
        <p:spPr>
          <a:xfrm>
            <a:off x="734087" y="3889722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레일"/>
          <p:cNvSpPr>
            <a:spLocks noGrp="1"/>
          </p:cNvSpPr>
          <p:nvPr>
            <p:ph type="body" sz="quarter" idx="47"/>
          </p:nvPr>
        </p:nvSpPr>
        <p:spPr>
          <a:xfrm>
            <a:off x="734087" y="38897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(표준모델)</a:t>
            </a:r>
          </a:p>
        </p:txBody>
      </p:sp>
      <p:sp>
        <p:nvSpPr>
          <p:cNvPr id="71" name="레일 삼각형"/>
          <p:cNvSpPr/>
          <p:nvPr/>
        </p:nvSpPr>
        <p:spPr>
          <a:xfrm>
            <a:off x="734086" y="388972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머리칸"/>
          <p:cNvSpPr/>
          <p:nvPr/>
        </p:nvSpPr>
        <p:spPr>
          <a:xfrm>
            <a:off x="1347652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48"/>
          </p:nvPr>
        </p:nvSpPr>
        <p:spPr>
          <a:xfrm>
            <a:off x="1347652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① 청렴의식 내재화</a:t>
            </a:r>
          </a:p>
        </p:txBody>
      </p:sp>
      <p:sp>
        <p:nvSpPr>
          <p:cNvPr id="74" name="머리칸"/>
          <p:cNvSpPr/>
          <p:nvPr/>
        </p:nvSpPr>
        <p:spPr>
          <a:xfrm>
            <a:off x="3230348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49"/>
          </p:nvPr>
        </p:nvSpPr>
        <p:spPr>
          <a:xfrm>
            <a:off x="3230348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② 현장 중심 리스크관리</a:t>
            </a:r>
          </a:p>
        </p:txBody>
      </p:sp>
      <p:sp>
        <p:nvSpPr>
          <p:cNvPr id="76" name="머리칸"/>
          <p:cNvSpPr/>
          <p:nvPr/>
        </p:nvSpPr>
        <p:spPr>
          <a:xfrm>
            <a:off x="5113043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0"/>
          </p:nvPr>
        </p:nvSpPr>
        <p:spPr>
          <a:xfrm>
            <a:off x="5113043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③ 전문적 모니터링 체계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 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 강화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2"/>
          </p:nvPr>
        </p:nvSpPr>
        <p:spPr>
          <a:xfrm>
            <a:off x="3241304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위험통제 고객체감 통제활동</a:t>
            </a:r>
          </a:p>
        </p:txBody>
      </p:sp>
      <p:cxnSp>
        <p:nvCxnSpPr>
          <p:cNvPr id="80" name="Connector 57"/>
          <p:cNvCxnSpPr/>
          <p:nvPr/>
        </p:nvCxnSpPr>
        <p:spPr>
          <a:xfrm>
            <a:off x="3230348" y="4185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칸 본문"/>
          <p:cNvSpPr>
            <a:spLocks noGrp="1"/>
          </p:cNvSpPr>
          <p:nvPr>
            <p:ph type="body" sz="quarter" idx="53"/>
          </p:nvPr>
        </p:nvSpPr>
        <p:spPr>
          <a:xfrm>
            <a:off x="5124000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</a:t>
            </a:r>
          </a:p>
        </p:txBody>
      </p:sp>
      <p:cxnSp>
        <p:nvCxnSpPr>
          <p:cNvPr id="82" name="Connector 59"/>
          <p:cNvCxnSpPr/>
          <p:nvPr/>
        </p:nvCxnSpPr>
        <p:spPr>
          <a:xfrm>
            <a:off x="5113043" y="4185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레일"/>
          <p:cNvSpPr/>
          <p:nvPr/>
        </p:nvSpPr>
        <p:spPr>
          <a:xfrm>
            <a:off x="734087" y="4590939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4"/>
          </p:nvPr>
        </p:nvSpPr>
        <p:spPr>
          <a:xfrm>
            <a:off x="734087" y="459093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추진체계</a:t>
            </a:r>
          </a:p>
        </p:txBody>
      </p:sp>
      <p:sp>
        <p:nvSpPr>
          <p:cNvPr id="85" name="머리칸"/>
          <p:cNvSpPr/>
          <p:nvPr/>
        </p:nvSpPr>
        <p:spPr>
          <a:xfrm>
            <a:off x="1347652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6" name="머리칸"/>
          <p:cNvSpPr>
            <a:spLocks noGrp="1"/>
          </p:cNvSpPr>
          <p:nvPr>
            <p:ph type="body" sz="quarter" idx="55"/>
          </p:nvPr>
        </p:nvSpPr>
        <p:spPr>
          <a:xfrm>
            <a:off x="1347652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청렴내부통제위원회</a:t>
            </a:r>
          </a:p>
        </p:txBody>
      </p:sp>
      <p:sp>
        <p:nvSpPr>
          <p:cNvPr id="87" name="머리칸"/>
          <p:cNvSpPr/>
          <p:nvPr/>
        </p:nvSpPr>
        <p:spPr>
          <a:xfrm>
            <a:off x="3230348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8" name="머리칸"/>
          <p:cNvSpPr>
            <a:spLocks noGrp="1"/>
          </p:cNvSpPr>
          <p:nvPr>
            <p:ph type="body" sz="quarter" idx="56"/>
          </p:nvPr>
        </p:nvSpPr>
        <p:spPr>
          <a:xfrm>
            <a:off x="3230348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청렴혁신 DRIVE 추진단</a:t>
            </a:r>
          </a:p>
        </p:txBody>
      </p:sp>
      <p:sp>
        <p:nvSpPr>
          <p:cNvPr id="89" name="머리칸"/>
          <p:cNvSpPr/>
          <p:nvPr/>
        </p:nvSpPr>
        <p:spPr>
          <a:xfrm>
            <a:off x="5113043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0" name="머리칸"/>
          <p:cNvSpPr>
            <a:spLocks noGrp="1"/>
          </p:cNvSpPr>
          <p:nvPr>
            <p:ph type="body" sz="quarter" idx="57"/>
          </p:nvPr>
        </p:nvSpPr>
        <p:spPr>
          <a:xfrm>
            <a:off x="5113043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3단계 방어선</a:t>
            </a:r>
          </a:p>
        </p:txBody>
      </p:sp>
      <p:sp>
        <p:nvSpPr>
          <p:cNvPr id="91" name="칸 본문"/>
          <p:cNvSpPr>
            <a:spLocks noGrp="1"/>
          </p:cNvSpPr>
          <p:nvPr>
            <p:ph type="body" sz="quarter" idx="58"/>
          </p:nvPr>
        </p:nvSpPr>
        <p:spPr>
          <a:xfrm>
            <a:off x="1358609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최고 의사결정기구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CEO, 임원, 비상임이사 등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9"/>
          </p:nvPr>
        </p:nvSpPr>
        <p:spPr>
          <a:xfrm>
            <a:off x="3241304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청렴혁신활동 전사협의체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3개 분과 26개 개선과제 이행</a:t>
            </a:r>
          </a:p>
        </p:txBody>
      </p:sp>
      <p:cxnSp>
        <p:nvCxnSpPr>
          <p:cNvPr id="93" name="Connector 66"/>
          <p:cNvCxnSpPr/>
          <p:nvPr/>
        </p:nvCxnSpPr>
        <p:spPr>
          <a:xfrm>
            <a:off x="3230348" y="48867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칸 본문"/>
          <p:cNvSpPr>
            <a:spLocks noGrp="1"/>
          </p:cNvSpPr>
          <p:nvPr>
            <p:ph type="body" sz="quarter" idx="60"/>
          </p:nvPr>
        </p:nvSpPr>
        <p:spPr>
          <a:xfrm>
            <a:off x="5124000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1선 실무부서 자율점검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2선 통제부서 모니터링</a:t>
            </a:r>
          </a:p>
        </p:txBody>
      </p:sp>
      <p:cxnSp>
        <p:nvCxnSpPr>
          <p:cNvPr id="95" name="Connector 68"/>
          <p:cNvCxnSpPr/>
          <p:nvPr/>
        </p:nvCxnSpPr>
        <p:spPr>
          <a:xfrm>
            <a:off x="5113043" y="48867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레일"/>
          <p:cNvSpPr/>
          <p:nvPr/>
        </p:nvSpPr>
        <p:spPr>
          <a:xfrm>
            <a:off x="734087" y="5292157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7" name="레일"/>
          <p:cNvSpPr>
            <a:spLocks noGrp="1"/>
          </p:cNvSpPr>
          <p:nvPr>
            <p:ph type="body" sz="quarter" idx="61"/>
          </p:nvPr>
        </p:nvSpPr>
        <p:spPr>
          <a:xfrm>
            <a:off x="734087" y="529215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98" name="레일 삼각형"/>
          <p:cNvSpPr/>
          <p:nvPr/>
        </p:nvSpPr>
        <p:spPr>
          <a:xfrm>
            <a:off x="734086" y="52921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단계"/>
          <p:cNvSpPr/>
          <p:nvPr/>
        </p:nvSpPr>
        <p:spPr>
          <a:xfrm>
            <a:off x="1347652" y="53140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0" name="단계"/>
          <p:cNvSpPr>
            <a:spLocks noGrp="1"/>
          </p:cNvSpPr>
          <p:nvPr>
            <p:ph type="body" sz="quarter" idx="62"/>
          </p:nvPr>
        </p:nvSpPr>
        <p:spPr>
          <a:xfrm>
            <a:off x="1347652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협력·자문</a:t>
            </a:r>
          </a:p>
        </p:txBody>
      </p:sp>
      <p:sp>
        <p:nvSpPr>
          <p:cNvPr id="101" name="단계"/>
          <p:cNvSpPr/>
          <p:nvPr/>
        </p:nvSpPr>
        <p:spPr>
          <a:xfrm>
            <a:off x="3230348" y="53140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2" name="단계"/>
          <p:cNvSpPr>
            <a:spLocks noGrp="1"/>
          </p:cNvSpPr>
          <p:nvPr>
            <p:ph type="body" sz="quarter" idx="63"/>
          </p:nvPr>
        </p:nvSpPr>
        <p:spPr>
          <a:xfrm>
            <a:off x="3230348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소통·확산</a:t>
            </a:r>
          </a:p>
        </p:txBody>
      </p:sp>
      <p:sp>
        <p:nvSpPr>
          <p:cNvPr id="103" name="단계"/>
          <p:cNvSpPr/>
          <p:nvPr/>
        </p:nvSpPr>
        <p:spPr>
          <a:xfrm>
            <a:off x="5113043" y="53140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4" name="단계"/>
          <p:cNvSpPr>
            <a:spLocks noGrp="1"/>
          </p:cNvSpPr>
          <p:nvPr>
            <p:ph type="body" sz="quarter" idx="64"/>
          </p:nvPr>
        </p:nvSpPr>
        <p:spPr>
          <a:xfrm>
            <a:off x="5113043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 및 환류</a:t>
            </a:r>
          </a:p>
        </p:txBody>
      </p:sp>
      <p:sp>
        <p:nvSpPr>
          <p:cNvPr id="105" name="단계 삼각형"/>
          <p:cNvSpPr/>
          <p:nvPr/>
        </p:nvSpPr>
        <p:spPr>
          <a:xfrm>
            <a:off x="3230347" y="53140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단계 삼각형"/>
          <p:cNvSpPr/>
          <p:nvPr/>
        </p:nvSpPr>
        <p:spPr>
          <a:xfrm>
            <a:off x="5113043" y="53140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칸 본문"/>
          <p:cNvSpPr>
            <a:spLocks noGrp="1"/>
          </p:cNvSpPr>
          <p:nvPr>
            <p:ph type="body" sz="quarter" idx="65"/>
          </p:nvPr>
        </p:nvSpPr>
        <p:spPr>
          <a:xfrm>
            <a:off x="1358609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 청렴협의회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청렴시민감사관</a:t>
            </a:r>
          </a:p>
        </p:txBody>
      </p:sp>
      <p:sp>
        <p:nvSpPr>
          <p:cNvPr id="108" name="칸 본문"/>
          <p:cNvSpPr>
            <a:spLocks noGrp="1"/>
          </p:cNvSpPr>
          <p:nvPr>
            <p:ph type="body" sz="quarter" idx="66"/>
          </p:nvPr>
        </p:nvSpPr>
        <p:spPr>
          <a:xfrm>
            <a:off x="3241304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프로모터 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고충 모니터링 담당</a:t>
            </a:r>
          </a:p>
        </p:txBody>
      </p:sp>
      <p:cxnSp>
        <p:nvCxnSpPr>
          <p:cNvPr id="109" name="Connector 78"/>
          <p:cNvCxnSpPr/>
          <p:nvPr/>
        </p:nvCxnSpPr>
        <p:spPr>
          <a:xfrm>
            <a:off x="3230348" y="55989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0" name="칸 본문"/>
          <p:cNvSpPr>
            <a:spLocks noGrp="1"/>
          </p:cNvSpPr>
          <p:nvPr>
            <p:ph type="body" sz="quarter" idx="67"/>
          </p:nvPr>
        </p:nvSpPr>
        <p:spPr>
          <a:xfrm>
            <a:off x="5124000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청렴도 평가, 전문가 자문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윤리자수, 상위직 청렴도</a:t>
            </a:r>
          </a:p>
        </p:txBody>
      </p:sp>
      <p:cxnSp>
        <p:nvCxnSpPr>
          <p:cNvPr id="111" name="Connector 80"/>
          <p:cNvCxnSpPr/>
          <p:nvPr/>
        </p:nvCxnSpPr>
        <p:spPr>
          <a:xfrm>
            <a:off x="5113043" y="55989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2" name="틀"/>
          <p:cNvSpPr/>
          <p:nvPr/>
        </p:nvSpPr>
        <p:spPr>
          <a:xfrm>
            <a:off x="723130" y="5996191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3" name="성과 라벨"/>
          <p:cNvSpPr/>
          <p:nvPr/>
        </p:nvSpPr>
        <p:spPr>
          <a:xfrm>
            <a:off x="734087" y="6007148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4" name="성과 라벨"/>
          <p:cNvSpPr>
            <a:spLocks noGrp="1"/>
          </p:cNvSpPr>
          <p:nvPr>
            <p:ph type="body" sz="quarter" idx="68"/>
          </p:nvPr>
        </p:nvSpPr>
        <p:spPr>
          <a:xfrm>
            <a:off x="734087" y="6007148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15" name="성과 띠"/>
          <p:cNvSpPr/>
          <p:nvPr/>
        </p:nvSpPr>
        <p:spPr>
          <a:xfrm>
            <a:off x="1358609" y="6029061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16" name="성과 띠"/>
          <p:cNvSpPr>
            <a:spLocks noGrp="1"/>
          </p:cNvSpPr>
          <p:nvPr>
            <p:ph type="body" sz="quarter" idx="69"/>
          </p:nvPr>
        </p:nvSpPr>
        <p:spPr>
          <a:xfrm>
            <a:off x="1358609" y="6029061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강도 높은 노력으로 ’25년 종합청렴도 역대 최고 점수, 최초 1등급 결실</a:t>
            </a:r>
          </a:p>
        </p:txBody>
      </p:sp>
      <p:sp>
        <p:nvSpPr>
          <p:cNvPr id="117" name="카드"/>
          <p:cNvSpPr/>
          <p:nvPr/>
        </p:nvSpPr>
        <p:spPr>
          <a:xfrm>
            <a:off x="1358609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8" name="카드 문구"/>
          <p:cNvSpPr>
            <a:spLocks noGrp="1"/>
          </p:cNvSpPr>
          <p:nvPr>
            <p:ph type="body" sz="quarter" idx="70"/>
          </p:nvPr>
        </p:nvSpPr>
        <p:spPr>
          <a:xfrm>
            <a:off x="1380522" y="6281061"/>
            <a:ext cx="82816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종합청렴도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1등급</a:t>
            </a:r>
          </a:p>
        </p:txBody>
      </p:sp>
      <p:sp>
        <p:nvSpPr>
          <p:cNvPr id="119" name="막대"/>
          <p:cNvSpPr/>
          <p:nvPr/>
        </p:nvSpPr>
        <p:spPr>
          <a:xfrm>
            <a:off x="2263471" y="6664063"/>
            <a:ext cx="164348" cy="19769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값"/>
          <p:cNvSpPr>
            <a:spLocks noGrp="1"/>
          </p:cNvSpPr>
          <p:nvPr>
            <p:ph type="body" sz="quarter" idx="71"/>
          </p:nvPr>
        </p:nvSpPr>
        <p:spPr>
          <a:xfrm>
            <a:off x="2175819" y="648875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83.3점</a:t>
            </a:r>
          </a:p>
        </p:txBody>
      </p:sp>
      <p:sp>
        <p:nvSpPr>
          <p:cNvPr id="121" name="연도"/>
          <p:cNvSpPr>
            <a:spLocks noGrp="1"/>
          </p:cNvSpPr>
          <p:nvPr>
            <p:ph type="body" sz="quarter" idx="72"/>
          </p:nvPr>
        </p:nvSpPr>
        <p:spPr>
          <a:xfrm>
            <a:off x="2175819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22" name="막대"/>
          <p:cNvSpPr/>
          <p:nvPr/>
        </p:nvSpPr>
        <p:spPr>
          <a:xfrm>
            <a:off x="2559590" y="6652153"/>
            <a:ext cx="164348" cy="20960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3" name="값"/>
          <p:cNvSpPr>
            <a:spLocks noGrp="1"/>
          </p:cNvSpPr>
          <p:nvPr>
            <p:ph type="body" sz="quarter" idx="73"/>
          </p:nvPr>
        </p:nvSpPr>
        <p:spPr>
          <a:xfrm>
            <a:off x="2471937" y="6476849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88.1점</a:t>
            </a:r>
          </a:p>
        </p:txBody>
      </p:sp>
      <p:sp>
        <p:nvSpPr>
          <p:cNvPr id="124" name="연도"/>
          <p:cNvSpPr>
            <a:spLocks noGrp="1"/>
          </p:cNvSpPr>
          <p:nvPr>
            <p:ph type="body" sz="quarter" idx="74"/>
          </p:nvPr>
        </p:nvSpPr>
        <p:spPr>
          <a:xfrm>
            <a:off x="2471937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25" name="막대"/>
          <p:cNvSpPr/>
          <p:nvPr/>
        </p:nvSpPr>
        <p:spPr>
          <a:xfrm>
            <a:off x="2855708" y="6642626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6" name="값"/>
          <p:cNvSpPr>
            <a:spLocks noGrp="1"/>
          </p:cNvSpPr>
          <p:nvPr>
            <p:ph type="body" sz="quarter" idx="75"/>
          </p:nvPr>
        </p:nvSpPr>
        <p:spPr>
          <a:xfrm>
            <a:off x="2768056" y="646732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92.2점</a:t>
            </a:r>
          </a:p>
        </p:txBody>
      </p:sp>
      <p:sp>
        <p:nvSpPr>
          <p:cNvPr id="127" name="연도"/>
          <p:cNvSpPr>
            <a:spLocks noGrp="1"/>
          </p:cNvSpPr>
          <p:nvPr>
            <p:ph type="body" sz="quarter" idx="76"/>
          </p:nvPr>
        </p:nvSpPr>
        <p:spPr>
          <a:xfrm>
            <a:off x="2768056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28" name="카드"/>
          <p:cNvSpPr/>
          <p:nvPr/>
        </p:nvSpPr>
        <p:spPr>
          <a:xfrm>
            <a:off x="3250435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9" name="카드 문구"/>
          <p:cNvSpPr>
            <a:spLocks noGrp="1"/>
          </p:cNvSpPr>
          <p:nvPr>
            <p:ph type="body" sz="quarter" idx="77"/>
          </p:nvPr>
        </p:nvSpPr>
        <p:spPr>
          <a:xfrm>
            <a:off x="3272348" y="6281061"/>
            <a:ext cx="82816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청렴체감도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유일 1등급</a:t>
            </a:r>
          </a:p>
        </p:txBody>
      </p:sp>
      <p:sp>
        <p:nvSpPr>
          <p:cNvPr id="130" name="막대"/>
          <p:cNvSpPr/>
          <p:nvPr/>
        </p:nvSpPr>
        <p:spPr>
          <a:xfrm>
            <a:off x="4155297" y="6661681"/>
            <a:ext cx="164348" cy="20007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1" name="값"/>
          <p:cNvSpPr>
            <a:spLocks noGrp="1"/>
          </p:cNvSpPr>
          <p:nvPr>
            <p:ph type="body" sz="quarter" idx="78"/>
          </p:nvPr>
        </p:nvSpPr>
        <p:spPr>
          <a:xfrm>
            <a:off x="4067645" y="648637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84.0점</a:t>
            </a:r>
          </a:p>
        </p:txBody>
      </p:sp>
      <p:sp>
        <p:nvSpPr>
          <p:cNvPr id="132" name="연도"/>
          <p:cNvSpPr>
            <a:spLocks noGrp="1"/>
          </p:cNvSpPr>
          <p:nvPr>
            <p:ph type="body" sz="quarter" idx="79"/>
          </p:nvPr>
        </p:nvSpPr>
        <p:spPr>
          <a:xfrm>
            <a:off x="4067645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33" name="막대"/>
          <p:cNvSpPr/>
          <p:nvPr/>
        </p:nvSpPr>
        <p:spPr>
          <a:xfrm>
            <a:off x="4451416" y="6659299"/>
            <a:ext cx="164348" cy="20245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4" name="값"/>
          <p:cNvSpPr>
            <a:spLocks noGrp="1"/>
          </p:cNvSpPr>
          <p:nvPr>
            <p:ph type="body" sz="quarter" idx="80"/>
          </p:nvPr>
        </p:nvSpPr>
        <p:spPr>
          <a:xfrm>
            <a:off x="4363763" y="648399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85.1점</a:t>
            </a:r>
          </a:p>
        </p:txBody>
      </p:sp>
      <p:sp>
        <p:nvSpPr>
          <p:cNvPr id="135" name="연도"/>
          <p:cNvSpPr>
            <a:spLocks noGrp="1"/>
          </p:cNvSpPr>
          <p:nvPr>
            <p:ph type="body" sz="quarter" idx="81"/>
          </p:nvPr>
        </p:nvSpPr>
        <p:spPr>
          <a:xfrm>
            <a:off x="4363763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36" name="막대"/>
          <p:cNvSpPr/>
          <p:nvPr/>
        </p:nvSpPr>
        <p:spPr>
          <a:xfrm>
            <a:off x="4747534" y="6642626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7" name="값"/>
          <p:cNvSpPr>
            <a:spLocks noGrp="1"/>
          </p:cNvSpPr>
          <p:nvPr>
            <p:ph type="body" sz="quarter" idx="82"/>
          </p:nvPr>
        </p:nvSpPr>
        <p:spPr>
          <a:xfrm>
            <a:off x="4659882" y="646732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91.6점</a:t>
            </a:r>
          </a:p>
        </p:txBody>
      </p:sp>
      <p:sp>
        <p:nvSpPr>
          <p:cNvPr id="138" name="연도"/>
          <p:cNvSpPr>
            <a:spLocks noGrp="1"/>
          </p:cNvSpPr>
          <p:nvPr>
            <p:ph type="body" sz="quarter" idx="83"/>
          </p:nvPr>
        </p:nvSpPr>
        <p:spPr>
          <a:xfrm>
            <a:off x="4659882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39" name="카드"/>
          <p:cNvSpPr/>
          <p:nvPr/>
        </p:nvSpPr>
        <p:spPr>
          <a:xfrm>
            <a:off x="5142261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0" name="카드 문구"/>
          <p:cNvSpPr>
            <a:spLocks noGrp="1"/>
          </p:cNvSpPr>
          <p:nvPr>
            <p:ph type="body" sz="quarter" idx="84"/>
          </p:nvPr>
        </p:nvSpPr>
        <p:spPr>
          <a:xfrm>
            <a:off x="5164174" y="6281061"/>
            <a:ext cx="18260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외부기관 부패적발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2년 연속 Zero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3 서사 · 경영진 의지 → 전직원 확산 → 추진성과(막대 카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윤리의지가 전사에 스며들고, 실행되도록 추진력 확보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의식확립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4792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선언적 구호 탈피, ‘CEO＋청렴 프로모터’가 전사 공감 형성</a:t>
            </a:r>
          </a:p>
        </p:txBody>
      </p:sp>
      <p:sp>
        <p:nvSpPr>
          <p:cNvPr id="20" name="태그칩"/>
          <p:cNvSpPr/>
          <p:nvPr/>
        </p:nvSpPr>
        <p:spPr>
          <a:xfrm>
            <a:off x="5002416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002416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2" name="태그칩"/>
          <p:cNvSpPr/>
          <p:nvPr/>
        </p:nvSpPr>
        <p:spPr>
          <a:xfrm>
            <a:off x="5553537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태그칩"/>
          <p:cNvSpPr>
            <a:spLocks noGrp="1"/>
          </p:cNvSpPr>
          <p:nvPr>
            <p:ph type="body" sz="quarter" idx="26"/>
          </p:nvPr>
        </p:nvSpPr>
        <p:spPr>
          <a:xfrm>
            <a:off x="5553537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4" name="표 외곽"/>
          <p:cNvSpPr/>
          <p:nvPr/>
        </p:nvSpPr>
        <p:spPr>
          <a:xfrm>
            <a:off x="536870" y="1479130"/>
            <a:ext cx="6300000" cy="2016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547826" y="1495565"/>
            <a:ext cx="580696" cy="90939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495565"/>
            <a:ext cx="580696" cy="909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강력한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의지가</a:t>
            </a:r>
          </a:p>
        </p:txBody>
      </p:sp>
      <p:sp>
        <p:nvSpPr>
          <p:cNvPr id="27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의지 표명과 지원</a:t>
            </a:r>
          </a:p>
        </p:txBody>
      </p:sp>
      <p:sp>
        <p:nvSpPr>
          <p:cNvPr id="29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상위직 특별 교육 및 규정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58522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“청렴과 안전 최우선 가치로…”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“솔선수범”(전사회의)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1758522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특강 확대(연 1회→연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직무청렴계약 규정 개정 추진중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3985435" y="179139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158435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청렴실천 확산 노사 공동 핵심가치 선언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996391" y="2158435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상위직 청렴의무 위반 징계 Zero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3985435" y="2191304"/>
            <a:ext cx="0" cy="175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421391"/>
            <a:ext cx="580696" cy="1057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421391"/>
            <a:ext cx="580696" cy="105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닿도록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547826" y="242139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배너"/>
          <p:cNvSpPr/>
          <p:nvPr/>
        </p:nvSpPr>
        <p:spPr>
          <a:xfrm>
            <a:off x="1161391" y="2443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161391" y="2443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워킹그룹 ‘청렴 프로모터’ 출범, 전국 곳곳으로 의지·개선과제 전파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6788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참여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6788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필요한 교육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6788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 소통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678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678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‘우리부서 청렴 루틴’ 도출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직군·직급별 맞춤형 교육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29637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직급 직접 소통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29637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배너"/>
          <p:cNvSpPr/>
          <p:nvPr/>
        </p:nvSpPr>
        <p:spPr>
          <a:xfrm>
            <a:off x="1161391" y="3254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배너"/>
          <p:cNvSpPr>
            <a:spLocks noGrp="1"/>
          </p:cNvSpPr>
          <p:nvPr>
            <p:ph type="body" sz="quarter" idx="42"/>
          </p:nvPr>
        </p:nvSpPr>
        <p:spPr>
          <a:xfrm>
            <a:off x="1161391" y="3254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“같은 업무고민을 하는 직원이 청렴교육을 하니 더욱 와닿아” – 사후설문 응답</a:t>
            </a:r>
          </a:p>
        </p:txBody>
      </p:sp>
      <p:sp>
        <p:nvSpPr>
          <p:cNvPr id="57" name="틀"/>
          <p:cNvSpPr/>
          <p:nvPr/>
        </p:nvSpPr>
        <p:spPr>
          <a:xfrm>
            <a:off x="536870" y="356087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성과 라벨"/>
          <p:cNvSpPr/>
          <p:nvPr/>
        </p:nvSpPr>
        <p:spPr>
          <a:xfrm>
            <a:off x="547826" y="3571826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59" name="성과 라벨"/>
          <p:cNvSpPr>
            <a:spLocks noGrp="1"/>
          </p:cNvSpPr>
          <p:nvPr>
            <p:ph type="body" sz="quarter" idx="43"/>
          </p:nvPr>
        </p:nvSpPr>
        <p:spPr>
          <a:xfrm>
            <a:off x="547826" y="3571826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60" name="성과 띠"/>
          <p:cNvSpPr/>
          <p:nvPr/>
        </p:nvSpPr>
        <p:spPr>
          <a:xfrm>
            <a:off x="1172348" y="3593739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1" name="성과 띠"/>
          <p:cNvSpPr>
            <a:spLocks noGrp="1"/>
          </p:cNvSpPr>
          <p:nvPr>
            <p:ph type="body" sz="quarter" idx="44"/>
          </p:nvPr>
        </p:nvSpPr>
        <p:spPr>
          <a:xfrm>
            <a:off x="1172348" y="3593739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청렴 공감 형성으로 정부평가 우수 성과 획득</a:t>
            </a:r>
          </a:p>
        </p:txBody>
      </p:sp>
      <p:sp>
        <p:nvSpPr>
          <p:cNvPr id="62" name="카드"/>
          <p:cNvSpPr/>
          <p:nvPr/>
        </p:nvSpPr>
        <p:spPr>
          <a:xfrm>
            <a:off x="1172348" y="3834783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카드 문구"/>
          <p:cNvSpPr>
            <a:spLocks noGrp="1"/>
          </p:cNvSpPr>
          <p:nvPr>
            <p:ph type="body" sz="quarter" idx="45"/>
          </p:nvPr>
        </p:nvSpPr>
        <p:spPr>
          <a:xfrm>
            <a:off x="1194261" y="3845739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청렴노력도 평가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4등급 ➡ 1등급, 만점 획득</a:t>
            </a:r>
          </a:p>
        </p:txBody>
      </p:sp>
      <p:sp>
        <p:nvSpPr>
          <p:cNvPr id="64" name="막대"/>
          <p:cNvSpPr/>
          <p:nvPr/>
        </p:nvSpPr>
        <p:spPr>
          <a:xfrm>
            <a:off x="2512330" y="4316870"/>
            <a:ext cx="164348" cy="10956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값"/>
          <p:cNvSpPr>
            <a:spLocks noGrp="1"/>
          </p:cNvSpPr>
          <p:nvPr>
            <p:ph type="body" sz="quarter" idx="46"/>
          </p:nvPr>
        </p:nvSpPr>
        <p:spPr>
          <a:xfrm>
            <a:off x="2424678" y="4141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4등급</a:t>
            </a:r>
          </a:p>
        </p:txBody>
      </p:sp>
      <p:sp>
        <p:nvSpPr>
          <p:cNvPr id="66" name="연도"/>
          <p:cNvSpPr>
            <a:spLocks noGrp="1"/>
          </p:cNvSpPr>
          <p:nvPr>
            <p:ph type="body" sz="quarter" idx="47"/>
          </p:nvPr>
        </p:nvSpPr>
        <p:spPr>
          <a:xfrm>
            <a:off x="2424678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7" name="막대"/>
          <p:cNvSpPr/>
          <p:nvPr/>
        </p:nvSpPr>
        <p:spPr>
          <a:xfrm>
            <a:off x="3211904" y="4207304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값"/>
          <p:cNvSpPr>
            <a:spLocks noGrp="1"/>
          </p:cNvSpPr>
          <p:nvPr>
            <p:ph type="body" sz="quarter" idx="48"/>
          </p:nvPr>
        </p:nvSpPr>
        <p:spPr>
          <a:xfrm>
            <a:off x="3124252" y="4032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69" name="연도"/>
          <p:cNvSpPr>
            <a:spLocks noGrp="1"/>
          </p:cNvSpPr>
          <p:nvPr>
            <p:ph type="body" sz="quarter" idx="49"/>
          </p:nvPr>
        </p:nvSpPr>
        <p:spPr>
          <a:xfrm>
            <a:off x="3124252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0" name="카드"/>
          <p:cNvSpPr/>
          <p:nvPr/>
        </p:nvSpPr>
        <p:spPr>
          <a:xfrm>
            <a:off x="4010087" y="3834783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카드 문구"/>
          <p:cNvSpPr>
            <a:spLocks noGrp="1"/>
          </p:cNvSpPr>
          <p:nvPr>
            <p:ph type="body" sz="quarter" idx="50"/>
          </p:nvPr>
        </p:nvSpPr>
        <p:spPr>
          <a:xfrm>
            <a:off x="4032000" y="3845739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산하기관 내부체감도 1위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평균대비 20.1점 상회</a:t>
            </a:r>
          </a:p>
        </p:txBody>
      </p:sp>
      <p:sp>
        <p:nvSpPr>
          <p:cNvPr id="72" name="막대"/>
          <p:cNvSpPr/>
          <p:nvPr/>
        </p:nvSpPr>
        <p:spPr>
          <a:xfrm>
            <a:off x="5350070" y="426208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값"/>
          <p:cNvSpPr>
            <a:spLocks noGrp="1"/>
          </p:cNvSpPr>
          <p:nvPr>
            <p:ph type="body" sz="quarter" idx="51"/>
          </p:nvPr>
        </p:nvSpPr>
        <p:spPr>
          <a:xfrm>
            <a:off x="5262417" y="4086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59.6점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52"/>
          </p:nvPr>
        </p:nvSpPr>
        <p:spPr>
          <a:xfrm>
            <a:off x="5262417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평균</a:t>
            </a:r>
          </a:p>
        </p:txBody>
      </p:sp>
      <p:sp>
        <p:nvSpPr>
          <p:cNvPr id="75" name="막대"/>
          <p:cNvSpPr/>
          <p:nvPr/>
        </p:nvSpPr>
        <p:spPr>
          <a:xfrm>
            <a:off x="6049643" y="4207304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값"/>
          <p:cNvSpPr>
            <a:spLocks noGrp="1"/>
          </p:cNvSpPr>
          <p:nvPr>
            <p:ph type="body" sz="quarter" idx="53"/>
          </p:nvPr>
        </p:nvSpPr>
        <p:spPr>
          <a:xfrm>
            <a:off x="5961991" y="4032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79.7점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54"/>
          </p:nvPr>
        </p:nvSpPr>
        <p:spPr>
          <a:xfrm>
            <a:off x="5961991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우리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4 서사 · 추진배경 → 의결기구 → 과제실행(괄호 머리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230889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위원회가 의결, 청렴혁신 추진단이 실행</a:t>
            </a:r>
          </a:p>
        </p:txBody>
      </p:sp>
      <p:sp>
        <p:nvSpPr>
          <p:cNvPr id="14" name="태그칩"/>
          <p:cNvSpPr/>
          <p:nvPr/>
        </p:nvSpPr>
        <p:spPr>
          <a:xfrm>
            <a:off x="401836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01836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4569481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4569481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3559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강력한 내부통제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감사원 내부통제 운영 미흡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관리 전문역량 높여 위상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공감 윤리문화 내재화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03861"/>
            <a:ext cx="580696" cy="898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 태그"/>
          <p:cNvSpPr/>
          <p:nvPr/>
        </p:nvSpPr>
        <p:spPr>
          <a:xfrm>
            <a:off x="744637" y="16682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레일 태그"/>
          <p:cNvSpPr>
            <a:spLocks noGrp="1"/>
          </p:cNvSpPr>
          <p:nvPr>
            <p:ph type="body" sz="quarter" idx="28"/>
          </p:nvPr>
        </p:nvSpPr>
        <p:spPr>
          <a:xfrm>
            <a:off x="744637" y="16682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의결기구</a:t>
            </a:r>
          </a:p>
        </p:txBody>
      </p:sp>
      <p:sp>
        <p:nvSpPr>
          <p:cNvPr id="27" name="레일 라벨"/>
          <p:cNvSpPr>
            <a:spLocks noGrp="1"/>
          </p:cNvSpPr>
          <p:nvPr>
            <p:ph type="body" sz="quarter" idx="29"/>
          </p:nvPr>
        </p:nvSpPr>
        <p:spPr>
          <a:xfrm>
            <a:off x="734087" y="1854470"/>
            <a:ext cx="580696" cy="52591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참여보장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배너"/>
          <p:cNvSpPr/>
          <p:nvPr/>
        </p:nvSpPr>
        <p:spPr>
          <a:xfrm>
            <a:off x="1347652" y="15257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30"/>
          </p:nvPr>
        </p:nvSpPr>
        <p:spPr>
          <a:xfrm>
            <a:off x="1347652" y="15257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견제와 균형 원칙에 따른 CEO의 결단, 최고 의결기구에 독립성과 전문성 확보</a:t>
            </a:r>
          </a:p>
        </p:txBody>
      </p:sp>
      <p:sp>
        <p:nvSpPr>
          <p:cNvPr id="31" name="단계"/>
          <p:cNvSpPr/>
          <p:nvPr/>
        </p:nvSpPr>
        <p:spPr>
          <a:xfrm>
            <a:off x="1347652" y="17613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제언</a:t>
            </a:r>
          </a:p>
        </p:txBody>
      </p:sp>
      <p:sp>
        <p:nvSpPr>
          <p:cNvPr id="33" name="단계"/>
          <p:cNvSpPr/>
          <p:nvPr/>
        </p:nvSpPr>
        <p:spPr>
          <a:xfrm>
            <a:off x="3230348" y="17613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2"/>
          </p:nvPr>
        </p:nvSpPr>
        <p:spPr>
          <a:xfrm>
            <a:off x="3230348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외부위원 추가 선임</a:t>
            </a:r>
          </a:p>
        </p:txBody>
      </p:sp>
      <p:sp>
        <p:nvSpPr>
          <p:cNvPr id="35" name="단계"/>
          <p:cNvSpPr/>
          <p:nvPr/>
        </p:nvSpPr>
        <p:spPr>
          <a:xfrm>
            <a:off x="5113043" y="17613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3"/>
          </p:nvPr>
        </p:nvSpPr>
        <p:spPr>
          <a:xfrm>
            <a:off x="5113043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실적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3230347" y="17613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 삼각형"/>
          <p:cNvSpPr/>
          <p:nvPr/>
        </p:nvSpPr>
        <p:spPr>
          <a:xfrm>
            <a:off x="5113043" y="17613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“나도 견제 받을 수 있게 외부위원이 직접 참여”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2명 외부위원 참여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3230348" y="2046209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의견 보완 및 의결(5건)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5113043" y="2046209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틀"/>
          <p:cNvSpPr/>
          <p:nvPr/>
        </p:nvSpPr>
        <p:spPr>
          <a:xfrm>
            <a:off x="723130" y="2473513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"/>
          <p:cNvSpPr/>
          <p:nvPr/>
        </p:nvSpPr>
        <p:spPr>
          <a:xfrm>
            <a:off x="734087" y="2484470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2484470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가속화</a:t>
            </a:r>
          </a:p>
        </p:txBody>
      </p:sp>
      <p:sp>
        <p:nvSpPr>
          <p:cNvPr id="47" name="칸 제목 띠"/>
          <p:cNvSpPr/>
          <p:nvPr/>
        </p:nvSpPr>
        <p:spPr>
          <a:xfrm>
            <a:off x="1380522" y="2506383"/>
            <a:ext cx="2772000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칸 제목"/>
          <p:cNvSpPr>
            <a:spLocks noGrp="1"/>
          </p:cNvSpPr>
          <p:nvPr>
            <p:ph type="body" sz="quarter" idx="38"/>
          </p:nvPr>
        </p:nvSpPr>
        <p:spPr>
          <a:xfrm>
            <a:off x="1380522" y="2506383"/>
            <a:ext cx="2772000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 현장부서 참여로 체감·파급력 향상</a:t>
            </a:r>
          </a:p>
        </p:txBody>
      </p:sp>
      <p:sp>
        <p:nvSpPr>
          <p:cNvPr id="49" name="삼각 화살표"/>
          <p:cNvSpPr/>
          <p:nvPr/>
        </p:nvSpPr>
        <p:spPr>
          <a:xfrm>
            <a:off x="2706260" y="2703600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391478" y="2769339"/>
            <a:ext cx="2750087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CEO＋기획 상임이사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본사(18개)·현장(5개)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참여부서 확대(14→23개 부서)</a:t>
            </a:r>
          </a:p>
        </p:txBody>
      </p:sp>
      <p:sp>
        <p:nvSpPr>
          <p:cNvPr id="51" name="칸 제목 띠"/>
          <p:cNvSpPr/>
          <p:nvPr/>
        </p:nvSpPr>
        <p:spPr>
          <a:xfrm>
            <a:off x="4196348" y="2506383"/>
            <a:ext cx="2772000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칸 제목"/>
          <p:cNvSpPr>
            <a:spLocks noGrp="1"/>
          </p:cNvSpPr>
          <p:nvPr>
            <p:ph type="body" sz="quarter" idx="40"/>
          </p:nvPr>
        </p:nvSpPr>
        <p:spPr>
          <a:xfrm>
            <a:off x="4196348" y="2506383"/>
            <a:ext cx="2772000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제도화 단발성 개선이 아닌 시스템으로 정착</a:t>
            </a:r>
          </a:p>
        </p:txBody>
      </p:sp>
      <p:sp>
        <p:nvSpPr>
          <p:cNvPr id="53" name="삼각 화살표"/>
          <p:cNvSpPr/>
          <p:nvPr/>
        </p:nvSpPr>
        <p:spPr>
          <a:xfrm>
            <a:off x="5522086" y="2703600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사진 칸"/>
          <p:cNvSpPr/>
          <p:nvPr/>
        </p:nvSpPr>
        <p:spPr>
          <a:xfrm>
            <a:off x="5638664" y="2780296"/>
            <a:ext cx="1318727" cy="76695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5" name="사진 칸"/>
          <p:cNvSpPr>
            <a:spLocks noGrp="1"/>
          </p:cNvSpPr>
          <p:nvPr>
            <p:ph type="body" sz="quarter" idx="41"/>
          </p:nvPr>
        </p:nvSpPr>
        <p:spPr>
          <a:xfrm>
            <a:off x="5638664" y="2780296"/>
            <a:ext cx="1318727" cy="76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도해 자리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4207304" y="2769339"/>
            <a:ext cx="1375043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토지보상·조직개편·건설공사·수도보수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 추진단 중심 시스템화</a:t>
            </a:r>
          </a:p>
        </p:txBody>
      </p:sp>
      <p:cxnSp>
        <p:nvCxnSpPr>
          <p:cNvPr id="57" name="Connector 40"/>
          <p:cNvCxnSpPr/>
          <p:nvPr/>
        </p:nvCxnSpPr>
        <p:spPr>
          <a:xfrm>
            <a:off x="4174435" y="2758383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핵심성과 박스"/>
          <p:cNvSpPr/>
          <p:nvPr/>
        </p:nvSpPr>
        <p:spPr>
          <a:xfrm>
            <a:off x="723130" y="37116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핵심성과 라벨"/>
          <p:cNvSpPr/>
          <p:nvPr/>
        </p:nvSpPr>
        <p:spPr>
          <a:xfrm>
            <a:off x="756000" y="37444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핵심성과 라벨"/>
          <p:cNvSpPr>
            <a:spLocks noGrp="1"/>
          </p:cNvSpPr>
          <p:nvPr>
            <p:ph type="body" sz="quarter" idx="43"/>
          </p:nvPr>
        </p:nvSpPr>
        <p:spPr>
          <a:xfrm>
            <a:off x="756000" y="37444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핵심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37335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탄탄한 윤리경영 체계로 권익위 청렴노력도 공사 최고 94.7점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부패 취약분야 집중개선 대표사례 수행기관 중 1위 획득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5 서사 · 추진배경 → 현장 의견 → 위험 경감 → 핵심위험 선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 부서 ‘위험관리’를 통한 핵심위험 선정, 체감가능한 개선 이행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위험식별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현장 곳곳에 숨은 위험이 없도록 더 넓고 확실하게 예방</a:t>
            </a:r>
          </a:p>
        </p:txBody>
      </p:sp>
      <p:sp>
        <p:nvSpPr>
          <p:cNvPr id="20" name="태그칩"/>
          <p:cNvSpPr/>
          <p:nvPr/>
        </p:nvSpPr>
        <p:spPr>
          <a:xfrm>
            <a:off x="472401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472401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24969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17478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더 많은 부서 위험관리 필요(’24년 권고)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517478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위험 관리 프로세스 확대</a:t>
            </a:r>
          </a:p>
        </p:txBody>
      </p:sp>
      <p:cxnSp>
        <p:nvCxnSpPr>
          <p:cNvPr id="27" name="Connector 20"/>
          <p:cNvCxnSpPr/>
          <p:nvPr/>
        </p:nvCxnSpPr>
        <p:spPr>
          <a:xfrm>
            <a:off x="3985435" y="1550348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47826" y="1920209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2020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답을 찾아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547826" y="19202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머리칸"/>
          <p:cNvSpPr/>
          <p:nvPr/>
        </p:nvSpPr>
        <p:spPr>
          <a:xfrm>
            <a:off x="1161391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눈높이에 맞추고</a:t>
            </a:r>
          </a:p>
        </p:txBody>
      </p:sp>
      <p:sp>
        <p:nvSpPr>
          <p:cNvPr id="33" name="머리칸"/>
          <p:cNvSpPr/>
          <p:nvPr/>
        </p:nvSpPr>
        <p:spPr>
          <a:xfrm>
            <a:off x="3044087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 목소리를 귀담아</a:t>
            </a:r>
          </a:p>
        </p:txBody>
      </p:sp>
      <p:sp>
        <p:nvSpPr>
          <p:cNvPr id="35" name="머리칸"/>
          <p:cNvSpPr/>
          <p:nvPr/>
        </p:nvSpPr>
        <p:spPr>
          <a:xfrm>
            <a:off x="4926783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직원과 함께 위험을 감지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의견수렴(’25.5, 1천명)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윤리실천 의지 표명(’25.9)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청렴도 진단(’25.4, 2천명)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청렴도 조사(반기)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044087" y="2216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내부통제 실무협의회(38명)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파트너 양성(13명)</a:t>
            </a:r>
          </a:p>
        </p:txBody>
      </p:sp>
      <p:cxnSp>
        <p:nvCxnSpPr>
          <p:cNvPr id="41" name="Connector 30"/>
          <p:cNvCxnSpPr/>
          <p:nvPr/>
        </p:nvCxnSpPr>
        <p:spPr>
          <a:xfrm>
            <a:off x="4926783" y="2216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547826" y="2621426"/>
            <a:ext cx="580696" cy="7821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621426"/>
            <a:ext cx="580696" cy="7821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경감하고</a:t>
            </a:r>
          </a:p>
        </p:txBody>
      </p:sp>
      <p:sp>
        <p:nvSpPr>
          <p:cNvPr id="44" name="단계"/>
          <p:cNvSpPr/>
          <p:nvPr/>
        </p:nvSpPr>
        <p:spPr>
          <a:xfrm>
            <a:off x="1161391" y="26433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부서별 위험식별</a:t>
            </a:r>
          </a:p>
        </p:txBody>
      </p:sp>
      <p:sp>
        <p:nvSpPr>
          <p:cNvPr id="46" name="단계"/>
          <p:cNvSpPr/>
          <p:nvPr/>
        </p:nvSpPr>
        <p:spPr>
          <a:xfrm>
            <a:off x="3044087" y="26433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3044087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위험수준 평가</a:t>
            </a:r>
          </a:p>
        </p:txBody>
      </p:sp>
      <p:sp>
        <p:nvSpPr>
          <p:cNvPr id="48" name="단계"/>
          <p:cNvSpPr/>
          <p:nvPr/>
        </p:nvSpPr>
        <p:spPr>
          <a:xfrm>
            <a:off x="4926783" y="26433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9"/>
          </p:nvPr>
        </p:nvSpPr>
        <p:spPr>
          <a:xfrm>
            <a:off x="4926783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위험수준별 경감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3044086" y="26433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926782" y="26433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프로세스 전부서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’23년 32개 → ’25년 전부서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고유위험 1,243개 식별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평가기준 상향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영향력 4점 이상 고위험 분류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13대 위험 유형 선정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044087" y="2928209"/>
            <a:ext cx="0" cy="4370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통제활동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중위험 교차심사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저위험 자체점검(상시)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4926783" y="2928209"/>
            <a:ext cx="0" cy="4370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3420000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42000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핵심위험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59" name="레일 삼각형"/>
          <p:cNvSpPr/>
          <p:nvPr/>
        </p:nvSpPr>
        <p:spPr>
          <a:xfrm>
            <a:off x="547826" y="3420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태그"/>
          <p:cNvSpPr/>
          <p:nvPr/>
        </p:nvSpPr>
        <p:spPr>
          <a:xfrm>
            <a:off x="1161391" y="3463826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463826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5"/>
          </p:nvPr>
        </p:nvSpPr>
        <p:spPr>
          <a:xfrm>
            <a:off x="1567189" y="345287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외부고객 관련 위험(2개)을 추가 선정한 ’25년 7대 핵심 윤리위험 선정</a:t>
            </a:r>
          </a:p>
        </p:txBody>
      </p:sp>
      <p:sp>
        <p:nvSpPr>
          <p:cNvPr id="63" name="태그"/>
          <p:cNvSpPr/>
          <p:nvPr/>
        </p:nvSpPr>
        <p:spPr>
          <a:xfrm>
            <a:off x="1161391" y="3661043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3661043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7"/>
          </p:nvPr>
        </p:nvSpPr>
        <p:spPr>
          <a:xfrm>
            <a:off x="1567189" y="365008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특혜제공 · 예산낭비 · 회계부정 · 정보보안 / 외부 소극행정 · 갑질행위 / 자회사 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6 서사 · 통제활동 → 내부 임직원 · 외부 고객 · 자회사 카드 격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0339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구성원과 고객이 실제 체감할 수 있는 부패저감 활동</a:t>
            </a:r>
          </a:p>
        </p:txBody>
      </p:sp>
      <p:sp>
        <p:nvSpPr>
          <p:cNvPr id="14" name="태그칩"/>
          <p:cNvSpPr/>
          <p:nvPr/>
        </p:nvSpPr>
        <p:spPr>
          <a:xfrm>
            <a:off x="474342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74342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29454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29454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117565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117565"/>
            <a:ext cx="687680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5"/>
          </p:nvPr>
        </p:nvSpPr>
        <p:spPr>
          <a:xfrm>
            <a:off x="942261" y="1117565"/>
            <a:ext cx="68768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임직원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6"/>
          </p:nvPr>
        </p:nvSpPr>
        <p:spPr>
          <a:xfrm>
            <a:off x="1673767" y="1095652"/>
            <a:ext cx="5327451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직원이 직접 마주하는 인사·복지 등 부패위험 통제, 제도 전면 개선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336696"/>
            <a:ext cx="6300000" cy="1873565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358609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380522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7"/>
          </p:nvPr>
        </p:nvSpPr>
        <p:spPr>
          <a:xfrm>
            <a:off x="799826" y="1380522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특혜제공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8"/>
          </p:nvPr>
        </p:nvSpPr>
        <p:spPr>
          <a:xfrm>
            <a:off x="1524219" y="1358609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객관적 인사운영으로 특혜 차단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9"/>
          </p:nvPr>
        </p:nvSpPr>
        <p:spPr>
          <a:xfrm>
            <a:off x="756000" y="1577739"/>
            <a:ext cx="1905449" cy="6464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시험제도, 직무 중심 인사평가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전사 TF, 설명회 등 점진적 조성</a:t>
            </a:r>
          </a:p>
        </p:txBody>
      </p:sp>
      <p:sp>
        <p:nvSpPr>
          <p:cNvPr id="28" name="도표 제목"/>
          <p:cNvSpPr>
            <a:spLocks noGrp="1"/>
          </p:cNvSpPr>
          <p:nvPr>
            <p:ph type="body" sz="quarter" idx="30"/>
          </p:nvPr>
        </p:nvSpPr>
        <p:spPr>
          <a:xfrm>
            <a:off x="2661449" y="1577739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내부체감도</a:t>
            </a:r>
          </a:p>
        </p:txBody>
      </p:sp>
      <p:sp>
        <p:nvSpPr>
          <p:cNvPr id="29" name="막대"/>
          <p:cNvSpPr/>
          <p:nvPr/>
        </p:nvSpPr>
        <p:spPr>
          <a:xfrm>
            <a:off x="2738144" y="1985169"/>
            <a:ext cx="142435" cy="8561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값"/>
          <p:cNvSpPr>
            <a:spLocks noGrp="1"/>
          </p:cNvSpPr>
          <p:nvPr>
            <p:ph type="body" sz="quarter" idx="31"/>
          </p:nvPr>
        </p:nvSpPr>
        <p:spPr>
          <a:xfrm>
            <a:off x="2595710" y="1809865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56.0점</a:t>
            </a:r>
          </a:p>
        </p:txBody>
      </p:sp>
      <p:sp>
        <p:nvSpPr>
          <p:cNvPr id="31" name="연도"/>
          <p:cNvSpPr>
            <a:spLocks noGrp="1"/>
          </p:cNvSpPr>
          <p:nvPr>
            <p:ph type="body" sz="quarter" idx="32"/>
          </p:nvPr>
        </p:nvSpPr>
        <p:spPr>
          <a:xfrm>
            <a:off x="2595710" y="2081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32" name="막대"/>
          <p:cNvSpPr/>
          <p:nvPr/>
        </p:nvSpPr>
        <p:spPr>
          <a:xfrm>
            <a:off x="3267290" y="1939304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값"/>
          <p:cNvSpPr>
            <a:spLocks noGrp="1"/>
          </p:cNvSpPr>
          <p:nvPr>
            <p:ph type="body" sz="quarter" idx="33"/>
          </p:nvPr>
        </p:nvSpPr>
        <p:spPr>
          <a:xfrm>
            <a:off x="3124855" y="176400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86.3점</a:t>
            </a:r>
          </a:p>
        </p:txBody>
      </p:sp>
      <p:sp>
        <p:nvSpPr>
          <p:cNvPr id="34" name="연도"/>
          <p:cNvSpPr>
            <a:spLocks noGrp="1"/>
          </p:cNvSpPr>
          <p:nvPr>
            <p:ph type="body" sz="quarter" idx="34"/>
          </p:nvPr>
        </p:nvSpPr>
        <p:spPr>
          <a:xfrm>
            <a:off x="3124855" y="2081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3862174" y="1391478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카드 머리"/>
          <p:cNvSpPr/>
          <p:nvPr/>
        </p:nvSpPr>
        <p:spPr>
          <a:xfrm>
            <a:off x="3873130" y="1358609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태그"/>
          <p:cNvSpPr/>
          <p:nvPr/>
        </p:nvSpPr>
        <p:spPr>
          <a:xfrm>
            <a:off x="3916957" y="1380522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1380522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예산낭비</a:t>
            </a:r>
          </a:p>
        </p:txBody>
      </p:sp>
      <p:sp>
        <p:nvSpPr>
          <p:cNvPr id="39" name="카드 제목"/>
          <p:cNvSpPr>
            <a:spLocks noGrp="1"/>
          </p:cNvSpPr>
          <p:nvPr>
            <p:ph type="body" sz="quarter" idx="36"/>
          </p:nvPr>
        </p:nvSpPr>
        <p:spPr>
          <a:xfrm>
            <a:off x="4641350" y="1358609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관행적 복지예산 집행 효율화</a:t>
            </a:r>
          </a:p>
        </p:txBody>
      </p:sp>
      <p:sp>
        <p:nvSpPr>
          <p:cNvPr id="40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1577739"/>
            <a:ext cx="1905449" cy="6464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특근 식권제도 전면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노조 합동설명회 등 갈등 극복</a:t>
            </a:r>
          </a:p>
        </p:txBody>
      </p:sp>
      <p:sp>
        <p:nvSpPr>
          <p:cNvPr id="41" name="요약 칸"/>
          <p:cNvSpPr/>
          <p:nvPr/>
        </p:nvSpPr>
        <p:spPr>
          <a:xfrm>
            <a:off x="5822405" y="1610609"/>
            <a:ext cx="1102117" cy="580696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42" name="요약 칸"/>
          <p:cNvSpPr>
            <a:spLocks noGrp="1"/>
          </p:cNvSpPr>
          <p:nvPr>
            <p:ph type="body" sz="quarter" idx="38"/>
          </p:nvPr>
        </p:nvSpPr>
        <p:spPr>
          <a:xfrm>
            <a:off x="5822405" y="1610609"/>
            <a:ext cx="1102117" cy="580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 절감 5억원</a:t>
            </a:r>
          </a:p>
        </p:txBody>
      </p:sp>
      <p:sp>
        <p:nvSpPr>
          <p:cNvPr id="43" name="카드 머리"/>
          <p:cNvSpPr/>
          <p:nvPr/>
        </p:nvSpPr>
        <p:spPr>
          <a:xfrm>
            <a:off x="756000" y="225704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799826" y="2278957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9"/>
          </p:nvPr>
        </p:nvSpPr>
        <p:spPr>
          <a:xfrm>
            <a:off x="799826" y="2278957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회계부정</a:t>
            </a:r>
          </a:p>
        </p:txBody>
      </p:sp>
      <p:sp>
        <p:nvSpPr>
          <p:cNvPr id="46" name="카드 제목"/>
          <p:cNvSpPr>
            <a:spLocks noGrp="1"/>
          </p:cNvSpPr>
          <p:nvPr>
            <p:ph type="body" sz="quarter" idx="40"/>
          </p:nvPr>
        </p:nvSpPr>
        <p:spPr>
          <a:xfrm>
            <a:off x="1524219" y="2257043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회계투명성 강화 관리체계 구축</a:t>
            </a:r>
          </a:p>
        </p:txBody>
      </p:sp>
      <p:sp>
        <p:nvSpPr>
          <p:cNvPr id="47" name="카드 본문"/>
          <p:cNvSpPr>
            <a:spLocks noGrp="1"/>
          </p:cNvSpPr>
          <p:nvPr>
            <p:ph type="body" sz="quarter" idx="41"/>
          </p:nvPr>
        </p:nvSpPr>
        <p:spPr>
          <a:xfrm>
            <a:off x="756000" y="2476174"/>
            <a:ext cx="1905449" cy="6464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유형별 교육, 관리자교육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지침 해외 경비정산 가이드 신설</a:t>
            </a:r>
          </a:p>
        </p:txBody>
      </p:sp>
      <p:sp>
        <p:nvSpPr>
          <p:cNvPr id="48" name="도표 제목"/>
          <p:cNvSpPr>
            <a:spLocks noGrp="1"/>
          </p:cNvSpPr>
          <p:nvPr>
            <p:ph type="body" sz="quarter" idx="42"/>
          </p:nvPr>
        </p:nvSpPr>
        <p:spPr>
          <a:xfrm>
            <a:off x="2661449" y="2476174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점검대상</a:t>
            </a:r>
          </a:p>
        </p:txBody>
      </p:sp>
      <p:sp>
        <p:nvSpPr>
          <p:cNvPr id="49" name="막대"/>
          <p:cNvSpPr/>
          <p:nvPr/>
        </p:nvSpPr>
        <p:spPr>
          <a:xfrm>
            <a:off x="2738144" y="2837739"/>
            <a:ext cx="142435" cy="13147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값"/>
          <p:cNvSpPr>
            <a:spLocks noGrp="1"/>
          </p:cNvSpPr>
          <p:nvPr>
            <p:ph type="body" sz="quarter" idx="43"/>
          </p:nvPr>
        </p:nvSpPr>
        <p:spPr>
          <a:xfrm>
            <a:off x="2595710" y="2662435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51" name="연도"/>
          <p:cNvSpPr>
            <a:spLocks noGrp="1"/>
          </p:cNvSpPr>
          <p:nvPr>
            <p:ph type="body" sz="quarter" idx="44"/>
          </p:nvPr>
        </p:nvSpPr>
        <p:spPr>
          <a:xfrm>
            <a:off x="2595710" y="2980174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52" name="막대"/>
          <p:cNvSpPr/>
          <p:nvPr/>
        </p:nvSpPr>
        <p:spPr>
          <a:xfrm>
            <a:off x="3267290" y="2894087"/>
            <a:ext cx="142435" cy="75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값"/>
          <p:cNvSpPr>
            <a:spLocks noGrp="1"/>
          </p:cNvSpPr>
          <p:nvPr>
            <p:ph type="body" sz="quarter" idx="45"/>
          </p:nvPr>
        </p:nvSpPr>
        <p:spPr>
          <a:xfrm>
            <a:off x="3124855" y="2718783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24%↓</a:t>
            </a:r>
          </a:p>
        </p:txBody>
      </p:sp>
      <p:sp>
        <p:nvSpPr>
          <p:cNvPr id="54" name="연도"/>
          <p:cNvSpPr>
            <a:spLocks noGrp="1"/>
          </p:cNvSpPr>
          <p:nvPr>
            <p:ph type="body" sz="quarter" idx="46"/>
          </p:nvPr>
        </p:nvSpPr>
        <p:spPr>
          <a:xfrm>
            <a:off x="3124855" y="2980174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하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3862174" y="2289913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카드 머리"/>
          <p:cNvSpPr/>
          <p:nvPr/>
        </p:nvSpPr>
        <p:spPr>
          <a:xfrm>
            <a:off x="3873130" y="225704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3916957" y="2278957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7"/>
          </p:nvPr>
        </p:nvSpPr>
        <p:spPr>
          <a:xfrm>
            <a:off x="3916957" y="2278957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❹ 정보보안</a:t>
            </a:r>
          </a:p>
        </p:txBody>
      </p:sp>
      <p:sp>
        <p:nvSpPr>
          <p:cNvPr id="59" name="카드 제목"/>
          <p:cNvSpPr>
            <a:spLocks noGrp="1"/>
          </p:cNvSpPr>
          <p:nvPr>
            <p:ph type="body" sz="quarter" idx="48"/>
          </p:nvPr>
        </p:nvSpPr>
        <p:spPr>
          <a:xfrm>
            <a:off x="4641350" y="2257043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기록물 유출 없는 환경 조성</a:t>
            </a:r>
          </a:p>
        </p:txBody>
      </p:sp>
      <p:sp>
        <p:nvSpPr>
          <p:cNvPr id="60" name="카드 본문"/>
          <p:cNvSpPr>
            <a:spLocks noGrp="1"/>
          </p:cNvSpPr>
          <p:nvPr>
            <p:ph type="body" sz="quarter" idx="49"/>
          </p:nvPr>
        </p:nvSpPr>
        <p:spPr>
          <a:xfrm>
            <a:off x="3873130" y="2476174"/>
            <a:ext cx="1905449" cy="6464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정보보호 중장기 전략수립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민감정보 가명화·합성데이터 생성</a:t>
            </a:r>
          </a:p>
        </p:txBody>
      </p:sp>
      <p:sp>
        <p:nvSpPr>
          <p:cNvPr id="61" name="요약 칸"/>
          <p:cNvSpPr/>
          <p:nvPr/>
        </p:nvSpPr>
        <p:spPr>
          <a:xfrm>
            <a:off x="5822405" y="2509043"/>
            <a:ext cx="1102117" cy="580696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2" name="요약 칸"/>
          <p:cNvSpPr>
            <a:spLocks noGrp="1"/>
          </p:cNvSpPr>
          <p:nvPr>
            <p:ph type="body" sz="quarter" idx="50"/>
          </p:nvPr>
        </p:nvSpPr>
        <p:spPr>
          <a:xfrm>
            <a:off x="5822405" y="2509043"/>
            <a:ext cx="1102117" cy="580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기록관리 평가 9년 연속 최고등급</a:t>
            </a:r>
          </a:p>
        </p:txBody>
      </p:sp>
      <p:sp>
        <p:nvSpPr>
          <p:cNvPr id="63" name="아이콘 칸"/>
          <p:cNvSpPr/>
          <p:nvPr/>
        </p:nvSpPr>
        <p:spPr>
          <a:xfrm>
            <a:off x="723130" y="3297913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64" name="태그"/>
          <p:cNvSpPr/>
          <p:nvPr/>
        </p:nvSpPr>
        <p:spPr>
          <a:xfrm>
            <a:off x="942261" y="3297913"/>
            <a:ext cx="57791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태그"/>
          <p:cNvSpPr>
            <a:spLocks noGrp="1"/>
          </p:cNvSpPr>
          <p:nvPr>
            <p:ph type="body" sz="quarter" idx="51"/>
          </p:nvPr>
        </p:nvSpPr>
        <p:spPr>
          <a:xfrm>
            <a:off x="942261" y="3297913"/>
            <a:ext cx="5779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고객</a:t>
            </a:r>
          </a:p>
        </p:txBody>
      </p:sp>
      <p:sp>
        <p:nvSpPr>
          <p:cNvPr id="66" name="그룹 제목"/>
          <p:cNvSpPr>
            <a:spLocks noGrp="1"/>
          </p:cNvSpPr>
          <p:nvPr>
            <p:ph type="body" sz="quarter" idx="52"/>
          </p:nvPr>
        </p:nvSpPr>
        <p:spPr>
          <a:xfrm>
            <a:off x="1563998" y="3276000"/>
            <a:ext cx="5437219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고객이 불편하고 불안한 요인을 선제적으로 해소</a:t>
            </a:r>
          </a:p>
        </p:txBody>
      </p:sp>
      <p:sp>
        <p:nvSpPr>
          <p:cNvPr id="67" name="그룹 틀"/>
          <p:cNvSpPr/>
          <p:nvPr/>
        </p:nvSpPr>
        <p:spPr>
          <a:xfrm>
            <a:off x="723130" y="3517043"/>
            <a:ext cx="6300000" cy="97513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카드 머리"/>
          <p:cNvSpPr/>
          <p:nvPr/>
        </p:nvSpPr>
        <p:spPr>
          <a:xfrm>
            <a:off x="756000" y="3538957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태그"/>
          <p:cNvSpPr/>
          <p:nvPr/>
        </p:nvSpPr>
        <p:spPr>
          <a:xfrm>
            <a:off x="799826" y="3560870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53"/>
          </p:nvPr>
        </p:nvSpPr>
        <p:spPr>
          <a:xfrm>
            <a:off x="799826" y="3560870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❺ 소극행정</a:t>
            </a:r>
          </a:p>
        </p:txBody>
      </p:sp>
      <p:sp>
        <p:nvSpPr>
          <p:cNvPr id="71" name="카드 제목"/>
          <p:cNvSpPr>
            <a:spLocks noGrp="1"/>
          </p:cNvSpPr>
          <p:nvPr>
            <p:ph type="body" sz="quarter" idx="54"/>
          </p:nvPr>
        </p:nvSpPr>
        <p:spPr>
          <a:xfrm>
            <a:off x="1524219" y="3538957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토지보상 고객 불편 해소</a:t>
            </a:r>
          </a:p>
        </p:txBody>
      </p:sp>
      <p:sp>
        <p:nvSpPr>
          <p:cNvPr id="72" name="카드 본문"/>
          <p:cNvSpPr>
            <a:spLocks noGrp="1"/>
          </p:cNvSpPr>
          <p:nvPr>
            <p:ph type="body" sz="quarter" idx="55"/>
          </p:nvPr>
        </p:nvSpPr>
        <p:spPr>
          <a:xfrm>
            <a:off x="756000" y="3758087"/>
            <a:ext cx="1905449" cy="6464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아날로그 업무, 체감도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디지털 전환 ➡ 실시간 서비스</a:t>
            </a:r>
          </a:p>
        </p:txBody>
      </p:sp>
      <p:sp>
        <p:nvSpPr>
          <p:cNvPr id="73" name="도표 제목"/>
          <p:cNvSpPr>
            <a:spLocks noGrp="1"/>
          </p:cNvSpPr>
          <p:nvPr>
            <p:ph type="body" sz="quarter" idx="56"/>
          </p:nvPr>
        </p:nvSpPr>
        <p:spPr>
          <a:xfrm>
            <a:off x="2661449" y="3758087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74" name="막대"/>
          <p:cNvSpPr/>
          <p:nvPr/>
        </p:nvSpPr>
        <p:spPr>
          <a:xfrm>
            <a:off x="2738144" y="4138231"/>
            <a:ext cx="142435" cy="11290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값"/>
          <p:cNvSpPr>
            <a:spLocks noGrp="1"/>
          </p:cNvSpPr>
          <p:nvPr>
            <p:ph type="body" sz="quarter" idx="57"/>
          </p:nvPr>
        </p:nvSpPr>
        <p:spPr>
          <a:xfrm>
            <a:off x="2595710" y="3962926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79.1점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58"/>
          </p:nvPr>
        </p:nvSpPr>
        <p:spPr>
          <a:xfrm>
            <a:off x="2595710" y="4262087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7" name="막대"/>
          <p:cNvSpPr/>
          <p:nvPr/>
        </p:nvSpPr>
        <p:spPr>
          <a:xfrm>
            <a:off x="3267290" y="4119652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값"/>
          <p:cNvSpPr>
            <a:spLocks noGrp="1"/>
          </p:cNvSpPr>
          <p:nvPr>
            <p:ph type="body" sz="quarter" idx="59"/>
          </p:nvPr>
        </p:nvSpPr>
        <p:spPr>
          <a:xfrm>
            <a:off x="3124855" y="3944348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92.4점</a:t>
            </a:r>
          </a:p>
        </p:txBody>
      </p:sp>
      <p:sp>
        <p:nvSpPr>
          <p:cNvPr id="79" name="연도"/>
          <p:cNvSpPr>
            <a:spLocks noGrp="1"/>
          </p:cNvSpPr>
          <p:nvPr>
            <p:ph type="body" sz="quarter" idx="60"/>
          </p:nvPr>
        </p:nvSpPr>
        <p:spPr>
          <a:xfrm>
            <a:off x="3124855" y="4262087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cxnSp>
        <p:nvCxnSpPr>
          <p:cNvPr id="80" name="Connector 62"/>
          <p:cNvCxnSpPr/>
          <p:nvPr/>
        </p:nvCxnSpPr>
        <p:spPr>
          <a:xfrm>
            <a:off x="3862174" y="3571826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카드 머리"/>
          <p:cNvSpPr/>
          <p:nvPr/>
        </p:nvSpPr>
        <p:spPr>
          <a:xfrm>
            <a:off x="3873130" y="3538957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태그"/>
          <p:cNvSpPr/>
          <p:nvPr/>
        </p:nvSpPr>
        <p:spPr>
          <a:xfrm>
            <a:off x="3916957" y="3560870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3" name="태그"/>
          <p:cNvSpPr>
            <a:spLocks noGrp="1"/>
          </p:cNvSpPr>
          <p:nvPr>
            <p:ph type="body" sz="quarter" idx="61"/>
          </p:nvPr>
        </p:nvSpPr>
        <p:spPr>
          <a:xfrm>
            <a:off x="3916957" y="3560870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❻ 갑질행위</a:t>
            </a:r>
          </a:p>
        </p:txBody>
      </p:sp>
      <p:sp>
        <p:nvSpPr>
          <p:cNvPr id="84" name="카드 제목"/>
          <p:cNvSpPr>
            <a:spLocks noGrp="1"/>
          </p:cNvSpPr>
          <p:nvPr>
            <p:ph type="body" sz="quarter" idx="62"/>
          </p:nvPr>
        </p:nvSpPr>
        <p:spPr>
          <a:xfrm>
            <a:off x="4641350" y="3538957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갑질예방 프로세스 개선</a:t>
            </a:r>
          </a:p>
        </p:txBody>
      </p:sp>
      <p:sp>
        <p:nvSpPr>
          <p:cNvPr id="85" name="카드 본문"/>
          <p:cNvSpPr>
            <a:spLocks noGrp="1"/>
          </p:cNvSpPr>
          <p:nvPr>
            <p:ph type="body" sz="quarter" idx="63"/>
          </p:nvPr>
        </p:nvSpPr>
        <p:spPr>
          <a:xfrm>
            <a:off x="3873130" y="3758087"/>
            <a:ext cx="1905449" cy="6464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 갑질근절 대책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하도급실태 점검, 불공정 계약 개선</a:t>
            </a:r>
          </a:p>
        </p:txBody>
      </p:sp>
      <p:sp>
        <p:nvSpPr>
          <p:cNvPr id="86" name="도표 제목"/>
          <p:cNvSpPr>
            <a:spLocks noGrp="1"/>
          </p:cNvSpPr>
          <p:nvPr>
            <p:ph type="body" sz="quarter" idx="64"/>
          </p:nvPr>
        </p:nvSpPr>
        <p:spPr>
          <a:xfrm>
            <a:off x="5778579" y="3758087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87" name="막대"/>
          <p:cNvSpPr/>
          <p:nvPr/>
        </p:nvSpPr>
        <p:spPr>
          <a:xfrm>
            <a:off x="5855275" y="4122335"/>
            <a:ext cx="142435" cy="12879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값"/>
          <p:cNvSpPr>
            <a:spLocks noGrp="1"/>
          </p:cNvSpPr>
          <p:nvPr>
            <p:ph type="body" sz="quarter" idx="65"/>
          </p:nvPr>
        </p:nvSpPr>
        <p:spPr>
          <a:xfrm>
            <a:off x="5712840" y="3947031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96.2점</a:t>
            </a:r>
          </a:p>
        </p:txBody>
      </p:sp>
      <p:sp>
        <p:nvSpPr>
          <p:cNvPr id="89" name="연도"/>
          <p:cNvSpPr>
            <a:spLocks noGrp="1"/>
          </p:cNvSpPr>
          <p:nvPr>
            <p:ph type="body" sz="quarter" idx="66"/>
          </p:nvPr>
        </p:nvSpPr>
        <p:spPr>
          <a:xfrm>
            <a:off x="5712840" y="4262087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0" name="막대"/>
          <p:cNvSpPr/>
          <p:nvPr/>
        </p:nvSpPr>
        <p:spPr>
          <a:xfrm>
            <a:off x="6384420" y="4119652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값"/>
          <p:cNvSpPr>
            <a:spLocks noGrp="1"/>
          </p:cNvSpPr>
          <p:nvPr>
            <p:ph type="body" sz="quarter" idx="67"/>
          </p:nvPr>
        </p:nvSpPr>
        <p:spPr>
          <a:xfrm>
            <a:off x="6241985" y="3944348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98.0점</a:t>
            </a:r>
          </a:p>
        </p:txBody>
      </p:sp>
      <p:sp>
        <p:nvSpPr>
          <p:cNvPr id="92" name="연도"/>
          <p:cNvSpPr>
            <a:spLocks noGrp="1"/>
          </p:cNvSpPr>
          <p:nvPr>
            <p:ph type="body" sz="quarter" idx="68"/>
          </p:nvPr>
        </p:nvSpPr>
        <p:spPr>
          <a:xfrm>
            <a:off x="6241985" y="4262087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7 서사 · 환경분석 → 신고채널 안심 → 자정기능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신고채널은 집중적으로, 모니터링은 전문화하여 실효적 윤리경영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신고제도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46425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부정행위에는 한 치의 망설임 없이 쉽고 안전한 신고로 대응</a:t>
            </a:r>
          </a:p>
        </p:txBody>
      </p:sp>
      <p:sp>
        <p:nvSpPr>
          <p:cNvPr id="20" name="태그칩"/>
          <p:cNvSpPr/>
          <p:nvPr/>
        </p:nvSpPr>
        <p:spPr>
          <a:xfrm>
            <a:off x="4987459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4987459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6547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621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진단</a:t>
            </a:r>
          </a:p>
        </p:txBody>
      </p:sp>
      <p:sp>
        <p:nvSpPr>
          <p:cNvPr id="25" name="단계"/>
          <p:cNvSpPr/>
          <p:nvPr/>
        </p:nvSpPr>
        <p:spPr>
          <a:xfrm>
            <a:off x="1161391" y="1517478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51747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환경분석 및 진단</a:t>
            </a:r>
          </a:p>
        </p:txBody>
      </p:sp>
      <p:sp>
        <p:nvSpPr>
          <p:cNvPr id="27" name="단계"/>
          <p:cNvSpPr/>
          <p:nvPr/>
        </p:nvSpPr>
        <p:spPr>
          <a:xfrm>
            <a:off x="3985435" y="1517478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985435" y="151747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개선과제 도출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985434" y="1517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직원설문 다양한 신고채널 사용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감사 처분 결과 징계 발생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홍보강화 신고제도 홍보·효과성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특별신고 제보 의존 탈피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985435" y="1802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삼각 화살표"/>
          <p:cNvSpPr/>
          <p:nvPr/>
        </p:nvSpPr>
        <p:spPr>
          <a:xfrm>
            <a:off x="3823826" y="2177686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표 외곽"/>
          <p:cNvSpPr/>
          <p:nvPr/>
        </p:nvSpPr>
        <p:spPr>
          <a:xfrm>
            <a:off x="536870" y="2391339"/>
            <a:ext cx="6300000" cy="1846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407774"/>
            <a:ext cx="580696" cy="89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407774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신고는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 심</a:t>
            </a:r>
          </a:p>
        </p:txBody>
      </p:sp>
      <p:sp>
        <p:nvSpPr>
          <p:cNvPr id="37" name="머리칸"/>
          <p:cNvSpPr/>
          <p:nvPr/>
        </p:nvSpPr>
        <p:spPr>
          <a:xfrm>
            <a:off x="1161391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내·외부 신고채널 일원화</a:t>
            </a:r>
          </a:p>
        </p:txBody>
      </p:sp>
      <p:sp>
        <p:nvSpPr>
          <p:cNvPr id="39" name="머리칸"/>
          <p:cNvSpPr/>
          <p:nvPr/>
        </p:nvSpPr>
        <p:spPr>
          <a:xfrm>
            <a:off x="3985435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3985435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내부신고 오해와 불신 해소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6707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신고채널 카카오톡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포스터, QR 등 고객 홍보 강화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6707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 특성 반영 신고 모의훈련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자진신고 인센티브 및 예방감시관 운영</a:t>
            </a:r>
          </a:p>
        </p:txBody>
      </p:sp>
      <p:cxnSp>
        <p:nvCxnSpPr>
          <p:cNvPr id="43" name="Connector 31"/>
          <p:cNvCxnSpPr/>
          <p:nvPr/>
        </p:nvCxnSpPr>
        <p:spPr>
          <a:xfrm>
            <a:off x="3985435" y="2703600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08160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통합신고채널 가입자 1.4배 증가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308160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 접근성 제고 및 신뢰 상승</a:t>
            </a:r>
          </a:p>
        </p:txBody>
      </p:sp>
      <p:cxnSp>
        <p:nvCxnSpPr>
          <p:cNvPr id="46" name="Connector 34"/>
          <p:cNvCxnSpPr/>
          <p:nvPr/>
        </p:nvCxnSpPr>
        <p:spPr>
          <a:xfrm>
            <a:off x="3985435" y="311447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547826" y="3322643"/>
            <a:ext cx="580696" cy="898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3322643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자정기능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작동에는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심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547826" y="3322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161391" y="3344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39"/>
          </p:nvPr>
        </p:nvSpPr>
        <p:spPr>
          <a:xfrm>
            <a:off x="1161391" y="3344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특화 신고채널</a:t>
            </a:r>
          </a:p>
        </p:txBody>
      </p:sp>
      <p:sp>
        <p:nvSpPr>
          <p:cNvPr id="52" name="머리칸"/>
          <p:cNvSpPr/>
          <p:nvPr/>
        </p:nvSpPr>
        <p:spPr>
          <a:xfrm>
            <a:off x="3985435" y="3344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0"/>
          </p:nvPr>
        </p:nvSpPr>
        <p:spPr>
          <a:xfrm>
            <a:off x="3985435" y="3344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및 고객 무기명 특별신고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58560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’24년 우호적 인사평가 강요 사건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평가질서 저해 단독신고 채널 운영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3996391" y="358560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취약시기 SMS 발송 익명신고 접수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위탁 설문조사로 비밀 보장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3985435" y="3618470"/>
            <a:ext cx="0" cy="328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99647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경각심 제고로 유사 부정행위 Zero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399647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23건 신고 접수, 정식 조사 전환 3건</a:t>
            </a:r>
          </a:p>
        </p:txBody>
      </p:sp>
      <p:cxnSp>
        <p:nvCxnSpPr>
          <p:cNvPr id="59" name="Connector 44"/>
          <p:cNvCxnSpPr/>
          <p:nvPr/>
        </p:nvCxnSpPr>
        <p:spPr>
          <a:xfrm>
            <a:off x="3985435" y="402933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핵심성과 박스"/>
          <p:cNvSpPr/>
          <p:nvPr/>
        </p:nvSpPr>
        <p:spPr>
          <a:xfrm>
            <a:off x="536870" y="432516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569739" y="4358035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5"/>
          </p:nvPr>
        </p:nvSpPr>
        <p:spPr>
          <a:xfrm>
            <a:off x="569739" y="435803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6"/>
          </p:nvPr>
        </p:nvSpPr>
        <p:spPr>
          <a:xfrm>
            <a:off x="1314783" y="434707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부패방지시책 평가 ‘신고자 보호 노력’ 90.9점으로 대폭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조사 결과 ‘공정성’ 5점 상승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8 서사 · 추진배경 → AI 활용 선진감사(기존·개선·효과) → 위험관리 전문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227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디지털 기술과 전문가가 점검하는 지속가능한 윤리경영</a:t>
            </a:r>
          </a:p>
        </p:txBody>
      </p:sp>
      <p:sp>
        <p:nvSpPr>
          <p:cNvPr id="14" name="태그칩"/>
          <p:cNvSpPr/>
          <p:nvPr/>
        </p:nvSpPr>
        <p:spPr>
          <a:xfrm>
            <a:off x="493662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93662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23763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자체점검 윤리경영 체계 자체 모니터링 객관성·신뢰성 확보 한계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활용 감사 고도화 및 대외 전문가 시각 반영</a:t>
            </a:r>
          </a:p>
        </p:txBody>
      </p:sp>
      <p:cxnSp>
        <p:nvCxnSpPr>
          <p:cNvPr id="21" name="Connector 12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734087" y="1503861"/>
            <a:ext cx="580696" cy="11080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3861"/>
            <a:ext cx="580696" cy="11080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활용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선진감사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347652" y="1525774"/>
            <a:ext cx="401791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525774"/>
            <a:ext cx="401791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최초 디지털 기반 감사기법 연구</a:t>
            </a:r>
          </a:p>
        </p:txBody>
      </p:sp>
      <p:sp>
        <p:nvSpPr>
          <p:cNvPr id="27" name="머리칸"/>
          <p:cNvSpPr/>
          <p:nvPr/>
        </p:nvSpPr>
        <p:spPr>
          <a:xfrm>
            <a:off x="5382000" y="1525774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5382000" y="1525774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6817"/>
            <a:ext cx="4012435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내부감사 전주기 AI 활용체계 마련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5392957" y="1766817"/>
            <a:ext cx="1591826" cy="8395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감사연구원 논문 게재(’25.12)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활용사례 벤치마킹 등 타 기관 확산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382000" y="1799687"/>
            <a:ext cx="0" cy="7738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628313"/>
            <a:ext cx="580696" cy="79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28313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문 화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283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347652" y="26502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6502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ISO 국제표준 기반 모니터링</a:t>
            </a:r>
          </a:p>
        </p:txBody>
      </p:sp>
      <p:sp>
        <p:nvSpPr>
          <p:cNvPr id="37" name="머리칸"/>
          <p:cNvSpPr/>
          <p:nvPr/>
        </p:nvSpPr>
        <p:spPr>
          <a:xfrm>
            <a:off x="4171696" y="26502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4171696" y="26502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내부통제 고도화 컨설팅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8912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부패방지·규범준수경영 국제표준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위험관리 내부심사원 선발(13명)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8912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전문기관 내부통제 수준 진단, 개선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부패위험 범위 확대·규정 개정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4171696" y="2924139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핵심성과 박스"/>
          <p:cNvSpPr/>
          <p:nvPr/>
        </p:nvSpPr>
        <p:spPr>
          <a:xfrm>
            <a:off x="723130" y="3526748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핵심성과 라벨"/>
          <p:cNvSpPr/>
          <p:nvPr/>
        </p:nvSpPr>
        <p:spPr>
          <a:xfrm>
            <a:off x="756000" y="3559617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756000" y="355961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501043" y="3548661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ISO 37001·37301 통합인증(’25.10)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대내효과 자체 설문조사 결과 ‘내부통제 효과성’ 긍정적 인식 94.5%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9 서사 · 환경분석 → 로드맵(도입·성숙·확산기) → 추진과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촘촘하고 더 확실한 다층적 이해충돌 예방체계 구축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8399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인식수준 진단, 취약분야 선제적 관리 등 맞춤형 개선방향 수립</a:t>
            </a:r>
          </a:p>
        </p:txBody>
      </p:sp>
      <p:sp>
        <p:nvSpPr>
          <p:cNvPr id="17" name="태그칩"/>
          <p:cNvSpPr/>
          <p:nvPr/>
        </p:nvSpPr>
        <p:spPr>
          <a:xfrm>
            <a:off x="447540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47540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16846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410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517478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643022" y="1517478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신유형 부패 통제로 국민 신뢰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공직자 사적 이해관계 실효적 관리</a:t>
            </a:r>
          </a:p>
        </p:txBody>
      </p:sp>
      <p:cxnSp>
        <p:nvCxnSpPr>
          <p:cNvPr id="24" name="Connector 18"/>
          <p:cNvCxnSpPr/>
          <p:nvPr/>
        </p:nvCxnSpPr>
        <p:spPr>
          <a:xfrm>
            <a:off x="1632065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cxnSp>
        <p:nvCxnSpPr>
          <p:cNvPr id="26" name="Connector 20"/>
          <p:cNvCxnSpPr/>
          <p:nvPr/>
        </p:nvCxnSpPr>
        <p:spPr>
          <a:xfrm>
            <a:off x="3985435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4467065" y="1517478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징계 처분 발생(’24년)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‘법 인식 수준’ 저조(53점)</a:t>
            </a:r>
          </a:p>
        </p:txBody>
      </p:sp>
      <p:cxnSp>
        <p:nvCxnSpPr>
          <p:cNvPr id="28" name="Connector 22"/>
          <p:cNvCxnSpPr/>
          <p:nvPr/>
        </p:nvCxnSpPr>
        <p:spPr>
          <a:xfrm>
            <a:off x="4456109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547826" y="1922870"/>
            <a:ext cx="580696" cy="58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22870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228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161391" y="194478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1161391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도입기(’21~’23년)</a:t>
            </a:r>
          </a:p>
        </p:txBody>
      </p:sp>
      <p:sp>
        <p:nvSpPr>
          <p:cNvPr id="34" name="단계"/>
          <p:cNvSpPr/>
          <p:nvPr/>
        </p:nvSpPr>
        <p:spPr>
          <a:xfrm>
            <a:off x="3044087" y="194478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3044087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성숙기(’24년)</a:t>
            </a:r>
          </a:p>
        </p:txBody>
      </p:sp>
      <p:sp>
        <p:nvSpPr>
          <p:cNvPr id="36" name="단계"/>
          <p:cNvSpPr/>
          <p:nvPr/>
        </p:nvSpPr>
        <p:spPr>
          <a:xfrm>
            <a:off x="4926783" y="194478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4926783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확산기(’25년~)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3044086" y="19447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4926782" y="1944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충돌방지 시스템 구축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이행체계·제도 고도화</a:t>
            </a:r>
          </a:p>
        </p:txBody>
      </p:sp>
      <p:cxnSp>
        <p:nvCxnSpPr>
          <p:cNvPr id="42" name="Connector 32"/>
          <p:cNvCxnSpPr/>
          <p:nvPr/>
        </p:nvCxnSpPr>
        <p:spPr>
          <a:xfrm>
            <a:off x="3044087" y="2229652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이해충돌방지법 준수 일상화</a:t>
            </a:r>
          </a:p>
        </p:txBody>
      </p:sp>
      <p:cxnSp>
        <p:nvCxnSpPr>
          <p:cNvPr id="44" name="Connector 34"/>
          <p:cNvCxnSpPr/>
          <p:nvPr/>
        </p:nvCxnSpPr>
        <p:spPr>
          <a:xfrm>
            <a:off x="4926783" y="2229652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2525478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525478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525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"/>
          <p:cNvSpPr/>
          <p:nvPr/>
        </p:nvSpPr>
        <p:spPr>
          <a:xfrm>
            <a:off x="1161391" y="25473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전환</a:t>
            </a:r>
          </a:p>
        </p:txBody>
      </p:sp>
      <p:sp>
        <p:nvSpPr>
          <p:cNvPr id="50" name="단계"/>
          <p:cNvSpPr/>
          <p:nvPr/>
        </p:nvSpPr>
        <p:spPr>
          <a:xfrm>
            <a:off x="3044087" y="25473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8"/>
          </p:nvPr>
        </p:nvSpPr>
        <p:spPr>
          <a:xfrm>
            <a:off x="3044087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발굴 및 해소</a:t>
            </a:r>
          </a:p>
        </p:txBody>
      </p:sp>
      <p:sp>
        <p:nvSpPr>
          <p:cNvPr id="52" name="단계"/>
          <p:cNvSpPr/>
          <p:nvPr/>
        </p:nvSpPr>
        <p:spPr>
          <a:xfrm>
            <a:off x="4926783" y="25473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9"/>
          </p:nvPr>
        </p:nvSpPr>
        <p:spPr>
          <a:xfrm>
            <a:off x="4926783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 인식 확산</a:t>
            </a:r>
          </a:p>
        </p:txBody>
      </p:sp>
      <p:sp>
        <p:nvSpPr>
          <p:cNvPr id="54" name="단계 삼각형"/>
          <p:cNvSpPr/>
          <p:nvPr/>
        </p:nvSpPr>
        <p:spPr>
          <a:xfrm>
            <a:off x="3044086" y="25473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4926782" y="2547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대응체계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자율규율 행위규범 내재화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 기반 취약요소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 및 개선 조치</a:t>
            </a:r>
          </a:p>
        </p:txBody>
      </p:sp>
      <p:cxnSp>
        <p:nvCxnSpPr>
          <p:cNvPr id="58" name="Connector 44"/>
          <p:cNvCxnSpPr/>
          <p:nvPr/>
        </p:nvCxnSpPr>
        <p:spPr>
          <a:xfrm>
            <a:off x="3044087" y="2832261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정보 공유 지속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맞춤형 교육</a:t>
            </a:r>
          </a:p>
        </p:txBody>
      </p:sp>
      <p:cxnSp>
        <p:nvCxnSpPr>
          <p:cNvPr id="60" name="Connector 46"/>
          <p:cNvCxnSpPr/>
          <p:nvPr/>
        </p:nvCxnSpPr>
        <p:spPr>
          <a:xfrm>
            <a:off x="4926783" y="2832261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0 서사 · 추진배경 → 자율예방 → 충돌방지 → 바로알기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6956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이해충돌방지법이 일상에 스며들도록 자율적 예방체계 운영</a:t>
            </a:r>
          </a:p>
        </p:txBody>
      </p:sp>
      <p:sp>
        <p:nvSpPr>
          <p:cNvPr id="11" name="태그칩"/>
          <p:cNvSpPr/>
          <p:nvPr/>
        </p:nvSpPr>
        <p:spPr>
          <a:xfrm>
            <a:off x="451736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1736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06848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06848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9283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011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구체적 상황 제도 적용 미흡, 지속 모니터링 필요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011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주도 예방체계로 사전 예방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 강화 및 예방문화 정착</a:t>
            </a:r>
          </a:p>
        </p:txBody>
      </p:sp>
      <p:cxnSp>
        <p:nvCxnSpPr>
          <p:cNvPr id="20" name="Connector 11"/>
          <p:cNvCxnSpPr/>
          <p:nvPr/>
        </p:nvCxnSpPr>
        <p:spPr>
          <a:xfrm>
            <a:off x="4171696" y="113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734087" y="1503861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 태그"/>
          <p:cNvSpPr/>
          <p:nvPr/>
        </p:nvSpPr>
        <p:spPr>
          <a:xfrm>
            <a:off x="744637" y="16682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레일 태그"/>
          <p:cNvSpPr>
            <a:spLocks noGrp="1"/>
          </p:cNvSpPr>
          <p:nvPr>
            <p:ph type="body" sz="quarter" idx="26"/>
          </p:nvPr>
        </p:nvSpPr>
        <p:spPr>
          <a:xfrm>
            <a:off x="744637" y="16682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자율점검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27"/>
          </p:nvPr>
        </p:nvSpPr>
        <p:spPr>
          <a:xfrm>
            <a:off x="734087" y="1854470"/>
            <a:ext cx="580696" cy="42182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자율예방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347652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이해충돌 내부통제 구조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171696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나와 연관된 이해충돌은 스스로 멀리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68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실행 프로그램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현장부서(매월) + 유역본부(분기) + 본사(연간)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7668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 이해충돌 상황 시나리오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AI챗봇에 이해충돌 챗봇 통합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4171696" y="179968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314643"/>
            <a:ext cx="580696" cy="862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744637" y="235847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2"/>
          </p:nvPr>
        </p:nvSpPr>
        <p:spPr>
          <a:xfrm>
            <a:off x="744637" y="235847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544730"/>
            <a:ext cx="580696" cy="6109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빈틈없는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충돌방지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336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336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협상에 의한 계약 이해충돌 예방</a:t>
            </a:r>
          </a:p>
        </p:txBody>
      </p:sp>
      <p:sp>
        <p:nvSpPr>
          <p:cNvPr id="39" name="머리칸"/>
          <p:cNvSpPr/>
          <p:nvPr/>
        </p:nvSpPr>
        <p:spPr>
          <a:xfrm>
            <a:off x="4171696" y="2336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336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포인트 사적사용 방지 강화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577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계약상대자 선정 정량평가에 사적 이해관계 개입 우려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577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공무 국외출장 항공 마일리지 사적사용 방지 기준 부재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4171696" y="261047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931026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제척·회피·기피 의무 및 평가기준 마련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931026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법인 전용 포인트 공적재원으로 활용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4171696" y="2963896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193983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 태그"/>
          <p:cNvSpPr/>
          <p:nvPr/>
        </p:nvSpPr>
        <p:spPr>
          <a:xfrm>
            <a:off x="744637" y="335833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레일 태그"/>
          <p:cNvSpPr>
            <a:spLocks noGrp="1"/>
          </p:cNvSpPr>
          <p:nvPr>
            <p:ph type="body" sz="quarter" idx="40"/>
          </p:nvPr>
        </p:nvSpPr>
        <p:spPr>
          <a:xfrm>
            <a:off x="744637" y="335833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인식확산</a:t>
            </a:r>
          </a:p>
        </p:txBody>
      </p:sp>
      <p:sp>
        <p:nvSpPr>
          <p:cNvPr id="50" name="레일 라벨"/>
          <p:cNvSpPr>
            <a:spLocks noGrp="1"/>
          </p:cNvSpPr>
          <p:nvPr>
            <p:ph type="body" sz="quarter" idx="41"/>
          </p:nvPr>
        </p:nvSpPr>
        <p:spPr>
          <a:xfrm>
            <a:off x="734087" y="3544591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이해충돌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바로알기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31939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"/>
          <p:cNvSpPr/>
          <p:nvPr/>
        </p:nvSpPr>
        <p:spPr>
          <a:xfrm>
            <a:off x="1347652" y="32158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2"/>
          </p:nvPr>
        </p:nvSpPr>
        <p:spPr>
          <a:xfrm>
            <a:off x="1347652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</a:t>
            </a:r>
          </a:p>
        </p:txBody>
      </p:sp>
      <p:sp>
        <p:nvSpPr>
          <p:cNvPr id="54" name="단계"/>
          <p:cNvSpPr/>
          <p:nvPr/>
        </p:nvSpPr>
        <p:spPr>
          <a:xfrm>
            <a:off x="3230348" y="32158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3"/>
          </p:nvPr>
        </p:nvSpPr>
        <p:spPr>
          <a:xfrm>
            <a:off x="3230348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개선사항</a:t>
            </a:r>
          </a:p>
        </p:txBody>
      </p:sp>
      <p:sp>
        <p:nvSpPr>
          <p:cNvPr id="56" name="단계"/>
          <p:cNvSpPr/>
          <p:nvPr/>
        </p:nvSpPr>
        <p:spPr>
          <a:xfrm>
            <a:off x="5113043" y="32158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4"/>
          </p:nvPr>
        </p:nvSpPr>
        <p:spPr>
          <a:xfrm>
            <a:off x="5113043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230347" y="32158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113043" y="32158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 법 개념과 사례 막연한 인식 47.4%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6"/>
          </p:nvPr>
        </p:nvSpPr>
        <p:spPr>
          <a:xfrm>
            <a:off x="3241304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활용 상황별 알림 발송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사례집 발간(’25.12)</a:t>
            </a:r>
          </a:p>
        </p:txBody>
      </p:sp>
      <p:cxnSp>
        <p:nvCxnSpPr>
          <p:cNvPr id="62" name="Connector 43"/>
          <p:cNvCxnSpPr/>
          <p:nvPr/>
        </p:nvCxnSpPr>
        <p:spPr>
          <a:xfrm>
            <a:off x="3230348" y="3500765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7"/>
          </p:nvPr>
        </p:nvSpPr>
        <p:spPr>
          <a:xfrm>
            <a:off x="5124000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부패인식 74.2 → 90.9점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교육수료자 8.2천명 → 9.5천명</a:t>
            </a:r>
          </a:p>
        </p:txBody>
      </p:sp>
      <p:cxnSp>
        <p:nvCxnSpPr>
          <p:cNvPr id="64" name="Connector 45"/>
          <p:cNvCxnSpPr/>
          <p:nvPr/>
        </p:nvCxnSpPr>
        <p:spPr>
          <a:xfrm>
            <a:off x="5113043" y="3500765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핵심성과 박스"/>
          <p:cNvSpPr/>
          <p:nvPr/>
        </p:nvSpPr>
        <p:spPr>
          <a:xfrm>
            <a:off x="723130" y="40788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핵심성과 라벨"/>
          <p:cNvSpPr/>
          <p:nvPr/>
        </p:nvSpPr>
        <p:spPr>
          <a:xfrm>
            <a:off x="756000" y="41116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7" name="핵심성과 라벨"/>
          <p:cNvSpPr>
            <a:spLocks noGrp="1"/>
          </p:cNvSpPr>
          <p:nvPr>
            <p:ph type="body" sz="quarter" idx="48"/>
          </p:nvPr>
        </p:nvSpPr>
        <p:spPr>
          <a:xfrm>
            <a:off x="756000" y="41116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8" name="핵심성과 문구"/>
          <p:cNvSpPr>
            <a:spLocks noGrp="1"/>
          </p:cNvSpPr>
          <p:nvPr>
            <p:ph type="body" sz="quarter" idx="49"/>
          </p:nvPr>
        </p:nvSpPr>
        <p:spPr>
          <a:xfrm>
            <a:off x="1501043" y="41007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공사 최초 권익위 청렴도 1등급 및 신뢰경영지수 역대 최고 득점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이해충돌방지 자율적 내부통제 체계로 ’25년 법 위반 사례 Zero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1 서사 · 추진 전략 → 추진방향 · 과제 → PDCA 실행체계 → 추진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인권경영 전략 연계 PDCA 인권존중 추진 Build-up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695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662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662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인권경영 추진 전략(’24.12)</a:t>
            </a:r>
          </a:p>
        </p:txBody>
      </p:sp>
      <p:sp>
        <p:nvSpPr>
          <p:cNvPr id="20" name="머리칸"/>
          <p:cNvSpPr/>
          <p:nvPr/>
        </p:nvSpPr>
        <p:spPr>
          <a:xfrm>
            <a:off x="3985435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결과(’24.12)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9695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인권비전 ‘인권경영을 선도하는 기관’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 인권경영체계 정비, 피드백 강화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9695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기관 대비 높은 수준 인권경영(99.8점)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전환 대비 개선사항 보완 필요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429826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삼각 화살표"/>
          <p:cNvSpPr/>
          <p:nvPr/>
        </p:nvSpPr>
        <p:spPr>
          <a:xfrm>
            <a:off x="3823826" y="1857130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표 외곽"/>
          <p:cNvSpPr/>
          <p:nvPr/>
        </p:nvSpPr>
        <p:spPr>
          <a:xfrm>
            <a:off x="536870" y="2070783"/>
            <a:ext cx="6300000" cy="19504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547826" y="2087217"/>
            <a:ext cx="580696" cy="621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208721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과제</a:t>
            </a:r>
          </a:p>
        </p:txBody>
      </p:sp>
      <p:sp>
        <p:nvSpPr>
          <p:cNvPr id="29" name="단계"/>
          <p:cNvSpPr/>
          <p:nvPr/>
        </p:nvSpPr>
        <p:spPr>
          <a:xfrm>
            <a:off x="1161391" y="2109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다층적 대응체계</a:t>
            </a:r>
          </a:p>
        </p:txBody>
      </p:sp>
      <p:sp>
        <p:nvSpPr>
          <p:cNvPr id="31" name="단계"/>
          <p:cNvSpPr/>
          <p:nvPr/>
        </p:nvSpPr>
        <p:spPr>
          <a:xfrm>
            <a:off x="3044087" y="2109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29"/>
          </p:nvPr>
        </p:nvSpPr>
        <p:spPr>
          <a:xfrm>
            <a:off x="3044087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인권보호 확대</a:t>
            </a:r>
          </a:p>
        </p:txBody>
      </p:sp>
      <p:sp>
        <p:nvSpPr>
          <p:cNvPr id="33" name="단계"/>
          <p:cNvSpPr/>
          <p:nvPr/>
        </p:nvSpPr>
        <p:spPr>
          <a:xfrm>
            <a:off x="4926783" y="2109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0"/>
          </p:nvPr>
        </p:nvSpPr>
        <p:spPr>
          <a:xfrm>
            <a:off x="4926783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미래형 인권경영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044086" y="2109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4926782" y="2109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위험징후 초기 예방관리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상시 점검체계 마련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인권환경실사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공급망 인권보호 추진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044087" y="239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기반 AI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 리스크 관리</a:t>
            </a:r>
          </a:p>
        </p:txBody>
      </p:sp>
      <p:cxnSp>
        <p:nvCxnSpPr>
          <p:cNvPr id="41" name="Connector 30"/>
          <p:cNvCxnSpPr/>
          <p:nvPr/>
        </p:nvCxnSpPr>
        <p:spPr>
          <a:xfrm>
            <a:off x="4926783" y="239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547826" y="2725513"/>
            <a:ext cx="580696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725513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547826" y="27255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"/>
          <p:cNvSpPr/>
          <p:nvPr/>
        </p:nvSpPr>
        <p:spPr>
          <a:xfrm>
            <a:off x="1161391" y="274742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5"/>
          </p:nvPr>
        </p:nvSpPr>
        <p:spPr>
          <a:xfrm>
            <a:off x="1161391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인권경영계획</a:t>
            </a:r>
          </a:p>
        </p:txBody>
      </p:sp>
      <p:sp>
        <p:nvSpPr>
          <p:cNvPr id="47" name="단계"/>
          <p:cNvSpPr/>
          <p:nvPr/>
        </p:nvSpPr>
        <p:spPr>
          <a:xfrm>
            <a:off x="2573413" y="274742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6"/>
          </p:nvPr>
        </p:nvSpPr>
        <p:spPr>
          <a:xfrm>
            <a:off x="2573413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인권경영이행</a:t>
            </a:r>
          </a:p>
        </p:txBody>
      </p:sp>
      <p:sp>
        <p:nvSpPr>
          <p:cNvPr id="49" name="단계"/>
          <p:cNvSpPr/>
          <p:nvPr/>
        </p:nvSpPr>
        <p:spPr>
          <a:xfrm>
            <a:off x="3985435" y="274742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7"/>
          </p:nvPr>
        </p:nvSpPr>
        <p:spPr>
          <a:xfrm>
            <a:off x="3985435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모니터링·평가</a:t>
            </a:r>
          </a:p>
        </p:txBody>
      </p:sp>
      <p:sp>
        <p:nvSpPr>
          <p:cNvPr id="51" name="단계"/>
          <p:cNvSpPr/>
          <p:nvPr/>
        </p:nvSpPr>
        <p:spPr>
          <a:xfrm>
            <a:off x="5397457" y="274742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8"/>
          </p:nvPr>
        </p:nvSpPr>
        <p:spPr>
          <a:xfrm>
            <a:off x="5397457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침해 구제 개선</a:t>
            </a:r>
          </a:p>
        </p:txBody>
      </p:sp>
      <p:sp>
        <p:nvSpPr>
          <p:cNvPr id="53" name="단계 삼각형"/>
          <p:cNvSpPr/>
          <p:nvPr/>
        </p:nvSpPr>
        <p:spPr>
          <a:xfrm>
            <a:off x="2573413" y="27474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3985434" y="27474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5397456" y="27474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및 기본방향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리스크 관리체계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0"/>
          </p:nvPr>
        </p:nvSpPr>
        <p:spPr>
          <a:xfrm>
            <a:off x="2584370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인권교육·캠페인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보호</a:t>
            </a:r>
          </a:p>
        </p:txBody>
      </p:sp>
      <p:cxnSp>
        <p:nvCxnSpPr>
          <p:cNvPr id="58" name="Connector 42"/>
          <p:cNvCxnSpPr/>
          <p:nvPr/>
        </p:nvCxnSpPr>
        <p:spPr>
          <a:xfrm>
            <a:off x="2573413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1"/>
          </p:nvPr>
        </p:nvSpPr>
        <p:spPr>
          <a:xfrm>
            <a:off x="3996391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인권경영지수 등</a:t>
            </a:r>
          </a:p>
        </p:txBody>
      </p:sp>
      <p:cxnSp>
        <p:nvCxnSpPr>
          <p:cNvPr id="60" name="Connector 44"/>
          <p:cNvCxnSpPr/>
          <p:nvPr/>
        </p:nvCxnSpPr>
        <p:spPr>
          <a:xfrm>
            <a:off x="3985435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2"/>
          </p:nvPr>
        </p:nvSpPr>
        <p:spPr>
          <a:xfrm>
            <a:off x="5408413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구제 절차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개선이행, 정보공개</a:t>
            </a:r>
          </a:p>
        </p:txBody>
      </p:sp>
      <p:cxnSp>
        <p:nvCxnSpPr>
          <p:cNvPr id="62" name="Connector 46"/>
          <p:cNvCxnSpPr/>
          <p:nvPr/>
        </p:nvCxnSpPr>
        <p:spPr>
          <a:xfrm>
            <a:off x="5397457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레일"/>
          <p:cNvSpPr/>
          <p:nvPr/>
        </p:nvSpPr>
        <p:spPr>
          <a:xfrm>
            <a:off x="547826" y="3363809"/>
            <a:ext cx="580696" cy="64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363809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추진기반</a:t>
            </a:r>
          </a:p>
        </p:txBody>
      </p:sp>
      <p:sp>
        <p:nvSpPr>
          <p:cNvPr id="65" name="레일 삼각형"/>
          <p:cNvSpPr/>
          <p:nvPr/>
        </p:nvSpPr>
        <p:spPr>
          <a:xfrm>
            <a:off x="547826" y="33638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1161391" y="3407635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407635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정책기구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5"/>
          </p:nvPr>
        </p:nvSpPr>
        <p:spPr>
          <a:xfrm>
            <a:off x="1786727" y="339667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인권경영위원회 · 권익보호위원회</a:t>
            </a:r>
          </a:p>
        </p:txBody>
      </p:sp>
      <p:sp>
        <p:nvSpPr>
          <p:cNvPr id="69" name="태그"/>
          <p:cNvSpPr/>
          <p:nvPr/>
        </p:nvSpPr>
        <p:spPr>
          <a:xfrm>
            <a:off x="1161391" y="3604852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3604852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실행조직</a:t>
            </a:r>
          </a:p>
        </p:txBody>
      </p:sp>
      <p:sp>
        <p:nvSpPr>
          <p:cNvPr id="71" name="태그 설명"/>
          <p:cNvSpPr>
            <a:spLocks noGrp="1"/>
          </p:cNvSpPr>
          <p:nvPr>
            <p:ph type="body" sz="quarter" idx="47"/>
          </p:nvPr>
        </p:nvSpPr>
        <p:spPr>
          <a:xfrm>
            <a:off x="1786727" y="3593896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전담부서, 권익보호센터 · 안심케어센터(신규)</a:t>
            </a:r>
          </a:p>
        </p:txBody>
      </p:sp>
      <p:sp>
        <p:nvSpPr>
          <p:cNvPr id="72" name="태그"/>
          <p:cNvSpPr/>
          <p:nvPr/>
        </p:nvSpPr>
        <p:spPr>
          <a:xfrm>
            <a:off x="1161391" y="380207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38020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신고소통</a:t>
            </a:r>
          </a:p>
        </p:txBody>
      </p:sp>
      <p:sp>
        <p:nvSpPr>
          <p:cNvPr id="74" name="태그 설명"/>
          <p:cNvSpPr>
            <a:spLocks noGrp="1"/>
          </p:cNvSpPr>
          <p:nvPr>
            <p:ph type="body" sz="quarter" idx="49"/>
          </p:nvPr>
        </p:nvSpPr>
        <p:spPr>
          <a:xfrm>
            <a:off x="1786727" y="37911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권익보호포털, 인권침해 실태조사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2 서사 · 취약사항 → 개선방향(예방·조치·사후관리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다양한 이해관계자를 아우르는 포용적 인권경영 실현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40682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신뢰가 최우선, 사전예방부터 사후지원까지 한층 더 강력하게</a:t>
            </a:r>
          </a:p>
        </p:txBody>
      </p:sp>
      <p:sp>
        <p:nvSpPr>
          <p:cNvPr id="16" name="태그칩"/>
          <p:cNvSpPr/>
          <p:nvPr/>
        </p:nvSpPr>
        <p:spPr>
          <a:xfrm>
            <a:off x="4889984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889984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441105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441105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1475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 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항</a:t>
            </a:r>
          </a:p>
        </p:txBody>
      </p:sp>
      <p:sp>
        <p:nvSpPr>
          <p:cNvPr id="23" name="배너"/>
          <p:cNvSpPr/>
          <p:nvPr/>
        </p:nvSpPr>
        <p:spPr>
          <a:xfrm>
            <a:off x="1347652" y="1528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구조적 인권침해 방지 환경·제도 구축 필요(’24년 평가단)</a:t>
            </a:r>
          </a:p>
        </p:txBody>
      </p:sp>
      <p:sp>
        <p:nvSpPr>
          <p:cNvPr id="25" name="레일"/>
          <p:cNvSpPr/>
          <p:nvPr/>
        </p:nvSpPr>
        <p:spPr>
          <a:xfrm>
            <a:off x="734087" y="1931165"/>
            <a:ext cx="580696" cy="10177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931165"/>
            <a:ext cx="580696" cy="1017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734086" y="193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배너"/>
          <p:cNvSpPr/>
          <p:nvPr/>
        </p:nvSpPr>
        <p:spPr>
          <a:xfrm>
            <a:off x="1347652" y="19530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8"/>
          </p:nvPr>
        </p:nvSpPr>
        <p:spPr>
          <a:xfrm>
            <a:off x="1347652" y="19530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대응체계 강화로 발전된 인권경영 수행</a:t>
            </a:r>
          </a:p>
        </p:txBody>
      </p:sp>
      <p:sp>
        <p:nvSpPr>
          <p:cNvPr id="30" name="단계"/>
          <p:cNvSpPr/>
          <p:nvPr/>
        </p:nvSpPr>
        <p:spPr>
          <a:xfrm>
            <a:off x="1347652" y="21886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1347652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 사전예방적 관리 강화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21886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3230348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신속·무관용 처분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21886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5113043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 보호체계 고도화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21886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21886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참여형 교육(19회)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모니터링 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권익침해 자가진단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성비위·괴롭힘 대응절차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처리기간 37%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징계양정기준 개정</a:t>
            </a:r>
          </a:p>
        </p:txBody>
      </p:sp>
      <p:cxnSp>
        <p:nvCxnSpPr>
          <p:cNvPr id="40" name="Connector 25"/>
          <p:cNvCxnSpPr/>
          <p:nvPr/>
        </p:nvCxnSpPr>
        <p:spPr>
          <a:xfrm>
            <a:off x="3230348" y="2473513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신설로 사고 직원 토탈케어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피해자 PTSD EAP 지원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5113043" y="2473513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723130" y="305295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756000" y="308582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756000" y="308582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501043" y="307487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‘믿음’, ‘존중’ 역대 최고점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내부체감도 ‘갑질행위’ 지표 대폭 개선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3 서사 · 추진배경 → 네 방향 지원(십자 패널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6285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고객-파트너-국민까지 모두 아우르는 공급망 인권경영 가치사슬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4898329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98329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449450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449450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9017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공급망 인권·환경보호법 발의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환경권 등 인권존중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09017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이해관계자, 공급망까지 인권영향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현안 포함 부정적 인권영향 방지 확대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123043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위 머리"/>
          <p:cNvSpPr/>
          <p:nvPr/>
        </p:nvSpPr>
        <p:spPr>
          <a:xfrm>
            <a:off x="536870" y="1558643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602609" y="1602470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602609" y="1602470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</a:t>
            </a:r>
          </a:p>
        </p:txBody>
      </p:sp>
      <p:sp>
        <p:nvSpPr>
          <p:cNvPr id="25" name="위 머리 글"/>
          <p:cNvSpPr>
            <a:spLocks noGrp="1"/>
          </p:cNvSpPr>
          <p:nvPr>
            <p:ph type="body" sz="quarter" idx="27"/>
          </p:nvPr>
        </p:nvSpPr>
        <p:spPr>
          <a:xfrm>
            <a:off x="964581" y="1558643"/>
            <a:ext cx="2557941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존중받을 권리</a:t>
            </a:r>
          </a:p>
        </p:txBody>
      </p:sp>
      <p:sp>
        <p:nvSpPr>
          <p:cNvPr id="26" name="위 머리"/>
          <p:cNvSpPr/>
          <p:nvPr/>
        </p:nvSpPr>
        <p:spPr>
          <a:xfrm>
            <a:off x="3796435" y="1558643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태그"/>
          <p:cNvSpPr/>
          <p:nvPr/>
        </p:nvSpPr>
        <p:spPr>
          <a:xfrm>
            <a:off x="3862174" y="1602470"/>
            <a:ext cx="43887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8" name="태그"/>
          <p:cNvSpPr>
            <a:spLocks noGrp="1"/>
          </p:cNvSpPr>
          <p:nvPr>
            <p:ph type="body" sz="quarter" idx="28"/>
          </p:nvPr>
        </p:nvSpPr>
        <p:spPr>
          <a:xfrm>
            <a:off x="3862174" y="1602470"/>
            <a:ext cx="43887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</a:t>
            </a:r>
          </a:p>
        </p:txBody>
      </p:sp>
      <p:sp>
        <p:nvSpPr>
          <p:cNvPr id="29" name="위 머리 글"/>
          <p:cNvSpPr>
            <a:spLocks noGrp="1"/>
          </p:cNvSpPr>
          <p:nvPr>
            <p:ph type="body" sz="quarter" idx="29"/>
          </p:nvPr>
        </p:nvSpPr>
        <p:spPr>
          <a:xfrm>
            <a:off x="4333915" y="1558643"/>
            <a:ext cx="2448172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인권친화경영 지원</a:t>
            </a:r>
          </a:p>
        </p:txBody>
      </p:sp>
      <p:sp>
        <p:nvSpPr>
          <p:cNvPr id="30" name="본문"/>
          <p:cNvSpPr>
            <a:spLocks noGrp="1"/>
          </p:cNvSpPr>
          <p:nvPr>
            <p:ph type="body" sz="quarter" idx="30"/>
          </p:nvPr>
        </p:nvSpPr>
        <p:spPr>
          <a:xfrm>
            <a:off x="536870" y="1854470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영세규모 고객 매뉴얼·양식 표준화로 편의성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보상고객 전담 창구, 고객 케어 운영으로 만족도 향상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민원창구 내 보상전담반, 단계별 알림</a:t>
            </a:r>
          </a:p>
        </p:txBody>
      </p:sp>
      <p:sp>
        <p:nvSpPr>
          <p:cNvPr id="31" name="본문"/>
          <p:cNvSpPr>
            <a:spLocks noGrp="1"/>
          </p:cNvSpPr>
          <p:nvPr>
            <p:ph type="body" sz="quarter" idx="31"/>
          </p:nvPr>
        </p:nvSpPr>
        <p:spPr>
          <a:xfrm>
            <a:off x="3796435" y="1854470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안전·행복 일터 조성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인권보호노력 평가지표 신설로 인권경영 유인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조직문화 개선 노력, 청렴도 조사 결과 반영</a:t>
            </a:r>
          </a:p>
        </p:txBody>
      </p:sp>
      <p:sp>
        <p:nvSpPr>
          <p:cNvPr id="32" name="본문"/>
          <p:cNvSpPr>
            <a:spLocks noGrp="1"/>
          </p:cNvSpPr>
          <p:nvPr>
            <p:ph type="body" sz="quarter" idx="32"/>
          </p:nvPr>
        </p:nvSpPr>
        <p:spPr>
          <a:xfrm>
            <a:off x="536870" y="2840557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초대형 산불 대응지원 서비스로 골든타임 확보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화재대응 댐 용수방류 + 충수시설 정보제공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강릉 가뭄 선제적 수처리 확보</a:t>
            </a:r>
          </a:p>
        </p:txBody>
      </p:sp>
      <p:sp>
        <p:nvSpPr>
          <p:cNvPr id="33" name="본문"/>
          <p:cNvSpPr>
            <a:spLocks noGrp="1"/>
          </p:cNvSpPr>
          <p:nvPr>
            <p:ph type="body" sz="quarter" idx="33"/>
          </p:nvPr>
        </p:nvSpPr>
        <p:spPr>
          <a:xfrm>
            <a:off x="3796435" y="2840557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폭염 회피 이동형 휴게시설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폭염 대비 물품 제공(1.5억원)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간편신고 등 작업중지제 활성화(132건)</a:t>
            </a:r>
          </a:p>
        </p:txBody>
      </p:sp>
      <p:sp>
        <p:nvSpPr>
          <p:cNvPr id="34" name="가운데 띠"/>
          <p:cNvSpPr/>
          <p:nvPr/>
        </p:nvSpPr>
        <p:spPr>
          <a:xfrm>
            <a:off x="536870" y="2741948"/>
            <a:ext cx="6300000" cy="43826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아이콘 칸"/>
          <p:cNvSpPr/>
          <p:nvPr/>
        </p:nvSpPr>
        <p:spPr>
          <a:xfrm>
            <a:off x="3500609" y="2632383"/>
            <a:ext cx="372522" cy="30678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36" name="아이콘 칸"/>
          <p:cNvSpPr>
            <a:spLocks noGrp="1"/>
          </p:cNvSpPr>
          <p:nvPr>
            <p:ph type="body" sz="quarter" idx="34"/>
          </p:nvPr>
        </p:nvSpPr>
        <p:spPr>
          <a:xfrm>
            <a:off x="3500609" y="2632383"/>
            <a:ext cx="372522" cy="30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아이콘</a:t>
            </a:r>
          </a:p>
        </p:txBody>
      </p:sp>
      <p:sp>
        <p:nvSpPr>
          <p:cNvPr id="37" name="아래 머리"/>
          <p:cNvSpPr/>
          <p:nvPr/>
        </p:nvSpPr>
        <p:spPr>
          <a:xfrm>
            <a:off x="536870" y="3695165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602609" y="3738991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5"/>
          </p:nvPr>
        </p:nvSpPr>
        <p:spPr>
          <a:xfrm>
            <a:off x="602609" y="3738991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</a:t>
            </a:r>
          </a:p>
        </p:txBody>
      </p:sp>
      <p:sp>
        <p:nvSpPr>
          <p:cNvPr id="40" name="아래 머리 글"/>
          <p:cNvSpPr>
            <a:spLocks noGrp="1"/>
          </p:cNvSpPr>
          <p:nvPr>
            <p:ph type="body" sz="quarter" idx="36"/>
          </p:nvPr>
        </p:nvSpPr>
        <p:spPr>
          <a:xfrm>
            <a:off x="964581" y="3695165"/>
            <a:ext cx="2557941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극한 기후위기 안전망</a:t>
            </a:r>
          </a:p>
        </p:txBody>
      </p:sp>
      <p:sp>
        <p:nvSpPr>
          <p:cNvPr id="41" name="아래 머리"/>
          <p:cNvSpPr/>
          <p:nvPr/>
        </p:nvSpPr>
        <p:spPr>
          <a:xfrm>
            <a:off x="3796435" y="3695165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태그"/>
          <p:cNvSpPr/>
          <p:nvPr/>
        </p:nvSpPr>
        <p:spPr>
          <a:xfrm>
            <a:off x="3862174" y="3738991"/>
            <a:ext cx="43887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태그"/>
          <p:cNvSpPr>
            <a:spLocks noGrp="1"/>
          </p:cNvSpPr>
          <p:nvPr>
            <p:ph type="body" sz="quarter" idx="37"/>
          </p:nvPr>
        </p:nvSpPr>
        <p:spPr>
          <a:xfrm>
            <a:off x="3862174" y="3738991"/>
            <a:ext cx="43887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협력사</a:t>
            </a:r>
          </a:p>
        </p:txBody>
      </p:sp>
      <p:sp>
        <p:nvSpPr>
          <p:cNvPr id="44" name="아래 머리 글"/>
          <p:cNvSpPr>
            <a:spLocks noGrp="1"/>
          </p:cNvSpPr>
          <p:nvPr>
            <p:ph type="body" sz="quarter" idx="38"/>
          </p:nvPr>
        </p:nvSpPr>
        <p:spPr>
          <a:xfrm>
            <a:off x="4333915" y="3695165"/>
            <a:ext cx="2448172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근로자 중심 핀셋 지원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536870" y="40457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569739" y="40786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569739" y="40786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314783" y="40676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권익위 종합청렴도 외부체감도 ‘업무투명’ 상승(88.0 → 92.2점)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노동부 ‘용역근로자 보호지침 준수’ 지표 만점 및 자회사 운영실태 평가 A등급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4 서사 · 디지털 권리보장 → AI 도입 리스크관리 → 새로운 가치창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9664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디지털·AI 기반 미래형 인권보호 패러다임 선도</a:t>
            </a:r>
          </a:p>
        </p:txBody>
      </p:sp>
      <p:sp>
        <p:nvSpPr>
          <p:cNvPr id="11" name="태그칩"/>
          <p:cNvSpPr/>
          <p:nvPr/>
        </p:nvSpPr>
        <p:spPr>
          <a:xfrm>
            <a:off x="378820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78820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1203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중심 AI 활용 촉구(UN 인권이사회, ’25.6)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인권침해 위험과 창출가치 균형 필요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503861"/>
            <a:ext cx="580696" cy="662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3861"/>
            <a:ext cx="580696" cy="662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디지털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권리보장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머리칸"/>
          <p:cNvSpPr/>
          <p:nvPr/>
        </p:nvSpPr>
        <p:spPr>
          <a:xfrm>
            <a:off x="1347652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수도정보는 쉽고 편리하게 접근</a:t>
            </a:r>
          </a:p>
        </p:txBody>
      </p:sp>
      <p:sp>
        <p:nvSpPr>
          <p:cNvPr id="24" name="머리칸"/>
          <p:cNvSpPr/>
          <p:nvPr/>
        </p:nvSpPr>
        <p:spPr>
          <a:xfrm>
            <a:off x="4171696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인명사고 발생은 미리 탐지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76681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수도정보 대화형 플랫폼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취약계층 대상 AI 보이스 상담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76681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공공-민간 데이터 기반 사회안전망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독거노인 고독사 예방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4171696" y="1799687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틀"/>
          <p:cNvSpPr/>
          <p:nvPr/>
        </p:nvSpPr>
        <p:spPr>
          <a:xfrm>
            <a:off x="723130" y="2237948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248904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248904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</p:txBody>
      </p:sp>
      <p:sp>
        <p:nvSpPr>
          <p:cNvPr id="32" name="칸 제목 띠"/>
          <p:cNvSpPr/>
          <p:nvPr/>
        </p:nvSpPr>
        <p:spPr>
          <a:xfrm>
            <a:off x="1380522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칸 제목"/>
          <p:cNvSpPr>
            <a:spLocks noGrp="1"/>
          </p:cNvSpPr>
          <p:nvPr>
            <p:ph type="body" sz="quarter" idx="31"/>
          </p:nvPr>
        </p:nvSpPr>
        <p:spPr>
          <a:xfrm>
            <a:off x="1380522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윤리에 대해 고민하고</a:t>
            </a:r>
          </a:p>
        </p:txBody>
      </p:sp>
      <p:sp>
        <p:nvSpPr>
          <p:cNvPr id="34" name="삼각 화살표"/>
          <p:cNvSpPr/>
          <p:nvPr/>
        </p:nvSpPr>
        <p:spPr>
          <a:xfrm>
            <a:off x="2236956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91478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지표개선(’25.10)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‘디지털윤리·AI 책임성’ 지표 신설</a:t>
            </a:r>
          </a:p>
        </p:txBody>
      </p:sp>
      <p:sp>
        <p:nvSpPr>
          <p:cNvPr id="36" name="칸 제목 띠"/>
          <p:cNvSpPr/>
          <p:nvPr/>
        </p:nvSpPr>
        <p:spPr>
          <a:xfrm>
            <a:off x="3257739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칸 제목"/>
          <p:cNvSpPr>
            <a:spLocks noGrp="1"/>
          </p:cNvSpPr>
          <p:nvPr>
            <p:ph type="body" sz="quarter" idx="33"/>
          </p:nvPr>
        </p:nvSpPr>
        <p:spPr>
          <a:xfrm>
            <a:off x="3257739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올바른 원칙을 정착하고</a:t>
            </a:r>
          </a:p>
        </p:txBody>
      </p:sp>
      <p:sp>
        <p:nvSpPr>
          <p:cNvPr id="38" name="삼각 화살표"/>
          <p:cNvSpPr/>
          <p:nvPr/>
        </p:nvSpPr>
        <p:spPr>
          <a:xfrm>
            <a:off x="4114173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68696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「생성형 AI 업무 활용 가이드북」 발간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「인공지능 관리규정」 도입 추진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235826" y="2522817"/>
            <a:ext cx="0" cy="821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제목 띠"/>
          <p:cNvSpPr/>
          <p:nvPr/>
        </p:nvSpPr>
        <p:spPr>
          <a:xfrm>
            <a:off x="5134957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칸 제목"/>
          <p:cNvSpPr>
            <a:spLocks noGrp="1"/>
          </p:cNvSpPr>
          <p:nvPr>
            <p:ph type="body" sz="quarter" idx="35"/>
          </p:nvPr>
        </p:nvSpPr>
        <p:spPr>
          <a:xfrm>
            <a:off x="5134957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AI의 안전한 활용까지</a:t>
            </a:r>
          </a:p>
        </p:txBody>
      </p:sp>
      <p:sp>
        <p:nvSpPr>
          <p:cNvPr id="43" name="삼각 화살표"/>
          <p:cNvSpPr/>
          <p:nvPr/>
        </p:nvSpPr>
        <p:spPr>
          <a:xfrm>
            <a:off x="5991391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5145913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민원처리시스템 추진(’25.11)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고객과 직원 모두 인권보호</a:t>
            </a:r>
          </a:p>
        </p:txBody>
      </p:sp>
      <p:cxnSp>
        <p:nvCxnSpPr>
          <p:cNvPr id="45" name="Connector 33"/>
          <p:cNvCxnSpPr/>
          <p:nvPr/>
        </p:nvCxnSpPr>
        <p:spPr>
          <a:xfrm>
            <a:off x="5113043" y="2522817"/>
            <a:ext cx="0" cy="821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표 외곽"/>
          <p:cNvSpPr/>
          <p:nvPr/>
        </p:nvSpPr>
        <p:spPr>
          <a:xfrm>
            <a:off x="723130" y="3432209"/>
            <a:ext cx="6300000" cy="11203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734087" y="3448643"/>
            <a:ext cx="580696" cy="10875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448643"/>
            <a:ext cx="580696" cy="10875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새로운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가치창출</a:t>
            </a:r>
          </a:p>
        </p:txBody>
      </p:sp>
      <p:sp>
        <p:nvSpPr>
          <p:cNvPr id="49" name="배너"/>
          <p:cNvSpPr/>
          <p:nvPr/>
        </p:nvSpPr>
        <p:spPr>
          <a:xfrm>
            <a:off x="1347652" y="347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배너"/>
          <p:cNvSpPr>
            <a:spLocks noGrp="1"/>
          </p:cNvSpPr>
          <p:nvPr>
            <p:ph type="body" sz="quarter" idx="38"/>
          </p:nvPr>
        </p:nvSpPr>
        <p:spPr>
          <a:xfrm>
            <a:off x="1347652" y="347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환경정보 디지털 허브에서 새롭게 누리는 우리 국토</a:t>
            </a:r>
          </a:p>
        </p:txBody>
      </p:sp>
      <p:sp>
        <p:nvSpPr>
          <p:cNvPr id="51" name="단계"/>
          <p:cNvSpPr/>
          <p:nvPr/>
        </p:nvSpPr>
        <p:spPr>
          <a:xfrm>
            <a:off x="1347652" y="37061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정보접근 누구나 알 수 있고</a:t>
            </a:r>
          </a:p>
        </p:txBody>
      </p:sp>
      <p:sp>
        <p:nvSpPr>
          <p:cNvPr id="53" name="단계"/>
          <p:cNvSpPr/>
          <p:nvPr/>
        </p:nvSpPr>
        <p:spPr>
          <a:xfrm>
            <a:off x="3230348" y="37061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안전보호 위험을 감지하고</a:t>
            </a:r>
          </a:p>
        </p:txBody>
      </p:sp>
      <p:sp>
        <p:nvSpPr>
          <p:cNvPr id="55" name="단계"/>
          <p:cNvSpPr/>
          <p:nvPr/>
        </p:nvSpPr>
        <p:spPr>
          <a:xfrm>
            <a:off x="5113043" y="37061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친수공간 심신 회복도 함께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3230347" y="37061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5113043" y="37061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댐·강·하천 전문정보부터 생활 밀착 서비스까지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초단기 기상데이터 활용 온도 예측 고도화</a:t>
            </a:r>
          </a:p>
        </p:txBody>
      </p:sp>
      <p:cxnSp>
        <p:nvCxnSpPr>
          <p:cNvPr id="61" name="Connector 44"/>
          <p:cNvCxnSpPr/>
          <p:nvPr/>
        </p:nvCxnSpPr>
        <p:spPr>
          <a:xfrm>
            <a:off x="3230348" y="39909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물·철도·문화 데이터 융합 서비스</a:t>
            </a:r>
          </a:p>
        </p:txBody>
      </p:sp>
      <p:cxnSp>
        <p:nvCxnSpPr>
          <p:cNvPr id="63" name="Connector 46"/>
          <p:cNvCxnSpPr/>
          <p:nvPr/>
        </p:nvCxnSpPr>
        <p:spPr>
          <a:xfrm>
            <a:off x="5113043" y="39909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배너"/>
          <p:cNvSpPr/>
          <p:nvPr/>
        </p:nvSpPr>
        <p:spPr>
          <a:xfrm>
            <a:off x="1347652" y="43115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5"/>
          </p:nvPr>
        </p:nvSpPr>
        <p:spPr>
          <a:xfrm>
            <a:off x="1347652" y="43115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개방 확대(1,137 → 1,164건), 대국민 활용 활성화</a:t>
            </a:r>
          </a:p>
        </p:txBody>
      </p:sp>
      <p:sp>
        <p:nvSpPr>
          <p:cNvPr id="66" name="핵심성과 박스"/>
          <p:cNvSpPr/>
          <p:nvPr/>
        </p:nvSpPr>
        <p:spPr>
          <a:xfrm>
            <a:off x="723130" y="46402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핵심성과 라벨"/>
          <p:cNvSpPr/>
          <p:nvPr/>
        </p:nvSpPr>
        <p:spPr>
          <a:xfrm>
            <a:off x="756000" y="46731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756000" y="46731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9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501043" y="46621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인권영향평가 ‘디지털 윤리 및 AI 책임성’ 지표 신설·만점 획득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인권경영지수 매우우수(AA) 등급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5 서사 · 정책기조 → 일자리 환경 → 시사점 → 전략 → 실행체계(PDCA) → 대표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기회를 확장하고 성장을 견인하며 모두를 포용하는 일자리 전략</a:t>
            </a:r>
          </a:p>
        </p:txBody>
      </p:sp>
      <p:sp>
        <p:nvSpPr>
          <p:cNvPr id="15" name="배너"/>
          <p:cNvSpPr/>
          <p:nvPr/>
        </p:nvSpPr>
        <p:spPr>
          <a:xfrm>
            <a:off x="536870" y="11285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6" name="Connector 12"/>
          <p:cNvCxnSpPr/>
          <p:nvPr/>
        </p:nvCxnSpPr>
        <p:spPr>
          <a:xfrm>
            <a:off x="536870" y="11285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7" name="배너 글"/>
          <p:cNvSpPr>
            <a:spLocks noGrp="1"/>
          </p:cNvSpPr>
          <p:nvPr>
            <p:ph type="body" sz="quarter" idx="22"/>
          </p:nvPr>
        </p:nvSpPr>
        <p:spPr>
          <a:xfrm>
            <a:off x="536870" y="11833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정책기조에 부합하고, 고용 여건에 선제적으로 대응하기 위한 일자리 전략 재정립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501043"/>
            <a:ext cx="6300000" cy="2079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517478"/>
            <a:ext cx="580696" cy="854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517478"/>
            <a:ext cx="580696" cy="85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조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561304"/>
            <a:ext cx="77400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4"/>
          </p:nvPr>
        </p:nvSpPr>
        <p:spPr>
          <a:xfrm>
            <a:off x="1161391" y="1561304"/>
            <a:ext cx="7740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96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5"/>
          </p:nvPr>
        </p:nvSpPr>
        <p:spPr>
          <a:xfrm>
            <a:off x="1979223" y="1550348"/>
            <a:ext cx="483025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통합과 성장의 혁신적 일자리정책을 통해 청년·민간·취약계층 전반의 고용 확대 추진</a:t>
            </a:r>
          </a:p>
        </p:txBody>
      </p:sp>
      <p:sp>
        <p:nvSpPr>
          <p:cNvPr id="24" name="머리칸"/>
          <p:cNvSpPr/>
          <p:nvPr/>
        </p:nvSpPr>
        <p:spPr>
          <a:xfrm>
            <a:off x="1161391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공정과 신뢰</a:t>
            </a:r>
          </a:p>
        </p:txBody>
      </p:sp>
      <p:sp>
        <p:nvSpPr>
          <p:cNvPr id="26" name="머리칸"/>
          <p:cNvSpPr/>
          <p:nvPr/>
        </p:nvSpPr>
        <p:spPr>
          <a:xfrm>
            <a:off x="3044087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실용과 성과</a:t>
            </a:r>
          </a:p>
        </p:txBody>
      </p:sp>
      <p:sp>
        <p:nvSpPr>
          <p:cNvPr id="28" name="머리칸"/>
          <p:cNvSpPr/>
          <p:nvPr/>
        </p:nvSpPr>
        <p:spPr>
          <a:xfrm>
            <a:off x="4926783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경청과 통합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모두에게 공정한 일 경험 기회 제공 강조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현장에서 체감할 수 있는 일자리 창출 성과 필요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044087" y="20488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소외계층까지 모두를 아우르는 고용환경 조성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4926783" y="20488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547826" y="2388522"/>
            <a:ext cx="580696" cy="619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388522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일자리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547826" y="238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머리칸"/>
          <p:cNvSpPr/>
          <p:nvPr/>
        </p:nvSpPr>
        <p:spPr>
          <a:xfrm>
            <a:off x="1161391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</a:t>
            </a:r>
          </a:p>
        </p:txBody>
      </p:sp>
      <p:sp>
        <p:nvSpPr>
          <p:cNvPr id="40" name="머리칸"/>
          <p:cNvSpPr/>
          <p:nvPr/>
        </p:nvSpPr>
        <p:spPr>
          <a:xfrm>
            <a:off x="3044087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</a:t>
            </a:r>
          </a:p>
        </p:txBody>
      </p:sp>
      <p:sp>
        <p:nvSpPr>
          <p:cNvPr id="42" name="머리칸"/>
          <p:cNvSpPr/>
          <p:nvPr/>
        </p:nvSpPr>
        <p:spPr>
          <a:xfrm>
            <a:off x="4926783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사회형평 일자리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취업시장 한파 속 ‘쉬었음’ 청년인구 급증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위축과 지역 일자리 감소로 고용환경 악화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3044087" y="2684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노동시장 양극화 심화로 취약계층 고용접근성 저하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4926783" y="2684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547826" y="3024000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302400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우리는?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547826" y="3024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청년채용·인턴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재직단계 편중 인턴 관리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일자리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전반으로 확산은 부족</a:t>
            </a:r>
          </a:p>
        </p:txBody>
      </p:sp>
      <p:cxnSp>
        <p:nvCxnSpPr>
          <p:cNvPr id="54" name="Connector 40"/>
          <p:cNvCxnSpPr/>
          <p:nvPr/>
        </p:nvCxnSpPr>
        <p:spPr>
          <a:xfrm>
            <a:off x="3044087" y="307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 대상 제도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실효성 있는 성과연계 미흡</a:t>
            </a:r>
          </a:p>
        </p:txBody>
      </p:sp>
      <p:cxnSp>
        <p:nvCxnSpPr>
          <p:cNvPr id="56" name="Connector 42"/>
          <p:cNvCxnSpPr/>
          <p:nvPr/>
        </p:nvCxnSpPr>
        <p:spPr>
          <a:xfrm>
            <a:off x="4926783" y="307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캡션 띠"/>
          <p:cNvSpPr/>
          <p:nvPr/>
        </p:nvSpPr>
        <p:spPr>
          <a:xfrm>
            <a:off x="536869" y="36020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태그"/>
          <p:cNvSpPr/>
          <p:nvPr/>
        </p:nvSpPr>
        <p:spPr>
          <a:xfrm>
            <a:off x="865565" y="3645861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태그"/>
          <p:cNvSpPr>
            <a:spLocks noGrp="1"/>
          </p:cNvSpPr>
          <p:nvPr>
            <p:ph type="body" sz="quarter" idx="43"/>
          </p:nvPr>
        </p:nvSpPr>
        <p:spPr>
          <a:xfrm>
            <a:off x="865565" y="3645861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60" name="캡션"/>
          <p:cNvSpPr>
            <a:spLocks noGrp="1"/>
          </p:cNvSpPr>
          <p:nvPr>
            <p:ph type="body" sz="quarter" idx="44"/>
          </p:nvPr>
        </p:nvSpPr>
        <p:spPr>
          <a:xfrm>
            <a:off x="1359219" y="3602035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청년에게는 기회를, 민간에게는 활력을, 취약계층에는 희망을 주는 일자리 창출</a:t>
            </a:r>
          </a:p>
        </p:txBody>
      </p:sp>
      <p:sp>
        <p:nvSpPr>
          <p:cNvPr id="61" name="표 외곽"/>
          <p:cNvSpPr/>
          <p:nvPr/>
        </p:nvSpPr>
        <p:spPr>
          <a:xfrm>
            <a:off x="536870" y="3908817"/>
            <a:ext cx="6300000" cy="197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"/>
          <p:cNvSpPr/>
          <p:nvPr/>
        </p:nvSpPr>
        <p:spPr>
          <a:xfrm>
            <a:off x="547826" y="3925252"/>
            <a:ext cx="580696" cy="520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3925252"/>
            <a:ext cx="580696" cy="520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</p:txBody>
      </p:sp>
      <p:sp>
        <p:nvSpPr>
          <p:cNvPr id="64" name="단계"/>
          <p:cNvSpPr/>
          <p:nvPr/>
        </p:nvSpPr>
        <p:spPr>
          <a:xfrm>
            <a:off x="1161391" y="39471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 확대</a:t>
            </a:r>
          </a:p>
        </p:txBody>
      </p:sp>
      <p:sp>
        <p:nvSpPr>
          <p:cNvPr id="66" name="단계"/>
          <p:cNvSpPr/>
          <p:nvPr/>
        </p:nvSpPr>
        <p:spPr>
          <a:xfrm>
            <a:off x="3044087" y="39471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7"/>
          </p:nvPr>
        </p:nvSpPr>
        <p:spPr>
          <a:xfrm>
            <a:off x="3044087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 창출</a:t>
            </a:r>
          </a:p>
        </p:txBody>
      </p:sp>
      <p:sp>
        <p:nvSpPr>
          <p:cNvPr id="68" name="단계"/>
          <p:cNvSpPr/>
          <p:nvPr/>
        </p:nvSpPr>
        <p:spPr>
          <a:xfrm>
            <a:off x="4926783" y="39471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8"/>
          </p:nvPr>
        </p:nvSpPr>
        <p:spPr>
          <a:xfrm>
            <a:off x="4926783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사회형평 일자리 혁신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044086" y="39471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4926782" y="39471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공정한 진입과 성장 지원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055043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적극적 투자와 확산 견인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3044087" y="4232035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빠짐없이 모두를 포용</a:t>
            </a:r>
          </a:p>
        </p:txBody>
      </p:sp>
      <p:cxnSp>
        <p:nvCxnSpPr>
          <p:cNvPr id="76" name="Connector 57"/>
          <p:cNvCxnSpPr/>
          <p:nvPr/>
        </p:nvCxnSpPr>
        <p:spPr>
          <a:xfrm>
            <a:off x="4926783" y="4232035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547826" y="4462122"/>
            <a:ext cx="580696" cy="553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4462122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547826" y="44621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고용안전망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성장형 청년인턴십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채용서비스 제공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전주기 밀착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선순환 투자생태계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기반 상생일자리 창출</a:t>
            </a:r>
          </a:p>
        </p:txBody>
      </p:sp>
      <p:cxnSp>
        <p:nvCxnSpPr>
          <p:cNvPr id="82" name="Connector 62"/>
          <p:cNvCxnSpPr/>
          <p:nvPr/>
        </p:nvCxnSpPr>
        <p:spPr>
          <a:xfrm>
            <a:off x="3044087" y="451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고용구조의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포용 채용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여성 인사관리</a:t>
            </a:r>
          </a:p>
        </p:txBody>
      </p:sp>
      <p:cxnSp>
        <p:nvCxnSpPr>
          <p:cNvPr id="84" name="Connector 64"/>
          <p:cNvCxnSpPr/>
          <p:nvPr/>
        </p:nvCxnSpPr>
        <p:spPr>
          <a:xfrm>
            <a:off x="4926783" y="451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레일"/>
          <p:cNvSpPr/>
          <p:nvPr/>
        </p:nvSpPr>
        <p:spPr>
          <a:xfrm>
            <a:off x="547826" y="5031861"/>
            <a:ext cx="580696" cy="838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6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5031861"/>
            <a:ext cx="580696" cy="83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87" name="레일 삼각형"/>
          <p:cNvSpPr/>
          <p:nvPr/>
        </p:nvSpPr>
        <p:spPr>
          <a:xfrm>
            <a:off x="547826" y="50318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태그"/>
          <p:cNvSpPr/>
          <p:nvPr/>
        </p:nvSpPr>
        <p:spPr>
          <a:xfrm>
            <a:off x="1161391" y="5075687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9" name="태그"/>
          <p:cNvSpPr>
            <a:spLocks noGrp="1"/>
          </p:cNvSpPr>
          <p:nvPr>
            <p:ph type="body" sz="quarter" idx="57"/>
          </p:nvPr>
        </p:nvSpPr>
        <p:spPr>
          <a:xfrm>
            <a:off x="1161391" y="5075687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PLAN</a:t>
            </a:r>
          </a:p>
        </p:txBody>
      </p:sp>
      <p:sp>
        <p:nvSpPr>
          <p:cNvPr id="90" name="태그 설명"/>
          <p:cNvSpPr>
            <a:spLocks noGrp="1"/>
          </p:cNvSpPr>
          <p:nvPr>
            <p:ph type="body" sz="quarter" idx="58"/>
          </p:nvPr>
        </p:nvSpPr>
        <p:spPr>
          <a:xfrm>
            <a:off x="1781891" y="5064730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경영전략-ESG 전략과 연계한 ‘일자리 창출 계획’ 수립</a:t>
            </a:r>
          </a:p>
        </p:txBody>
      </p:sp>
      <p:sp>
        <p:nvSpPr>
          <p:cNvPr id="91" name="태그"/>
          <p:cNvSpPr/>
          <p:nvPr/>
        </p:nvSpPr>
        <p:spPr>
          <a:xfrm>
            <a:off x="1161391" y="5272904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2" name="태그"/>
          <p:cNvSpPr>
            <a:spLocks noGrp="1"/>
          </p:cNvSpPr>
          <p:nvPr>
            <p:ph type="body" sz="quarter" idx="59"/>
          </p:nvPr>
        </p:nvSpPr>
        <p:spPr>
          <a:xfrm>
            <a:off x="1161391" y="5272904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DO</a:t>
            </a:r>
          </a:p>
        </p:txBody>
      </p:sp>
      <p:sp>
        <p:nvSpPr>
          <p:cNvPr id="93" name="태그 설명"/>
          <p:cNvSpPr>
            <a:spLocks noGrp="1"/>
          </p:cNvSpPr>
          <p:nvPr>
            <p:ph type="body" sz="quarter" idx="60"/>
          </p:nvPr>
        </p:nvSpPr>
        <p:spPr>
          <a:xfrm>
            <a:off x="1781891" y="5261948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중심 외부 의견수렴 및 장애 고용TF 보강</a:t>
            </a:r>
          </a:p>
        </p:txBody>
      </p:sp>
      <p:sp>
        <p:nvSpPr>
          <p:cNvPr id="94" name="태그"/>
          <p:cNvSpPr/>
          <p:nvPr/>
        </p:nvSpPr>
        <p:spPr>
          <a:xfrm>
            <a:off x="1161391" y="5470122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5" name="태그"/>
          <p:cNvSpPr>
            <a:spLocks noGrp="1"/>
          </p:cNvSpPr>
          <p:nvPr>
            <p:ph type="body" sz="quarter" idx="61"/>
          </p:nvPr>
        </p:nvSpPr>
        <p:spPr>
          <a:xfrm>
            <a:off x="1161391" y="5470122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CHECK</a:t>
            </a:r>
          </a:p>
        </p:txBody>
      </p:sp>
      <p:sp>
        <p:nvSpPr>
          <p:cNvPr id="96" name="태그 설명"/>
          <p:cNvSpPr>
            <a:spLocks noGrp="1"/>
          </p:cNvSpPr>
          <p:nvPr>
            <p:ph type="body" sz="quarter" idx="62"/>
          </p:nvPr>
        </p:nvSpPr>
        <p:spPr>
          <a:xfrm>
            <a:off x="1781891" y="5459165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성과지표(KPI)를 통한 고용성과 종합점검</a:t>
            </a:r>
          </a:p>
        </p:txBody>
      </p:sp>
      <p:sp>
        <p:nvSpPr>
          <p:cNvPr id="97" name="태그"/>
          <p:cNvSpPr/>
          <p:nvPr/>
        </p:nvSpPr>
        <p:spPr>
          <a:xfrm>
            <a:off x="1161391" y="5667339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8" name="태그"/>
          <p:cNvSpPr>
            <a:spLocks noGrp="1"/>
          </p:cNvSpPr>
          <p:nvPr>
            <p:ph type="body" sz="quarter" idx="63"/>
          </p:nvPr>
        </p:nvSpPr>
        <p:spPr>
          <a:xfrm>
            <a:off x="1161391" y="5667339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ACT</a:t>
            </a:r>
          </a:p>
        </p:txBody>
      </p:sp>
      <p:sp>
        <p:nvSpPr>
          <p:cNvPr id="99" name="태그 설명"/>
          <p:cNvSpPr>
            <a:spLocks noGrp="1"/>
          </p:cNvSpPr>
          <p:nvPr>
            <p:ph type="body" sz="quarter" idx="64"/>
          </p:nvPr>
        </p:nvSpPr>
        <p:spPr>
          <a:xfrm>
            <a:off x="1781891" y="5656383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 반영을 통해 추진성과 환류</a:t>
            </a:r>
          </a:p>
        </p:txBody>
      </p:sp>
      <p:sp>
        <p:nvSpPr>
          <p:cNvPr id="100" name="핵심성과 박스"/>
          <p:cNvSpPr/>
          <p:nvPr/>
        </p:nvSpPr>
        <p:spPr>
          <a:xfrm>
            <a:off x="536870" y="5974122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1" name="핵심성과 라벨"/>
          <p:cNvSpPr/>
          <p:nvPr/>
        </p:nvSpPr>
        <p:spPr>
          <a:xfrm>
            <a:off x="569739" y="6006991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2" name="핵심성과 라벨"/>
          <p:cNvSpPr>
            <a:spLocks noGrp="1"/>
          </p:cNvSpPr>
          <p:nvPr>
            <p:ph type="body" sz="quarter" idx="65"/>
          </p:nvPr>
        </p:nvSpPr>
        <p:spPr>
          <a:xfrm>
            <a:off x="569739" y="600699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대표성과</a:t>
            </a:r>
          </a:p>
        </p:txBody>
      </p:sp>
      <p:sp>
        <p:nvSpPr>
          <p:cNvPr id="103" name="핵심성과 문구"/>
          <p:cNvSpPr>
            <a:spLocks noGrp="1"/>
          </p:cNvSpPr>
          <p:nvPr>
            <p:ph type="body" sz="quarter" idx="66"/>
          </p:nvPr>
        </p:nvSpPr>
        <p:spPr>
          <a:xfrm>
            <a:off x="1314783" y="5996035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신규 채용 423명, 인턴 출신 정규직 채용률 15.7%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민간일자리 2,549개 창출, 장애 고용률 3.8%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6 서사 · 문제인식 → 시사점 → 채용여력 확보 → 안정적 채용운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빠르게, 더 자주, 더 공정하게 삼박자 채용 혁신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7082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일자리 기회는 넓히고, 시기는 앞당겨 기다림 없는 채용 구현</a:t>
            </a:r>
          </a:p>
        </p:txBody>
      </p:sp>
      <p:sp>
        <p:nvSpPr>
          <p:cNvPr id="16" name="태그칩"/>
          <p:cNvSpPr/>
          <p:nvPr/>
        </p:nvSpPr>
        <p:spPr>
          <a:xfrm>
            <a:off x="4529943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529943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081064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081064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542896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
니즈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923417" y="1528435"/>
            <a:ext cx="2237322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공기업에 대한 선호도는 상승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1912461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542896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그러나
현실은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4171696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747461" y="1528435"/>
            <a:ext cx="2237322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정규직 중 청년 비중은 4년만 최저 수준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736504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캡션 띠"/>
          <p:cNvSpPr/>
          <p:nvPr/>
        </p:nvSpPr>
        <p:spPr>
          <a:xfrm>
            <a:off x="723130" y="195307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태그"/>
          <p:cNvSpPr/>
          <p:nvPr/>
        </p:nvSpPr>
        <p:spPr>
          <a:xfrm>
            <a:off x="1051826" y="1996904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1996904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1"/>
          </p:nvPr>
        </p:nvSpPr>
        <p:spPr>
          <a:xfrm>
            <a:off x="1545480" y="1953078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 취업의 첫 문을 여는 조기채용 선도기관으로서 고용 버팀목 역할 주도</a:t>
            </a:r>
          </a:p>
        </p:txBody>
      </p:sp>
      <p:sp>
        <p:nvSpPr>
          <p:cNvPr id="34" name="표 외곽"/>
          <p:cNvSpPr/>
          <p:nvPr/>
        </p:nvSpPr>
        <p:spPr>
          <a:xfrm>
            <a:off x="723130" y="2259861"/>
            <a:ext cx="6300000" cy="2076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734087" y="2276296"/>
            <a:ext cx="580696" cy="89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276296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채용여력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298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298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정책사업 증원</a:t>
            </a:r>
          </a:p>
        </p:txBody>
      </p:sp>
      <p:sp>
        <p:nvSpPr>
          <p:cNvPr id="39" name="머리칸"/>
          <p:cNvSpPr/>
          <p:nvPr/>
        </p:nvSpPr>
        <p:spPr>
          <a:xfrm>
            <a:off x="4171696" y="2298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4171696" y="2298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결원 발생·해소 체계적 관리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53925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수시 신규사업, 직원 케어 기능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정기 AI 혁신, 국민·건설안전 인력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53925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임신~출산~육아휴직 통합신청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복직신청 제도 도입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4171696" y="2572122"/>
            <a:ext cx="0" cy="328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950122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43명 증원 확보(’24년 대비 215%)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2950122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휴직 결원 125명 확보(’24년 대비 128%)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171696" y="2982991"/>
            <a:ext cx="0" cy="153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191165"/>
            <a:ext cx="580696" cy="11285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3191165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채용운영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734086" y="319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347652" y="32130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2130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속도감 있는 채용</a:t>
            </a:r>
          </a:p>
        </p:txBody>
      </p:sp>
      <p:sp>
        <p:nvSpPr>
          <p:cNvPr id="52" name="머리칸"/>
          <p:cNvSpPr/>
          <p:nvPr/>
        </p:nvSpPr>
        <p:spPr>
          <a:xfrm>
            <a:off x="4171696" y="32130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4171696" y="32130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기다림 없는 인력 충원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45412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증원·신사업 확정 즉시 채용 착수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과정 60일 이내 완료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4182652" y="345412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상·중·하반기 공채, 탄력적 채용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 후보자 Pool 활용 공백 최소화</a:t>
            </a:r>
          </a:p>
        </p:txBody>
      </p:sp>
      <p:cxnSp>
        <p:nvCxnSpPr>
          <p:cNvPr id="56" name="Connector 40"/>
          <p:cNvCxnSpPr/>
          <p:nvPr/>
        </p:nvCxnSpPr>
        <p:spPr>
          <a:xfrm>
            <a:off x="4171696" y="3486991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단계"/>
          <p:cNvSpPr/>
          <p:nvPr/>
        </p:nvSpPr>
        <p:spPr>
          <a:xfrm>
            <a:off x="1347652" y="38649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4"/>
          </p:nvPr>
        </p:nvSpPr>
        <p:spPr>
          <a:xfrm>
            <a:off x="1347652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상반기</a:t>
            </a:r>
          </a:p>
        </p:txBody>
      </p:sp>
      <p:sp>
        <p:nvSpPr>
          <p:cNvPr id="59" name="단계"/>
          <p:cNvSpPr/>
          <p:nvPr/>
        </p:nvSpPr>
        <p:spPr>
          <a:xfrm>
            <a:off x="3230348" y="38649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5"/>
          </p:nvPr>
        </p:nvSpPr>
        <p:spPr>
          <a:xfrm>
            <a:off x="3230348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수시</a:t>
            </a:r>
          </a:p>
        </p:txBody>
      </p:sp>
      <p:sp>
        <p:nvSpPr>
          <p:cNvPr id="61" name="단계"/>
          <p:cNvSpPr/>
          <p:nvPr/>
        </p:nvSpPr>
        <p:spPr>
          <a:xfrm>
            <a:off x="5113043" y="38649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6"/>
          </p:nvPr>
        </p:nvSpPr>
        <p:spPr>
          <a:xfrm>
            <a:off x="5113043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하반기</a:t>
            </a:r>
          </a:p>
        </p:txBody>
      </p:sp>
      <p:sp>
        <p:nvSpPr>
          <p:cNvPr id="63" name="단계 삼각형"/>
          <p:cNvSpPr/>
          <p:nvPr/>
        </p:nvSpPr>
        <p:spPr>
          <a:xfrm>
            <a:off x="3230347" y="38649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단계 삼각형"/>
          <p:cNvSpPr/>
          <p:nvPr/>
        </p:nvSpPr>
        <p:spPr>
          <a:xfrm>
            <a:off x="5113043" y="3864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201명(’24.12)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3241304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37명(’25.4)</a:t>
            </a:r>
          </a:p>
        </p:txBody>
      </p:sp>
      <p:cxnSp>
        <p:nvCxnSpPr>
          <p:cNvPr id="67" name="Connector 48"/>
          <p:cNvCxnSpPr/>
          <p:nvPr/>
        </p:nvCxnSpPr>
        <p:spPr>
          <a:xfrm>
            <a:off x="3230348" y="4149861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9"/>
          </p:nvPr>
        </p:nvSpPr>
        <p:spPr>
          <a:xfrm>
            <a:off x="5124000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185명(’25.8)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5113043" y="4149861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핵심성과 박스"/>
          <p:cNvSpPr/>
          <p:nvPr/>
        </p:nvSpPr>
        <p:spPr>
          <a:xfrm>
            <a:off x="723130" y="44237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핵심성과 라벨"/>
          <p:cNvSpPr/>
          <p:nvPr/>
        </p:nvSpPr>
        <p:spPr>
          <a:xfrm>
            <a:off x="756000" y="44566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2" name="핵심성과 라벨"/>
          <p:cNvSpPr>
            <a:spLocks noGrp="1"/>
          </p:cNvSpPr>
          <p:nvPr>
            <p:ph type="body" sz="quarter" idx="50"/>
          </p:nvPr>
        </p:nvSpPr>
        <p:spPr>
          <a:xfrm>
            <a:off x="756000" y="44566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3" name="핵심성과 문구"/>
          <p:cNvSpPr>
            <a:spLocks noGrp="1"/>
          </p:cNvSpPr>
          <p:nvPr>
            <p:ph type="body" sz="quarter" idx="51"/>
          </p:nvPr>
        </p:nvSpPr>
        <p:spPr>
          <a:xfrm>
            <a:off x="1501043" y="44456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정규직 423명 채용(전년比 66.5%↑), 정원대비 청년 채용률 7.2%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4년 연속 SOC군 최초 채용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7 서사 · 추진배경(현업·채용 담당) → 정밀한 직무검증 → 공정성 강화 → 리스크 예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83613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유능한 실무인재 선발을 위한 더 공정한 예방 중심 시스템 구축</a:t>
            </a:r>
          </a:p>
        </p:txBody>
      </p:sp>
      <p:sp>
        <p:nvSpPr>
          <p:cNvPr id="12" name="태그칩"/>
          <p:cNvSpPr/>
          <p:nvPr/>
        </p:nvSpPr>
        <p:spPr>
          <a:xfrm>
            <a:off x="447160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47160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26995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“업무가 빠르게 돌아가는 현업 특성상 즉시 실무 투입 가능한 인재가 필요”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채용담당 “공정 채용을 위한 제도는 다 갖췄는데, 놓치고 있는 사각지대는 없는지 고민”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394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572261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572261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정밀한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직무검증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5722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머리칸"/>
          <p:cNvSpPr/>
          <p:nvPr/>
        </p:nvSpPr>
        <p:spPr>
          <a:xfrm>
            <a:off x="1161391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 직무적합 선발</a:t>
            </a:r>
          </a:p>
        </p:txBody>
      </p:sp>
      <p:sp>
        <p:nvSpPr>
          <p:cNvPr id="25" name="머리칸"/>
          <p:cNvSpPr/>
          <p:nvPr/>
        </p:nvSpPr>
        <p:spPr>
          <a:xfrm>
            <a:off x="3044087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운영직 실무역량 반영</a:t>
            </a:r>
          </a:p>
        </p:txBody>
      </p:sp>
      <p:sp>
        <p:nvSpPr>
          <p:cNvPr id="27" name="머리칸"/>
          <p:cNvSpPr/>
          <p:nvPr/>
        </p:nvSpPr>
        <p:spPr>
          <a:xfrm>
            <a:off x="4926783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전문직 직무역량 평가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총점 40% 미달 과락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직무 40% 미달 과락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관련분야 자격증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관련경력(1년↑)도 인정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044087" y="1868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학술이론 중심 논술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NCS 평가(’25.12 공지)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4926783" y="1868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273478"/>
            <a:ext cx="580696" cy="7602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273478"/>
            <a:ext cx="580696" cy="760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6" name="머리칸"/>
          <p:cNvSpPr/>
          <p:nvPr/>
        </p:nvSpPr>
        <p:spPr>
          <a:xfrm>
            <a:off x="1161391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서류전형 응시기회 확대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성격검사 조직적합 검증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면접전형 평가신뢰 제고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서류 합격 배수 상향: 50배수 → 70배수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성격검사 필수 요건 반영, 미응시자 제한</a:t>
            </a:r>
          </a:p>
        </p:txBody>
      </p:sp>
      <p:cxnSp>
        <p:nvCxnSpPr>
          <p:cNvPr id="44" name="Connector 30"/>
          <p:cNvCxnSpPr/>
          <p:nvPr/>
        </p:nvCxnSpPr>
        <p:spPr>
          <a:xfrm>
            <a:off x="3044087" y="25693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면접관 사전교육 내실화: 단순 유의사항(2h) → 블라인드·평가사례(5h)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4926783" y="25693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547826" y="3050139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305013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 방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547826" y="30501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161391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유출방지 3단계 필터링</a:t>
            </a:r>
          </a:p>
        </p:txBody>
      </p:sp>
      <p:sp>
        <p:nvSpPr>
          <p:cNvPr id="52" name="머리칸"/>
          <p:cNvSpPr/>
          <p:nvPr/>
        </p:nvSpPr>
        <p:spPr>
          <a:xfrm>
            <a:off x="3044087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서류검증 인적오류 방지</a:t>
            </a:r>
          </a:p>
        </p:txBody>
      </p:sp>
      <p:sp>
        <p:nvSpPr>
          <p:cNvPr id="54" name="머리칸"/>
          <p:cNvSpPr/>
          <p:nvPr/>
        </p:nvSpPr>
        <p:spPr>
          <a:xfrm>
            <a:off x="4926783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취약 포인트 통제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출제과정 단계별 보안관리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출제→선별→검수단계 분리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경력서류 교차검증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건강보험증명+경력증명서</a:t>
            </a:r>
          </a:p>
        </p:txBody>
      </p:sp>
      <p:cxnSp>
        <p:nvCxnSpPr>
          <p:cNvPr id="58" name="Connector 40"/>
          <p:cNvCxnSpPr/>
          <p:nvPr/>
        </p:nvCxnSpPr>
        <p:spPr>
          <a:xfrm>
            <a:off x="3044087" y="33459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시험관계자 물리적 통제실시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 종료시까지 합숙</a:t>
            </a:r>
          </a:p>
        </p:txBody>
      </p:sp>
      <p:cxnSp>
        <p:nvCxnSpPr>
          <p:cNvPr id="60" name="Connector 42"/>
          <p:cNvCxnSpPr/>
          <p:nvPr/>
        </p:nvCxnSpPr>
        <p:spPr>
          <a:xfrm>
            <a:off x="4926783" y="33459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핵심성과 박스"/>
          <p:cNvSpPr/>
          <p:nvPr/>
        </p:nvSpPr>
        <p:spPr>
          <a:xfrm>
            <a:off x="536870" y="3839009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핵심성과 라벨"/>
          <p:cNvSpPr/>
          <p:nvPr/>
        </p:nvSpPr>
        <p:spPr>
          <a:xfrm>
            <a:off x="569739" y="3871878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3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3871878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4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860922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직원 대상 ‘채용 합리성’ 만족도 85.2점(’24년 대비 0.5점↑)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 심사기관 ‘블라인드 공정채용’ 3년 연속 인증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8 서사 · 문제인식 → 방향설정 → 재직 단계(탭 카드) → 수료 단계(지속 지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함께 미래를 열어갈 인재를 미리 만나는 청년 인턴십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번호 띠 칩"/>
          <p:cNvSpPr/>
          <p:nvPr/>
        </p:nvSpPr>
        <p:spPr>
          <a:xfrm>
            <a:off x="5086269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번호 띠 칩"/>
          <p:cNvSpPr>
            <a:spLocks noGrp="1"/>
          </p:cNvSpPr>
          <p:nvPr>
            <p:ph type="body" sz="quarter" idx="24"/>
          </p:nvPr>
        </p:nvSpPr>
        <p:spPr>
          <a:xfrm>
            <a:off x="5086269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128522"/>
            <a:ext cx="6300000" cy="1050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144957"/>
            <a:ext cx="580696" cy="616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144957"/>
            <a:ext cx="580696" cy="616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23" name="단계"/>
          <p:cNvSpPr/>
          <p:nvPr/>
        </p:nvSpPr>
        <p:spPr>
          <a:xfrm>
            <a:off x="1347652" y="1166870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16687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</a:t>
            </a:r>
          </a:p>
        </p:txBody>
      </p:sp>
      <p:sp>
        <p:nvSpPr>
          <p:cNvPr id="25" name="단계"/>
          <p:cNvSpPr/>
          <p:nvPr/>
        </p:nvSpPr>
        <p:spPr>
          <a:xfrm>
            <a:off x="4171696" y="1166870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171696" y="116687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현황 진단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4171695" y="116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418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인턴제도의 실효성을 강화하고, 수료 이후에도 지속 지원 필요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418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입사 증가로 청년인턴을 미래 구성원으로 운영 필요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4171696" y="1451739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1777774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777774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17777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347652" y="1799687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7996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정규직 연계 채용 중심</a:t>
            </a:r>
          </a:p>
        </p:txBody>
      </p:sp>
      <p:sp>
        <p:nvSpPr>
          <p:cNvPr id="36" name="단계"/>
          <p:cNvSpPr/>
          <p:nvPr/>
        </p:nvSpPr>
        <p:spPr>
          <a:xfrm>
            <a:off x="4171696" y="1799687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4171696" y="17996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조직의 미래인재로 관리하는 인턴십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4171695" y="17996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 txBox="1"/>
          <p:nvPr/>
        </p:nvSpPr>
        <p:spPr>
          <a:xfrm>
            <a:off x="1358609" y="2051687"/>
            <a:ext cx="2802130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0" name="칸 본문"/>
          <p:cNvSpPr txBox="1"/>
          <p:nvPr/>
        </p:nvSpPr>
        <p:spPr>
          <a:xfrm>
            <a:off x="4182652" y="2051687"/>
            <a:ext cx="2802130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1" name="Connector 26"/>
          <p:cNvCxnSpPr/>
          <p:nvPr/>
        </p:nvCxnSpPr>
        <p:spPr>
          <a:xfrm flipV="1">
            <a:off x="4171696" y="2062643"/>
            <a:ext cx="0" cy="2191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아이콘 칸"/>
          <p:cNvSpPr/>
          <p:nvPr/>
        </p:nvSpPr>
        <p:spPr>
          <a:xfrm>
            <a:off x="723130" y="2277704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3" name="태그"/>
          <p:cNvSpPr/>
          <p:nvPr/>
        </p:nvSpPr>
        <p:spPr>
          <a:xfrm>
            <a:off x="942261" y="2277704"/>
            <a:ext cx="57791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4" name="태그"/>
          <p:cNvSpPr>
            <a:spLocks noGrp="1"/>
          </p:cNvSpPr>
          <p:nvPr>
            <p:ph type="body" sz="quarter" idx="33"/>
          </p:nvPr>
        </p:nvSpPr>
        <p:spPr>
          <a:xfrm>
            <a:off x="942261" y="2277704"/>
            <a:ext cx="5779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재직 단계</a:t>
            </a:r>
          </a:p>
        </p:txBody>
      </p:sp>
      <p:sp>
        <p:nvSpPr>
          <p:cNvPr id="45" name="그룹 제목"/>
          <p:cNvSpPr>
            <a:spLocks noGrp="1"/>
          </p:cNvSpPr>
          <p:nvPr>
            <p:ph type="body" sz="quarter" idx="34"/>
          </p:nvPr>
        </p:nvSpPr>
        <p:spPr>
          <a:xfrm>
            <a:off x="1563998" y="2255791"/>
            <a:ext cx="5437219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인재를 조기에 발굴해 실무형 인재로 성장시키는 전과정 개편</a:t>
            </a:r>
          </a:p>
        </p:txBody>
      </p:sp>
      <p:sp>
        <p:nvSpPr>
          <p:cNvPr id="46" name="카드 틀"/>
          <p:cNvSpPr/>
          <p:nvPr/>
        </p:nvSpPr>
        <p:spPr>
          <a:xfrm>
            <a:off x="723130" y="2507791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탭"/>
          <p:cNvSpPr/>
          <p:nvPr/>
        </p:nvSpPr>
        <p:spPr>
          <a:xfrm>
            <a:off x="723130" y="2507791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탭"/>
          <p:cNvSpPr>
            <a:spLocks noGrp="1"/>
          </p:cNvSpPr>
          <p:nvPr>
            <p:ph type="body" sz="quarter" idx="35"/>
          </p:nvPr>
        </p:nvSpPr>
        <p:spPr>
          <a:xfrm>
            <a:off x="723130" y="2507791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</a:t>
            </a:r>
          </a:p>
        </p:txBody>
      </p:sp>
      <p:sp>
        <p:nvSpPr>
          <p:cNvPr id="49" name="카드 제목"/>
          <p:cNvSpPr>
            <a:spLocks noGrp="1"/>
          </p:cNvSpPr>
          <p:nvPr>
            <p:ph type="body" sz="quarter" idx="36"/>
          </p:nvPr>
        </p:nvSpPr>
        <p:spPr>
          <a:xfrm>
            <a:off x="1172348" y="2507791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직무역량 위주</a:t>
            </a:r>
          </a:p>
        </p:txBody>
      </p:sp>
      <p:sp>
        <p:nvSpPr>
          <p:cNvPr id="50" name="카드 본문"/>
          <p:cNvSpPr>
            <a:spLocks noGrp="1"/>
          </p:cNvSpPr>
          <p:nvPr>
            <p:ph type="body" sz="quarter" idx="37"/>
          </p:nvPr>
        </p:nvSpPr>
        <p:spPr>
          <a:xfrm>
            <a:off x="745043" y="2737878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전부서 직무 단위로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중심의 면접 평가 개편</a:t>
            </a:r>
          </a:p>
        </p:txBody>
      </p:sp>
      <p:sp>
        <p:nvSpPr>
          <p:cNvPr id="51" name="카드 요약"/>
          <p:cNvSpPr/>
          <p:nvPr/>
        </p:nvSpPr>
        <p:spPr>
          <a:xfrm>
            <a:off x="723130" y="3296661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2" name="카드 요약"/>
          <p:cNvSpPr>
            <a:spLocks noGrp="1"/>
          </p:cNvSpPr>
          <p:nvPr>
            <p:ph type="body" sz="quarter" idx="38"/>
          </p:nvPr>
        </p:nvSpPr>
        <p:spPr>
          <a:xfrm>
            <a:off x="723130" y="3296661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114개 직무, 621명 채용(’24년 대비 7.4%↑)</a:t>
            </a:r>
          </a:p>
        </p:txBody>
      </p:sp>
      <p:sp>
        <p:nvSpPr>
          <p:cNvPr id="53" name="카드 틀"/>
          <p:cNvSpPr/>
          <p:nvPr/>
        </p:nvSpPr>
        <p:spPr>
          <a:xfrm>
            <a:off x="3895043" y="2507791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탭"/>
          <p:cNvSpPr/>
          <p:nvPr/>
        </p:nvSpPr>
        <p:spPr>
          <a:xfrm>
            <a:off x="3895043" y="2507791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탭"/>
          <p:cNvSpPr>
            <a:spLocks noGrp="1"/>
          </p:cNvSpPr>
          <p:nvPr>
            <p:ph type="body" sz="quarter" idx="39"/>
          </p:nvPr>
        </p:nvSpPr>
        <p:spPr>
          <a:xfrm>
            <a:off x="3895043" y="2507791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</a:t>
            </a:r>
          </a:p>
        </p:txBody>
      </p:sp>
      <p:sp>
        <p:nvSpPr>
          <p:cNvPr id="56" name="카드 제목"/>
          <p:cNvSpPr>
            <a:spLocks noGrp="1"/>
          </p:cNvSpPr>
          <p:nvPr>
            <p:ph type="body" sz="quarter" idx="40"/>
          </p:nvPr>
        </p:nvSpPr>
        <p:spPr>
          <a:xfrm>
            <a:off x="4344261" y="2507791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빠르게 사원으로</a:t>
            </a:r>
          </a:p>
        </p:txBody>
      </p:sp>
      <p:sp>
        <p:nvSpPr>
          <p:cNvPr id="57" name="카드 본문"/>
          <p:cNvSpPr>
            <a:spLocks noGrp="1"/>
          </p:cNvSpPr>
          <p:nvPr>
            <p:ph type="body" sz="quarter" idx="41"/>
          </p:nvPr>
        </p:nvSpPr>
        <p:spPr>
          <a:xfrm>
            <a:off x="3916957" y="2737878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신입사원 수준의 인턴 교육커리큘럼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조직적응 · 2단계 직무역량 · 3단계 취업역량</a:t>
            </a:r>
          </a:p>
        </p:txBody>
      </p:sp>
      <p:sp>
        <p:nvSpPr>
          <p:cNvPr id="58" name="카드 요약"/>
          <p:cNvSpPr/>
          <p:nvPr/>
        </p:nvSpPr>
        <p:spPr>
          <a:xfrm>
            <a:off x="3895043" y="3296661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9" name="카드 요약"/>
          <p:cNvSpPr>
            <a:spLocks noGrp="1"/>
          </p:cNvSpPr>
          <p:nvPr>
            <p:ph type="body" sz="quarter" idx="42"/>
          </p:nvPr>
        </p:nvSpPr>
        <p:spPr>
          <a:xfrm>
            <a:off x="3895043" y="3296661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만족도 96.6점(’24년 대비 1.7점↑)</a:t>
            </a:r>
          </a:p>
        </p:txBody>
      </p:sp>
      <p:sp>
        <p:nvSpPr>
          <p:cNvPr id="60" name="카드 틀"/>
          <p:cNvSpPr/>
          <p:nvPr/>
        </p:nvSpPr>
        <p:spPr>
          <a:xfrm>
            <a:off x="723130" y="358153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탭"/>
          <p:cNvSpPr/>
          <p:nvPr/>
        </p:nvSpPr>
        <p:spPr>
          <a:xfrm>
            <a:off x="723130" y="358153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2" name="탭"/>
          <p:cNvSpPr>
            <a:spLocks noGrp="1"/>
          </p:cNvSpPr>
          <p:nvPr>
            <p:ph type="body" sz="quarter" idx="43"/>
          </p:nvPr>
        </p:nvSpPr>
        <p:spPr>
          <a:xfrm>
            <a:off x="723130" y="358153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실무</a:t>
            </a:r>
          </a:p>
        </p:txBody>
      </p:sp>
      <p:sp>
        <p:nvSpPr>
          <p:cNvPr id="63" name="카드 제목"/>
          <p:cNvSpPr>
            <a:spLocks noGrp="1"/>
          </p:cNvSpPr>
          <p:nvPr>
            <p:ph type="body" sz="quarter" idx="44"/>
          </p:nvPr>
        </p:nvSpPr>
        <p:spPr>
          <a:xfrm>
            <a:off x="1172348" y="358153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과감히 현업 투입</a:t>
            </a:r>
          </a:p>
        </p:txBody>
      </p:sp>
      <p:sp>
        <p:nvSpPr>
          <p:cNvPr id="64" name="카드 본문"/>
          <p:cNvSpPr>
            <a:spLocks noGrp="1"/>
          </p:cNvSpPr>
          <p:nvPr>
            <p:ph type="body" sz="quarter" idx="45"/>
          </p:nvPr>
        </p:nvSpPr>
        <p:spPr>
          <a:xfrm>
            <a:off x="745043" y="381161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직무와 연계한 업무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참여 직무성과 발표회 개최로 성과 확산</a:t>
            </a:r>
          </a:p>
        </p:txBody>
      </p:sp>
      <p:sp>
        <p:nvSpPr>
          <p:cNvPr id="65" name="카드 요약"/>
          <p:cNvSpPr/>
          <p:nvPr/>
        </p:nvSpPr>
        <p:spPr>
          <a:xfrm>
            <a:off x="723130" y="437040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6" name="카드 요약"/>
          <p:cNvSpPr>
            <a:spLocks noGrp="1"/>
          </p:cNvSpPr>
          <p:nvPr>
            <p:ph type="body" sz="quarter" idx="46"/>
          </p:nvPr>
        </p:nvSpPr>
        <p:spPr>
          <a:xfrm>
            <a:off x="723130" y="437040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청년인턴이 혁신챌린지 최초 입상</a:t>
            </a:r>
          </a:p>
        </p:txBody>
      </p:sp>
      <p:sp>
        <p:nvSpPr>
          <p:cNvPr id="67" name="카드 틀"/>
          <p:cNvSpPr/>
          <p:nvPr/>
        </p:nvSpPr>
        <p:spPr>
          <a:xfrm>
            <a:off x="3895043" y="358153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탭"/>
          <p:cNvSpPr/>
          <p:nvPr/>
        </p:nvSpPr>
        <p:spPr>
          <a:xfrm>
            <a:off x="3895043" y="358153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9" name="탭"/>
          <p:cNvSpPr>
            <a:spLocks noGrp="1"/>
          </p:cNvSpPr>
          <p:nvPr>
            <p:ph type="body" sz="quarter" idx="47"/>
          </p:nvPr>
        </p:nvSpPr>
        <p:spPr>
          <a:xfrm>
            <a:off x="3895043" y="358153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</p:txBody>
      </p:sp>
      <p:sp>
        <p:nvSpPr>
          <p:cNvPr id="70" name="카드 제목"/>
          <p:cNvSpPr>
            <a:spLocks noGrp="1"/>
          </p:cNvSpPr>
          <p:nvPr>
            <p:ph type="body" sz="quarter" idx="48"/>
          </p:nvPr>
        </p:nvSpPr>
        <p:spPr>
          <a:xfrm>
            <a:off x="4344261" y="358153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인재를 엄정하게 선별</a:t>
            </a:r>
          </a:p>
        </p:txBody>
      </p:sp>
      <p:sp>
        <p:nvSpPr>
          <p:cNvPr id="71" name="카드 본문"/>
          <p:cNvSpPr>
            <a:spLocks noGrp="1"/>
          </p:cNvSpPr>
          <p:nvPr>
            <p:ph type="body" sz="quarter" idx="49"/>
          </p:nvPr>
        </p:nvSpPr>
        <p:spPr>
          <a:xfrm>
            <a:off x="3916957" y="381161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평가체계 정교화로 우수인턴 변별력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가점 중심 평가 → 확대 감점제 도입</a:t>
            </a:r>
          </a:p>
        </p:txBody>
      </p:sp>
      <p:sp>
        <p:nvSpPr>
          <p:cNvPr id="72" name="카드 요약"/>
          <p:cNvSpPr/>
          <p:nvPr/>
        </p:nvSpPr>
        <p:spPr>
          <a:xfrm>
            <a:off x="3895043" y="437040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3" name="카드 요약"/>
          <p:cNvSpPr>
            <a:spLocks noGrp="1"/>
          </p:cNvSpPr>
          <p:nvPr>
            <p:ph type="body" sz="quarter" idx="50"/>
          </p:nvPr>
        </p:nvSpPr>
        <p:spPr>
          <a:xfrm>
            <a:off x="3895043" y="437040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우수인턴 19.7%(’24년 대비 5.5%p↓)</a:t>
            </a:r>
          </a:p>
        </p:txBody>
      </p:sp>
      <p:sp>
        <p:nvSpPr>
          <p:cNvPr id="74" name="배너"/>
          <p:cNvSpPr/>
          <p:nvPr/>
        </p:nvSpPr>
        <p:spPr>
          <a:xfrm>
            <a:off x="723130" y="47429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75" name="Connector 51"/>
          <p:cNvCxnSpPr/>
          <p:nvPr/>
        </p:nvCxnSpPr>
        <p:spPr>
          <a:xfrm>
            <a:off x="723130" y="47429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76" name="배너 글"/>
          <p:cNvSpPr>
            <a:spLocks noGrp="1"/>
          </p:cNvSpPr>
          <p:nvPr>
            <p:ph type="body" sz="quarter" idx="51"/>
          </p:nvPr>
        </p:nvSpPr>
        <p:spPr>
          <a:xfrm>
            <a:off x="723130" y="47977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‘함께 일하고 싶은 동료’라는 조직인식 확산 ➡ 전체 부서 78%(117개) 인턴 수요 발생</a:t>
            </a:r>
          </a:p>
        </p:txBody>
      </p:sp>
      <p:sp>
        <p:nvSpPr>
          <p:cNvPr id="77" name="표 외곽"/>
          <p:cNvSpPr/>
          <p:nvPr/>
        </p:nvSpPr>
        <p:spPr>
          <a:xfrm>
            <a:off x="723130" y="5115443"/>
            <a:ext cx="6300000" cy="1501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"/>
          <p:cNvSpPr/>
          <p:nvPr/>
        </p:nvSpPr>
        <p:spPr>
          <a:xfrm>
            <a:off x="734087" y="5131878"/>
            <a:ext cx="580696" cy="832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레일 태그"/>
          <p:cNvSpPr/>
          <p:nvPr/>
        </p:nvSpPr>
        <p:spPr>
          <a:xfrm>
            <a:off x="730001" y="5175704"/>
            <a:ext cx="5888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0" name="레일 태그"/>
          <p:cNvSpPr>
            <a:spLocks noGrp="1"/>
          </p:cNvSpPr>
          <p:nvPr>
            <p:ph type="body" sz="quarter" idx="52"/>
          </p:nvPr>
        </p:nvSpPr>
        <p:spPr>
          <a:xfrm>
            <a:off x="730001" y="5175704"/>
            <a:ext cx="5888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수료 단계</a:t>
            </a:r>
          </a:p>
        </p:txBody>
      </p:sp>
      <p:sp>
        <p:nvSpPr>
          <p:cNvPr id="81" name="레일 라벨"/>
          <p:cNvSpPr>
            <a:spLocks noGrp="1"/>
          </p:cNvSpPr>
          <p:nvPr>
            <p:ph type="body" sz="quarter" idx="53"/>
          </p:nvPr>
        </p:nvSpPr>
        <p:spPr>
          <a:xfrm>
            <a:off x="734087" y="5361965"/>
            <a:ext cx="580696" cy="580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워킹</a:t>
            </a:r>
          </a:p>
        </p:txBody>
      </p:sp>
      <p:sp>
        <p:nvSpPr>
          <p:cNvPr id="82" name="머리칸"/>
          <p:cNvSpPr/>
          <p:nvPr/>
        </p:nvSpPr>
        <p:spPr>
          <a:xfrm>
            <a:off x="1347652" y="51537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54"/>
          </p:nvPr>
        </p:nvSpPr>
        <p:spPr>
          <a:xfrm>
            <a:off x="1347652" y="51537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 Pool 구축</a:t>
            </a:r>
          </a:p>
        </p:txBody>
      </p:sp>
      <p:sp>
        <p:nvSpPr>
          <p:cNvPr id="84" name="머리칸"/>
          <p:cNvSpPr/>
          <p:nvPr/>
        </p:nvSpPr>
        <p:spPr>
          <a:xfrm>
            <a:off x="4171696" y="51537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5" name="머리칸"/>
          <p:cNvSpPr>
            <a:spLocks noGrp="1"/>
          </p:cNvSpPr>
          <p:nvPr>
            <p:ph type="body" sz="quarter" idx="55"/>
          </p:nvPr>
        </p:nvSpPr>
        <p:spPr>
          <a:xfrm>
            <a:off x="4171696" y="51537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관계 유지 기반 마련</a:t>
            </a:r>
          </a:p>
        </p:txBody>
      </p:sp>
      <p:sp>
        <p:nvSpPr>
          <p:cNvPr id="86" name="칸 본문"/>
          <p:cNvSpPr>
            <a:spLocks noGrp="1"/>
          </p:cNvSpPr>
          <p:nvPr>
            <p:ph type="body" sz="quarter" idx="56"/>
          </p:nvPr>
        </p:nvSpPr>
        <p:spPr>
          <a:xfrm>
            <a:off x="1358609" y="53948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주기적 취업 현황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입사 지원 이력 관리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4182652" y="53948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청년인턴 전용 플랫폼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현직자와의 실시간 Q&amp;A</a:t>
            </a:r>
          </a:p>
        </p:txBody>
      </p:sp>
      <p:cxnSp>
        <p:nvCxnSpPr>
          <p:cNvPr id="88" name="Connector 61"/>
          <p:cNvCxnSpPr/>
          <p:nvPr/>
        </p:nvCxnSpPr>
        <p:spPr>
          <a:xfrm>
            <a:off x="4171696" y="54277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칸 본문"/>
          <p:cNvSpPr>
            <a:spLocks noGrp="1"/>
          </p:cNvSpPr>
          <p:nvPr>
            <p:ph type="body" sz="quarter" idx="58"/>
          </p:nvPr>
        </p:nvSpPr>
        <p:spPr>
          <a:xfrm>
            <a:off x="1358609" y="5761878"/>
            <a:ext cx="2802130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 인턴 中 74%(404명) ’25년 입사 지원</a:t>
            </a:r>
          </a:p>
        </p:txBody>
      </p: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4182652" y="5761878"/>
            <a:ext cx="2802130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회원수 490명</a:t>
            </a:r>
          </a:p>
        </p:txBody>
      </p:sp>
      <p:cxnSp>
        <p:nvCxnSpPr>
          <p:cNvPr id="91" name="Connector 64"/>
          <p:cNvCxnSpPr/>
          <p:nvPr/>
        </p:nvCxnSpPr>
        <p:spPr>
          <a:xfrm>
            <a:off x="4171696" y="5794748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레일"/>
          <p:cNvSpPr/>
          <p:nvPr/>
        </p:nvSpPr>
        <p:spPr>
          <a:xfrm>
            <a:off x="734087" y="5981009"/>
            <a:ext cx="580696" cy="619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60"/>
          </p:nvPr>
        </p:nvSpPr>
        <p:spPr>
          <a:xfrm>
            <a:off x="734087" y="5981009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연계</a:t>
            </a:r>
          </a:p>
        </p:txBody>
      </p:sp>
      <p:sp>
        <p:nvSpPr>
          <p:cNvPr id="94" name="레일 삼각형"/>
          <p:cNvSpPr/>
          <p:nvPr/>
        </p:nvSpPr>
        <p:spPr>
          <a:xfrm>
            <a:off x="734086" y="59810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머리칸"/>
          <p:cNvSpPr/>
          <p:nvPr/>
        </p:nvSpPr>
        <p:spPr>
          <a:xfrm>
            <a:off x="1347652" y="6002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6" name="머리칸"/>
          <p:cNvSpPr>
            <a:spLocks noGrp="1"/>
          </p:cNvSpPr>
          <p:nvPr>
            <p:ph type="body" sz="quarter" idx="61"/>
          </p:nvPr>
        </p:nvSpPr>
        <p:spPr>
          <a:xfrm>
            <a:off x="1347652" y="6002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취업역량 강화</a:t>
            </a:r>
          </a:p>
        </p:txBody>
      </p:sp>
      <p:sp>
        <p:nvSpPr>
          <p:cNvPr id="97" name="머리칸"/>
          <p:cNvSpPr/>
          <p:nvPr/>
        </p:nvSpPr>
        <p:spPr>
          <a:xfrm>
            <a:off x="4171696" y="6002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8" name="머리칸"/>
          <p:cNvSpPr>
            <a:spLocks noGrp="1"/>
          </p:cNvSpPr>
          <p:nvPr>
            <p:ph type="body" sz="quarter" idx="62"/>
          </p:nvPr>
        </p:nvSpPr>
        <p:spPr>
          <a:xfrm>
            <a:off x="4171696" y="6002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취업서비스 지원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3"/>
          </p:nvPr>
        </p:nvSpPr>
        <p:spPr>
          <a:xfrm>
            <a:off x="1358609" y="624396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취업멘토링 day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채용과정 참관, 모의면접 제공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64"/>
          </p:nvPr>
        </p:nvSpPr>
        <p:spPr>
          <a:xfrm>
            <a:off x="4182652" y="624396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수료증 상시 발급 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결과 기반 역량리포트 제공</a:t>
            </a:r>
          </a:p>
        </p:txBody>
      </p:sp>
      <p:cxnSp>
        <p:nvCxnSpPr>
          <p:cNvPr id="101" name="Connector 71"/>
          <p:cNvCxnSpPr/>
          <p:nvPr/>
        </p:nvCxnSpPr>
        <p:spPr>
          <a:xfrm>
            <a:off x="4171696" y="6276835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틀"/>
          <p:cNvSpPr/>
          <p:nvPr/>
        </p:nvSpPr>
        <p:spPr>
          <a:xfrm>
            <a:off x="723130" y="6682226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성과 라벨"/>
          <p:cNvSpPr/>
          <p:nvPr/>
        </p:nvSpPr>
        <p:spPr>
          <a:xfrm>
            <a:off x="734087" y="6693183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04" name="성과 라벨"/>
          <p:cNvSpPr>
            <a:spLocks noGrp="1"/>
          </p:cNvSpPr>
          <p:nvPr>
            <p:ph type="body" sz="quarter" idx="65"/>
          </p:nvPr>
        </p:nvSpPr>
        <p:spPr>
          <a:xfrm>
            <a:off x="734087" y="6693183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05" name="성과 띠"/>
          <p:cNvSpPr/>
          <p:nvPr/>
        </p:nvSpPr>
        <p:spPr>
          <a:xfrm>
            <a:off x="1358609" y="6715096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06" name="성과 띠"/>
          <p:cNvSpPr>
            <a:spLocks noGrp="1"/>
          </p:cNvSpPr>
          <p:nvPr>
            <p:ph type="body" sz="quarter" idx="66"/>
          </p:nvPr>
        </p:nvSpPr>
        <p:spPr>
          <a:xfrm>
            <a:off x="1358609" y="6715096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채용 비율 역대 최대 15.7%</a:t>
            </a:r>
          </a:p>
        </p:txBody>
      </p:sp>
      <p:sp>
        <p:nvSpPr>
          <p:cNvPr id="107" name="카드"/>
          <p:cNvSpPr/>
          <p:nvPr/>
        </p:nvSpPr>
        <p:spPr>
          <a:xfrm>
            <a:off x="1358609" y="6956139"/>
            <a:ext cx="5631652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카드 문구"/>
          <p:cNvSpPr>
            <a:spLocks noGrp="1"/>
          </p:cNvSpPr>
          <p:nvPr>
            <p:ph type="body" sz="quarter" idx="67"/>
          </p:nvPr>
        </p:nvSpPr>
        <p:spPr>
          <a:xfrm>
            <a:off x="1380522" y="6967096"/>
            <a:ext cx="256864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인턴출신 정규직 채용 비율</a:t>
            </a:r>
          </a:p>
        </p:txBody>
      </p:sp>
      <p:sp>
        <p:nvSpPr>
          <p:cNvPr id="109" name="막대"/>
          <p:cNvSpPr/>
          <p:nvPr/>
        </p:nvSpPr>
        <p:spPr>
          <a:xfrm>
            <a:off x="4003951" y="7471096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0" name="값"/>
          <p:cNvSpPr>
            <a:spLocks noGrp="1"/>
          </p:cNvSpPr>
          <p:nvPr>
            <p:ph type="body" sz="quarter" idx="68"/>
          </p:nvPr>
        </p:nvSpPr>
        <p:spPr>
          <a:xfrm>
            <a:off x="3916299" y="7295791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5.3%</a:t>
            </a:r>
          </a:p>
        </p:txBody>
      </p:sp>
      <p:sp>
        <p:nvSpPr>
          <p:cNvPr id="111" name="연도"/>
          <p:cNvSpPr>
            <a:spLocks noGrp="1"/>
          </p:cNvSpPr>
          <p:nvPr>
            <p:ph type="body" sz="quarter" idx="69"/>
          </p:nvPr>
        </p:nvSpPr>
        <p:spPr>
          <a:xfrm>
            <a:off x="3916299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’23년</a:t>
            </a:r>
          </a:p>
        </p:txBody>
      </p:sp>
      <p:sp>
        <p:nvSpPr>
          <p:cNvPr id="112" name="막대"/>
          <p:cNvSpPr/>
          <p:nvPr/>
        </p:nvSpPr>
        <p:spPr>
          <a:xfrm>
            <a:off x="4981127" y="7394400"/>
            <a:ext cx="164348" cy="153391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3" name="값"/>
          <p:cNvSpPr>
            <a:spLocks noGrp="1"/>
          </p:cNvSpPr>
          <p:nvPr>
            <p:ph type="body" sz="quarter" idx="70"/>
          </p:nvPr>
        </p:nvSpPr>
        <p:spPr>
          <a:xfrm>
            <a:off x="4893475" y="721909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11%</a:t>
            </a:r>
          </a:p>
        </p:txBody>
      </p:sp>
      <p:sp>
        <p:nvSpPr>
          <p:cNvPr id="114" name="연도"/>
          <p:cNvSpPr>
            <a:spLocks noGrp="1"/>
          </p:cNvSpPr>
          <p:nvPr>
            <p:ph type="body" sz="quarter" idx="71"/>
          </p:nvPr>
        </p:nvSpPr>
        <p:spPr>
          <a:xfrm>
            <a:off x="4893475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115" name="막대"/>
          <p:cNvSpPr/>
          <p:nvPr/>
        </p:nvSpPr>
        <p:spPr>
          <a:xfrm>
            <a:off x="5958303" y="7328661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6" name="값"/>
          <p:cNvSpPr>
            <a:spLocks noGrp="1"/>
          </p:cNvSpPr>
          <p:nvPr>
            <p:ph type="body" sz="quarter" idx="72"/>
          </p:nvPr>
        </p:nvSpPr>
        <p:spPr>
          <a:xfrm>
            <a:off x="5870650" y="715335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15.7%</a:t>
            </a:r>
          </a:p>
        </p:txBody>
      </p:sp>
      <p:sp>
        <p:nvSpPr>
          <p:cNvPr id="117" name="연도"/>
          <p:cNvSpPr>
            <a:spLocks noGrp="1"/>
          </p:cNvSpPr>
          <p:nvPr>
            <p:ph type="body" sz="quarter" idx="73"/>
          </p:nvPr>
        </p:nvSpPr>
        <p:spPr>
          <a:xfrm>
            <a:off x="5870650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9 서사 · 현황진단 → 의견수렴 → 진단형·코칭형 피드백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결과 공개를 넘어, 다음을 준비할 수 있는 채용 피드백 제공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2761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필기 백분율 및 직군별 탈락 피드백 제공 등 투명성 제고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향후 취업 준비를 어떻게 해야 하는지에 대한 실질적 도움은 부족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558643"/>
            <a:ext cx="580696" cy="619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558643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렴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채용 응시자</a:t>
            </a:r>
          </a:p>
        </p:txBody>
      </p:sp>
      <p:sp>
        <p:nvSpPr>
          <p:cNvPr id="28" name="머리칸"/>
          <p:cNvSpPr/>
          <p:nvPr/>
        </p:nvSpPr>
        <p:spPr>
          <a:xfrm>
            <a:off x="3044087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044087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청년자문단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29"/>
          </p:nvPr>
        </p:nvSpPr>
        <p:spPr>
          <a:xfrm>
            <a:off x="4926783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면접위원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“제 수준이 어느 정도인지 알 수 있다면 도움 될 것 같아요”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“부족한 역량이 어떤 것인지 알려주면 좋을 것 같아요”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3044087" y="18544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“면접이 선발 중심으로 운영되어 성장을 지원하는 데 한계 존재”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4926783" y="18544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194122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 태그"/>
          <p:cNvSpPr/>
          <p:nvPr/>
        </p:nvSpPr>
        <p:spPr>
          <a:xfrm>
            <a:off x="613260" y="2237948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레일 태그"/>
          <p:cNvSpPr>
            <a:spLocks noGrp="1"/>
          </p:cNvSpPr>
          <p:nvPr>
            <p:ph type="body" sz="quarter" idx="33"/>
          </p:nvPr>
        </p:nvSpPr>
        <p:spPr>
          <a:xfrm>
            <a:off x="613260" y="2237948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</a:t>
            </a:r>
          </a:p>
        </p:txBody>
      </p:sp>
      <p:sp>
        <p:nvSpPr>
          <p:cNvPr id="40" name="레일 라벨"/>
          <p:cNvSpPr>
            <a:spLocks noGrp="1"/>
          </p:cNvSpPr>
          <p:nvPr>
            <p:ph type="body" sz="quarter" idx="34"/>
          </p:nvPr>
        </p:nvSpPr>
        <p:spPr>
          <a:xfrm>
            <a:off x="547826" y="2424209"/>
            <a:ext cx="580696" cy="54234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41" name="머리칸"/>
          <p:cNvSpPr/>
          <p:nvPr/>
        </p:nvSpPr>
        <p:spPr>
          <a:xfrm>
            <a:off x="1161391" y="22160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22160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필기전형 결과 보고서 제공</a:t>
            </a:r>
          </a:p>
        </p:txBody>
      </p:sp>
      <p:sp>
        <p:nvSpPr>
          <p:cNvPr id="43" name="머리칸"/>
          <p:cNvSpPr/>
          <p:nvPr/>
        </p:nvSpPr>
        <p:spPr>
          <a:xfrm>
            <a:off x="3985435" y="22160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3985435" y="22160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 역량별 맞춤 솔루션 제공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457078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점수, 전체 커트라인 수치 중심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과목별 커트라인, 합격자 평균 등 영역별 강·약점 제공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457078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소프트스킬 위주 의견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분야별(직무·역량) 피드백 제공, 직무수행 관련 보완점 중심 의견</a:t>
            </a:r>
          </a:p>
        </p:txBody>
      </p:sp>
      <p:cxnSp>
        <p:nvCxnSpPr>
          <p:cNvPr id="47" name="Connector 34"/>
          <p:cNvCxnSpPr/>
          <p:nvPr/>
        </p:nvCxnSpPr>
        <p:spPr>
          <a:xfrm>
            <a:off x="3985435" y="2489948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547826" y="3004904"/>
            <a:ext cx="580696" cy="8574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레일 태그"/>
          <p:cNvSpPr/>
          <p:nvPr/>
        </p:nvSpPr>
        <p:spPr>
          <a:xfrm>
            <a:off x="668144" y="3169252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레일 태그"/>
          <p:cNvSpPr>
            <a:spLocks noGrp="1"/>
          </p:cNvSpPr>
          <p:nvPr>
            <p:ph type="body" sz="quarter" idx="39"/>
          </p:nvPr>
        </p:nvSpPr>
        <p:spPr>
          <a:xfrm>
            <a:off x="668144" y="3169252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</a:t>
            </a:r>
          </a:p>
        </p:txBody>
      </p:sp>
      <p:sp>
        <p:nvSpPr>
          <p:cNvPr id="51" name="레일 라벨"/>
          <p:cNvSpPr>
            <a:spLocks noGrp="1"/>
          </p:cNvSpPr>
          <p:nvPr>
            <p:ph type="body" sz="quarter" idx="40"/>
          </p:nvPr>
        </p:nvSpPr>
        <p:spPr>
          <a:xfrm>
            <a:off x="547826" y="3355513"/>
            <a:ext cx="580696" cy="4849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코칭형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52" name="레일 삼각형"/>
          <p:cNvSpPr/>
          <p:nvPr/>
        </p:nvSpPr>
        <p:spPr>
          <a:xfrm>
            <a:off x="547826" y="3004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배너"/>
          <p:cNvSpPr/>
          <p:nvPr/>
        </p:nvSpPr>
        <p:spPr>
          <a:xfrm>
            <a:off x="1161391" y="30268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4" name="배너"/>
          <p:cNvSpPr>
            <a:spLocks noGrp="1"/>
          </p:cNvSpPr>
          <p:nvPr>
            <p:ph type="body" sz="quarter" idx="41"/>
          </p:nvPr>
        </p:nvSpPr>
        <p:spPr>
          <a:xfrm>
            <a:off x="1161391" y="30268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구직 경험이 적은 고졸 전형 지원자 대상으로 코칭형 피드백 시범 도입</a:t>
            </a:r>
          </a:p>
        </p:txBody>
      </p:sp>
      <p:sp>
        <p:nvSpPr>
          <p:cNvPr id="55" name="단계"/>
          <p:cNvSpPr/>
          <p:nvPr/>
        </p:nvSpPr>
        <p:spPr>
          <a:xfrm>
            <a:off x="1161391" y="3262383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1161391" y="32623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획일적 피드백</a:t>
            </a:r>
          </a:p>
        </p:txBody>
      </p:sp>
      <p:sp>
        <p:nvSpPr>
          <p:cNvPr id="57" name="단계"/>
          <p:cNvSpPr/>
          <p:nvPr/>
        </p:nvSpPr>
        <p:spPr>
          <a:xfrm>
            <a:off x="3985435" y="3262383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3"/>
          </p:nvPr>
        </p:nvSpPr>
        <p:spPr>
          <a:xfrm>
            <a:off x="3985435" y="32623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피드백 전문위원 운영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3985434" y="32623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3514383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 지원자 특성상 면접·직무 경험이 다소 제한적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3996391" y="3514383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평가와 코칭을 분리, 개선 방향 중심 피드백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관련 VOC Zero(’24년 7건)</a:t>
            </a:r>
          </a:p>
        </p:txBody>
      </p:sp>
      <p:cxnSp>
        <p:nvCxnSpPr>
          <p:cNvPr id="62" name="Connector 45"/>
          <p:cNvCxnSpPr/>
          <p:nvPr/>
        </p:nvCxnSpPr>
        <p:spPr>
          <a:xfrm>
            <a:off x="3985435" y="35472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핵심성과 박스"/>
          <p:cNvSpPr/>
          <p:nvPr/>
        </p:nvSpPr>
        <p:spPr>
          <a:xfrm>
            <a:off x="536870" y="39664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핵심성과 라벨"/>
          <p:cNvSpPr/>
          <p:nvPr/>
        </p:nvSpPr>
        <p:spPr>
          <a:xfrm>
            <a:off x="569739" y="40047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5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40047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6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9828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지원자 체감 채용 만족도 86점 달성(’24년 대비 1.1점↑)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0 서사 · 직원 니즈 → 추진실적 → 추진성과(행별 대응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고용 형태를 허물고 함께 성장하는 원팀으로 도약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단계"/>
          <p:cNvSpPr/>
          <p:nvPr/>
        </p:nvSpPr>
        <p:spPr>
          <a:xfrm>
            <a:off x="1358609" y="1150435"/>
            <a:ext cx="1576863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7" name="단계"/>
          <p:cNvSpPr>
            <a:spLocks noGrp="1"/>
          </p:cNvSpPr>
          <p:nvPr>
            <p:ph type="body" sz="quarter" idx="23"/>
          </p:nvPr>
        </p:nvSpPr>
        <p:spPr>
          <a:xfrm>
            <a:off x="1358609" y="1150435"/>
            <a:ext cx="1576863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니즈</a:t>
            </a:r>
          </a:p>
        </p:txBody>
      </p:sp>
      <p:sp>
        <p:nvSpPr>
          <p:cNvPr id="18" name="단계"/>
          <p:cNvSpPr/>
          <p:nvPr/>
        </p:nvSpPr>
        <p:spPr>
          <a:xfrm>
            <a:off x="2935471" y="1150435"/>
            <a:ext cx="2421610" cy="241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2935471" y="1150435"/>
            <a:ext cx="242161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20" name="단계"/>
          <p:cNvSpPr/>
          <p:nvPr/>
        </p:nvSpPr>
        <p:spPr>
          <a:xfrm>
            <a:off x="5357082" y="1150435"/>
            <a:ext cx="1633179" cy="24104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5357082" y="1150435"/>
            <a:ext cx="1633179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2" name="단계 삼각형"/>
          <p:cNvSpPr/>
          <p:nvPr/>
        </p:nvSpPr>
        <p:spPr>
          <a:xfrm>
            <a:off x="2935471" y="1150434"/>
            <a:ext cx="109565" cy="241044"/>
          </a:xfrm>
          <a:custGeom>
            <a:avLst/>
            <a:gdLst/>
            <a:ahLst/>
            <a:cxnLst/>
            <a:rect l="l" t="t" r="r" b="b"/>
            <a:pathLst>
              <a:path w="109565" h="241044">
                <a:moveTo>
                  <a:pt x="0" y="0"/>
                </a:moveTo>
                <a:lnTo>
                  <a:pt x="109565" y="120522"/>
                </a:lnTo>
                <a:lnTo>
                  <a:pt x="0" y="241044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 삼각형"/>
          <p:cNvSpPr/>
          <p:nvPr/>
        </p:nvSpPr>
        <p:spPr>
          <a:xfrm>
            <a:off x="5357081" y="1150434"/>
            <a:ext cx="109565" cy="241044"/>
          </a:xfrm>
          <a:custGeom>
            <a:avLst/>
            <a:gdLst/>
            <a:ahLst/>
            <a:cxnLst/>
            <a:rect l="l" t="t" r="r" b="b"/>
            <a:pathLst>
              <a:path w="109565" h="241044">
                <a:moveTo>
                  <a:pt x="0" y="0"/>
                </a:moveTo>
                <a:lnTo>
                  <a:pt x="109565" y="120522"/>
                </a:lnTo>
                <a:lnTo>
                  <a:pt x="0" y="241044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행 틀"/>
          <p:cNvSpPr/>
          <p:nvPr/>
        </p:nvSpPr>
        <p:spPr>
          <a:xfrm>
            <a:off x="723130" y="1413391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734087" y="1424348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24348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운영직</a:t>
            </a:r>
          </a:p>
        </p:txBody>
      </p:sp>
      <p:sp>
        <p:nvSpPr>
          <p:cNvPr id="27" name="니즈"/>
          <p:cNvSpPr>
            <a:spLocks noGrp="1"/>
          </p:cNvSpPr>
          <p:nvPr>
            <p:ph type="body" sz="quarter" idx="27"/>
          </p:nvPr>
        </p:nvSpPr>
        <p:spPr>
          <a:xfrm>
            <a:off x="1358609" y="1413391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 확보를 위한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경력개발 지원이 필요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(운영직 TF)</a:t>
            </a:r>
          </a:p>
        </p:txBody>
      </p:sp>
      <p:sp>
        <p:nvSpPr>
          <p:cNvPr id="28" name="실적 머리"/>
          <p:cNvSpPr>
            <a:spLocks noGrp="1"/>
          </p:cNvSpPr>
          <p:nvPr>
            <p:ph type="body" sz="quarter" idx="28"/>
          </p:nvPr>
        </p:nvSpPr>
        <p:spPr>
          <a:xfrm>
            <a:off x="2935471" y="1424348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전문성·경력개발 동시 지원</a:t>
            </a:r>
          </a:p>
        </p:txBody>
      </p:sp>
      <p:sp>
        <p:nvSpPr>
          <p:cNvPr id="29" name="태그"/>
          <p:cNvSpPr/>
          <p:nvPr/>
        </p:nvSpPr>
        <p:spPr>
          <a:xfrm>
            <a:off x="2979297" y="1676348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2979297" y="1676348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31" name="칩 줄 글"/>
          <p:cNvSpPr>
            <a:spLocks noGrp="1"/>
          </p:cNvSpPr>
          <p:nvPr>
            <p:ph type="body" sz="quarter" idx="30"/>
          </p:nvPr>
        </p:nvSpPr>
        <p:spPr>
          <a:xfrm>
            <a:off x="3341269" y="1654435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K-Pro 전문가 과정, 직무세분화</a:t>
            </a:r>
          </a:p>
        </p:txBody>
      </p:sp>
      <p:sp>
        <p:nvSpPr>
          <p:cNvPr id="32" name="태그"/>
          <p:cNvSpPr/>
          <p:nvPr/>
        </p:nvSpPr>
        <p:spPr>
          <a:xfrm>
            <a:off x="2979297" y="1906435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2979297" y="1906435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학위</a:t>
            </a:r>
          </a:p>
        </p:txBody>
      </p:sp>
      <p:sp>
        <p:nvSpPr>
          <p:cNvPr id="34" name="칩 줄 글"/>
          <p:cNvSpPr>
            <a:spLocks noGrp="1"/>
          </p:cNvSpPr>
          <p:nvPr>
            <p:ph type="body" sz="quarter" idx="32"/>
          </p:nvPr>
        </p:nvSpPr>
        <p:spPr>
          <a:xfrm>
            <a:off x="3341269" y="1884522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커리큘럼 개편, 장학금·교육키트 제공</a:t>
            </a:r>
          </a:p>
        </p:txBody>
      </p:sp>
      <p:sp>
        <p:nvSpPr>
          <p:cNvPr id="35" name="성과 머리"/>
          <p:cNvSpPr/>
          <p:nvPr/>
        </p:nvSpPr>
        <p:spPr>
          <a:xfrm>
            <a:off x="5378995" y="1446261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6" name="성과 머리"/>
          <p:cNvSpPr>
            <a:spLocks noGrp="1"/>
          </p:cNvSpPr>
          <p:nvPr>
            <p:ph type="body" sz="quarter" idx="33"/>
          </p:nvPr>
        </p:nvSpPr>
        <p:spPr>
          <a:xfrm>
            <a:off x="5378995" y="1446261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고졸운영직 학위취득(누계)</a:t>
            </a:r>
          </a:p>
        </p:txBody>
      </p:sp>
      <p:sp>
        <p:nvSpPr>
          <p:cNvPr id="37" name="성과 글"/>
          <p:cNvSpPr>
            <a:spLocks noGrp="1"/>
          </p:cNvSpPr>
          <p:nvPr>
            <p:ph type="body" sz="quarter" idx="34"/>
          </p:nvPr>
        </p:nvSpPr>
        <p:spPr>
          <a:xfrm>
            <a:off x="5378995" y="1687304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69명 → ’25년 94명</a:t>
            </a:r>
          </a:p>
        </p:txBody>
      </p:sp>
      <p:cxnSp>
        <p:nvCxnSpPr>
          <p:cNvPr id="38" name="Connector 24"/>
          <p:cNvCxnSpPr/>
          <p:nvPr/>
        </p:nvCxnSpPr>
        <p:spPr>
          <a:xfrm>
            <a:off x="2924515" y="14462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39" name="Connector 25"/>
          <p:cNvCxnSpPr/>
          <p:nvPr/>
        </p:nvCxnSpPr>
        <p:spPr>
          <a:xfrm>
            <a:off x="5346125" y="14462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행 틀"/>
          <p:cNvSpPr/>
          <p:nvPr/>
        </p:nvSpPr>
        <p:spPr>
          <a:xfrm>
            <a:off x="723130" y="2147478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"/>
          <p:cNvSpPr/>
          <p:nvPr/>
        </p:nvSpPr>
        <p:spPr>
          <a:xfrm>
            <a:off x="734087" y="2158435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2158435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무기계약</a:t>
            </a:r>
          </a:p>
        </p:txBody>
      </p:sp>
      <p:sp>
        <p:nvSpPr>
          <p:cNvPr id="43" name="니즈"/>
          <p:cNvSpPr>
            <a:spLocks noGrp="1"/>
          </p:cNvSpPr>
          <p:nvPr>
            <p:ph type="body" sz="quarter" idx="36"/>
          </p:nvPr>
        </p:nvSpPr>
        <p:spPr>
          <a:xfrm>
            <a:off x="1358609" y="2147478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같은 직무를 오래 수행해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역할확장이 필요해 보여요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(인사담당자 간담회)</a:t>
            </a:r>
          </a:p>
        </p:txBody>
      </p:sp>
      <p:sp>
        <p:nvSpPr>
          <p:cNvPr id="44" name="실적 머리"/>
          <p:cNvSpPr>
            <a:spLocks noGrp="1"/>
          </p:cNvSpPr>
          <p:nvPr>
            <p:ph type="body" sz="quarter" idx="37"/>
          </p:nvPr>
        </p:nvSpPr>
        <p:spPr>
          <a:xfrm>
            <a:off x="2935471" y="2158435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전환 활성화·조직융합 교육 신설</a:t>
            </a:r>
          </a:p>
        </p:txBody>
      </p:sp>
      <p:sp>
        <p:nvSpPr>
          <p:cNvPr id="45" name="태그"/>
          <p:cNvSpPr/>
          <p:nvPr/>
        </p:nvSpPr>
        <p:spPr>
          <a:xfrm>
            <a:off x="2979297" y="2410435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8"/>
          </p:nvPr>
        </p:nvSpPr>
        <p:spPr>
          <a:xfrm>
            <a:off x="2979297" y="2410435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전보</a:t>
            </a:r>
          </a:p>
        </p:txBody>
      </p:sp>
      <p:sp>
        <p:nvSpPr>
          <p:cNvPr id="47" name="칩 줄 글"/>
          <p:cNvSpPr>
            <a:spLocks noGrp="1"/>
          </p:cNvSpPr>
          <p:nvPr>
            <p:ph type="body" sz="quarter" idx="39"/>
          </p:nvPr>
        </p:nvSpPr>
        <p:spPr>
          <a:xfrm>
            <a:off x="3341269" y="2388522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이동 규모 확대(9명 → 11명)</a:t>
            </a:r>
          </a:p>
        </p:txBody>
      </p:sp>
      <p:sp>
        <p:nvSpPr>
          <p:cNvPr id="48" name="태그"/>
          <p:cNvSpPr/>
          <p:nvPr/>
        </p:nvSpPr>
        <p:spPr>
          <a:xfrm>
            <a:off x="2979297" y="2640522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태그"/>
          <p:cNvSpPr>
            <a:spLocks noGrp="1"/>
          </p:cNvSpPr>
          <p:nvPr>
            <p:ph type="body" sz="quarter" idx="40"/>
          </p:nvPr>
        </p:nvSpPr>
        <p:spPr>
          <a:xfrm>
            <a:off x="2979297" y="2640522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50" name="칩 줄 글"/>
          <p:cNvSpPr>
            <a:spLocks noGrp="1"/>
          </p:cNvSpPr>
          <p:nvPr>
            <p:ph type="body" sz="quarter" idx="41"/>
          </p:nvPr>
        </p:nvSpPr>
        <p:spPr>
          <a:xfrm>
            <a:off x="3341269" y="2618609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참여자 종합 만족도 9.74점</a:t>
            </a:r>
          </a:p>
        </p:txBody>
      </p:sp>
      <p:sp>
        <p:nvSpPr>
          <p:cNvPr id="51" name="성과 머리"/>
          <p:cNvSpPr/>
          <p:nvPr/>
        </p:nvSpPr>
        <p:spPr>
          <a:xfrm>
            <a:off x="5378995" y="2180348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52" name="성과 머리"/>
          <p:cNvSpPr>
            <a:spLocks noGrp="1"/>
          </p:cNvSpPr>
          <p:nvPr>
            <p:ph type="body" sz="quarter" idx="42"/>
          </p:nvPr>
        </p:nvSpPr>
        <p:spPr>
          <a:xfrm>
            <a:off x="5378995" y="2180348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공사 최초 무기계약직</a:t>
            </a:r>
          </a:p>
        </p:txBody>
      </p:sp>
      <p:sp>
        <p:nvSpPr>
          <p:cNvPr id="53" name="성과 글"/>
          <p:cNvSpPr>
            <a:spLocks noGrp="1"/>
          </p:cNvSpPr>
          <p:nvPr>
            <p:ph type="body" sz="quarter" idx="43"/>
          </p:nvPr>
        </p:nvSpPr>
        <p:spPr>
          <a:xfrm>
            <a:off x="5378995" y="2421391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팀장 선정</a:t>
            </a:r>
          </a:p>
        </p:txBody>
      </p:sp>
      <p:cxnSp>
        <p:nvCxnSpPr>
          <p:cNvPr id="54" name="Connector 36"/>
          <p:cNvCxnSpPr/>
          <p:nvPr/>
        </p:nvCxnSpPr>
        <p:spPr>
          <a:xfrm>
            <a:off x="2924515" y="2180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55" name="Connector 37"/>
          <p:cNvCxnSpPr/>
          <p:nvPr/>
        </p:nvCxnSpPr>
        <p:spPr>
          <a:xfrm>
            <a:off x="5346125" y="2180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행 틀"/>
          <p:cNvSpPr/>
          <p:nvPr/>
        </p:nvSpPr>
        <p:spPr>
          <a:xfrm>
            <a:off x="723130" y="2881565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734087" y="2892522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4"/>
          </p:nvPr>
        </p:nvSpPr>
        <p:spPr>
          <a:xfrm>
            <a:off x="734087" y="2892522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별도직군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(임금피크)</a:t>
            </a:r>
          </a:p>
        </p:txBody>
      </p:sp>
      <p:sp>
        <p:nvSpPr>
          <p:cNvPr id="59" name="니즈"/>
          <p:cNvSpPr>
            <a:spLocks noGrp="1"/>
          </p:cNvSpPr>
          <p:nvPr>
            <p:ph type="body" sz="quarter" idx="45"/>
          </p:nvPr>
        </p:nvSpPr>
        <p:spPr>
          <a:xfrm>
            <a:off x="1358609" y="2881565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퇴직 후 경력관리를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할 수 있으면 좋겠어요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(임금피크 직원 설문조사)</a:t>
            </a:r>
          </a:p>
        </p:txBody>
      </p:sp>
      <p:sp>
        <p:nvSpPr>
          <p:cNvPr id="60" name="실적 머리"/>
          <p:cNvSpPr>
            <a:spLocks noGrp="1"/>
          </p:cNvSpPr>
          <p:nvPr>
            <p:ph type="body" sz="quarter" idx="46"/>
          </p:nvPr>
        </p:nvSpPr>
        <p:spPr>
          <a:xfrm>
            <a:off x="2935471" y="2892522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 전문직무·생애경력 지원 확대</a:t>
            </a:r>
          </a:p>
        </p:txBody>
      </p:sp>
      <p:sp>
        <p:nvSpPr>
          <p:cNvPr id="61" name="태그"/>
          <p:cNvSpPr/>
          <p:nvPr/>
        </p:nvSpPr>
        <p:spPr>
          <a:xfrm>
            <a:off x="2979297" y="3144522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2" name="태그"/>
          <p:cNvSpPr>
            <a:spLocks noGrp="1"/>
          </p:cNvSpPr>
          <p:nvPr>
            <p:ph type="body" sz="quarter" idx="47"/>
          </p:nvPr>
        </p:nvSpPr>
        <p:spPr>
          <a:xfrm>
            <a:off x="2979297" y="3144522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63" name="칩 줄 글"/>
          <p:cNvSpPr>
            <a:spLocks noGrp="1"/>
          </p:cNvSpPr>
          <p:nvPr>
            <p:ph type="body" sz="quarter" idx="48"/>
          </p:nvPr>
        </p:nvSpPr>
        <p:spPr>
          <a:xfrm>
            <a:off x="3341269" y="3122609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수요조사 → AI, 대외협력 등 직무 신설</a:t>
            </a:r>
          </a:p>
        </p:txBody>
      </p:sp>
      <p:sp>
        <p:nvSpPr>
          <p:cNvPr id="64" name="태그"/>
          <p:cNvSpPr/>
          <p:nvPr/>
        </p:nvSpPr>
        <p:spPr>
          <a:xfrm>
            <a:off x="2979297" y="3374609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태그"/>
          <p:cNvSpPr>
            <a:spLocks noGrp="1"/>
          </p:cNvSpPr>
          <p:nvPr>
            <p:ph type="body" sz="quarter" idx="49"/>
          </p:nvPr>
        </p:nvSpPr>
        <p:spPr>
          <a:xfrm>
            <a:off x="2979297" y="3374609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66" name="칩 줄 글"/>
          <p:cNvSpPr>
            <a:spLocks noGrp="1"/>
          </p:cNvSpPr>
          <p:nvPr>
            <p:ph type="body" sz="quarter" idx="50"/>
          </p:nvPr>
        </p:nvSpPr>
        <p:spPr>
          <a:xfrm>
            <a:off x="3341269" y="3352696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시니어 디지털·은퇴 설계 등 과정 확대</a:t>
            </a:r>
          </a:p>
        </p:txBody>
      </p:sp>
      <p:sp>
        <p:nvSpPr>
          <p:cNvPr id="67" name="성과 머리"/>
          <p:cNvSpPr/>
          <p:nvPr/>
        </p:nvSpPr>
        <p:spPr>
          <a:xfrm>
            <a:off x="5378995" y="2914435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8" name="성과 머리"/>
          <p:cNvSpPr>
            <a:spLocks noGrp="1"/>
          </p:cNvSpPr>
          <p:nvPr>
            <p:ph type="body" sz="quarter" idx="51"/>
          </p:nvPr>
        </p:nvSpPr>
        <p:spPr>
          <a:xfrm>
            <a:off x="5378995" y="2914435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임금피크 직원 만족도</a:t>
            </a:r>
          </a:p>
        </p:txBody>
      </p:sp>
      <p:sp>
        <p:nvSpPr>
          <p:cNvPr id="69" name="성과 글"/>
          <p:cNvSpPr>
            <a:spLocks noGrp="1"/>
          </p:cNvSpPr>
          <p:nvPr>
            <p:ph type="body" sz="quarter" idx="52"/>
          </p:nvPr>
        </p:nvSpPr>
        <p:spPr>
          <a:xfrm>
            <a:off x="5378995" y="3155478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97.4점 → ’25년 98.6점</a:t>
            </a:r>
          </a:p>
        </p:txBody>
      </p:sp>
      <p:cxnSp>
        <p:nvCxnSpPr>
          <p:cNvPr id="70" name="Connector 48"/>
          <p:cNvCxnSpPr/>
          <p:nvPr/>
        </p:nvCxnSpPr>
        <p:spPr>
          <a:xfrm>
            <a:off x="2924515" y="2914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71" name="Connector 49"/>
          <p:cNvCxnSpPr/>
          <p:nvPr/>
        </p:nvCxnSpPr>
        <p:spPr>
          <a:xfrm>
            <a:off x="5346125" y="2914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행 틀"/>
          <p:cNvSpPr/>
          <p:nvPr/>
        </p:nvSpPr>
        <p:spPr>
          <a:xfrm>
            <a:off x="723130" y="3615652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레일"/>
          <p:cNvSpPr/>
          <p:nvPr/>
        </p:nvSpPr>
        <p:spPr>
          <a:xfrm>
            <a:off x="734087" y="3626609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4" name="레일"/>
          <p:cNvSpPr>
            <a:spLocks noGrp="1"/>
          </p:cNvSpPr>
          <p:nvPr>
            <p:ph type="body" sz="quarter" idx="53"/>
          </p:nvPr>
        </p:nvSpPr>
        <p:spPr>
          <a:xfrm>
            <a:off x="734087" y="3626609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 회 사</a:t>
            </a:r>
          </a:p>
        </p:txBody>
      </p:sp>
      <p:sp>
        <p:nvSpPr>
          <p:cNvPr id="75" name="니즈"/>
          <p:cNvSpPr>
            <a:spLocks noGrp="1"/>
          </p:cNvSpPr>
          <p:nvPr>
            <p:ph type="body" sz="quarter" idx="54"/>
          </p:nvPr>
        </p:nvSpPr>
        <p:spPr>
          <a:xfrm>
            <a:off x="1358609" y="3615652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안전하고 지속가능하게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일할 수 있는 근무환경 요구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(모·자회사 공동협의회)</a:t>
            </a:r>
          </a:p>
        </p:txBody>
      </p:sp>
      <p:sp>
        <p:nvSpPr>
          <p:cNvPr id="76" name="실적 머리"/>
          <p:cNvSpPr>
            <a:spLocks noGrp="1"/>
          </p:cNvSpPr>
          <p:nvPr>
            <p:ph type="body" sz="quarter" idx="55"/>
          </p:nvPr>
        </p:nvSpPr>
        <p:spPr>
          <a:xfrm>
            <a:off x="2935471" y="3626609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처우, 안전수준 동반 강화</a:t>
            </a:r>
          </a:p>
        </p:txBody>
      </p:sp>
      <p:sp>
        <p:nvSpPr>
          <p:cNvPr id="77" name="태그"/>
          <p:cNvSpPr/>
          <p:nvPr/>
        </p:nvSpPr>
        <p:spPr>
          <a:xfrm>
            <a:off x="2979297" y="3878609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8" name="태그"/>
          <p:cNvSpPr>
            <a:spLocks noGrp="1"/>
          </p:cNvSpPr>
          <p:nvPr>
            <p:ph type="body" sz="quarter" idx="56"/>
          </p:nvPr>
        </p:nvSpPr>
        <p:spPr>
          <a:xfrm>
            <a:off x="2979297" y="3878609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처우</a:t>
            </a:r>
          </a:p>
        </p:txBody>
      </p:sp>
      <p:sp>
        <p:nvSpPr>
          <p:cNvPr id="79" name="칩 줄 글"/>
          <p:cNvSpPr>
            <a:spLocks noGrp="1"/>
          </p:cNvSpPr>
          <p:nvPr>
            <p:ph type="body" sz="quarter" idx="57"/>
          </p:nvPr>
        </p:nvSpPr>
        <p:spPr>
          <a:xfrm>
            <a:off x="3341269" y="3856696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모회사 수준 복지</a:t>
            </a:r>
          </a:p>
        </p:txBody>
      </p:sp>
      <p:sp>
        <p:nvSpPr>
          <p:cNvPr id="80" name="태그"/>
          <p:cNvSpPr/>
          <p:nvPr/>
        </p:nvSpPr>
        <p:spPr>
          <a:xfrm>
            <a:off x="2979297" y="4108696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1" name="태그"/>
          <p:cNvSpPr>
            <a:spLocks noGrp="1"/>
          </p:cNvSpPr>
          <p:nvPr>
            <p:ph type="body" sz="quarter" idx="58"/>
          </p:nvPr>
        </p:nvSpPr>
        <p:spPr>
          <a:xfrm>
            <a:off x="2979297" y="4108696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82" name="칩 줄 글"/>
          <p:cNvSpPr>
            <a:spLocks noGrp="1"/>
          </p:cNvSpPr>
          <p:nvPr>
            <p:ph type="body" sz="quarter" idx="59"/>
          </p:nvPr>
        </p:nvSpPr>
        <p:spPr>
          <a:xfrm>
            <a:off x="3341269" y="4086783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인력증원(10명), 예산 상향(0.9억원)</a:t>
            </a:r>
          </a:p>
        </p:txBody>
      </p:sp>
      <p:sp>
        <p:nvSpPr>
          <p:cNvPr id="83" name="성과 머리"/>
          <p:cNvSpPr/>
          <p:nvPr/>
        </p:nvSpPr>
        <p:spPr>
          <a:xfrm>
            <a:off x="5378995" y="3648522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4" name="성과 머리"/>
          <p:cNvSpPr>
            <a:spLocks noGrp="1"/>
          </p:cNvSpPr>
          <p:nvPr>
            <p:ph type="body" sz="quarter" idx="60"/>
          </p:nvPr>
        </p:nvSpPr>
        <p:spPr>
          <a:xfrm>
            <a:off x="5378995" y="3648522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운영실태 평가</a:t>
            </a:r>
          </a:p>
        </p:txBody>
      </p:sp>
      <p:sp>
        <p:nvSpPr>
          <p:cNvPr id="85" name="성과 글"/>
          <p:cNvSpPr>
            <a:spLocks noGrp="1"/>
          </p:cNvSpPr>
          <p:nvPr>
            <p:ph type="body" sz="quarter" idx="61"/>
          </p:nvPr>
        </p:nvSpPr>
        <p:spPr>
          <a:xfrm>
            <a:off x="5378995" y="3889565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최고점수 A등급 달성</a:t>
            </a:r>
          </a:p>
        </p:txBody>
      </p:sp>
      <p:cxnSp>
        <p:nvCxnSpPr>
          <p:cNvPr id="86" name="Connector 60"/>
          <p:cNvCxnSpPr/>
          <p:nvPr/>
        </p:nvCxnSpPr>
        <p:spPr>
          <a:xfrm>
            <a:off x="2924515" y="364852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87" name="Connector 61"/>
          <p:cNvCxnSpPr/>
          <p:nvPr/>
        </p:nvCxnSpPr>
        <p:spPr>
          <a:xfrm>
            <a:off x="5346125" y="364852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1 서사 · 환경분석 → 성과환류 → 목표 → 추진방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데스밸리 극복을 돕는 도전적 지원, 기업 생존율 제고 및 고용 창출 강화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127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대외환경 경기침체 장기화·기술패권 경쟁</a:t>
            </a:r>
          </a:p>
        </p:txBody>
      </p:sp>
      <p:sp>
        <p:nvSpPr>
          <p:cNvPr id="20" name="머리칸"/>
          <p:cNvSpPr/>
          <p:nvPr/>
        </p:nvSpPr>
        <p:spPr>
          <a:xfrm>
            <a:off x="3985435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 벤처·창업기업 지원 강화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96957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분쟁·원자재값 폭등 등 변동성 심화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AI·로봇 등 딥테크가 불러온 기술경쟁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96957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 중심 국가로 대전환 정부 역량 총동원”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4298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835217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35217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835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857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물산업 기반 일자리 창출 지원 등 민간 일자리 확보 노력 지속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857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착안점 기후·환경산업 육성과 민간주도 스케일업 기반의 민관협력 정책 강화</a:t>
            </a:r>
          </a:p>
        </p:txBody>
      </p:sp>
      <p:cxnSp>
        <p:nvCxnSpPr>
          <p:cNvPr id="30" name="Connector 22"/>
          <p:cNvCxnSpPr/>
          <p:nvPr/>
        </p:nvCxnSpPr>
        <p:spPr>
          <a:xfrm>
            <a:off x="3985435" y="1890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배너"/>
          <p:cNvSpPr/>
          <p:nvPr/>
        </p:nvSpPr>
        <p:spPr>
          <a:xfrm>
            <a:off x="536870" y="24461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32" name="Connector 24"/>
          <p:cNvCxnSpPr/>
          <p:nvPr/>
        </p:nvCxnSpPr>
        <p:spPr>
          <a:xfrm>
            <a:off x="536870" y="24461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33" name="배너 글"/>
          <p:cNvSpPr>
            <a:spLocks noGrp="1"/>
          </p:cNvSpPr>
          <p:nvPr>
            <p:ph type="body" sz="quarter" idx="30"/>
          </p:nvPr>
        </p:nvSpPr>
        <p:spPr>
          <a:xfrm>
            <a:off x="536870" y="25009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최대 인프라를 보유한 기후위기 대응 선도 공기업으로 물·기후테크 기업의 제3벤처붐 견인</a:t>
            </a:r>
          </a:p>
        </p:txBody>
      </p:sp>
      <p:sp>
        <p:nvSpPr>
          <p:cNvPr id="34" name="표 외곽"/>
          <p:cNvSpPr/>
          <p:nvPr/>
        </p:nvSpPr>
        <p:spPr>
          <a:xfrm>
            <a:off x="536870" y="2818643"/>
            <a:ext cx="6300000" cy="9874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8350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8350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37" name="배너"/>
          <p:cNvSpPr/>
          <p:nvPr/>
        </p:nvSpPr>
        <p:spPr>
          <a:xfrm>
            <a:off x="1161391" y="28569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8569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아이디어가 혁신으로, 딥테크 기업이 지속 성장하는 창업 숲주기 생태계 실현</a:t>
            </a:r>
          </a:p>
        </p:txBody>
      </p:sp>
      <p:sp>
        <p:nvSpPr>
          <p:cNvPr id="39" name="레일"/>
          <p:cNvSpPr/>
          <p:nvPr/>
        </p:nvSpPr>
        <p:spPr>
          <a:xfrm>
            <a:off x="547826" y="3104922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31049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31049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161391" y="3126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3126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물+기후테크 스타트업 발굴·육성</a:t>
            </a:r>
          </a:p>
        </p:txBody>
      </p:sp>
      <p:sp>
        <p:nvSpPr>
          <p:cNvPr id="44" name="머리칸"/>
          <p:cNvSpPr/>
          <p:nvPr/>
        </p:nvSpPr>
        <p:spPr>
          <a:xfrm>
            <a:off x="3985435" y="3126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3126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투자확대·동반성장 환경 조성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3678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현장의 목소리에 기반한 사내벤처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기업 양성으로 민간 고용 극대화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33678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성장→스케일업 단계별 성장사다리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활성화 연계 상생형 일자리 창출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3985435" y="34007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2 서사 · 추진배경 → 시사점 → 추진노력 3단(현 수준 파악 · 제도 개선 · 성과 견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사내벤처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37778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‘창업 몰입’ 환경 조성으로 사업화와 성장의 골든타임 확보</a:t>
            </a:r>
          </a:p>
        </p:txBody>
      </p:sp>
      <p:sp>
        <p:nvSpPr>
          <p:cNvPr id="14" name="태그칩"/>
          <p:cNvSpPr/>
          <p:nvPr/>
        </p:nvSpPr>
        <p:spPr>
          <a:xfrm>
            <a:off x="508724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08724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454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421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42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직원 간담회 “사업화 골든타임을 놓치지 않도록 사전 준비기간이 필요해요”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011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설명회 “현업과 병행한 기술상용화·창업 준비로 업무에 지장을 줄까 부담스러워요”</a:t>
            </a:r>
          </a:p>
        </p:txBody>
      </p:sp>
      <p:cxnSp>
        <p:nvCxnSpPr>
          <p:cNvPr id="21" name="Connector 12"/>
          <p:cNvCxnSpPr/>
          <p:nvPr/>
        </p:nvCxnSpPr>
        <p:spPr>
          <a:xfrm>
            <a:off x="4171696" y="1134000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캡션 띠"/>
          <p:cNvSpPr/>
          <p:nvPr/>
        </p:nvSpPr>
        <p:spPr>
          <a:xfrm>
            <a:off x="723130" y="1539391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1051826" y="158321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7"/>
          </p:nvPr>
        </p:nvSpPr>
        <p:spPr>
          <a:xfrm>
            <a:off x="1051826" y="158321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5" name="캡션"/>
          <p:cNvSpPr>
            <a:spLocks noGrp="1"/>
          </p:cNvSpPr>
          <p:nvPr>
            <p:ph type="body" sz="quarter" idx="28"/>
          </p:nvPr>
        </p:nvSpPr>
        <p:spPr>
          <a:xfrm>
            <a:off x="1545480" y="1539391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성공적인 분사·창업 지원체계 마련으로 사내벤처 활성화 유도</a:t>
            </a:r>
          </a:p>
        </p:txBody>
      </p:sp>
      <p:sp>
        <p:nvSpPr>
          <p:cNvPr id="26" name="표 외곽"/>
          <p:cNvSpPr/>
          <p:nvPr/>
        </p:nvSpPr>
        <p:spPr>
          <a:xfrm>
            <a:off x="723130" y="1846174"/>
            <a:ext cx="6300000" cy="1243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734087" y="1862609"/>
            <a:ext cx="580696" cy="1210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862609"/>
            <a:ext cx="580696" cy="1210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 력</a:t>
            </a:r>
          </a:p>
        </p:txBody>
      </p:sp>
      <p:sp>
        <p:nvSpPr>
          <p:cNvPr id="29" name="단계"/>
          <p:cNvSpPr/>
          <p:nvPr/>
        </p:nvSpPr>
        <p:spPr>
          <a:xfrm>
            <a:off x="1347652" y="18845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 現 수준 파악</a:t>
            </a:r>
          </a:p>
        </p:txBody>
      </p:sp>
      <p:sp>
        <p:nvSpPr>
          <p:cNvPr id="31" name="단계"/>
          <p:cNvSpPr/>
          <p:nvPr/>
        </p:nvSpPr>
        <p:spPr>
          <a:xfrm>
            <a:off x="3230348" y="18845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 실효성 있는 제도 개선</a:t>
            </a:r>
          </a:p>
        </p:txBody>
      </p:sp>
      <p:sp>
        <p:nvSpPr>
          <p:cNvPr id="33" name="단계"/>
          <p:cNvSpPr/>
          <p:nvPr/>
        </p:nvSpPr>
        <p:spPr>
          <a:xfrm>
            <a:off x="5113043" y="18845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 성과 창출 견인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230347" y="1884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5113043" y="1884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활성화를 위한 참여직원 대상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설문내용 사전 준비 필요 여부·기간 / 결과 현업과 분리된 준비기간(5.5개월) 요구 多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인사관리 연계·기준 개정으로 사전 준비기간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「사내벤처 운영기준」 개정, 창업 준비기간 확보 명문화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3230348" y="2169391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창업 준비기간 확보로 ‘시제품 개발’ 조기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 창업대전 우수상 수상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5113043" y="2169391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핵심성과 박스"/>
          <p:cNvSpPr/>
          <p:nvPr/>
        </p:nvSpPr>
        <p:spPr>
          <a:xfrm>
            <a:off x="723130" y="3177391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핵심성과 라벨"/>
          <p:cNvSpPr/>
          <p:nvPr/>
        </p:nvSpPr>
        <p:spPr>
          <a:xfrm>
            <a:off x="756000" y="3215739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4" name="핵심성과 라벨"/>
          <p:cNvSpPr>
            <a:spLocks noGrp="1"/>
          </p:cNvSpPr>
          <p:nvPr>
            <p:ph type="body" sz="quarter" idx="36"/>
          </p:nvPr>
        </p:nvSpPr>
        <p:spPr>
          <a:xfrm>
            <a:off x="756000" y="3215739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37"/>
          </p:nvPr>
        </p:nvSpPr>
        <p:spPr>
          <a:xfrm>
            <a:off x="1501043" y="31938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공기업 최다 19개사(’25년 2개사 2명) 분사 창업, ’25년 신규고용 16명(누계 113명)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3 서사 · 아쉬운 점 → 개선방향 → 추진노력 3갈래(기대효과 · 고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37292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37292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205058" y="920348"/>
            <a:ext cx="425459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205058" y="766957"/>
            <a:ext cx="5631812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정부사업 연계 하이브리드형 기업지원으로 스케일업 및 민간 고용 극대화</a:t>
            </a:r>
          </a:p>
        </p:txBody>
      </p:sp>
      <p:sp>
        <p:nvSpPr>
          <p:cNvPr id="15" name="태그칩"/>
          <p:cNvSpPr/>
          <p:nvPr/>
        </p:nvSpPr>
        <p:spPr>
          <a:xfrm>
            <a:off x="555825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55825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20776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아쉬운점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창업 지원사업 운영으로 좋은 평가를 얻었으나, 자체 지원사업과 연계 부족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35313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35313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353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"/>
          <p:cNvSpPr/>
          <p:nvPr/>
        </p:nvSpPr>
        <p:spPr>
          <a:xfrm>
            <a:off x="1161391" y="13750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역량으로 R&amp;D 인력 지원</a:t>
            </a:r>
          </a:p>
        </p:txBody>
      </p:sp>
      <p:sp>
        <p:nvSpPr>
          <p:cNvPr id="26" name="단계"/>
          <p:cNvSpPr/>
          <p:nvPr/>
        </p:nvSpPr>
        <p:spPr>
          <a:xfrm>
            <a:off x="3044087" y="13750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3044087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수상 아이디어가 실제 창업으로</a:t>
            </a:r>
          </a:p>
        </p:txBody>
      </p:sp>
      <p:sp>
        <p:nvSpPr>
          <p:cNvPr id="28" name="단계"/>
          <p:cNvSpPr/>
          <p:nvPr/>
        </p:nvSpPr>
        <p:spPr>
          <a:xfrm>
            <a:off x="4926783" y="13750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4926783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정부지원 이후 스케일업 도모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044086" y="13750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단계 삼각형"/>
          <p:cNvSpPr/>
          <p:nvPr/>
        </p:nvSpPr>
        <p:spPr>
          <a:xfrm>
            <a:off x="4926782" y="13750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 txBox="1"/>
          <p:nvPr/>
        </p:nvSpPr>
        <p:spPr>
          <a:xfrm>
            <a:off x="1172348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33" name="칸 본문"/>
          <p:cNvSpPr txBox="1"/>
          <p:nvPr/>
        </p:nvSpPr>
        <p:spPr>
          <a:xfrm>
            <a:off x="3055043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4" name="Connector 23"/>
          <p:cNvCxnSpPr/>
          <p:nvPr/>
        </p:nvCxnSpPr>
        <p:spPr>
          <a:xfrm flipV="1">
            <a:off x="3044087" y="1638000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 txBox="1"/>
          <p:nvPr/>
        </p:nvSpPr>
        <p:spPr>
          <a:xfrm>
            <a:off x="4937739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6" name="Connector 25"/>
          <p:cNvCxnSpPr/>
          <p:nvPr/>
        </p:nvCxnSpPr>
        <p:spPr>
          <a:xfrm flipV="1">
            <a:off x="4926783" y="1638000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1754452"/>
            <a:ext cx="580696" cy="1358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1754452"/>
            <a:ext cx="580696" cy="13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추진노력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547826" y="17544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머리칸"/>
          <p:cNvSpPr/>
          <p:nvPr/>
        </p:nvSpPr>
        <p:spPr>
          <a:xfrm>
            <a:off x="1161391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창업패키지</a:t>
            </a:r>
          </a:p>
        </p:txBody>
      </p:sp>
      <p:sp>
        <p:nvSpPr>
          <p:cNvPr id="42" name="머리칸"/>
          <p:cNvSpPr/>
          <p:nvPr/>
        </p:nvSpPr>
        <p:spPr>
          <a:xfrm>
            <a:off x="3044087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혁신창업대전</a:t>
            </a:r>
          </a:p>
        </p:txBody>
      </p:sp>
      <p:sp>
        <p:nvSpPr>
          <p:cNvPr id="44" name="머리칸"/>
          <p:cNvSpPr/>
          <p:nvPr/>
        </p:nvSpPr>
        <p:spPr>
          <a:xfrm>
            <a:off x="4926783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 스타트업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딥테크 트랙 패키지 사업 수주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친환경·에너지 분야 유망기업 추가 보육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자금난 해소 및 고용 창출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수상팀 간담회 의견수렴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실무중심 부트캠프 커리큘럼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추가개선 부트캠프 만족도 상향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3044087" y="2050278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 상용화 기간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추천공모제 업력요건 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시장안착·고도화 견인</a:t>
            </a:r>
          </a:p>
        </p:txBody>
      </p:sp>
      <p:cxnSp>
        <p:nvCxnSpPr>
          <p:cNvPr id="50" name="Connector 35"/>
          <p:cNvCxnSpPr/>
          <p:nvPr/>
        </p:nvCxnSpPr>
        <p:spPr>
          <a:xfrm>
            <a:off x="4926783" y="2050278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375개 일자리 창출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208개 일자리 창출</a:t>
            </a:r>
          </a:p>
        </p:txBody>
      </p:sp>
      <p:cxnSp>
        <p:nvCxnSpPr>
          <p:cNvPr id="53" name="Connector 38"/>
          <p:cNvCxnSpPr/>
          <p:nvPr/>
        </p:nvCxnSpPr>
        <p:spPr>
          <a:xfrm>
            <a:off x="3044087" y="2921322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1,163개 일자리 창출</a:t>
            </a:r>
          </a:p>
        </p:txBody>
      </p:sp>
      <p:cxnSp>
        <p:nvCxnSpPr>
          <p:cNvPr id="55" name="Connector 40"/>
          <p:cNvCxnSpPr/>
          <p:nvPr/>
        </p:nvCxnSpPr>
        <p:spPr>
          <a:xfrm>
            <a:off x="4926783" y="2921322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핵심성과 박스"/>
          <p:cNvSpPr/>
          <p:nvPr/>
        </p:nvSpPr>
        <p:spPr>
          <a:xfrm>
            <a:off x="536870" y="32171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핵심성과 라벨"/>
          <p:cNvSpPr/>
          <p:nvPr/>
        </p:nvSpPr>
        <p:spPr>
          <a:xfrm>
            <a:off x="569739" y="32554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8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32554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9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32335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자체·정부사업 연계 일자리 1,746개 창출, ‘최우수’ 운영기관 선정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4 서사 · 추진배경 → 성장 사다리(성장 → 스케일업) → 실행 결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628312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62831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육성·성장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46702" y="931304"/>
            <a:ext cx="334801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46702" y="777913"/>
            <a:ext cx="5376429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성장자금부터 지역특화 VC까지, 고속성장 지원체계 강화</a:t>
            </a:r>
          </a:p>
        </p:txBody>
      </p:sp>
      <p:sp>
        <p:nvSpPr>
          <p:cNvPr id="14" name="태그칩"/>
          <p:cNvSpPr/>
          <p:nvPr/>
        </p:nvSpPr>
        <p:spPr>
          <a:xfrm>
            <a:off x="509332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09332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644446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644446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8818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산업환경 기후테크 분야는 높은 투자비용·민간투자 소외로 ‘데스밸리’ 현상 발생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국정목표 ‘벤처·중소기업이 혁신을 주도할 수 있는 금융 생태계를 조성한다’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03861"/>
            <a:ext cx="580696" cy="142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503861"/>
            <a:ext cx="580696" cy="142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347652" y="15257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15257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성장을 거쳐 스케일업으로, 유니콘 기업까지 이어지는 성장 사다리 구축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1339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지역혁신벤처펀드 대폭 확대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761339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스케일업 지역펀드 신규출자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4171696" y="179420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단계"/>
          <p:cNvSpPr/>
          <p:nvPr/>
        </p:nvSpPr>
        <p:spPr>
          <a:xfrm>
            <a:off x="1347652" y="1996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투자심사역 양성·현장 방문</a:t>
            </a:r>
          </a:p>
        </p:txBody>
      </p:sp>
      <p:sp>
        <p:nvSpPr>
          <p:cNvPr id="34" name="단계"/>
          <p:cNvSpPr/>
          <p:nvPr/>
        </p:nvSpPr>
        <p:spPr>
          <a:xfrm>
            <a:off x="3230348" y="1996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3"/>
          </p:nvPr>
        </p:nvSpPr>
        <p:spPr>
          <a:xfrm>
            <a:off x="3230348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운용사 대상 IR 개최</a:t>
            </a:r>
          </a:p>
        </p:txBody>
      </p:sp>
      <p:sp>
        <p:nvSpPr>
          <p:cNvPr id="36" name="단계"/>
          <p:cNvSpPr/>
          <p:nvPr/>
        </p:nvSpPr>
        <p:spPr>
          <a:xfrm>
            <a:off x="5113043" y="1996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4"/>
          </p:nvPr>
        </p:nvSpPr>
        <p:spPr>
          <a:xfrm>
            <a:off x="5113043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물산업 투자 관심도 제고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3230347" y="1996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5113043" y="1996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450억원 신규투자 실시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펀드 투자재원 확보(200억원)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3230348" y="2281774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관심도 제고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5113043" y="2281774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572122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유망기업 43개사 성장자금 공급, 창업기업 돈맥경화 방지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572122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지역 창업기업 17개사에 투자 및 64명 고용 창출 기대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4171696" y="2604991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핵심성과 박스"/>
          <p:cNvSpPr/>
          <p:nvPr/>
        </p:nvSpPr>
        <p:spPr>
          <a:xfrm>
            <a:off x="723130" y="3032296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756000" y="307064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307064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304873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기후테크 창업기업 43개사에 출자펀드 650억원 투자 및 761명 일자리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5 서사 · 추진배경 → 매칭 페어 · 로컬 공동체 → 지역 자생 일자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73150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7315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 일자리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563635" y="920348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563635" y="766957"/>
            <a:ext cx="527323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지역 일자리 생태계를 활성화하는 로컬 친화적 창업지원</a:t>
            </a:r>
          </a:p>
        </p:txBody>
      </p:sp>
      <p:sp>
        <p:nvSpPr>
          <p:cNvPr id="15" name="태그칩"/>
          <p:cNvSpPr/>
          <p:nvPr/>
        </p:nvSpPr>
        <p:spPr>
          <a:xfrm>
            <a:off x="492452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92452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7" name="태그칩"/>
          <p:cNvSpPr/>
          <p:nvPr/>
        </p:nvSpPr>
        <p:spPr>
          <a:xfrm>
            <a:off x="5475646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475646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5641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SOC 기관으로서 협력기업 및 상생형 일자리 창출 관심 확대 필요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협업 지역주민·대학·시민단체와 협업한 지역 밀착형 창업지원 제공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492904"/>
            <a:ext cx="580696" cy="1106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492904"/>
            <a:ext cx="580696" cy="1106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161391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AI·초격차 스타트업 잡 매칭 페어</a:t>
            </a:r>
          </a:p>
        </p:txBody>
      </p:sp>
      <p:sp>
        <p:nvSpPr>
          <p:cNvPr id="30" name="머리칸"/>
          <p:cNvSpPr/>
          <p:nvPr/>
        </p:nvSpPr>
        <p:spPr>
          <a:xfrm>
            <a:off x="3985435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주민과 함께한 ‘꿀벌식당’ 설립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1755861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내 신기술기업·구직자간 취업연결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AI 스타트업(10개사) ↔ 지역 대학생(53명)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1755861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 마을 지역주민 협동조합과 협력, 꿀벌을 활용한 수확물 제품 개발·창업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지역주민 일자리(19개), 소득(37백만원) 창출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3985435" y="1788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배너"/>
          <p:cNvSpPr/>
          <p:nvPr/>
        </p:nvSpPr>
        <p:spPr>
          <a:xfrm>
            <a:off x="1161391" y="23749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3749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지역기업 맞춤 구인과 풀뿌리 일자리를 지원해 지역 자생적 일자리 창출</a:t>
            </a:r>
          </a:p>
        </p:txBody>
      </p:sp>
      <p:sp>
        <p:nvSpPr>
          <p:cNvPr id="37" name="핵심성과 박스"/>
          <p:cNvSpPr/>
          <p:nvPr/>
        </p:nvSpPr>
        <p:spPr>
          <a:xfrm>
            <a:off x="536870" y="270360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핵심성과 라벨"/>
          <p:cNvSpPr/>
          <p:nvPr/>
        </p:nvSpPr>
        <p:spPr>
          <a:xfrm>
            <a:off x="569739" y="274194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9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569739" y="274194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314783" y="272003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 AI 스타트업 3개사 5명 채용 및 7개 마을 지역 일자리 19개 창출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6 서사 · 돌아보기 → 원인 → 시사점 → 환경 · 직무 · 성장 지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501087" y="931304"/>
            <a:ext cx="304408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501087" y="777913"/>
            <a:ext cx="55220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‘불가능’이라는 한계를 넘어선 장애인 고용의 전환점</a:t>
            </a:r>
          </a:p>
        </p:txBody>
      </p:sp>
      <p:sp>
        <p:nvSpPr>
          <p:cNvPr id="14" name="태그칩"/>
          <p:cNvSpPr/>
          <p:nvPr/>
        </p:nvSpPr>
        <p:spPr>
          <a:xfrm>
            <a:off x="464377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64377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194900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194900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태그칩"/>
          <p:cNvSpPr/>
          <p:nvPr/>
        </p:nvSpPr>
        <p:spPr>
          <a:xfrm>
            <a:off x="5965559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5"/>
          </p:nvPr>
        </p:nvSpPr>
        <p:spPr>
          <a:xfrm>
            <a:off x="5965559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062783"/>
            <a:ext cx="6300000" cy="997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’24년을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돌아보고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질적 성과 장애 이해·공감 중심활동으로 근로자 만족도 상승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법정 의무 고용률(3.8%) 달성에는 여전히 부족한 편</a:t>
            </a:r>
          </a:p>
        </p:txBody>
      </p:sp>
      <p:cxnSp>
        <p:nvCxnSpPr>
          <p:cNvPr id="25" name="Connector 14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1503861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503861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원인을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“근무장소까지 출·퇴근 하기가 부담스러워요”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“장애인을 포용할 수 있는 직무 도입이 필요”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3230348" y="15586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“일할 수 있는 여건 조성이 가장 중요해요”</a:t>
            </a:r>
          </a:p>
        </p:txBody>
      </p:sp>
      <p:cxnSp>
        <p:nvCxnSpPr>
          <p:cNvPr id="33" name="Connector 21"/>
          <p:cNvCxnSpPr/>
          <p:nvPr/>
        </p:nvCxnSpPr>
        <p:spPr>
          <a:xfrm>
            <a:off x="5113043" y="15586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캡션 띠"/>
          <p:cNvSpPr/>
          <p:nvPr/>
        </p:nvSpPr>
        <p:spPr>
          <a:xfrm>
            <a:off x="723130" y="208189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1051826" y="2125722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3"/>
          </p:nvPr>
        </p:nvSpPr>
        <p:spPr>
          <a:xfrm>
            <a:off x="1051826" y="2125722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7" name="캡션"/>
          <p:cNvSpPr>
            <a:spLocks noGrp="1"/>
          </p:cNvSpPr>
          <p:nvPr>
            <p:ph type="body" sz="quarter" idx="34"/>
          </p:nvPr>
        </p:nvSpPr>
        <p:spPr>
          <a:xfrm>
            <a:off x="1545480" y="2081896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일할 수 있는 환경을 조성하고 적합한 직무 부여를 통한 포용 일자리 확대</a:t>
            </a:r>
          </a:p>
        </p:txBody>
      </p:sp>
      <p:sp>
        <p:nvSpPr>
          <p:cNvPr id="38" name="표 외곽"/>
          <p:cNvSpPr/>
          <p:nvPr/>
        </p:nvSpPr>
        <p:spPr>
          <a:xfrm>
            <a:off x="723130" y="2388678"/>
            <a:ext cx="6300000" cy="24242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레일"/>
          <p:cNvSpPr/>
          <p:nvPr/>
        </p:nvSpPr>
        <p:spPr>
          <a:xfrm>
            <a:off x="734087" y="2405113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레일 태그"/>
          <p:cNvSpPr/>
          <p:nvPr/>
        </p:nvSpPr>
        <p:spPr>
          <a:xfrm>
            <a:off x="854405" y="2448939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1" name="레일 태그"/>
          <p:cNvSpPr>
            <a:spLocks noGrp="1"/>
          </p:cNvSpPr>
          <p:nvPr>
            <p:ph type="body" sz="quarter" idx="35"/>
          </p:nvPr>
        </p:nvSpPr>
        <p:spPr>
          <a:xfrm>
            <a:off x="854405" y="2448939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42" name="레일 라벨"/>
          <p:cNvSpPr>
            <a:spLocks noGrp="1"/>
          </p:cNvSpPr>
          <p:nvPr>
            <p:ph type="body" sz="quarter" idx="36"/>
          </p:nvPr>
        </p:nvSpPr>
        <p:spPr>
          <a:xfrm>
            <a:off x="734087" y="2635200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근로여건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 성</a:t>
            </a:r>
          </a:p>
        </p:txBody>
      </p:sp>
      <p:sp>
        <p:nvSpPr>
          <p:cNvPr id="43" name="머리칸"/>
          <p:cNvSpPr/>
          <p:nvPr/>
        </p:nvSpPr>
        <p:spPr>
          <a:xfrm>
            <a:off x="1347652" y="24270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7"/>
          </p:nvPr>
        </p:nvSpPr>
        <p:spPr>
          <a:xfrm>
            <a:off x="1347652" y="24270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재택근무 기반의 신규 직무 신설</a:t>
            </a:r>
          </a:p>
        </p:txBody>
      </p:sp>
      <p:sp>
        <p:nvSpPr>
          <p:cNvPr id="45" name="머리칸"/>
          <p:cNvSpPr/>
          <p:nvPr/>
        </p:nvSpPr>
        <p:spPr>
          <a:xfrm>
            <a:off x="4171696" y="24270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8"/>
          </p:nvPr>
        </p:nvSpPr>
        <p:spPr>
          <a:xfrm>
            <a:off x="4171696" y="24270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시공간 제약없는 근무환경 조성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668070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협업 재택근무 기반 맞춤형 직무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단독 업무수행 가능 직무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2668070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 4시간 재택근무형 인턴 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오피스 근무여건 마련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2700939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734087" y="3128243"/>
            <a:ext cx="580696" cy="871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레일 태그"/>
          <p:cNvSpPr/>
          <p:nvPr/>
        </p:nvSpPr>
        <p:spPr>
          <a:xfrm>
            <a:off x="854405" y="3292591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2" name="레일 태그"/>
          <p:cNvSpPr>
            <a:spLocks noGrp="1"/>
          </p:cNvSpPr>
          <p:nvPr>
            <p:ph type="body" sz="quarter" idx="41"/>
          </p:nvPr>
        </p:nvSpPr>
        <p:spPr>
          <a:xfrm>
            <a:off x="854405" y="3292591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53" name="레일 라벨"/>
          <p:cNvSpPr>
            <a:spLocks noGrp="1"/>
          </p:cNvSpPr>
          <p:nvPr>
            <p:ph type="body" sz="quarter" idx="42"/>
          </p:nvPr>
        </p:nvSpPr>
        <p:spPr>
          <a:xfrm>
            <a:off x="734087" y="3478852"/>
            <a:ext cx="580696" cy="4985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직무채용기반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 련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734086" y="31282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머리칸"/>
          <p:cNvSpPr/>
          <p:nvPr/>
        </p:nvSpPr>
        <p:spPr>
          <a:xfrm>
            <a:off x="1347652" y="31501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3"/>
          </p:nvPr>
        </p:nvSpPr>
        <p:spPr>
          <a:xfrm>
            <a:off x="1347652" y="31501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시범 도입 직무 전사업장 확산</a:t>
            </a:r>
          </a:p>
        </p:txBody>
      </p:sp>
      <p:sp>
        <p:nvSpPr>
          <p:cNvPr id="57" name="머리칸"/>
          <p:cNvSpPr/>
          <p:nvPr/>
        </p:nvSpPr>
        <p:spPr>
          <a:xfrm>
            <a:off x="4171696" y="31501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4"/>
          </p:nvPr>
        </p:nvSpPr>
        <p:spPr>
          <a:xfrm>
            <a:off x="4171696" y="31501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적합 직무 신규 개발·고용 확대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391200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사택미화·기록물관리 직무 본사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전국 채용 확대, 직무매뉴얼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전사 26명 신규 채용(’24년 14명)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3391200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 고용 TF·장애 직무 공모전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생활지원서비스 직무 개발·채용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8명 고용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4171696" y="3424070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4015722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레일 태그"/>
          <p:cNvSpPr/>
          <p:nvPr/>
        </p:nvSpPr>
        <p:spPr>
          <a:xfrm>
            <a:off x="854405" y="418007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4" name="레일 태그"/>
          <p:cNvSpPr>
            <a:spLocks noGrp="1"/>
          </p:cNvSpPr>
          <p:nvPr>
            <p:ph type="body" sz="quarter" idx="47"/>
          </p:nvPr>
        </p:nvSpPr>
        <p:spPr>
          <a:xfrm>
            <a:off x="854405" y="418007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</a:t>
            </a:r>
          </a:p>
        </p:txBody>
      </p:sp>
      <p:sp>
        <p:nvSpPr>
          <p:cNvPr id="65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366330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고용안착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734086" y="40157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머리칸"/>
          <p:cNvSpPr/>
          <p:nvPr/>
        </p:nvSpPr>
        <p:spPr>
          <a:xfrm>
            <a:off x="1347652" y="40376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8" name="머리칸"/>
          <p:cNvSpPr>
            <a:spLocks noGrp="1"/>
          </p:cNvSpPr>
          <p:nvPr>
            <p:ph type="body" sz="quarter" idx="49"/>
          </p:nvPr>
        </p:nvSpPr>
        <p:spPr>
          <a:xfrm>
            <a:off x="1347652" y="40376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조직적응 및 경력지원</a:t>
            </a:r>
          </a:p>
        </p:txBody>
      </p:sp>
      <p:sp>
        <p:nvSpPr>
          <p:cNvPr id="69" name="머리칸"/>
          <p:cNvSpPr/>
          <p:nvPr/>
        </p:nvSpPr>
        <p:spPr>
          <a:xfrm>
            <a:off x="4171696" y="40376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0" name="머리칸"/>
          <p:cNvSpPr>
            <a:spLocks noGrp="1"/>
          </p:cNvSpPr>
          <p:nvPr>
            <p:ph type="body" sz="quarter" idx="50"/>
          </p:nvPr>
        </p:nvSpPr>
        <p:spPr>
          <a:xfrm>
            <a:off x="4171696" y="40376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 확산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2786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초기 온보딩 및 맞춤 직무교육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후속 고용공단 연계 직업훈련 참여 지원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42786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직장 내 장애인식 개선 콘서트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장애대학생 기업탐방, 채용설명회</a:t>
            </a:r>
          </a:p>
        </p:txBody>
      </p:sp>
      <p:cxnSp>
        <p:nvCxnSpPr>
          <p:cNvPr id="73" name="Connector 51"/>
          <p:cNvCxnSpPr/>
          <p:nvPr/>
        </p:nvCxnSpPr>
        <p:spPr>
          <a:xfrm>
            <a:off x="4171696" y="4311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핵심성과 박스"/>
          <p:cNvSpPr/>
          <p:nvPr/>
        </p:nvSpPr>
        <p:spPr>
          <a:xfrm>
            <a:off x="723130" y="49005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핵심성과 라벨"/>
          <p:cNvSpPr/>
          <p:nvPr/>
        </p:nvSpPr>
        <p:spPr>
          <a:xfrm>
            <a:off x="756000" y="49388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6" name="핵심성과 라벨"/>
          <p:cNvSpPr>
            <a:spLocks noGrp="1"/>
          </p:cNvSpPr>
          <p:nvPr>
            <p:ph type="body" sz="quarter" idx="53"/>
          </p:nvPr>
        </p:nvSpPr>
        <p:spPr>
          <a:xfrm>
            <a:off x="756000" y="49388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7" name="핵심성과 문구"/>
          <p:cNvSpPr>
            <a:spLocks noGrp="1"/>
          </p:cNvSpPr>
          <p:nvPr>
            <p:ph type="body" sz="quarter" idx="54"/>
          </p:nvPr>
        </p:nvSpPr>
        <p:spPr>
          <a:xfrm>
            <a:off x="1501043" y="49169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역대 최고 장애 고용률 3.8% 달성(’24년 대비 0.32%p 상승, 법정 의무 고용률 준수)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7 서사 · 정부 정책 변화 → 이행 노력 → 성과 창출(3단 흐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62173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62173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53866" y="920348"/>
            <a:ext cx="32438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53866" y="766957"/>
            <a:ext cx="538300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우수 인재 조기 확보·입직 지원을 위한 선제적 채용 추진</a:t>
            </a:r>
          </a:p>
        </p:txBody>
      </p:sp>
      <p:sp>
        <p:nvSpPr>
          <p:cNvPr id="15" name="태그칩"/>
          <p:cNvSpPr/>
          <p:nvPr/>
        </p:nvSpPr>
        <p:spPr>
          <a:xfrm>
            <a:off x="479630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9630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1517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1484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148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흐 름</a:t>
            </a:r>
          </a:p>
        </p:txBody>
      </p:sp>
      <p:sp>
        <p:nvSpPr>
          <p:cNvPr id="20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정부·정책 변화</a:t>
            </a:r>
          </a:p>
        </p:txBody>
      </p:sp>
      <p:sp>
        <p:nvSpPr>
          <p:cNvPr id="22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정부목표 달성 이행 노력</a:t>
            </a:r>
          </a:p>
        </p:txBody>
      </p:sp>
      <p:sp>
        <p:nvSpPr>
          <p:cNvPr id="24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창출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고졸채용 활성화를 위한 공공부문 의무목표 상향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경제정책 방향(’25.1): 경영평가 고졸 채용 만점 비율 상향(기존 8% → ’25년 9% → ’26년 10%)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마이스터고 채용설명회 “공공기관 채용인원이 많아져서 졸업 후 바로 취업하고 싶어요”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채용규모 확대 고졸 채용 29명 공고(전년 17명)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설명회 전남 고등학생 400명 대상 채용 상담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3044087" y="1375043"/>
            <a:ext cx="0" cy="113947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 대비 48% 채용규모 확대(’24년 23명 → ’25년 34명)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졸업 시기 고려, SOC군 최초 조기 채용 공고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4926783" y="1375043"/>
            <a:ext cx="0" cy="113947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8 서사 · 추진배경 → 시사점 → 추진방향 3축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702235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70223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720624" y="931304"/>
            <a:ext cx="35257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720624" y="777913"/>
            <a:ext cx="530250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자립청년을 시작으로 사회배려자 전반으로 고용 안전망 확장</a:t>
            </a:r>
          </a:p>
        </p:txBody>
      </p:sp>
      <p:sp>
        <p:nvSpPr>
          <p:cNvPr id="14" name="태그칩"/>
          <p:cNvSpPr/>
          <p:nvPr/>
        </p:nvSpPr>
        <p:spPr>
          <a:xfrm>
            <a:off x="5344959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344959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/>
          <p:nvPr/>
        </p:nvSpPr>
        <p:spPr>
          <a:xfrm>
            <a:off x="6115618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6115618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본사 소재 지역 외 전국 자립청년 대상으로 확대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환류 자립청년 外 취약계층 채용성과도 여전히 답보상태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캡션 띠"/>
          <p:cNvSpPr/>
          <p:nvPr/>
        </p:nvSpPr>
        <p:spPr>
          <a:xfrm>
            <a:off x="723130" y="152577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태그"/>
          <p:cNvSpPr/>
          <p:nvPr/>
        </p:nvSpPr>
        <p:spPr>
          <a:xfrm>
            <a:off x="1051826" y="1569600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8"/>
          </p:nvPr>
        </p:nvSpPr>
        <p:spPr>
          <a:xfrm>
            <a:off x="1051826" y="1569600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7" name="캡션"/>
          <p:cNvSpPr>
            <a:spLocks noGrp="1"/>
          </p:cNvSpPr>
          <p:nvPr>
            <p:ph type="body" sz="quarter" idx="29"/>
          </p:nvPr>
        </p:nvSpPr>
        <p:spPr>
          <a:xfrm>
            <a:off x="1545480" y="1525774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사회배려자(자립청년 포함) 고용·역량 강화 지원으로 안정적 일자리로의 연계 확대</a:t>
            </a:r>
          </a:p>
        </p:txBody>
      </p:sp>
      <p:sp>
        <p:nvSpPr>
          <p:cNvPr id="28" name="표 외곽"/>
          <p:cNvSpPr/>
          <p:nvPr/>
        </p:nvSpPr>
        <p:spPr>
          <a:xfrm>
            <a:off x="723130" y="1832557"/>
            <a:ext cx="6300000" cy="1358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734087" y="1848991"/>
            <a:ext cx="580696" cy="132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848991"/>
            <a:ext cx="580696" cy="132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31" name="배너"/>
          <p:cNvSpPr/>
          <p:nvPr/>
        </p:nvSpPr>
        <p:spPr>
          <a:xfrm>
            <a:off x="1347652" y="18709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2" name="배너"/>
          <p:cNvSpPr>
            <a:spLocks noGrp="1"/>
          </p:cNvSpPr>
          <p:nvPr>
            <p:ph type="body" sz="quarter" idx="31"/>
          </p:nvPr>
        </p:nvSpPr>
        <p:spPr>
          <a:xfrm>
            <a:off x="1347652" y="18709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고용 취약계층(자립청년, 기초수급자, 다문화, 북한이탈, 한부모)을 사회배려자 범위로 재정의</a:t>
            </a:r>
          </a:p>
        </p:txBody>
      </p:sp>
      <p:sp>
        <p:nvSpPr>
          <p:cNvPr id="33" name="머리칸"/>
          <p:cNvSpPr/>
          <p:nvPr/>
        </p:nvSpPr>
        <p:spPr>
          <a:xfrm>
            <a:off x="1347652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2"/>
          </p:nvPr>
        </p:nvSpPr>
        <p:spPr>
          <a:xfrm>
            <a:off x="1347652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참여 지원 확대</a:t>
            </a:r>
          </a:p>
        </p:txBody>
      </p:sp>
      <p:sp>
        <p:nvSpPr>
          <p:cNvPr id="35" name="머리칸"/>
          <p:cNvSpPr/>
          <p:nvPr/>
        </p:nvSpPr>
        <p:spPr>
          <a:xfrm>
            <a:off x="3230348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3"/>
          </p:nvPr>
        </p:nvSpPr>
        <p:spPr>
          <a:xfrm>
            <a:off x="3230348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개인 성장 지원</a:t>
            </a:r>
          </a:p>
        </p:txBody>
      </p:sp>
      <p:sp>
        <p:nvSpPr>
          <p:cNvPr id="37" name="머리칸"/>
          <p:cNvSpPr/>
          <p:nvPr/>
        </p:nvSpPr>
        <p:spPr>
          <a:xfrm>
            <a:off x="5113043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5113043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정규직 연계 강화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본사 → 전국으로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 전국 자립전담기관 대상 채용 전형 홍보 진행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강화 사회배려자 청년 인턴 교육·면접 준비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이러닝 학습(직무·어학), 모의면접 훈련(재직자 1:1)</a:t>
            </a:r>
          </a:p>
        </p:txBody>
      </p:sp>
      <p:cxnSp>
        <p:nvCxnSpPr>
          <p:cNvPr id="41" name="Connector 25"/>
          <p:cNvCxnSpPr/>
          <p:nvPr/>
        </p:nvCxnSpPr>
        <p:spPr>
          <a:xfrm>
            <a:off x="3230348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우수인턴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운영·실무직 별도 전형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「인사규정 채용세칙」 ‘사회배려자 통합전형 명문화’</a:t>
            </a:r>
          </a:p>
        </p:txBody>
      </p:sp>
      <p:cxnSp>
        <p:nvCxnSpPr>
          <p:cNvPr id="43" name="Connector 27"/>
          <p:cNvCxnSpPr/>
          <p:nvPr/>
        </p:nvCxnSpPr>
        <p:spPr>
          <a:xfrm>
            <a:off x="5113043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핵심성과 박스"/>
          <p:cNvSpPr/>
          <p:nvPr/>
        </p:nvSpPr>
        <p:spPr>
          <a:xfrm>
            <a:off x="723130" y="32788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핵심성과 라벨"/>
          <p:cNvSpPr/>
          <p:nvPr/>
        </p:nvSpPr>
        <p:spPr>
          <a:xfrm>
            <a:off x="756000" y="33171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6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33171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32952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SOC군 유일 사회배려자 전형으로 정규직 5명 채용(기초수급자 1, 한부모 2, 다문화 2)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9 서사 · 추진배경 → 광역 거버넌스 → 지역인재 육성체계 → 종합실적(막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쏠림 없는 성과를 향해 지역인재 채용의 다음 단계 설계</a:t>
            </a:r>
          </a:p>
        </p:txBody>
      </p:sp>
      <p:sp>
        <p:nvSpPr>
          <p:cNvPr id="15" name="태그칩"/>
          <p:cNvSpPr/>
          <p:nvPr/>
        </p:nvSpPr>
        <p:spPr>
          <a:xfrm>
            <a:off x="472401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2401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지역간 격차 해소 및 지방시대 구현 등 지역균형발전 강조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’24년 지역인재 채용률 60% 돌파 ➡ 특정 3개 권역 97.5% 편중</a:t>
            </a:r>
          </a:p>
        </p:txBody>
      </p:sp>
      <p:cxnSp>
        <p:nvCxnSpPr>
          <p:cNvPr id="22" name="Connector 15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캡션 띠"/>
          <p:cNvSpPr/>
          <p:nvPr/>
        </p:nvSpPr>
        <p:spPr>
          <a:xfrm>
            <a:off x="536869" y="1514817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865565" y="1558643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7"/>
          </p:nvPr>
        </p:nvSpPr>
        <p:spPr>
          <a:xfrm>
            <a:off x="865565" y="1558643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6" name="캡션"/>
          <p:cNvSpPr>
            <a:spLocks noGrp="1"/>
          </p:cNvSpPr>
          <p:nvPr>
            <p:ph type="body" sz="quarter" idx="28"/>
          </p:nvPr>
        </p:nvSpPr>
        <p:spPr>
          <a:xfrm>
            <a:off x="1359219" y="1514817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‘양적 확대’에서 소외 권역을 포괄하는 ‘지역 균형 기반’ 질적 확대 필요</a:t>
            </a:r>
          </a:p>
        </p:txBody>
      </p:sp>
      <p:sp>
        <p:nvSpPr>
          <p:cNvPr id="27" name="표 외곽"/>
          <p:cNvSpPr/>
          <p:nvPr/>
        </p:nvSpPr>
        <p:spPr>
          <a:xfrm>
            <a:off x="536870" y="1821600"/>
            <a:ext cx="6300000" cy="1950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"/>
          <p:cNvSpPr/>
          <p:nvPr/>
        </p:nvSpPr>
        <p:spPr>
          <a:xfrm>
            <a:off x="547826" y="1838035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 태그"/>
          <p:cNvSpPr/>
          <p:nvPr/>
        </p:nvSpPr>
        <p:spPr>
          <a:xfrm>
            <a:off x="558376" y="188186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레일 태그"/>
          <p:cNvSpPr>
            <a:spLocks noGrp="1"/>
          </p:cNvSpPr>
          <p:nvPr>
            <p:ph type="body" sz="quarter" idx="29"/>
          </p:nvPr>
        </p:nvSpPr>
        <p:spPr>
          <a:xfrm>
            <a:off x="558376" y="188186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외연확장</a:t>
            </a:r>
          </a:p>
        </p:txBody>
      </p:sp>
      <p:sp>
        <p:nvSpPr>
          <p:cNvPr id="31" name="레일 라벨"/>
          <p:cNvSpPr>
            <a:spLocks noGrp="1"/>
          </p:cNvSpPr>
          <p:nvPr>
            <p:ph type="body" sz="quarter" idx="30"/>
          </p:nvPr>
        </p:nvSpPr>
        <p:spPr>
          <a:xfrm>
            <a:off x="547826" y="20681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광역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거버넌스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축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주도 전략적 연대 구축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지역상생 협약(’25.6)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우수인재 유치 홍보 강화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강원권 거점대학과 지역인재 양성 파트너십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지역인재 육성·취업 지원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지역상생 업무협약(’25.6) 사진 자리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133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소외권역 채용설명회 운영으로 지역인재 유입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0회 → ’25년 3회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133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547826" y="2725513"/>
            <a:ext cx="580696" cy="102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레일 태그"/>
          <p:cNvSpPr/>
          <p:nvPr/>
        </p:nvSpPr>
        <p:spPr>
          <a:xfrm>
            <a:off x="558376" y="288986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레일 태그"/>
          <p:cNvSpPr>
            <a:spLocks noGrp="1"/>
          </p:cNvSpPr>
          <p:nvPr>
            <p:ph type="body" sz="quarter" idx="37"/>
          </p:nvPr>
        </p:nvSpPr>
        <p:spPr>
          <a:xfrm>
            <a:off x="558376" y="288986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인재육성</a:t>
            </a:r>
          </a:p>
        </p:txBody>
      </p:sp>
      <p:sp>
        <p:nvSpPr>
          <p:cNvPr id="46" name="레일 라벨"/>
          <p:cNvSpPr>
            <a:spLocks noGrp="1"/>
          </p:cNvSpPr>
          <p:nvPr>
            <p:ph type="body" sz="quarter" idx="38"/>
          </p:nvPr>
        </p:nvSpPr>
        <p:spPr>
          <a:xfrm>
            <a:off x="547826" y="3076122"/>
            <a:ext cx="580696" cy="657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성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7255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배너"/>
          <p:cNvSpPr/>
          <p:nvPr/>
        </p:nvSpPr>
        <p:spPr>
          <a:xfrm>
            <a:off x="1161391" y="27474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배너"/>
          <p:cNvSpPr>
            <a:spLocks noGrp="1"/>
          </p:cNvSpPr>
          <p:nvPr>
            <p:ph type="body" sz="quarter" idx="39"/>
          </p:nvPr>
        </p:nvSpPr>
        <p:spPr>
          <a:xfrm>
            <a:off x="1161391" y="27474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지역에서 키우고, 지역에서 채용하는 지역인재 육성 체계 구축</a:t>
            </a:r>
          </a:p>
        </p:txBody>
      </p:sp>
      <p:sp>
        <p:nvSpPr>
          <p:cNvPr id="50" name="머리칸"/>
          <p:cNvSpPr/>
          <p:nvPr/>
        </p:nvSpPr>
        <p:spPr>
          <a:xfrm>
            <a:off x="1161391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장학회</a:t>
            </a:r>
          </a:p>
        </p:txBody>
      </p:sp>
      <p:sp>
        <p:nvSpPr>
          <p:cNvPr id="52" name="머리칸"/>
          <p:cNvSpPr/>
          <p:nvPr/>
        </p:nvSpPr>
        <p:spPr>
          <a:xfrm>
            <a:off x="3044087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배달 강좌제</a:t>
            </a:r>
          </a:p>
        </p:txBody>
      </p:sp>
      <p:sp>
        <p:nvSpPr>
          <p:cNvPr id="54" name="머리칸"/>
          <p:cNvSpPr/>
          <p:nvPr/>
        </p:nvSpPr>
        <p:spPr>
          <a:xfrm>
            <a:off x="4926783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현장실습형 인턴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 아동(186명) 대상 맞춤형 학습 서비스 제공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대학생(28명) ↔ 소외아동(243명) 학습지원 프로그램 운영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3044087" y="325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전공·희망직무 매칭 현장 실습형 인턴 채용(37명)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4926783" y="325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핵심성과 박스"/>
          <p:cNvSpPr/>
          <p:nvPr/>
        </p:nvSpPr>
        <p:spPr>
          <a:xfrm>
            <a:off x="536870" y="385951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핵심성과 라벨"/>
          <p:cNvSpPr/>
          <p:nvPr/>
        </p:nvSpPr>
        <p:spPr>
          <a:xfrm>
            <a:off x="569739" y="389238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3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389238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4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88142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지역인재 채용률 66.0%(’24년 63.4%, 2.6%p 증가)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사각지대(강원·제주지역) 인재 유입 3.25배 증가(’24년 4명 → ’25년 13명)</a:t>
            </a:r>
          </a:p>
        </p:txBody>
      </p:sp>
      <p:sp>
        <p:nvSpPr>
          <p:cNvPr id="65" name="틀"/>
          <p:cNvSpPr/>
          <p:nvPr/>
        </p:nvSpPr>
        <p:spPr>
          <a:xfrm>
            <a:off x="536870" y="444960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성과 라벨"/>
          <p:cNvSpPr/>
          <p:nvPr/>
        </p:nvSpPr>
        <p:spPr>
          <a:xfrm>
            <a:off x="547826" y="4460557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7" name="성과 라벨"/>
          <p:cNvSpPr>
            <a:spLocks noGrp="1"/>
          </p:cNvSpPr>
          <p:nvPr>
            <p:ph type="body" sz="quarter" idx="48"/>
          </p:nvPr>
        </p:nvSpPr>
        <p:spPr>
          <a:xfrm>
            <a:off x="547826" y="4460557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사회형평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종합실적</a:t>
            </a:r>
          </a:p>
        </p:txBody>
      </p:sp>
      <p:sp>
        <p:nvSpPr>
          <p:cNvPr id="68" name="성과 띠"/>
          <p:cNvSpPr/>
          <p:nvPr/>
        </p:nvSpPr>
        <p:spPr>
          <a:xfrm>
            <a:off x="1172348" y="4482470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9" name="성과 띠"/>
          <p:cNvSpPr>
            <a:spLocks noGrp="1"/>
          </p:cNvSpPr>
          <p:nvPr>
            <p:ph type="body" sz="quarter" idx="49"/>
          </p:nvPr>
        </p:nvSpPr>
        <p:spPr>
          <a:xfrm>
            <a:off x="1172348" y="4482470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인재를 제외한 사회형평적 채용 분야 채용목표 초과 달성</a:t>
            </a:r>
          </a:p>
        </p:txBody>
      </p:sp>
      <p:sp>
        <p:nvSpPr>
          <p:cNvPr id="70" name="카드"/>
          <p:cNvSpPr/>
          <p:nvPr/>
        </p:nvSpPr>
        <p:spPr>
          <a:xfrm>
            <a:off x="1172348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카드 문구"/>
          <p:cNvSpPr>
            <a:spLocks noGrp="1"/>
          </p:cNvSpPr>
          <p:nvPr>
            <p:ph type="body" sz="quarter" idx="50"/>
          </p:nvPr>
        </p:nvSpPr>
        <p:spPr>
          <a:xfrm>
            <a:off x="1194261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72" name="막대"/>
          <p:cNvSpPr/>
          <p:nvPr/>
        </p:nvSpPr>
        <p:spPr>
          <a:xfrm>
            <a:off x="1249043" y="5221252"/>
            <a:ext cx="164348" cy="9391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값"/>
          <p:cNvSpPr>
            <a:spLocks noGrp="1"/>
          </p:cNvSpPr>
          <p:nvPr>
            <p:ph type="body" sz="quarter" idx="51"/>
          </p:nvPr>
        </p:nvSpPr>
        <p:spPr>
          <a:xfrm>
            <a:off x="1161391" y="50459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3.48%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52"/>
          </p:nvPr>
        </p:nvSpPr>
        <p:spPr>
          <a:xfrm>
            <a:off x="1161391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5" name="막대"/>
          <p:cNvSpPr/>
          <p:nvPr/>
        </p:nvSpPr>
        <p:spPr>
          <a:xfrm>
            <a:off x="1498609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값"/>
          <p:cNvSpPr>
            <a:spLocks noGrp="1"/>
          </p:cNvSpPr>
          <p:nvPr>
            <p:ph type="body" sz="quarter" idx="53"/>
          </p:nvPr>
        </p:nvSpPr>
        <p:spPr>
          <a:xfrm>
            <a:off x="141095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54"/>
          </p:nvPr>
        </p:nvSpPr>
        <p:spPr>
          <a:xfrm>
            <a:off x="141095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78" name="막대"/>
          <p:cNvSpPr/>
          <p:nvPr/>
        </p:nvSpPr>
        <p:spPr>
          <a:xfrm>
            <a:off x="1748174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값"/>
          <p:cNvSpPr>
            <a:spLocks noGrp="1"/>
          </p:cNvSpPr>
          <p:nvPr>
            <p:ph type="body" sz="quarter" idx="55"/>
          </p:nvPr>
        </p:nvSpPr>
        <p:spPr>
          <a:xfrm>
            <a:off x="1660522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56"/>
          </p:nvPr>
        </p:nvSpPr>
        <p:spPr>
          <a:xfrm>
            <a:off x="1660522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81" name="카드"/>
          <p:cNvSpPr/>
          <p:nvPr/>
        </p:nvSpPr>
        <p:spPr>
          <a:xfrm>
            <a:off x="2118261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카드 문구"/>
          <p:cNvSpPr>
            <a:spLocks noGrp="1"/>
          </p:cNvSpPr>
          <p:nvPr>
            <p:ph type="body" sz="quarter" idx="57"/>
          </p:nvPr>
        </p:nvSpPr>
        <p:spPr>
          <a:xfrm>
            <a:off x="2140174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83" name="막대"/>
          <p:cNvSpPr/>
          <p:nvPr/>
        </p:nvSpPr>
        <p:spPr>
          <a:xfrm>
            <a:off x="2194957" y="5224774"/>
            <a:ext cx="164348" cy="90391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값"/>
          <p:cNvSpPr>
            <a:spLocks noGrp="1"/>
          </p:cNvSpPr>
          <p:nvPr>
            <p:ph type="body" sz="quarter" idx="58"/>
          </p:nvPr>
        </p:nvSpPr>
        <p:spPr>
          <a:xfrm>
            <a:off x="2107304" y="504947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23명</a:t>
            </a:r>
          </a:p>
        </p:txBody>
      </p:sp>
      <p:sp>
        <p:nvSpPr>
          <p:cNvPr id="85" name="연도"/>
          <p:cNvSpPr>
            <a:spLocks noGrp="1"/>
          </p:cNvSpPr>
          <p:nvPr>
            <p:ph type="body" sz="quarter" idx="59"/>
          </p:nvPr>
        </p:nvSpPr>
        <p:spPr>
          <a:xfrm>
            <a:off x="2107304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86" name="막대"/>
          <p:cNvSpPr/>
          <p:nvPr/>
        </p:nvSpPr>
        <p:spPr>
          <a:xfrm>
            <a:off x="2444522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값"/>
          <p:cNvSpPr>
            <a:spLocks noGrp="1"/>
          </p:cNvSpPr>
          <p:nvPr>
            <p:ph type="body" sz="quarter" idx="60"/>
          </p:nvPr>
        </p:nvSpPr>
        <p:spPr>
          <a:xfrm>
            <a:off x="2356870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38명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61"/>
          </p:nvPr>
        </p:nvSpPr>
        <p:spPr>
          <a:xfrm>
            <a:off x="2356870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89" name="막대"/>
          <p:cNvSpPr/>
          <p:nvPr/>
        </p:nvSpPr>
        <p:spPr>
          <a:xfrm>
            <a:off x="2694087" y="5167252"/>
            <a:ext cx="164348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값"/>
          <p:cNvSpPr>
            <a:spLocks noGrp="1"/>
          </p:cNvSpPr>
          <p:nvPr>
            <p:ph type="body" sz="quarter" idx="62"/>
          </p:nvPr>
        </p:nvSpPr>
        <p:spPr>
          <a:xfrm>
            <a:off x="2606435" y="49919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34명</a:t>
            </a:r>
          </a:p>
        </p:txBody>
      </p:sp>
      <p:sp>
        <p:nvSpPr>
          <p:cNvPr id="91" name="연도"/>
          <p:cNvSpPr>
            <a:spLocks noGrp="1"/>
          </p:cNvSpPr>
          <p:nvPr>
            <p:ph type="body" sz="quarter" idx="63"/>
          </p:nvPr>
        </p:nvSpPr>
        <p:spPr>
          <a:xfrm>
            <a:off x="2606435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2" name="카드"/>
          <p:cNvSpPr/>
          <p:nvPr/>
        </p:nvSpPr>
        <p:spPr>
          <a:xfrm>
            <a:off x="3064174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카드 문구"/>
          <p:cNvSpPr>
            <a:spLocks noGrp="1"/>
          </p:cNvSpPr>
          <p:nvPr>
            <p:ph type="body" sz="quarter" idx="64"/>
          </p:nvPr>
        </p:nvSpPr>
        <p:spPr>
          <a:xfrm>
            <a:off x="3086087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94" name="막대"/>
          <p:cNvSpPr/>
          <p:nvPr/>
        </p:nvSpPr>
        <p:spPr>
          <a:xfrm>
            <a:off x="3140870" y="5238470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값"/>
          <p:cNvSpPr>
            <a:spLocks noGrp="1"/>
          </p:cNvSpPr>
          <p:nvPr>
            <p:ph type="body" sz="quarter" idx="65"/>
          </p:nvPr>
        </p:nvSpPr>
        <p:spPr>
          <a:xfrm>
            <a:off x="3053217" y="50631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1명</a:t>
            </a:r>
          </a:p>
        </p:txBody>
      </p:sp>
      <p:sp>
        <p:nvSpPr>
          <p:cNvPr id="96" name="연도"/>
          <p:cNvSpPr>
            <a:spLocks noGrp="1"/>
          </p:cNvSpPr>
          <p:nvPr>
            <p:ph type="body" sz="quarter" idx="66"/>
          </p:nvPr>
        </p:nvSpPr>
        <p:spPr>
          <a:xfrm>
            <a:off x="305321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7" name="막대"/>
          <p:cNvSpPr/>
          <p:nvPr/>
        </p:nvSpPr>
        <p:spPr>
          <a:xfrm>
            <a:off x="3390435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8" name="값"/>
          <p:cNvSpPr>
            <a:spLocks noGrp="1"/>
          </p:cNvSpPr>
          <p:nvPr>
            <p:ph type="body" sz="quarter" idx="67"/>
          </p:nvPr>
        </p:nvSpPr>
        <p:spPr>
          <a:xfrm>
            <a:off x="3302783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99" name="연도"/>
          <p:cNvSpPr>
            <a:spLocks noGrp="1"/>
          </p:cNvSpPr>
          <p:nvPr>
            <p:ph type="body" sz="quarter" idx="68"/>
          </p:nvPr>
        </p:nvSpPr>
        <p:spPr>
          <a:xfrm>
            <a:off x="3302783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00" name="막대"/>
          <p:cNvSpPr/>
          <p:nvPr/>
        </p:nvSpPr>
        <p:spPr>
          <a:xfrm>
            <a:off x="3640000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1" name="값"/>
          <p:cNvSpPr>
            <a:spLocks noGrp="1"/>
          </p:cNvSpPr>
          <p:nvPr>
            <p:ph type="body" sz="quarter" idx="69"/>
          </p:nvPr>
        </p:nvSpPr>
        <p:spPr>
          <a:xfrm>
            <a:off x="3552348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102" name="연도"/>
          <p:cNvSpPr>
            <a:spLocks noGrp="1"/>
          </p:cNvSpPr>
          <p:nvPr>
            <p:ph type="body" sz="quarter" idx="70"/>
          </p:nvPr>
        </p:nvSpPr>
        <p:spPr>
          <a:xfrm>
            <a:off x="3552348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03" name="카드"/>
          <p:cNvSpPr/>
          <p:nvPr/>
        </p:nvSpPr>
        <p:spPr>
          <a:xfrm>
            <a:off x="4010087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4" name="카드 문구"/>
          <p:cNvSpPr>
            <a:spLocks noGrp="1"/>
          </p:cNvSpPr>
          <p:nvPr>
            <p:ph type="body" sz="quarter" idx="71"/>
          </p:nvPr>
        </p:nvSpPr>
        <p:spPr>
          <a:xfrm>
            <a:off x="4032000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자립청년</a:t>
            </a:r>
          </a:p>
        </p:txBody>
      </p:sp>
      <p:sp>
        <p:nvSpPr>
          <p:cNvPr id="105" name="막대"/>
          <p:cNvSpPr/>
          <p:nvPr/>
        </p:nvSpPr>
        <p:spPr>
          <a:xfrm>
            <a:off x="4086783" y="5200122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6" name="값"/>
          <p:cNvSpPr>
            <a:spLocks noGrp="1"/>
          </p:cNvSpPr>
          <p:nvPr>
            <p:ph type="body" sz="quarter" idx="72"/>
          </p:nvPr>
        </p:nvSpPr>
        <p:spPr>
          <a:xfrm>
            <a:off x="3999130" y="50248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107" name="연도"/>
          <p:cNvSpPr>
            <a:spLocks noGrp="1"/>
          </p:cNvSpPr>
          <p:nvPr>
            <p:ph type="body" sz="quarter" idx="73"/>
          </p:nvPr>
        </p:nvSpPr>
        <p:spPr>
          <a:xfrm>
            <a:off x="3999130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08" name="막대"/>
          <p:cNvSpPr/>
          <p:nvPr/>
        </p:nvSpPr>
        <p:spPr>
          <a:xfrm>
            <a:off x="4336348" y="5175470"/>
            <a:ext cx="164348" cy="139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값"/>
          <p:cNvSpPr>
            <a:spLocks noGrp="1"/>
          </p:cNvSpPr>
          <p:nvPr>
            <p:ph type="body" sz="quarter" idx="74"/>
          </p:nvPr>
        </p:nvSpPr>
        <p:spPr>
          <a:xfrm>
            <a:off x="4248696" y="50001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6명</a:t>
            </a:r>
          </a:p>
        </p:txBody>
      </p:sp>
      <p:sp>
        <p:nvSpPr>
          <p:cNvPr id="110" name="연도"/>
          <p:cNvSpPr>
            <a:spLocks noGrp="1"/>
          </p:cNvSpPr>
          <p:nvPr>
            <p:ph type="body" sz="quarter" idx="75"/>
          </p:nvPr>
        </p:nvSpPr>
        <p:spPr>
          <a:xfrm>
            <a:off x="4248696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11" name="막대"/>
          <p:cNvSpPr/>
          <p:nvPr/>
        </p:nvSpPr>
        <p:spPr>
          <a:xfrm>
            <a:off x="4585913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2" name="값"/>
          <p:cNvSpPr>
            <a:spLocks noGrp="1"/>
          </p:cNvSpPr>
          <p:nvPr>
            <p:ph type="body" sz="quarter" idx="76"/>
          </p:nvPr>
        </p:nvSpPr>
        <p:spPr>
          <a:xfrm>
            <a:off x="4498261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7명</a:t>
            </a:r>
          </a:p>
        </p:txBody>
      </p:sp>
      <p:sp>
        <p:nvSpPr>
          <p:cNvPr id="113" name="연도"/>
          <p:cNvSpPr>
            <a:spLocks noGrp="1"/>
          </p:cNvSpPr>
          <p:nvPr>
            <p:ph type="body" sz="quarter" idx="77"/>
          </p:nvPr>
        </p:nvSpPr>
        <p:spPr>
          <a:xfrm>
            <a:off x="4498261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14" name="카드"/>
          <p:cNvSpPr/>
          <p:nvPr/>
        </p:nvSpPr>
        <p:spPr>
          <a:xfrm>
            <a:off x="4956000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5" name="카드 문구"/>
          <p:cNvSpPr>
            <a:spLocks noGrp="1"/>
          </p:cNvSpPr>
          <p:nvPr>
            <p:ph type="body" sz="quarter" idx="78"/>
          </p:nvPr>
        </p:nvSpPr>
        <p:spPr>
          <a:xfrm>
            <a:off x="4977913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116" name="막대"/>
          <p:cNvSpPr/>
          <p:nvPr/>
        </p:nvSpPr>
        <p:spPr>
          <a:xfrm>
            <a:off x="5032696" y="5219843"/>
            <a:ext cx="164348" cy="95322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7" name="값"/>
          <p:cNvSpPr>
            <a:spLocks noGrp="1"/>
          </p:cNvSpPr>
          <p:nvPr>
            <p:ph type="body" sz="quarter" idx="79"/>
          </p:nvPr>
        </p:nvSpPr>
        <p:spPr>
          <a:xfrm>
            <a:off x="4945043" y="5044539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161명</a:t>
            </a:r>
          </a:p>
        </p:txBody>
      </p:sp>
      <p:sp>
        <p:nvSpPr>
          <p:cNvPr id="118" name="연도"/>
          <p:cNvSpPr>
            <a:spLocks noGrp="1"/>
          </p:cNvSpPr>
          <p:nvPr>
            <p:ph type="body" sz="quarter" idx="80"/>
          </p:nvPr>
        </p:nvSpPr>
        <p:spPr>
          <a:xfrm>
            <a:off x="4945043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19" name="막대"/>
          <p:cNvSpPr/>
          <p:nvPr/>
        </p:nvSpPr>
        <p:spPr>
          <a:xfrm>
            <a:off x="5282261" y="5228061"/>
            <a:ext cx="164348" cy="8710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값"/>
          <p:cNvSpPr>
            <a:spLocks noGrp="1"/>
          </p:cNvSpPr>
          <p:nvPr>
            <p:ph type="body" sz="quarter" idx="81"/>
          </p:nvPr>
        </p:nvSpPr>
        <p:spPr>
          <a:xfrm>
            <a:off x="5194609" y="505275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148명</a:t>
            </a:r>
          </a:p>
        </p:txBody>
      </p:sp>
      <p:sp>
        <p:nvSpPr>
          <p:cNvPr id="121" name="연도"/>
          <p:cNvSpPr>
            <a:spLocks noGrp="1"/>
          </p:cNvSpPr>
          <p:nvPr>
            <p:ph type="body" sz="quarter" idx="82"/>
          </p:nvPr>
        </p:nvSpPr>
        <p:spPr>
          <a:xfrm>
            <a:off x="5194609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22" name="막대"/>
          <p:cNvSpPr/>
          <p:nvPr/>
        </p:nvSpPr>
        <p:spPr>
          <a:xfrm>
            <a:off x="5531826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3" name="값"/>
          <p:cNvSpPr>
            <a:spLocks noGrp="1"/>
          </p:cNvSpPr>
          <p:nvPr>
            <p:ph type="body" sz="quarter" idx="83"/>
          </p:nvPr>
        </p:nvSpPr>
        <p:spPr>
          <a:xfrm>
            <a:off x="5444174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279명</a:t>
            </a:r>
          </a:p>
        </p:txBody>
      </p:sp>
      <p:sp>
        <p:nvSpPr>
          <p:cNvPr id="124" name="연도"/>
          <p:cNvSpPr>
            <a:spLocks noGrp="1"/>
          </p:cNvSpPr>
          <p:nvPr>
            <p:ph type="body" sz="quarter" idx="84"/>
          </p:nvPr>
        </p:nvSpPr>
        <p:spPr>
          <a:xfrm>
            <a:off x="5444174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25" name="카드"/>
          <p:cNvSpPr/>
          <p:nvPr/>
        </p:nvSpPr>
        <p:spPr>
          <a:xfrm>
            <a:off x="5901913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6" name="카드 문구"/>
          <p:cNvSpPr>
            <a:spLocks noGrp="1"/>
          </p:cNvSpPr>
          <p:nvPr>
            <p:ph type="body" sz="quarter" idx="85"/>
          </p:nvPr>
        </p:nvSpPr>
        <p:spPr>
          <a:xfrm>
            <a:off x="5923826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유공자</a:t>
            </a:r>
          </a:p>
        </p:txBody>
      </p:sp>
      <p:sp>
        <p:nvSpPr>
          <p:cNvPr id="127" name="막대"/>
          <p:cNvSpPr/>
          <p:nvPr/>
        </p:nvSpPr>
        <p:spPr>
          <a:xfrm>
            <a:off x="5978609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8" name="값"/>
          <p:cNvSpPr>
            <a:spLocks noGrp="1"/>
          </p:cNvSpPr>
          <p:nvPr>
            <p:ph type="body" sz="quarter" idx="86"/>
          </p:nvPr>
        </p:nvSpPr>
        <p:spPr>
          <a:xfrm>
            <a:off x="589095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29" name="연도"/>
          <p:cNvSpPr>
            <a:spLocks noGrp="1"/>
          </p:cNvSpPr>
          <p:nvPr>
            <p:ph type="body" sz="quarter" idx="87"/>
          </p:nvPr>
        </p:nvSpPr>
        <p:spPr>
          <a:xfrm>
            <a:off x="589095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30" name="막대"/>
          <p:cNvSpPr/>
          <p:nvPr/>
        </p:nvSpPr>
        <p:spPr>
          <a:xfrm>
            <a:off x="6228174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1" name="값"/>
          <p:cNvSpPr>
            <a:spLocks noGrp="1"/>
          </p:cNvSpPr>
          <p:nvPr>
            <p:ph type="body" sz="quarter" idx="88"/>
          </p:nvPr>
        </p:nvSpPr>
        <p:spPr>
          <a:xfrm>
            <a:off x="6140522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32" name="연도"/>
          <p:cNvSpPr>
            <a:spLocks noGrp="1"/>
          </p:cNvSpPr>
          <p:nvPr>
            <p:ph type="body" sz="quarter" idx="89"/>
          </p:nvPr>
        </p:nvSpPr>
        <p:spPr>
          <a:xfrm>
            <a:off x="6140522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33" name="막대"/>
          <p:cNvSpPr/>
          <p:nvPr/>
        </p:nvSpPr>
        <p:spPr>
          <a:xfrm>
            <a:off x="6477739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4" name="값"/>
          <p:cNvSpPr>
            <a:spLocks noGrp="1"/>
          </p:cNvSpPr>
          <p:nvPr>
            <p:ph type="body" sz="quarter" idx="90"/>
          </p:nvPr>
        </p:nvSpPr>
        <p:spPr>
          <a:xfrm>
            <a:off x="639008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35" name="연도"/>
          <p:cNvSpPr>
            <a:spLocks noGrp="1"/>
          </p:cNvSpPr>
          <p:nvPr>
            <p:ph type="body" sz="quarter" idx="91"/>
          </p:nvPr>
        </p:nvSpPr>
        <p:spPr>
          <a:xfrm>
            <a:off x="639008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0 서사 · 성과환류 → 시사점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양성평등 기반의 근무환경으로 여성인재와 함께 성장하는 조직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410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378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378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성과환류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구축·여성 승진 규모 상승에도 불구, 인사지표 직원만족도 정체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여성관리자 육성, 성장경로 마련 노력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의견 제도 사용시 눈치보지 않는 문화 조성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723130" y="156130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태그"/>
          <p:cNvSpPr/>
          <p:nvPr/>
        </p:nvSpPr>
        <p:spPr>
          <a:xfrm>
            <a:off x="1051826" y="1605130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051826" y="1605130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3" name="캡션"/>
          <p:cNvSpPr>
            <a:spLocks noGrp="1"/>
          </p:cNvSpPr>
          <p:nvPr>
            <p:ph type="body" sz="quarter" idx="26"/>
          </p:nvPr>
        </p:nvSpPr>
        <p:spPr>
          <a:xfrm>
            <a:off x="1545480" y="1561304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성별의 벽을 허무는 역량 중심 성장경로 확립과 직원 체감형 조직문화 조성 필요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1 서사 · 조직문화 → 공정한 인사관리 → 여성임원 확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80480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눈치보지 않는 조직문화, 역량 중심 인사관리로 여성리더 양성</a:t>
            </a:r>
          </a:p>
        </p:txBody>
      </p:sp>
      <p:sp>
        <p:nvSpPr>
          <p:cNvPr id="12" name="태그칩"/>
          <p:cNvSpPr/>
          <p:nvPr/>
        </p:nvSpPr>
        <p:spPr>
          <a:xfrm>
            <a:off x="4440279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440279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태그칩"/>
          <p:cNvSpPr/>
          <p:nvPr/>
        </p:nvSpPr>
        <p:spPr>
          <a:xfrm>
            <a:off x="5210937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210937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태그칩"/>
          <p:cNvSpPr/>
          <p:nvPr/>
        </p:nvSpPr>
        <p:spPr>
          <a:xfrm>
            <a:off x="573836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73836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051826"/>
            <a:ext cx="6300000" cy="2887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068261"/>
            <a:ext cx="580696" cy="805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80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당당한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조직문화</a:t>
            </a:r>
          </a:p>
        </p:txBody>
      </p:sp>
      <p:sp>
        <p:nvSpPr>
          <p:cNvPr id="21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설계</a:t>
            </a:r>
          </a:p>
        </p:txBody>
      </p:sp>
      <p:sp>
        <p:nvSpPr>
          <p:cNvPr id="23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가족친화문화 정착</a:t>
            </a:r>
          </a:p>
        </p:txBody>
      </p:sp>
      <p:sp>
        <p:nvSpPr>
          <p:cNvPr id="25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경력중단 없는 공정·성장 지원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육아집중형 근무제 등 육아공백 Zero 제도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인사혁신 우수사례 대통령상 수상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참여율 내평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사보·기획기사 등 사례 공유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3044087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 복직자 희망부서 100%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육아휴직자 승진대상자 최초 포함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4926783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1890000"/>
            <a:ext cx="580696" cy="1035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1890000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인사관리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1890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머리칸"/>
          <p:cNvSpPr/>
          <p:nvPr/>
        </p:nvSpPr>
        <p:spPr>
          <a:xfrm>
            <a:off x="1161391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승진 성별 무관 역량 중심 승진</a:t>
            </a:r>
          </a:p>
        </p:txBody>
      </p:sp>
      <p:sp>
        <p:nvSpPr>
          <p:cNvPr id="39" name="머리칸"/>
          <p:cNvSpPr/>
          <p:nvPr/>
        </p:nvSpPr>
        <p:spPr>
          <a:xfrm>
            <a:off x="3985435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3985435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배치 능력 기반 여성인재 적소적재 배치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 휴직기간 100% 근속기간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신승진시험제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초급관리자 선두승진 배출(11명)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관리자 전문성·역량중심 여성 간부직 현장 최전선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인재 직무 공모제 심사로 주요직무 여성직원 배치(7명)</a:t>
            </a:r>
          </a:p>
        </p:txBody>
      </p:sp>
      <p:cxnSp>
        <p:nvCxnSpPr>
          <p:cNvPr id="43" name="Connector 29"/>
          <p:cNvCxnSpPr/>
          <p:nvPr/>
        </p:nvCxnSpPr>
        <p:spPr>
          <a:xfrm>
            <a:off x="3985435" y="2185826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레일"/>
          <p:cNvSpPr/>
          <p:nvPr/>
        </p:nvSpPr>
        <p:spPr>
          <a:xfrm>
            <a:off x="547826" y="2941826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941826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여성임원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46" name="레일 삼각형"/>
          <p:cNvSpPr/>
          <p:nvPr/>
        </p:nvSpPr>
        <p:spPr>
          <a:xfrm>
            <a:off x="547826" y="29418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머리칸"/>
          <p:cNvSpPr/>
          <p:nvPr/>
        </p:nvSpPr>
        <p:spPr>
          <a:xfrm>
            <a:off x="1161391" y="296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296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상임이사 여성 임원 후보 Pool 확대</a:t>
            </a:r>
          </a:p>
        </p:txBody>
      </p:sp>
      <p:sp>
        <p:nvSpPr>
          <p:cNvPr id="49" name="머리칸"/>
          <p:cNvSpPr/>
          <p:nvPr/>
        </p:nvSpPr>
        <p:spPr>
          <a:xfrm>
            <a:off x="3985435" y="296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8"/>
          </p:nvPr>
        </p:nvSpPr>
        <p:spPr>
          <a:xfrm>
            <a:off x="3985435" y="296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여성 임원 선임 노력 지속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204783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상임이사 후보군(부서장급) 규모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양성 전문교육 선발(2명)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204783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임원추천위원회 외부위원 전원 여성 임명(2명)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양성평등 임원 목표달성 안내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3985435" y="323765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2 서사 · 우수인재 채용 → 미래리더 육성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2628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공정·공감 채용과 맞춤형 육성으로 미래 여성인재 Pool 확대</a:t>
            </a:r>
          </a:p>
        </p:txBody>
      </p:sp>
      <p:sp>
        <p:nvSpPr>
          <p:cNvPr id="11" name="태그칩"/>
          <p:cNvSpPr/>
          <p:nvPr/>
        </p:nvSpPr>
        <p:spPr>
          <a:xfrm>
            <a:off x="454802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4802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09914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09914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11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우수인재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 용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공감대를 형성하고 여성 직원 취업 노하우</a:t>
            </a:r>
          </a:p>
        </p:txBody>
      </p:sp>
      <p:sp>
        <p:nvSpPr>
          <p:cNvPr id="20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경쟁은 공정하게 차별 없는 채용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42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심리적 장벽 완화로 설명회 몰입도·채용 홍보효과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여성 육성방안·성장경로 제시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42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면접위원 특정 성 비율 40% 이상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외부인증 블라인드 공정채용 선도기관 인증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4171696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734087" y="1890000"/>
            <a:ext cx="580696" cy="127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890000"/>
            <a:ext cx="580696" cy="127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미래리더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 성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734086" y="1890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347652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교육 여성 생애주기 기반</a:t>
            </a:r>
          </a:p>
        </p:txBody>
      </p:sp>
      <p:sp>
        <p:nvSpPr>
          <p:cNvPr id="30" name="머리칸"/>
          <p:cNvSpPr/>
          <p:nvPr/>
        </p:nvSpPr>
        <p:spPr>
          <a:xfrm>
            <a:off x="4171696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교육 여성관리자 양성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대리·사원 상시 온라인 학습 제공으로 역량 강화 기회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과장·복직자 현업복귀·직무적응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부서장·부장 리더십 스킬과정 세분화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공모절차 기반 전문기관 교육 파견 4명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서울대, KDI, 성균관대 등</a:t>
            </a:r>
          </a:p>
        </p:txBody>
      </p:sp>
      <p:cxnSp>
        <p:nvCxnSpPr>
          <p:cNvPr id="34" name="Connector 20"/>
          <p:cNvCxnSpPr/>
          <p:nvPr/>
        </p:nvCxnSpPr>
        <p:spPr>
          <a:xfrm>
            <a:off x="4171696" y="2185826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배너"/>
          <p:cNvSpPr/>
          <p:nvPr/>
        </p:nvSpPr>
        <p:spPr>
          <a:xfrm>
            <a:off x="1347652" y="2936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936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단계별 체계적 교육 지원으로 역량 중심 여성관리자 성장 환경 조성</a:t>
            </a:r>
          </a:p>
        </p:txBody>
      </p:sp>
      <p:sp>
        <p:nvSpPr>
          <p:cNvPr id="37" name="핵심성과 박스"/>
          <p:cNvSpPr/>
          <p:nvPr/>
        </p:nvSpPr>
        <p:spPr>
          <a:xfrm>
            <a:off x="723130" y="3265043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핵심성과 라벨"/>
          <p:cNvSpPr/>
          <p:nvPr/>
        </p:nvSpPr>
        <p:spPr>
          <a:xfrm>
            <a:off x="756000" y="3297913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756000" y="3297913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501043" y="3286957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여성관리자 최고치 달성(13.6→15%), 육아휴직 中 최초 승진, 여성채용(정규직) 증가(114→170명)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종합청렴도(88.1→92.2점), 신뢰경영지수(87→91점) 역대 최고 수준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3 서사 · 현주소 → 환경분석 · CEO 의지 → 시사점 → 방향 4축 → 실행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‘안전 최우선 가치’ 경영철학을 반영한 안전혁신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 태그"/>
          <p:cNvSpPr/>
          <p:nvPr/>
        </p:nvSpPr>
        <p:spPr>
          <a:xfrm>
            <a:off x="558376" y="11778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레일 태그"/>
          <p:cNvSpPr>
            <a:spLocks noGrp="1"/>
          </p:cNvSpPr>
          <p:nvPr>
            <p:ph type="body" sz="quarter" idx="22"/>
          </p:nvPr>
        </p:nvSpPr>
        <p:spPr>
          <a:xfrm>
            <a:off x="558376" y="11778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3"/>
          </p:nvPr>
        </p:nvSpPr>
        <p:spPr>
          <a:xfrm>
            <a:off x="547826" y="1364087"/>
            <a:ext cx="580696" cy="706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주 소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댐, 수도, 단지 건설 및 운영 등 고위험·취약시설 多 → 중대재해 지속 발생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원인분석 ▸ 사업장 관리·예방 체계 개선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안전등급 지속적인 ‘안전역량’ 향상 노력 불구 ’24년 안전관리등급 하락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안전 역량·수준·성과 개선과제 이행관리</a:t>
            </a:r>
          </a:p>
        </p:txBody>
      </p:sp>
      <p:cxnSp>
        <p:nvCxnSpPr>
          <p:cNvPr id="22" name="Connector 17"/>
          <p:cNvCxnSpPr/>
          <p:nvPr/>
        </p:nvCxnSpPr>
        <p:spPr>
          <a:xfrm>
            <a:off x="3985435" y="118878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캡션 띠"/>
          <p:cNvSpPr/>
          <p:nvPr/>
        </p:nvSpPr>
        <p:spPr>
          <a:xfrm>
            <a:off x="536869" y="213104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865565" y="217487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865565" y="217487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추진전략</a:t>
            </a:r>
          </a:p>
        </p:txBody>
      </p:sp>
      <p:sp>
        <p:nvSpPr>
          <p:cNvPr id="26" name="캡션"/>
          <p:cNvSpPr>
            <a:spLocks noGrp="1"/>
          </p:cNvSpPr>
          <p:nvPr>
            <p:ph type="body" sz="quarter" idx="27"/>
          </p:nvPr>
        </p:nvSpPr>
        <p:spPr>
          <a:xfrm>
            <a:off x="1468988" y="2131043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안전사고의 근본적 차단을 위하여 안전경영시스템 전반의 패러다임 전환 필요</a:t>
            </a:r>
          </a:p>
        </p:txBody>
      </p:sp>
      <p:sp>
        <p:nvSpPr>
          <p:cNvPr id="27" name="표 외곽"/>
          <p:cNvSpPr/>
          <p:nvPr/>
        </p:nvSpPr>
        <p:spPr>
          <a:xfrm>
            <a:off x="536870" y="2437826"/>
            <a:ext cx="6300000" cy="1418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"/>
          <p:cNvSpPr/>
          <p:nvPr/>
        </p:nvSpPr>
        <p:spPr>
          <a:xfrm>
            <a:off x="547826" y="2454261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454261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476174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생명과 안전 중시 사회 지향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전종사자 대상 안전보건체계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안전관리 실효성 제고 및 법적기준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2476174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직원인식 지속 상승 불구, 체감도 저조 여전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안전의식 수준 77.6점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현장작동성·안전인프라·안전소통 인식 저조</a:t>
            </a:r>
          </a:p>
        </p:txBody>
      </p:sp>
      <p:cxnSp>
        <p:nvCxnSpPr>
          <p:cNvPr id="32" name="Connector 25"/>
          <p:cNvCxnSpPr/>
          <p:nvPr/>
        </p:nvCxnSpPr>
        <p:spPr>
          <a:xfrm>
            <a:off x="3985435" y="2509043"/>
            <a:ext cx="0" cy="701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3265043"/>
            <a:ext cx="580696" cy="575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3265043"/>
            <a:ext cx="580696" cy="57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지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3265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3286957"/>
            <a:ext cx="5626174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핵심가치 안전은 모든 경영활동의 시작이자 기본, 핵심 가치는 안전(’25 신년사)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안전우선 ‘안전하지 않으면 일하지 않는다’는 마음으로, 개인 안전을 최우선</a:t>
            </a:r>
          </a:p>
        </p:txBody>
      </p:sp>
      <p:sp>
        <p:nvSpPr>
          <p:cNvPr id="37" name="캡션 띠"/>
          <p:cNvSpPr/>
          <p:nvPr/>
        </p:nvSpPr>
        <p:spPr>
          <a:xfrm>
            <a:off x="536869" y="38786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865565" y="392243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3"/>
          </p:nvPr>
        </p:nvSpPr>
        <p:spPr>
          <a:xfrm>
            <a:off x="865565" y="392243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0" name="캡션"/>
          <p:cNvSpPr>
            <a:spLocks noGrp="1"/>
          </p:cNvSpPr>
          <p:nvPr>
            <p:ph type="body" sz="quarter" idx="34"/>
          </p:nvPr>
        </p:nvSpPr>
        <p:spPr>
          <a:xfrm>
            <a:off x="1359219" y="387860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안전을 최우선 가치로 삼아 현장의 실효성 있는 사고예방을 위한 안전체계 강화</a:t>
            </a:r>
          </a:p>
        </p:txBody>
      </p:sp>
      <p:sp>
        <p:nvSpPr>
          <p:cNvPr id="41" name="표 외곽"/>
          <p:cNvSpPr/>
          <p:nvPr/>
        </p:nvSpPr>
        <p:spPr>
          <a:xfrm>
            <a:off x="536870" y="4185391"/>
            <a:ext cx="6300000" cy="2394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"/>
          <p:cNvSpPr/>
          <p:nvPr/>
        </p:nvSpPr>
        <p:spPr>
          <a:xfrm>
            <a:off x="547826" y="4201826"/>
            <a:ext cx="580696" cy="323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4201826"/>
            <a:ext cx="580696" cy="323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44" name="단계"/>
          <p:cNvSpPr/>
          <p:nvPr/>
        </p:nvSpPr>
        <p:spPr>
          <a:xfrm>
            <a:off x="1161391" y="4223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안전경영체계 고도화</a:t>
            </a:r>
          </a:p>
        </p:txBody>
      </p:sp>
      <p:sp>
        <p:nvSpPr>
          <p:cNvPr id="46" name="단계"/>
          <p:cNvSpPr/>
          <p:nvPr/>
        </p:nvSpPr>
        <p:spPr>
          <a:xfrm>
            <a:off x="2573413" y="4223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2573413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작동성 실효성 제고</a:t>
            </a:r>
          </a:p>
        </p:txBody>
      </p:sp>
      <p:sp>
        <p:nvSpPr>
          <p:cNvPr id="48" name="단계"/>
          <p:cNvSpPr/>
          <p:nvPr/>
        </p:nvSpPr>
        <p:spPr>
          <a:xfrm>
            <a:off x="3985435" y="4223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985435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기술 기반 안전인프라 고도화</a:t>
            </a:r>
          </a:p>
        </p:txBody>
      </p:sp>
      <p:sp>
        <p:nvSpPr>
          <p:cNvPr id="50" name="단계"/>
          <p:cNvSpPr/>
          <p:nvPr/>
        </p:nvSpPr>
        <p:spPr>
          <a:xfrm>
            <a:off x="5397457" y="4223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397457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참여 기반 안전문화의식 제고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2573413" y="422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3985434" y="422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5397456" y="422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 txBox="1"/>
          <p:nvPr/>
        </p:nvSpPr>
        <p:spPr>
          <a:xfrm>
            <a:off x="1172348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6" name="칸 본문"/>
          <p:cNvSpPr txBox="1"/>
          <p:nvPr/>
        </p:nvSpPr>
        <p:spPr>
          <a:xfrm>
            <a:off x="2584370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7" name="Connector 43"/>
          <p:cNvCxnSpPr/>
          <p:nvPr/>
        </p:nvCxnSpPr>
        <p:spPr>
          <a:xfrm flipV="1">
            <a:off x="2573413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 txBox="1"/>
          <p:nvPr/>
        </p:nvSpPr>
        <p:spPr>
          <a:xfrm>
            <a:off x="3996391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9" name="Connector 45"/>
          <p:cNvCxnSpPr/>
          <p:nvPr/>
        </p:nvCxnSpPr>
        <p:spPr>
          <a:xfrm flipV="1">
            <a:off x="3985435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 txBox="1"/>
          <p:nvPr/>
        </p:nvSpPr>
        <p:spPr>
          <a:xfrm>
            <a:off x="5408413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1" name="Connector 47"/>
          <p:cNvCxnSpPr/>
          <p:nvPr/>
        </p:nvCxnSpPr>
        <p:spPr>
          <a:xfrm flipV="1">
            <a:off x="5397457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547826" y="4541478"/>
            <a:ext cx="580696" cy="9696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541478"/>
            <a:ext cx="580696" cy="969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64" name="레일 삼각형"/>
          <p:cNvSpPr/>
          <p:nvPr/>
        </p:nvSpPr>
        <p:spPr>
          <a:xfrm>
            <a:off x="547826" y="4541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 및 인력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체계개선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환류 강화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2"/>
          </p:nvPr>
        </p:nvSpPr>
        <p:spPr>
          <a:xfrm>
            <a:off x="2584370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TBM 내실화/개선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현장관리 감리강화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2573413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스마트안전장비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전현장 통합감시·대응시스템 구축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3985435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44"/>
          </p:nvPr>
        </p:nvSpPr>
        <p:spPr>
          <a:xfrm>
            <a:off x="5408413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안전문화브랜드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참여 안전보건문화축제 지속 확대</a:t>
            </a:r>
          </a:p>
        </p:txBody>
      </p:sp>
      <p:cxnSp>
        <p:nvCxnSpPr>
          <p:cNvPr id="71" name="Connector 56"/>
          <p:cNvCxnSpPr/>
          <p:nvPr/>
        </p:nvCxnSpPr>
        <p:spPr>
          <a:xfrm>
            <a:off x="5397457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레일"/>
          <p:cNvSpPr/>
          <p:nvPr/>
        </p:nvSpPr>
        <p:spPr>
          <a:xfrm>
            <a:off x="547826" y="5527565"/>
            <a:ext cx="580696" cy="103539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5527565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실행기반</a:t>
            </a:r>
          </a:p>
        </p:txBody>
      </p:sp>
      <p:sp>
        <p:nvSpPr>
          <p:cNvPr id="74" name="레일 삼각형"/>
          <p:cNvSpPr/>
          <p:nvPr/>
        </p:nvSpPr>
        <p:spPr>
          <a:xfrm>
            <a:off x="547826" y="5527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태그"/>
          <p:cNvSpPr/>
          <p:nvPr/>
        </p:nvSpPr>
        <p:spPr>
          <a:xfrm>
            <a:off x="1161391" y="5571391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6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5571391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규정/제도</a:t>
            </a:r>
          </a:p>
        </p:txBody>
      </p:sp>
      <p:sp>
        <p:nvSpPr>
          <p:cNvPr id="77" name="태그 설명"/>
          <p:cNvSpPr>
            <a:spLocks noGrp="1"/>
          </p:cNvSpPr>
          <p:nvPr>
            <p:ph type="body" sz="quarter" idx="47"/>
          </p:nvPr>
        </p:nvSpPr>
        <p:spPr>
          <a:xfrm>
            <a:off x="1833859" y="5560435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안전보건규정, 건설공사 안전관리 업무기준 등 / ISO45001, KOSHA-MS 등</a:t>
            </a:r>
          </a:p>
        </p:txBody>
      </p:sp>
      <p:sp>
        <p:nvSpPr>
          <p:cNvPr id="78" name="태그"/>
          <p:cNvSpPr/>
          <p:nvPr/>
        </p:nvSpPr>
        <p:spPr>
          <a:xfrm>
            <a:off x="1161391" y="5768609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5768609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80" name="태그 설명"/>
          <p:cNvSpPr>
            <a:spLocks noGrp="1"/>
          </p:cNvSpPr>
          <p:nvPr>
            <p:ph type="body" sz="quarter" idx="49"/>
          </p:nvPr>
        </p:nvSpPr>
        <p:spPr>
          <a:xfrm>
            <a:off x="1833859" y="5757652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안전본부, 본부 안전보건센터, 현장 산업안전담당자, 자문 안전경영위원회</a:t>
            </a:r>
          </a:p>
        </p:txBody>
      </p:sp>
      <p:sp>
        <p:nvSpPr>
          <p:cNvPr id="81" name="태그"/>
          <p:cNvSpPr/>
          <p:nvPr/>
        </p:nvSpPr>
        <p:spPr>
          <a:xfrm>
            <a:off x="1161391" y="5965826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2" name="태그"/>
          <p:cNvSpPr>
            <a:spLocks noGrp="1"/>
          </p:cNvSpPr>
          <p:nvPr>
            <p:ph type="body" sz="quarter" idx="50"/>
          </p:nvPr>
        </p:nvSpPr>
        <p:spPr>
          <a:xfrm>
            <a:off x="1161391" y="5965826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83" name="태그 설명"/>
          <p:cNvSpPr>
            <a:spLocks noGrp="1"/>
          </p:cNvSpPr>
          <p:nvPr>
            <p:ph type="body" sz="quarter" idx="51"/>
          </p:nvPr>
        </p:nvSpPr>
        <p:spPr>
          <a:xfrm>
            <a:off x="1833859" y="5954870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안전활동 소통회의(매월), 안전보건리더 소통회의(분기)</a:t>
            </a:r>
          </a:p>
        </p:txBody>
      </p:sp>
      <p:sp>
        <p:nvSpPr>
          <p:cNvPr id="84" name="태그"/>
          <p:cNvSpPr/>
          <p:nvPr/>
        </p:nvSpPr>
        <p:spPr>
          <a:xfrm>
            <a:off x="1161391" y="6163043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5" name="태그"/>
          <p:cNvSpPr>
            <a:spLocks noGrp="1"/>
          </p:cNvSpPr>
          <p:nvPr>
            <p:ph type="body" sz="quarter" idx="52"/>
          </p:nvPr>
        </p:nvSpPr>
        <p:spPr>
          <a:xfrm>
            <a:off x="1161391" y="6163043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86" name="태그 설명"/>
          <p:cNvSpPr>
            <a:spLocks noGrp="1"/>
          </p:cNvSpPr>
          <p:nvPr>
            <p:ph type="body" sz="quarter" idx="53"/>
          </p:nvPr>
        </p:nvSpPr>
        <p:spPr>
          <a:xfrm>
            <a:off x="1833859" y="6152087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산업안전포털, 전사적리스크관리(KRM), 스마트산업안전관리시스템 등</a:t>
            </a:r>
          </a:p>
        </p:txBody>
      </p:sp>
      <p:sp>
        <p:nvSpPr>
          <p:cNvPr id="87" name="태그"/>
          <p:cNvSpPr/>
          <p:nvPr/>
        </p:nvSpPr>
        <p:spPr>
          <a:xfrm>
            <a:off x="1161391" y="6360261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태그"/>
          <p:cNvSpPr>
            <a:spLocks noGrp="1"/>
          </p:cNvSpPr>
          <p:nvPr>
            <p:ph type="body" sz="quarter" idx="54"/>
          </p:nvPr>
        </p:nvSpPr>
        <p:spPr>
          <a:xfrm>
            <a:off x="1161391" y="6360261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평가/점검</a:t>
            </a:r>
          </a:p>
        </p:txBody>
      </p:sp>
      <p:sp>
        <p:nvSpPr>
          <p:cNvPr id="89" name="태그 설명"/>
          <p:cNvSpPr>
            <a:spLocks noGrp="1"/>
          </p:cNvSpPr>
          <p:nvPr>
            <p:ph type="body" sz="quarter" idx="55"/>
          </p:nvPr>
        </p:nvSpPr>
        <p:spPr>
          <a:xfrm>
            <a:off x="1833859" y="6349304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안전관리등급제 등, 내부 내부평가 등 / 임원 현장점검(멘토링) 등</a:t>
            </a:r>
          </a:p>
        </p:txBody>
      </p:sp>
      <p:sp>
        <p:nvSpPr>
          <p:cNvPr id="90" name="핵심성과 박스"/>
          <p:cNvSpPr/>
          <p:nvPr/>
        </p:nvSpPr>
        <p:spPr>
          <a:xfrm>
            <a:off x="536870" y="66670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핵심성과 라벨"/>
          <p:cNvSpPr/>
          <p:nvPr/>
        </p:nvSpPr>
        <p:spPr>
          <a:xfrm>
            <a:off x="569739" y="66999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2" name="핵심성과 라벨"/>
          <p:cNvSpPr>
            <a:spLocks noGrp="1"/>
          </p:cNvSpPr>
          <p:nvPr>
            <p:ph type="body" sz="quarter" idx="56"/>
          </p:nvPr>
        </p:nvSpPr>
        <p:spPr>
          <a:xfrm>
            <a:off x="569739" y="66999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93" name="핵심성과 문구"/>
          <p:cNvSpPr>
            <a:spLocks noGrp="1"/>
          </p:cNvSpPr>
          <p:nvPr>
            <p:ph type="body" sz="quarter" idx="57"/>
          </p:nvPr>
        </p:nvSpPr>
        <p:spPr>
          <a:xfrm>
            <a:off x="1314783" y="66889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산업재해 발생 감소(’24년 67명 → ’25년 51명, 24%↓)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공공 건설공사 참여자 「안전관리 수준평가」 ‘우수’ 등급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4 서사 · 안전경영체계 PDCA 도입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‘모두의 안전’을 위한 안전경영체계 고도화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11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 안전목표·전략·실행과제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법적 정합성 제고(규정 현행화)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2770630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 안전조직 정렬(본사·본부·현장)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예산, 인프라 확대 / 훈련 강화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2759674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 내부평가 반영/인센티브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제고·문화 확산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4171696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5594674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 소통점검회의/내부심사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의견수렴/안전수준 조사</a:t>
            </a:r>
          </a:p>
        </p:txBody>
      </p:sp>
      <p:cxnSp>
        <p:nvCxnSpPr>
          <p:cNvPr id="23" name="Connector 16"/>
          <p:cNvCxnSpPr/>
          <p:nvPr/>
        </p:nvCxnSpPr>
        <p:spPr>
          <a:xfrm>
            <a:off x="5583717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배너"/>
          <p:cNvSpPr/>
          <p:nvPr/>
        </p:nvSpPr>
        <p:spPr>
          <a:xfrm>
            <a:off x="1347652" y="2037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2037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안전한 일터, 행복한 이웃 (근로자·협력업체·시민·지역사회)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5 서사 · 조직 강화·인력 확충 → 건설사업 수행체계 개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중대재해 중점 예방관리를 위한 건설공사 수행체계 개선</a:t>
            </a:r>
          </a:p>
        </p:txBody>
      </p:sp>
      <p:sp>
        <p:nvSpPr>
          <p:cNvPr id="15" name="태그칩"/>
          <p:cNvSpPr/>
          <p:nvPr/>
        </p:nvSpPr>
        <p:spPr>
          <a:xfrm>
            <a:off x="478548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8548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2054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 태그"/>
          <p:cNvSpPr/>
          <p:nvPr/>
        </p:nvSpPr>
        <p:spPr>
          <a:xfrm>
            <a:off x="558376" y="111208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레일 태그"/>
          <p:cNvSpPr>
            <a:spLocks noGrp="1"/>
          </p:cNvSpPr>
          <p:nvPr>
            <p:ph type="body" sz="quarter" idx="24"/>
          </p:nvPr>
        </p:nvSpPr>
        <p:spPr>
          <a:xfrm>
            <a:off x="558376" y="1112087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총괄기능</a:t>
            </a:r>
          </a:p>
        </p:txBody>
      </p:sp>
      <p:sp>
        <p:nvSpPr>
          <p:cNvPr id="21" name="레일 라벨"/>
          <p:cNvSpPr>
            <a:spLocks noGrp="1"/>
          </p:cNvSpPr>
          <p:nvPr>
            <p:ph type="body" sz="quarter" idx="25"/>
          </p:nvPr>
        </p:nvSpPr>
        <p:spPr>
          <a:xfrm>
            <a:off x="547826" y="1298348"/>
            <a:ext cx="580696" cy="892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조직강화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인력확충</a:t>
            </a:r>
          </a:p>
        </p:txBody>
      </p:sp>
      <p:sp>
        <p:nvSpPr>
          <p:cNvPr id="22" name="머리칸"/>
          <p:cNvSpPr/>
          <p:nvPr/>
        </p:nvSpPr>
        <p:spPr>
          <a:xfrm>
            <a:off x="1161391" y="1090174"/>
            <a:ext cx="1185286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090174"/>
            <a:ext cx="118528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단일부서</a:t>
            </a:r>
          </a:p>
        </p:txBody>
      </p:sp>
      <p:sp>
        <p:nvSpPr>
          <p:cNvPr id="24" name="머리칸"/>
          <p:cNvSpPr/>
          <p:nvPr/>
        </p:nvSpPr>
        <p:spPr>
          <a:xfrm>
            <a:off x="2363112" y="1090174"/>
            <a:ext cx="286769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2363112" y="1090174"/>
            <a:ext cx="286769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사항</a:t>
            </a:r>
          </a:p>
        </p:txBody>
      </p:sp>
      <p:sp>
        <p:nvSpPr>
          <p:cNvPr id="26" name="머리칸"/>
          <p:cNvSpPr/>
          <p:nvPr/>
        </p:nvSpPr>
        <p:spPr>
          <a:xfrm>
            <a:off x="5247241" y="1090174"/>
            <a:ext cx="15458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5247241" y="1090174"/>
            <a:ext cx="15458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전문조직·인력 확대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331217"/>
            <a:ext cx="1179808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안전혁신실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5부  총 40명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2374068" y="1331217"/>
            <a:ext cx="2862216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안전조직 위상 제고 본부장급으로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건설안전관리 강화 部 → 부서로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 점검 안전기동반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안전문화·의식 개선 안전문화부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안전예산 증대 ’21년 6,217억원 ➡ ’25년 8,890억원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2363112" y="136408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5258198" y="1331217"/>
            <a:ext cx="154032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안전본부 · 건설안전처(3부)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4부  총 48명(20%↑)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5247241" y="136408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229652"/>
            <a:ext cx="580696" cy="860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558376" y="239400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2"/>
          </p:nvPr>
        </p:nvSpPr>
        <p:spPr>
          <a:xfrm>
            <a:off x="558376" y="239400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현장부서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3"/>
          </p:nvPr>
        </p:nvSpPr>
        <p:spPr>
          <a:xfrm>
            <a:off x="547826" y="2580261"/>
            <a:ext cx="580696" cy="487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건설사업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수행체계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547826" y="22296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"/>
          <p:cNvSpPr/>
          <p:nvPr/>
        </p:nvSpPr>
        <p:spPr>
          <a:xfrm>
            <a:off x="1161391" y="225156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25156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공사·운영업무 혼재</a:t>
            </a:r>
          </a:p>
        </p:txBody>
      </p:sp>
      <p:sp>
        <p:nvSpPr>
          <p:cNvPr id="40" name="단계"/>
          <p:cNvSpPr/>
          <p:nvPr/>
        </p:nvSpPr>
        <p:spPr>
          <a:xfrm>
            <a:off x="3985435" y="225156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3985435" y="225156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공사 전담 시행체계로 전환(현장관리 집중)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985434" y="22515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0356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분산, 업무 과다(효율성 저하)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· 댐지사 아래 운영/공사 혼재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50356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전담수행조직 전국적 확대(4 → 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/ 사업단 / 댐지사 아래 운영·공사 분리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3985435" y="2536435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6 서사 · 추진배경 → CEO 중심 활동(정책·니즈 → 리더십 강화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639598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63959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소통/점검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57988" y="931304"/>
            <a:ext cx="261989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57988" y="777913"/>
            <a:ext cx="53651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CEO 중심 안전보건 체계로 안전사령탑 강화</a:t>
            </a:r>
          </a:p>
        </p:txBody>
      </p:sp>
      <p:sp>
        <p:nvSpPr>
          <p:cNvPr id="14" name="태그칩"/>
          <p:cNvSpPr/>
          <p:nvPr/>
        </p:nvSpPr>
        <p:spPr>
          <a:xfrm>
            <a:off x="437649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37649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4927611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4927611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506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9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실질적 작업위험 감소 위한 CSO 주관 「위험작업 점검회의(매월)」 운영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안전여건 변화, 경영진 의견 반영하여 운영방안 개선 검토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405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94174"/>
            <a:ext cx="580696" cy="95869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594174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CEO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94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머리칸"/>
          <p:cNvSpPr/>
          <p:nvPr/>
        </p:nvSpPr>
        <p:spPr>
          <a:xfrm>
            <a:off x="1347652" y="1616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1616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정합성 및 니즈 확인</a:t>
            </a:r>
          </a:p>
        </p:txBody>
      </p:sp>
      <p:sp>
        <p:nvSpPr>
          <p:cNvPr id="29" name="머리칸"/>
          <p:cNvSpPr/>
          <p:nvPr/>
        </p:nvSpPr>
        <p:spPr>
          <a:xfrm>
            <a:off x="4171696" y="1616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1616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 리더십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1857130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위험예측·예방 대비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내부의견 안전경영 CEO 의지 전파, 안전경각심 내실화 위해 강화 필요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857130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CSO 중심 ‘위험작업 위주 공유’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CEO 주관 안전회의 확대(’24년 11회 → ’25년 14회)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산재현황, 예방활동, 안전의식개선 등 논의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4171696" y="1890000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7 서사 · 추진배경 → 정확한 수준진단(진단체계 신뢰성 · 참여 제약 해소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37292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37292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205058" y="920348"/>
            <a:ext cx="330529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205058" y="766957"/>
            <a:ext cx="5631812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안전문화·의식 수준 진단체계 개선으로 환류 실효성 강화</a:t>
            </a:r>
          </a:p>
        </p:txBody>
      </p:sp>
      <p:sp>
        <p:nvSpPr>
          <p:cNvPr id="15" name="태그칩"/>
          <p:cNvSpPr/>
          <p:nvPr/>
        </p:nvSpPr>
        <p:spPr>
          <a:xfrm>
            <a:off x="4608963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608963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160084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160084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7312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현황분석 자체 개발 진단체계 활용, 조사참여에 대한 심리적 부담 상승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안전의식 수준진단 참여 저조, 진단결과 정확성 확보 위해 개선 필요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492904"/>
            <a:ext cx="580696" cy="12737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레일 태그"/>
          <p:cNvSpPr/>
          <p:nvPr/>
        </p:nvSpPr>
        <p:spPr>
          <a:xfrm>
            <a:off x="433971" y="1657252"/>
            <a:ext cx="80840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7" name="레일 태그"/>
          <p:cNvSpPr>
            <a:spLocks noGrp="1"/>
          </p:cNvSpPr>
          <p:nvPr>
            <p:ph type="body" sz="quarter" idx="28"/>
          </p:nvPr>
        </p:nvSpPr>
        <p:spPr>
          <a:xfrm>
            <a:off x="433971" y="1657252"/>
            <a:ext cx="80840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환류체계 개선</a:t>
            </a:r>
          </a:p>
        </p:txBody>
      </p:sp>
      <p:sp>
        <p:nvSpPr>
          <p:cNvPr id="28" name="레일 라벨"/>
          <p:cNvSpPr>
            <a:spLocks noGrp="1"/>
          </p:cNvSpPr>
          <p:nvPr>
            <p:ph type="body" sz="quarter" idx="29"/>
          </p:nvPr>
        </p:nvSpPr>
        <p:spPr>
          <a:xfrm>
            <a:off x="547826" y="1843513"/>
            <a:ext cx="580696" cy="9012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머리칸"/>
          <p:cNvSpPr/>
          <p:nvPr/>
        </p:nvSpPr>
        <p:spPr>
          <a:xfrm>
            <a:off x="1161391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진단체계 신뢰성 확보 노력</a:t>
            </a:r>
          </a:p>
        </p:txBody>
      </p:sp>
      <p:sp>
        <p:nvSpPr>
          <p:cNvPr id="32" name="머리칸"/>
          <p:cNvSpPr/>
          <p:nvPr/>
        </p:nvSpPr>
        <p:spPr>
          <a:xfrm>
            <a:off x="3985435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3985435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설문응답 참여 제약요인 해소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755861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국가표준지표(KSCI) 도입활용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모집단 구성(부서·직급 등) 고려한 표본설계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996391" y="1755861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시간단축 설문 문항수 최적화(60 → 20개)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참여유도 조사기간 확대, 참여이벤트 등</a:t>
            </a:r>
          </a:p>
        </p:txBody>
      </p:sp>
      <p:cxnSp>
        <p:nvCxnSpPr>
          <p:cNvPr id="36" name="Connector 25"/>
          <p:cNvCxnSpPr/>
          <p:nvPr/>
        </p:nvCxnSpPr>
        <p:spPr>
          <a:xfrm>
            <a:off x="3985435" y="1788730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8864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신뢰수준 95% 확보, 진단체계 대내외 객관성 향상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18864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참여율 향상으로 진단결과 대표성 확보(2,771명, 전년比 2.7배↑)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985435" y="222151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1161391" y="25420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25420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진단결과 확인된 취약분야(안전훈련, 안전소통)는 익년도 중점 개선, 환류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8 서사 · 현장작동성 강화 추진배경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현장작동성 강화를 위한 근로자 중심의 예방활동 추진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586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553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작업중지권의 근로자 중심 활용 여건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안전제도, 서류관리, 현장점검 강화 등 감독원의 업무량 및 요구전문성 증대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위험작업 중지에 강한 의지 표명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예방 중심의 자율안전 활동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업무증가 대비 현장인력 부족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9 서사 · 제도 활성화(선제적 제도 보완 · 홍보·인식 제고 · 손실비용 보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73395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작업중지권은 ‘당연한 권리’, 근로자의 안전한 근무 환경 보장</a:t>
            </a:r>
          </a:p>
        </p:txBody>
      </p:sp>
      <p:sp>
        <p:nvSpPr>
          <p:cNvPr id="12" name="태그칩"/>
          <p:cNvSpPr/>
          <p:nvPr/>
        </p:nvSpPr>
        <p:spPr>
          <a:xfrm>
            <a:off x="4369432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369432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4920553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920553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92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887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887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제도 보완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홍보·인식 제고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손실비용 보전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근로자가 쉽게 작업중지 가능토록 내부규정 개정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안전모 QR 부착·신고 및 홍보물 제작·배포(6만개)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3640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작업중지에 따른 공사비용 증가시 예산활용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3640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근로자에 불리한 처우 금지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 신고체계 구축·홍보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3044087" y="176400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시공사, 근로자 부담 해소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926783" y="176400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0 서사 · TBM 강화(절차 중심 형식 → 쉽게 이해되는 스마트 TBM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353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시각 중심의 TBM 소통을 통한 작업위험 예방의 실효성 제고</a:t>
            </a:r>
          </a:p>
        </p:txBody>
      </p:sp>
      <p:sp>
        <p:nvSpPr>
          <p:cNvPr id="11" name="태그칩"/>
          <p:cNvSpPr/>
          <p:nvPr/>
        </p:nvSpPr>
        <p:spPr>
          <a:xfrm>
            <a:off x="455710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5710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/>
          <p:nvPr/>
        </p:nvSpPr>
        <p:spPr>
          <a:xfrm>
            <a:off x="5108224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08224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117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 B M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절차 중심의 형식적 TBM</a:t>
            </a:r>
          </a:p>
        </p:txBody>
      </p:sp>
      <p:sp>
        <p:nvSpPr>
          <p:cNvPr id="20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쉽게 이해되고 안전한 스마트 TBM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일방적 소통으로 교육효과 미비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인지 저조(현장인터뷰 결과)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현장근로자 건강위험 인지 및 대처능력 향상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위험 예방기능 미작동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 기반 시뮬레이션 TBM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산재분석 ▶ 현장 맞춤형 영상(다국어)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 간접체험, 위험인식 → 안전의식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건강상태 확인시스템 도입(키오스크)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 전 건강체크(혈압, 체온, 음주)로 사고 예방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4171696" y="1375043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1 서사 · 위험성평가 표준모델(벤치마킹 → 대표공종 → 위험요인·저감대책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8034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안전활동은 ‘근로자’ 중심, 현장작동성 위한 위험성평가 표준모델 마련</a:t>
            </a:r>
          </a:p>
        </p:txBody>
      </p:sp>
      <p:sp>
        <p:nvSpPr>
          <p:cNvPr id="12" name="태그칩"/>
          <p:cNvSpPr/>
          <p:nvPr/>
        </p:nvSpPr>
        <p:spPr>
          <a:xfrm>
            <a:off x="491581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91581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466939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466939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1331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298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1298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 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표준모델</a:t>
            </a:r>
          </a:p>
        </p:txBody>
      </p:sp>
      <p:sp>
        <p:nvSpPr>
          <p:cNvPr id="19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자율안전의 핵심 ‘공종별 위험성평가’의 내실화 : 업무효율 제고, 안전리스크 해소</a:t>
            </a:r>
          </a:p>
        </p:txBody>
      </p:sp>
      <p:sp>
        <p:nvSpPr>
          <p:cNvPr id="21" name="단계"/>
          <p:cNvSpPr/>
          <p:nvPr/>
        </p:nvSpPr>
        <p:spPr>
          <a:xfrm>
            <a:off x="1161391" y="1325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벤치마킹·자료수집</a:t>
            </a:r>
          </a:p>
        </p:txBody>
      </p:sp>
      <p:sp>
        <p:nvSpPr>
          <p:cNvPr id="23" name="단계"/>
          <p:cNvSpPr/>
          <p:nvPr/>
        </p:nvSpPr>
        <p:spPr>
          <a:xfrm>
            <a:off x="3044087" y="1325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대표공종 선정</a:t>
            </a:r>
          </a:p>
        </p:txBody>
      </p:sp>
      <p:sp>
        <p:nvSpPr>
          <p:cNvPr id="25" name="단계"/>
          <p:cNvSpPr/>
          <p:nvPr/>
        </p:nvSpPr>
        <p:spPr>
          <a:xfrm>
            <a:off x="4926783" y="1325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위험요인·저감대책 선정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3044086" y="1325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4926782" y="1325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타기관·시공업체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사고사례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환류 반영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大 K-water 사업단위 5개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中 사업별 대표공종 22개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小 세부작업/설비 220개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3044087" y="1610609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공종별 인적·기계적요인 및 작업특성 고려, 대책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외부용역 통해 검증(~’26)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4926783" y="1610609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배너"/>
          <p:cNvSpPr/>
          <p:nvPr/>
        </p:nvSpPr>
        <p:spPr>
          <a:xfrm>
            <a:off x="1161391" y="21420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21420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표준모델 검증·확인을 통하여 ’26년 스마트안전시스템에 반영 예정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2 서사 · 감리 확대(문제 → 현실화 → 인력 확대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2932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건설현장관리 전문인력 적정 배치를 통한 안전사고 예방체계 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485106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5106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588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555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 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16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7" name="단계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문제는 ‘인력(예산)’</a:t>
            </a:r>
          </a:p>
        </p:txBody>
      </p:sp>
      <p:sp>
        <p:nvSpPr>
          <p:cNvPr id="18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현장관리 현실화(정책 반영)</a:t>
            </a:r>
          </a:p>
        </p:txBody>
      </p:sp>
      <p:sp>
        <p:nvSpPr>
          <p:cNvPr id="20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현장관리 인력 확대</a:t>
            </a:r>
          </a:p>
        </p:txBody>
      </p:sp>
      <p:sp>
        <p:nvSpPr>
          <p:cNvPr id="22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감독업무량 比 인력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감리예산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(수도) 소요 대비 과소 반영 (댐) 감리 예산 미반영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241304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건설강화대책 수립(감리확대)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‘감리요율 상향’ 재경부 제안 → 승인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 공공기관 건설공사에 동일 적용</a:t>
            </a:r>
          </a:p>
        </p:txBody>
      </p:sp>
      <p:cxnSp>
        <p:nvCxnSpPr>
          <p:cNvPr id="26" name="Connector 15"/>
          <p:cNvCxnSpPr/>
          <p:nvPr/>
        </p:nvCxnSpPr>
        <p:spPr>
          <a:xfrm>
            <a:off x="3230348" y="138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5124000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공사 ‘감리’ 도입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K-water 예산 투입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5113043" y="138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배너"/>
          <p:cNvSpPr/>
          <p:nvPr/>
        </p:nvSpPr>
        <p:spPr>
          <a:xfrm>
            <a:off x="1347652" y="241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41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현실화율 76% → 96% 상향, 댐 ’25년 4개 댐 안전성 공사 감리 실시</a:t>
            </a:r>
          </a:p>
        </p:txBody>
      </p:sp>
      <p:sp>
        <p:nvSpPr>
          <p:cNvPr id="31" name="핵심성과 박스"/>
          <p:cNvSpPr/>
          <p:nvPr/>
        </p:nvSpPr>
        <p:spPr>
          <a:xfrm>
            <a:off x="723130" y="273913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756000" y="277200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756000" y="277200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501043" y="276104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작업중지권 사용 적극 보장을 통한 제도 정착(’24년 92건 → ’25년 132건, 43.5%↑)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감리비 현실화 정부정책 선도 및 안전·품질관리 전문인력 보강 배치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3 서사 · 현황진단 → 시사점 → AI·스마트 전환 → 현장작동 확립 → 기대효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스마트기술 기반 인프라 혁신으로 안전한 일터 조성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473042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473042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번호 띠 칩"/>
          <p:cNvSpPr/>
          <p:nvPr/>
        </p:nvSpPr>
        <p:spPr>
          <a:xfrm>
            <a:off x="4900008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번호 띠 칩"/>
          <p:cNvSpPr>
            <a:spLocks noGrp="1"/>
          </p:cNvSpPr>
          <p:nvPr>
            <p:ph type="body" sz="quarter" idx="24"/>
          </p:nvPr>
        </p:nvSpPr>
        <p:spPr>
          <a:xfrm>
            <a:off x="4900008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117565"/>
            <a:ext cx="6300000" cy="13778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1559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내부수준 양호한 안전기준·매뉴얼 유지, ‘아차사고’ 예방활동 현장이행 강화 필요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1559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+ 정부정책 AI·스마트 안전 기술·장비 활용 확대</a:t>
            </a:r>
          </a:p>
        </p:txBody>
      </p:sp>
      <p:cxnSp>
        <p:nvCxnSpPr>
          <p:cNvPr id="26" name="Connector 18"/>
          <p:cNvCxnSpPr/>
          <p:nvPr/>
        </p:nvCxnSpPr>
        <p:spPr>
          <a:xfrm>
            <a:off x="3985435" y="118878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558643"/>
            <a:ext cx="580696" cy="920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558643"/>
            <a:ext cx="580696" cy="920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158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158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보이지 않는 위험을 ‘AI·스마트 기술’로 통합관리, K-water 안전체계 전환 요구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 근로자·위험작업 노출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안전업무 힘들고 어려워 기피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다양한 작업 및 정보공유 어려움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유형별 고위험 공종 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취약계층(고령자) 사고 증가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원거리 현장, 불편한 서류작업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법령·규정 복잡, 현장적용 난해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044087" y="2090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분산, 상황관리 복잡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현장별 위험 파악·대응 지연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4926783" y="2090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캡션 띠"/>
          <p:cNvSpPr/>
          <p:nvPr/>
        </p:nvSpPr>
        <p:spPr>
          <a:xfrm>
            <a:off x="536869" y="25173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865565" y="256116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6"/>
          </p:nvPr>
        </p:nvSpPr>
        <p:spPr>
          <a:xfrm>
            <a:off x="865565" y="256116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6" name="캡션"/>
          <p:cNvSpPr>
            <a:spLocks noGrp="1"/>
          </p:cNvSpPr>
          <p:nvPr>
            <p:ph type="body" sz="quarter" idx="37"/>
          </p:nvPr>
        </p:nvSpPr>
        <p:spPr>
          <a:xfrm>
            <a:off x="1359219" y="251733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전국에 산재된 高난이도 안전관리 특성과 사고예방 강화를 위해 첨단 안전기술 확대 필요</a:t>
            </a:r>
          </a:p>
        </p:txBody>
      </p:sp>
      <p:sp>
        <p:nvSpPr>
          <p:cNvPr id="47" name="표 외곽"/>
          <p:cNvSpPr/>
          <p:nvPr/>
        </p:nvSpPr>
        <p:spPr>
          <a:xfrm>
            <a:off x="536870" y="2824122"/>
            <a:ext cx="6300000" cy="32473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"/>
          <p:cNvSpPr/>
          <p:nvPr/>
        </p:nvSpPr>
        <p:spPr>
          <a:xfrm>
            <a:off x="547826" y="2840557"/>
            <a:ext cx="580696" cy="8040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레일 태그"/>
          <p:cNvSpPr/>
          <p:nvPr/>
        </p:nvSpPr>
        <p:spPr>
          <a:xfrm>
            <a:off x="558376" y="288438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레일 태그"/>
          <p:cNvSpPr>
            <a:spLocks noGrp="1"/>
          </p:cNvSpPr>
          <p:nvPr>
            <p:ph type="body" sz="quarter" idx="38"/>
          </p:nvPr>
        </p:nvSpPr>
        <p:spPr>
          <a:xfrm>
            <a:off x="558376" y="288438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51" name="레일 라벨"/>
          <p:cNvSpPr>
            <a:spLocks noGrp="1"/>
          </p:cNvSpPr>
          <p:nvPr>
            <p:ph type="body" sz="quarter" idx="39"/>
          </p:nvPr>
        </p:nvSpPr>
        <p:spPr>
          <a:xfrm>
            <a:off x="547826" y="3070643"/>
            <a:ext cx="580696" cy="5520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환</a:t>
            </a:r>
          </a:p>
        </p:txBody>
      </p:sp>
      <p:sp>
        <p:nvSpPr>
          <p:cNvPr id="52" name="배너"/>
          <p:cNvSpPr/>
          <p:nvPr/>
        </p:nvSpPr>
        <p:spPr>
          <a:xfrm>
            <a:off x="1161391" y="28624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0"/>
          </p:nvPr>
        </p:nvSpPr>
        <p:spPr>
          <a:xfrm>
            <a:off x="1161391" y="28624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‘예방·간소·통합’ 3대 핵심목표 달성을 위한 AI·스마트 안전으로의 大 전환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 위험포착·사고예방: 스마트 장비 근로자 지원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간소 업무경량·내용명확: 서류 간편화, 시간절약</a:t>
            </a:r>
          </a:p>
        </p:txBody>
      </p:sp>
      <p:cxnSp>
        <p:nvCxnSpPr>
          <p:cNvPr id="56" name="Connector 40"/>
          <p:cNvCxnSpPr/>
          <p:nvPr/>
        </p:nvCxnSpPr>
        <p:spPr>
          <a:xfrm>
            <a:off x="3044087" y="3130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3"/>
          </p:nvPr>
        </p:nvSpPr>
        <p:spPr>
          <a:xfrm>
            <a:off x="4937739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 작업공유·위기대응: 스마트 작업상황 관리</a:t>
            </a:r>
          </a:p>
        </p:txBody>
      </p:sp>
      <p:cxnSp>
        <p:nvCxnSpPr>
          <p:cNvPr id="58" name="Connector 42"/>
          <p:cNvCxnSpPr/>
          <p:nvPr/>
        </p:nvCxnSpPr>
        <p:spPr>
          <a:xfrm>
            <a:off x="4926783" y="3130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레일"/>
          <p:cNvSpPr/>
          <p:nvPr/>
        </p:nvSpPr>
        <p:spPr>
          <a:xfrm>
            <a:off x="547826" y="3661043"/>
            <a:ext cx="580696" cy="2394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3661043"/>
            <a:ext cx="580696" cy="239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현장작동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립</a:t>
            </a:r>
          </a:p>
        </p:txBody>
      </p:sp>
      <p:sp>
        <p:nvSpPr>
          <p:cNvPr id="61" name="레일 삼각형"/>
          <p:cNvSpPr/>
          <p:nvPr/>
        </p:nvSpPr>
        <p:spPr>
          <a:xfrm>
            <a:off x="547826" y="3661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머리칸"/>
          <p:cNvSpPr/>
          <p:nvPr/>
        </p:nvSpPr>
        <p:spPr>
          <a:xfrm>
            <a:off x="1161391" y="36829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3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6829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AIoT 장비 전사 확대, 근로자 사고예방</a:t>
            </a:r>
          </a:p>
        </p:txBody>
      </p:sp>
      <p:sp>
        <p:nvSpPr>
          <p:cNvPr id="64" name="머리칸"/>
          <p:cNvSpPr/>
          <p:nvPr/>
        </p:nvSpPr>
        <p:spPr>
          <a:xfrm>
            <a:off x="3985435" y="36829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5" name="머리칸"/>
          <p:cNvSpPr>
            <a:spLocks noGrp="1"/>
          </p:cNvSpPr>
          <p:nvPr>
            <p:ph type="body" sz="quarter" idx="46"/>
          </p:nvPr>
        </p:nvSpPr>
        <p:spPr>
          <a:xfrm>
            <a:off x="3985435" y="36829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간단 명료한 P-D-C-A 안전활동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3924000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실수·위험유해요인 탐지·제거·대체: 이동형 AI CCTV · 스마트 밴드 · 스마트 안전모 · 안전비상벨 · 유해가스 측정기 · 4족 보행 로봇 · 모바일 태블릿 · 수중드론(ROV)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3924000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모바일·원격 현장안전업무 실행시스템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PDCA 현장 안전체계 확립 · 실시간 현장소통·위험통제 · 기록 신뢰성·행정 간소화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Plan 계획·허가 / 위험성평가 · Do AI TBM · Check 영상분석·작업중지 · Action 점검결과</a:t>
            </a:r>
          </a:p>
        </p:txBody>
      </p:sp>
      <p:cxnSp>
        <p:nvCxnSpPr>
          <p:cNvPr id="68" name="Connector 49"/>
          <p:cNvCxnSpPr/>
          <p:nvPr/>
        </p:nvCxnSpPr>
        <p:spPr>
          <a:xfrm>
            <a:off x="3985435" y="3956870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배너"/>
          <p:cNvSpPr/>
          <p:nvPr/>
        </p:nvSpPr>
        <p:spPr>
          <a:xfrm>
            <a:off x="1161391" y="5036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배너"/>
          <p:cNvSpPr>
            <a:spLocks noGrp="1"/>
          </p:cNvSpPr>
          <p:nvPr>
            <p:ph type="body" sz="quarter" idx="49"/>
          </p:nvPr>
        </p:nvSpPr>
        <p:spPr>
          <a:xfrm>
            <a:off x="1161391" y="5036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빅보드로 현장·본부·본사가 연결 : ‘안전 모니터링 및 위험관리·통제체계’ 가동</a:t>
            </a:r>
          </a:p>
        </p:txBody>
      </p:sp>
      <p:sp>
        <p:nvSpPr>
          <p:cNvPr id="71" name="단계"/>
          <p:cNvSpPr/>
          <p:nvPr/>
        </p:nvSpPr>
        <p:spPr>
          <a:xfrm>
            <a:off x="1161391" y="527165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50"/>
          </p:nvPr>
        </p:nvSpPr>
        <p:spPr>
          <a:xfrm>
            <a:off x="1161391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각 사업장 운영</a:t>
            </a:r>
          </a:p>
        </p:txBody>
      </p:sp>
      <p:sp>
        <p:nvSpPr>
          <p:cNvPr id="73" name="단계"/>
          <p:cNvSpPr/>
          <p:nvPr/>
        </p:nvSpPr>
        <p:spPr>
          <a:xfrm>
            <a:off x="3044087" y="527165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1"/>
          </p:nvPr>
        </p:nvSpPr>
        <p:spPr>
          <a:xfrm>
            <a:off x="3044087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본부 산하 건설현장 연결</a:t>
            </a:r>
          </a:p>
        </p:txBody>
      </p:sp>
      <p:sp>
        <p:nvSpPr>
          <p:cNvPr id="75" name="단계"/>
          <p:cNvSpPr/>
          <p:nvPr/>
        </p:nvSpPr>
        <p:spPr>
          <a:xfrm>
            <a:off x="4926783" y="527165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2"/>
          </p:nvPr>
        </p:nvSpPr>
        <p:spPr>
          <a:xfrm>
            <a:off x="4926783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본사 전현장 실시간 연결·통합</a:t>
            </a:r>
          </a:p>
        </p:txBody>
      </p:sp>
      <p:sp>
        <p:nvSpPr>
          <p:cNvPr id="77" name="단계 삼각형"/>
          <p:cNvSpPr/>
          <p:nvPr/>
        </p:nvSpPr>
        <p:spPr>
          <a:xfrm>
            <a:off x="3044086" y="52716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단계 삼각형"/>
          <p:cNvSpPr/>
          <p:nvPr/>
        </p:nvSpPr>
        <p:spPr>
          <a:xfrm>
            <a:off x="4926782" y="5271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근로자 모니터링 ➡ 떨어짐, 질식 등 위험통제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활용 정착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7개현장 CCTV(64대)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위험인지로 아차사고 예방</a:t>
            </a:r>
          </a:p>
        </p:txBody>
      </p:sp>
      <p:cxnSp>
        <p:nvCxnSpPr>
          <p:cNvPr id="81" name="Connector 58"/>
          <p:cNvCxnSpPr/>
          <p:nvPr/>
        </p:nvCxnSpPr>
        <p:spPr>
          <a:xfrm>
            <a:off x="3044087" y="55565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위험 포착·실시간 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위험상황 경보·조기대응 체계</a:t>
            </a:r>
          </a:p>
        </p:txBody>
      </p:sp>
      <p:cxnSp>
        <p:nvCxnSpPr>
          <p:cNvPr id="83" name="Connector 60"/>
          <p:cNvCxnSpPr/>
          <p:nvPr/>
        </p:nvCxnSpPr>
        <p:spPr>
          <a:xfrm>
            <a:off x="4926783" y="55565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핵심성과 박스"/>
          <p:cNvSpPr/>
          <p:nvPr/>
        </p:nvSpPr>
        <p:spPr>
          <a:xfrm>
            <a:off x="536870" y="615913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핵심성과 라벨"/>
          <p:cNvSpPr/>
          <p:nvPr/>
        </p:nvSpPr>
        <p:spPr>
          <a:xfrm>
            <a:off x="569739" y="619747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86" name="핵심성과 라벨"/>
          <p:cNvSpPr>
            <a:spLocks noGrp="1"/>
          </p:cNvSpPr>
          <p:nvPr>
            <p:ph type="body" sz="quarter" idx="56"/>
          </p:nvPr>
        </p:nvSpPr>
        <p:spPr>
          <a:xfrm>
            <a:off x="569739" y="619747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87" name="핵심성과 문구"/>
          <p:cNvSpPr>
            <a:spLocks noGrp="1"/>
          </p:cNvSpPr>
          <p:nvPr>
            <p:ph type="body" sz="quarter" idx="57"/>
          </p:nvPr>
        </p:nvSpPr>
        <p:spPr>
          <a:xfrm>
            <a:off x="1314783" y="617556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실시간 모니터링(본사·본부·현장)으로 위험감지·개선체계(중지, 조치 → 재착수) 구축, 예방강화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4 서사 · 왜 문화인가 → 인식전환 → 문화 기틀 → 참여 · 지원 · 확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K-water에 「안전을 心다」 모두의 일상에 스며드는 안전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6390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안전문화로 연결하고 실천으로 완성하는 안전작동 선순환</a:t>
            </a:r>
          </a:p>
        </p:txBody>
      </p:sp>
      <p:sp>
        <p:nvSpPr>
          <p:cNvPr id="16" name="태그칩"/>
          <p:cNvSpPr/>
          <p:nvPr/>
        </p:nvSpPr>
        <p:spPr>
          <a:xfrm>
            <a:off x="4385644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85644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936765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936765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71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문화인가?</a:t>
            </a:r>
          </a:p>
        </p:txBody>
      </p:sp>
      <p:sp>
        <p:nvSpPr>
          <p:cNvPr id="23" name="머리칸"/>
          <p:cNvSpPr/>
          <p:nvPr/>
        </p:nvSpPr>
        <p:spPr>
          <a:xfrm>
            <a:off x="1347652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인프라 지원 확대에도 사고 발생</a:t>
            </a:r>
          </a:p>
        </p:txBody>
      </p:sp>
      <p:sp>
        <p:nvSpPr>
          <p:cNvPr id="25" name="머리칸"/>
          <p:cNvSpPr/>
          <p:nvPr/>
        </p:nvSpPr>
        <p:spPr>
          <a:xfrm>
            <a:off x="4171696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안전의 최종 작동점은 ‘사람의 선택’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769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안전체계 강화로 ‘규정’은 정착되었으나 구성원 자발적 행동으로 연결 미흡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769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인식 및 행동변화를 유도할 수 있는 안전문화 구축 필요성 증대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4171696" y="18023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캡션 띠"/>
          <p:cNvSpPr/>
          <p:nvPr/>
        </p:nvSpPr>
        <p:spPr>
          <a:xfrm>
            <a:off x="723130" y="2229652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태그"/>
          <p:cNvSpPr/>
          <p:nvPr/>
        </p:nvSpPr>
        <p:spPr>
          <a:xfrm>
            <a:off x="1051826" y="2273478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2273478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인식전환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1"/>
          </p:nvPr>
        </p:nvSpPr>
        <p:spPr>
          <a:xfrm>
            <a:off x="1655249" y="2229652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‘제도중심’ 관리에서 ‘사람중심’ 문화로 안전의 패러다임 전환</a:t>
            </a:r>
          </a:p>
        </p:txBody>
      </p:sp>
      <p:sp>
        <p:nvSpPr>
          <p:cNvPr id="34" name="표 외곽"/>
          <p:cNvSpPr/>
          <p:nvPr/>
        </p:nvSpPr>
        <p:spPr>
          <a:xfrm>
            <a:off x="723130" y="2536435"/>
            <a:ext cx="6300000" cy="285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734087" y="2552870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레일 태그"/>
          <p:cNvSpPr/>
          <p:nvPr/>
        </p:nvSpPr>
        <p:spPr>
          <a:xfrm>
            <a:off x="744637" y="259669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레일 태그"/>
          <p:cNvSpPr>
            <a:spLocks noGrp="1"/>
          </p:cNvSpPr>
          <p:nvPr>
            <p:ph type="body" sz="quarter" idx="32"/>
          </p:nvPr>
        </p:nvSpPr>
        <p:spPr>
          <a:xfrm>
            <a:off x="744637" y="259669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사람중심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782957"/>
            <a:ext cx="580696" cy="432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기틀마련</a:t>
            </a:r>
          </a:p>
        </p:txBody>
      </p:sp>
      <p:sp>
        <p:nvSpPr>
          <p:cNvPr id="39" name="머리칸"/>
          <p:cNvSpPr/>
          <p:nvPr/>
        </p:nvSpPr>
        <p:spPr>
          <a:xfrm>
            <a:off x="1347652" y="2574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574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내 세대별 감수성 반영</a:t>
            </a:r>
          </a:p>
        </p:txBody>
      </p:sp>
      <p:sp>
        <p:nvSpPr>
          <p:cNvPr id="41" name="머리칸"/>
          <p:cNvSpPr/>
          <p:nvPr/>
        </p:nvSpPr>
        <p:spPr>
          <a:xfrm>
            <a:off x="4171696" y="2574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574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「안전을 心다」 안전브랜드 구축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815826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기성&amp;신세대 맞춤형 콘텐츠 제작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보상강화를 통한 적극적 참여유도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815826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공모, 안전가치 공감대 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BI 시각화를 통해 전달력 향상</a:t>
            </a:r>
          </a:p>
        </p:txBody>
      </p:sp>
      <p:cxnSp>
        <p:nvCxnSpPr>
          <p:cNvPr id="45" name="Connector 30"/>
          <p:cNvCxnSpPr/>
          <p:nvPr/>
        </p:nvCxnSpPr>
        <p:spPr>
          <a:xfrm>
            <a:off x="4171696" y="2848696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734087" y="3254087"/>
            <a:ext cx="580696" cy="695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3254087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734086" y="3254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"/>
          <p:cNvSpPr/>
          <p:nvPr/>
        </p:nvSpPr>
        <p:spPr>
          <a:xfrm>
            <a:off x="1347652" y="327600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공모 확대</a:t>
            </a:r>
          </a:p>
        </p:txBody>
      </p:sp>
      <p:sp>
        <p:nvSpPr>
          <p:cNvPr id="51" name="단계"/>
          <p:cNvSpPr/>
          <p:nvPr/>
        </p:nvSpPr>
        <p:spPr>
          <a:xfrm>
            <a:off x="3230348" y="327600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브랜드 기반 홍보</a:t>
            </a:r>
          </a:p>
        </p:txBody>
      </p:sp>
      <p:sp>
        <p:nvSpPr>
          <p:cNvPr id="53" name="단계"/>
          <p:cNvSpPr/>
          <p:nvPr/>
        </p:nvSpPr>
        <p:spPr>
          <a:xfrm>
            <a:off x="5113043" y="327600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직원참여 안전활동 향상</a:t>
            </a:r>
          </a:p>
        </p:txBody>
      </p:sp>
      <p:sp>
        <p:nvSpPr>
          <p:cNvPr id="55" name="단계 삼각형"/>
          <p:cNvSpPr/>
          <p:nvPr/>
        </p:nvSpPr>
        <p:spPr>
          <a:xfrm>
            <a:off x="3230347" y="32760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단계 삼각형"/>
          <p:cNvSpPr/>
          <p:nvPr/>
        </p:nvSpPr>
        <p:spPr>
          <a:xfrm>
            <a:off x="5113043" y="327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아차사고, 안전제안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우수제안 사업화·사례 배포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굿즈, PC 배경화면 등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카드뉴스·숏폼 안전콘텐츠</a:t>
            </a:r>
          </a:p>
        </p:txBody>
      </p:sp>
      <p:cxnSp>
        <p:nvCxnSpPr>
          <p:cNvPr id="59" name="Connector 40"/>
          <p:cNvCxnSpPr/>
          <p:nvPr/>
        </p:nvCxnSpPr>
        <p:spPr>
          <a:xfrm>
            <a:off x="3230348" y="3560870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최다 공모 참여(712건)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메일링(매월), 사례전파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5113043" y="3560870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3966261"/>
            <a:ext cx="580696" cy="695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966261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강화하고</a:t>
            </a:r>
          </a:p>
        </p:txBody>
      </p:sp>
      <p:sp>
        <p:nvSpPr>
          <p:cNvPr id="64" name="단계"/>
          <p:cNvSpPr/>
          <p:nvPr/>
        </p:nvSpPr>
        <p:spPr>
          <a:xfrm>
            <a:off x="1347652" y="3988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6"/>
          </p:nvPr>
        </p:nvSpPr>
        <p:spPr>
          <a:xfrm>
            <a:off x="1347652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인센티브·역량 강화</a:t>
            </a:r>
          </a:p>
        </p:txBody>
      </p:sp>
      <p:sp>
        <p:nvSpPr>
          <p:cNvPr id="66" name="단계"/>
          <p:cNvSpPr/>
          <p:nvPr/>
        </p:nvSpPr>
        <p:spPr>
          <a:xfrm>
            <a:off x="3230348" y="3988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7"/>
          </p:nvPr>
        </p:nvSpPr>
        <p:spPr>
          <a:xfrm>
            <a:off x="3230348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</a:t>
            </a:r>
          </a:p>
        </p:txBody>
      </p:sp>
      <p:sp>
        <p:nvSpPr>
          <p:cNvPr id="68" name="단계"/>
          <p:cNvSpPr/>
          <p:nvPr/>
        </p:nvSpPr>
        <p:spPr>
          <a:xfrm>
            <a:off x="5113043" y="3988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8"/>
          </p:nvPr>
        </p:nvSpPr>
        <p:spPr>
          <a:xfrm>
            <a:off x="5113043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안전관리 실행력 강화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230347" y="3988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5113043" y="3988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자격포상 확대, 승진가점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위험공종·저연차 특화 교육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241304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밀착 법률지원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마음돌봄지원 확대</a:t>
            </a:r>
          </a:p>
        </p:txBody>
      </p:sp>
      <p:cxnSp>
        <p:nvCxnSpPr>
          <p:cNvPr id="74" name="Connector 51"/>
          <p:cNvCxnSpPr/>
          <p:nvPr/>
        </p:nvCxnSpPr>
        <p:spPr>
          <a:xfrm>
            <a:off x="3230348" y="42730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5124000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안전자격 취득 4.3배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안전지원 직원 체감도↑</a:t>
            </a:r>
          </a:p>
        </p:txBody>
      </p:sp>
      <p:cxnSp>
        <p:nvCxnSpPr>
          <p:cNvPr id="76" name="Connector 53"/>
          <p:cNvCxnSpPr/>
          <p:nvPr/>
        </p:nvCxnSpPr>
        <p:spPr>
          <a:xfrm>
            <a:off x="5113043" y="42730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734087" y="4678435"/>
            <a:ext cx="580696" cy="695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4678435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734086" y="4678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단계"/>
          <p:cNvSpPr/>
          <p:nvPr/>
        </p:nvSpPr>
        <p:spPr>
          <a:xfrm>
            <a:off x="1347652" y="47003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1" name="단계"/>
          <p:cNvSpPr>
            <a:spLocks noGrp="1"/>
          </p:cNvSpPr>
          <p:nvPr>
            <p:ph type="body" sz="quarter" idx="53"/>
          </p:nvPr>
        </p:nvSpPr>
        <p:spPr>
          <a:xfrm>
            <a:off x="1347652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지원</a:t>
            </a:r>
          </a:p>
        </p:txBody>
      </p:sp>
      <p:sp>
        <p:nvSpPr>
          <p:cNvPr id="82" name="단계"/>
          <p:cNvSpPr/>
          <p:nvPr/>
        </p:nvSpPr>
        <p:spPr>
          <a:xfrm>
            <a:off x="3230348" y="47003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3" name="단계"/>
          <p:cNvSpPr>
            <a:spLocks noGrp="1"/>
          </p:cNvSpPr>
          <p:nvPr>
            <p:ph type="body" sz="quarter" idx="54"/>
          </p:nvPr>
        </p:nvSpPr>
        <p:spPr>
          <a:xfrm>
            <a:off x="3230348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안전문화 민·관 대외 협력</a:t>
            </a:r>
          </a:p>
        </p:txBody>
      </p:sp>
      <p:sp>
        <p:nvSpPr>
          <p:cNvPr id="84" name="단계"/>
          <p:cNvSpPr/>
          <p:nvPr/>
        </p:nvSpPr>
        <p:spPr>
          <a:xfrm>
            <a:off x="5113043" y="47003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5" name="단계"/>
          <p:cNvSpPr>
            <a:spLocks noGrp="1"/>
          </p:cNvSpPr>
          <p:nvPr>
            <p:ph type="body" sz="quarter" idx="55"/>
          </p:nvPr>
        </p:nvSpPr>
        <p:spPr>
          <a:xfrm>
            <a:off x="5113043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 파트너십 공고화</a:t>
            </a:r>
          </a:p>
        </p:txBody>
      </p:sp>
      <p:sp>
        <p:nvSpPr>
          <p:cNvPr id="86" name="단계 삼각형"/>
          <p:cNvSpPr/>
          <p:nvPr/>
        </p:nvSpPr>
        <p:spPr>
          <a:xfrm>
            <a:off x="3230347" y="4700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단계 삼각형"/>
          <p:cNvSpPr/>
          <p:nvPr/>
        </p:nvSpPr>
        <p:spPr>
          <a:xfrm>
            <a:off x="5113043" y="47003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6"/>
          </p:nvPr>
        </p:nvSpPr>
        <p:spPr>
          <a:xfrm>
            <a:off x="1358609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재해경감체계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취약근로자 교육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57"/>
          </p:nvPr>
        </p:nvSpPr>
        <p:spPr>
          <a:xfrm>
            <a:off x="3241304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행안부 안전사회공헌 공동추진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협업 교육·진단</a:t>
            </a:r>
          </a:p>
        </p:txBody>
      </p:sp>
      <p:cxnSp>
        <p:nvCxnSpPr>
          <p:cNvPr id="90" name="Connector 63"/>
          <p:cNvCxnSpPr/>
          <p:nvPr/>
        </p:nvCxnSpPr>
        <p:spPr>
          <a:xfrm>
            <a:off x="3230348" y="498521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8"/>
          </p:nvPr>
        </p:nvSpPr>
        <p:spPr>
          <a:xfrm>
            <a:off x="5124000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안전보건활동 우수상(고용노동부)</a:t>
            </a:r>
          </a:p>
        </p:txBody>
      </p:sp>
      <p:cxnSp>
        <p:nvCxnSpPr>
          <p:cNvPr id="92" name="Connector 65"/>
          <p:cNvCxnSpPr/>
          <p:nvPr/>
        </p:nvCxnSpPr>
        <p:spPr>
          <a:xfrm>
            <a:off x="5113043" y="498521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5 서사 · 안전보건문화제 → Safety Super Week → 안전문화 축제의 장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8000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Safety Super Week, 일상을 넘어 안전문화 축제의 장으로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4715480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15480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93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750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750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17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 안전보건문화제(2일)</a:t>
            </a:r>
          </a:p>
        </p:txBody>
      </p:sp>
      <p:sp>
        <p:nvSpPr>
          <p:cNvPr id="19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Safety Super Week</a:t>
            </a:r>
          </a:p>
        </p:txBody>
      </p:sp>
      <p:sp>
        <p:nvSpPr>
          <p:cNvPr id="21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’26~ 안전문화 실천의날</a:t>
            </a:r>
          </a:p>
        </p:txBody>
      </p:sp>
      <p:sp>
        <p:nvSpPr>
          <p:cNvPr id="23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체험형 안전·보건프로그램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임직원 중심 참여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3055043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 및 온·오프 채널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및 지역사회 확대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3044087" y="1375043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4937739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→ 유역본부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 참여 확대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926783" y="1375043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547826" y="1835217"/>
            <a:ext cx="580696" cy="1139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835217"/>
            <a:ext cx="580696" cy="113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547826" y="1835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57130"/>
            <a:ext cx="201767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강화: 「안전을 心다」 요일별 테마, 완강기 등 안전체험 20종, 전사 심폐소생술 경진대회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채널 확대: 노사행사 연계 현장 참여 확대, 인스타·블로그 등 SNS 참여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3211935" y="1857130"/>
            <a:ext cx="154700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공공기관·지역·국민이 함께하는 안전문화 축제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3200978" y="189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4780848" y="1857130"/>
            <a:ext cx="201767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협력사: 안전 우수사례·제안 포상, 안전골든벨(내외부 7,855명)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지역사회: 유아·학생 등 국민 대상 교육, 기관 협업을 통한 문화 확산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4769891" y="189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배너"/>
          <p:cNvSpPr/>
          <p:nvPr/>
        </p:nvSpPr>
        <p:spPr>
          <a:xfrm>
            <a:off x="1161391" y="2750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750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1만명 참여(오프라인 2천명, 온라인 8천명), 민-관 10개 기관 협업</a:t>
            </a:r>
          </a:p>
        </p:txBody>
      </p:sp>
      <p:sp>
        <p:nvSpPr>
          <p:cNvPr id="40" name="핵심성과 박스"/>
          <p:cNvSpPr/>
          <p:nvPr/>
        </p:nvSpPr>
        <p:spPr>
          <a:xfrm>
            <a:off x="536870" y="307878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핵심성과 라벨"/>
          <p:cNvSpPr/>
          <p:nvPr/>
        </p:nvSpPr>
        <p:spPr>
          <a:xfrm>
            <a:off x="569739" y="3111652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2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569739" y="3111652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43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314783" y="310069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안전문화·의식 수준 지속 개선(’23년 67.5점 → ’24년 77.6점 → ’25년 85.6점)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「안전문화 확산 유공」 최우수기관 선정으로 국무총리 표창 수상(’25년)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6 서사 · 재난대응체계(K-water 여건 → 환경분석 → 시사점 → 목표·과제 → 실행기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국민안전 최우선 경영 기조 아래 빈틈없는 재난대응체계 구축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17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사업·시설: 수자원 댐, 하굿둑, 보, 아라뱃길(76개) / 수도 광역·지방상수도, 산업용수(77개) / 도시조성 산업단지, 수변도시 등(6개) / 재생에너지 수력, 조력, 태양광 등(115개)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재난유형: 자연 재난 풍수해, 가뭄, 지진, 홍수, 조류 대발생(5개) / 사회 재난 댐 재난, 수도·먹는물 재난, 핵심기반 시설의 마비, 산불, 감염병 등(18개)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34087" y="1846174"/>
            <a:ext cx="580696" cy="44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846174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846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1347652" y="189000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1347652" y="189000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7"/>
          </p:nvPr>
        </p:nvSpPr>
        <p:spPr>
          <a:xfrm>
            <a:off x="1972988" y="187904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심화로 기상 급변, 강도 증가 ➡ 재난의 복합·대형화 및 예측가능성↓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208721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208721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사업특성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972988" y="2076261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재난위험이 상이한 복합사업의 전국적 산재 ➡ 재난대응역량·인프라 분산</a:t>
            </a:r>
          </a:p>
        </p:txBody>
      </p:sp>
      <p:sp>
        <p:nvSpPr>
          <p:cNvPr id="29" name="캡션 띠"/>
          <p:cNvSpPr/>
          <p:nvPr/>
        </p:nvSpPr>
        <p:spPr>
          <a:xfrm>
            <a:off x="723130" y="232826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1051826" y="237208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237208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2" name="캡션"/>
          <p:cNvSpPr>
            <a:spLocks noGrp="1"/>
          </p:cNvSpPr>
          <p:nvPr>
            <p:ph type="body" sz="quarter" idx="31"/>
          </p:nvPr>
        </p:nvSpPr>
        <p:spPr>
          <a:xfrm>
            <a:off x="1545480" y="2328261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대응체계 고도화 및 인프라의 효율적 활용으로 대응력 강화와 불확실성 극복 필요</a:t>
            </a:r>
          </a:p>
        </p:txBody>
      </p:sp>
      <p:sp>
        <p:nvSpPr>
          <p:cNvPr id="33" name="표 외곽"/>
          <p:cNvSpPr/>
          <p:nvPr/>
        </p:nvSpPr>
        <p:spPr>
          <a:xfrm>
            <a:off x="723130" y="2635043"/>
            <a:ext cx="6300000" cy="2872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"/>
          <p:cNvSpPr/>
          <p:nvPr/>
        </p:nvSpPr>
        <p:spPr>
          <a:xfrm>
            <a:off x="734087" y="26514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514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36" name="배너"/>
          <p:cNvSpPr/>
          <p:nvPr/>
        </p:nvSpPr>
        <p:spPr>
          <a:xfrm>
            <a:off x="1347652" y="2673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673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모든 재난으로부터 국민의 생명과 재산을 보호하는 K-water 안전</a:t>
            </a:r>
          </a:p>
        </p:txBody>
      </p:sp>
      <p:sp>
        <p:nvSpPr>
          <p:cNvPr id="38" name="레일"/>
          <p:cNvSpPr/>
          <p:nvPr/>
        </p:nvSpPr>
        <p:spPr>
          <a:xfrm>
            <a:off x="734087" y="2921322"/>
            <a:ext cx="580696" cy="1320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2921322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734086" y="2921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"/>
          <p:cNvSpPr/>
          <p:nvPr/>
        </p:nvSpPr>
        <p:spPr>
          <a:xfrm>
            <a:off x="1347652" y="294323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 역량 고도화</a:t>
            </a:r>
          </a:p>
        </p:txBody>
      </p:sp>
      <p:sp>
        <p:nvSpPr>
          <p:cNvPr id="43" name="단계"/>
          <p:cNvSpPr/>
          <p:nvPr/>
        </p:nvSpPr>
        <p:spPr>
          <a:xfrm>
            <a:off x="3230348" y="294323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6"/>
          </p:nvPr>
        </p:nvSpPr>
        <p:spPr>
          <a:xfrm>
            <a:off x="3230348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예방체계 구축</a:t>
            </a:r>
          </a:p>
        </p:txBody>
      </p:sp>
      <p:sp>
        <p:nvSpPr>
          <p:cNvPr id="45" name="단계"/>
          <p:cNvSpPr/>
          <p:nvPr/>
        </p:nvSpPr>
        <p:spPr>
          <a:xfrm>
            <a:off x="5113043" y="294323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7"/>
          </p:nvPr>
        </p:nvSpPr>
        <p:spPr>
          <a:xfrm>
            <a:off x="5113043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상시화된 위기 대응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3230347" y="29432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5113043" y="29432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 조직·인력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매뉴얼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재난관리시스템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인프라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교육·훈련 내실화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3241304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첨단기술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AI활용 재난예측 정확도↑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사각지대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시설물 취약요인 중점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시민참여 안전모니터링 강화</a:t>
            </a:r>
          </a:p>
        </p:txBody>
      </p:sp>
      <p:cxnSp>
        <p:nvCxnSpPr>
          <p:cNvPr id="51" name="Connector 34"/>
          <p:cNvCxnSpPr/>
          <p:nvPr/>
        </p:nvCxnSpPr>
        <p:spPr>
          <a:xfrm>
            <a:off x="3230348" y="3228104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5124000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생명·안전 최우선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 맞춤 물이용 솔루션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피해국민 상생회복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관계기관 협업기반 구축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5113043" y="3228104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734087" y="4258017"/>
            <a:ext cx="580696" cy="1232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4258017"/>
            <a:ext cx="580696" cy="1232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56" name="레일 삼각형"/>
          <p:cNvSpPr/>
          <p:nvPr/>
        </p:nvSpPr>
        <p:spPr>
          <a:xfrm>
            <a:off x="734086" y="42580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1347652" y="4301843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2"/>
          </p:nvPr>
        </p:nvSpPr>
        <p:spPr>
          <a:xfrm>
            <a:off x="1347652" y="4301843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</a:t>
            </a:r>
          </a:p>
        </p:txBody>
      </p:sp>
      <p:sp>
        <p:nvSpPr>
          <p:cNvPr id="59" name="태그 설명"/>
          <p:cNvSpPr>
            <a:spLocks noGrp="1"/>
          </p:cNvSpPr>
          <p:nvPr>
            <p:ph type="body" sz="quarter" idx="43"/>
          </p:nvPr>
        </p:nvSpPr>
        <p:spPr>
          <a:xfrm>
            <a:off x="1863219" y="4290887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리스크관리규정, 댐관리규정, 수도시설관리규정 등</a:t>
            </a:r>
          </a:p>
        </p:txBody>
      </p:sp>
      <p:sp>
        <p:nvSpPr>
          <p:cNvPr id="60" name="태그"/>
          <p:cNvSpPr/>
          <p:nvPr/>
        </p:nvSpPr>
        <p:spPr>
          <a:xfrm>
            <a:off x="1347652" y="4499061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4"/>
          </p:nvPr>
        </p:nvSpPr>
        <p:spPr>
          <a:xfrm>
            <a:off x="1347652" y="4499061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매뉴얼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5"/>
          </p:nvPr>
        </p:nvSpPr>
        <p:spPr>
          <a:xfrm>
            <a:off x="1863219" y="4488104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자연재난(5개 유형) + 사회재난(18개 유형)</a:t>
            </a:r>
          </a:p>
        </p:txBody>
      </p:sp>
      <p:sp>
        <p:nvSpPr>
          <p:cNvPr id="63" name="태그"/>
          <p:cNvSpPr/>
          <p:nvPr/>
        </p:nvSpPr>
        <p:spPr>
          <a:xfrm>
            <a:off x="1347652" y="4696278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6"/>
          </p:nvPr>
        </p:nvSpPr>
        <p:spPr>
          <a:xfrm>
            <a:off x="1347652" y="4696278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7"/>
          </p:nvPr>
        </p:nvSpPr>
        <p:spPr>
          <a:xfrm>
            <a:off x="1863219" y="4685322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전사적리스크관리시스템(KRM) 등</a:t>
            </a:r>
          </a:p>
        </p:txBody>
      </p:sp>
      <p:sp>
        <p:nvSpPr>
          <p:cNvPr id="66" name="태그"/>
          <p:cNvSpPr/>
          <p:nvPr/>
        </p:nvSpPr>
        <p:spPr>
          <a:xfrm>
            <a:off x="1347652" y="4893496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8"/>
          </p:nvPr>
        </p:nvSpPr>
        <p:spPr>
          <a:xfrm>
            <a:off x="1347652" y="4893496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훈련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9"/>
          </p:nvPr>
        </p:nvSpPr>
        <p:spPr>
          <a:xfrm>
            <a:off x="1863219" y="4882539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안전한국훈련, 전사모의훈련(반기), 지진훈련 등</a:t>
            </a:r>
          </a:p>
        </p:txBody>
      </p:sp>
      <p:sp>
        <p:nvSpPr>
          <p:cNvPr id="69" name="태그"/>
          <p:cNvSpPr/>
          <p:nvPr/>
        </p:nvSpPr>
        <p:spPr>
          <a:xfrm>
            <a:off x="1347652" y="5090713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50"/>
          </p:nvPr>
        </p:nvSpPr>
        <p:spPr>
          <a:xfrm>
            <a:off x="1347652" y="5090713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</a:t>
            </a:r>
          </a:p>
        </p:txBody>
      </p:sp>
      <p:sp>
        <p:nvSpPr>
          <p:cNvPr id="71" name="태그 설명"/>
          <p:cNvSpPr>
            <a:spLocks noGrp="1"/>
          </p:cNvSpPr>
          <p:nvPr>
            <p:ph type="body" sz="quarter" idx="51"/>
          </p:nvPr>
        </p:nvSpPr>
        <p:spPr>
          <a:xfrm>
            <a:off x="1863219" y="5079757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리스크관리위원회, 재난대응조직, 비상대책본부</a:t>
            </a:r>
          </a:p>
        </p:txBody>
      </p:sp>
      <p:sp>
        <p:nvSpPr>
          <p:cNvPr id="72" name="태그"/>
          <p:cNvSpPr/>
          <p:nvPr/>
        </p:nvSpPr>
        <p:spPr>
          <a:xfrm>
            <a:off x="1347652" y="5287930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태그"/>
          <p:cNvSpPr>
            <a:spLocks noGrp="1"/>
          </p:cNvSpPr>
          <p:nvPr>
            <p:ph type="body" sz="quarter" idx="52"/>
          </p:nvPr>
        </p:nvSpPr>
        <p:spPr>
          <a:xfrm>
            <a:off x="1347652" y="5287930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</a:t>
            </a:r>
          </a:p>
        </p:txBody>
      </p:sp>
      <p:sp>
        <p:nvSpPr>
          <p:cNvPr id="74" name="태그 설명"/>
          <p:cNvSpPr>
            <a:spLocks noGrp="1"/>
          </p:cNvSpPr>
          <p:nvPr>
            <p:ph type="body" sz="quarter" idx="53"/>
          </p:nvPr>
        </p:nvSpPr>
        <p:spPr>
          <a:xfrm>
            <a:off x="1863219" y="5276974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3,503억원 → ’25년 3,625억원(재해예방 SOC 구축)</a:t>
            </a:r>
          </a:p>
        </p:txBody>
      </p:sp>
      <p:sp>
        <p:nvSpPr>
          <p:cNvPr id="75" name="핵심성과 박스"/>
          <p:cNvSpPr/>
          <p:nvPr/>
        </p:nvSpPr>
        <p:spPr>
          <a:xfrm>
            <a:off x="723130" y="5594713"/>
            <a:ext cx="6300000" cy="9500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핵심성과 라벨"/>
          <p:cNvSpPr/>
          <p:nvPr/>
        </p:nvSpPr>
        <p:spPr>
          <a:xfrm>
            <a:off x="756000" y="5627583"/>
            <a:ext cx="657391" cy="884348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7" name="핵심성과 라벨"/>
          <p:cNvSpPr>
            <a:spLocks noGrp="1"/>
          </p:cNvSpPr>
          <p:nvPr>
            <p:ph type="body" sz="quarter" idx="54"/>
          </p:nvPr>
        </p:nvSpPr>
        <p:spPr>
          <a:xfrm>
            <a:off x="756000" y="5627583"/>
            <a:ext cx="657391" cy="88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8" name="핵심성과 문구"/>
          <p:cNvSpPr>
            <a:spLocks noGrp="1"/>
          </p:cNvSpPr>
          <p:nvPr>
            <p:ph type="body" sz="quarter" idx="55"/>
          </p:nvPr>
        </p:nvSpPr>
        <p:spPr>
          <a:xfrm>
            <a:off x="1501043" y="5616626"/>
            <a:ext cx="5456348" cy="90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❶ 재난대응 안전한국훈련 ‘우수기관(최고점수)’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❷ 국가핵심기반 재난관리평가 ‘우수’(국무총리상)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❸ 경남지역 역대 최대 강우에도 ‘홍수피해 Zero’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❹ 중앙단위 긴급구조지원 ‘최우수기관’ 선정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8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30.xml"/><Relationship Id="rId29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4.xml"/><Relationship Id="rId33" Type="http://schemas.openxmlformats.org/officeDocument/2006/relationships/slideLayout" Target="../slideLayouts/slideLayout35.xml"/><Relationship Id="rId34" Type="http://schemas.openxmlformats.org/officeDocument/2006/relationships/slideLayout" Target="../slideLayouts/slideLayout36.xml"/><Relationship Id="rId35" Type="http://schemas.openxmlformats.org/officeDocument/2006/relationships/slideLayout" Target="../slideLayouts/slideLayout37.xml"/><Relationship Id="rId36" Type="http://schemas.openxmlformats.org/officeDocument/2006/relationships/slideLayout" Target="../slideLayouts/slideLayout38.xml"/><Relationship Id="rId37" Type="http://schemas.openxmlformats.org/officeDocument/2006/relationships/slideLayout" Target="../slideLayouts/slideLayout39.xml"/><Relationship Id="rId38" Type="http://schemas.openxmlformats.org/officeDocument/2006/relationships/slideLayout" Target="../slideLayouts/slideLayout40.xml"/><Relationship Id="rId39" Type="http://schemas.openxmlformats.org/officeDocument/2006/relationships/slideLayout" Target="../slideLayouts/slideLayout41.xml"/><Relationship Id="rId40" Type="http://schemas.openxmlformats.org/officeDocument/2006/relationships/slideLayout" Target="../slideLayouts/slideLayout42.xml"/><Relationship Id="rId41" Type="http://schemas.openxmlformats.org/officeDocument/2006/relationships/slideLayout" Target="../slideLayouts/slideLayout43.xml"/><Relationship Id="rId42" Type="http://schemas.openxmlformats.org/officeDocument/2006/relationships/slideLayout" Target="../slideLayouts/slideLayout44.xml"/><Relationship Id="rId43" Type="http://schemas.openxmlformats.org/officeDocument/2006/relationships/slideLayout" Target="../slideLayouts/slideLayout45.xml"/><Relationship Id="rId44" Type="http://schemas.openxmlformats.org/officeDocument/2006/relationships/slideLayout" Target="../slideLayouts/slideLayout46.xml"/><Relationship Id="rId45" Type="http://schemas.openxmlformats.org/officeDocument/2006/relationships/slideLayout" Target="../slideLayouts/slideLayout47.xml"/><Relationship Id="rId46" Type="http://schemas.openxmlformats.org/officeDocument/2006/relationships/slideLayout" Target="../slideLayouts/slideLayout48.xml"/><Relationship Id="rId47" Type="http://schemas.openxmlformats.org/officeDocument/2006/relationships/slideLayout" Target="../slideLayouts/slideLayout49.xml"/><Relationship Id="rId48" Type="http://schemas.openxmlformats.org/officeDocument/2006/relationships/slideLayout" Target="../slideLayouts/slideLayout50.xml"/><Relationship Id="rId49" Type="http://schemas.openxmlformats.org/officeDocument/2006/relationships/slideLayout" Target="../slideLayouts/slideLayout51.xml"/><Relationship Id="rId50" Type="http://schemas.openxmlformats.org/officeDocument/2006/relationships/slideLayout" Target="../slideLayouts/slideLayout52.xml"/><Relationship Id="rId51" Type="http://schemas.openxmlformats.org/officeDocument/2006/relationships/slideLayout" Target="../slideLayouts/slideLayout53.xml"/><Relationship Id="rId52" Type="http://schemas.openxmlformats.org/officeDocument/2006/relationships/slideLayout" Target="../slideLayouts/slideLayout54.xml"/><Relationship Id="rId53" Type="http://schemas.openxmlformats.org/officeDocument/2006/relationships/slideLayout" Target="../slideLayouts/slideLayout55.xml"/><Relationship Id="rId54" Type="http://schemas.openxmlformats.org/officeDocument/2006/relationships/slideLayout" Target="../slideLayouts/slideLayout56.xml"/><Relationship Id="rId55" Type="http://schemas.openxmlformats.org/officeDocument/2006/relationships/slideLayout" Target="../slideLayouts/slideLayout57.xml"/><Relationship Id="rId56" Type="http://schemas.openxmlformats.org/officeDocument/2006/relationships/slideLayout" Target="../slideLayouts/slideLayout58.xml"/><Relationship Id="rId57" Type="http://schemas.openxmlformats.org/officeDocument/2006/relationships/slideLayout" Target="../slideLayouts/slideLayout59.xml"/><Relationship Id="rId58" Type="http://schemas.openxmlformats.org/officeDocument/2006/relationships/slideLayout" Target="../slideLayouts/slideLayout60.xml"/><Relationship Id="rId59" Type="http://schemas.openxmlformats.org/officeDocument/2006/relationships/slideLayout" Target="../slideLayouts/slideLayout61.xml"/><Relationship Id="rId60" Type="http://schemas.openxmlformats.org/officeDocument/2006/relationships/slideLayout" Target="../slideLayouts/slideLayout62.xml"/><Relationship Id="rId61" Type="http://schemas.openxmlformats.org/officeDocument/2006/relationships/slideLayout" Target="../slideLayouts/slideLayout63.xml"/><Relationship Id="rId62" Type="http://schemas.openxmlformats.org/officeDocument/2006/relationships/slideLayout" Target="../slideLayouts/slideLayout64.xml"/><Relationship Id="rId63" Type="http://schemas.openxmlformats.org/officeDocument/2006/relationships/slideLayout" Target="../slideLayouts/slideLayout65.xml"/><Relationship Id="rId64" Type="http://schemas.openxmlformats.org/officeDocument/2006/relationships/slideLayout" Target="../slideLayouts/slideLayout66.xml"/><Relationship Id="rId65" Type="http://schemas.openxmlformats.org/officeDocument/2006/relationships/slideLayout" Target="../slideLayouts/slideLayout67.xml"/><Relationship Id="rId66" Type="http://schemas.openxmlformats.org/officeDocument/2006/relationships/slideLayout" Target="../slideLayouts/slideLayout68.xml"/><Relationship Id="rId67" Type="http://schemas.openxmlformats.org/officeDocument/2006/relationships/slideLayout" Target="../slideLayouts/slideLayout69.xml"/><Relationship Id="rId68" Type="http://schemas.openxmlformats.org/officeDocument/2006/relationships/slideLayout" Target="../slideLayouts/slideLayout70.xml"/><Relationship Id="rId69" Type="http://schemas.openxmlformats.org/officeDocument/2006/relationships/slideLayout" Target="../slideLayouts/slideLayout71.xml"/><Relationship Id="rId70" Type="http://schemas.openxmlformats.org/officeDocument/2006/relationships/slideLayout" Target="../slideLayouts/slideLayout72.xml"/><Relationship Id="rId71" Type="http://schemas.openxmlformats.org/officeDocument/2006/relationships/slideLayout" Target="../slideLayouts/slideLayout73.xml"/><Relationship Id="rId72" Type="http://schemas.openxmlformats.org/officeDocument/2006/relationships/slideLayout" Target="../slideLayouts/slideLayout74.xml"/><Relationship Id="rId73" Type="http://schemas.openxmlformats.org/officeDocument/2006/relationships/slideLayout" Target="../slideLayouts/slideLayout75.xml"/><Relationship Id="rId74" Type="http://schemas.openxmlformats.org/officeDocument/2006/relationships/slideLayout" Target="../slideLayouts/slideLayout76.xml"/><Relationship Id="rId75" Type="http://schemas.openxmlformats.org/officeDocument/2006/relationships/slideLayout" Target="../slideLayouts/slideLayout77.xml"/><Relationship Id="rId76" Type="http://schemas.openxmlformats.org/officeDocument/2006/relationships/slideLayout" Target="../slideLayouts/slideLayout78.xml"/><Relationship Id="rId77" Type="http://schemas.openxmlformats.org/officeDocument/2006/relationships/slideLayout" Target="../slideLayouts/slideLayout79.xml"/><Relationship Id="rId78" Type="http://schemas.openxmlformats.org/officeDocument/2006/relationships/slideLayout" Target="../slideLayouts/slideLayout80.xml"/><Relationship Id="rId79" Type="http://schemas.openxmlformats.org/officeDocument/2006/relationships/slideLayout" Target="../slideLayouts/slideLayout81.xml"/><Relationship Id="rId80" Type="http://schemas.openxmlformats.org/officeDocument/2006/relationships/slideLayout" Target="../slideLayouts/slideLayout8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3"/>
    <p:sldLayoutId id="2147483654" r:id="rId6"/>
    <p:sldLayoutId id="2147483655" r:id="rId5"/>
    <p:sldLayoutId id="2147483656" r:id="rId4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2"/>
    <p:sldLayoutId id="2147483663" r:id="rId13"/>
    <p:sldLayoutId id="2147483664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73" r:id="rId23"/>
    <p:sldLayoutId id="2147483674" r:id="rId24"/>
    <p:sldLayoutId id="2147483675" r:id="rId25"/>
    <p:sldLayoutId id="2147483676" r:id="rId26"/>
    <p:sldLayoutId id="2147483677" r:id="rId27"/>
    <p:sldLayoutId id="2147483678" r:id="rId28"/>
    <p:sldLayoutId id="2147483679" r:id="rId29"/>
    <p:sldLayoutId id="2147483680" r:id="rId30"/>
    <p:sldLayoutId id="2147483681" r:id="rId31"/>
    <p:sldLayoutId id="2147483682" r:id="rId32"/>
    <p:sldLayoutId id="2147483683" r:id="rId33"/>
    <p:sldLayoutId id="2147483684" r:id="rId34"/>
    <p:sldLayoutId id="2147483685" r:id="rId35"/>
    <p:sldLayoutId id="2147483686" r:id="rId36"/>
    <p:sldLayoutId id="2147483687" r:id="rId37"/>
    <p:sldLayoutId id="2147483688" r:id="rId38"/>
    <p:sldLayoutId id="2147483689" r:id="rId39"/>
    <p:sldLayoutId id="2147483690" r:id="rId40"/>
    <p:sldLayoutId id="2147483691" r:id="rId41"/>
    <p:sldLayoutId id="2147483692" r:id="rId42"/>
    <p:sldLayoutId id="2147483693" r:id="rId43"/>
    <p:sldLayoutId id="2147483694" r:id="rId44"/>
    <p:sldLayoutId id="2147483695" r:id="rId45"/>
    <p:sldLayoutId id="2147483696" r:id="rId46"/>
    <p:sldLayoutId id="2147483697" r:id="rId47"/>
    <p:sldLayoutId id="2147483698" r:id="rId48"/>
    <p:sldLayoutId id="2147483699" r:id="rId49"/>
    <p:sldLayoutId id="2147483700" r:id="rId50"/>
    <p:sldLayoutId id="2147483701" r:id="rId51"/>
    <p:sldLayoutId id="2147483702" r:id="rId52"/>
    <p:sldLayoutId id="2147483703" r:id="rId53"/>
    <p:sldLayoutId id="2147483704" r:id="rId54"/>
    <p:sldLayoutId id="2147483705" r:id="rId55"/>
    <p:sldLayoutId id="2147483706" r:id="rId56"/>
    <p:sldLayoutId id="2147483707" r:id="rId57"/>
    <p:sldLayoutId id="2147483708" r:id="rId58"/>
    <p:sldLayoutId id="2147483709" r:id="rId59"/>
    <p:sldLayoutId id="2147483710" r:id="rId60"/>
    <p:sldLayoutId id="2147483711" r:id="rId61"/>
    <p:sldLayoutId id="2147483712" r:id="rId62"/>
    <p:sldLayoutId id="2147483713" r:id="rId63"/>
    <p:sldLayoutId id="2147483714" r:id="rId64"/>
    <p:sldLayoutId id="2147483715" r:id="rId65"/>
    <p:sldLayoutId id="2147483716" r:id="rId66"/>
    <p:sldLayoutId id="2147483717" r:id="rId67"/>
    <p:sldLayoutId id="2147483718" r:id="rId68"/>
    <p:sldLayoutId id="2147483719" r:id="rId69"/>
    <p:sldLayoutId id="2147483720" r:id="rId70"/>
    <p:sldLayoutId id="2147483721" r:id="rId71"/>
    <p:sldLayoutId id="2147483722" r:id="rId72"/>
    <p:sldLayoutId id="2147483723" r:id="rId73"/>
    <p:sldLayoutId id="2147483724" r:id="rId74"/>
    <p:sldLayoutId id="2147483725" r:id="rId75"/>
    <p:sldLayoutId id="2147483726" r:id="rId76"/>
    <p:sldLayoutId id="2147483727" r:id="rId77"/>
    <p:sldLayoutId id="2147483728" r:id="rId78"/>
    <p:sldLayoutId id="2147483729" r:id="rId79"/>
    <p:sldLayoutId id="2147483730" r:id="rId80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KORAD 경영평가">
      <a:dk1>
        <a:srgbClr val="000359"/>
      </a:dk1>
      <a:lt1>
        <a:srgbClr val="FFFFFF"/>
      </a:lt1>
      <a:dk2>
        <a:srgbClr val="001A7A"/>
      </a:dk2>
      <a:lt2>
        <a:srgbClr val="E6F4FF"/>
      </a:lt2>
      <a:accent1>
        <a:srgbClr val="008EFF"/>
      </a:accent1>
      <a:accent2>
        <a:srgbClr val="00A4A8"/>
      </a:accent2>
      <a:accent3>
        <a:srgbClr val="0051BC"/>
      </a:accent3>
      <a:accent4>
        <a:srgbClr val="30C2FF"/>
      </a:accent4>
      <a:accent5>
        <a:srgbClr val="00BE83"/>
      </a:accent5>
      <a:accent6>
        <a:srgbClr val="FBAE40"/>
      </a:accent6>
      <a:hlink>
        <a:srgbClr val="0061DE"/>
      </a:hlink>
      <a:folHlink>
        <a:srgbClr val="5D7280"/>
      </a:folHlink>
    </a:clrScheme>
    <a:fontScheme name="Pretendard">
      <a:maj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