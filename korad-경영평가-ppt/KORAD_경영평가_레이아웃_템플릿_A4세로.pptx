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8 서사 · AI·DT 활용 이상기후 맞춤형 홍수 대응(홍수기 중 · 홍수기 후: 운영여건 | 대응실적 + 사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564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11" name="태그칩"/>
          <p:cNvSpPr/>
          <p:nvPr/>
        </p:nvSpPr>
        <p:spPr>
          <a:xfrm>
            <a:off x="457823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7823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2935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2935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30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4171696" y="2043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073304"/>
            <a:ext cx="580696" cy="997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3304"/>
            <a:ext cx="580696" cy="99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3073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347652" y="3095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095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171696" y="3604696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4174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419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9 서사 · 선제적 대응, 비상체계 가동으로 가뭄 극복(강우 부족 · 짧은 장마 · 역대 강우: 운영여건 | 대응실적 + 특별실적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3158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065304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8" name="레일"/>
          <p:cNvSpPr/>
          <p:nvPr/>
        </p:nvSpPr>
        <p:spPr>
          <a:xfrm>
            <a:off x="547826" y="3128087"/>
            <a:ext cx="580696" cy="57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312808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312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318287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371973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71973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3719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985435" y="3774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핵심성과 박스"/>
          <p:cNvSpPr/>
          <p:nvPr/>
        </p:nvSpPr>
        <p:spPr>
          <a:xfrm>
            <a:off x="536870" y="436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7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0 서사 · 차세대 댐 시설관리 시스템(추진배경 → 스마트댐 안전관리 로드맵 → 추진내용 → 추진성과 3칸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262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84801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4801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9036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31165"/>
            <a:ext cx="580696" cy="662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9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1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230348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5113043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610470"/>
            <a:ext cx="580696" cy="134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610470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배너"/>
          <p:cNvSpPr/>
          <p:nvPr/>
        </p:nvSpPr>
        <p:spPr>
          <a:xfrm>
            <a:off x="1347652" y="2632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632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171696" y="290081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347652" y="3728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728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49" name="레일"/>
          <p:cNvSpPr/>
          <p:nvPr/>
        </p:nvSpPr>
        <p:spPr>
          <a:xfrm>
            <a:off x="734087" y="3969078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96907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주요성과 박스"/>
          <p:cNvSpPr/>
          <p:nvPr/>
        </p:nvSpPr>
        <p:spPr>
          <a:xfrm>
            <a:off x="723130" y="447041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주요성과 라벨"/>
          <p:cNvSpPr/>
          <p:nvPr/>
        </p:nvSpPr>
        <p:spPr>
          <a:xfrm>
            <a:off x="756000" y="450328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450328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9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448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1 서사 · 재난 대비 대규모 성능개선부터 선제적 사고예방까지 댐 안전 강화(구조적 개선 | 3대 취약시설 → 추진계획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5942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12" name="태그칩"/>
          <p:cNvSpPr/>
          <p:nvPr/>
        </p:nvSpPr>
        <p:spPr>
          <a:xfrm>
            <a:off x="44949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949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4602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4602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897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290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788730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709078"/>
            <a:ext cx="580696" cy="131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09078"/>
            <a:ext cx="580696" cy="131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73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73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73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73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73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3382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49" name="단계"/>
          <p:cNvSpPr/>
          <p:nvPr/>
        </p:nvSpPr>
        <p:spPr>
          <a:xfrm>
            <a:off x="3044087" y="3382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51" name="단계"/>
          <p:cNvSpPr/>
          <p:nvPr/>
        </p:nvSpPr>
        <p:spPr>
          <a:xfrm>
            <a:off x="4926783" y="3382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044086" y="3382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26782" y="3382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044087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4926783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40402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402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40402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985435" y="4095078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주요성과 박스"/>
          <p:cNvSpPr/>
          <p:nvPr/>
        </p:nvSpPr>
        <p:spPr>
          <a:xfrm>
            <a:off x="536870" y="4518313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주요성과 라벨"/>
          <p:cNvSpPr/>
          <p:nvPr/>
        </p:nvSpPr>
        <p:spPr>
          <a:xfrm>
            <a:off x="569739" y="4551183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주요성과 라벨"/>
          <p:cNvSpPr>
            <a:spLocks noGrp="1"/>
          </p:cNvSpPr>
          <p:nvPr>
            <p:ph type="body" sz="quarter" idx="47"/>
          </p:nvPr>
        </p:nvSpPr>
        <p:spPr>
          <a:xfrm>
            <a:off x="569739" y="4551183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69" name="주요성과 문구"/>
          <p:cNvSpPr>
            <a:spLocks noGrp="1"/>
          </p:cNvSpPr>
          <p:nvPr>
            <p:ph type="body" sz="quarter" idx="48"/>
          </p:nvPr>
        </p:nvSpPr>
        <p:spPr>
          <a:xfrm>
            <a:off x="1314783" y="45347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2 서사 · 디지털트윈 기술 노하우의 전방위 확산(혁신과정 3단계 → 그간의 성과 → 고도화 및 글로벌 확산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6" name="태그칩"/>
          <p:cNvSpPr/>
          <p:nvPr/>
        </p:nvSpPr>
        <p:spPr>
          <a:xfrm>
            <a:off x="48128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128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36400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6400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381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002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002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528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528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528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528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525478"/>
            <a:ext cx="580696" cy="646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525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525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54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54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4171696" y="28158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3188348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188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배너"/>
          <p:cNvSpPr/>
          <p:nvPr/>
        </p:nvSpPr>
        <p:spPr>
          <a:xfrm>
            <a:off x="1347652" y="321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21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48" name="레일"/>
          <p:cNvSpPr/>
          <p:nvPr/>
        </p:nvSpPr>
        <p:spPr>
          <a:xfrm>
            <a:off x="734087" y="3458191"/>
            <a:ext cx="580696" cy="1396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458191"/>
            <a:ext cx="580696" cy="139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458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3 서사 · 물재해 감시 전용위성 혁신기술 강화 및 글로벌 기후테크 선도(추진배경 → 로드맵 3단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959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42314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14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7748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0090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00904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500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41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43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044087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4926783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핵심성과 박스"/>
          <p:cNvSpPr/>
          <p:nvPr/>
        </p:nvSpPr>
        <p:spPr>
          <a:xfrm>
            <a:off x="536870" y="3914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핵심성과 라벨"/>
          <p:cNvSpPr/>
          <p:nvPr/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2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3930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4 서사 · 추진배경(물관리 여건 | 정부정책) → 추진방향 → 추진과제 4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18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270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64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183165"/>
            <a:ext cx="580696" cy="765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8316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183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cxnSp>
        <p:nvCxnSpPr>
          <p:cNvPr id="37" name="Connector 21"/>
          <p:cNvCxnSpPr/>
          <p:nvPr/>
        </p:nvCxnSpPr>
        <p:spPr>
          <a:xfrm>
            <a:off x="2759674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5583717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5 서사 · 스마트 기술 적용 오염원 통합관리체계 구축(추진배경 → 그림 배너 → 기존 · 개선 3칸 →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9510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9510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9877" y="920348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9877" y="766957"/>
            <a:ext cx="515699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3470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470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48981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8981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65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777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47652"/>
            <a:ext cx="4514087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24" name="사진 칸"/>
          <p:cNvSpPr/>
          <p:nvPr/>
        </p:nvSpPr>
        <p:spPr>
          <a:xfrm>
            <a:off x="5730261" y="1353130"/>
            <a:ext cx="1079217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8"/>
          </p:nvPr>
        </p:nvSpPr>
        <p:spPr>
          <a:xfrm>
            <a:off x="5730261" y="1353130"/>
            <a:ext cx="1079217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862609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6260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6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750087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750087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2750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161391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45" name="머리칸"/>
          <p:cNvSpPr/>
          <p:nvPr/>
        </p:nvSpPr>
        <p:spPr>
          <a:xfrm>
            <a:off x="3044087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47" name="머리칸"/>
          <p:cNvSpPr/>
          <p:nvPr/>
        </p:nvSpPr>
        <p:spPr>
          <a:xfrm>
            <a:off x="4926783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044087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4926783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536870" y="3790957"/>
            <a:ext cx="6300000" cy="91721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569739" y="3823826"/>
            <a:ext cx="657391" cy="85147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823826"/>
            <a:ext cx="657391" cy="85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812870"/>
            <a:ext cx="5456348" cy="873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58" name="주요성과 박스"/>
          <p:cNvSpPr/>
          <p:nvPr/>
        </p:nvSpPr>
        <p:spPr>
          <a:xfrm>
            <a:off x="536870" y="4784870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주요성과 라벨"/>
          <p:cNvSpPr/>
          <p:nvPr/>
        </p:nvSpPr>
        <p:spPr>
          <a:xfrm>
            <a:off x="569739" y="4817739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817739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8013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6 서사 · 발생원 맞춤형 협력 확대(추진배경 → 추진계획 2묶음 → 추진내용 + 그림 → 추진성과 두 칸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109665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109665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033335" y="931304"/>
            <a:ext cx="31305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033335" y="777913"/>
            <a:ext cx="498979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49896" y="1292870"/>
            <a:ext cx="33676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49896" y="1139478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9" name="태그칩"/>
          <p:cNvSpPr/>
          <p:nvPr/>
        </p:nvSpPr>
        <p:spPr>
          <a:xfrm>
            <a:off x="5216163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5216163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24348"/>
            <a:ext cx="6300000" cy="288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865426"/>
            <a:ext cx="580696" cy="12135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65426"/>
            <a:ext cx="580696" cy="1213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887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887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887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887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887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230348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5113043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단계"/>
          <p:cNvSpPr/>
          <p:nvPr/>
        </p:nvSpPr>
        <p:spPr>
          <a:xfrm>
            <a:off x="1347652" y="24927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4927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4927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4927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4927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0953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0953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095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머리칸"/>
          <p:cNvSpPr/>
          <p:nvPr/>
        </p:nvSpPr>
        <p:spPr>
          <a:xfrm>
            <a:off x="1347652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61" name="머리칸"/>
          <p:cNvSpPr/>
          <p:nvPr/>
        </p:nvSpPr>
        <p:spPr>
          <a:xfrm>
            <a:off x="4171696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182652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cxnSp>
        <p:nvCxnSpPr>
          <p:cNvPr id="65" name="Connector 45"/>
          <p:cNvCxnSpPr/>
          <p:nvPr/>
        </p:nvCxnSpPr>
        <p:spPr>
          <a:xfrm>
            <a:off x="4171696" y="33912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표 외곽"/>
          <p:cNvSpPr/>
          <p:nvPr/>
        </p:nvSpPr>
        <p:spPr>
          <a:xfrm>
            <a:off x="723130" y="4355374"/>
            <a:ext cx="6300000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371809"/>
            <a:ext cx="580696" cy="410870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371809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4265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주요성과 박스"/>
          <p:cNvSpPr/>
          <p:nvPr/>
        </p:nvSpPr>
        <p:spPr>
          <a:xfrm>
            <a:off x="723130" y="48758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주요성과 라벨"/>
          <p:cNvSpPr/>
          <p:nvPr/>
        </p:nvSpPr>
        <p:spPr>
          <a:xfrm>
            <a:off x="756000" y="49086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4" name="주요성과 라벨"/>
          <p:cNvSpPr>
            <a:spLocks noGrp="1"/>
          </p:cNvSpPr>
          <p:nvPr>
            <p:ph type="body" sz="quarter" idx="51"/>
          </p:nvPr>
        </p:nvSpPr>
        <p:spPr>
          <a:xfrm>
            <a:off x="756000" y="49086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75" name="주요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48922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7 서사 · 국내 최초 정부·K-water·기업간 협력 물 복원사업 성공(추진배경 → 기반 마련 → 사업 추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5258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5" name="태그칩"/>
          <p:cNvSpPr/>
          <p:nvPr/>
        </p:nvSpPr>
        <p:spPr>
          <a:xfrm>
            <a:off x="50782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782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62939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62939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917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23" name="배너"/>
          <p:cNvSpPr/>
          <p:nvPr/>
        </p:nvSpPr>
        <p:spPr>
          <a:xfrm>
            <a:off x="1161391" y="1449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449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25" name="레일"/>
          <p:cNvSpPr/>
          <p:nvPr/>
        </p:nvSpPr>
        <p:spPr>
          <a:xfrm>
            <a:off x="547826" y="1690122"/>
            <a:ext cx="580696" cy="1051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90122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712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712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30" name="머리칸"/>
          <p:cNvSpPr/>
          <p:nvPr/>
        </p:nvSpPr>
        <p:spPr>
          <a:xfrm>
            <a:off x="1161391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3985435" y="22215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758383"/>
            <a:ext cx="580696" cy="1194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58383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758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80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780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301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301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301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301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301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3044087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926783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536870" y="4056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4073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Relationship Id="rId232" Type="http://schemas.openxmlformats.org/officeDocument/2006/relationships/slideLayout" Target="../slideLayouts/slideLayout234.xml"/><Relationship Id="rId233" Type="http://schemas.openxmlformats.org/officeDocument/2006/relationships/slideLayout" Target="../slideLayouts/slideLayout235.xml"/><Relationship Id="rId234" Type="http://schemas.openxmlformats.org/officeDocument/2006/relationships/slideLayout" Target="../slideLayouts/slideLayout236.xml"/><Relationship Id="rId235" Type="http://schemas.openxmlformats.org/officeDocument/2006/relationships/slideLayout" Target="../slideLayouts/slideLayout237.xml"/><Relationship Id="rId236" Type="http://schemas.openxmlformats.org/officeDocument/2006/relationships/slideLayout" Target="../slideLayouts/slideLayout238.xml"/><Relationship Id="rId237" Type="http://schemas.openxmlformats.org/officeDocument/2006/relationships/slideLayout" Target="../slideLayouts/slideLayout239.xml"/><Relationship Id="rId238" Type="http://schemas.openxmlformats.org/officeDocument/2006/relationships/slideLayout" Target="../slideLayouts/slideLayout240.xml"/><Relationship Id="rId239" Type="http://schemas.openxmlformats.org/officeDocument/2006/relationships/slideLayout" Target="../slideLayouts/slideLayout241.xml"/><Relationship Id="rId240" Type="http://schemas.openxmlformats.org/officeDocument/2006/relationships/slideLayout" Target="../slideLayouts/slideLayout242.xml"/><Relationship Id="rId241" Type="http://schemas.openxmlformats.org/officeDocument/2006/relationships/slideLayout" Target="../slideLayouts/slideLayout2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  <p:sldLayoutId id="2147483882" r:id="rId232"/>
    <p:sldLayoutId id="2147483883" r:id="rId233"/>
    <p:sldLayoutId id="2147483884" r:id="rId234"/>
    <p:sldLayoutId id="2147483885" r:id="rId235"/>
    <p:sldLayoutId id="2147483886" r:id="rId236"/>
    <p:sldLayoutId id="2147483887" r:id="rId237"/>
    <p:sldLayoutId id="2147483888" r:id="rId238"/>
    <p:sldLayoutId id="2147483889" r:id="rId239"/>
    <p:sldLayoutId id="2147483890" r:id="rId240"/>
    <p:sldLayoutId id="2147483891" r:id="rId24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2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3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6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8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9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6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1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3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4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5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6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8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9.xml"/><Relationship Id="rId2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0.xml"/><Relationship Id="rId2" Type="http://schemas.openxmlformats.org/officeDocument/2006/relationships/notesSlide" Target="../notesSlides/notesSlide214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1.xml"/><Relationship Id="rId2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2.xml"/><Relationship Id="rId2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notesSlide" Target="../notesSlides/notesSlide21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4.xml"/><Relationship Id="rId2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5.xml"/><Relationship Id="rId2" Type="http://schemas.openxmlformats.org/officeDocument/2006/relationships/notesSlide" Target="../notesSlides/notesSlide219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6.xml"/><Relationship Id="rId2" Type="http://schemas.openxmlformats.org/officeDocument/2006/relationships/notesSlide" Target="../notesSlides/notesSlide220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7.xml"/><Relationship Id="rId2" Type="http://schemas.openxmlformats.org/officeDocument/2006/relationships/notesSlide" Target="../notesSlides/notesSlide221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8.xml"/><Relationship Id="rId2" Type="http://schemas.openxmlformats.org/officeDocument/2006/relationships/notesSlide" Target="../notesSlides/notesSlide22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9.xml"/><Relationship Id="rId2" Type="http://schemas.openxmlformats.org/officeDocument/2006/relationships/notesSlide" Target="../notesSlides/notesSlide223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0.xml"/><Relationship Id="rId2" Type="http://schemas.openxmlformats.org/officeDocument/2006/relationships/notesSlide" Target="../notesSlides/notesSlide224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1.xml"/><Relationship Id="rId2" Type="http://schemas.openxmlformats.org/officeDocument/2006/relationships/notesSlide" Target="../notesSlides/notesSlide225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2.xml"/><Relationship Id="rId2" Type="http://schemas.openxmlformats.org/officeDocument/2006/relationships/notesSlide" Target="../notesSlides/notesSlide226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3.xml"/><Relationship Id="rId2" Type="http://schemas.openxmlformats.org/officeDocument/2006/relationships/notesSlide" Target="../notesSlides/notesSlide22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4.xml"/><Relationship Id="rId2" Type="http://schemas.openxmlformats.org/officeDocument/2006/relationships/notesSlide" Target="../notesSlides/notesSlide228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5.xml"/><Relationship Id="rId2" Type="http://schemas.openxmlformats.org/officeDocument/2006/relationships/notesSlide" Target="../notesSlides/notesSlide229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6.xml"/><Relationship Id="rId2" Type="http://schemas.openxmlformats.org/officeDocument/2006/relationships/notesSlide" Target="../notesSlides/notesSlide230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7.xml"/><Relationship Id="rId2" Type="http://schemas.openxmlformats.org/officeDocument/2006/relationships/notesSlide" Target="../notesSlides/notesSlide231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8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9.xml"/><Relationship Id="rId2" Type="http://schemas.openxmlformats.org/officeDocument/2006/relationships/notesSlide" Target="../notesSlides/notesSlide233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0.xml"/><Relationship Id="rId2" Type="http://schemas.openxmlformats.org/officeDocument/2006/relationships/notesSlide" Target="../notesSlides/notesSlide234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2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3.xml"/><Relationship Id="rId2" Type="http://schemas.openxmlformats.org/officeDocument/2006/relationships/notesSlide" Target="../notesSlides/notesSlide2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1" name="분야 박스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3" name="소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27" name="요약 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29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31" name="요약 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6" name="분야 박스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38" name="소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sp>
        <p:nvSpPr>
          <p:cNvPr id="60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61" name="분야 박스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75" name="카드 제목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76" name="카드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7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79" name="카드 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80" name="카드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sp>
        <p:nvSpPr>
          <p:cNvPr id="83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8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94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  <p:graphicFrame>
        <p:nvGraphicFramePr>
          <p:cNvPr id="9" name="다열 표"/>
          <p:cNvGraphicFramePr>
            <a:graphicFrameLocks noGrp="1"/>
          </p:cNvGraphicFramePr>
          <p:nvPr/>
        </p:nvGraphicFramePr>
        <p:xfrm>
          <a:off x="723130" y="1161391"/>
          <a:ext cx="6300000" cy="3398559"/>
        </p:xfrm>
        <a:graphic>
          <a:graphicData uri="http://schemas.openxmlformats.org/drawingml/2006/table">
            <a:tbl>
              <a:tblPr/>
              <a:tblGrid>
                <a:gridCol w="882000"/>
                <a:gridCol w="693000"/>
                <a:gridCol w="2835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 중심 고비용 노후관로 상태평가를 AI를 활용한 평가 예측과 영상판독으로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 비용을 인력수행 比 최대 455억원 절감 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데이터 관리·성능 및 품질관리·장애대응 등 표준 운영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운영편차 최소화를 통한 휴먼에러 저감(신뢰도 95%)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통합수탁(5개 개별 지자체 → 2개 권역 통합)으로 적은 인원으로 성과 창출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인력부족으로 인한 개별수탁 수용불가 문제 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프로세스 간소화로 성과 조기 창출(순차적 협의 → 지자체 우선협의+설계 일괄발주)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정비사업 기간 7개월 단축(전체 사업기간의 10%)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국내 기업 최초 초순수 운영관리 사업 진출에 따라 전문성을 갖춘 전담 조직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공백없는 시설운영(인수인계, 시운전 등 사전수행)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산업단지 계획단계부터 인프라(용수, 전력 등) 사전 검토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산단 입주에 맞춘 적기 물공급으로 기업 니즈 충족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수도시설에 맞는 안전기준 집약(5천건 → 522개 항목), 표준작업절차서 131종 마련, 자회사 안전인력 확충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상수도 안전 표준 제시 및 산업재해 저감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graphicFrame>
        <p:nvGraphicFramePr>
          <p:cNvPr id="14" name="실적표"/>
          <p:cNvGraphicFramePr>
            <a:graphicFrameLocks noGrp="1"/>
          </p:cNvGraphicFramePr>
          <p:nvPr/>
        </p:nvGraphicFramePr>
        <p:xfrm>
          <a:off x="536870" y="1522957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계절별 수질 취약요소 관리강화로 국민체감도가 높은 냄새, 망간 등을 불검출 수준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이상수질 증가에도 역대 최고 국민기대수질 98.3% 달성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현장에서 접속, 민원 일괄처리가 가능한 One-Stop 모바일 지방상수도 업무처리 시스템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민원 신속 응대로 국민 편의성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10년간 요금동결 등 재정적 어려움에도 급수 취약지역 해소, 사회적 배려계층 지원 확대 등 국민 고충 해결 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보편적 물 수혜확대와 물 복지 사각지대 해소기여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상수도관 신속정비, AI 활용 누수관리 강화 등을 통해 국민 불안이 높은 싱크홀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관리 상수도관 관련 싱크홀 제로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  <p:graphicFrame>
        <p:nvGraphicFramePr>
          <p:cNvPr id="17" name="실적표"/>
          <p:cNvGraphicFramePr>
            <a:graphicFrameLocks noGrp="1"/>
          </p:cNvGraphicFramePr>
          <p:nvPr/>
        </p:nvGraphicFramePr>
        <p:xfrm>
          <a:off x="536870" y="3188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선도 AI정수장 기술 민간기업 기술이전 활성화로 국내 물산업 육성 및 공적 역할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기술이전 35건으로 중소기업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산불·가뭄 등 재난 시 피해복구 지원, 수질검사, 정수처리 컨설팅 등 총력지원으로 물 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6개 지자체, 22만여명 국민의 빠른 일상회복에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R&amp;D 민관 합동 수행을 통한 기술 자립으로 민간 기업의 사업확장과 기술경쟁력 제고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전략산업(반도체) 기반 강화 및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맨홀 단차에 의한 차량 사고 예방과 실시간 누수감지로 침수사고 예방 등 시민재해 예방활동 적극 추진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국민생활 밀접 수도시설 관리 강화로 안전한 일상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  <p:graphicFrame>
        <p:nvGraphicFramePr>
          <p:cNvPr id="9" name="실적표"/>
          <p:cNvGraphicFramePr>
            <a:graphicFrameLocks noGrp="1"/>
          </p:cNvGraphicFramePr>
          <p:nvPr/>
        </p:nvGraphicFramePr>
        <p:xfrm>
          <a:off x="723130" y="1172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 및 위험요인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대응노력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과불화화합물 규제강화 예고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WHO 발암물질 지정, 선제 대비 중요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활성탄 순환 생태계 선제 구축 및 국가 R&amp;D 정책 견인으로 PFAS 대응 선도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가뭄, 산불 등 대형 국가재난 지속 발생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재난발생으로 물 공급 중단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인력·자재·기술 등 지자체 총력지원과 합동 위기대응으로 용수공급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첨단산단 중심 물수요 지속 증가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댐개발 불투명, 가용수자원 한정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산업입지에 적합한 최적 용수공급 방안 제시 및 근본적 물 문제해소 방안 정책화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근로자, 국민 안전 최우선 경영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수도시설은 시민밀접시설로 전국 산재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밀폐공간, 스마트 안전장비로 근로자 안전, 노후관 정비로 싱크홀 예방 등 국민 안전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723130" y="1533913"/>
          <a:ext cx="6300001" cy="110942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개선 및 확산 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추진성과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AI정수장 기술최적화 지속(생성형AI), 수도통합 DT 기반 의사결정 Solution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고도화(피지컬 AI 등)와 통합 의사결정 플랫폼 구축으로 성과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수요 맞춤 모듈형 사업모델 기반, 기존 사업 재협약과 신규사업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통합형(충남), 일괄형(제주) 수탁 등 사업모델 다변화로 신규사업 최다(24개)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활용도 제고를 위한 지자체 연계 홍보 실시 및 서비스 대상 지자체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 맞춤형 상수도정보 소통플랫폼 런칭·서비스 확대로 이용자 확대(증 103천), 서비스만족도 96.6점 달성(목표대비 100.1%)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28" name="번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9" name="분야 박스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31" name="소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graphicFrame>
        <p:nvGraphicFramePr>
          <p:cNvPr id="32" name="다열 표"/>
          <p:cNvGraphicFramePr>
            <a:graphicFrameLocks noGrp="1"/>
          </p:cNvGraphicFramePr>
          <p:nvPr/>
        </p:nvGraphicFramePr>
        <p:xfrm>
          <a:off x="536870" y="4361165"/>
          <a:ext cx="6300000" cy="2702663"/>
        </p:xfrm>
        <a:graphic>
          <a:graphicData uri="http://schemas.openxmlformats.org/drawingml/2006/table">
            <a:tbl>
              <a:tblPr/>
              <a:tblGrid>
                <a:gridCol w="1260000"/>
                <a:gridCol w="567000"/>
                <a:gridCol w="567000"/>
                <a:gridCol w="567000"/>
                <a:gridCol w="333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 및 도전성·제약요인 분석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최적운영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 / 이상기후 심화에도 물재해 Zero 달성을 위해 100%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노후시설 재해대응력 확보율(%)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20.8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45.8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국정과제-43 / 불리한 공정추진 여건에도 2년 연속 3개소 완료로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환경기준 1등급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경영목표 / 수질관리 어려움에도 목표 상향 및 검증항목 확대(2 → 4 → 5개)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물환경 개선사업 추진댐(누적, 개소)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오염원 특성 맞춤형 저감, ’24년 목표(23개소)보다 5개소 추가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대체수자원 시설용량(천㎥/일)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179.5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263.4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물부족 해소를 위해 전년 실적 대비 약 10%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상생협력 사업비(억원)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161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국정과제-15·107 / 지역소멸 대응, 전년 실적 比 15% 목표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번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4" name="분야 박스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36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  <p:graphicFrame>
        <p:nvGraphicFramePr>
          <p:cNvPr id="37" name="다열 표"/>
          <p:cNvGraphicFramePr>
            <a:graphicFrameLocks noGrp="1"/>
          </p:cNvGraphicFramePr>
          <p:nvPr/>
        </p:nvGraphicFramePr>
        <p:xfrm>
          <a:off x="536870" y="7502087"/>
          <a:ext cx="6300000" cy="2394471"/>
        </p:xfrm>
        <a:graphic>
          <a:graphicData uri="http://schemas.openxmlformats.org/drawingml/2006/table">
            <a:tbl>
              <a:tblPr/>
              <a:tblGrid>
                <a:gridCol w="1071000"/>
                <a:gridCol w="945000"/>
                <a:gridCol w="945000"/>
                <a:gridCol w="945000"/>
                <a:gridCol w="945000"/>
                <a:gridCol w="144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AI·DT 기반 기술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홍수분석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국가하천 CCTV 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고도화 기술 홍수기 시범적용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핵심기술 안정화 완료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국정과제-23·73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상류 유역 오염원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 대상지 사업설명회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참여농가 이행협약 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오염저감기법 보급 및 주민교육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 기반 물그릇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관련 국가계획 반영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 거버넌스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지역 수용성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수자원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 계획수립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안내방식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스마트기술 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제도개선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sp>
        <p:nvSpPr>
          <p:cNvPr id="32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sp>
        <p:nvSpPr>
          <p:cNvPr id="42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43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sp>
        <p:nvSpPr>
          <p:cNvPr id="50" name="주요성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1" name="주요성과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17" name="사진 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42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3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9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sp>
        <p:nvSpPr>
          <p:cNvPr id="53" name="주요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