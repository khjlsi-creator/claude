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표지 바탕"/>
          <p:cNvSpPr/>
          <p:nvPr/>
        </p:nvSpPr>
        <p:spPr>
          <a:xfrm>
            <a:off x="540000" y="360000"/>
            <a:ext cx="6480000" cy="9972000"/>
          </a:xfrm>
          <a:prstGeom prst="rect">
            <a:avLst/>
          </a:prstGeom>
          <a:solidFill>
            <a:srgbClr val="E6F4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pic>
        <p:nvPicPr>
          <p:cNvPr id="3" name="표지 일러스트" descr="표지 일러스트"/>
          <p:cNvPicPr>
            <a:picLocks noChangeAspect="1"/>
          </p:cNvPicPr>
          <p:nvPr/>
        </p:nvPicPr>
        <p:blipFill>
          <a:blip r:embed="rId2"/>
          <a:srcRect l="32472" t="0" r="0" b="0"/>
          <a:stretch>
            <a:fillRect/>
          </a:stretch>
        </p:blipFill>
        <p:spPr>
          <a:xfrm>
            <a:off x="540000" y="4932000"/>
            <a:ext cx="6480000" cy="5400000"/>
          </a:xfrm>
          <a:prstGeom prst="rect">
            <a:avLst/>
          </a:prstGeom>
        </p:spPr>
      </p:pic>
      <p:pic>
        <p:nvPicPr>
          <p:cNvPr id="4" name="KORAD CI" descr="KORAD C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00" y="648000"/>
            <a:ext cx="1944000" cy="360404"/>
          </a:xfrm>
          <a:prstGeom prst="rect">
            <a:avLst/>
          </a:prstGeom>
        </p:spPr>
      </p:pic>
      <p:sp>
        <p:nvSpPr>
          <p:cNvPr id="5" name="표지 제목"/>
          <p:cNvSpPr>
            <a:spLocks noGrp="1"/>
          </p:cNvSpPr>
          <p:nvPr>
            <p:ph type="ctrTitle"/>
          </p:nvPr>
        </p:nvSpPr>
        <p:spPr>
          <a:xfrm>
            <a:off x="756000" y="2808000"/>
            <a:ext cx="6048000" cy="2016000"/>
          </a:xfrm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3400" b="1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표지 제목</a:t>
            </a:r>
          </a:p>
        </p:txBody>
      </p:sp>
      <p:sp>
        <p:nvSpPr>
          <p:cNvPr id="6" name="표지 부제"/>
          <p:cNvSpPr>
            <a:spLocks noGrp="1"/>
          </p:cNvSpPr>
          <p:nvPr>
            <p:ph type="subTitle" idx="1"/>
          </p:nvPr>
        </p:nvSpPr>
        <p:spPr>
          <a:xfrm>
            <a:off x="756000" y="4968000"/>
            <a:ext cx="6048000" cy="792000"/>
          </a:xfrm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5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표지 부제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간지 바탕"/>
          <p:cNvSpPr/>
          <p:nvPr/>
        </p:nvSpPr>
        <p:spPr>
          <a:xfrm>
            <a:off x="540000" y="360000"/>
            <a:ext cx="6480000" cy="997200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pic>
        <p:nvPicPr>
          <p:cNvPr id="3" name="KORAD CI" descr="KORAD C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000" y="648000"/>
            <a:ext cx="1944000" cy="360404"/>
          </a:xfrm>
          <a:prstGeom prst="rect">
            <a:avLst/>
          </a:prstGeom>
        </p:spPr>
      </p:pic>
      <p:sp>
        <p:nvSpPr>
          <p:cNvPr id="4" name="간지 번호"/>
          <p:cNvSpPr>
            <a:spLocks noGrp="1"/>
          </p:cNvSpPr>
          <p:nvPr>
            <p:ph type="body" sz="quarter" idx="13"/>
          </p:nvPr>
        </p:nvSpPr>
        <p:spPr>
          <a:xfrm>
            <a:off x="756000" y="3960000"/>
            <a:ext cx="2160000" cy="1080000"/>
          </a:xfrm>
        </p:spPr>
        <p:txBody>
          <a:bodyPr wrap="square" lIns="0" tIns="0" rIns="0" bIns="0" anchor="b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540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01</a:t>
            </a:r>
          </a:p>
        </p:txBody>
      </p:sp>
      <p:sp>
        <p:nvSpPr>
          <p:cNvPr id="5" name="간지 제목"/>
          <p:cNvSpPr>
            <a:spLocks noGrp="1"/>
          </p:cNvSpPr>
          <p:nvPr>
            <p:ph type="title"/>
          </p:nvPr>
        </p:nvSpPr>
        <p:spPr>
          <a:xfrm>
            <a:off x="756000" y="5184000"/>
            <a:ext cx="6048000" cy="1296000"/>
          </a:xfrm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340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간지 제목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지면 경로"/>
          <p:cNvSpPr>
            <a:spLocks noGrp="1"/>
          </p:cNvSpPr>
          <p:nvPr>
            <p:ph type="body" sz="quarter" idx="13"/>
          </p:nvPr>
        </p:nvSpPr>
        <p:spPr>
          <a:xfrm>
            <a:off x="540000" y="360000"/>
            <a:ext cx="4680000" cy="288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1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Ⅰ. 경영관리 | 04. 조직 운영 및 관리 | 노사관계</a:t>
            </a:r>
          </a:p>
        </p:txBody>
      </p:sp>
      <p:pic>
        <p:nvPicPr>
          <p:cNvPr id="3" name="KORAD CI" descr="KORAD C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2000" y="381600"/>
            <a:ext cx="1188000" cy="220247"/>
          </a:xfrm>
          <a:prstGeom prst="rect">
            <a:avLst/>
          </a:prstGeom>
        </p:spPr>
      </p:pic>
      <p:sp>
        <p:nvSpPr>
          <p:cNvPr id="4" name="머리글 실선"/>
          <p:cNvSpPr/>
          <p:nvPr/>
        </p:nvSpPr>
        <p:spPr>
          <a:xfrm>
            <a:off x="540000" y="684000"/>
            <a:ext cx="6480000" cy="25200"/>
          </a:xfrm>
          <a:prstGeom prst="rect">
            <a:avLst/>
          </a:prstGeom>
          <a:solidFill>
            <a:srgbClr val="0051B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5" name="GM 기준선"/>
          <p:cNvSpPr/>
          <p:nvPr/>
        </p:nvSpPr>
        <p:spPr>
          <a:xfrm>
            <a:off x="540000" y="792000"/>
            <a:ext cx="64800" cy="4500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6" name="Governing Message"/>
          <p:cNvSpPr>
            <a:spLocks noGrp="1"/>
          </p:cNvSpPr>
          <p:nvPr>
            <p:ph type="title"/>
          </p:nvPr>
        </p:nvSpPr>
        <p:spPr>
          <a:xfrm>
            <a:off x="702000" y="774000"/>
            <a:ext cx="6318000" cy="486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500" b="1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Governing Message</a:t>
            </a:r>
          </a:p>
        </p:txBody>
      </p:sp>
      <p:sp>
        <p:nvSpPr>
          <p:cNvPr id="7" name="GM 하단 띠"/>
          <p:cNvSpPr/>
          <p:nvPr/>
        </p:nvSpPr>
        <p:spPr>
          <a:xfrm>
            <a:off x="540000" y="1296000"/>
            <a:ext cx="6480000" cy="18000"/>
          </a:xfrm>
          <a:prstGeom prst="rect">
            <a:avLst/>
          </a:prstGeom>
          <a:solidFill>
            <a:srgbClr val="DEE6F6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8" name="출처·주석"/>
          <p:cNvSpPr>
            <a:spLocks noGrp="1"/>
          </p:cNvSpPr>
          <p:nvPr>
            <p:ph type="body" sz="quarter" idx="16"/>
          </p:nvPr>
        </p:nvSpPr>
        <p:spPr>
          <a:xfrm>
            <a:off x="540000" y="10026000"/>
            <a:ext cx="6048000" cy="306000"/>
          </a:xfrm>
        </p:spPr>
        <p:txBody>
          <a:bodyPr wrap="square" lIns="0" tIns="0" rIns="0" bIns="0" anchor="b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>
                <a:solidFill>
                  <a:srgbClr val="3B4951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출처·주석</a:t>
            </a:r>
          </a:p>
        </p:txBody>
      </p:sp>
      <p:sp>
        <p:nvSpPr>
          <p:cNvPr id="9" name="페이지 탭"/>
          <p:cNvSpPr/>
          <p:nvPr/>
        </p:nvSpPr>
        <p:spPr>
          <a:xfrm>
            <a:off x="6678000" y="10008000"/>
            <a:ext cx="342000" cy="324000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E6F4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10" name="페이지 번호"/>
          <p:cNvSpPr txBox="1"/>
          <p:nvPr/>
        </p:nvSpPr>
        <p:spPr>
          <a:xfrm>
            <a:off x="6678000" y="10008000"/>
            <a:ext cx="342000" cy="3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fld id="{B6F15528-21DE-4FAA-801E-634DDDAF4B2B}" type="slidenum">
              <a:rPr lang="en-US" sz="1200" b="1">
                <a:solidFill>
                  <a:srgbClr val="003764"/>
                </a:solidFill>
                <a:latin typeface="Pretendard"/>
              </a:rPr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3"/>
    <p:sldLayoutId id="2147483654" r:id="rId6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Ⅰ. 경영관리 | 04. 조직 운영 및 관리 | 노사관계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노사관계: 소통·역량·근로조건 세 축에서 지수가 모두 전년보다 올랐다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자료: 한국도로교통공단 2025년도 경영실적보고서 본보고서(경영관리 B.P 요약)</a:t>
            </a:r>
          </a:p>
        </p:txBody>
      </p:sp>
      <p:sp>
        <p:nvSpPr>
          <p:cNvPr id="5" name="섹션 띠"/>
          <p:cNvSpPr/>
          <p:nvPr/>
        </p:nvSpPr>
        <p:spPr>
          <a:xfrm>
            <a:off x="540000" y="1440000"/>
            <a:ext cx="6480000" cy="324000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rIns="108000" tIns="0" bIns="0" wrap="square"/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FFFFFF"/>
                </a:solidFill>
                <a:latin typeface="Pretendard"/>
                <a:ea typeface="Pretendard"/>
              </a:rPr>
              <a:t>노사관계  |  소통을 통한 공감대 형성, 노사가 함께하는 조직문화</a:t>
            </a:r>
          </a:p>
        </p:txBody>
      </p:sp>
      <p:sp>
        <p:nvSpPr>
          <p:cNvPr id="6" name="추진실적 제목"/>
          <p:cNvSpPr txBox="1"/>
          <p:nvPr/>
        </p:nvSpPr>
        <p:spPr>
          <a:xfrm>
            <a:off x="540000" y="1854000"/>
            <a:ext cx="3888000" cy="28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000359"/>
                </a:solidFill>
                <a:latin typeface="Pretendard"/>
                <a:ea typeface="Pretendard"/>
              </a:rPr>
              <a:t>1. 우수사례(Best Practice)와 핵심 성과</a:t>
            </a:r>
          </a:p>
        </p:txBody>
      </p:sp>
      <p:sp>
        <p:nvSpPr>
          <p:cNvPr id="7" name="라벨"/>
          <p:cNvSpPr/>
          <p:nvPr/>
        </p:nvSpPr>
        <p:spPr>
          <a:xfrm>
            <a:off x="6300000" y="1872000"/>
            <a:ext cx="666000" cy="252000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FFFFFF"/>
                </a:solidFill>
                <a:latin typeface="Pretendard"/>
                <a:ea typeface="Pretendard"/>
              </a:rPr>
              <a:t>요약</a:t>
            </a:r>
          </a:p>
        </p:txBody>
      </p:sp>
      <p:graphicFrame>
        <p:nvGraphicFramePr>
          <p:cNvPr id="8" name="우수사례표"/>
          <p:cNvGraphicFramePr>
            <a:graphicFrameLocks noGrp="1"/>
          </p:cNvGraphicFramePr>
          <p:nvPr/>
        </p:nvGraphicFramePr>
        <p:xfrm>
          <a:off x="540000" y="2232000"/>
          <a:ext cx="6480000" cy="1729440"/>
        </p:xfrm>
        <a:graphic>
          <a:graphicData uri="http://schemas.openxmlformats.org/drawingml/2006/table">
            <a:tbl>
              <a:tblPr/>
              <a:tblGrid>
                <a:gridCol w="1080000"/>
                <a:gridCol w="5400000"/>
              </a:tblGrid>
              <a:tr h="57672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우수사례 1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EF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다양한 노사소통 채널 및 협력체계 운영을 통한 분야별 리스크 공동 대응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672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우수사례 2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EF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관리자·신입직원·노사실무자 등 대상별 맞춤형 교육, 노무 역량교육체계 수립·운영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60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우수사례 3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EF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직급별 차등 인상률로 상하위직 격차 완화, 교통직·실무직 처우 개선</a:t>
                      </a:r>
                    </a:p>
                  </a:txBody>
                  <a:tcPr marL="57600" marR="57600" marT="79200" marB="792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지수표"/>
          <p:cNvGraphicFramePr>
            <a:graphicFrameLocks noGrp="1"/>
          </p:cNvGraphicFramePr>
          <p:nvPr/>
        </p:nvGraphicFramePr>
        <p:xfrm>
          <a:off x="540000" y="4105440"/>
          <a:ext cx="6480000" cy="1504800"/>
        </p:xfrm>
        <a:graphic>
          <a:graphicData uri="http://schemas.openxmlformats.org/drawingml/2006/table">
            <a:tbl>
              <a:tblPr/>
              <a:tblGrid>
                <a:gridCol w="2160000"/>
                <a:gridCol w="1440000"/>
                <a:gridCol w="1440000"/>
                <a:gridCol w="1440000"/>
              </a:tblGrid>
              <a:tr h="31608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지수</a:t>
                      </a:r>
                    </a:p>
                  </a:txBody>
                  <a:tcPr marL="57600" marR="57600" marT="57600" marB="576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008E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전년</a:t>
                      </a:r>
                    </a:p>
                  </a:txBody>
                  <a:tcPr marL="57600" marR="57600" marT="57600" marB="576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008E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당해</a:t>
                      </a:r>
                    </a:p>
                  </a:txBody>
                  <a:tcPr marL="57600" marR="57600" marT="57600" marB="576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008E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증감</a:t>
                      </a:r>
                    </a:p>
                  </a:txBody>
                  <a:tcPr marL="57600" marR="57600" marT="57600" marB="576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008EFF"/>
                    </a:solidFill>
                  </a:tcPr>
                </a:tc>
              </a:tr>
              <a:tr h="3960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노사소통지수</a:t>
                      </a:r>
                    </a:p>
                  </a:txBody>
                  <a:tcPr marL="57600" marR="57600" marT="57600" marB="576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EF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89.3점</a:t>
                      </a:r>
                    </a:p>
                  </a:txBody>
                  <a:tcPr marL="57600" marR="57600" marT="57600" marB="576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90.9점</a:t>
                      </a:r>
                    </a:p>
                  </a:txBody>
                  <a:tcPr marL="57600" marR="57600" marT="57600" marB="576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1.6점↑</a:t>
                      </a:r>
                    </a:p>
                  </a:txBody>
                  <a:tcPr marL="57600" marR="57600" marT="57600" marB="576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636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노사역량지수</a:t>
                      </a:r>
                    </a:p>
                  </a:txBody>
                  <a:tcPr marL="57600" marR="57600" marT="57600" marB="576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EF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90.1점</a:t>
                      </a:r>
                    </a:p>
                  </a:txBody>
                  <a:tcPr marL="57600" marR="57600" marT="57600" marB="576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90.9점</a:t>
                      </a:r>
                    </a:p>
                  </a:txBody>
                  <a:tcPr marL="57600" marR="57600" marT="57600" marB="576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0.8점↑</a:t>
                      </a:r>
                    </a:p>
                  </a:txBody>
                  <a:tcPr marL="57600" marR="57600" marT="57600" marB="576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636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근로개선지수</a:t>
                      </a:r>
                    </a:p>
                  </a:txBody>
                  <a:tcPr marL="57600" marR="57600" marT="57600" marB="576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EF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90.1점</a:t>
                      </a:r>
                    </a:p>
                  </a:txBody>
                  <a:tcPr marL="57600" marR="57600" marT="57600" marB="576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91.6점</a:t>
                      </a:r>
                    </a:p>
                  </a:txBody>
                  <a:tcPr marL="57600" marR="57600" marT="57600" marB="576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1.5점↑</a:t>
                      </a:r>
                    </a:p>
                  </a:txBody>
                  <a:tcPr marL="57600" marR="57600" marT="57600" marB="576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성과 띠"/>
          <p:cNvSpPr/>
          <p:nvPr/>
        </p:nvSpPr>
        <p:spPr>
          <a:xfrm>
            <a:off x="540000" y="5754240"/>
            <a:ext cx="6480000" cy="576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성과 라벨"/>
          <p:cNvSpPr/>
          <p:nvPr/>
        </p:nvSpPr>
        <p:spPr>
          <a:xfrm>
            <a:off x="630000" y="5898240"/>
            <a:ext cx="720000" cy="288000"/>
          </a:xfrm>
          <a:prstGeom prst="rect">
            <a:avLst/>
          </a:prstGeom>
          <a:solidFill>
            <a:srgbClr val="008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FFFFFF"/>
                </a:solidFill>
                <a:latin typeface="Pretendard"/>
                <a:ea typeface="Pretendard"/>
              </a:rPr>
              <a:t>성과</a:t>
            </a:r>
          </a:p>
        </p:txBody>
      </p:sp>
      <p:sp>
        <p:nvSpPr>
          <p:cNvPr id="12" name="성과 문구"/>
          <p:cNvSpPr txBox="1"/>
          <p:nvPr/>
        </p:nvSpPr>
        <p:spPr>
          <a:xfrm>
            <a:off x="1476000" y="5754240"/>
            <a:ext cx="5400000" cy="57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spc="-60" dirty="0">
                <a:solidFill>
                  <a:srgbClr val="FFFFFF"/>
                </a:solidFill>
                <a:latin typeface="Pretendard"/>
                <a:ea typeface="Pretendard"/>
              </a:rPr>
              <a:t>세 지수 모두 상승, </a:t>
            </a:r>
            <a:r>
              <a:rPr lang="ko-KR" sz="1200" b="1" spc="-60" dirty="0">
                <a:solidFill>
                  <a:srgbClr val="00FFFF"/>
                </a:solidFill>
                <a:latin typeface="Pretendard"/>
                <a:ea typeface="Pretendard"/>
              </a:rPr>
              <a:t>노사 공동 TF 구축·통상임금 재정립</a:t>
            </a:r>
            <a:r>
              <a:rPr lang="ko-KR" sz="1200" spc="-60" dirty="0">
                <a:solidFill>
                  <a:srgbClr val="FFFFFF"/>
                </a:solidFill>
                <a:latin typeface="Pretendard"/>
                <a:ea typeface="Pretendard"/>
              </a:rPr>
              <a:t>으로 제도 합의까지 연결</a:t>
            </a:r>
          </a:p>
        </p:txBody>
      </p:sp>
      <p:sp>
        <p:nvSpPr>
          <p:cNvPr id="13" name="해설 박스"/>
          <p:cNvSpPr/>
          <p:nvPr/>
        </p:nvSpPr>
        <p:spPr>
          <a:xfrm>
            <a:off x="540000" y="6438240"/>
            <a:ext cx="6480000" cy="1440000"/>
          </a:xfrm>
          <a:prstGeom prst="roundRect">
            <a:avLst>
              <a:gd name="adj" fmla="val 4000"/>
            </a:avLst>
          </a:prstGeom>
          <a:solidFill>
            <a:srgbClr val="E1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5200" rIns="115200" tIns="86400" bIns="86400" wrap="square"/>
          <a:lstStyle/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Clr>
                <a:srgbClr val="000359"/>
              </a:buClr>
              <a:buFont typeface="Pretendard"/>
              <a:buChar char="□"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읽는 법</a:t>
            </a:r>
          </a:p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50"/>
              </a:spcAft>
              <a:buClr>
                <a:srgbClr val="000359"/>
              </a:buClr>
              <a:buFont typeface="Pretendard"/>
              <a:buChar char="○"/>
            </a:pPr>
            <a:r>
              <a:rPr lang="ko-KR" sz="1200" spc="-60" dirty="0">
                <a:solidFill>
                  <a:srgbClr val="000359"/>
                </a:solidFill>
                <a:latin typeface="Pretendard"/>
                <a:ea typeface="Pretendard"/>
              </a:rPr>
              <a:t>증감과 전년→당해 값을 함께 적어 수치가 맞는지 바로 확인할 수 있게 한다</a:t>
            </a:r>
          </a:p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50"/>
              </a:spcAft>
              <a:buClr>
                <a:srgbClr val="000359"/>
              </a:buClr>
              <a:buFont typeface="Pretendard"/>
              <a:buChar char="○"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쉽게 말하면) </a:t>
            </a:r>
            <a:r>
              <a:rPr lang="ko-KR" sz="1200" spc="-60" dirty="0">
                <a:solidFill>
                  <a:srgbClr val="000359"/>
                </a:solidFill>
                <a:latin typeface="Pretendard"/>
                <a:ea typeface="Pretendard"/>
              </a:rPr>
              <a:t>점수가 올랐는지만이 아니라 "얼마에서 얼마로" 올랐는지를 같이 보여 줍니다.</a:t>
            </a:r>
          </a:p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3B4951"/>
              </a:buClr>
              <a:buFont typeface="Pretendard"/>
              <a:buChar char="※"/>
            </a:pPr>
            <a:r>
              <a:rPr lang="ko-KR" sz="1200" spc="-60" dirty="0">
                <a:solidFill>
                  <a:srgbClr val="3B4951"/>
                </a:solidFill>
                <a:latin typeface="Pretendard"/>
                <a:ea typeface="Pretendard"/>
              </a:rPr>
              <a:t>노사관계 본문(보고서 92~99쪽)은 열람하지 못해 요약 쪽 내용만 담았습니다.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Ⅰ. 경영관리 | 04. 조직 운영 및 관리 | 노사관계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고정양식: 실행과 성과는 기관 주장, 평가·해석은 평가자 판단으로 나눠 쓴다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자료: 한국도로교통공단 2025년도 경영실적보고서(요약 쪽), 양식은 KORAD 노사관계 고정양식</a:t>
            </a:r>
          </a:p>
        </p:txBody>
      </p:sp>
      <p:sp>
        <p:nvSpPr>
          <p:cNvPr id="5" name="단위 머리줄"/>
          <p:cNvSpPr/>
          <p:nvPr/>
        </p:nvSpPr>
        <p:spPr>
          <a:xfrm>
            <a:off x="540000" y="1440000"/>
            <a:ext cx="6480000" cy="342000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번호 칩"/>
          <p:cNvSpPr/>
          <p:nvPr/>
        </p:nvSpPr>
        <p:spPr>
          <a:xfrm>
            <a:off x="612000" y="1486800"/>
            <a:ext cx="324000" cy="252000"/>
          </a:xfrm>
          <a:prstGeom prst="rect">
            <a:avLst/>
          </a:prstGeom>
          <a:solidFill>
            <a:srgbClr val="000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FFFFFF"/>
                </a:solidFill>
                <a:latin typeface="Pretendard"/>
                <a:ea typeface="Pretendard"/>
              </a:rPr>
              <a:t>01</a:t>
            </a:r>
          </a:p>
        </p:txBody>
      </p:sp>
      <p:sp>
        <p:nvSpPr>
          <p:cNvPr id="7" name="단위 제목"/>
          <p:cNvSpPr txBox="1"/>
          <p:nvPr/>
        </p:nvSpPr>
        <p:spPr>
          <a:xfrm>
            <a:off x="1044000" y="1440000"/>
            <a:ext cx="5904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000359"/>
                </a:solidFill>
                <a:latin typeface="Pretendard"/>
                <a:ea typeface="Pretendard"/>
              </a:rPr>
              <a:t>노사소통 채널을 지수 상승으로 연결</a:t>
            </a:r>
          </a:p>
        </p:txBody>
      </p:sp>
      <p:graphicFrame>
        <p:nvGraphicFramePr>
          <p:cNvPr id="8" name="단위 01"/>
          <p:cNvGraphicFramePr>
            <a:graphicFrameLocks noGrp="1"/>
          </p:cNvGraphicFramePr>
          <p:nvPr/>
        </p:nvGraphicFramePr>
        <p:xfrm>
          <a:off x="540000" y="1782000"/>
          <a:ext cx="6480000" cy="2260080"/>
        </p:xfrm>
        <a:graphic>
          <a:graphicData uri="http://schemas.openxmlformats.org/drawingml/2006/table">
            <a:tbl>
              <a:tblPr/>
              <a:tblGrid>
                <a:gridCol w="864000"/>
                <a:gridCol w="5616000"/>
              </a:tblGrid>
              <a:tr h="4320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진단</a:t>
                      </a:r>
                    </a:p>
                  </a:txBody>
                  <a:tcPr marL="57600" marR="57600" marT="64800" marB="648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EF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―</a:t>
                      </a:r>
                    </a:p>
                  </a:txBody>
                  <a:tcPr marL="57600" marR="57600" marT="64800" marB="648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실행</a:t>
                      </a:r>
                    </a:p>
                  </a:txBody>
                  <a:tcPr marL="57600" marR="57600" marT="64800" marB="648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EF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다양한 노사소통 채널·협력체계 운영으로 분야별 리스크 공동 대응</a:t>
                      </a:r>
                    </a:p>
                  </a:txBody>
                  <a:tcPr marL="57600" marR="57600" marT="64800" marB="648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208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성과</a:t>
                      </a:r>
                    </a:p>
                  </a:txBody>
                  <a:tcPr marL="57600" marR="57600" marT="64800" marB="648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EF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노사소통지수 전년대비 1.6점↑ (89.3 → 90.9점)</a:t>
                      </a:r>
                    </a:p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근거: 경영관리 B.P 요약</a:t>
                      </a:r>
                    </a:p>
                  </a:txBody>
                  <a:tcPr marL="57600" marR="57600" marT="64800" marB="648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평가·해석</a:t>
                      </a:r>
                    </a:p>
                  </a:txBody>
                  <a:tcPr marL="57600" marR="57600" marT="64800" marB="648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EF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―  (공식평가 문장 미확인)</a:t>
                      </a:r>
                    </a:p>
                  </a:txBody>
                  <a:tcPr marL="57600" marR="57600" marT="64800" marB="648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환류(안)</a:t>
                      </a:r>
                    </a:p>
                  </a:txBody>
                  <a:tcPr marL="57600" marR="57600" marT="64800" marB="648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EF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―</a:t>
                      </a:r>
                    </a:p>
                  </a:txBody>
                  <a:tcPr marL="57600" marR="57600" marT="64800" marB="648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단위 머리줄"/>
          <p:cNvSpPr/>
          <p:nvPr/>
        </p:nvSpPr>
        <p:spPr>
          <a:xfrm>
            <a:off x="540000" y="4258080"/>
            <a:ext cx="6480000" cy="342000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번호 칩"/>
          <p:cNvSpPr/>
          <p:nvPr/>
        </p:nvSpPr>
        <p:spPr>
          <a:xfrm>
            <a:off x="612000" y="4304880"/>
            <a:ext cx="324000" cy="252000"/>
          </a:xfrm>
          <a:prstGeom prst="rect">
            <a:avLst/>
          </a:prstGeom>
          <a:solidFill>
            <a:srgbClr val="000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FFFFFF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11" name="단위 제목"/>
          <p:cNvSpPr txBox="1"/>
          <p:nvPr/>
        </p:nvSpPr>
        <p:spPr>
          <a:xfrm>
            <a:off x="1044000" y="4258080"/>
            <a:ext cx="5904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000359"/>
                </a:solidFill>
                <a:latin typeface="Pretendard"/>
                <a:ea typeface="Pretendard"/>
              </a:rPr>
              <a:t>처우 격차 완화와 통상임금 합의</a:t>
            </a:r>
          </a:p>
        </p:txBody>
      </p:sp>
      <p:graphicFrame>
        <p:nvGraphicFramePr>
          <p:cNvPr id="12" name="단위 02"/>
          <p:cNvGraphicFramePr>
            <a:graphicFrameLocks noGrp="1"/>
          </p:cNvGraphicFramePr>
          <p:nvPr/>
        </p:nvGraphicFramePr>
        <p:xfrm>
          <a:off x="540000" y="4600080"/>
          <a:ext cx="6480000" cy="2260080"/>
        </p:xfrm>
        <a:graphic>
          <a:graphicData uri="http://schemas.openxmlformats.org/drawingml/2006/table">
            <a:tbl>
              <a:tblPr/>
              <a:tblGrid>
                <a:gridCol w="864000"/>
                <a:gridCol w="5616000"/>
              </a:tblGrid>
              <a:tr h="4320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진단</a:t>
                      </a:r>
                    </a:p>
                  </a:txBody>
                  <a:tcPr marL="57600" marR="57600" marT="64800" marB="648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EF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―</a:t>
                      </a:r>
                    </a:p>
                  </a:txBody>
                  <a:tcPr marL="57600" marR="57600" marT="64800" marB="648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실행</a:t>
                      </a:r>
                    </a:p>
                  </a:txBody>
                  <a:tcPr marL="57600" marR="57600" marT="64800" marB="648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EF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직급별 차등 인상률로 상하위직 격차 완화, 교통직·실무직 처우 개선</a:t>
                      </a:r>
                    </a:p>
                  </a:txBody>
                  <a:tcPr marL="57600" marR="57600" marT="64800" marB="648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10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성과</a:t>
                      </a:r>
                    </a:p>
                  </a:txBody>
                  <a:tcPr marL="57600" marR="57600" marT="64800" marB="648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EF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근로개선지수 전년대비 1.5점↑ (90.1 → 91.6점) / 노사 공동 TF 구축, 통상임금 재정립</a:t>
                      </a:r>
                    </a:p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근거: 경영관리 B.P 요약</a:t>
                      </a:r>
                    </a:p>
                  </a:txBody>
                  <a:tcPr marL="57600" marR="57600" marT="64800" marB="648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308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평가·해석</a:t>
                      </a:r>
                    </a:p>
                  </a:txBody>
                  <a:tcPr marL="57600" marR="57600" marT="64800" marB="648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EF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―  (공식평가 문장 미확인)</a:t>
                      </a:r>
                    </a:p>
                  </a:txBody>
                  <a:tcPr marL="57600" marR="57600" marT="64800" marB="648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환류(안)</a:t>
                      </a:r>
                    </a:p>
                  </a:txBody>
                  <a:tcPr marL="57600" marR="57600" marT="64800" marB="648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EF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spc="-6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―</a:t>
                      </a:r>
                    </a:p>
                  </a:txBody>
                  <a:tcPr marL="57600" marR="57600" marT="64800" marB="64800" anchor="ctr">
                    <a:lnL w="6350" cap="flat" cmpd="sng" algn="ctr">
                      <a:solidFill>
                        <a:srgbClr val="008EFF"/>
                      </a:solidFill>
                      <a:prstDash val="solid"/>
                    </a:lnL>
                    <a:lnR w="6350" cap="flat" cmpd="sng" algn="ctr">
                      <a:solidFill>
                        <a:srgbClr val="008EFF"/>
                      </a:solidFill>
                      <a:prstDash val="solid"/>
                    </a:lnR>
                    <a:lnT w="6350" cap="flat" cmpd="sng" algn="ctr">
                      <a:solidFill>
                        <a:srgbClr val="008EFF"/>
                      </a:solidFill>
                      <a:prstDash val="solid"/>
                    </a:lnT>
                    <a:lnB w="6350" cap="flat" cmpd="sng" algn="ctr">
                      <a:solidFill>
                        <a:srgbClr val="008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KORAD 경영평가">
      <a:dk1>
        <a:srgbClr val="000359"/>
      </a:dk1>
      <a:lt1>
        <a:srgbClr val="FFFFFF"/>
      </a:lt1>
      <a:dk2>
        <a:srgbClr val="001A7A"/>
      </a:dk2>
      <a:lt2>
        <a:srgbClr val="E6F4FF"/>
      </a:lt2>
      <a:accent1>
        <a:srgbClr val="008EFF"/>
      </a:accent1>
      <a:accent2>
        <a:srgbClr val="00A4A8"/>
      </a:accent2>
      <a:accent3>
        <a:srgbClr val="0051BC"/>
      </a:accent3>
      <a:accent4>
        <a:srgbClr val="30C2FF"/>
      </a:accent4>
      <a:accent5>
        <a:srgbClr val="00BE83"/>
      </a:accent5>
      <a:accent6>
        <a:srgbClr val="FBAE40"/>
      </a:accent6>
      <a:hlink>
        <a:srgbClr val="0061DE"/>
      </a:hlink>
      <a:folHlink>
        <a:srgbClr val="5D7280"/>
      </a:folHlink>
    </a:clrScheme>
    <a:fontScheme name="Pretendard">
      <a:majorFont>
        <a:latin typeface="Pretendard"/>
        <a:ea typeface="Pretendard"/>
        <a:cs typeface=""/>
        <a:font script="Jpan" typeface="ＭＳ Ｐゴシック"/>
        <a:font script="Hang" typeface="Pretendard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retendard"/>
        <a:ea typeface="Pretendard"/>
        <a:cs typeface=""/>
        <a:font script="Jpan" typeface="ＭＳ Ｐゴシック"/>
        <a:font script="Hang" typeface="Pretendard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