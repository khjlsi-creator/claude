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540000" y="360000"/>
            <a:ext cx="6480000" cy="28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1500" b="1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>KORAD 경영평가 레이아웃 카탈로그 (누적)</a:t>
            </a:r>
          </a:p>
        </p:txBody>
      </p:sp>
      <p:sp>
        <p:nvSpPr>
          <p:cNvPr id="3" name="catalog"/>
          <p:cNvSpPr/>
          <p:nvPr/>
        </p:nvSpPr>
        <p:spPr>
          <a:xfrm>
            <a:off x="540000" y="720000"/>
            <a:ext cx="6480000" cy="954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8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프레임 2종 · 블록 레이아웃 25종 · 쪽 레이아웃 5종
PG-01  Ⅳ-평가내용1-1-가  [p05]
PG-02  Ⅳ-평가내용1-1-나·다  [p06]
PG-03  Ⅳ-평가내용1-2  [p07]
PG-04  Ⅳ-평가내용1-3  [p08]
PG-05  Ⅳ-평가내용1-4  [p09]
BL-001  chapter_title|-|L0|c-|r-  사용 p05
BL-002  eval_item_box|-|L0|c-|r-  사용 p05
BL-003  bp_banner|-|L0|c-|r-  사용 p05
BL-004  section_bar|num+chip  사용 p05,p07,p08,p09
BL-005  subhead|-|L0|c-|r-  사용 p05,p06
BL-006  labeled_block|card_grid_2x2_hub|L120|c2|r2  사용 p05
BL-007  insight_bar|-|L0|c-|r-  사용 p05
BL-008  labeled_block|logic_3col_3row|L120|c3|r3  사용 p05
BL-009  labeled_block|banner_chevron4_card2x2|L120|c2|r2  사용 p06
BL-010  arrow_caption|-|L0|c-|r-  사용 p06
BL-011  labeled_block|bullets_col3_band_table|L120|c3|r2  사용 p06
BL-012  rolling_block|ribbon_chevron3_cards|L0|c3|r2  사용 p06
BL-013  matrix_plus_channels|quadrant_left_col3_right|L0|c3|r4  사용 p06
BL-014  labeled_block|banner_year3_cols|L120|c3|r1  사용 p07
BL-015  tf_module|ribbon+flow3+future|L120|c3|r2  사용 p07
BL-016  labeled_block|roadmap_kpi3_split_rows5|L120|c2|r5  사용 p08
BL-017  labeled_block|bar_split2_pillrows4|L120|c2|r4  사용 p08
BL-018  labeled_block|single_line|L120|c1|r1  사용 p09
BL-019  labeled_block|duo_header_bullets_caption|L120|c2|r2  사용 p09
BL-020  labeled_block|banner_split_stack_vs_steps|L120|c2|r2  사용 p09
BL-021  labeled_block|col3_plus_types|L120|c3|r1  사용 p09
BL-022  divider_chevron|-|L0|c-|r-  사용 p09
BL-023  labeled_block|dual_scatter_before_after|L120|c2|r1  사용 p09
BL-024  ribbon_title|-|L0|c-|r-  사용 p09
BL-025  labeled_block|chart_table_pair|L120|c2|r1  사용 p09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ge-title"/>
          <p:cNvSpPr/>
          <p:nvPr/>
        </p:nvSpPr>
        <p:spPr>
          <a:xfrm>
            <a:off x="540000" y="72000"/>
            <a:ext cx="6480000" cy="216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1000" b="1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>PG-01  Ⅳ-평가내용1-1-가  (p05)</a:t>
            </a:r>
          </a:p>
        </p:txBody>
      </p:sp>
      <p:sp>
        <p:nvSpPr>
          <p:cNvPr id="3" name="margin-15-10"/>
          <p:cNvSpPr/>
          <p:nvPr/>
        </p:nvSpPr>
        <p:spPr>
          <a:xfrm>
            <a:off x="540000" y="360000"/>
            <a:ext cx="6480000" cy="99720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0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" name="BL-001 chapter_title"/>
          <p:cNvSpPr/>
          <p:nvPr/>
        </p:nvSpPr>
        <p:spPr>
          <a:xfrm>
            <a:off x="720000" y="853200"/>
            <a:ext cx="5011200" cy="244800"/>
          </a:xfrm>
          <a:prstGeom prst="rect">
            <a:avLst/>
          </a:prstGeom>
          <a:solidFill>
            <a:srgbClr val="FFFFFF"/>
          </a:solidFill>
          <a:ln w="6350">
            <a:solidFill>
              <a:srgbClr val="006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1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>BL-001 chapter_title </a:t>
            </a:r>
          </a:p>
        </p:txBody>
      </p:sp>
      <p:sp>
        <p:nvSpPr>
          <p:cNvPr id="5" name="BL-002 eval_item_box"/>
          <p:cNvSpPr/>
          <p:nvPr/>
        </p:nvSpPr>
        <p:spPr>
          <a:xfrm>
            <a:off x="720000" y="1281600"/>
            <a:ext cx="6120000" cy="529200"/>
          </a:xfrm>
          <a:prstGeom prst="rect">
            <a:avLst/>
          </a:prstGeom>
          <a:solidFill>
            <a:srgbClr val="E6F4FF"/>
          </a:solidFill>
          <a:ln w="6350">
            <a:solidFill>
              <a:srgbClr val="006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1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>BL-002 eval_item_box </a:t>
            </a:r>
          </a:p>
        </p:txBody>
      </p:sp>
      <p:sp>
        <p:nvSpPr>
          <p:cNvPr id="6" name="BL-003 bp_banner"/>
          <p:cNvSpPr/>
          <p:nvPr/>
        </p:nvSpPr>
        <p:spPr>
          <a:xfrm>
            <a:off x="720000" y="1951200"/>
            <a:ext cx="6120000" cy="896400"/>
          </a:xfrm>
          <a:prstGeom prst="rect">
            <a:avLst/>
          </a:prstGeom>
          <a:solidFill>
            <a:srgbClr val="BDE0FF"/>
          </a:solidFill>
          <a:ln w="6350">
            <a:solidFill>
              <a:srgbClr val="006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1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>BL-003 bp_banner </a:t>
            </a:r>
          </a:p>
        </p:txBody>
      </p:sp>
      <p:sp>
        <p:nvSpPr>
          <p:cNvPr id="7" name="BL-004 section_bar"/>
          <p:cNvSpPr/>
          <p:nvPr/>
        </p:nvSpPr>
        <p:spPr>
          <a:xfrm>
            <a:off x="720000" y="2995200"/>
            <a:ext cx="6048000" cy="248400"/>
          </a:xfrm>
          <a:prstGeom prst="rect">
            <a:avLst/>
          </a:prstGeom>
          <a:solidFill>
            <a:srgbClr val="001A7A"/>
          </a:solidFill>
          <a:ln w="6350">
            <a:solidFill>
              <a:srgbClr val="006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BL-004 section_bar </a:t>
            </a:r>
          </a:p>
        </p:txBody>
      </p:sp>
      <p:sp>
        <p:nvSpPr>
          <p:cNvPr id="8" name="BL-005 subhead"/>
          <p:cNvSpPr/>
          <p:nvPr/>
        </p:nvSpPr>
        <p:spPr>
          <a:xfrm>
            <a:off x="720000" y="3351600"/>
            <a:ext cx="5378400" cy="244800"/>
          </a:xfrm>
          <a:prstGeom prst="rect">
            <a:avLst/>
          </a:prstGeom>
          <a:solidFill>
            <a:srgbClr val="FFFFFF"/>
          </a:solidFill>
          <a:ln w="6350">
            <a:solidFill>
              <a:srgbClr val="006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1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>BL-005 subhead </a:t>
            </a:r>
          </a:p>
        </p:txBody>
      </p:sp>
      <p:sp>
        <p:nvSpPr>
          <p:cNvPr id="9" name="BL-006 labeled_block"/>
          <p:cNvSpPr/>
          <p:nvPr/>
        </p:nvSpPr>
        <p:spPr>
          <a:xfrm>
            <a:off x="720000" y="3657600"/>
            <a:ext cx="6120000" cy="2592000"/>
          </a:xfrm>
          <a:prstGeom prst="rect">
            <a:avLst/>
          </a:prstGeom>
          <a:solidFill>
            <a:srgbClr val="EFF9FF"/>
          </a:solidFill>
          <a:ln w="6350">
            <a:solidFill>
              <a:srgbClr val="006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BL-006 labeled_block 환경진단</a:t>
            </a:r>
          </a:p>
        </p:txBody>
      </p:sp>
      <p:sp>
        <p:nvSpPr>
          <p:cNvPr id="10" name="label-col"/>
          <p:cNvSpPr/>
          <p:nvPr/>
        </p:nvSpPr>
        <p:spPr>
          <a:xfrm>
            <a:off x="720000" y="3657600"/>
            <a:ext cx="713323" cy="2592000"/>
          </a:xfrm>
          <a:prstGeom prst="rect">
            <a:avLst/>
          </a:prstGeom>
          <a:solidFill>
            <a:srgbClr val="001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0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1" name="card_tl"/>
          <p:cNvSpPr/>
          <p:nvPr/>
        </p:nvSpPr>
        <p:spPr>
          <a:xfrm>
            <a:off x="1483200" y="3700800"/>
            <a:ext cx="2664000" cy="13608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card_tl</a:t>
            </a:r>
          </a:p>
        </p:txBody>
      </p:sp>
      <p:sp>
        <p:nvSpPr>
          <p:cNvPr id="12" name="card_tr"/>
          <p:cNvSpPr/>
          <p:nvPr/>
        </p:nvSpPr>
        <p:spPr>
          <a:xfrm>
            <a:off x="4158000" y="3700800"/>
            <a:ext cx="2656800" cy="13608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card_tr</a:t>
            </a:r>
          </a:p>
        </p:txBody>
      </p:sp>
      <p:sp>
        <p:nvSpPr>
          <p:cNvPr id="13" name="card_bl"/>
          <p:cNvSpPr/>
          <p:nvPr/>
        </p:nvSpPr>
        <p:spPr>
          <a:xfrm>
            <a:off x="1483200" y="5090400"/>
            <a:ext cx="2664000" cy="11268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card_bl</a:t>
            </a:r>
          </a:p>
        </p:txBody>
      </p:sp>
      <p:sp>
        <p:nvSpPr>
          <p:cNvPr id="14" name="card_br"/>
          <p:cNvSpPr/>
          <p:nvPr/>
        </p:nvSpPr>
        <p:spPr>
          <a:xfrm>
            <a:off x="4158000" y="5090400"/>
            <a:ext cx="2656800" cy="11268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card_br</a:t>
            </a:r>
          </a:p>
        </p:txBody>
      </p:sp>
      <p:sp>
        <p:nvSpPr>
          <p:cNvPr id="15" name="hub_circle_images"/>
          <p:cNvSpPr/>
          <p:nvPr/>
        </p:nvSpPr>
        <p:spPr>
          <a:xfrm>
            <a:off x="3384000" y="3963600"/>
            <a:ext cx="1522800" cy="16776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hub_circle_images</a:t>
            </a:r>
          </a:p>
        </p:txBody>
      </p:sp>
      <p:sp>
        <p:nvSpPr>
          <p:cNvPr id="16" name="BL-007 insight_bar"/>
          <p:cNvSpPr/>
          <p:nvPr/>
        </p:nvSpPr>
        <p:spPr>
          <a:xfrm>
            <a:off x="720000" y="6278400"/>
            <a:ext cx="6120000" cy="288000"/>
          </a:xfrm>
          <a:prstGeom prst="rect">
            <a:avLst/>
          </a:prstGeom>
          <a:solidFill>
            <a:srgbClr val="DEEEFF"/>
          </a:solidFill>
          <a:ln w="6350">
            <a:solidFill>
              <a:srgbClr val="006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1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>BL-007 insight_bar </a:t>
            </a:r>
          </a:p>
        </p:txBody>
      </p:sp>
      <p:sp>
        <p:nvSpPr>
          <p:cNvPr id="17" name="BL-008 labeled_block"/>
          <p:cNvSpPr/>
          <p:nvPr/>
        </p:nvSpPr>
        <p:spPr>
          <a:xfrm>
            <a:off x="720000" y="6595200"/>
            <a:ext cx="6120000" cy="3283200"/>
          </a:xfrm>
          <a:prstGeom prst="rect">
            <a:avLst/>
          </a:prstGeom>
          <a:solidFill>
            <a:srgbClr val="EFF9FF"/>
          </a:solidFill>
          <a:ln w="6350">
            <a:solidFill>
              <a:srgbClr val="006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BL-008 labeled_block 기존해석/변화필요성/설립목적재정의</a:t>
            </a:r>
          </a:p>
        </p:txBody>
      </p:sp>
      <p:sp>
        <p:nvSpPr>
          <p:cNvPr id="18" name="label-col"/>
          <p:cNvSpPr/>
          <p:nvPr/>
        </p:nvSpPr>
        <p:spPr>
          <a:xfrm>
            <a:off x="720000" y="6595200"/>
            <a:ext cx="713323" cy="3283200"/>
          </a:xfrm>
          <a:prstGeom prst="rect">
            <a:avLst/>
          </a:prstGeom>
          <a:solidFill>
            <a:srgbClr val="001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0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9" name="label_chevron_stack"/>
          <p:cNvSpPr/>
          <p:nvPr/>
        </p:nvSpPr>
        <p:spPr>
          <a:xfrm>
            <a:off x="720000" y="6595200"/>
            <a:ext cx="712800" cy="32796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label_chevron_stack</a:t>
            </a:r>
          </a:p>
        </p:txBody>
      </p:sp>
      <p:sp>
        <p:nvSpPr>
          <p:cNvPr id="20" name="top_pair_strip"/>
          <p:cNvSpPr/>
          <p:nvPr/>
        </p:nvSpPr>
        <p:spPr>
          <a:xfrm>
            <a:off x="1483200" y="6645600"/>
            <a:ext cx="5317200" cy="2556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top_pair_strip</a:t>
            </a:r>
          </a:p>
        </p:txBody>
      </p:sp>
      <p:sp>
        <p:nvSpPr>
          <p:cNvPr id="21" name="row1_cells"/>
          <p:cNvSpPr/>
          <p:nvPr/>
        </p:nvSpPr>
        <p:spPr>
          <a:xfrm>
            <a:off x="1483200" y="6966000"/>
            <a:ext cx="5317200" cy="9252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row1_cells</a:t>
            </a:r>
          </a:p>
        </p:txBody>
      </p:sp>
      <p:sp>
        <p:nvSpPr>
          <p:cNvPr id="22" name="row2_cells"/>
          <p:cNvSpPr/>
          <p:nvPr/>
        </p:nvSpPr>
        <p:spPr>
          <a:xfrm>
            <a:off x="1483200" y="8046000"/>
            <a:ext cx="5317200" cy="6408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row2_cells</a:t>
            </a:r>
          </a:p>
        </p:txBody>
      </p:sp>
      <p:sp>
        <p:nvSpPr>
          <p:cNvPr id="23" name="row3_cells"/>
          <p:cNvSpPr/>
          <p:nvPr/>
        </p:nvSpPr>
        <p:spPr>
          <a:xfrm>
            <a:off x="1483200" y="8776800"/>
            <a:ext cx="5317200" cy="7308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row3_cells</a:t>
            </a:r>
          </a:p>
        </p:txBody>
      </p:sp>
      <p:sp>
        <p:nvSpPr>
          <p:cNvPr id="24" name="bottom_conclusion_bar"/>
          <p:cNvSpPr/>
          <p:nvPr/>
        </p:nvSpPr>
        <p:spPr>
          <a:xfrm>
            <a:off x="1483200" y="9568800"/>
            <a:ext cx="5317200" cy="2448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bottom_conclusion_bar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ge-title"/>
          <p:cNvSpPr/>
          <p:nvPr/>
        </p:nvSpPr>
        <p:spPr>
          <a:xfrm>
            <a:off x="540000" y="72000"/>
            <a:ext cx="6480000" cy="216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1000" b="1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>PG-02  Ⅳ-평가내용1-1-나·다  (p06)</a:t>
            </a:r>
          </a:p>
        </p:txBody>
      </p:sp>
      <p:sp>
        <p:nvSpPr>
          <p:cNvPr id="3" name="margin-15-10"/>
          <p:cNvSpPr/>
          <p:nvPr/>
        </p:nvSpPr>
        <p:spPr>
          <a:xfrm>
            <a:off x="540000" y="360000"/>
            <a:ext cx="6480000" cy="99720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0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" name="BL-005 subhead"/>
          <p:cNvSpPr/>
          <p:nvPr/>
        </p:nvSpPr>
        <p:spPr>
          <a:xfrm>
            <a:off x="720000" y="824400"/>
            <a:ext cx="4827600" cy="212400"/>
          </a:xfrm>
          <a:prstGeom prst="rect">
            <a:avLst/>
          </a:prstGeom>
          <a:solidFill>
            <a:srgbClr val="FFFFFF"/>
          </a:solidFill>
          <a:ln w="6350">
            <a:solidFill>
              <a:srgbClr val="006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1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>BL-005 subhead </a:t>
            </a:r>
          </a:p>
        </p:txBody>
      </p:sp>
      <p:sp>
        <p:nvSpPr>
          <p:cNvPr id="5" name="BL-009 labeled_block"/>
          <p:cNvSpPr/>
          <p:nvPr/>
        </p:nvSpPr>
        <p:spPr>
          <a:xfrm>
            <a:off x="720000" y="1098000"/>
            <a:ext cx="6120000" cy="2073600"/>
          </a:xfrm>
          <a:prstGeom prst="rect">
            <a:avLst/>
          </a:prstGeom>
          <a:solidFill>
            <a:srgbClr val="EFF9FF"/>
          </a:solidFill>
          <a:ln w="6350">
            <a:solidFill>
              <a:srgbClr val="006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BL-009 labeled_block 이해관계자 재분류</a:t>
            </a:r>
          </a:p>
        </p:txBody>
      </p:sp>
      <p:sp>
        <p:nvSpPr>
          <p:cNvPr id="6" name="label-col"/>
          <p:cNvSpPr/>
          <p:nvPr/>
        </p:nvSpPr>
        <p:spPr>
          <a:xfrm>
            <a:off x="720000" y="1098000"/>
            <a:ext cx="713323" cy="2073600"/>
          </a:xfrm>
          <a:prstGeom prst="rect">
            <a:avLst/>
          </a:prstGeom>
          <a:solidFill>
            <a:srgbClr val="001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0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7" name="top_banner"/>
          <p:cNvSpPr/>
          <p:nvPr/>
        </p:nvSpPr>
        <p:spPr>
          <a:xfrm>
            <a:off x="1483200" y="1141200"/>
            <a:ext cx="5317200" cy="2628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top_banner</a:t>
            </a:r>
          </a:p>
        </p:txBody>
      </p:sp>
      <p:sp>
        <p:nvSpPr>
          <p:cNvPr id="8" name="chevron_process_4step"/>
          <p:cNvSpPr/>
          <p:nvPr/>
        </p:nvSpPr>
        <p:spPr>
          <a:xfrm>
            <a:off x="1483200" y="1450800"/>
            <a:ext cx="5317200" cy="2880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chevron_process_4step</a:t>
            </a:r>
          </a:p>
        </p:txBody>
      </p:sp>
      <p:sp>
        <p:nvSpPr>
          <p:cNvPr id="9" name="card_tl"/>
          <p:cNvSpPr/>
          <p:nvPr/>
        </p:nvSpPr>
        <p:spPr>
          <a:xfrm>
            <a:off x="1483200" y="1782000"/>
            <a:ext cx="2664000" cy="6768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card_tl</a:t>
            </a:r>
          </a:p>
        </p:txBody>
      </p:sp>
      <p:sp>
        <p:nvSpPr>
          <p:cNvPr id="10" name="card_tr"/>
          <p:cNvSpPr/>
          <p:nvPr/>
        </p:nvSpPr>
        <p:spPr>
          <a:xfrm>
            <a:off x="4158000" y="1782000"/>
            <a:ext cx="2638800" cy="6768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card_tr</a:t>
            </a:r>
          </a:p>
        </p:txBody>
      </p:sp>
      <p:sp>
        <p:nvSpPr>
          <p:cNvPr id="11" name="card_bl"/>
          <p:cNvSpPr/>
          <p:nvPr/>
        </p:nvSpPr>
        <p:spPr>
          <a:xfrm>
            <a:off x="1483200" y="2469600"/>
            <a:ext cx="2664000" cy="6696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card_bl</a:t>
            </a:r>
          </a:p>
        </p:txBody>
      </p:sp>
      <p:sp>
        <p:nvSpPr>
          <p:cNvPr id="12" name="card_br"/>
          <p:cNvSpPr/>
          <p:nvPr/>
        </p:nvSpPr>
        <p:spPr>
          <a:xfrm>
            <a:off x="4158000" y="2469600"/>
            <a:ext cx="2638800" cy="6696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card_br</a:t>
            </a:r>
          </a:p>
        </p:txBody>
      </p:sp>
      <p:sp>
        <p:nvSpPr>
          <p:cNvPr id="13" name="BL-010 arrow_caption"/>
          <p:cNvSpPr/>
          <p:nvPr/>
        </p:nvSpPr>
        <p:spPr>
          <a:xfrm>
            <a:off x="745200" y="3200400"/>
            <a:ext cx="6069600" cy="194400"/>
          </a:xfrm>
          <a:prstGeom prst="rect">
            <a:avLst/>
          </a:prstGeom>
          <a:solidFill>
            <a:srgbClr val="E1F4FF"/>
          </a:solidFill>
          <a:ln w="6350">
            <a:solidFill>
              <a:srgbClr val="006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1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>BL-010 arrow_caption </a:t>
            </a:r>
          </a:p>
        </p:txBody>
      </p:sp>
      <p:sp>
        <p:nvSpPr>
          <p:cNvPr id="14" name="BL-011 labeled_block"/>
          <p:cNvSpPr/>
          <p:nvPr/>
        </p:nvSpPr>
        <p:spPr>
          <a:xfrm>
            <a:off x="720000" y="3535200"/>
            <a:ext cx="6120000" cy="2336400"/>
          </a:xfrm>
          <a:prstGeom prst="rect">
            <a:avLst/>
          </a:prstGeom>
          <a:solidFill>
            <a:srgbClr val="EFF9FF"/>
          </a:solidFill>
          <a:ln w="6350">
            <a:solidFill>
              <a:srgbClr val="006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BL-011 labeled_block 가치전략 진단</a:t>
            </a:r>
          </a:p>
        </p:txBody>
      </p:sp>
      <p:sp>
        <p:nvSpPr>
          <p:cNvPr id="15" name="label-col"/>
          <p:cNvSpPr/>
          <p:nvPr/>
        </p:nvSpPr>
        <p:spPr>
          <a:xfrm>
            <a:off x="720000" y="3535200"/>
            <a:ext cx="713323" cy="2336400"/>
          </a:xfrm>
          <a:prstGeom prst="rect">
            <a:avLst/>
          </a:prstGeom>
          <a:solidFill>
            <a:srgbClr val="001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0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6" name="lead_bullets"/>
          <p:cNvSpPr/>
          <p:nvPr/>
        </p:nvSpPr>
        <p:spPr>
          <a:xfrm>
            <a:off x="1483200" y="3596400"/>
            <a:ext cx="5317200" cy="3348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lead_bullets</a:t>
            </a:r>
          </a:p>
        </p:txBody>
      </p:sp>
      <p:sp>
        <p:nvSpPr>
          <p:cNvPr id="17" name="col3_header"/>
          <p:cNvSpPr/>
          <p:nvPr/>
        </p:nvSpPr>
        <p:spPr>
          <a:xfrm>
            <a:off x="1483200" y="4003200"/>
            <a:ext cx="5317200" cy="2016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col3_header</a:t>
            </a:r>
          </a:p>
        </p:txBody>
      </p:sp>
      <p:sp>
        <p:nvSpPr>
          <p:cNvPr id="18" name="col3_body"/>
          <p:cNvSpPr/>
          <p:nvPr/>
        </p:nvSpPr>
        <p:spPr>
          <a:xfrm>
            <a:off x="1483200" y="4237200"/>
            <a:ext cx="5317200" cy="4284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col3_body</a:t>
            </a:r>
          </a:p>
        </p:txBody>
      </p:sp>
      <p:sp>
        <p:nvSpPr>
          <p:cNvPr id="19" name="message_band"/>
          <p:cNvSpPr/>
          <p:nvPr/>
        </p:nvSpPr>
        <p:spPr>
          <a:xfrm>
            <a:off x="1483200" y="4694400"/>
            <a:ext cx="5317200" cy="2448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message_band</a:t>
            </a:r>
          </a:p>
        </p:txBody>
      </p:sp>
      <p:sp>
        <p:nvSpPr>
          <p:cNvPr id="20" name="table_row_value"/>
          <p:cNvSpPr/>
          <p:nvPr/>
        </p:nvSpPr>
        <p:spPr>
          <a:xfrm>
            <a:off x="1483200" y="4957200"/>
            <a:ext cx="5317200" cy="3780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table_row_value</a:t>
            </a:r>
          </a:p>
        </p:txBody>
      </p:sp>
      <p:sp>
        <p:nvSpPr>
          <p:cNvPr id="21" name="table_row_strategy"/>
          <p:cNvSpPr/>
          <p:nvPr/>
        </p:nvSpPr>
        <p:spPr>
          <a:xfrm>
            <a:off x="1483200" y="5364000"/>
            <a:ext cx="5317200" cy="3960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table_row_strategy</a:t>
            </a:r>
          </a:p>
        </p:txBody>
      </p:sp>
      <p:sp>
        <p:nvSpPr>
          <p:cNvPr id="22" name="check_column"/>
          <p:cNvSpPr/>
          <p:nvPr/>
        </p:nvSpPr>
        <p:spPr>
          <a:xfrm>
            <a:off x="5274000" y="4957200"/>
            <a:ext cx="1522800" cy="8064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check_column</a:t>
            </a:r>
          </a:p>
        </p:txBody>
      </p:sp>
      <p:sp>
        <p:nvSpPr>
          <p:cNvPr id="23" name="BL-012 rolling_block"/>
          <p:cNvSpPr/>
          <p:nvPr/>
        </p:nvSpPr>
        <p:spPr>
          <a:xfrm>
            <a:off x="720000" y="5914800"/>
            <a:ext cx="6120000" cy="1688400"/>
          </a:xfrm>
          <a:prstGeom prst="rect">
            <a:avLst/>
          </a:prstGeom>
          <a:solidFill>
            <a:srgbClr val="E1F9FF"/>
          </a:solidFill>
          <a:ln w="6350">
            <a:solidFill>
              <a:srgbClr val="006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1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>BL-012 rolling_block </a:t>
            </a:r>
          </a:p>
        </p:txBody>
      </p:sp>
      <p:sp>
        <p:nvSpPr>
          <p:cNvPr id="24" name="ribbon_title"/>
          <p:cNvSpPr/>
          <p:nvPr/>
        </p:nvSpPr>
        <p:spPr>
          <a:xfrm>
            <a:off x="745200" y="5943600"/>
            <a:ext cx="6073200" cy="1836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ribbon_title</a:t>
            </a:r>
          </a:p>
        </p:txBody>
      </p:sp>
      <p:sp>
        <p:nvSpPr>
          <p:cNvPr id="25" name="chevron3_header"/>
          <p:cNvSpPr/>
          <p:nvPr/>
        </p:nvSpPr>
        <p:spPr>
          <a:xfrm>
            <a:off x="720000" y="6159600"/>
            <a:ext cx="6120000" cy="2016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chevron3_header</a:t>
            </a:r>
          </a:p>
        </p:txBody>
      </p:sp>
      <p:sp>
        <p:nvSpPr>
          <p:cNvPr id="26" name="cards"/>
          <p:cNvSpPr/>
          <p:nvPr/>
        </p:nvSpPr>
        <p:spPr>
          <a:xfrm>
            <a:off x="745200" y="6400800"/>
            <a:ext cx="6073200" cy="6084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cards</a:t>
            </a:r>
          </a:p>
        </p:txBody>
      </p:sp>
      <p:sp>
        <p:nvSpPr>
          <p:cNvPr id="27" name="desc_strip"/>
          <p:cNvSpPr/>
          <p:nvPr/>
        </p:nvSpPr>
        <p:spPr>
          <a:xfrm>
            <a:off x="745200" y="6980400"/>
            <a:ext cx="6073200" cy="1656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desc_strip</a:t>
            </a:r>
          </a:p>
        </p:txBody>
      </p:sp>
      <p:sp>
        <p:nvSpPr>
          <p:cNvPr id="28" name="bullets"/>
          <p:cNvSpPr/>
          <p:nvPr/>
        </p:nvSpPr>
        <p:spPr>
          <a:xfrm>
            <a:off x="745200" y="7196400"/>
            <a:ext cx="6073200" cy="3348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bullets</a:t>
            </a:r>
          </a:p>
        </p:txBody>
      </p:sp>
      <p:sp>
        <p:nvSpPr>
          <p:cNvPr id="29" name="BL-005 subhead"/>
          <p:cNvSpPr/>
          <p:nvPr/>
        </p:nvSpPr>
        <p:spPr>
          <a:xfrm>
            <a:off x="720000" y="7761600"/>
            <a:ext cx="5976000" cy="205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6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1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>BL-005 subhead </a:t>
            </a:r>
          </a:p>
        </p:txBody>
      </p:sp>
      <p:sp>
        <p:nvSpPr>
          <p:cNvPr id="30" name="BL-013 matrix_plus_channels"/>
          <p:cNvSpPr/>
          <p:nvPr/>
        </p:nvSpPr>
        <p:spPr>
          <a:xfrm>
            <a:off x="720000" y="8028000"/>
            <a:ext cx="6120000" cy="1850400"/>
          </a:xfrm>
          <a:prstGeom prst="rect">
            <a:avLst/>
          </a:prstGeom>
          <a:solidFill>
            <a:srgbClr val="E6FCF9"/>
          </a:solidFill>
          <a:ln w="6350">
            <a:solidFill>
              <a:srgbClr val="006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1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>BL-013 matrix_plus_channels </a:t>
            </a:r>
          </a:p>
        </p:txBody>
      </p:sp>
      <p:sp>
        <p:nvSpPr>
          <p:cNvPr id="31" name="quadrant_matrix"/>
          <p:cNvSpPr/>
          <p:nvPr/>
        </p:nvSpPr>
        <p:spPr>
          <a:xfrm>
            <a:off x="730800" y="8028000"/>
            <a:ext cx="2041200" cy="18468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quadrant_matrix</a:t>
            </a:r>
          </a:p>
        </p:txBody>
      </p:sp>
      <p:sp>
        <p:nvSpPr>
          <p:cNvPr id="32" name="channel_by_type"/>
          <p:cNvSpPr/>
          <p:nvPr/>
        </p:nvSpPr>
        <p:spPr>
          <a:xfrm>
            <a:off x="2818800" y="8078400"/>
            <a:ext cx="1940400" cy="18000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channel_by_type</a:t>
            </a:r>
          </a:p>
        </p:txBody>
      </p:sp>
      <p:sp>
        <p:nvSpPr>
          <p:cNvPr id="33" name="spread_channels_with_thumbs"/>
          <p:cNvSpPr/>
          <p:nvPr/>
        </p:nvSpPr>
        <p:spPr>
          <a:xfrm>
            <a:off x="4755600" y="8078400"/>
            <a:ext cx="2073600" cy="18000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spread_channels_with_thumbs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ge-title"/>
          <p:cNvSpPr/>
          <p:nvPr/>
        </p:nvSpPr>
        <p:spPr>
          <a:xfrm>
            <a:off x="540000" y="72000"/>
            <a:ext cx="6480000" cy="216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1000" b="1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>PG-03  Ⅳ-평가내용1-2  (p07)</a:t>
            </a:r>
          </a:p>
        </p:txBody>
      </p:sp>
      <p:sp>
        <p:nvSpPr>
          <p:cNvPr id="3" name="margin-15-10"/>
          <p:cNvSpPr/>
          <p:nvPr/>
        </p:nvSpPr>
        <p:spPr>
          <a:xfrm>
            <a:off x="540000" y="360000"/>
            <a:ext cx="6480000" cy="99720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0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" name="BL-004 section_bar"/>
          <p:cNvSpPr/>
          <p:nvPr/>
        </p:nvSpPr>
        <p:spPr>
          <a:xfrm>
            <a:off x="720000" y="824400"/>
            <a:ext cx="6048000" cy="259200"/>
          </a:xfrm>
          <a:prstGeom prst="rect">
            <a:avLst/>
          </a:prstGeom>
          <a:solidFill>
            <a:srgbClr val="001A7A"/>
          </a:solidFill>
          <a:ln w="6350">
            <a:solidFill>
              <a:srgbClr val="006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BL-004 section_bar </a:t>
            </a:r>
          </a:p>
        </p:txBody>
      </p:sp>
      <p:sp>
        <p:nvSpPr>
          <p:cNvPr id="5" name="BL-014 labeled_block"/>
          <p:cNvSpPr/>
          <p:nvPr/>
        </p:nvSpPr>
        <p:spPr>
          <a:xfrm>
            <a:off x="720000" y="1177200"/>
            <a:ext cx="6120000" cy="1364400"/>
          </a:xfrm>
          <a:prstGeom prst="rect">
            <a:avLst/>
          </a:prstGeom>
          <a:solidFill>
            <a:srgbClr val="EFF9FF"/>
          </a:solidFill>
          <a:ln w="6350">
            <a:solidFill>
              <a:srgbClr val="006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BL-014 labeled_block 그간의 혁신연계</a:t>
            </a:r>
          </a:p>
        </p:txBody>
      </p:sp>
      <p:sp>
        <p:nvSpPr>
          <p:cNvPr id="6" name="label-col"/>
          <p:cNvSpPr/>
          <p:nvPr/>
        </p:nvSpPr>
        <p:spPr>
          <a:xfrm>
            <a:off x="720000" y="1177200"/>
            <a:ext cx="713323" cy="1364400"/>
          </a:xfrm>
          <a:prstGeom prst="rect">
            <a:avLst/>
          </a:prstGeom>
          <a:solidFill>
            <a:srgbClr val="001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0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7" name="top_banner"/>
          <p:cNvSpPr/>
          <p:nvPr/>
        </p:nvSpPr>
        <p:spPr>
          <a:xfrm>
            <a:off x="1483200" y="1267200"/>
            <a:ext cx="5317200" cy="1836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top_banner</a:t>
            </a:r>
          </a:p>
        </p:txBody>
      </p:sp>
      <p:sp>
        <p:nvSpPr>
          <p:cNvPr id="8" name="year_chevron3"/>
          <p:cNvSpPr/>
          <p:nvPr/>
        </p:nvSpPr>
        <p:spPr>
          <a:xfrm>
            <a:off x="1483200" y="1504800"/>
            <a:ext cx="5317200" cy="2628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year_chevron3</a:t>
            </a:r>
          </a:p>
        </p:txBody>
      </p:sp>
      <p:sp>
        <p:nvSpPr>
          <p:cNvPr id="9" name="cols3_body"/>
          <p:cNvSpPr/>
          <p:nvPr/>
        </p:nvSpPr>
        <p:spPr>
          <a:xfrm>
            <a:off x="1483200" y="1800000"/>
            <a:ext cx="5317200" cy="6696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cols3_body</a:t>
            </a:r>
          </a:p>
        </p:txBody>
      </p:sp>
      <p:sp>
        <p:nvSpPr>
          <p:cNvPr id="10" name="BL-015 tf_module"/>
          <p:cNvSpPr/>
          <p:nvPr/>
        </p:nvSpPr>
        <p:spPr>
          <a:xfrm>
            <a:off x="720000" y="2592000"/>
            <a:ext cx="6120000" cy="2408400"/>
          </a:xfrm>
          <a:prstGeom prst="rect">
            <a:avLst/>
          </a:prstGeom>
          <a:solidFill>
            <a:srgbClr val="DEEEFF"/>
          </a:solidFill>
          <a:ln w="6350">
            <a:solidFill>
              <a:srgbClr val="006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BL-015 tf_module AI First 전략기획단</a:t>
            </a:r>
          </a:p>
        </p:txBody>
      </p:sp>
      <p:sp>
        <p:nvSpPr>
          <p:cNvPr id="11" name="label-col"/>
          <p:cNvSpPr/>
          <p:nvPr/>
        </p:nvSpPr>
        <p:spPr>
          <a:xfrm>
            <a:off x="720000" y="2592000"/>
            <a:ext cx="762097" cy="2408400"/>
          </a:xfrm>
          <a:prstGeom prst="rect">
            <a:avLst/>
          </a:prstGeom>
          <a:solidFill>
            <a:srgbClr val="001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0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2" name="ribbon_title"/>
          <p:cNvSpPr/>
          <p:nvPr/>
        </p:nvSpPr>
        <p:spPr>
          <a:xfrm>
            <a:off x="720000" y="2592000"/>
            <a:ext cx="6120000" cy="1836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ribbon_title</a:t>
            </a:r>
          </a:p>
        </p:txBody>
      </p:sp>
      <p:sp>
        <p:nvSpPr>
          <p:cNvPr id="13" name="flow_block"/>
          <p:cNvSpPr/>
          <p:nvPr/>
        </p:nvSpPr>
        <p:spPr>
          <a:xfrm>
            <a:off x="720000" y="2793600"/>
            <a:ext cx="6120000" cy="11412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flow_block</a:t>
            </a:r>
          </a:p>
        </p:txBody>
      </p:sp>
      <p:sp>
        <p:nvSpPr>
          <p:cNvPr id="14" name="future_block"/>
          <p:cNvSpPr/>
          <p:nvPr/>
        </p:nvSpPr>
        <p:spPr>
          <a:xfrm>
            <a:off x="720000" y="3963600"/>
            <a:ext cx="6120000" cy="10368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future_block</a:t>
            </a:r>
          </a:p>
        </p:txBody>
      </p:sp>
      <p:sp>
        <p:nvSpPr>
          <p:cNvPr id="15" name="BL-015 tf_module"/>
          <p:cNvSpPr/>
          <p:nvPr/>
        </p:nvSpPr>
        <p:spPr>
          <a:xfrm>
            <a:off x="720000" y="5079600"/>
            <a:ext cx="6120000" cy="2419200"/>
          </a:xfrm>
          <a:prstGeom prst="rect">
            <a:avLst/>
          </a:prstGeom>
          <a:solidFill>
            <a:srgbClr val="DEEEFF"/>
          </a:solidFill>
          <a:ln w="6350">
            <a:solidFill>
              <a:srgbClr val="006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BL-015 tf_module 물에너지 Re:boot TF</a:t>
            </a:r>
          </a:p>
        </p:txBody>
      </p:sp>
      <p:sp>
        <p:nvSpPr>
          <p:cNvPr id="16" name="label-col"/>
          <p:cNvSpPr/>
          <p:nvPr/>
        </p:nvSpPr>
        <p:spPr>
          <a:xfrm>
            <a:off x="720000" y="5079600"/>
            <a:ext cx="762097" cy="2419200"/>
          </a:xfrm>
          <a:prstGeom prst="rect">
            <a:avLst/>
          </a:prstGeom>
          <a:solidFill>
            <a:srgbClr val="001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0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7" name="ribbon_title"/>
          <p:cNvSpPr/>
          <p:nvPr/>
        </p:nvSpPr>
        <p:spPr>
          <a:xfrm>
            <a:off x="720000" y="5079600"/>
            <a:ext cx="6120000" cy="1836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ribbon_title</a:t>
            </a:r>
          </a:p>
        </p:txBody>
      </p:sp>
      <p:sp>
        <p:nvSpPr>
          <p:cNvPr id="18" name="flow_block"/>
          <p:cNvSpPr/>
          <p:nvPr/>
        </p:nvSpPr>
        <p:spPr>
          <a:xfrm>
            <a:off x="720000" y="5281200"/>
            <a:ext cx="6120000" cy="11412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flow_block</a:t>
            </a:r>
          </a:p>
        </p:txBody>
      </p:sp>
      <p:sp>
        <p:nvSpPr>
          <p:cNvPr id="19" name="future_block"/>
          <p:cNvSpPr/>
          <p:nvPr/>
        </p:nvSpPr>
        <p:spPr>
          <a:xfrm>
            <a:off x="720000" y="6451200"/>
            <a:ext cx="6120000" cy="10368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future_block</a:t>
            </a:r>
          </a:p>
        </p:txBody>
      </p:sp>
      <p:sp>
        <p:nvSpPr>
          <p:cNvPr id="20" name="BL-015 tf_module"/>
          <p:cNvSpPr/>
          <p:nvPr/>
        </p:nvSpPr>
        <p:spPr>
          <a:xfrm>
            <a:off x="720000" y="7560000"/>
            <a:ext cx="6120000" cy="2296800"/>
          </a:xfrm>
          <a:prstGeom prst="rect">
            <a:avLst/>
          </a:prstGeom>
          <a:solidFill>
            <a:srgbClr val="DEEEFF"/>
          </a:solidFill>
          <a:ln w="6350">
            <a:solidFill>
              <a:srgbClr val="006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BL-015 tf_module 산업용수 활성화 TF</a:t>
            </a:r>
          </a:p>
        </p:txBody>
      </p:sp>
      <p:sp>
        <p:nvSpPr>
          <p:cNvPr id="21" name="label-col"/>
          <p:cNvSpPr/>
          <p:nvPr/>
        </p:nvSpPr>
        <p:spPr>
          <a:xfrm>
            <a:off x="720000" y="7560000"/>
            <a:ext cx="762097" cy="2296800"/>
          </a:xfrm>
          <a:prstGeom prst="rect">
            <a:avLst/>
          </a:prstGeom>
          <a:solidFill>
            <a:srgbClr val="001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0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2" name="ribbon_title"/>
          <p:cNvSpPr/>
          <p:nvPr/>
        </p:nvSpPr>
        <p:spPr>
          <a:xfrm>
            <a:off x="720000" y="7560000"/>
            <a:ext cx="6120000" cy="1836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ribbon_title</a:t>
            </a:r>
          </a:p>
        </p:txBody>
      </p:sp>
      <p:sp>
        <p:nvSpPr>
          <p:cNvPr id="23" name="flow_block"/>
          <p:cNvSpPr/>
          <p:nvPr/>
        </p:nvSpPr>
        <p:spPr>
          <a:xfrm>
            <a:off x="720000" y="7761600"/>
            <a:ext cx="6120000" cy="11412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flow_block</a:t>
            </a:r>
          </a:p>
        </p:txBody>
      </p:sp>
      <p:sp>
        <p:nvSpPr>
          <p:cNvPr id="24" name="future_block"/>
          <p:cNvSpPr/>
          <p:nvPr/>
        </p:nvSpPr>
        <p:spPr>
          <a:xfrm>
            <a:off x="720000" y="8931600"/>
            <a:ext cx="6120000" cy="10368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future_block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ge-title"/>
          <p:cNvSpPr/>
          <p:nvPr/>
        </p:nvSpPr>
        <p:spPr>
          <a:xfrm>
            <a:off x="540000" y="72000"/>
            <a:ext cx="6480000" cy="216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1000" b="1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>PG-04  Ⅳ-평가내용1-3  (p08)</a:t>
            </a:r>
          </a:p>
        </p:txBody>
      </p:sp>
      <p:sp>
        <p:nvSpPr>
          <p:cNvPr id="3" name="margin-15-10"/>
          <p:cNvSpPr/>
          <p:nvPr/>
        </p:nvSpPr>
        <p:spPr>
          <a:xfrm>
            <a:off x="540000" y="360000"/>
            <a:ext cx="6480000" cy="99720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0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" name="BL-004 section_bar"/>
          <p:cNvSpPr/>
          <p:nvPr/>
        </p:nvSpPr>
        <p:spPr>
          <a:xfrm>
            <a:off x="720000" y="824400"/>
            <a:ext cx="6048000" cy="259200"/>
          </a:xfrm>
          <a:prstGeom prst="rect">
            <a:avLst/>
          </a:prstGeom>
          <a:solidFill>
            <a:srgbClr val="001A7A"/>
          </a:solidFill>
          <a:ln w="6350">
            <a:solidFill>
              <a:srgbClr val="006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BL-004 section_bar </a:t>
            </a:r>
          </a:p>
        </p:txBody>
      </p:sp>
      <p:sp>
        <p:nvSpPr>
          <p:cNvPr id="5" name="BL-016 labeled_block"/>
          <p:cNvSpPr/>
          <p:nvPr/>
        </p:nvSpPr>
        <p:spPr>
          <a:xfrm>
            <a:off x="720000" y="1177200"/>
            <a:ext cx="6120000" cy="6627600"/>
          </a:xfrm>
          <a:prstGeom prst="rect">
            <a:avLst/>
          </a:prstGeom>
          <a:solidFill>
            <a:srgbClr val="EFF9FF"/>
          </a:solidFill>
          <a:ln w="6350">
            <a:solidFill>
              <a:srgbClr val="006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BL-016 labeled_block 선제적 제안·반영</a:t>
            </a:r>
          </a:p>
        </p:txBody>
      </p:sp>
      <p:sp>
        <p:nvSpPr>
          <p:cNvPr id="6" name="label-col"/>
          <p:cNvSpPr/>
          <p:nvPr/>
        </p:nvSpPr>
        <p:spPr>
          <a:xfrm>
            <a:off x="720000" y="1177200"/>
            <a:ext cx="713323" cy="6627600"/>
          </a:xfrm>
          <a:prstGeom prst="rect">
            <a:avLst/>
          </a:prstGeom>
          <a:solidFill>
            <a:srgbClr val="001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0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7" name="process_title_bar"/>
          <p:cNvSpPr/>
          <p:nvPr/>
        </p:nvSpPr>
        <p:spPr>
          <a:xfrm>
            <a:off x="1483200" y="1281600"/>
            <a:ext cx="5317200" cy="1836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process_title_bar</a:t>
            </a:r>
          </a:p>
        </p:txBody>
      </p:sp>
      <p:sp>
        <p:nvSpPr>
          <p:cNvPr id="8" name="roadmap_timeline"/>
          <p:cNvSpPr/>
          <p:nvPr/>
        </p:nvSpPr>
        <p:spPr>
          <a:xfrm>
            <a:off x="1483200" y="1544400"/>
            <a:ext cx="5317200" cy="12636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roadmap_timeline</a:t>
            </a:r>
          </a:p>
        </p:txBody>
      </p:sp>
      <p:sp>
        <p:nvSpPr>
          <p:cNvPr id="9" name="policy_bar"/>
          <p:cNvSpPr/>
          <p:nvPr/>
        </p:nvSpPr>
        <p:spPr>
          <a:xfrm>
            <a:off x="1483200" y="2865600"/>
            <a:ext cx="5317200" cy="2124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policy_bar</a:t>
            </a:r>
          </a:p>
        </p:txBody>
      </p:sp>
      <p:sp>
        <p:nvSpPr>
          <p:cNvPr id="10" name="support_pair_bar"/>
          <p:cNvSpPr/>
          <p:nvPr/>
        </p:nvSpPr>
        <p:spPr>
          <a:xfrm>
            <a:off x="1483200" y="3189600"/>
            <a:ext cx="5317200" cy="1656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support_pair_bar</a:t>
            </a:r>
          </a:p>
        </p:txBody>
      </p:sp>
      <p:sp>
        <p:nvSpPr>
          <p:cNvPr id="11" name="month_cols3"/>
          <p:cNvSpPr/>
          <p:nvPr/>
        </p:nvSpPr>
        <p:spPr>
          <a:xfrm>
            <a:off x="1483200" y="3402000"/>
            <a:ext cx="5317200" cy="6840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month_cols3</a:t>
            </a:r>
          </a:p>
        </p:txBody>
      </p:sp>
      <p:sp>
        <p:nvSpPr>
          <p:cNvPr id="12" name="wide_message_bar"/>
          <p:cNvSpPr/>
          <p:nvPr/>
        </p:nvSpPr>
        <p:spPr>
          <a:xfrm>
            <a:off x="1483200" y="4176000"/>
            <a:ext cx="5317200" cy="3060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wide_message_bar</a:t>
            </a:r>
          </a:p>
        </p:txBody>
      </p:sp>
      <p:sp>
        <p:nvSpPr>
          <p:cNvPr id="13" name="split_header"/>
          <p:cNvSpPr/>
          <p:nvPr/>
        </p:nvSpPr>
        <p:spPr>
          <a:xfrm>
            <a:off x="2030400" y="4510800"/>
            <a:ext cx="4766400" cy="2124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split_header</a:t>
            </a:r>
          </a:p>
        </p:txBody>
      </p:sp>
      <p:sp>
        <p:nvSpPr>
          <p:cNvPr id="14" name="category_rows5"/>
          <p:cNvSpPr/>
          <p:nvPr/>
        </p:nvSpPr>
        <p:spPr>
          <a:xfrm>
            <a:off x="1483200" y="4755600"/>
            <a:ext cx="5317200" cy="30492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category_rows5</a:t>
            </a:r>
          </a:p>
        </p:txBody>
      </p:sp>
      <p:sp>
        <p:nvSpPr>
          <p:cNvPr id="15" name="BL-017 labeled_block"/>
          <p:cNvSpPr/>
          <p:nvPr/>
        </p:nvSpPr>
        <p:spPr>
          <a:xfrm>
            <a:off x="720000" y="7833600"/>
            <a:ext cx="6120000" cy="2023200"/>
          </a:xfrm>
          <a:prstGeom prst="rect">
            <a:avLst/>
          </a:prstGeom>
          <a:solidFill>
            <a:srgbClr val="EFF9FF"/>
          </a:solidFill>
          <a:ln w="6350">
            <a:solidFill>
              <a:srgbClr val="006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BL-017 labeled_block 정책 정합성 확보</a:t>
            </a:r>
          </a:p>
        </p:txBody>
      </p:sp>
      <p:sp>
        <p:nvSpPr>
          <p:cNvPr id="16" name="label-col"/>
          <p:cNvSpPr/>
          <p:nvPr/>
        </p:nvSpPr>
        <p:spPr>
          <a:xfrm>
            <a:off x="720000" y="7833600"/>
            <a:ext cx="713323" cy="2023200"/>
          </a:xfrm>
          <a:prstGeom prst="rect">
            <a:avLst/>
          </a:prstGeom>
          <a:solidFill>
            <a:srgbClr val="001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0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7" name="direction_bar"/>
          <p:cNvSpPr/>
          <p:nvPr/>
        </p:nvSpPr>
        <p:spPr>
          <a:xfrm>
            <a:off x="1483200" y="7923600"/>
            <a:ext cx="5317200" cy="1836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direction_bar</a:t>
            </a:r>
          </a:p>
        </p:txBody>
      </p:sp>
      <p:sp>
        <p:nvSpPr>
          <p:cNvPr id="18" name="split_header"/>
          <p:cNvSpPr/>
          <p:nvPr/>
        </p:nvSpPr>
        <p:spPr>
          <a:xfrm>
            <a:off x="1483200" y="8186400"/>
            <a:ext cx="5317200" cy="2268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split_header</a:t>
            </a:r>
          </a:p>
        </p:txBody>
      </p:sp>
      <p:sp>
        <p:nvSpPr>
          <p:cNvPr id="19" name="pill_rows4"/>
          <p:cNvSpPr/>
          <p:nvPr/>
        </p:nvSpPr>
        <p:spPr>
          <a:xfrm>
            <a:off x="1483200" y="8474400"/>
            <a:ext cx="5317200" cy="13428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pill_rows4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ge-title"/>
          <p:cNvSpPr/>
          <p:nvPr/>
        </p:nvSpPr>
        <p:spPr>
          <a:xfrm>
            <a:off x="540000" y="72000"/>
            <a:ext cx="6480000" cy="216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1000" b="1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>PG-05  Ⅳ-평가내용1-4  (p09)</a:t>
            </a:r>
          </a:p>
        </p:txBody>
      </p:sp>
      <p:sp>
        <p:nvSpPr>
          <p:cNvPr id="3" name="margin-15-10"/>
          <p:cNvSpPr/>
          <p:nvPr/>
        </p:nvSpPr>
        <p:spPr>
          <a:xfrm>
            <a:off x="540000" y="360000"/>
            <a:ext cx="6480000" cy="99720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0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" name="BL-004 section_bar"/>
          <p:cNvSpPr/>
          <p:nvPr/>
        </p:nvSpPr>
        <p:spPr>
          <a:xfrm>
            <a:off x="720000" y="824400"/>
            <a:ext cx="6048000" cy="259200"/>
          </a:xfrm>
          <a:prstGeom prst="rect">
            <a:avLst/>
          </a:prstGeom>
          <a:solidFill>
            <a:srgbClr val="001A7A"/>
          </a:solidFill>
          <a:ln w="6350">
            <a:solidFill>
              <a:srgbClr val="006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BL-004 section_bar </a:t>
            </a:r>
          </a:p>
        </p:txBody>
      </p:sp>
      <p:sp>
        <p:nvSpPr>
          <p:cNvPr id="5" name="BL-018 labeled_block"/>
          <p:cNvSpPr/>
          <p:nvPr/>
        </p:nvSpPr>
        <p:spPr>
          <a:xfrm>
            <a:off x="720000" y="1177200"/>
            <a:ext cx="6120000" cy="316800"/>
          </a:xfrm>
          <a:prstGeom prst="rect">
            <a:avLst/>
          </a:prstGeom>
          <a:solidFill>
            <a:srgbClr val="EFF9FF"/>
          </a:solidFill>
          <a:ln w="6350">
            <a:solidFill>
              <a:srgbClr val="006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BL-018 labeled_block 조정방향</a:t>
            </a:r>
          </a:p>
        </p:txBody>
      </p:sp>
      <p:sp>
        <p:nvSpPr>
          <p:cNvPr id="6" name="label-col"/>
          <p:cNvSpPr/>
          <p:nvPr/>
        </p:nvSpPr>
        <p:spPr>
          <a:xfrm>
            <a:off x="720000" y="1177200"/>
            <a:ext cx="713323" cy="316800"/>
          </a:xfrm>
          <a:prstGeom prst="rect">
            <a:avLst/>
          </a:prstGeom>
          <a:solidFill>
            <a:srgbClr val="001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0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7" name="BL-019 labeled_block"/>
          <p:cNvSpPr/>
          <p:nvPr/>
        </p:nvSpPr>
        <p:spPr>
          <a:xfrm>
            <a:off x="720000" y="1584000"/>
            <a:ext cx="6120000" cy="1087200"/>
          </a:xfrm>
          <a:prstGeom prst="rect">
            <a:avLst/>
          </a:prstGeom>
          <a:solidFill>
            <a:srgbClr val="EFF9FF"/>
          </a:solidFill>
          <a:ln w="6350">
            <a:solidFill>
              <a:srgbClr val="006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BL-019 labeled_block 진단 TOOL</a:t>
            </a:r>
          </a:p>
        </p:txBody>
      </p:sp>
      <p:sp>
        <p:nvSpPr>
          <p:cNvPr id="8" name="label-col"/>
          <p:cNvSpPr/>
          <p:nvPr/>
        </p:nvSpPr>
        <p:spPr>
          <a:xfrm>
            <a:off x="720000" y="1584000"/>
            <a:ext cx="713323" cy="1087200"/>
          </a:xfrm>
          <a:prstGeom prst="rect">
            <a:avLst/>
          </a:prstGeom>
          <a:solidFill>
            <a:srgbClr val="001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0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9" name="duo_header_plus"/>
          <p:cNvSpPr/>
          <p:nvPr/>
        </p:nvSpPr>
        <p:spPr>
          <a:xfrm>
            <a:off x="1483200" y="1627200"/>
            <a:ext cx="5317200" cy="2304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duo_header_plus</a:t>
            </a:r>
          </a:p>
        </p:txBody>
      </p:sp>
      <p:sp>
        <p:nvSpPr>
          <p:cNvPr id="10" name="bullets2"/>
          <p:cNvSpPr/>
          <p:nvPr/>
        </p:nvSpPr>
        <p:spPr>
          <a:xfrm>
            <a:off x="1483200" y="1918800"/>
            <a:ext cx="5317200" cy="4284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bullets2</a:t>
            </a:r>
          </a:p>
        </p:txBody>
      </p:sp>
      <p:sp>
        <p:nvSpPr>
          <p:cNvPr id="11" name="caption2"/>
          <p:cNvSpPr/>
          <p:nvPr/>
        </p:nvSpPr>
        <p:spPr>
          <a:xfrm>
            <a:off x="1483200" y="2358000"/>
            <a:ext cx="5317200" cy="2628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caption2</a:t>
            </a:r>
          </a:p>
        </p:txBody>
      </p:sp>
      <p:sp>
        <p:nvSpPr>
          <p:cNvPr id="12" name="BL-020 labeled_block"/>
          <p:cNvSpPr/>
          <p:nvPr/>
        </p:nvSpPr>
        <p:spPr>
          <a:xfrm>
            <a:off x="720000" y="2700000"/>
            <a:ext cx="6120000" cy="1800000"/>
          </a:xfrm>
          <a:prstGeom prst="rect">
            <a:avLst/>
          </a:prstGeom>
          <a:solidFill>
            <a:srgbClr val="EFF9FF"/>
          </a:solidFill>
          <a:ln w="6350">
            <a:solidFill>
              <a:srgbClr val="006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BL-020 labeled_block 사업별 진단</a:t>
            </a:r>
          </a:p>
        </p:txBody>
      </p:sp>
      <p:sp>
        <p:nvSpPr>
          <p:cNvPr id="13" name="label-col"/>
          <p:cNvSpPr/>
          <p:nvPr/>
        </p:nvSpPr>
        <p:spPr>
          <a:xfrm>
            <a:off x="720000" y="2700000"/>
            <a:ext cx="713323" cy="1800000"/>
          </a:xfrm>
          <a:prstGeom prst="rect">
            <a:avLst/>
          </a:prstGeom>
          <a:solidFill>
            <a:srgbClr val="001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0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4" name="top_banner"/>
          <p:cNvSpPr/>
          <p:nvPr/>
        </p:nvSpPr>
        <p:spPr>
          <a:xfrm>
            <a:off x="1483200" y="2743200"/>
            <a:ext cx="5317200" cy="1836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top_banner</a:t>
            </a:r>
          </a:p>
        </p:txBody>
      </p:sp>
      <p:sp>
        <p:nvSpPr>
          <p:cNvPr id="15" name="split_header"/>
          <p:cNvSpPr/>
          <p:nvPr/>
        </p:nvSpPr>
        <p:spPr>
          <a:xfrm>
            <a:off x="1483200" y="2988000"/>
            <a:ext cx="5317200" cy="2124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split_header</a:t>
            </a:r>
          </a:p>
        </p:txBody>
      </p:sp>
      <p:sp>
        <p:nvSpPr>
          <p:cNvPr id="16" name="left_stack_expand_new"/>
          <p:cNvSpPr/>
          <p:nvPr/>
        </p:nvSpPr>
        <p:spPr>
          <a:xfrm>
            <a:off x="1483200" y="3261600"/>
            <a:ext cx="2635200" cy="12204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left_stack_expand_new</a:t>
            </a:r>
          </a:p>
        </p:txBody>
      </p:sp>
      <p:sp>
        <p:nvSpPr>
          <p:cNvPr id="17" name="right_two_step_eval"/>
          <p:cNvSpPr/>
          <p:nvPr/>
        </p:nvSpPr>
        <p:spPr>
          <a:xfrm>
            <a:off x="4147200" y="3261600"/>
            <a:ext cx="2653200" cy="12204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right_two_step_eval</a:t>
            </a:r>
          </a:p>
        </p:txBody>
      </p:sp>
      <p:sp>
        <p:nvSpPr>
          <p:cNvPr id="18" name="BL-021 labeled_block"/>
          <p:cNvSpPr/>
          <p:nvPr/>
        </p:nvSpPr>
        <p:spPr>
          <a:xfrm>
            <a:off x="720000" y="4543200"/>
            <a:ext cx="6120000" cy="759600"/>
          </a:xfrm>
          <a:prstGeom prst="rect">
            <a:avLst/>
          </a:prstGeom>
          <a:solidFill>
            <a:srgbClr val="EFF9FF"/>
          </a:solidFill>
          <a:ln w="6350">
            <a:solidFill>
              <a:srgbClr val="006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BL-021 labeled_block 사업유형 분류</a:t>
            </a:r>
          </a:p>
        </p:txBody>
      </p:sp>
      <p:sp>
        <p:nvSpPr>
          <p:cNvPr id="19" name="label-col"/>
          <p:cNvSpPr/>
          <p:nvPr/>
        </p:nvSpPr>
        <p:spPr>
          <a:xfrm>
            <a:off x="720000" y="4543200"/>
            <a:ext cx="713323" cy="759600"/>
          </a:xfrm>
          <a:prstGeom prst="rect">
            <a:avLst/>
          </a:prstGeom>
          <a:solidFill>
            <a:srgbClr val="001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0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0" name="cols3_header"/>
          <p:cNvSpPr/>
          <p:nvPr/>
        </p:nvSpPr>
        <p:spPr>
          <a:xfrm>
            <a:off x="1483200" y="4593600"/>
            <a:ext cx="5317200" cy="2268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cols3_header</a:t>
            </a:r>
          </a:p>
        </p:txBody>
      </p:sp>
      <p:sp>
        <p:nvSpPr>
          <p:cNvPr id="21" name="cols3_body"/>
          <p:cNvSpPr/>
          <p:nvPr/>
        </p:nvSpPr>
        <p:spPr>
          <a:xfrm>
            <a:off x="1483200" y="4849200"/>
            <a:ext cx="5317200" cy="4140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cols3_body</a:t>
            </a:r>
          </a:p>
        </p:txBody>
      </p:sp>
      <p:sp>
        <p:nvSpPr>
          <p:cNvPr id="22" name="BL-022 divider_chevron"/>
          <p:cNvSpPr/>
          <p:nvPr/>
        </p:nvSpPr>
        <p:spPr>
          <a:xfrm>
            <a:off x="720000" y="5364000"/>
            <a:ext cx="6120000" cy="111600"/>
          </a:xfrm>
          <a:prstGeom prst="rect">
            <a:avLst/>
          </a:prstGeom>
          <a:solidFill>
            <a:srgbClr val="BDE0FF"/>
          </a:solidFill>
          <a:ln w="6350">
            <a:solidFill>
              <a:srgbClr val="006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1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>BL-022 divider_chevron </a:t>
            </a:r>
          </a:p>
        </p:txBody>
      </p:sp>
      <p:sp>
        <p:nvSpPr>
          <p:cNvPr id="23" name="BL-023 labeled_block"/>
          <p:cNvSpPr/>
          <p:nvPr/>
        </p:nvSpPr>
        <p:spPr>
          <a:xfrm>
            <a:off x="720000" y="5565600"/>
            <a:ext cx="6120000" cy="1749600"/>
          </a:xfrm>
          <a:prstGeom prst="rect">
            <a:avLst/>
          </a:prstGeom>
          <a:solidFill>
            <a:srgbClr val="EFF9FF"/>
          </a:solidFill>
          <a:ln w="6350">
            <a:solidFill>
              <a:srgbClr val="006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BL-023 labeled_block 사업 포트폴리오 재구성</a:t>
            </a:r>
          </a:p>
        </p:txBody>
      </p:sp>
      <p:sp>
        <p:nvSpPr>
          <p:cNvPr id="24" name="label-col"/>
          <p:cNvSpPr/>
          <p:nvPr/>
        </p:nvSpPr>
        <p:spPr>
          <a:xfrm>
            <a:off x="720000" y="5565600"/>
            <a:ext cx="713323" cy="1749600"/>
          </a:xfrm>
          <a:prstGeom prst="rect">
            <a:avLst/>
          </a:prstGeom>
          <a:solidFill>
            <a:srgbClr val="001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0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5" name="scatter_before"/>
          <p:cNvSpPr/>
          <p:nvPr/>
        </p:nvSpPr>
        <p:spPr>
          <a:xfrm>
            <a:off x="1483200" y="5637600"/>
            <a:ext cx="2664000" cy="14616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scatter_before</a:t>
            </a:r>
          </a:p>
        </p:txBody>
      </p:sp>
      <p:sp>
        <p:nvSpPr>
          <p:cNvPr id="26" name="arrow"/>
          <p:cNvSpPr/>
          <p:nvPr/>
        </p:nvSpPr>
        <p:spPr>
          <a:xfrm>
            <a:off x="4071600" y="6249600"/>
            <a:ext cx="226800" cy="3060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arrow</a:t>
            </a:r>
          </a:p>
        </p:txBody>
      </p:sp>
      <p:sp>
        <p:nvSpPr>
          <p:cNvPr id="27" name="scatter_after"/>
          <p:cNvSpPr/>
          <p:nvPr/>
        </p:nvSpPr>
        <p:spPr>
          <a:xfrm>
            <a:off x="4287600" y="5637600"/>
            <a:ext cx="2530800" cy="14616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scatter_after</a:t>
            </a:r>
          </a:p>
        </p:txBody>
      </p:sp>
      <p:sp>
        <p:nvSpPr>
          <p:cNvPr id="28" name="footnote_legend"/>
          <p:cNvSpPr/>
          <p:nvPr/>
        </p:nvSpPr>
        <p:spPr>
          <a:xfrm>
            <a:off x="1483200" y="7113600"/>
            <a:ext cx="5317200" cy="1584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footnote_legend</a:t>
            </a:r>
          </a:p>
        </p:txBody>
      </p:sp>
      <p:sp>
        <p:nvSpPr>
          <p:cNvPr id="29" name="BL-024 ribbon_title"/>
          <p:cNvSpPr/>
          <p:nvPr/>
        </p:nvSpPr>
        <p:spPr>
          <a:xfrm>
            <a:off x="720000" y="7394400"/>
            <a:ext cx="6120000" cy="165600"/>
          </a:xfrm>
          <a:prstGeom prst="rect">
            <a:avLst/>
          </a:prstGeom>
          <a:solidFill>
            <a:srgbClr val="BDE0FF"/>
          </a:solidFill>
          <a:ln w="6350">
            <a:solidFill>
              <a:srgbClr val="006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1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>BL-024 ribbon_title </a:t>
            </a:r>
          </a:p>
        </p:txBody>
      </p:sp>
      <p:sp>
        <p:nvSpPr>
          <p:cNvPr id="30" name="BL-025 labeled_block"/>
          <p:cNvSpPr/>
          <p:nvPr/>
        </p:nvSpPr>
        <p:spPr>
          <a:xfrm>
            <a:off x="720000" y="7578000"/>
            <a:ext cx="6120000" cy="1047600"/>
          </a:xfrm>
          <a:prstGeom prst="rect">
            <a:avLst/>
          </a:prstGeom>
          <a:solidFill>
            <a:srgbClr val="EFF9FF"/>
          </a:solidFill>
          <a:ln w="6350">
            <a:solidFill>
              <a:srgbClr val="006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BL-025 labeled_block 중장기 재무전략</a:t>
            </a:r>
          </a:p>
        </p:txBody>
      </p:sp>
      <p:sp>
        <p:nvSpPr>
          <p:cNvPr id="31" name="label-col"/>
          <p:cNvSpPr/>
          <p:nvPr/>
        </p:nvSpPr>
        <p:spPr>
          <a:xfrm>
            <a:off x="720000" y="7578000"/>
            <a:ext cx="713323" cy="1047600"/>
          </a:xfrm>
          <a:prstGeom prst="rect">
            <a:avLst/>
          </a:prstGeom>
          <a:solidFill>
            <a:srgbClr val="001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0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2" name="stacked_bar_chart"/>
          <p:cNvSpPr/>
          <p:nvPr/>
        </p:nvSpPr>
        <p:spPr>
          <a:xfrm>
            <a:off x="1483200" y="7621200"/>
            <a:ext cx="2116800" cy="9756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stacked_bar_chart</a:t>
            </a:r>
          </a:p>
        </p:txBody>
      </p:sp>
      <p:sp>
        <p:nvSpPr>
          <p:cNvPr id="33" name="table_4rows_x3"/>
          <p:cNvSpPr/>
          <p:nvPr/>
        </p:nvSpPr>
        <p:spPr>
          <a:xfrm>
            <a:off x="3628800" y="7621200"/>
            <a:ext cx="3171600" cy="9756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table_4rows_x3</a:t>
            </a:r>
          </a:p>
        </p:txBody>
      </p:sp>
      <p:sp>
        <p:nvSpPr>
          <p:cNvPr id="34" name="BL-025 labeled_block"/>
          <p:cNvSpPr/>
          <p:nvPr/>
        </p:nvSpPr>
        <p:spPr>
          <a:xfrm>
            <a:off x="720000" y="8643600"/>
            <a:ext cx="6120000" cy="1213200"/>
          </a:xfrm>
          <a:prstGeom prst="rect">
            <a:avLst/>
          </a:prstGeom>
          <a:solidFill>
            <a:srgbClr val="EFF9FF"/>
          </a:solidFill>
          <a:ln w="6350">
            <a:solidFill>
              <a:srgbClr val="006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BL-025 labeled_block 중장기 인력운용</a:t>
            </a:r>
          </a:p>
        </p:txBody>
      </p:sp>
      <p:sp>
        <p:nvSpPr>
          <p:cNvPr id="35" name="label-col"/>
          <p:cNvSpPr/>
          <p:nvPr/>
        </p:nvSpPr>
        <p:spPr>
          <a:xfrm>
            <a:off x="720000" y="8643600"/>
            <a:ext cx="713323" cy="1213200"/>
          </a:xfrm>
          <a:prstGeom prst="rect">
            <a:avLst/>
          </a:prstGeom>
          <a:solidFill>
            <a:srgbClr val="001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700" b="0">
                <a:solidFill>
                  <a:srgbClr val="000359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6" name="stacked_bar_chart"/>
          <p:cNvSpPr/>
          <p:nvPr/>
        </p:nvSpPr>
        <p:spPr>
          <a:xfrm>
            <a:off x="1483200" y="8686800"/>
            <a:ext cx="2116800" cy="9756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stacked_bar_chart</a:t>
            </a:r>
          </a:p>
        </p:txBody>
      </p:sp>
      <p:sp>
        <p:nvSpPr>
          <p:cNvPr id="37" name="table_4rows_x3"/>
          <p:cNvSpPr/>
          <p:nvPr/>
        </p:nvSpPr>
        <p:spPr>
          <a:xfrm>
            <a:off x="3628800" y="8686800"/>
            <a:ext cx="3171600" cy="975600"/>
          </a:xfrm>
          <a:prstGeom prst="rect">
            <a:avLst/>
          </a:prstGeom>
          <a:noFill/>
          <a:ln w="6350">
            <a:solidFill>
              <a:srgbClr val="5D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000" rIns="36000" tIns="18000" bIns="18000"/>
          <a:lstStyle/>
          <a:p>
            <a:pPr algn="l"/>
            <a:r>
              <a:rPr sz="600" b="0">
                <a:solidFill>
                  <a:srgbClr val="3B4951"/>
                </a:solidFill>
                <a:latin typeface="Pretendard"/>
                <a:ea typeface="Pretendard"/>
                <a:cs typeface="Pretendard"/>
              </a:rPr>
              <a:t>table_4rows_x3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