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초안입니다. 추진성과의 점검 결과 수치는 실적 확정 후 보완합니다.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표지 바탕"/>
          <p:cNvSpPr/>
          <p:nvPr/>
        </p:nvSpPr>
        <p:spPr>
          <a:xfrm>
            <a:off x="540000" y="360000"/>
            <a:ext cx="6480000" cy="9972000"/>
          </a:xfrm>
          <a:prstGeom prst="rect">
            <a:avLst/>
          </a:prstGeom>
          <a:solidFill>
            <a:srgbClr val="E6F4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3" name="표지 일러스트" descr="표지 일러스트"/>
          <p:cNvPicPr>
            <a:picLocks noChangeAspect="1"/>
          </p:cNvPicPr>
          <p:nvPr/>
        </p:nvPicPr>
        <p:blipFill>
          <a:blip r:embed="rId2"/>
          <a:srcRect l="32472" t="0" r="0" b="0"/>
          <a:stretch>
            <a:fillRect/>
          </a:stretch>
        </p:blipFill>
        <p:spPr>
          <a:xfrm>
            <a:off x="540000" y="4932000"/>
            <a:ext cx="6480000" cy="5400000"/>
          </a:xfrm>
          <a:prstGeom prst="rect">
            <a:avLst/>
          </a:prstGeom>
        </p:spPr>
      </p:pic>
      <p:pic>
        <p:nvPicPr>
          <p:cNvPr id="4" name="KORAD CI" descr="KORAD C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0" y="648000"/>
            <a:ext cx="1944000" cy="360404"/>
          </a:xfrm>
          <a:prstGeom prst="rect">
            <a:avLst/>
          </a:prstGeom>
        </p:spPr>
      </p:pic>
      <p:sp>
        <p:nvSpPr>
          <p:cNvPr id="5" name="표지 제목"/>
          <p:cNvSpPr>
            <a:spLocks noGrp="1"/>
          </p:cNvSpPr>
          <p:nvPr>
            <p:ph type="ctrTitle"/>
          </p:nvPr>
        </p:nvSpPr>
        <p:spPr>
          <a:xfrm>
            <a:off x="756000" y="2808000"/>
            <a:ext cx="6048000" cy="2016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표지 제목</a:t>
            </a:r>
          </a:p>
        </p:txBody>
      </p:sp>
      <p:sp>
        <p:nvSpPr>
          <p:cNvPr id="6" name="표지 부제"/>
          <p:cNvSpPr>
            <a:spLocks noGrp="1"/>
          </p:cNvSpPr>
          <p:nvPr>
            <p:ph type="subTitle" idx="1"/>
          </p:nvPr>
        </p:nvSpPr>
        <p:spPr>
          <a:xfrm>
            <a:off x="756000" y="4968000"/>
            <a:ext cx="6048000" cy="792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표지 부제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지면-짝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표명"/>
          <p:cNvSpPr>
            <a:spLocks noGrp="1"/>
          </p:cNvSpPr>
          <p:nvPr>
            <p:ph type="body" sz="quarter" idx="13"/>
          </p:nvPr>
        </p:nvSpPr>
        <p:spPr>
          <a:xfrm>
            <a:off x="4857652" y="328695"/>
            <a:ext cx="2160000" cy="230400"/>
          </a:xfrm>
        </p:spPr>
        <p:txBody>
          <a:bodyPr wrap="square" lIns="0" tIns="0" rIns="0" bIns="0" anchor="b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노사관계</a:t>
            </a:r>
          </a:p>
        </p:txBody>
      </p:sp>
      <p:sp>
        <p:nvSpPr>
          <p:cNvPr id="3" name="지표명 밑줄"/>
          <p:cNvSpPr/>
          <p:nvPr/>
        </p:nvSpPr>
        <p:spPr>
          <a:xfrm>
            <a:off x="6502695" y="575217"/>
            <a:ext cx="514956" cy="108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밑줄 끝"/>
          <p:cNvSpPr/>
          <p:nvPr/>
        </p:nvSpPr>
        <p:spPr>
          <a:xfrm>
            <a:off x="6974452" y="559017"/>
            <a:ext cx="43200" cy="432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쪽 탭 빗면"/>
          <p:cNvSpPr/>
          <p:nvPr/>
        </p:nvSpPr>
        <p:spPr>
          <a:xfrm>
            <a:off x="5204347" y="10222434"/>
            <a:ext cx="504000" cy="241043"/>
          </a:xfrm>
          <a:prstGeom prst="parallelogram">
            <a:avLst>
              <a:gd name="adj" fmla="val 70000"/>
            </a:avLst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쪽 탭"/>
          <p:cNvSpPr/>
          <p:nvPr/>
        </p:nvSpPr>
        <p:spPr>
          <a:xfrm>
            <a:off x="5420347" y="10222434"/>
            <a:ext cx="1597304" cy="241043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7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47" y="10252855"/>
            <a:ext cx="972000" cy="180202"/>
          </a:xfrm>
          <a:prstGeom prst="rect">
            <a:avLst/>
          </a:prstGeom>
        </p:spPr>
      </p:pic>
      <p:sp>
        <p:nvSpPr>
          <p:cNvPr id="8" name="쪽번호"/>
          <p:cNvSpPr>
            <a:spLocks noGrp="1"/>
          </p:cNvSpPr>
          <p:nvPr>
            <p:ph type="body" sz="quarter" idx="14"/>
          </p:nvPr>
        </p:nvSpPr>
        <p:spPr>
          <a:xfrm>
            <a:off x="6585652" y="10222434"/>
            <a:ext cx="360000" cy="241043"/>
          </a:xfrm>
        </p:spPr>
        <p:txBody>
          <a:bodyPr wrap="square" lIns="0" tIns="0" rIns="0" bIns="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94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지면-홀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3"/>
    <p:sldLayoutId id="2147483654" r:id="rId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Ⅰ. 경영관리 범주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조직 운영 및 관리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2025년도 경영실적보고서</a:t>
            </a:r>
          </a:p>
        </p:txBody>
      </p:sp>
      <p:sp>
        <p:nvSpPr>
          <p:cNvPr id="7" name="번호 띠"/>
          <p:cNvSpPr/>
          <p:nvPr/>
        </p:nvSpPr>
        <p:spPr>
          <a:xfrm>
            <a:off x="536870" y="766957"/>
            <a:ext cx="6300000" cy="306783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번호 탭"/>
          <p:cNvSpPr/>
          <p:nvPr/>
        </p:nvSpPr>
        <p:spPr>
          <a:xfrm>
            <a:off x="558782" y="788869"/>
            <a:ext cx="471131" cy="262957"/>
          </a:xfrm>
          <a:custGeom>
            <a:avLst/>
            <a:gdLst/>
            <a:ahLst/>
            <a:cxnLst/>
            <a:rect l="l" t="t" r="r" b="b"/>
            <a:pathLst>
              <a:path w="471131" h="262957">
                <a:moveTo>
                  <a:pt x="0" y="0"/>
                </a:moveTo>
                <a:lnTo>
                  <a:pt x="394435" y="0"/>
                </a:lnTo>
                <a:lnTo>
                  <a:pt x="471131" y="262957"/>
                </a:lnTo>
                <a:lnTo>
                  <a:pt x="0" y="262957"/>
                </a:ln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008E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번호 탭 빗면"/>
          <p:cNvSpPr/>
          <p:nvPr/>
        </p:nvSpPr>
        <p:spPr>
          <a:xfrm>
            <a:off x="953217" y="788869"/>
            <a:ext cx="142435" cy="262957"/>
          </a:xfrm>
          <a:custGeom>
            <a:avLst/>
            <a:gdLst/>
            <a:ahLst/>
            <a:cxnLst/>
            <a:rect l="l" t="t" r="r" b="b"/>
            <a:pathLst>
              <a:path w="142435" h="262957">
                <a:moveTo>
                  <a:pt x="0" y="0"/>
                </a:moveTo>
                <a:lnTo>
                  <a:pt x="65739" y="0"/>
                </a:lnTo>
                <a:lnTo>
                  <a:pt x="142435" y="262957"/>
                </a:lnTo>
                <a:lnTo>
                  <a:pt x="76696" y="26295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번호"/>
          <p:cNvSpPr txBox="1"/>
          <p:nvPr/>
        </p:nvSpPr>
        <p:spPr>
          <a:xfrm>
            <a:off x="558783" y="766957"/>
            <a:ext cx="383478" cy="30678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11" name="번호 띠 제목"/>
          <p:cNvSpPr txBox="1"/>
          <p:nvPr/>
        </p:nvSpPr>
        <p:spPr>
          <a:xfrm>
            <a:off x="1183304" y="788870"/>
            <a:ext cx="5587826" cy="262957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판례 DB 기반 부당노동행위 정밀 예방점검 체계 구축</a:t>
            </a:r>
          </a:p>
        </p:txBody>
      </p:sp>
      <p:sp>
        <p:nvSpPr>
          <p:cNvPr id="12" name="번호 띠 칩"/>
          <p:cNvSpPr/>
          <p:nvPr/>
        </p:nvSpPr>
        <p:spPr>
          <a:xfrm>
            <a:off x="6241922" y="832696"/>
            <a:ext cx="529208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✔ 신규</a:t>
            </a:r>
          </a:p>
        </p:txBody>
      </p:sp>
      <p:sp>
        <p:nvSpPr>
          <p:cNvPr id="13" name="표 외곽"/>
          <p:cNvSpPr/>
          <p:nvPr/>
        </p:nvSpPr>
        <p:spPr>
          <a:xfrm>
            <a:off x="536870" y="1117565"/>
            <a:ext cx="6300000" cy="1788730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레일"/>
          <p:cNvSpPr/>
          <p:nvPr/>
        </p:nvSpPr>
        <p:spPr>
          <a:xfrm>
            <a:off x="547826" y="1134000"/>
            <a:ext cx="580696" cy="44373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추진배경</a:t>
            </a:r>
          </a:p>
        </p:txBody>
      </p:sp>
      <p:sp>
        <p:nvSpPr>
          <p:cNvPr id="15" name="칸 본문"/>
          <p:cNvSpPr txBox="1"/>
          <p:nvPr/>
        </p:nvSpPr>
        <p:spPr>
          <a:xfrm>
            <a:off x="1172348" y="1155913"/>
            <a:ext cx="2802130" cy="416348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복수노조 쟁점 다양화로 법령 유형별 기본 체크리스트(20여개)의 대응 한계</a:t>
            </a:r>
          </a:p>
        </p:txBody>
      </p:sp>
      <p:sp>
        <p:nvSpPr>
          <p:cNvPr id="16" name="칸 본문"/>
          <p:cNvSpPr txBox="1"/>
          <p:nvPr/>
        </p:nvSpPr>
        <p:spPr>
          <a:xfrm>
            <a:off x="3996391" y="1155913"/>
            <a:ext cx="2802130" cy="416348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신규 노무 담당자의 판단기준 학습 곤란, 사후 확인형 질문 위주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85435" y="1188783"/>
            <a:ext cx="0" cy="350608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18" name="레일"/>
          <p:cNvSpPr/>
          <p:nvPr/>
        </p:nvSpPr>
        <p:spPr>
          <a:xfrm>
            <a:off x="547826" y="1594174"/>
            <a:ext cx="580696" cy="539687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고도화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방향</a:t>
            </a:r>
          </a:p>
        </p:txBody>
      </p:sp>
      <p:sp>
        <p:nvSpPr>
          <p:cNvPr id="19" name="레일 삼각형"/>
          <p:cNvSpPr/>
          <p:nvPr/>
        </p:nvSpPr>
        <p:spPr>
          <a:xfrm>
            <a:off x="547826" y="1594173"/>
            <a:ext cx="580695" cy="131479"/>
          </a:xfrm>
          <a:custGeom>
            <a:avLst/>
            <a:gdLst/>
            <a:ahLst/>
            <a:cxnLst/>
            <a:rect l="l" t="t" r="r" b="b"/>
            <a:pathLst>
              <a:path w="580695" h="131479">
                <a:moveTo>
                  <a:pt x="0" y="0"/>
                </a:moveTo>
                <a:lnTo>
                  <a:pt x="580695" y="0"/>
                </a:lnTo>
                <a:lnTo>
                  <a:pt x="290347" y="131479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배너"/>
          <p:cNvSpPr/>
          <p:nvPr/>
        </p:nvSpPr>
        <p:spPr>
          <a:xfrm>
            <a:off x="1161391" y="1616087"/>
            <a:ext cx="5648087" cy="20817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노동위·법원 판례 DB → 사례 연계 정밀 체크리스트(250여개) → 점검·학습 겸용 예방도구</a:t>
            </a:r>
          </a:p>
        </p:txBody>
      </p:sp>
      <p:sp>
        <p:nvSpPr>
          <p:cNvPr id="21" name="레일"/>
          <p:cNvSpPr/>
          <p:nvPr/>
        </p:nvSpPr>
        <p:spPr>
          <a:xfrm>
            <a:off x="547826" y="2150296"/>
            <a:ext cx="580696" cy="739565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추진내용</a:t>
            </a:r>
          </a:p>
        </p:txBody>
      </p:sp>
      <p:sp>
        <p:nvSpPr>
          <p:cNvPr id="22" name="레일 삼각형"/>
          <p:cNvSpPr/>
          <p:nvPr/>
        </p:nvSpPr>
        <p:spPr>
          <a:xfrm>
            <a:off x="547826" y="2150295"/>
            <a:ext cx="580695" cy="131478"/>
          </a:xfrm>
          <a:custGeom>
            <a:avLst/>
            <a:gdLst/>
            <a:ahLst/>
            <a:cxnLst/>
            <a:rect l="l" t="t" r="r" b="b"/>
            <a:pathLst>
              <a:path w="580695" h="131478">
                <a:moveTo>
                  <a:pt x="0" y="0"/>
                </a:moveTo>
                <a:lnTo>
                  <a:pt x="580695" y="0"/>
                </a:lnTo>
                <a:lnTo>
                  <a:pt x="290347" y="131478"/>
                </a:lnTo>
                <a:close/>
              </a:path>
            </a:pathLst>
          </a:custGeom>
          <a:solidFill>
            <a:srgbClr val="00B0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칸 본문"/>
          <p:cNvSpPr txBox="1"/>
          <p:nvPr/>
        </p:nvSpPr>
        <p:spPr>
          <a:xfrm>
            <a:off x="1172348" y="2172209"/>
            <a:ext cx="1390109" cy="712174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① DB 구축: 노동위 결정요지 1,346건·법원 판례 304건</a:t>
            </a:r>
          </a:p>
        </p:txBody>
      </p:sp>
      <p:sp>
        <p:nvSpPr>
          <p:cNvPr id="24" name="칸 본문"/>
          <p:cNvSpPr txBox="1"/>
          <p:nvPr/>
        </p:nvSpPr>
        <p:spPr>
          <a:xfrm>
            <a:off x="2584370" y="2172209"/>
            <a:ext cx="1390109" cy="712174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② 체크리스트 확대: 세부유형 214개 + 예방점검 36문항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573413" y="2205078"/>
            <a:ext cx="0" cy="646435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6" name="칸 본문"/>
          <p:cNvSpPr txBox="1"/>
          <p:nvPr/>
        </p:nvSpPr>
        <p:spPr>
          <a:xfrm>
            <a:off x="3996391" y="2172209"/>
            <a:ext cx="1390109" cy="712174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③ 노사 공동점검: 노조 간부·노무담당 + 전문가 자문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985435" y="2205078"/>
            <a:ext cx="0" cy="646435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8" name="칸 본문"/>
          <p:cNvSpPr txBox="1"/>
          <p:nvPr/>
        </p:nvSpPr>
        <p:spPr>
          <a:xfrm>
            <a:off x="5408413" y="2172209"/>
            <a:ext cx="1390109" cy="712174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④ 집중관리: DB 통계로 빈발 분야(지배·개입 등) 우선 점검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397457" y="2205078"/>
            <a:ext cx="0" cy="646435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0" name="핵심성과 박스"/>
          <p:cNvSpPr/>
          <p:nvPr/>
        </p:nvSpPr>
        <p:spPr>
          <a:xfrm>
            <a:off x="536870" y="2993948"/>
            <a:ext cx="6300000" cy="31147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핵심성과 라벨"/>
          <p:cNvSpPr/>
          <p:nvPr/>
        </p:nvSpPr>
        <p:spPr>
          <a:xfrm>
            <a:off x="569739" y="3032296"/>
            <a:ext cx="657391" cy="234783"/>
          </a:xfrm>
          <a:prstGeom prst="homePlate">
            <a:avLst>
              <a:gd name="adj" fmla="val 28000"/>
            </a:avLst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18000" rIns="792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추진성과</a:t>
            </a:r>
          </a:p>
        </p:txBody>
      </p:sp>
      <p:sp>
        <p:nvSpPr>
          <p:cNvPr id="32" name="핵심성과 문구"/>
          <p:cNvSpPr txBox="1"/>
          <p:nvPr/>
        </p:nvSpPr>
        <p:spPr>
          <a:xfrm>
            <a:off x="1314783" y="3010383"/>
            <a:ext cx="5456348" cy="278609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20여개 → 250여개 사전 예방형 체크리스트로 신규 담당자 학습과 리스크 예방 병행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ORAD 경영평가">
      <a:dk1>
        <a:srgbClr val="000359"/>
      </a:dk1>
      <a:lt1>
        <a:srgbClr val="FFFFFF"/>
      </a:lt1>
      <a:dk2>
        <a:srgbClr val="001A7A"/>
      </a:dk2>
      <a:lt2>
        <a:srgbClr val="E6F4FF"/>
      </a:lt2>
      <a:accent1>
        <a:srgbClr val="008EFF"/>
      </a:accent1>
      <a:accent2>
        <a:srgbClr val="00A4A8"/>
      </a:accent2>
      <a:accent3>
        <a:srgbClr val="0051BC"/>
      </a:accent3>
      <a:accent4>
        <a:srgbClr val="30C2FF"/>
      </a:accent4>
      <a:accent5>
        <a:srgbClr val="00BE83"/>
      </a:accent5>
      <a:accent6>
        <a:srgbClr val="FBAE40"/>
      </a:accent6>
      <a:hlink>
        <a:srgbClr val="0061DE"/>
      </a:hlink>
      <a:folHlink>
        <a:srgbClr val="5D7280"/>
      </a:folHlink>
    </a:clrScheme>
    <a:fontScheme name="Pretendard">
      <a:majorFont>
        <a:latin typeface="Pretendard"/>
        <a:ea typeface="Pretendard"/>
        <a:cs typeface=""/>
        <a:font script="Jpan" typeface="ＭＳ Ｐゴシック"/>
        <a:font script="Hang" typeface="Pretendard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retendard"/>
        <a:ea typeface="Pretendard"/>
        <a:cs typeface=""/>
        <a:font script="Jpan" typeface="ＭＳ Ｐゴシック"/>
        <a:font script="Hang" typeface="Pretendard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