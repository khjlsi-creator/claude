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지면-짝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지면-홀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93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장 제목 띠"/>
          <p:cNvSpPr/>
          <p:nvPr/>
        </p:nvSpPr>
        <p:spPr>
          <a:xfrm>
            <a:off x="536870" y="766957"/>
            <a:ext cx="6300000" cy="421826"/>
          </a:xfrm>
          <a:prstGeom prst="rect">
            <a:avLst/>
          </a:prstGeom>
          <a:solidFill>
            <a:srgbClr val="FFFF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I 칸"/>
          <p:cNvSpPr/>
          <p:nvPr/>
        </p:nvSpPr>
        <p:spPr>
          <a:xfrm>
            <a:off x="5401565" y="772435"/>
            <a:ext cx="1429826" cy="41087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장 제목"/>
          <p:cNvSpPr txBox="1"/>
          <p:nvPr/>
        </p:nvSpPr>
        <p:spPr>
          <a:xfrm>
            <a:off x="810783" y="777913"/>
            <a:ext cx="4590783" cy="399913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spc="-90" dirty="0">
                <a:solidFill>
                  <a:srgbClr val="000359"/>
                </a:solidFill>
                <a:latin typeface="Pretendard"/>
                <a:ea typeface="Pretendard"/>
              </a:rPr>
              <a:t>Ⅲ. 2025년도 추진실적 및 성과</a:t>
            </a:r>
          </a:p>
        </p:txBody>
      </p:sp>
      <p:pic>
        <p:nvPicPr>
          <p:cNvPr id="10" name="KORAD CI" descr="korad-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22" y="870213"/>
            <a:ext cx="1161391" cy="215314"/>
          </a:xfrm>
          <a:prstGeom prst="rect">
            <a:avLst/>
          </a:prstGeom>
        </p:spPr>
      </p:pic>
      <p:sp>
        <p:nvSpPr>
          <p:cNvPr id="11" name="평가내용 라벨"/>
          <p:cNvSpPr/>
          <p:nvPr/>
        </p:nvSpPr>
        <p:spPr>
          <a:xfrm>
            <a:off x="536870" y="1342174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2" name="평가내용 제목 박스"/>
          <p:cNvSpPr/>
          <p:nvPr/>
        </p:nvSpPr>
        <p:spPr>
          <a:xfrm>
            <a:off x="1522957" y="1353130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평가내용 제목"/>
          <p:cNvSpPr txBox="1"/>
          <p:nvPr/>
        </p:nvSpPr>
        <p:spPr>
          <a:xfrm>
            <a:off x="1632522" y="1364087"/>
            <a:ext cx="5127652" cy="553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 등이 상호 협력과 참여에 기반하여 합리적이고 적법하게 이루어지고 있는지 여부</a:t>
            </a:r>
          </a:p>
        </p:txBody>
      </p:sp>
      <p:sp>
        <p:nvSpPr>
          <p:cNvPr id="14" name="점"/>
          <p:cNvSpPr/>
          <p:nvPr/>
        </p:nvSpPr>
        <p:spPr>
          <a:xfrm>
            <a:off x="871043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947739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024435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101130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점"/>
          <p:cNvSpPr/>
          <p:nvPr/>
        </p:nvSpPr>
        <p:spPr>
          <a:xfrm>
            <a:off x="1177826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번호 띠"/>
          <p:cNvSpPr/>
          <p:nvPr/>
        </p:nvSpPr>
        <p:spPr>
          <a:xfrm>
            <a:off x="536870" y="2081739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번호 탭"/>
          <p:cNvSpPr/>
          <p:nvPr/>
        </p:nvSpPr>
        <p:spPr>
          <a:xfrm>
            <a:off x="558782" y="2103652"/>
            <a:ext cx="471131" cy="262956"/>
          </a:xfrm>
          <a:custGeom>
            <a:avLst/>
            <a:gdLst/>
            <a:ahLst/>
            <a:cxnLst/>
            <a:rect l="l" t="t" r="r" b="b"/>
            <a:pathLst>
              <a:path w="471131" h="262956">
                <a:moveTo>
                  <a:pt x="0" y="0"/>
                </a:moveTo>
                <a:lnTo>
                  <a:pt x="394435" y="0"/>
                </a:lnTo>
                <a:lnTo>
                  <a:pt x="471131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탭 빗면"/>
          <p:cNvSpPr/>
          <p:nvPr/>
        </p:nvSpPr>
        <p:spPr>
          <a:xfrm>
            <a:off x="953217" y="2103652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6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번호"/>
          <p:cNvSpPr txBox="1"/>
          <p:nvPr/>
        </p:nvSpPr>
        <p:spPr>
          <a:xfrm>
            <a:off x="558783" y="2081739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3" name="번호 띠 제목"/>
          <p:cNvSpPr txBox="1"/>
          <p:nvPr/>
        </p:nvSpPr>
        <p:spPr>
          <a:xfrm>
            <a:off x="1183304" y="2103652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상생 협력적인 노사관계 구축과 협력체계 운영</a:t>
            </a:r>
          </a:p>
        </p:txBody>
      </p:sp>
      <p:sp>
        <p:nvSpPr>
          <p:cNvPr id="24" name="형광 밑줄"/>
          <p:cNvSpPr/>
          <p:nvPr/>
        </p:nvSpPr>
        <p:spPr>
          <a:xfrm>
            <a:off x="536870" y="2662435"/>
            <a:ext cx="3107267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소제목"/>
          <p:cNvSpPr txBox="1"/>
          <p:nvPr/>
        </p:nvSpPr>
        <p:spPr>
          <a:xfrm>
            <a:off x="536870" y="250904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상생 협력적 노사관계 운영 전략 수립과 과제 도출</a:t>
            </a:r>
          </a:p>
        </p:txBody>
      </p:sp>
      <p:sp>
        <p:nvSpPr>
          <p:cNvPr id="26" name="표 외곽"/>
          <p:cNvSpPr/>
          <p:nvPr/>
        </p:nvSpPr>
        <p:spPr>
          <a:xfrm>
            <a:off x="536870" y="2793913"/>
            <a:ext cx="6300000" cy="226346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레일"/>
          <p:cNvSpPr/>
          <p:nvPr/>
        </p:nvSpPr>
        <p:spPr>
          <a:xfrm>
            <a:off x="547826" y="2810348"/>
            <a:ext cx="580696" cy="85188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8" name="머리칸"/>
          <p:cNvSpPr/>
          <p:nvPr/>
        </p:nvSpPr>
        <p:spPr>
          <a:xfrm>
            <a:off x="1161391" y="2832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9" name="머리칸"/>
          <p:cNvSpPr/>
          <p:nvPr/>
        </p:nvSpPr>
        <p:spPr>
          <a:xfrm>
            <a:off x="3985435" y="2832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내부여건</a:t>
            </a:r>
          </a:p>
        </p:txBody>
      </p:sp>
      <p:sp>
        <p:nvSpPr>
          <p:cNvPr id="30" name="칸 본문"/>
          <p:cNvSpPr txBox="1"/>
          <p:nvPr/>
        </p:nvSpPr>
        <p:spPr>
          <a:xfrm>
            <a:off x="1172348" y="3073304"/>
            <a:ext cx="2802130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노동존중 실현, 노동기본권 보장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노동조합법 개정, 노사협력·역량 강화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 개정 등 저출산 해결 노력</a:t>
            </a:r>
          </a:p>
        </p:txBody>
      </p:sp>
      <p:sp>
        <p:nvSpPr>
          <p:cNvPr id="31" name="칸 본문"/>
          <p:cNvSpPr txBox="1"/>
          <p:nvPr/>
        </p:nvSpPr>
        <p:spPr>
          <a:xfrm>
            <a:off x="3996391" y="3073304"/>
            <a:ext cx="2802130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등 취약직종 처우개선 노력 요구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 등 현안해결 소통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근로환경 개선 요구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85435" y="3106174"/>
            <a:ext cx="0" cy="50127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레일"/>
          <p:cNvSpPr/>
          <p:nvPr/>
        </p:nvSpPr>
        <p:spPr>
          <a:xfrm>
            <a:off x="547826" y="3678668"/>
            <a:ext cx="580696" cy="65739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34" name="레일 쐐기"/>
          <p:cNvSpPr/>
          <p:nvPr/>
        </p:nvSpPr>
        <p:spPr>
          <a:xfrm>
            <a:off x="547826" y="3678667"/>
            <a:ext cx="580695" cy="142435"/>
          </a:xfrm>
          <a:custGeom>
            <a:avLst/>
            <a:gdLst/>
            <a:ahLst/>
            <a:cxnLst/>
            <a:rect l="l" t="t" r="r" b="b"/>
            <a:pathLst>
              <a:path w="580695" h="142435">
                <a:moveTo>
                  <a:pt x="0" y="0"/>
                </a:moveTo>
                <a:lnTo>
                  <a:pt x="580695" y="0"/>
                </a:lnTo>
                <a:lnTo>
                  <a:pt x="290347" y="142435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태그"/>
          <p:cNvSpPr/>
          <p:nvPr/>
        </p:nvSpPr>
        <p:spPr>
          <a:xfrm>
            <a:off x="1161391" y="3722494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</p:txBody>
      </p:sp>
      <p:sp>
        <p:nvSpPr>
          <p:cNvPr id="36" name="태그 설명"/>
          <p:cNvSpPr txBox="1"/>
          <p:nvPr/>
        </p:nvSpPr>
        <p:spPr>
          <a:xfrm>
            <a:off x="2145304" y="3711537"/>
            <a:ext cx="4664174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 협력적 노사관계 확산을 위한 노사협의체 운영과 내실화 추진</a:t>
            </a:r>
          </a:p>
        </p:txBody>
      </p:sp>
      <p:sp>
        <p:nvSpPr>
          <p:cNvPr id="37" name="태그"/>
          <p:cNvSpPr/>
          <p:nvPr/>
        </p:nvSpPr>
        <p:spPr>
          <a:xfrm>
            <a:off x="1161391" y="3919711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강화</a:t>
            </a:r>
          </a:p>
        </p:txBody>
      </p:sp>
      <p:sp>
        <p:nvSpPr>
          <p:cNvPr id="38" name="태그 설명"/>
          <p:cNvSpPr txBox="1"/>
          <p:nvPr/>
        </p:nvSpPr>
        <p:spPr>
          <a:xfrm>
            <a:off x="2145304" y="3908755"/>
            <a:ext cx="4664174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발전이라는 공동 목표를 수행하는 동반자로서 긍정의 노사관계 강화</a:t>
            </a:r>
          </a:p>
        </p:txBody>
      </p:sp>
      <p:sp>
        <p:nvSpPr>
          <p:cNvPr id="39" name="태그"/>
          <p:cNvSpPr/>
          <p:nvPr/>
        </p:nvSpPr>
        <p:spPr>
          <a:xfrm>
            <a:off x="1161391" y="4116929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</a:t>
            </a:r>
          </a:p>
        </p:txBody>
      </p:sp>
      <p:sp>
        <p:nvSpPr>
          <p:cNvPr id="40" name="태그 설명"/>
          <p:cNvSpPr txBox="1"/>
          <p:nvPr/>
        </p:nvSpPr>
        <p:spPr>
          <a:xfrm>
            <a:off x="2145304" y="4105972"/>
            <a:ext cx="4664174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근로자의 노동 존중 실현과 복리후생제도 개선 등 근로환경 개선 추진</a:t>
            </a:r>
          </a:p>
        </p:txBody>
      </p:sp>
      <p:sp>
        <p:nvSpPr>
          <p:cNvPr id="41" name="레일"/>
          <p:cNvSpPr/>
          <p:nvPr/>
        </p:nvSpPr>
        <p:spPr>
          <a:xfrm>
            <a:off x="547826" y="4352494"/>
            <a:ext cx="580696" cy="688445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협력체계</a:t>
            </a:r>
          </a:p>
        </p:txBody>
      </p:sp>
      <p:sp>
        <p:nvSpPr>
          <p:cNvPr id="42" name="레일 쐐기"/>
          <p:cNvSpPr/>
          <p:nvPr/>
        </p:nvSpPr>
        <p:spPr>
          <a:xfrm>
            <a:off x="547826" y="4352493"/>
            <a:ext cx="580695" cy="142435"/>
          </a:xfrm>
          <a:custGeom>
            <a:avLst/>
            <a:gdLst/>
            <a:ahLst/>
            <a:cxnLst/>
            <a:rect l="l" t="t" r="r" b="b"/>
            <a:pathLst>
              <a:path w="580695" h="142435">
                <a:moveTo>
                  <a:pt x="0" y="0"/>
                </a:moveTo>
                <a:lnTo>
                  <a:pt x="580695" y="0"/>
                </a:lnTo>
                <a:lnTo>
                  <a:pt x="290347" y="142435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단계"/>
          <p:cNvSpPr/>
          <p:nvPr/>
        </p:nvSpPr>
        <p:spPr>
          <a:xfrm>
            <a:off x="1161391" y="4374407"/>
            <a:ext cx="1948435" cy="230087"/>
          </a:xfrm>
          <a:prstGeom prst="homePlate">
            <a:avLst>
              <a:gd name="adj" fmla="val 30000"/>
            </a:avLst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운영기반 마련</a:t>
            </a:r>
          </a:p>
        </p:txBody>
      </p:sp>
      <p:sp>
        <p:nvSpPr>
          <p:cNvPr id="44" name="단계"/>
          <p:cNvSpPr/>
          <p:nvPr/>
        </p:nvSpPr>
        <p:spPr>
          <a:xfrm>
            <a:off x="2978348" y="4374407"/>
            <a:ext cx="2014174" cy="230087"/>
          </a:xfrm>
          <a:prstGeom prst="chevron">
            <a:avLst>
              <a:gd name="adj" fmla="val 30000"/>
            </a:avLst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소통채널을 통한 과제설정</a:t>
            </a:r>
          </a:p>
        </p:txBody>
      </p:sp>
      <p:sp>
        <p:nvSpPr>
          <p:cNvPr id="45" name="단계"/>
          <p:cNvSpPr/>
          <p:nvPr/>
        </p:nvSpPr>
        <p:spPr>
          <a:xfrm>
            <a:off x="4861043" y="4374407"/>
            <a:ext cx="1948435" cy="230087"/>
          </a:xfrm>
          <a:prstGeom prst="chevron">
            <a:avLst>
              <a:gd name="adj" fmla="val 30000"/>
            </a:avLst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및 성과점검</a:t>
            </a:r>
          </a:p>
        </p:txBody>
      </p:sp>
      <p:sp>
        <p:nvSpPr>
          <p:cNvPr id="46" name="칸 본문"/>
          <p:cNvSpPr txBox="1"/>
          <p:nvPr/>
        </p:nvSpPr>
        <p:spPr>
          <a:xfrm>
            <a:off x="1172348" y="462640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성과지수 설문조사·분석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결과물 부재 등 요인 파악</a:t>
            </a:r>
          </a:p>
        </p:txBody>
      </p:sp>
      <p:sp>
        <p:nvSpPr>
          <p:cNvPr id="47" name="칸 본문"/>
          <p:cNvSpPr txBox="1"/>
          <p:nvPr/>
        </p:nvSpPr>
        <p:spPr>
          <a:xfrm>
            <a:off x="3055043" y="462640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소통으로 추진방향·과제 설정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044087" y="465927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칸 본문"/>
          <p:cNvSpPr txBox="1"/>
          <p:nvPr/>
        </p:nvSpPr>
        <p:spPr>
          <a:xfrm>
            <a:off x="4937739" y="462640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노사협력으로 과제 적극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 점검 등 환류체계 제도화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26783" y="465927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1" name="연결 막대"/>
          <p:cNvSpPr/>
          <p:nvPr/>
        </p:nvSpPr>
        <p:spPr>
          <a:xfrm>
            <a:off x="1698261" y="5084765"/>
            <a:ext cx="4601739" cy="3287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연결 끝"/>
          <p:cNvSpPr/>
          <p:nvPr/>
        </p:nvSpPr>
        <p:spPr>
          <a:xfrm>
            <a:off x="1698261" y="5084765"/>
            <a:ext cx="27391" cy="7669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연결 끝"/>
          <p:cNvSpPr/>
          <p:nvPr/>
        </p:nvSpPr>
        <p:spPr>
          <a:xfrm>
            <a:off x="6272609" y="5084765"/>
            <a:ext cx="27391" cy="7669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연결 화살표"/>
          <p:cNvSpPr/>
          <p:nvPr/>
        </p:nvSpPr>
        <p:spPr>
          <a:xfrm>
            <a:off x="3889565" y="5101200"/>
            <a:ext cx="219130" cy="169826"/>
          </a:xfrm>
          <a:prstGeom prst="downArrow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라벨 박스"/>
          <p:cNvSpPr/>
          <p:nvPr/>
        </p:nvSpPr>
        <p:spPr>
          <a:xfrm>
            <a:off x="536870" y="5325809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레일"/>
          <p:cNvSpPr/>
          <p:nvPr/>
        </p:nvSpPr>
        <p:spPr>
          <a:xfrm>
            <a:off x="547826" y="5336765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57" name="강조 바"/>
          <p:cNvSpPr/>
          <p:nvPr/>
        </p:nvSpPr>
        <p:spPr>
          <a:xfrm>
            <a:off x="1172348" y="5358678"/>
            <a:ext cx="5631652" cy="22917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강조 바 글"/>
          <p:cNvSpPr txBox="1"/>
          <p:nvPr/>
        </p:nvSpPr>
        <p:spPr>
          <a:xfrm>
            <a:off x="1172348" y="5358678"/>
            <a:ext cx="5631652" cy="22917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신뢰를 바탕으로 한 노사 파트너십 강화와 상생 협력적인 노사관계 확산</a:t>
            </a:r>
          </a:p>
        </p:txBody>
      </p:sp>
      <p:sp>
        <p:nvSpPr>
          <p:cNvPr id="59" name="라벨 박스"/>
          <p:cNvSpPr/>
          <p:nvPr/>
        </p:nvSpPr>
        <p:spPr>
          <a:xfrm>
            <a:off x="536870" y="5675510"/>
            <a:ext cx="6300000" cy="447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레일"/>
          <p:cNvSpPr/>
          <p:nvPr/>
        </p:nvSpPr>
        <p:spPr>
          <a:xfrm>
            <a:off x="547826" y="5686466"/>
            <a:ext cx="591652" cy="425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방향</a:t>
            </a:r>
          </a:p>
        </p:txBody>
      </p:sp>
      <p:sp>
        <p:nvSpPr>
          <p:cNvPr id="61" name="가운데 글"/>
          <p:cNvSpPr txBox="1"/>
          <p:nvPr/>
        </p:nvSpPr>
        <p:spPr>
          <a:xfrm>
            <a:off x="1172348" y="5691944"/>
            <a:ext cx="1877217" cy="414532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운영으로 리스크 해결</a:t>
            </a:r>
          </a:p>
        </p:txBody>
      </p:sp>
      <p:sp>
        <p:nvSpPr>
          <p:cNvPr id="62" name="가운데 글"/>
          <p:cNvSpPr txBox="1"/>
          <p:nvPr/>
        </p:nvSpPr>
        <p:spPr>
          <a:xfrm>
            <a:off x="3049565" y="5691944"/>
            <a:ext cx="1877217" cy="414532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 및 긍정문화 조성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049565" y="5730292"/>
            <a:ext cx="0" cy="337837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64" name="가운데 글"/>
          <p:cNvSpPr txBox="1"/>
          <p:nvPr/>
        </p:nvSpPr>
        <p:spPr>
          <a:xfrm>
            <a:off x="4926783" y="5691944"/>
            <a:ext cx="1877217" cy="414532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 노력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926783" y="5730292"/>
            <a:ext cx="0" cy="337837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66" name="라벨 박스"/>
          <p:cNvSpPr/>
          <p:nvPr/>
        </p:nvSpPr>
        <p:spPr>
          <a:xfrm>
            <a:off x="536870" y="6177694"/>
            <a:ext cx="6300000" cy="64371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레일"/>
          <p:cNvSpPr/>
          <p:nvPr/>
        </p:nvSpPr>
        <p:spPr>
          <a:xfrm>
            <a:off x="547826" y="6188650"/>
            <a:ext cx="591652" cy="62179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68" name="칸 본문"/>
          <p:cNvSpPr txBox="1"/>
          <p:nvPr/>
        </p:nvSpPr>
        <p:spPr>
          <a:xfrm>
            <a:off x="1183304" y="6194129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노사협의체(정기·상시)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선임·현안문제 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적법성 자체점검 실시</a:t>
            </a:r>
          </a:p>
        </p:txBody>
      </p:sp>
      <p:sp>
        <p:nvSpPr>
          <p:cNvPr id="69" name="칸 본문"/>
          <p:cNvSpPr txBox="1"/>
          <p:nvPr/>
        </p:nvSpPr>
        <p:spPr>
          <a:xfrm>
            <a:off x="3060522" y="6194129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소통·협력 프로그램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긍정 노사관계 구축·정착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역량강화 교육·학습협의체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049565" y="6226998"/>
            <a:ext cx="0" cy="54510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1" name="칸 본문"/>
          <p:cNvSpPr txBox="1"/>
          <p:nvPr/>
        </p:nvSpPr>
        <p:spPr>
          <a:xfrm>
            <a:off x="4937739" y="6194129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임금·단체협약 개정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교통직·실무직 처우개선 추진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개선 등 근로환경 개선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926783" y="6226998"/>
            <a:ext cx="0" cy="54510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3" name="라벨 박스"/>
          <p:cNvSpPr/>
          <p:nvPr/>
        </p:nvSpPr>
        <p:spPr>
          <a:xfrm>
            <a:off x="536870" y="6876188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레일"/>
          <p:cNvSpPr/>
          <p:nvPr/>
        </p:nvSpPr>
        <p:spPr>
          <a:xfrm>
            <a:off x="547826" y="6887144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 채널</a:t>
            </a:r>
          </a:p>
        </p:txBody>
      </p:sp>
      <p:sp>
        <p:nvSpPr>
          <p:cNvPr id="75" name="칸 본문"/>
          <p:cNvSpPr txBox="1"/>
          <p:nvPr/>
        </p:nvSpPr>
        <p:spPr>
          <a:xfrm>
            <a:off x="1183304" y="6892623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노사협의회·분임협의회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라운드테이블 등</a:t>
            </a:r>
          </a:p>
        </p:txBody>
      </p:sp>
      <p:sp>
        <p:nvSpPr>
          <p:cNvPr id="76" name="칸 본문"/>
          <p:cNvSpPr txBox="1"/>
          <p:nvPr/>
        </p:nvSpPr>
        <p:spPr>
          <a:xfrm>
            <a:off x="3060522" y="6892623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데일리미팅·전략회의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상생의 달 행사 등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049565" y="6925492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8" name="칸 본문"/>
          <p:cNvSpPr txBox="1"/>
          <p:nvPr/>
        </p:nvSpPr>
        <p:spPr>
          <a:xfrm>
            <a:off x="4937739" y="6892623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추진단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TF·안전위원회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926783" y="6925492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0" name="라벨 박스"/>
          <p:cNvSpPr/>
          <p:nvPr/>
        </p:nvSpPr>
        <p:spPr>
          <a:xfrm>
            <a:off x="536870" y="7400285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레일"/>
          <p:cNvSpPr/>
          <p:nvPr/>
        </p:nvSpPr>
        <p:spPr>
          <a:xfrm>
            <a:off x="547826" y="7411242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성과지표</a:t>
            </a:r>
          </a:p>
        </p:txBody>
      </p:sp>
      <p:sp>
        <p:nvSpPr>
          <p:cNvPr id="82" name="칸 본문"/>
          <p:cNvSpPr txBox="1"/>
          <p:nvPr/>
        </p:nvSpPr>
        <p:spPr>
          <a:xfrm>
            <a:off x="1183304" y="7416720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안건 일치율</a:t>
            </a:r>
          </a:p>
        </p:txBody>
      </p:sp>
      <p:sp>
        <p:nvSpPr>
          <p:cNvPr id="83" name="칸 본문"/>
          <p:cNvSpPr txBox="1"/>
          <p:nvPr/>
        </p:nvSpPr>
        <p:spPr>
          <a:xfrm>
            <a:off x="3060522" y="7416720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노사소통지수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노사역량지수 설문조사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049565" y="7449590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5" name="칸 본문"/>
          <p:cNvSpPr txBox="1"/>
          <p:nvPr/>
        </p:nvSpPr>
        <p:spPr>
          <a:xfrm>
            <a:off x="4937739" y="7416720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설문조사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926783" y="7449590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7" name="형광 밑줄"/>
          <p:cNvSpPr/>
          <p:nvPr/>
        </p:nvSpPr>
        <p:spPr>
          <a:xfrm>
            <a:off x="536870" y="8143513"/>
            <a:ext cx="407233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소제목"/>
          <p:cNvSpPr txBox="1"/>
          <p:nvPr/>
        </p:nvSpPr>
        <p:spPr>
          <a:xfrm>
            <a:off x="536870" y="7990122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노사협력체계 운영을 통한 소통·공동 대응으로 분야별 리스크 관리</a:t>
            </a:r>
          </a:p>
        </p:txBody>
      </p:sp>
      <p:sp>
        <p:nvSpPr>
          <p:cNvPr id="89" name="태그칩"/>
          <p:cNvSpPr/>
          <p:nvPr/>
        </p:nvSpPr>
        <p:spPr>
          <a:xfrm>
            <a:off x="4707817" y="8022991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신규·강화</a:t>
            </a:r>
          </a:p>
        </p:txBody>
      </p:sp>
      <p:sp>
        <p:nvSpPr>
          <p:cNvPr id="90" name="패널 외곽"/>
          <p:cNvSpPr/>
          <p:nvPr/>
        </p:nvSpPr>
        <p:spPr>
          <a:xfrm>
            <a:off x="536870" y="8285948"/>
            <a:ext cx="3125348" cy="159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패널 머리"/>
          <p:cNvSpPr/>
          <p:nvPr/>
        </p:nvSpPr>
        <p:spPr>
          <a:xfrm>
            <a:off x="536870" y="8285948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92" name="레일"/>
          <p:cNvSpPr/>
          <p:nvPr/>
        </p:nvSpPr>
        <p:spPr>
          <a:xfrm>
            <a:off x="569739" y="8559861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노사협의회</a:t>
            </a:r>
          </a:p>
        </p:txBody>
      </p:sp>
      <p:sp>
        <p:nvSpPr>
          <p:cNvPr id="93" name="패널 본문"/>
          <p:cNvSpPr txBox="1"/>
          <p:nvPr/>
        </p:nvSpPr>
        <p:spPr>
          <a:xfrm>
            <a:off x="1243565" y="8548904"/>
            <a:ext cx="2385783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4회·24건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자기개발휴직 등 매뉴얼 수립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243565" y="8985350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5" name="레일"/>
          <p:cNvSpPr/>
          <p:nvPr/>
        </p:nvSpPr>
        <p:spPr>
          <a:xfrm>
            <a:off x="569739" y="8996306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인사고충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심의회</a:t>
            </a:r>
          </a:p>
        </p:txBody>
      </p:sp>
      <p:sp>
        <p:nvSpPr>
          <p:cNvPr id="96" name="패널 본문"/>
          <p:cNvSpPr txBox="1"/>
          <p:nvPr/>
        </p:nvSpPr>
        <p:spPr>
          <a:xfrm>
            <a:off x="1243565" y="8985350"/>
            <a:ext cx="2385783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반기별 2회, 87명 심의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13명 인용, 9명 발령 조치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243565" y="9421795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8" name="레일"/>
          <p:cNvSpPr/>
          <p:nvPr/>
        </p:nvSpPr>
        <p:spPr>
          <a:xfrm>
            <a:off x="569739" y="9432751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99" name="패널 본문"/>
          <p:cNvSpPr txBox="1"/>
          <p:nvPr/>
        </p:nvSpPr>
        <p:spPr>
          <a:xfrm>
            <a:off x="1243565" y="9421795"/>
            <a:ext cx="2385783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3회·11건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석면제거·정신건강 예산 확보</a:t>
            </a:r>
          </a:p>
        </p:txBody>
      </p:sp>
      <p:sp>
        <p:nvSpPr>
          <p:cNvPr id="100" name="패널 외곽"/>
          <p:cNvSpPr/>
          <p:nvPr/>
        </p:nvSpPr>
        <p:spPr>
          <a:xfrm>
            <a:off x="3711522" y="8285948"/>
            <a:ext cx="3125348" cy="159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패널 머리"/>
          <p:cNvSpPr/>
          <p:nvPr/>
        </p:nvSpPr>
        <p:spPr>
          <a:xfrm>
            <a:off x="3711522" y="8285948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102" name="레일"/>
          <p:cNvSpPr/>
          <p:nvPr/>
        </p:nvSpPr>
        <p:spPr>
          <a:xfrm>
            <a:off x="3744391" y="8559861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처우개선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추진단</a:t>
            </a:r>
          </a:p>
        </p:txBody>
      </p:sp>
      <p:sp>
        <p:nvSpPr>
          <p:cNvPr id="103" name="패널 본문"/>
          <p:cNvSpPr txBox="1"/>
          <p:nvPr/>
        </p:nvSpPr>
        <p:spPr>
          <a:xfrm>
            <a:off x="4599000" y="8548904"/>
            <a:ext cx="2205000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개최(5회)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자체성과급 신설 등 도출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599000" y="8985350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5" name="레일"/>
          <p:cNvSpPr/>
          <p:nvPr/>
        </p:nvSpPr>
        <p:spPr>
          <a:xfrm>
            <a:off x="3744391" y="8996306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106" name="패널 본문"/>
          <p:cNvSpPr txBox="1"/>
          <p:nvPr/>
        </p:nvSpPr>
        <p:spPr>
          <a:xfrm>
            <a:off x="4599000" y="8985350"/>
            <a:ext cx="2205000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 개최(4회)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사택 에어컨·출산축하금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4599000" y="9421795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8" name="레일"/>
          <p:cNvSpPr/>
          <p:nvPr/>
        </p:nvSpPr>
        <p:spPr>
          <a:xfrm>
            <a:off x="3744391" y="9432751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사내근로복지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기금 협의회</a:t>
            </a:r>
          </a:p>
        </p:txBody>
      </p:sp>
      <p:sp>
        <p:nvSpPr>
          <p:cNvPr id="109" name="패널 본문"/>
          <p:cNvSpPr txBox="1"/>
          <p:nvPr/>
        </p:nvSpPr>
        <p:spPr>
          <a:xfrm>
            <a:off x="4599000" y="9421795"/>
            <a:ext cx="2205000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사내기금 운용 개최(3회)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장례지원서비스 범위 확대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94</a:t>
            </a:r>
          </a:p>
        </p:txBody>
      </p:sp>
      <p:sp>
        <p:nvSpPr>
          <p:cNvPr id="4" name="패널 외곽"/>
          <p:cNvSpPr/>
          <p:nvPr/>
        </p:nvSpPr>
        <p:spPr>
          <a:xfrm>
            <a:off x="723130" y="777913"/>
            <a:ext cx="3125348" cy="721315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패널 머리"/>
          <p:cNvSpPr/>
          <p:nvPr/>
        </p:nvSpPr>
        <p:spPr>
          <a:xfrm>
            <a:off x="723130" y="777913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6" name="레일"/>
          <p:cNvSpPr/>
          <p:nvPr/>
        </p:nvSpPr>
        <p:spPr>
          <a:xfrm>
            <a:off x="756000" y="1051826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혁신성장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전략회의</a:t>
            </a:r>
          </a:p>
        </p:txBody>
      </p:sp>
      <p:sp>
        <p:nvSpPr>
          <p:cNvPr id="7" name="패널 본문"/>
          <p:cNvSpPr txBox="1"/>
          <p:nvPr/>
        </p:nvSpPr>
        <p:spPr>
          <a:xfrm>
            <a:off x="1429826" y="1040870"/>
            <a:ext cx="2385783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매주 금요일 개최(37회)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경영현황·성과공유·현안 점검</a:t>
            </a:r>
          </a:p>
        </p:txBody>
      </p:sp>
      <p:sp>
        <p:nvSpPr>
          <p:cNvPr id="8" name="패널 외곽"/>
          <p:cNvSpPr/>
          <p:nvPr/>
        </p:nvSpPr>
        <p:spPr>
          <a:xfrm>
            <a:off x="3897783" y="777913"/>
            <a:ext cx="3125348" cy="721315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패널 머리"/>
          <p:cNvSpPr/>
          <p:nvPr/>
        </p:nvSpPr>
        <p:spPr>
          <a:xfrm>
            <a:off x="3897783" y="777913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10" name="레일"/>
          <p:cNvSpPr/>
          <p:nvPr/>
        </p:nvSpPr>
        <p:spPr>
          <a:xfrm>
            <a:off x="3930652" y="1051826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통상임금 TF</a:t>
            </a:r>
          </a:p>
        </p:txBody>
      </p:sp>
      <p:sp>
        <p:nvSpPr>
          <p:cNvPr id="11" name="패널 본문"/>
          <p:cNvSpPr txBox="1"/>
          <p:nvPr/>
        </p:nvSpPr>
        <p:spPr>
          <a:xfrm>
            <a:off x="4785261" y="1040870"/>
            <a:ext cx="2205000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 킥오프('25.12월)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성과급 등 리스크 집중 관리</a:t>
            </a:r>
          </a:p>
        </p:txBody>
      </p:sp>
      <p:sp>
        <p:nvSpPr>
          <p:cNvPr id="12" name="핵심성과 박스"/>
          <p:cNvSpPr/>
          <p:nvPr/>
        </p:nvSpPr>
        <p:spPr>
          <a:xfrm>
            <a:off x="723130" y="1586880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핵심성과 라벨"/>
          <p:cNvSpPr/>
          <p:nvPr/>
        </p:nvSpPr>
        <p:spPr>
          <a:xfrm>
            <a:off x="756000" y="1625228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14" name="핵심성과 문구"/>
          <p:cNvSpPr txBox="1"/>
          <p:nvPr/>
        </p:nvSpPr>
        <p:spPr>
          <a:xfrm>
            <a:off x="1501043" y="1603315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  <p:sp>
        <p:nvSpPr>
          <p:cNvPr id="15" name="번호 띠"/>
          <p:cNvSpPr/>
          <p:nvPr/>
        </p:nvSpPr>
        <p:spPr>
          <a:xfrm>
            <a:off x="723130" y="204079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번호 탭"/>
          <p:cNvSpPr/>
          <p:nvPr/>
        </p:nvSpPr>
        <p:spPr>
          <a:xfrm>
            <a:off x="745043" y="206270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탭 빗면"/>
          <p:cNvSpPr/>
          <p:nvPr/>
        </p:nvSpPr>
        <p:spPr>
          <a:xfrm>
            <a:off x="1139478" y="206270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번호"/>
          <p:cNvSpPr txBox="1"/>
          <p:nvPr/>
        </p:nvSpPr>
        <p:spPr>
          <a:xfrm>
            <a:off x="745043" y="2040793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9" name="번호 띠 제목"/>
          <p:cNvSpPr txBox="1"/>
          <p:nvPr/>
        </p:nvSpPr>
        <p:spPr>
          <a:xfrm>
            <a:off x="1369565" y="2062706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상호협력과 참여 기반 현안문제 해결과 합리적 노사관계 운영 성과</a:t>
            </a:r>
          </a:p>
        </p:txBody>
      </p:sp>
      <p:sp>
        <p:nvSpPr>
          <p:cNvPr id="20" name="형광 밑줄"/>
          <p:cNvSpPr/>
          <p:nvPr/>
        </p:nvSpPr>
        <p:spPr>
          <a:xfrm>
            <a:off x="723130" y="2621489"/>
            <a:ext cx="3133612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소제목"/>
          <p:cNvSpPr txBox="1"/>
          <p:nvPr/>
        </p:nvSpPr>
        <p:spPr>
          <a:xfrm>
            <a:off x="723130" y="246809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라운드테이블로 운전면허 적성검사 연말집중 해소</a:t>
            </a:r>
          </a:p>
        </p:txBody>
      </p:sp>
      <p:sp>
        <p:nvSpPr>
          <p:cNvPr id="22" name="태그칩"/>
          <p:cNvSpPr/>
          <p:nvPr/>
        </p:nvSpPr>
        <p:spPr>
          <a:xfrm>
            <a:off x="3955351" y="2500967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23" name="표 외곽"/>
          <p:cNvSpPr/>
          <p:nvPr/>
        </p:nvSpPr>
        <p:spPr>
          <a:xfrm>
            <a:off x="723130" y="2752967"/>
            <a:ext cx="4716783" cy="218404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레일"/>
          <p:cNvSpPr/>
          <p:nvPr/>
        </p:nvSpPr>
        <p:spPr>
          <a:xfrm>
            <a:off x="734087" y="2769402"/>
            <a:ext cx="580696" cy="43644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25" name="본문"/>
          <p:cNvSpPr txBox="1"/>
          <p:nvPr/>
        </p:nvSpPr>
        <p:spPr>
          <a:xfrm>
            <a:off x="1347652" y="2791315"/>
            <a:ext cx="406487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매년 운전면허 적성검사 갱신 민원인 연말집중 현상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민원 집중에 따른 초과근무 등 직원 근로환경 저하</a:t>
            </a:r>
          </a:p>
        </p:txBody>
      </p:sp>
      <p:sp>
        <p:nvSpPr>
          <p:cNvPr id="26" name="레일"/>
          <p:cNvSpPr/>
          <p:nvPr/>
        </p:nvSpPr>
        <p:spPr>
          <a:xfrm>
            <a:off x="734087" y="3222282"/>
            <a:ext cx="580696" cy="84092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27" name="머리칸"/>
          <p:cNvSpPr/>
          <p:nvPr/>
        </p:nvSpPr>
        <p:spPr>
          <a:xfrm>
            <a:off x="1347652" y="3244195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28" name="머리칸"/>
          <p:cNvSpPr/>
          <p:nvPr/>
        </p:nvSpPr>
        <p:spPr>
          <a:xfrm>
            <a:off x="3380087" y="3244195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29" name="칸 본문"/>
          <p:cNvSpPr txBox="1"/>
          <p:nvPr/>
        </p:nvSpPr>
        <p:spPr>
          <a:xfrm>
            <a:off x="1358609" y="3485238"/>
            <a:ext cx="2010522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민원에 따른 직원 근로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필요</a:t>
            </a:r>
          </a:p>
        </p:txBody>
      </p:sp>
      <p:sp>
        <p:nvSpPr>
          <p:cNvPr id="30" name="칸 본문"/>
          <p:cNvSpPr txBox="1"/>
          <p:nvPr/>
        </p:nvSpPr>
        <p:spPr>
          <a:xfrm>
            <a:off x="3391043" y="3485238"/>
            <a:ext cx="2010522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선택에 따른 민원 집중 불가피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동의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80087" y="3518108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레일"/>
          <p:cNvSpPr/>
          <p:nvPr/>
        </p:nvSpPr>
        <p:spPr>
          <a:xfrm>
            <a:off x="734087" y="4079645"/>
            <a:ext cx="580696" cy="84092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33" name="단계"/>
          <p:cNvSpPr/>
          <p:nvPr/>
        </p:nvSpPr>
        <p:spPr>
          <a:xfrm>
            <a:off x="1347652" y="4101558"/>
            <a:ext cx="1081957" cy="230087"/>
          </a:xfrm>
          <a:prstGeom prst="homePlate">
            <a:avLst>
              <a:gd name="adj" fmla="val 30000"/>
            </a:avLst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대토론회 개최</a:t>
            </a:r>
          </a:p>
        </p:txBody>
      </p:sp>
      <p:sp>
        <p:nvSpPr>
          <p:cNvPr id="34" name="단계"/>
          <p:cNvSpPr/>
          <p:nvPr/>
        </p:nvSpPr>
        <p:spPr>
          <a:xfrm>
            <a:off x="2298130" y="4101558"/>
            <a:ext cx="1147696" cy="230087"/>
          </a:xfrm>
          <a:prstGeom prst="chevron">
            <a:avLst>
              <a:gd name="adj" fmla="val 30000"/>
            </a:avLst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35" name="단계"/>
          <p:cNvSpPr/>
          <p:nvPr/>
        </p:nvSpPr>
        <p:spPr>
          <a:xfrm>
            <a:off x="3314348" y="4101558"/>
            <a:ext cx="1147696" cy="230087"/>
          </a:xfrm>
          <a:prstGeom prst="chevron">
            <a:avLst>
              <a:gd name="adj" fmla="val 30000"/>
            </a:avLst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극복노력</a:t>
            </a:r>
          </a:p>
        </p:txBody>
      </p:sp>
      <p:sp>
        <p:nvSpPr>
          <p:cNvPr id="36" name="단계"/>
          <p:cNvSpPr/>
          <p:nvPr/>
        </p:nvSpPr>
        <p:spPr>
          <a:xfrm>
            <a:off x="4330565" y="4101558"/>
            <a:ext cx="1081957" cy="230087"/>
          </a:xfrm>
          <a:prstGeom prst="chevron">
            <a:avLst>
              <a:gd name="adj" fmla="val 30000"/>
            </a:avLst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해결안 도출</a:t>
            </a:r>
          </a:p>
        </p:txBody>
      </p:sp>
      <p:sp>
        <p:nvSpPr>
          <p:cNvPr id="37" name="칸 본문"/>
          <p:cNvSpPr txBox="1"/>
          <p:nvPr/>
        </p:nvSpPr>
        <p:spPr>
          <a:xfrm>
            <a:off x="1358609" y="4353558"/>
            <a:ext cx="994304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이사장·노조위원장 등 참여</a:t>
            </a:r>
          </a:p>
        </p:txBody>
      </p:sp>
      <p:sp>
        <p:nvSpPr>
          <p:cNvPr id="38" name="칸 본문"/>
          <p:cNvSpPr txBox="1"/>
          <p:nvPr/>
        </p:nvSpPr>
        <p:spPr>
          <a:xfrm>
            <a:off x="2374826" y="4353558"/>
            <a:ext cx="994304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연단위 갱신 기간 민원 집중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363870" y="4386428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0" name="칸 본문"/>
          <p:cNvSpPr txBox="1"/>
          <p:nvPr/>
        </p:nvSpPr>
        <p:spPr>
          <a:xfrm>
            <a:off x="3391043" y="4353558"/>
            <a:ext cx="994304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경찰청·국회와 원인해결 논의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380087" y="4386428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2" name="칸 본문"/>
          <p:cNvSpPr txBox="1"/>
          <p:nvPr/>
        </p:nvSpPr>
        <p:spPr>
          <a:xfrm>
            <a:off x="4407261" y="4353558"/>
            <a:ext cx="994304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생일 전후 ±6개월 법령개정안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96304" y="4386428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4" name="성과 화살표"/>
          <p:cNvSpPr/>
          <p:nvPr/>
        </p:nvSpPr>
        <p:spPr>
          <a:xfrm>
            <a:off x="5461826" y="3724466"/>
            <a:ext cx="153391" cy="241043"/>
          </a:xfrm>
          <a:prstGeom prst="rightArrow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성과 패널 머리"/>
          <p:cNvSpPr/>
          <p:nvPr/>
        </p:nvSpPr>
        <p:spPr>
          <a:xfrm>
            <a:off x="5637130" y="2752967"/>
            <a:ext cx="1386000" cy="241043"/>
          </a:xfrm>
          <a:prstGeom prst="rect">
            <a:avLst/>
          </a:prstGeom>
          <a:solidFill>
            <a:srgbClr val="008C6B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6" name="성과 패널"/>
          <p:cNvSpPr/>
          <p:nvPr/>
        </p:nvSpPr>
        <p:spPr>
          <a:xfrm>
            <a:off x="5637130" y="3004967"/>
            <a:ext cx="1386000" cy="1932042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성과 패널 본문"/>
          <p:cNvSpPr txBox="1"/>
          <p:nvPr/>
        </p:nvSpPr>
        <p:spPr>
          <a:xfrm>
            <a:off x="5659043" y="3026880"/>
            <a:ext cx="1342174" cy="1888216"/>
          </a:xfrm>
          <a:prstGeom prst="rect">
            <a:avLst/>
          </a:prstGeom>
          <a:noFill/>
        </p:spPr>
        <p:txBody>
          <a:bodyPr wrap="square" lIns="54000" tIns="18000" rIns="36000" bIns="180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적성검사 기간을 생일 전후 ±6개월로 변경하는 법령안 통과('26.1.1. 시행)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 집중민원 해소로 직원 근로환경 향상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연말 방문 민원인 약 48% 감소 기대</a:t>
            </a:r>
          </a:p>
        </p:txBody>
      </p:sp>
      <p:sp>
        <p:nvSpPr>
          <p:cNvPr id="48" name="형광 밑줄"/>
          <p:cNvSpPr/>
          <p:nvPr/>
        </p:nvSpPr>
        <p:spPr>
          <a:xfrm>
            <a:off x="723130" y="5210922"/>
            <a:ext cx="311106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소제목"/>
          <p:cNvSpPr txBox="1"/>
          <p:nvPr/>
        </p:nvSpPr>
        <p:spPr>
          <a:xfrm>
            <a:off x="723130" y="5057530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근로자 경영참여로 협력 강화, 노동이사 추천 완료</a:t>
            </a:r>
          </a:p>
        </p:txBody>
      </p:sp>
      <p:sp>
        <p:nvSpPr>
          <p:cNvPr id="50" name="태그칩"/>
          <p:cNvSpPr/>
          <p:nvPr/>
        </p:nvSpPr>
        <p:spPr>
          <a:xfrm>
            <a:off x="3932802" y="5090400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51" name="표 외곽"/>
          <p:cNvSpPr/>
          <p:nvPr/>
        </p:nvSpPr>
        <p:spPr>
          <a:xfrm>
            <a:off x="723130" y="5342400"/>
            <a:ext cx="6300000" cy="223973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레일"/>
          <p:cNvSpPr/>
          <p:nvPr/>
        </p:nvSpPr>
        <p:spPr>
          <a:xfrm>
            <a:off x="734087" y="5358835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그 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53" name="머리칸"/>
          <p:cNvSpPr/>
          <p:nvPr/>
        </p:nvSpPr>
        <p:spPr>
          <a:xfrm>
            <a:off x="1347652" y="538074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공감대 형성</a:t>
            </a:r>
          </a:p>
        </p:txBody>
      </p:sp>
      <p:sp>
        <p:nvSpPr>
          <p:cNvPr id="54" name="머리칸"/>
          <p:cNvSpPr/>
          <p:nvPr/>
        </p:nvSpPr>
        <p:spPr>
          <a:xfrm>
            <a:off x="4171696" y="538074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시행을 위한 규정 수립</a:t>
            </a:r>
          </a:p>
        </p:txBody>
      </p:sp>
      <p:sp>
        <p:nvSpPr>
          <p:cNvPr id="55" name="칸 본문"/>
          <p:cNvSpPr txBox="1"/>
          <p:nvPr/>
        </p:nvSpPr>
        <p:spPr>
          <a:xfrm>
            <a:off x="1358609" y="5621791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사업수행에 심층적 이해를 가진 노동이사를 선임하여 노사 협력 강화 공감대 형성</a:t>
            </a:r>
          </a:p>
        </p:txBody>
      </p:sp>
      <p:sp>
        <p:nvSpPr>
          <p:cNvPr id="56" name="칸 본문"/>
          <p:cNvSpPr txBox="1"/>
          <p:nvPr/>
        </p:nvSpPr>
        <p:spPr>
          <a:xfrm>
            <a:off x="4182652" y="5621791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정관 제9조 '근로자 대표 추천 또는 과반수 동의를 받은 1명을 비상임이사로 포함'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71696" y="5654661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8" name="레일"/>
          <p:cNvSpPr/>
          <p:nvPr/>
        </p:nvSpPr>
        <p:spPr>
          <a:xfrm>
            <a:off x="734087" y="6041802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상세화</a:t>
            </a:r>
          </a:p>
        </p:txBody>
      </p:sp>
      <p:sp>
        <p:nvSpPr>
          <p:cNvPr id="59" name="머리칸"/>
          <p:cNvSpPr/>
          <p:nvPr/>
        </p:nvSpPr>
        <p:spPr>
          <a:xfrm>
            <a:off x="1347652" y="606371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 의지 명문화(단체협약 제60조)</a:t>
            </a:r>
          </a:p>
        </p:txBody>
      </p:sp>
      <p:sp>
        <p:nvSpPr>
          <p:cNvPr id="60" name="머리칸"/>
          <p:cNvSpPr/>
          <p:nvPr/>
        </p:nvSpPr>
        <p:spPr>
          <a:xfrm>
            <a:off x="4171696" y="606371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 역량 강화 지원</a:t>
            </a:r>
          </a:p>
        </p:txBody>
      </p:sp>
      <p:sp>
        <p:nvSpPr>
          <p:cNvPr id="61" name="칸 본문"/>
          <p:cNvSpPr txBox="1"/>
          <p:nvPr/>
        </p:nvSpPr>
        <p:spPr>
          <a:xfrm>
            <a:off x="1358609" y="6304758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노동이사제의 적극 시행과 직무 수행 지원, 불이익 처분 및 대우 금지 등 조항 마련</a:t>
            </a:r>
          </a:p>
        </p:txBody>
      </p:sp>
      <p:sp>
        <p:nvSpPr>
          <p:cNvPr id="62" name="칸 본문"/>
          <p:cNvSpPr txBox="1"/>
          <p:nvPr/>
        </p:nvSpPr>
        <p:spPr>
          <a:xfrm>
            <a:off x="4182652" y="6304758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 시 업무수행·역량강화를 위한 교육과정 지원 및 소통채널 운영 협의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171696" y="6337628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4" name="레일"/>
          <p:cNvSpPr/>
          <p:nvPr/>
        </p:nvSpPr>
        <p:spPr>
          <a:xfrm>
            <a:off x="734087" y="6724769"/>
            <a:ext cx="580696" cy="84092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</p:txBody>
      </p:sp>
      <p:sp>
        <p:nvSpPr>
          <p:cNvPr id="65" name="단계"/>
          <p:cNvSpPr/>
          <p:nvPr/>
        </p:nvSpPr>
        <p:spPr>
          <a:xfrm>
            <a:off x="1347652" y="6746682"/>
            <a:ext cx="1477761" cy="230087"/>
          </a:xfrm>
          <a:prstGeom prst="homePlate">
            <a:avLst>
              <a:gd name="adj" fmla="val 30000"/>
            </a:avLst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구성</a:t>
            </a:r>
          </a:p>
        </p:txBody>
      </p:sp>
      <p:sp>
        <p:nvSpPr>
          <p:cNvPr id="66" name="단계"/>
          <p:cNvSpPr/>
          <p:nvPr/>
        </p:nvSpPr>
        <p:spPr>
          <a:xfrm>
            <a:off x="2693935" y="6746682"/>
            <a:ext cx="1543500" cy="230087"/>
          </a:xfrm>
          <a:prstGeom prst="chevron">
            <a:avLst>
              <a:gd name="adj" fmla="val 30000"/>
            </a:avLst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</a:t>
            </a:r>
          </a:p>
        </p:txBody>
      </p:sp>
      <p:sp>
        <p:nvSpPr>
          <p:cNvPr id="67" name="단계"/>
          <p:cNvSpPr/>
          <p:nvPr/>
        </p:nvSpPr>
        <p:spPr>
          <a:xfrm>
            <a:off x="4105957" y="6746682"/>
            <a:ext cx="1543500" cy="230087"/>
          </a:xfrm>
          <a:prstGeom prst="chevron">
            <a:avLst>
              <a:gd name="adj" fmla="val 30000"/>
            </a:avLst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심사</a:t>
            </a:r>
          </a:p>
        </p:txBody>
      </p:sp>
      <p:sp>
        <p:nvSpPr>
          <p:cNvPr id="68" name="단계"/>
          <p:cNvSpPr/>
          <p:nvPr/>
        </p:nvSpPr>
        <p:spPr>
          <a:xfrm>
            <a:off x="5517978" y="6746682"/>
            <a:ext cx="1477761" cy="230087"/>
          </a:xfrm>
          <a:prstGeom prst="chevron">
            <a:avLst>
              <a:gd name="adj" fmla="val 30000"/>
            </a:avLst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노동이사 임명</a:t>
            </a:r>
          </a:p>
        </p:txBody>
      </p:sp>
      <p:sp>
        <p:nvSpPr>
          <p:cNvPr id="69" name="칸 본문"/>
          <p:cNvSpPr txBox="1"/>
          <p:nvPr/>
        </p:nvSpPr>
        <p:spPr>
          <a:xfrm>
            <a:off x="1358609" y="6998682"/>
            <a:ext cx="1390109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추천 공모, 추천위원회 구성('25.11.25.)</a:t>
            </a:r>
          </a:p>
        </p:txBody>
      </p:sp>
      <p:sp>
        <p:nvSpPr>
          <p:cNvPr id="70" name="칸 본문"/>
          <p:cNvSpPr txBox="1"/>
          <p:nvPr/>
        </p:nvSpPr>
        <p:spPr>
          <a:xfrm>
            <a:off x="2770630" y="6998682"/>
            <a:ext cx="1390109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노동조합→노동이사 적합 후보자 추천 완료('26.1.5.)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759674" y="703155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2" name="칸 본문"/>
          <p:cNvSpPr txBox="1"/>
          <p:nvPr/>
        </p:nvSpPr>
        <p:spPr>
          <a:xfrm>
            <a:off x="4182652" y="6998682"/>
            <a:ext cx="1390109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후보자 추천위원회 심사 실시('26.1.13.)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171696" y="703155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4" name="칸 본문"/>
          <p:cNvSpPr txBox="1"/>
          <p:nvPr/>
        </p:nvSpPr>
        <p:spPr>
          <a:xfrm>
            <a:off x="5594674" y="6998682"/>
            <a:ext cx="1390109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최종 추천 후보자 경찰청장 임명('26. 상반기)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583717" y="703155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6" name="핵심성과 박스"/>
          <p:cNvSpPr/>
          <p:nvPr/>
        </p:nvSpPr>
        <p:spPr>
          <a:xfrm>
            <a:off x="723130" y="7669784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핵심성과 라벨"/>
          <p:cNvSpPr/>
          <p:nvPr/>
        </p:nvSpPr>
        <p:spPr>
          <a:xfrm>
            <a:off x="756000" y="7708132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78" name="핵심성과 문구"/>
          <p:cNvSpPr txBox="1"/>
          <p:nvPr/>
        </p:nvSpPr>
        <p:spPr>
          <a:xfrm>
            <a:off x="1501043" y="7686219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3여 년 노력 끝에 노동이사 추천 완료('26. 상반기 선임 예정)</a:t>
            </a:r>
          </a:p>
        </p:txBody>
      </p:sp>
      <p:sp>
        <p:nvSpPr>
          <p:cNvPr id="79" name="형광 밑줄"/>
          <p:cNvSpPr/>
          <p:nvPr/>
        </p:nvSpPr>
        <p:spPr>
          <a:xfrm>
            <a:off x="723130" y="8255176"/>
            <a:ext cx="340241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소제목"/>
          <p:cNvSpPr txBox="1"/>
          <p:nvPr/>
        </p:nvSpPr>
        <p:spPr>
          <a:xfrm>
            <a:off x="723130" y="8101784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노동관계 법령·지침 100% 준수한 노사관계 제도 운영</a:t>
            </a:r>
          </a:p>
        </p:txBody>
      </p:sp>
      <p:sp>
        <p:nvSpPr>
          <p:cNvPr id="81" name="태그칩"/>
          <p:cNvSpPr/>
          <p:nvPr/>
        </p:nvSpPr>
        <p:spPr>
          <a:xfrm>
            <a:off x="4224152" y="8134654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82" name="라벨 박스"/>
          <p:cNvSpPr/>
          <p:nvPr/>
        </p:nvSpPr>
        <p:spPr>
          <a:xfrm>
            <a:off x="723130" y="8397610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레일"/>
          <p:cNvSpPr/>
          <p:nvPr/>
        </p:nvSpPr>
        <p:spPr>
          <a:xfrm>
            <a:off x="734087" y="8408567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84" name="본문"/>
          <p:cNvSpPr txBox="1"/>
          <p:nvPr/>
        </p:nvSpPr>
        <p:spPr>
          <a:xfrm>
            <a:off x="1358609" y="8414045"/>
            <a:ext cx="5631652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원칙 기반 노사관계 제도 운영의 연속성 확보를 위한 관련 법률·지침 적법성 점검</a:t>
            </a:r>
          </a:p>
        </p:txBody>
      </p:sp>
      <p:sp>
        <p:nvSpPr>
          <p:cNvPr id="85" name="라벨 박스"/>
          <p:cNvSpPr/>
          <p:nvPr/>
        </p:nvSpPr>
        <p:spPr>
          <a:xfrm>
            <a:off x="723130" y="8742741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레일"/>
          <p:cNvSpPr/>
          <p:nvPr/>
        </p:nvSpPr>
        <p:spPr>
          <a:xfrm>
            <a:off x="734087" y="8753697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점검방법</a:t>
            </a:r>
          </a:p>
        </p:txBody>
      </p:sp>
      <p:sp>
        <p:nvSpPr>
          <p:cNvPr id="87" name="가운데 글"/>
          <p:cNvSpPr txBox="1"/>
          <p:nvPr/>
        </p:nvSpPr>
        <p:spPr>
          <a:xfrm>
            <a:off x="1358609" y="8759176"/>
            <a:ext cx="5631652" cy="26204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및 사내 법무팀을 활용한 노사관계 운영 적법성 자체점검 실시*</a:t>
            </a:r>
          </a:p>
        </p:txBody>
      </p:sp>
      <p:sp>
        <p:nvSpPr>
          <p:cNvPr id="88" name="주석"/>
          <p:cNvSpPr txBox="1"/>
          <p:nvPr/>
        </p:nvSpPr>
        <p:spPr>
          <a:xfrm>
            <a:off x="2366609" y="9070529"/>
            <a:ext cx="4656522" cy="175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3B4951"/>
                </a:solidFill>
                <a:latin typeface="Pretendard"/>
                <a:ea typeface="Pretendard"/>
              </a:rPr>
              <a:t>* 인적자원개발 우수기관 지정에 따른 근로감독 정기점검 면제('24~'27)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95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라벨 박스"/>
          <p:cNvSpPr/>
          <p:nvPr/>
        </p:nvSpPr>
        <p:spPr>
          <a:xfrm>
            <a:off x="536870" y="766957"/>
            <a:ext cx="6300000" cy="699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레일"/>
          <p:cNvSpPr/>
          <p:nvPr/>
        </p:nvSpPr>
        <p:spPr>
          <a:xfrm>
            <a:off x="547826" y="777913"/>
            <a:ext cx="591652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점검항목</a:t>
            </a:r>
          </a:p>
        </p:txBody>
      </p:sp>
      <p:sp>
        <p:nvSpPr>
          <p:cNvPr id="9" name="머리칸"/>
          <p:cNvSpPr/>
          <p:nvPr/>
        </p:nvSpPr>
        <p:spPr>
          <a:xfrm>
            <a:off x="1172348" y="794348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 및 노동관계조정법</a:t>
            </a:r>
          </a:p>
        </p:txBody>
      </p:sp>
      <p:sp>
        <p:nvSpPr>
          <p:cNvPr id="10" name="머리칸"/>
          <p:cNvSpPr/>
          <p:nvPr/>
        </p:nvSpPr>
        <p:spPr>
          <a:xfrm>
            <a:off x="3049565" y="794348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근로자참여·협력증진법</a:t>
            </a:r>
          </a:p>
        </p:txBody>
      </p:sp>
      <p:sp>
        <p:nvSpPr>
          <p:cNvPr id="11" name="머리칸"/>
          <p:cNvSpPr/>
          <p:nvPr/>
        </p:nvSpPr>
        <p:spPr>
          <a:xfrm>
            <a:off x="4926783" y="794348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혁신지침·예산운용지침</a:t>
            </a:r>
          </a:p>
        </p:txBody>
      </p:sp>
      <p:sp>
        <p:nvSpPr>
          <p:cNvPr id="12" name="칸 본문"/>
          <p:cNvSpPr txBox="1"/>
          <p:nvPr/>
        </p:nvSpPr>
        <p:spPr>
          <a:xfrm>
            <a:off x="1183304" y="1035391"/>
            <a:ext cx="1855304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근로시간면제자 제도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범위 및 단일화 적법성</a:t>
            </a:r>
          </a:p>
        </p:txBody>
      </p:sp>
      <p:sp>
        <p:nvSpPr>
          <p:cNvPr id="13" name="칸 본문"/>
          <p:cNvSpPr txBox="1"/>
          <p:nvPr/>
        </p:nvSpPr>
        <p:spPr>
          <a:xfrm>
            <a:off x="3060522" y="1035391"/>
            <a:ext cx="1855304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구성·운영 적법성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규정·회의록 작성·비치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9565" y="1068261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5" name="칸 본문"/>
          <p:cNvSpPr txBox="1"/>
          <p:nvPr/>
        </p:nvSpPr>
        <p:spPr>
          <a:xfrm>
            <a:off x="4937739" y="1035391"/>
            <a:ext cx="1855304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관련 지침에 따른 복리후생제도 운영의 적법성 여부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6783" y="1068261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7" name="라벨 박스"/>
          <p:cNvSpPr/>
          <p:nvPr/>
        </p:nvSpPr>
        <p:spPr>
          <a:xfrm>
            <a:off x="536870" y="1521141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레일"/>
          <p:cNvSpPr/>
          <p:nvPr/>
        </p:nvSpPr>
        <p:spPr>
          <a:xfrm>
            <a:off x="547826" y="1532097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점검결과</a:t>
            </a:r>
          </a:p>
        </p:txBody>
      </p:sp>
      <p:sp>
        <p:nvSpPr>
          <p:cNvPr id="19" name="칸 본문"/>
          <p:cNvSpPr txBox="1"/>
          <p:nvPr/>
        </p:nvSpPr>
        <p:spPr>
          <a:xfrm>
            <a:off x="1183304" y="1537576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면제시간 법정범위 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단체교섭 단일화 절차 준수</a:t>
            </a:r>
          </a:p>
        </p:txBody>
      </p:sp>
      <p:sp>
        <p:nvSpPr>
          <p:cNvPr id="20" name="칸 본문"/>
          <p:cNvSpPr txBox="1"/>
          <p:nvPr/>
        </p:nvSpPr>
        <p:spPr>
          <a:xfrm>
            <a:off x="3060522" y="1537576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각 8인, 분기별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규정 제출·회의록 공시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49565" y="1570445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2" name="칸 본문"/>
          <p:cNvSpPr txBox="1"/>
          <p:nvPr/>
        </p:nvSpPr>
        <p:spPr>
          <a:xfrm>
            <a:off x="4937739" y="1537576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복리후생제도 점검 체크리스트 60개 항목 → 100% 준수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26783" y="1570445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핵심성과 박스"/>
          <p:cNvSpPr/>
          <p:nvPr/>
        </p:nvSpPr>
        <p:spPr>
          <a:xfrm>
            <a:off x="536870" y="2078108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핵심성과 라벨"/>
          <p:cNvSpPr/>
          <p:nvPr/>
        </p:nvSpPr>
        <p:spPr>
          <a:xfrm>
            <a:off x="569739" y="2110977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26" name="핵심성과 문구"/>
          <p:cNvSpPr txBox="1"/>
          <p:nvPr/>
        </p:nvSpPr>
        <p:spPr>
          <a:xfrm>
            <a:off x="1314783" y="2100021"/>
            <a:ext cx="5456348" cy="480522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협력으로 적성검사 갱신 연말집중 해소 및 노동이사 선임 등 현안문제 해결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노동관계 법령·정부지침 100% 준수 등 법과 원칙에 기반한 노사관계 제도 운영</a:t>
            </a:r>
          </a:p>
        </p:txBody>
      </p:sp>
      <p:sp>
        <p:nvSpPr>
          <p:cNvPr id="27" name="평가내용 라벨"/>
          <p:cNvSpPr/>
          <p:nvPr/>
        </p:nvSpPr>
        <p:spPr>
          <a:xfrm>
            <a:off x="536870" y="2755847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8" name="평가내용 제목 박스"/>
          <p:cNvSpPr/>
          <p:nvPr/>
        </p:nvSpPr>
        <p:spPr>
          <a:xfrm>
            <a:off x="1522957" y="2766803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평가내용 제목"/>
          <p:cNvSpPr txBox="1"/>
          <p:nvPr/>
        </p:nvSpPr>
        <p:spPr>
          <a:xfrm>
            <a:off x="1632522" y="2777760"/>
            <a:ext cx="5127652" cy="553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안전보건 관리체계가 법령에 맞게 구축되고 중대재해 예방에 실질적으로 작동하는지 여부</a:t>
            </a:r>
          </a:p>
        </p:txBody>
      </p:sp>
      <p:sp>
        <p:nvSpPr>
          <p:cNvPr id="30" name="점"/>
          <p:cNvSpPr/>
          <p:nvPr/>
        </p:nvSpPr>
        <p:spPr>
          <a:xfrm>
            <a:off x="871043" y="3292717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점"/>
          <p:cNvSpPr/>
          <p:nvPr/>
        </p:nvSpPr>
        <p:spPr>
          <a:xfrm>
            <a:off x="947739" y="3292717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점"/>
          <p:cNvSpPr/>
          <p:nvPr/>
        </p:nvSpPr>
        <p:spPr>
          <a:xfrm>
            <a:off x="1024435" y="3292717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점"/>
          <p:cNvSpPr/>
          <p:nvPr/>
        </p:nvSpPr>
        <p:spPr>
          <a:xfrm>
            <a:off x="1101130" y="3292717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점"/>
          <p:cNvSpPr/>
          <p:nvPr/>
        </p:nvSpPr>
        <p:spPr>
          <a:xfrm>
            <a:off x="1177826" y="3292717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번호 띠"/>
          <p:cNvSpPr/>
          <p:nvPr/>
        </p:nvSpPr>
        <p:spPr>
          <a:xfrm>
            <a:off x="536870" y="3495412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번호 탭"/>
          <p:cNvSpPr/>
          <p:nvPr/>
        </p:nvSpPr>
        <p:spPr>
          <a:xfrm>
            <a:off x="558782" y="3517325"/>
            <a:ext cx="471131" cy="262956"/>
          </a:xfrm>
          <a:custGeom>
            <a:avLst/>
            <a:gdLst/>
            <a:ahLst/>
            <a:cxnLst/>
            <a:rect l="l" t="t" r="r" b="b"/>
            <a:pathLst>
              <a:path w="471131" h="262956">
                <a:moveTo>
                  <a:pt x="0" y="0"/>
                </a:moveTo>
                <a:lnTo>
                  <a:pt x="394435" y="0"/>
                </a:lnTo>
                <a:lnTo>
                  <a:pt x="471131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번호 탭 빗면"/>
          <p:cNvSpPr/>
          <p:nvPr/>
        </p:nvSpPr>
        <p:spPr>
          <a:xfrm>
            <a:off x="953217" y="3517325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6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번호"/>
          <p:cNvSpPr txBox="1"/>
          <p:nvPr/>
        </p:nvSpPr>
        <p:spPr>
          <a:xfrm>
            <a:off x="558783" y="3495412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39" name="번호 띠 제목"/>
          <p:cNvSpPr txBox="1"/>
          <p:nvPr/>
        </p:nvSpPr>
        <p:spPr>
          <a:xfrm>
            <a:off x="1183304" y="3517325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현장 중심 안전보건 관리체계 고도화</a:t>
            </a:r>
          </a:p>
        </p:txBody>
      </p:sp>
      <p:sp>
        <p:nvSpPr>
          <p:cNvPr id="40" name="형광 밑줄"/>
          <p:cNvSpPr/>
          <p:nvPr/>
        </p:nvSpPr>
        <p:spPr>
          <a:xfrm>
            <a:off x="536870" y="4076108"/>
            <a:ext cx="2510126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소제목"/>
          <p:cNvSpPr txBox="1"/>
          <p:nvPr/>
        </p:nvSpPr>
        <p:spPr>
          <a:xfrm>
            <a:off x="536870" y="392271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사고 원인분석에 기반한 예방 대책 수립</a:t>
            </a:r>
          </a:p>
        </p:txBody>
      </p:sp>
      <p:sp>
        <p:nvSpPr>
          <p:cNvPr id="42" name="태그칩"/>
          <p:cNvSpPr/>
          <p:nvPr/>
        </p:nvSpPr>
        <p:spPr>
          <a:xfrm>
            <a:off x="3145604" y="395558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43" name="표 외곽"/>
          <p:cNvSpPr/>
          <p:nvPr/>
        </p:nvSpPr>
        <p:spPr>
          <a:xfrm>
            <a:off x="536870" y="4207586"/>
            <a:ext cx="6300000" cy="185716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레일"/>
          <p:cNvSpPr/>
          <p:nvPr/>
        </p:nvSpPr>
        <p:spPr>
          <a:xfrm>
            <a:off x="547826" y="4224021"/>
            <a:ext cx="580696" cy="43644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45" name="본문"/>
          <p:cNvSpPr txBox="1"/>
          <p:nvPr/>
        </p:nvSpPr>
        <p:spPr>
          <a:xfrm>
            <a:off x="1161391" y="4245934"/>
            <a:ext cx="5648087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최근 3년 현장 작업 중 협착·추락 사고 12건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외주 근로자 비중 높은 사업장에서 위험요인 점검 사각 확인</a:t>
            </a:r>
          </a:p>
        </p:txBody>
      </p:sp>
      <p:sp>
        <p:nvSpPr>
          <p:cNvPr id="46" name="레일"/>
          <p:cNvSpPr/>
          <p:nvPr/>
        </p:nvSpPr>
        <p:spPr>
          <a:xfrm>
            <a:off x="547826" y="4676901"/>
            <a:ext cx="580696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47" name="레일 쐐기"/>
          <p:cNvSpPr/>
          <p:nvPr/>
        </p:nvSpPr>
        <p:spPr>
          <a:xfrm>
            <a:off x="547826" y="4676900"/>
            <a:ext cx="580695" cy="142435"/>
          </a:xfrm>
          <a:custGeom>
            <a:avLst/>
            <a:gdLst/>
            <a:ahLst/>
            <a:cxnLst/>
            <a:rect l="l" t="t" r="r" b="b"/>
            <a:pathLst>
              <a:path w="580695" h="142435">
                <a:moveTo>
                  <a:pt x="0" y="0"/>
                </a:moveTo>
                <a:lnTo>
                  <a:pt x="580695" y="0"/>
                </a:lnTo>
                <a:lnTo>
                  <a:pt x="290347" y="142435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머리칸"/>
          <p:cNvSpPr/>
          <p:nvPr/>
        </p:nvSpPr>
        <p:spPr>
          <a:xfrm>
            <a:off x="1161391" y="469881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작업환경</a:t>
            </a:r>
          </a:p>
        </p:txBody>
      </p:sp>
      <p:sp>
        <p:nvSpPr>
          <p:cNvPr id="49" name="머리칸"/>
          <p:cNvSpPr/>
          <p:nvPr/>
        </p:nvSpPr>
        <p:spPr>
          <a:xfrm>
            <a:off x="3044087" y="469881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관리체계</a:t>
            </a:r>
          </a:p>
        </p:txBody>
      </p:sp>
      <p:sp>
        <p:nvSpPr>
          <p:cNvPr id="50" name="머리칸"/>
          <p:cNvSpPr/>
          <p:nvPr/>
        </p:nvSpPr>
        <p:spPr>
          <a:xfrm>
            <a:off x="4926783" y="469881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교육</a:t>
            </a:r>
          </a:p>
        </p:txBody>
      </p:sp>
      <p:sp>
        <p:nvSpPr>
          <p:cNvPr id="51" name="칸 본문"/>
          <p:cNvSpPr txBox="1"/>
          <p:nvPr/>
        </p:nvSpPr>
        <p:spPr>
          <a:xfrm>
            <a:off x="1172348" y="493985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노후 설비 12종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야간·단독 작업</a:t>
            </a:r>
          </a:p>
        </p:txBody>
      </p:sp>
      <p:sp>
        <p:nvSpPr>
          <p:cNvPr id="52" name="칸 본문"/>
          <p:cNvSpPr txBox="1"/>
          <p:nvPr/>
        </p:nvSpPr>
        <p:spPr>
          <a:xfrm>
            <a:off x="3055043" y="493985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점검표 항목 중복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책임부서 분산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44087" y="497272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칸 본문"/>
          <p:cNvSpPr txBox="1"/>
          <p:nvPr/>
        </p:nvSpPr>
        <p:spPr>
          <a:xfrm>
            <a:off x="4937739" y="493985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신규 투입 인력 교육 미흡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926783" y="497272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6" name="레일"/>
          <p:cNvSpPr/>
          <p:nvPr/>
        </p:nvSpPr>
        <p:spPr>
          <a:xfrm>
            <a:off x="547826" y="5370824"/>
            <a:ext cx="580696" cy="67748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대 책</a:t>
            </a:r>
          </a:p>
        </p:txBody>
      </p:sp>
      <p:sp>
        <p:nvSpPr>
          <p:cNvPr id="57" name="레일 쐐기"/>
          <p:cNvSpPr/>
          <p:nvPr/>
        </p:nvSpPr>
        <p:spPr>
          <a:xfrm>
            <a:off x="547826" y="5370824"/>
            <a:ext cx="580695" cy="142435"/>
          </a:xfrm>
          <a:custGeom>
            <a:avLst/>
            <a:gdLst/>
            <a:ahLst/>
            <a:cxnLst/>
            <a:rect l="l" t="t" r="r" b="b"/>
            <a:pathLst>
              <a:path w="580695" h="142435">
                <a:moveTo>
                  <a:pt x="0" y="0"/>
                </a:moveTo>
                <a:lnTo>
                  <a:pt x="580695" y="0"/>
                </a:lnTo>
                <a:lnTo>
                  <a:pt x="290347" y="142435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단계"/>
          <p:cNvSpPr/>
          <p:nvPr/>
        </p:nvSpPr>
        <p:spPr>
          <a:xfrm>
            <a:off x="1161391" y="5392737"/>
            <a:ext cx="1195357" cy="230087"/>
          </a:xfrm>
          <a:prstGeom prst="homePlate">
            <a:avLst>
              <a:gd name="adj" fmla="val 30000"/>
            </a:avLst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위험성평가</a:t>
            </a:r>
          </a:p>
        </p:txBody>
      </p:sp>
      <p:sp>
        <p:nvSpPr>
          <p:cNvPr id="59" name="단계"/>
          <p:cNvSpPr/>
          <p:nvPr/>
        </p:nvSpPr>
        <p:spPr>
          <a:xfrm>
            <a:off x="2225270" y="5392737"/>
            <a:ext cx="1261096" cy="230087"/>
          </a:xfrm>
          <a:prstGeom prst="chevron">
            <a:avLst>
              <a:gd name="adj" fmla="val 30000"/>
            </a:avLst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설비 개선</a:t>
            </a:r>
          </a:p>
        </p:txBody>
      </p:sp>
      <p:sp>
        <p:nvSpPr>
          <p:cNvPr id="60" name="단계"/>
          <p:cNvSpPr/>
          <p:nvPr/>
        </p:nvSpPr>
        <p:spPr>
          <a:xfrm>
            <a:off x="3354887" y="5392737"/>
            <a:ext cx="1261096" cy="230087"/>
          </a:xfrm>
          <a:prstGeom prst="chevron">
            <a:avLst>
              <a:gd name="adj" fmla="val 30000"/>
            </a:avLst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교육 강화</a:t>
            </a:r>
          </a:p>
        </p:txBody>
      </p:sp>
      <p:sp>
        <p:nvSpPr>
          <p:cNvPr id="61" name="단계"/>
          <p:cNvSpPr/>
          <p:nvPr/>
        </p:nvSpPr>
        <p:spPr>
          <a:xfrm>
            <a:off x="4484504" y="5392737"/>
            <a:ext cx="1261096" cy="230087"/>
          </a:xfrm>
          <a:prstGeom prst="chevron">
            <a:avLst>
              <a:gd name="adj" fmla="val 30000"/>
            </a:avLst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점검·환류</a:t>
            </a:r>
          </a:p>
        </p:txBody>
      </p:sp>
      <p:sp>
        <p:nvSpPr>
          <p:cNvPr id="62" name="단계"/>
          <p:cNvSpPr/>
          <p:nvPr/>
        </p:nvSpPr>
        <p:spPr>
          <a:xfrm>
            <a:off x="5614122" y="5392737"/>
            <a:ext cx="1195357" cy="230087"/>
          </a:xfrm>
          <a:prstGeom prst="chevron">
            <a:avLst>
              <a:gd name="adj" fmla="val 30000"/>
            </a:avLst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 공유</a:t>
            </a:r>
          </a:p>
        </p:txBody>
      </p:sp>
      <p:sp>
        <p:nvSpPr>
          <p:cNvPr id="63" name="칸 본문"/>
          <p:cNvSpPr txBox="1"/>
          <p:nvPr/>
        </p:nvSpPr>
        <p:spPr>
          <a:xfrm>
            <a:off x="1172348" y="5644737"/>
            <a:ext cx="1107704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공정 평가 실시</a:t>
            </a:r>
          </a:p>
        </p:txBody>
      </p:sp>
      <p:sp>
        <p:nvSpPr>
          <p:cNvPr id="64" name="칸 본문"/>
          <p:cNvSpPr txBox="1"/>
          <p:nvPr/>
        </p:nvSpPr>
        <p:spPr>
          <a:xfrm>
            <a:off x="2301965" y="5644737"/>
            <a:ext cx="1107704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노후 설비 교체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291009" y="5677607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6" name="칸 본문"/>
          <p:cNvSpPr txBox="1"/>
          <p:nvPr/>
        </p:nvSpPr>
        <p:spPr>
          <a:xfrm>
            <a:off x="3431583" y="5644737"/>
            <a:ext cx="1107704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신규 인력 사전교육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420626" y="5677607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8" name="칸 본문"/>
          <p:cNvSpPr txBox="1"/>
          <p:nvPr/>
        </p:nvSpPr>
        <p:spPr>
          <a:xfrm>
            <a:off x="4561200" y="5644737"/>
            <a:ext cx="1107704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월 1회 합동점검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550243" y="5677607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0" name="칸 본문"/>
          <p:cNvSpPr txBox="1"/>
          <p:nvPr/>
        </p:nvSpPr>
        <p:spPr>
          <a:xfrm>
            <a:off x="5690817" y="5644737"/>
            <a:ext cx="1107704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우수사례 확산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679861" y="5677607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2" name="연결 막대"/>
          <p:cNvSpPr/>
          <p:nvPr/>
        </p:nvSpPr>
        <p:spPr>
          <a:xfrm>
            <a:off x="1698261" y="6092139"/>
            <a:ext cx="4601739" cy="3287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연결 끝"/>
          <p:cNvSpPr/>
          <p:nvPr/>
        </p:nvSpPr>
        <p:spPr>
          <a:xfrm>
            <a:off x="1698261" y="6092139"/>
            <a:ext cx="27391" cy="7669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연결 끝"/>
          <p:cNvSpPr/>
          <p:nvPr/>
        </p:nvSpPr>
        <p:spPr>
          <a:xfrm>
            <a:off x="6272609" y="6092139"/>
            <a:ext cx="27391" cy="7669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연결 화살표"/>
          <p:cNvSpPr/>
          <p:nvPr/>
        </p:nvSpPr>
        <p:spPr>
          <a:xfrm>
            <a:off x="3889565" y="6108574"/>
            <a:ext cx="219130" cy="169826"/>
          </a:xfrm>
          <a:prstGeom prst="downArrow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라벨 박스"/>
          <p:cNvSpPr/>
          <p:nvPr/>
        </p:nvSpPr>
        <p:spPr>
          <a:xfrm>
            <a:off x="536870" y="6333183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레일"/>
          <p:cNvSpPr/>
          <p:nvPr/>
        </p:nvSpPr>
        <p:spPr>
          <a:xfrm>
            <a:off x="547826" y="6344139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78" name="강조 바"/>
          <p:cNvSpPr/>
          <p:nvPr/>
        </p:nvSpPr>
        <p:spPr>
          <a:xfrm>
            <a:off x="1172348" y="6366052"/>
            <a:ext cx="5631652" cy="22917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강조 바 글"/>
          <p:cNvSpPr txBox="1"/>
          <p:nvPr/>
        </p:nvSpPr>
        <p:spPr>
          <a:xfrm>
            <a:off x="1172348" y="6366052"/>
            <a:ext cx="5631652" cy="22917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중대재해 제로, 작업 전 위험요인 100% 사전 점검</a:t>
            </a:r>
          </a:p>
        </p:txBody>
      </p:sp>
      <p:sp>
        <p:nvSpPr>
          <p:cNvPr id="80" name="라벨 박스"/>
          <p:cNvSpPr/>
          <p:nvPr/>
        </p:nvSpPr>
        <p:spPr>
          <a:xfrm>
            <a:off x="536870" y="6682883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레일"/>
          <p:cNvSpPr/>
          <p:nvPr/>
        </p:nvSpPr>
        <p:spPr>
          <a:xfrm>
            <a:off x="547826" y="6693840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82" name="칸 본문"/>
          <p:cNvSpPr txBox="1"/>
          <p:nvPr/>
        </p:nvSpPr>
        <p:spPr>
          <a:xfrm>
            <a:off x="1183304" y="6699318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위험성평가 고도화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설비 안전장치 확충</a:t>
            </a:r>
          </a:p>
        </p:txBody>
      </p:sp>
      <p:sp>
        <p:nvSpPr>
          <p:cNvPr id="83" name="칸 본문"/>
          <p:cNvSpPr txBox="1"/>
          <p:nvPr/>
        </p:nvSpPr>
        <p:spPr>
          <a:xfrm>
            <a:off x="3060522" y="6699318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신규 인력 사전교육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외주 근로자 안전교육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049565" y="6732188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5" name="칸 본문"/>
          <p:cNvSpPr txBox="1"/>
          <p:nvPr/>
        </p:nvSpPr>
        <p:spPr>
          <a:xfrm>
            <a:off x="4937739" y="6699318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합동점검 정례화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사고 사례 공유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926783" y="6732188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7" name="핵심성과 박스"/>
          <p:cNvSpPr/>
          <p:nvPr/>
        </p:nvSpPr>
        <p:spPr>
          <a:xfrm>
            <a:off x="536870" y="7239850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핵심성과 라벨"/>
          <p:cNvSpPr/>
          <p:nvPr/>
        </p:nvSpPr>
        <p:spPr>
          <a:xfrm>
            <a:off x="569739" y="7278198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89" name="핵심성과 문구"/>
          <p:cNvSpPr txBox="1"/>
          <p:nvPr/>
        </p:nvSpPr>
        <p:spPr>
          <a:xfrm>
            <a:off x="1314783" y="7256285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중대재해 0건 유지, 위험요인 개선 완료율 전년대비 18%p 상승</a:t>
            </a:r>
          </a:p>
        </p:txBody>
      </p:sp>
      <p:sp>
        <p:nvSpPr>
          <p:cNvPr id="90" name="평가내용 라벨"/>
          <p:cNvSpPr/>
          <p:nvPr/>
        </p:nvSpPr>
        <p:spPr>
          <a:xfrm>
            <a:off x="536870" y="7704720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91" name="평가내용 제목 박스"/>
          <p:cNvSpPr/>
          <p:nvPr/>
        </p:nvSpPr>
        <p:spPr>
          <a:xfrm>
            <a:off x="1522957" y="7715677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평가내용 제목"/>
          <p:cNvSpPr txBox="1"/>
          <p:nvPr/>
        </p:nvSpPr>
        <p:spPr>
          <a:xfrm>
            <a:off x="1632522" y="7726633"/>
            <a:ext cx="5127652" cy="553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역량 강화를 위한 교육 프로그램이 현안별 전문성을 높이는 방향으로 운영되는지 여부</a:t>
            </a:r>
          </a:p>
        </p:txBody>
      </p:sp>
      <p:sp>
        <p:nvSpPr>
          <p:cNvPr id="93" name="점"/>
          <p:cNvSpPr/>
          <p:nvPr/>
        </p:nvSpPr>
        <p:spPr>
          <a:xfrm>
            <a:off x="871043" y="8241590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점"/>
          <p:cNvSpPr/>
          <p:nvPr/>
        </p:nvSpPr>
        <p:spPr>
          <a:xfrm>
            <a:off x="947739" y="8241590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점"/>
          <p:cNvSpPr/>
          <p:nvPr/>
        </p:nvSpPr>
        <p:spPr>
          <a:xfrm>
            <a:off x="1024435" y="8241590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점"/>
          <p:cNvSpPr/>
          <p:nvPr/>
        </p:nvSpPr>
        <p:spPr>
          <a:xfrm>
            <a:off x="1101130" y="8241590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점"/>
          <p:cNvSpPr/>
          <p:nvPr/>
        </p:nvSpPr>
        <p:spPr>
          <a:xfrm>
            <a:off x="1177826" y="8241590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번호 띠"/>
          <p:cNvSpPr/>
          <p:nvPr/>
        </p:nvSpPr>
        <p:spPr>
          <a:xfrm>
            <a:off x="536870" y="8444285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번호 탭"/>
          <p:cNvSpPr/>
          <p:nvPr/>
        </p:nvSpPr>
        <p:spPr>
          <a:xfrm>
            <a:off x="558782" y="8466198"/>
            <a:ext cx="471131" cy="262956"/>
          </a:xfrm>
          <a:custGeom>
            <a:avLst/>
            <a:gdLst/>
            <a:ahLst/>
            <a:cxnLst/>
            <a:rect l="l" t="t" r="r" b="b"/>
            <a:pathLst>
              <a:path w="471131" h="262956">
                <a:moveTo>
                  <a:pt x="0" y="0"/>
                </a:moveTo>
                <a:lnTo>
                  <a:pt x="394435" y="0"/>
                </a:lnTo>
                <a:lnTo>
                  <a:pt x="471131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번호 탭 빗면"/>
          <p:cNvSpPr/>
          <p:nvPr/>
        </p:nvSpPr>
        <p:spPr>
          <a:xfrm>
            <a:off x="953217" y="8466198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6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번호"/>
          <p:cNvSpPr txBox="1"/>
          <p:nvPr/>
        </p:nvSpPr>
        <p:spPr>
          <a:xfrm>
            <a:off x="558783" y="8444285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02" name="번호 띠 제목"/>
          <p:cNvSpPr txBox="1"/>
          <p:nvPr/>
        </p:nvSpPr>
        <p:spPr>
          <a:xfrm>
            <a:off x="1183304" y="8466198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교육체계 수립과 내·외부 역량 활용</a:t>
            </a:r>
          </a:p>
        </p:txBody>
      </p:sp>
      <p:sp>
        <p:nvSpPr>
          <p:cNvPr id="103" name="형광 밑줄"/>
          <p:cNvSpPr/>
          <p:nvPr/>
        </p:nvSpPr>
        <p:spPr>
          <a:xfrm>
            <a:off x="536870" y="9024981"/>
            <a:ext cx="2343278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소제목"/>
          <p:cNvSpPr txBox="1"/>
          <p:nvPr/>
        </p:nvSpPr>
        <p:spPr>
          <a:xfrm>
            <a:off x="536870" y="8871590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대상별 맞춤형 교육체계 수립과 운영</a:t>
            </a:r>
          </a:p>
        </p:txBody>
      </p:sp>
      <p:sp>
        <p:nvSpPr>
          <p:cNvPr id="105" name="태그칩"/>
          <p:cNvSpPr/>
          <p:nvPr/>
        </p:nvSpPr>
        <p:spPr>
          <a:xfrm>
            <a:off x="2978756" y="8904459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06" name="라벨 박스"/>
          <p:cNvSpPr/>
          <p:nvPr/>
        </p:nvSpPr>
        <p:spPr>
          <a:xfrm>
            <a:off x="536870" y="9167416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레일"/>
          <p:cNvSpPr/>
          <p:nvPr/>
        </p:nvSpPr>
        <p:spPr>
          <a:xfrm>
            <a:off x="547826" y="9178372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HRD 비전</a:t>
            </a:r>
          </a:p>
        </p:txBody>
      </p:sp>
      <p:sp>
        <p:nvSpPr>
          <p:cNvPr id="108" name="가운데 글"/>
          <p:cNvSpPr txBox="1"/>
          <p:nvPr/>
        </p:nvSpPr>
        <p:spPr>
          <a:xfrm>
            <a:off x="1172348" y="9183850"/>
            <a:ext cx="5631652" cy="26204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안전과 행복을 위한 조직 역량 강화와 인권존중의 조직문화 조성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96</a:t>
            </a:r>
          </a:p>
        </p:txBody>
      </p:sp>
      <p:sp>
        <p:nvSpPr>
          <p:cNvPr id="4" name="라벨 박스"/>
          <p:cNvSpPr/>
          <p:nvPr/>
        </p:nvSpPr>
        <p:spPr>
          <a:xfrm>
            <a:off x="723130" y="777913"/>
            <a:ext cx="6300000" cy="699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레일"/>
          <p:cNvSpPr/>
          <p:nvPr/>
        </p:nvSpPr>
        <p:spPr>
          <a:xfrm>
            <a:off x="734087" y="788870"/>
            <a:ext cx="591652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6" name="머리칸"/>
          <p:cNvSpPr/>
          <p:nvPr/>
        </p:nvSpPr>
        <p:spPr>
          <a:xfrm>
            <a:off x="1358609" y="805304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7" name="머리칸"/>
          <p:cNvSpPr/>
          <p:nvPr/>
        </p:nvSpPr>
        <p:spPr>
          <a:xfrm>
            <a:off x="4174435" y="805304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8" name="칸 본문"/>
          <p:cNvSpPr txBox="1"/>
          <p:nvPr/>
        </p:nvSpPr>
        <p:spPr>
          <a:xfrm>
            <a:off x="1369565" y="1046348"/>
            <a:ext cx="2793913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「노동조합법」 개정 등 정책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안전보건체계 강화 요구</a:t>
            </a:r>
          </a:p>
        </p:txBody>
      </p:sp>
      <p:sp>
        <p:nvSpPr>
          <p:cNvPr id="9" name="칸 본문"/>
          <p:cNvSpPr txBox="1"/>
          <p:nvPr/>
        </p:nvSpPr>
        <p:spPr>
          <a:xfrm>
            <a:off x="4185391" y="1046348"/>
            <a:ext cx="2793913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현안별 전문 인력 양성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만료 도래에 따른 교육 확대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74435" y="1079217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" name="연결 막대"/>
          <p:cNvSpPr/>
          <p:nvPr/>
        </p:nvSpPr>
        <p:spPr>
          <a:xfrm>
            <a:off x="1884522" y="1504706"/>
            <a:ext cx="4601739" cy="3287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연결 끝"/>
          <p:cNvSpPr/>
          <p:nvPr/>
        </p:nvSpPr>
        <p:spPr>
          <a:xfrm>
            <a:off x="1884522" y="1504706"/>
            <a:ext cx="27391" cy="7669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연결 끝"/>
          <p:cNvSpPr/>
          <p:nvPr/>
        </p:nvSpPr>
        <p:spPr>
          <a:xfrm>
            <a:off x="6458870" y="1504706"/>
            <a:ext cx="27391" cy="7669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연결 화살표"/>
          <p:cNvSpPr/>
          <p:nvPr/>
        </p:nvSpPr>
        <p:spPr>
          <a:xfrm>
            <a:off x="4075826" y="1521141"/>
            <a:ext cx="219130" cy="169826"/>
          </a:xfrm>
          <a:prstGeom prst="downArrow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15" name="실적표"/>
          <p:cNvGraphicFramePr>
            <a:graphicFrameLocks noGrp="1"/>
          </p:cNvGraphicFramePr>
          <p:nvPr/>
        </p:nvGraphicFramePr>
        <p:xfrm>
          <a:off x="723130" y="1778619"/>
          <a:ext cx="6300001" cy="2202263"/>
        </p:xfrm>
        <a:graphic>
          <a:graphicData uri="http://schemas.openxmlformats.org/drawingml/2006/table">
            <a:tbl>
              <a:tblPr/>
              <a:tblGrid>
                <a:gridCol w="662870"/>
                <a:gridCol w="624522"/>
                <a:gridCol w="5012609"/>
              </a:tblGrid>
              <a:tr h="230087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 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추진내용 및 실적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</a:tr>
              <a:tr h="246522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대상별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맞춤형 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관리자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최고지도위과정(3명)·발전방안(156명)·신규보직자 교육(41명)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 대상 노동관계법·노사관계 등 노사지식 함양 교육(178명)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노사실무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집단 노사갈등 해결·롤플레이(4명), 노무이슈·판례 학습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기본역량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 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노동교육원 MOU 양질의 노사관계 교육 콘텐츠 제공(549명)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공인노무사 초빙 단체협약 이해관계자 교육(경영진·노조집행부)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전문성 촉진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안전보건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위험성평가(154명)·재난안전체험(203명)·방재전문교육(22명)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보수예산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보수·예산·회계 담당자 전문화(145명), 승진자 내재화(285명)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 담당자 전문화 교육(47명), 제도 안내 가이드 배포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형광 밑줄"/>
          <p:cNvSpPr/>
          <p:nvPr/>
        </p:nvSpPr>
        <p:spPr>
          <a:xfrm>
            <a:off x="723130" y="4254793"/>
            <a:ext cx="2773571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소제목"/>
          <p:cNvSpPr txBox="1"/>
          <p:nvPr/>
        </p:nvSpPr>
        <p:spPr>
          <a:xfrm>
            <a:off x="723130" y="4101402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협의체 참여와 외부역량 활용으로 현안 대응</a:t>
            </a:r>
          </a:p>
        </p:txBody>
      </p:sp>
      <p:sp>
        <p:nvSpPr>
          <p:cNvPr id="18" name="태그칩"/>
          <p:cNvSpPr/>
          <p:nvPr/>
        </p:nvSpPr>
        <p:spPr>
          <a:xfrm>
            <a:off x="3595310" y="4134271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19" name="표 외곽"/>
          <p:cNvSpPr/>
          <p:nvPr/>
        </p:nvSpPr>
        <p:spPr>
          <a:xfrm>
            <a:off x="723130" y="4386271"/>
            <a:ext cx="6300000" cy="204980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레일"/>
          <p:cNvSpPr/>
          <p:nvPr/>
        </p:nvSpPr>
        <p:spPr>
          <a:xfrm>
            <a:off x="734087" y="4402706"/>
            <a:ext cx="580696" cy="114861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참여</a:t>
            </a:r>
          </a:p>
        </p:txBody>
      </p:sp>
      <p:sp>
        <p:nvSpPr>
          <p:cNvPr id="21" name="배너"/>
          <p:cNvSpPr/>
          <p:nvPr/>
        </p:nvSpPr>
        <p:spPr>
          <a:xfrm>
            <a:off x="1347652" y="4424619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타 기관 협의체 참여·공유·학습으로 노사 현안 전문성 강화 및 개선점 모색</a:t>
            </a:r>
          </a:p>
        </p:txBody>
      </p:sp>
      <p:sp>
        <p:nvSpPr>
          <p:cNvPr id="22" name="머리칸"/>
          <p:cNvSpPr/>
          <p:nvPr/>
        </p:nvSpPr>
        <p:spPr>
          <a:xfrm>
            <a:off x="1347652" y="466018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안전보건</a:t>
            </a:r>
          </a:p>
        </p:txBody>
      </p:sp>
      <p:sp>
        <p:nvSpPr>
          <p:cNvPr id="23" name="머리칸"/>
          <p:cNvSpPr/>
          <p:nvPr/>
        </p:nvSpPr>
        <p:spPr>
          <a:xfrm>
            <a:off x="3230348" y="466018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</a:t>
            </a:r>
          </a:p>
        </p:txBody>
      </p:sp>
      <p:sp>
        <p:nvSpPr>
          <p:cNvPr id="24" name="머리칸"/>
          <p:cNvSpPr/>
          <p:nvPr/>
        </p:nvSpPr>
        <p:spPr>
          <a:xfrm>
            <a:off x="5113043" y="466018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복무제도</a:t>
            </a:r>
          </a:p>
        </p:txBody>
      </p:sp>
      <p:sp>
        <p:nvSpPr>
          <p:cNvPr id="25" name="칸 본문"/>
          <p:cNvSpPr txBox="1"/>
          <p:nvPr/>
        </p:nvSpPr>
        <p:spPr>
          <a:xfrm>
            <a:off x="1358609" y="4901228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안전협의체(3회·9개)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재난관리협의체(1회·4개)</a:t>
            </a:r>
          </a:p>
        </p:txBody>
      </p:sp>
      <p:sp>
        <p:nvSpPr>
          <p:cNvPr id="26" name="칸 본문"/>
          <p:cNvSpPr txBox="1"/>
          <p:nvPr/>
        </p:nvSpPr>
        <p:spPr>
          <a:xfrm>
            <a:off x="3241304" y="4901228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교차점검단(3회·5개)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상생컨설팅(3회·3개)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30348" y="493409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칸 본문"/>
          <p:cNvSpPr txBox="1"/>
          <p:nvPr/>
        </p:nvSpPr>
        <p:spPr>
          <a:xfrm>
            <a:off x="5124000" y="4901228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일·가정양립(4회·4개)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상생컨설팅(2회·3개)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13043" y="493409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태그"/>
          <p:cNvSpPr/>
          <p:nvPr/>
        </p:nvSpPr>
        <p:spPr>
          <a:xfrm>
            <a:off x="1347652" y="5332195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31" name="태그 설명"/>
          <p:cNvSpPr txBox="1"/>
          <p:nvPr/>
        </p:nvSpPr>
        <p:spPr>
          <a:xfrm>
            <a:off x="1972988" y="5321238"/>
            <a:ext cx="5022751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 프로그램 교류, 재난 대응 매뉴얼 공유·발표, 복리후생제도 교차점검 등</a:t>
            </a:r>
          </a:p>
        </p:txBody>
      </p:sp>
      <p:sp>
        <p:nvSpPr>
          <p:cNvPr id="32" name="레일"/>
          <p:cNvSpPr/>
          <p:nvPr/>
        </p:nvSpPr>
        <p:spPr>
          <a:xfrm>
            <a:off x="734087" y="5567760"/>
            <a:ext cx="580696" cy="85188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33" name="레일 쐐기"/>
          <p:cNvSpPr/>
          <p:nvPr/>
        </p:nvSpPr>
        <p:spPr>
          <a:xfrm>
            <a:off x="734086" y="5567760"/>
            <a:ext cx="580696" cy="142434"/>
          </a:xfrm>
          <a:custGeom>
            <a:avLst/>
            <a:gdLst/>
            <a:ahLst/>
            <a:cxnLst/>
            <a:rect l="l" t="t" r="r" b="b"/>
            <a:pathLst>
              <a:path w="580696" h="142434">
                <a:moveTo>
                  <a:pt x="0" y="0"/>
                </a:moveTo>
                <a:lnTo>
                  <a:pt x="580696" y="0"/>
                </a:lnTo>
                <a:lnTo>
                  <a:pt x="290348" y="142434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머리칸"/>
          <p:cNvSpPr/>
          <p:nvPr/>
        </p:nvSpPr>
        <p:spPr>
          <a:xfrm>
            <a:off x="1347652" y="5589673"/>
            <a:ext cx="4519565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선언문('25.2월)</a:t>
            </a:r>
          </a:p>
        </p:txBody>
      </p:sp>
      <p:sp>
        <p:nvSpPr>
          <p:cNvPr id="35" name="칸 본문"/>
          <p:cNvSpPr txBox="1"/>
          <p:nvPr/>
        </p:nvSpPr>
        <p:spPr>
          <a:xfrm>
            <a:off x="1358609" y="5830717"/>
            <a:ext cx="4514087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선포식 개최 및 공동 선언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참여, 사내방송 생중계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조성·발전적 노사관계 정착 합의·선언</a:t>
            </a:r>
          </a:p>
        </p:txBody>
      </p:sp>
      <p:sp>
        <p:nvSpPr>
          <p:cNvPr id="36" name="사진 칸"/>
          <p:cNvSpPr/>
          <p:nvPr/>
        </p:nvSpPr>
        <p:spPr>
          <a:xfrm>
            <a:off x="5916522" y="5595151"/>
            <a:ext cx="1079217" cy="797103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(선포식)</a:t>
            </a:r>
          </a:p>
        </p:txBody>
      </p:sp>
      <p:sp>
        <p:nvSpPr>
          <p:cNvPr id="37" name="표 외곽"/>
          <p:cNvSpPr/>
          <p:nvPr/>
        </p:nvSpPr>
        <p:spPr>
          <a:xfrm>
            <a:off x="723130" y="6479906"/>
            <a:ext cx="6300000" cy="710358"/>
          </a:xfrm>
          <a:prstGeom prst="rect">
            <a:avLst/>
          </a:prstGeom>
          <a:solidFill>
            <a:srgbClr val="FFFFFF"/>
          </a:solidFill>
          <a:ln w="9525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레일"/>
          <p:cNvSpPr/>
          <p:nvPr/>
        </p:nvSpPr>
        <p:spPr>
          <a:xfrm>
            <a:off x="734087" y="6496341"/>
            <a:ext cx="580696" cy="677489"/>
          </a:xfrm>
          <a:prstGeom prst="rect">
            <a:avLst/>
          </a:prstGeom>
          <a:pattFill prst="trellis">
            <a:fgClr>
              <a:srgbClr val="00A4A8"/>
            </a:fgClr>
            <a:bgClr>
              <a:srgbClr val="008C6B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39" name="머리칸"/>
          <p:cNvSpPr/>
          <p:nvPr/>
        </p:nvSpPr>
        <p:spPr>
          <a:xfrm>
            <a:off x="1347652" y="651825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노사관계 최우수 기관장 감사패</a:t>
            </a:r>
          </a:p>
        </p:txBody>
      </p:sp>
      <p:sp>
        <p:nvSpPr>
          <p:cNvPr id="40" name="머리칸"/>
          <p:cNvSpPr/>
          <p:nvPr/>
        </p:nvSpPr>
        <p:spPr>
          <a:xfrm>
            <a:off x="4171696" y="651825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명예 조합원 위촉</a:t>
            </a:r>
          </a:p>
        </p:txBody>
      </p:sp>
      <p:sp>
        <p:nvSpPr>
          <p:cNvPr id="41" name="칸 본문"/>
          <p:cNvSpPr txBox="1"/>
          <p:nvPr/>
        </p:nvSpPr>
        <p:spPr>
          <a:xfrm>
            <a:off x="1358609" y="6759297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공공안전기관 노조대표자협의회 주관 최우수 기관 선정('25.8월)</a:t>
            </a:r>
          </a:p>
        </p:txBody>
      </p:sp>
      <p:sp>
        <p:nvSpPr>
          <p:cNvPr id="42" name="칸 본문"/>
          <p:cNvSpPr txBox="1"/>
          <p:nvPr/>
        </p:nvSpPr>
        <p:spPr>
          <a:xfrm>
            <a:off x="4182652" y="6759297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 → 이사장 명예 조합원 위촉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재임 중 기관장 최초 위촉('25.11월)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71696" y="679216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4" name="핵심성과 박스"/>
          <p:cNvSpPr/>
          <p:nvPr/>
        </p:nvSpPr>
        <p:spPr>
          <a:xfrm>
            <a:off x="723130" y="7277917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핵심성과 라벨"/>
          <p:cNvSpPr/>
          <p:nvPr/>
        </p:nvSpPr>
        <p:spPr>
          <a:xfrm>
            <a:off x="756000" y="7316264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46" name="핵심성과 문구"/>
          <p:cNvSpPr txBox="1"/>
          <p:nvPr/>
        </p:nvSpPr>
        <p:spPr>
          <a:xfrm>
            <a:off x="1501043" y="7294351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노사역량지수 전년대비 0.8점 상승(90.1 → 90.9점)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