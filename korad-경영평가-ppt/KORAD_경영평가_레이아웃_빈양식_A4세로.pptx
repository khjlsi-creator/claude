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40.xml" ContentType="application/vnd.openxmlformats-officedocument.presentationml.slideLayout+xml"/>
  <Override PartName="/ppt/slideLayouts/slideLayout241.xml" ContentType="application/vnd.openxmlformats-officedocument.presentationml.slideLayout+xml"/>
  <Override PartName="/ppt/slideLayouts/slideLayout242.xml" ContentType="application/vnd.openxmlformats-officedocument.presentationml.slideLayout+xml"/>
  <Override PartName="/ppt/slideLayouts/slideLayout243.xml" ContentType="application/vnd.openxmlformats-officedocument.presentationml.slideLayout+xml"/>
  <Override PartName="/ppt/slideLayouts/slideLayout244.xml" ContentType="application/vnd.openxmlformats-officedocument.presentationml.slideLayout+xml"/>
  <Override PartName="/ppt/slideLayouts/slideLayout245.xml" ContentType="application/vnd.openxmlformats-officedocument.presentationml.slideLayout+xml"/>
  <Override PartName="/ppt/slideLayouts/slideLayout246.xml" ContentType="application/vnd.openxmlformats-officedocument.presentationml.slideLayout+xml"/>
  <Override PartName="/ppt/slideLayouts/slideLayout247.xml" ContentType="application/vnd.openxmlformats-officedocument.presentationml.slideLayout+xml"/>
  <Override PartName="/ppt/slideLayouts/slideLayout248.xml" ContentType="application/vnd.openxmlformats-officedocument.presentationml.slideLayout+xml"/>
  <Override PartName="/ppt/slideLayouts/slideLayout249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50.xml" ContentType="application/vnd.openxmlformats-officedocument.presentationml.slideLayout+xml"/>
  <Override PartName="/ppt/slideLayouts/slideLayout251.xml" ContentType="application/vnd.openxmlformats-officedocument.presentationml.slideLayout+xml"/>
  <Override PartName="/ppt/slideLayouts/slideLayout252.xml" ContentType="application/vnd.openxmlformats-officedocument.presentationml.slideLayout+xml"/>
  <Override PartName="/ppt/slideLayouts/slideLayout253.xml" ContentType="application/vnd.openxmlformats-officedocument.presentationml.slideLayout+xml"/>
  <Override PartName="/ppt/slideLayouts/slideLayout254.xml" ContentType="application/vnd.openxmlformats-officedocument.presentationml.slideLayout+xml"/>
  <Override PartName="/ppt/slideLayouts/slideLayout255.xml" ContentType="application/vnd.openxmlformats-officedocument.presentationml.slideLayout+xml"/>
  <Override PartName="/ppt/slideLayouts/slideLayout256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매출 확대(추진배경 → 기존사업 핵심 강화 → 신규사업 성장사업 확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762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9" name="태그칩"/>
          <p:cNvSpPr/>
          <p:nvPr/>
        </p:nvSpPr>
        <p:spPr>
          <a:xfrm>
            <a:off x="547229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47229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15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065304"/>
            <a:ext cx="580696" cy="903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222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222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415913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6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120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2985652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3150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3"/>
          </p:nvPr>
        </p:nvSpPr>
        <p:spPr>
          <a:xfrm>
            <a:off x="744637" y="3150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3336261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2985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4171696" y="3040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손익 개선(요금 · 정책 · 수익 3갈래 → 운영혁신 · 재정 확대 · 리스크 관리 → 추진성과 차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3044087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926783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7694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17694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769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044087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926783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틀"/>
          <p:cNvSpPr/>
          <p:nvPr/>
        </p:nvSpPr>
        <p:spPr>
          <a:xfrm>
            <a:off x="536870" y="25364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라벨"/>
          <p:cNvSpPr/>
          <p:nvPr/>
        </p:nvSpPr>
        <p:spPr>
          <a:xfrm>
            <a:off x="547826" y="25473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9" name="성과 라벨"/>
          <p:cNvSpPr>
            <a:spLocks noGrp="1"/>
          </p:cNvSpPr>
          <p:nvPr>
            <p:ph type="body" sz="quarter" idx="39"/>
          </p:nvPr>
        </p:nvSpPr>
        <p:spPr>
          <a:xfrm>
            <a:off x="547826" y="25473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성과 띠"/>
          <p:cNvSpPr/>
          <p:nvPr/>
        </p:nvSpPr>
        <p:spPr>
          <a:xfrm>
            <a:off x="1172348" y="25693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1" name="성과 띠"/>
          <p:cNvSpPr>
            <a:spLocks noGrp="1"/>
          </p:cNvSpPr>
          <p:nvPr>
            <p:ph type="body" sz="quarter" idx="40"/>
          </p:nvPr>
        </p:nvSpPr>
        <p:spPr>
          <a:xfrm>
            <a:off x="1172348" y="25693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52" name="카드"/>
          <p:cNvSpPr/>
          <p:nvPr/>
        </p:nvSpPr>
        <p:spPr>
          <a:xfrm>
            <a:off x="1172348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41"/>
          </p:nvPr>
        </p:nvSpPr>
        <p:spPr>
          <a:xfrm>
            <a:off x="1194261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54" name="막대"/>
          <p:cNvSpPr/>
          <p:nvPr/>
        </p:nvSpPr>
        <p:spPr>
          <a:xfrm>
            <a:off x="124904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값"/>
          <p:cNvSpPr>
            <a:spLocks noGrp="1"/>
          </p:cNvSpPr>
          <p:nvPr>
            <p:ph type="body" sz="quarter" idx="42"/>
          </p:nvPr>
        </p:nvSpPr>
        <p:spPr>
          <a:xfrm>
            <a:off x="1161391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43"/>
          </p:nvPr>
        </p:nvSpPr>
        <p:spPr>
          <a:xfrm>
            <a:off x="1161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막대"/>
          <p:cNvSpPr/>
          <p:nvPr/>
        </p:nvSpPr>
        <p:spPr>
          <a:xfrm>
            <a:off x="1623391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4"/>
          </p:nvPr>
        </p:nvSpPr>
        <p:spPr>
          <a:xfrm>
            <a:off x="1535739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5"/>
          </p:nvPr>
        </p:nvSpPr>
        <p:spPr>
          <a:xfrm>
            <a:off x="1535739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"/>
          <p:cNvSpPr/>
          <p:nvPr/>
        </p:nvSpPr>
        <p:spPr>
          <a:xfrm>
            <a:off x="2118261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46"/>
          </p:nvPr>
        </p:nvSpPr>
        <p:spPr>
          <a:xfrm>
            <a:off x="2140174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62" name="막대"/>
          <p:cNvSpPr/>
          <p:nvPr/>
        </p:nvSpPr>
        <p:spPr>
          <a:xfrm>
            <a:off x="2194957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7"/>
          </p:nvPr>
        </p:nvSpPr>
        <p:spPr>
          <a:xfrm>
            <a:off x="2107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8"/>
          </p:nvPr>
        </p:nvSpPr>
        <p:spPr>
          <a:xfrm>
            <a:off x="2107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막대"/>
          <p:cNvSpPr/>
          <p:nvPr/>
        </p:nvSpPr>
        <p:spPr>
          <a:xfrm>
            <a:off x="2569304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9"/>
          </p:nvPr>
        </p:nvSpPr>
        <p:spPr>
          <a:xfrm>
            <a:off x="2481652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0"/>
          </p:nvPr>
        </p:nvSpPr>
        <p:spPr>
          <a:xfrm>
            <a:off x="2481652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카드"/>
          <p:cNvSpPr/>
          <p:nvPr/>
        </p:nvSpPr>
        <p:spPr>
          <a:xfrm>
            <a:off x="3064174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51"/>
          </p:nvPr>
        </p:nvSpPr>
        <p:spPr>
          <a:xfrm>
            <a:off x="3086087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70" name="막대"/>
          <p:cNvSpPr/>
          <p:nvPr/>
        </p:nvSpPr>
        <p:spPr>
          <a:xfrm>
            <a:off x="3140870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값"/>
          <p:cNvSpPr>
            <a:spLocks noGrp="1"/>
          </p:cNvSpPr>
          <p:nvPr>
            <p:ph type="body" sz="quarter" idx="52"/>
          </p:nvPr>
        </p:nvSpPr>
        <p:spPr>
          <a:xfrm>
            <a:off x="3053217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3"/>
          </p:nvPr>
        </p:nvSpPr>
        <p:spPr>
          <a:xfrm>
            <a:off x="305321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막대"/>
          <p:cNvSpPr/>
          <p:nvPr/>
        </p:nvSpPr>
        <p:spPr>
          <a:xfrm>
            <a:off x="3515217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값"/>
          <p:cNvSpPr>
            <a:spLocks noGrp="1"/>
          </p:cNvSpPr>
          <p:nvPr>
            <p:ph type="body" sz="quarter" idx="54"/>
          </p:nvPr>
        </p:nvSpPr>
        <p:spPr>
          <a:xfrm>
            <a:off x="3427565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55"/>
          </p:nvPr>
        </p:nvSpPr>
        <p:spPr>
          <a:xfrm>
            <a:off x="3427565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6" name="카드"/>
          <p:cNvSpPr/>
          <p:nvPr/>
        </p:nvSpPr>
        <p:spPr>
          <a:xfrm>
            <a:off x="4010087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56"/>
          </p:nvPr>
        </p:nvSpPr>
        <p:spPr>
          <a:xfrm>
            <a:off x="4032000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78" name="막대"/>
          <p:cNvSpPr/>
          <p:nvPr/>
        </p:nvSpPr>
        <p:spPr>
          <a:xfrm>
            <a:off x="408678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7"/>
          </p:nvPr>
        </p:nvSpPr>
        <p:spPr>
          <a:xfrm>
            <a:off x="3999130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8"/>
          </p:nvPr>
        </p:nvSpPr>
        <p:spPr>
          <a:xfrm>
            <a:off x="3999130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막대"/>
          <p:cNvSpPr/>
          <p:nvPr/>
        </p:nvSpPr>
        <p:spPr>
          <a:xfrm>
            <a:off x="4461130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값"/>
          <p:cNvSpPr>
            <a:spLocks noGrp="1"/>
          </p:cNvSpPr>
          <p:nvPr>
            <p:ph type="body" sz="quarter" idx="59"/>
          </p:nvPr>
        </p:nvSpPr>
        <p:spPr>
          <a:xfrm>
            <a:off x="4373478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0"/>
          </p:nvPr>
        </p:nvSpPr>
        <p:spPr>
          <a:xfrm>
            <a:off x="4373478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84" name="카드"/>
          <p:cNvSpPr/>
          <p:nvPr/>
        </p:nvSpPr>
        <p:spPr>
          <a:xfrm>
            <a:off x="4956000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61"/>
          </p:nvPr>
        </p:nvSpPr>
        <p:spPr>
          <a:xfrm>
            <a:off x="4977913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86" name="막대"/>
          <p:cNvSpPr/>
          <p:nvPr/>
        </p:nvSpPr>
        <p:spPr>
          <a:xfrm>
            <a:off x="5032696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2"/>
          </p:nvPr>
        </p:nvSpPr>
        <p:spPr>
          <a:xfrm>
            <a:off x="4945043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3"/>
          </p:nvPr>
        </p:nvSpPr>
        <p:spPr>
          <a:xfrm>
            <a:off x="4945043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9" name="막대"/>
          <p:cNvSpPr/>
          <p:nvPr/>
        </p:nvSpPr>
        <p:spPr>
          <a:xfrm>
            <a:off x="5407043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4"/>
          </p:nvPr>
        </p:nvSpPr>
        <p:spPr>
          <a:xfrm>
            <a:off x="5319391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5"/>
          </p:nvPr>
        </p:nvSpPr>
        <p:spPr>
          <a:xfrm>
            <a:off x="5319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5901913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6"/>
          </p:nvPr>
        </p:nvSpPr>
        <p:spPr>
          <a:xfrm>
            <a:off x="5923826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94" name="막대"/>
          <p:cNvSpPr/>
          <p:nvPr/>
        </p:nvSpPr>
        <p:spPr>
          <a:xfrm>
            <a:off x="5978609" y="3237652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7"/>
          </p:nvPr>
        </p:nvSpPr>
        <p:spPr>
          <a:xfrm>
            <a:off x="5890957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8"/>
          </p:nvPr>
        </p:nvSpPr>
        <p:spPr>
          <a:xfrm>
            <a:off x="589095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97" name="막대"/>
          <p:cNvSpPr/>
          <p:nvPr/>
        </p:nvSpPr>
        <p:spPr>
          <a:xfrm>
            <a:off x="6352957" y="3325304"/>
            <a:ext cx="164348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9"/>
          </p:nvPr>
        </p:nvSpPr>
        <p:spPr>
          <a:xfrm>
            <a:off x="6265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70"/>
          </p:nvPr>
        </p:nvSpPr>
        <p:spPr>
          <a:xfrm>
            <a:off x="6265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2 서사 · 현금흐름 안정성 제고(추진배경 → 총사업비 · 투자-현금흐름 · 차입 만기 → B.P 재무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14" name="태그칩"/>
          <p:cNvSpPr/>
          <p:nvPr/>
        </p:nvSpPr>
        <p:spPr>
          <a:xfrm>
            <a:off x="49717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717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틀"/>
          <p:cNvSpPr/>
          <p:nvPr/>
        </p:nvSpPr>
        <p:spPr>
          <a:xfrm>
            <a:off x="723130" y="2426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라벨"/>
          <p:cNvSpPr/>
          <p:nvPr/>
        </p:nvSpPr>
        <p:spPr>
          <a:xfrm>
            <a:off x="734087" y="2437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라벨"/>
          <p:cNvSpPr>
            <a:spLocks noGrp="1"/>
          </p:cNvSpPr>
          <p:nvPr>
            <p:ph type="body" sz="quarter" idx="33"/>
          </p:nvPr>
        </p:nvSpPr>
        <p:spPr>
          <a:xfrm>
            <a:off x="734087" y="2437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37" name="성과 띠"/>
          <p:cNvSpPr/>
          <p:nvPr/>
        </p:nvSpPr>
        <p:spPr>
          <a:xfrm>
            <a:off x="1358609" y="2459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성과 띠"/>
          <p:cNvSpPr>
            <a:spLocks noGrp="1"/>
          </p:cNvSpPr>
          <p:nvPr>
            <p:ph type="body" sz="quarter" idx="34"/>
          </p:nvPr>
        </p:nvSpPr>
        <p:spPr>
          <a:xfrm>
            <a:off x="1358609" y="2459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39" name="카드"/>
          <p:cNvSpPr/>
          <p:nvPr/>
        </p:nvSpPr>
        <p:spPr>
          <a:xfrm>
            <a:off x="1358609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카드 문구"/>
          <p:cNvSpPr>
            <a:spLocks noGrp="1"/>
          </p:cNvSpPr>
          <p:nvPr>
            <p:ph type="body" sz="quarter" idx="35"/>
          </p:nvPr>
        </p:nvSpPr>
        <p:spPr>
          <a:xfrm>
            <a:off x="1380522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1" name="막대"/>
          <p:cNvSpPr/>
          <p:nvPr/>
        </p:nvSpPr>
        <p:spPr>
          <a:xfrm>
            <a:off x="1435304" y="3144522"/>
            <a:ext cx="164348" cy="147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1347652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134765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4" name="막대"/>
          <p:cNvSpPr/>
          <p:nvPr/>
        </p:nvSpPr>
        <p:spPr>
          <a:xfrm>
            <a:off x="204613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값"/>
          <p:cNvSpPr>
            <a:spLocks noGrp="1"/>
          </p:cNvSpPr>
          <p:nvPr>
            <p:ph type="body" sz="quarter" idx="38"/>
          </p:nvPr>
        </p:nvSpPr>
        <p:spPr>
          <a:xfrm>
            <a:off x="195847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39"/>
          </p:nvPr>
        </p:nvSpPr>
        <p:spPr>
          <a:xfrm>
            <a:off x="195847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7" name="카드"/>
          <p:cNvSpPr/>
          <p:nvPr/>
        </p:nvSpPr>
        <p:spPr>
          <a:xfrm>
            <a:off x="277747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카드 문구"/>
          <p:cNvSpPr>
            <a:spLocks noGrp="1"/>
          </p:cNvSpPr>
          <p:nvPr>
            <p:ph type="body" sz="quarter" idx="40"/>
          </p:nvPr>
        </p:nvSpPr>
        <p:spPr>
          <a:xfrm>
            <a:off x="279939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49" name="막대"/>
          <p:cNvSpPr/>
          <p:nvPr/>
        </p:nvSpPr>
        <p:spPr>
          <a:xfrm>
            <a:off x="2854174" y="3177391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2766522" y="300208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276652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2" name="막대"/>
          <p:cNvSpPr/>
          <p:nvPr/>
        </p:nvSpPr>
        <p:spPr>
          <a:xfrm>
            <a:off x="346500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337734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337734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5" name="카드"/>
          <p:cNvSpPr/>
          <p:nvPr/>
        </p:nvSpPr>
        <p:spPr>
          <a:xfrm>
            <a:off x="419634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카드 문구"/>
          <p:cNvSpPr>
            <a:spLocks noGrp="1"/>
          </p:cNvSpPr>
          <p:nvPr>
            <p:ph type="body" sz="quarter" idx="45"/>
          </p:nvPr>
        </p:nvSpPr>
        <p:spPr>
          <a:xfrm>
            <a:off x="421826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57" name="막대"/>
          <p:cNvSpPr/>
          <p:nvPr/>
        </p:nvSpPr>
        <p:spPr>
          <a:xfrm>
            <a:off x="427304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6"/>
          </p:nvPr>
        </p:nvSpPr>
        <p:spPr>
          <a:xfrm>
            <a:off x="418539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7"/>
          </p:nvPr>
        </p:nvSpPr>
        <p:spPr>
          <a:xfrm>
            <a:off x="418539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막대"/>
          <p:cNvSpPr/>
          <p:nvPr/>
        </p:nvSpPr>
        <p:spPr>
          <a:xfrm>
            <a:off x="4883870" y="314452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값"/>
          <p:cNvSpPr>
            <a:spLocks noGrp="1"/>
          </p:cNvSpPr>
          <p:nvPr>
            <p:ph type="body" sz="quarter" idx="48"/>
          </p:nvPr>
        </p:nvSpPr>
        <p:spPr>
          <a:xfrm>
            <a:off x="4796217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49"/>
          </p:nvPr>
        </p:nvSpPr>
        <p:spPr>
          <a:xfrm>
            <a:off x="479621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63" name="카드"/>
          <p:cNvSpPr/>
          <p:nvPr/>
        </p:nvSpPr>
        <p:spPr>
          <a:xfrm>
            <a:off x="5615217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0"/>
          </p:nvPr>
        </p:nvSpPr>
        <p:spPr>
          <a:xfrm>
            <a:off x="5637130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65" name="막대"/>
          <p:cNvSpPr/>
          <p:nvPr/>
        </p:nvSpPr>
        <p:spPr>
          <a:xfrm>
            <a:off x="569191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51"/>
          </p:nvPr>
        </p:nvSpPr>
        <p:spPr>
          <a:xfrm>
            <a:off x="560426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2"/>
          </p:nvPr>
        </p:nvSpPr>
        <p:spPr>
          <a:xfrm>
            <a:off x="560426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막대"/>
          <p:cNvSpPr/>
          <p:nvPr/>
        </p:nvSpPr>
        <p:spPr>
          <a:xfrm>
            <a:off x="6302739" y="3152739"/>
            <a:ext cx="164348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3"/>
          </p:nvPr>
        </p:nvSpPr>
        <p:spPr>
          <a:xfrm>
            <a:off x="6215087" y="29774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4"/>
          </p:nvPr>
        </p:nvSpPr>
        <p:spPr>
          <a:xfrm>
            <a:off x="621508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3 서사 · 중장기(’25~’29) 재무계획 수립(비전 → 환경분석 SWOT → 시사점 → 기본방향 → 중점사항 → 재무목표 → 이행점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354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77092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7092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62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7654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7654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6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7873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7873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16673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6673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985435" y="24625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492470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2470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492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536870" y="4149861"/>
            <a:ext cx="6300000" cy="39128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416629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416629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41882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41882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51" name="레일"/>
          <p:cNvSpPr/>
          <p:nvPr/>
        </p:nvSpPr>
        <p:spPr>
          <a:xfrm>
            <a:off x="547826" y="44361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44361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436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56" name="머리칸"/>
          <p:cNvSpPr/>
          <p:nvPr/>
        </p:nvSpPr>
        <p:spPr>
          <a:xfrm>
            <a:off x="3044087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58" name="머리칸"/>
          <p:cNvSpPr/>
          <p:nvPr/>
        </p:nvSpPr>
        <p:spPr>
          <a:xfrm>
            <a:off x="4926783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044087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926783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5761878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761878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3985435" y="58166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465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465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6846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0"/>
          </p:nvPr>
        </p:nvSpPr>
        <p:spPr>
          <a:xfrm>
            <a:off x="1161391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1"/>
          </p:nvPr>
        </p:nvSpPr>
        <p:spPr>
          <a:xfrm>
            <a:off x="3044087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2"/>
          </p:nvPr>
        </p:nvSpPr>
        <p:spPr>
          <a:xfrm>
            <a:off x="4926783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3044087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  <p:cxnSp>
        <p:nvCxnSpPr>
          <p:cNvPr id="83" name="Connector 59"/>
          <p:cNvCxnSpPr/>
          <p:nvPr/>
        </p:nvCxnSpPr>
        <p:spPr>
          <a:xfrm>
            <a:off x="4926783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4 서사 · 확장적 투자계획 수립·확정(국정과제 반영체계 → 투자계획 반영과정 → 반영결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944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11" name="태그칩"/>
          <p:cNvSpPr/>
          <p:nvPr/>
        </p:nvSpPr>
        <p:spPr>
          <a:xfrm>
            <a:off x="46161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161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673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673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35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977652"/>
            <a:ext cx="580696" cy="771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7765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977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999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1999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1999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3230348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5113043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2765270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765270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27652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배너"/>
          <p:cNvSpPr/>
          <p:nvPr/>
        </p:nvSpPr>
        <p:spPr>
          <a:xfrm>
            <a:off x="1347652" y="2787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2787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52" name="머리칸"/>
          <p:cNvSpPr/>
          <p:nvPr/>
        </p:nvSpPr>
        <p:spPr>
          <a:xfrm>
            <a:off x="1347652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54" name="머리칸"/>
          <p:cNvSpPr/>
          <p:nvPr/>
        </p:nvSpPr>
        <p:spPr>
          <a:xfrm>
            <a:off x="3230348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56" name="머리칸"/>
          <p:cNvSpPr/>
          <p:nvPr/>
        </p:nvSpPr>
        <p:spPr>
          <a:xfrm>
            <a:off x="5113043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cxnSp>
        <p:nvCxnSpPr>
          <p:cNvPr id="60" name="Connector 39"/>
          <p:cNvCxnSpPr/>
          <p:nvPr/>
        </p:nvCxnSpPr>
        <p:spPr>
          <a:xfrm>
            <a:off x="3230348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5113043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5 서사 · 적정 재무목표 수립(변동사항 반영 → 지표별 시나리오 → 재무목표 산출 → 재무목표 활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98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12" name="태그칩"/>
          <p:cNvSpPr/>
          <p:nvPr/>
        </p:nvSpPr>
        <p:spPr>
          <a:xfrm>
            <a:off x="503362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3362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4177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43391"/>
            <a:ext cx="580696" cy="12246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43391"/>
            <a:ext cx="580696" cy="1224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43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206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2584370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2573413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408413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5397457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284452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284452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044087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cxnSp>
        <p:nvCxnSpPr>
          <p:cNvPr id="48" name="Connector 34"/>
          <p:cNvCxnSpPr/>
          <p:nvPr/>
        </p:nvCxnSpPr>
        <p:spPr>
          <a:xfrm>
            <a:off x="4926783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4259583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9583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425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161391" y="42814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814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985435" y="454993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6 서사 · 자구노력 발굴 확대(추진배경 → 기본방향 → 매출증대 · 이익개선 · 자산수익 · 사업조정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979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6196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196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3965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3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3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5573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5573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557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10522"/>
            <a:ext cx="0" cy="230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3570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70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411843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3058278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0582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171696" y="3113061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759496"/>
            <a:ext cx="580696" cy="608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759496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171696" y="3814278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84017"/>
            <a:ext cx="580696" cy="6492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744637" y="44278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9"/>
          </p:nvPr>
        </p:nvSpPr>
        <p:spPr>
          <a:xfrm>
            <a:off x="744637" y="44278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4614104"/>
            <a:ext cx="580696" cy="397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cxnSp>
        <p:nvCxnSpPr>
          <p:cNvPr id="51" name="Connector 38"/>
          <p:cNvCxnSpPr/>
          <p:nvPr/>
        </p:nvCxnSpPr>
        <p:spPr>
          <a:xfrm>
            <a:off x="4171696" y="4438800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5049704"/>
            <a:ext cx="580696" cy="38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049704"/>
            <a:ext cx="580696" cy="38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50497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4171696" y="5104487"/>
            <a:ext cx="0" cy="295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7 서사 · 계획대비 실적차이 → 환류(차년도 중장기재무관리계획 피드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632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8018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18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292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292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109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32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33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33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34" name="배너"/>
          <p:cNvSpPr/>
          <p:nvPr/>
        </p:nvSpPr>
        <p:spPr>
          <a:xfrm>
            <a:off x="1161391" y="236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6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36" name="단계"/>
          <p:cNvSpPr/>
          <p:nvPr/>
        </p:nvSpPr>
        <p:spPr>
          <a:xfrm>
            <a:off x="1161391" y="259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38" name="단계"/>
          <p:cNvSpPr/>
          <p:nvPr/>
        </p:nvSpPr>
        <p:spPr>
          <a:xfrm>
            <a:off x="3044087" y="259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40" name="단계"/>
          <p:cNvSpPr/>
          <p:nvPr/>
        </p:nvSpPr>
        <p:spPr>
          <a:xfrm>
            <a:off x="4926783" y="259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259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259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044087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4926783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8 서사 · 2024년 지적사항 조치실적(성과관리 · 교육 · 인사복지 3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51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470696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47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492609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555391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55539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355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3577304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2961391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382000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9 서사 · 조직 재정렬(비전 → 전략방향 → 조직진단 → 시사점 → 추진방향 → 중장기 조직·인력 운영방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223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배너"/>
          <p:cNvSpPr/>
          <p:nvPr/>
        </p:nvSpPr>
        <p:spPr>
          <a:xfrm>
            <a:off x="1161391" y="14257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805165"/>
            <a:ext cx="580696" cy="519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0516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051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2707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827078"/>
            <a:ext cx="4214152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2573413" y="1859948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캡션 띠"/>
          <p:cNvSpPr/>
          <p:nvPr/>
        </p:nvSpPr>
        <p:spPr>
          <a:xfrm>
            <a:off x="536869" y="2362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캡션"/>
          <p:cNvSpPr>
            <a:spLocks noGrp="1"/>
          </p:cNvSpPr>
          <p:nvPr>
            <p:ph type="body" sz="quarter" idx="30"/>
          </p:nvPr>
        </p:nvSpPr>
        <p:spPr>
          <a:xfrm>
            <a:off x="756000" y="2362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35" name="표 외곽"/>
          <p:cNvSpPr/>
          <p:nvPr/>
        </p:nvSpPr>
        <p:spPr>
          <a:xfrm>
            <a:off x="536870" y="2669478"/>
            <a:ext cx="6300000" cy="14409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"/>
          <p:cNvSpPr/>
          <p:nvPr/>
        </p:nvSpPr>
        <p:spPr>
          <a:xfrm>
            <a:off x="547826" y="2685913"/>
            <a:ext cx="580696" cy="10067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85913"/>
            <a:ext cx="580696" cy="10067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2707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707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40" name="단계"/>
          <p:cNvSpPr/>
          <p:nvPr/>
        </p:nvSpPr>
        <p:spPr>
          <a:xfrm>
            <a:off x="1161391" y="29433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42" name="단계"/>
          <p:cNvSpPr/>
          <p:nvPr/>
        </p:nvSpPr>
        <p:spPr>
          <a:xfrm>
            <a:off x="2573413" y="29433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2573413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44" name="단계"/>
          <p:cNvSpPr/>
          <p:nvPr/>
        </p:nvSpPr>
        <p:spPr>
          <a:xfrm>
            <a:off x="3985435" y="29433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46" name="단계"/>
          <p:cNvSpPr/>
          <p:nvPr/>
        </p:nvSpPr>
        <p:spPr>
          <a:xfrm>
            <a:off x="5397457" y="29433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5397457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573413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3985434" y="2943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397456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2573413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3985435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5397457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37090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7090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37090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캡션 띠"/>
          <p:cNvSpPr/>
          <p:nvPr/>
        </p:nvSpPr>
        <p:spPr>
          <a:xfrm>
            <a:off x="536869" y="41323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865565" y="41761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865565" y="41761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9" name="캡션"/>
          <p:cNvSpPr>
            <a:spLocks noGrp="1"/>
          </p:cNvSpPr>
          <p:nvPr>
            <p:ph type="body" sz="quarter" idx="46"/>
          </p:nvPr>
        </p:nvSpPr>
        <p:spPr>
          <a:xfrm>
            <a:off x="1359219" y="41323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70" name="표 외곽"/>
          <p:cNvSpPr/>
          <p:nvPr/>
        </p:nvSpPr>
        <p:spPr>
          <a:xfrm>
            <a:off x="536870" y="4439113"/>
            <a:ext cx="6300000" cy="224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4455548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4455548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cxnSp>
        <p:nvCxnSpPr>
          <p:cNvPr id="81" name="Connector 59"/>
          <p:cNvCxnSpPr/>
          <p:nvPr/>
        </p:nvCxnSpPr>
        <p:spPr>
          <a:xfrm>
            <a:off x="3044087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cxnSp>
        <p:nvCxnSpPr>
          <p:cNvPr id="83" name="Connector 61"/>
          <p:cNvCxnSpPr/>
          <p:nvPr/>
        </p:nvCxnSpPr>
        <p:spPr>
          <a:xfrm>
            <a:off x="4926783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343026"/>
            <a:ext cx="580696" cy="132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5343026"/>
            <a:ext cx="580696" cy="13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547826" y="534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배너"/>
          <p:cNvSpPr/>
          <p:nvPr/>
        </p:nvSpPr>
        <p:spPr>
          <a:xfrm>
            <a:off x="1161391" y="5364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8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5364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89" name="단계"/>
          <p:cNvSpPr/>
          <p:nvPr/>
        </p:nvSpPr>
        <p:spPr>
          <a:xfrm>
            <a:off x="1161391" y="56005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1161391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91" name="단계"/>
          <p:cNvSpPr/>
          <p:nvPr/>
        </p:nvSpPr>
        <p:spPr>
          <a:xfrm>
            <a:off x="3044087" y="56005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7"/>
          </p:nvPr>
        </p:nvSpPr>
        <p:spPr>
          <a:xfrm>
            <a:off x="3044087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93" name="단계"/>
          <p:cNvSpPr/>
          <p:nvPr/>
        </p:nvSpPr>
        <p:spPr>
          <a:xfrm>
            <a:off x="4926783" y="56005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4" name="단계"/>
          <p:cNvSpPr>
            <a:spLocks noGrp="1"/>
          </p:cNvSpPr>
          <p:nvPr>
            <p:ph type="body" sz="quarter" idx="58"/>
          </p:nvPr>
        </p:nvSpPr>
        <p:spPr>
          <a:xfrm>
            <a:off x="4926783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95" name="단계 삼각형"/>
          <p:cNvSpPr/>
          <p:nvPr/>
        </p:nvSpPr>
        <p:spPr>
          <a:xfrm>
            <a:off x="3044086" y="56005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단계 삼각형"/>
          <p:cNvSpPr/>
          <p:nvPr/>
        </p:nvSpPr>
        <p:spPr>
          <a:xfrm>
            <a:off x="4926782" y="56005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72348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55043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044087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4926783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0 서사 · 미래성장 드라이브(3대 전사 TF 운영 → 과감한 조직 정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241304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230348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5113043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1 서사 · AI 물관리 성과 확산체계(정책 → 전략 → AI 전담 실행조직 → 유기적 AI 조직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68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2229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2229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7341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7341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9" name="태그"/>
          <p:cNvSpPr/>
          <p:nvPr/>
        </p:nvSpPr>
        <p:spPr>
          <a:xfrm>
            <a:off x="1161391" y="111208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11208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1567189" y="110113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25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325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핵심성과 박스"/>
          <p:cNvSpPr/>
          <p:nvPr/>
        </p:nvSpPr>
        <p:spPr>
          <a:xfrm>
            <a:off x="536870" y="272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핵심성과 라벨"/>
          <p:cNvSpPr/>
          <p:nvPr/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2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274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2 서사 · 부단한 인력운영제도 혁신(추진배경 → 실행방향 → 최적의 인력자원 재배분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6" name="태그칩"/>
          <p:cNvSpPr/>
          <p:nvPr/>
        </p:nvSpPr>
        <p:spPr>
          <a:xfrm>
            <a:off x="43825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25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371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371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80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723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39217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3921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39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347652" y="2383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347652" y="2383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1972988" y="2372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740539"/>
            <a:ext cx="580696" cy="2613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40539"/>
            <a:ext cx="580696" cy="261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7405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7624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624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99801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39" name="단계"/>
          <p:cNvSpPr/>
          <p:nvPr/>
        </p:nvSpPr>
        <p:spPr>
          <a:xfrm>
            <a:off x="2759674" y="299801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99801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43" name="단계"/>
          <p:cNvSpPr/>
          <p:nvPr/>
        </p:nvSpPr>
        <p:spPr>
          <a:xfrm>
            <a:off x="5583717" y="299801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29980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171695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583717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2759674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4171696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5583717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230348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5113043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54577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54906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756000" y="54906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501043" y="54796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3 서사 · 조직업무시스템 데이터 경영 활용(조직업무시스템 → 시스템 로드맵 → 시스템 고도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9853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12" name="태그칩"/>
          <p:cNvSpPr/>
          <p:nvPr/>
        </p:nvSpPr>
        <p:spPr>
          <a:xfrm>
            <a:off x="513401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3401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53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46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9" name="단계"/>
          <p:cNvSpPr/>
          <p:nvPr/>
        </p:nvSpPr>
        <p:spPr>
          <a:xfrm>
            <a:off x="1161391" y="1325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21" name="단계"/>
          <p:cNvSpPr/>
          <p:nvPr/>
        </p:nvSpPr>
        <p:spPr>
          <a:xfrm>
            <a:off x="2573413" y="1325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23" name="단계"/>
          <p:cNvSpPr/>
          <p:nvPr/>
        </p:nvSpPr>
        <p:spPr>
          <a:xfrm>
            <a:off x="3985435" y="1325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25" name="단계"/>
          <p:cNvSpPr/>
          <p:nvPr/>
        </p:nvSpPr>
        <p:spPr>
          <a:xfrm>
            <a:off x="5397457" y="1325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573413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397456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 txBox="1"/>
          <p:nvPr/>
        </p:nvSpPr>
        <p:spPr>
          <a:xfrm>
            <a:off x="1172348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1" name="칸 본문"/>
          <p:cNvSpPr txBox="1"/>
          <p:nvPr/>
        </p:nvSpPr>
        <p:spPr>
          <a:xfrm>
            <a:off x="2584370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2" name="Connector 21"/>
          <p:cNvCxnSpPr/>
          <p:nvPr/>
        </p:nvCxnSpPr>
        <p:spPr>
          <a:xfrm>
            <a:off x="2573413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 txBox="1"/>
          <p:nvPr/>
        </p:nvSpPr>
        <p:spPr>
          <a:xfrm>
            <a:off x="3996391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>
            <a:off x="3985435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5408413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>
            <a:off x="5397457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단계"/>
          <p:cNvSpPr/>
          <p:nvPr/>
        </p:nvSpPr>
        <p:spPr>
          <a:xfrm>
            <a:off x="1161391" y="17256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39" name="단계"/>
          <p:cNvSpPr/>
          <p:nvPr/>
        </p:nvSpPr>
        <p:spPr>
          <a:xfrm>
            <a:off x="2573413" y="17256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41" name="단계"/>
          <p:cNvSpPr/>
          <p:nvPr/>
        </p:nvSpPr>
        <p:spPr>
          <a:xfrm>
            <a:off x="3985435" y="17256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43" name="단계"/>
          <p:cNvSpPr/>
          <p:nvPr/>
        </p:nvSpPr>
        <p:spPr>
          <a:xfrm>
            <a:off x="5397457" y="17256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573413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3985434" y="1725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397456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172348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2584370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5"/>
          <p:cNvCxnSpPr/>
          <p:nvPr/>
        </p:nvCxnSpPr>
        <p:spPr>
          <a:xfrm>
            <a:off x="2573413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3996391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7"/>
          <p:cNvCxnSpPr/>
          <p:nvPr/>
        </p:nvCxnSpPr>
        <p:spPr>
          <a:xfrm>
            <a:off x="3985435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 txBox="1"/>
          <p:nvPr/>
        </p:nvSpPr>
        <p:spPr>
          <a:xfrm>
            <a:off x="5408413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4" name="Connector 39"/>
          <p:cNvCxnSpPr/>
          <p:nvPr/>
        </p:nvCxnSpPr>
        <p:spPr>
          <a:xfrm>
            <a:off x="5397457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레일"/>
          <p:cNvSpPr/>
          <p:nvPr/>
        </p:nvSpPr>
        <p:spPr>
          <a:xfrm>
            <a:off x="547826" y="2131043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31043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213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"/>
          <p:cNvSpPr/>
          <p:nvPr/>
        </p:nvSpPr>
        <p:spPr>
          <a:xfrm>
            <a:off x="1161391" y="2152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21529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21529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2152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2152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044087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926783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2843217"/>
            <a:ext cx="580696" cy="788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2843217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65130"/>
            <a:ext cx="3743478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865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4926783" y="289800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배너"/>
          <p:cNvSpPr/>
          <p:nvPr/>
        </p:nvSpPr>
        <p:spPr>
          <a:xfrm>
            <a:off x="1161391" y="340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40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78" name="레일"/>
          <p:cNvSpPr/>
          <p:nvPr/>
        </p:nvSpPr>
        <p:spPr>
          <a:xfrm>
            <a:off x="547826" y="3648522"/>
            <a:ext cx="580696" cy="920348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648522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배너"/>
          <p:cNvSpPr/>
          <p:nvPr/>
        </p:nvSpPr>
        <p:spPr>
          <a:xfrm>
            <a:off x="1161391" y="367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67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82" name="머리칸"/>
          <p:cNvSpPr/>
          <p:nvPr/>
        </p:nvSpPr>
        <p:spPr>
          <a:xfrm>
            <a:off x="1161391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84" name="머리칸"/>
          <p:cNvSpPr/>
          <p:nvPr/>
        </p:nvSpPr>
        <p:spPr>
          <a:xfrm>
            <a:off x="3044087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46"/>
          </p:nvPr>
        </p:nvSpPr>
        <p:spPr>
          <a:xfrm>
            <a:off x="3044087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86" name="머리칸"/>
          <p:cNvSpPr/>
          <p:nvPr/>
        </p:nvSpPr>
        <p:spPr>
          <a:xfrm>
            <a:off x="4926783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47"/>
          </p:nvPr>
        </p:nvSpPr>
        <p:spPr>
          <a:xfrm>
            <a:off x="4926783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cxnSp>
        <p:nvCxnSpPr>
          <p:cNvPr id="90" name="Connector 64"/>
          <p:cNvCxnSpPr/>
          <p:nvPr/>
        </p:nvCxnSpPr>
        <p:spPr>
          <a:xfrm>
            <a:off x="3044087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4926783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4 서사 · 성과평가시스템 구축·운영(지표설정 → 성과관리 → 결과활용·환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67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619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80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80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8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1835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태그"/>
          <p:cNvSpPr/>
          <p:nvPr/>
        </p:nvSpPr>
        <p:spPr>
          <a:xfrm>
            <a:off x="1347652" y="2881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347652" y="2881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1863219" y="2870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39" name="레일"/>
          <p:cNvSpPr/>
          <p:nvPr/>
        </p:nvSpPr>
        <p:spPr>
          <a:xfrm>
            <a:off x="734087" y="3100696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00696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10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44" name="머리칸"/>
          <p:cNvSpPr/>
          <p:nvPr/>
        </p:nvSpPr>
        <p:spPr>
          <a:xfrm>
            <a:off x="3230348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3230348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46" name="머리칸"/>
          <p:cNvSpPr/>
          <p:nvPr/>
        </p:nvSpPr>
        <p:spPr>
          <a:xfrm>
            <a:off x="5113043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5113043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3230348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5113043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5 서사 · 전략적 지표 개선(성과관리 여건 → 지표 개선 → 추진성과: 청렴도 · 일가정 양립 · 장애인 채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673403" y="1347652"/>
            <a:ext cx="38447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673403" y="1194261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20" name="태그칩"/>
          <p:cNvSpPr/>
          <p:nvPr/>
        </p:nvSpPr>
        <p:spPr>
          <a:xfrm>
            <a:off x="561677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1677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342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75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75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7" name="단계"/>
          <p:cNvSpPr/>
          <p:nvPr/>
        </p:nvSpPr>
        <p:spPr>
          <a:xfrm>
            <a:off x="3044087" y="1517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9" name="단계"/>
          <p:cNvSpPr/>
          <p:nvPr/>
        </p:nvSpPr>
        <p:spPr>
          <a:xfrm>
            <a:off x="4926783" y="1517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044086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926782" y="1517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044087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926783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2887043"/>
            <a:ext cx="580696" cy="936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887043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288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044087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4926783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547826" y="3840261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840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840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3044087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  <p:cxnSp>
        <p:nvCxnSpPr>
          <p:cNvPr id="53" name="Connector 41"/>
          <p:cNvCxnSpPr/>
          <p:nvPr/>
        </p:nvCxnSpPr>
        <p:spPr>
          <a:xfrm>
            <a:off x="4926783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6 서사 · 2026년 지표 개선(안전강화 · AI 활용: 추진배경 → 全부서 안전성과책임 · 가점지표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182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11" name="태그칩"/>
          <p:cNvSpPr/>
          <p:nvPr/>
        </p:nvSpPr>
        <p:spPr>
          <a:xfrm>
            <a:off x="53399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399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8911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8911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407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473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73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73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769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7 서사 · 소통 기반의 투명한 성과평가 운영(추진체계 → 정책·전략 연계강화 → 투명성·수용성 제고 → 추진성과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2306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638000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38000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6927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503565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503565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503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511565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544435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544435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533478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8 서사 · 성과관리와 보수 및 인사관리 간 전략적 연계(보수 및 포상연계 → 인사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04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21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4171696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06348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06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06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3230348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113043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9 서사 · 직무·역량 중심 HRD 체계 도입(외부환경 · 내부여건 → 시사점 → 추진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2"/>
          </p:nvPr>
        </p:nvSpPr>
        <p:spPr>
          <a:xfrm>
            <a:off x="3996391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cxnSp>
        <p:nvCxnSpPr>
          <p:cNvPr id="15" name="Connector 10"/>
          <p:cNvCxnSpPr/>
          <p:nvPr/>
        </p:nvCxnSpPr>
        <p:spPr>
          <a:xfrm>
            <a:off x="3985435" y="838174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6" name="레일"/>
          <p:cNvSpPr/>
          <p:nvPr/>
        </p:nvSpPr>
        <p:spPr>
          <a:xfrm>
            <a:off x="547826" y="1208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208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8" name="레일 삼각형"/>
          <p:cNvSpPr/>
          <p:nvPr/>
        </p:nvSpPr>
        <p:spPr>
          <a:xfrm>
            <a:off x="547826" y="1208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cxnSp>
        <p:nvCxnSpPr>
          <p:cNvPr id="21" name="Connector 15"/>
          <p:cNvCxnSpPr/>
          <p:nvPr/>
        </p:nvCxnSpPr>
        <p:spPr>
          <a:xfrm>
            <a:off x="3985435" y="126281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536869" y="178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865565" y="18298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18298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7"/>
          </p:nvPr>
        </p:nvSpPr>
        <p:spPr>
          <a:xfrm>
            <a:off x="1359219" y="17860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092852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10928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28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3044087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926783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0 서사 · 직무역량 향상을 위한 체계적 경력개발 시스템(역량모델 → 맞춤형 교육·코칭 → 성장경로 안내 → 중장기 인재육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29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25086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25086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02152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2152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4000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26" name="레일"/>
          <p:cNvSpPr/>
          <p:nvPr/>
        </p:nvSpPr>
        <p:spPr>
          <a:xfrm>
            <a:off x="734087" y="2826783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826783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826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848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848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4171696" y="3117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4147043"/>
            <a:ext cx="580696" cy="931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4147043"/>
            <a:ext cx="580696" cy="93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416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416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4404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40" name="단계"/>
          <p:cNvSpPr/>
          <p:nvPr/>
        </p:nvSpPr>
        <p:spPr>
          <a:xfrm>
            <a:off x="2759674" y="4404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2759674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42" name="단계"/>
          <p:cNvSpPr/>
          <p:nvPr/>
        </p:nvSpPr>
        <p:spPr>
          <a:xfrm>
            <a:off x="4171696" y="4404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44" name="단계"/>
          <p:cNvSpPr/>
          <p:nvPr/>
        </p:nvSpPr>
        <p:spPr>
          <a:xfrm>
            <a:off x="5583717" y="4404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5583717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2759673" y="440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4171695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583717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770630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2759674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4171696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594674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5583717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094783"/>
            <a:ext cx="580696" cy="78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094783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09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116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5116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352261"/>
            <a:ext cx="23314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711978" y="5352261"/>
            <a:ext cx="3272804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cxnSp>
        <p:nvCxnSpPr>
          <p:cNvPr id="63" name="Connector 43"/>
          <p:cNvCxnSpPr/>
          <p:nvPr/>
        </p:nvCxnSpPr>
        <p:spPr>
          <a:xfrm>
            <a:off x="3701022" y="53851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핵심성과 박스"/>
          <p:cNvSpPr/>
          <p:nvPr/>
        </p:nvSpPr>
        <p:spPr>
          <a:xfrm>
            <a:off x="723130" y="5987739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핵심성과 라벨"/>
          <p:cNvSpPr/>
          <p:nvPr/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6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7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600417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1 서사 · AI·데이터 기반 물 관리 인재 양성(기초 → 중급 → 고급 3단 → 확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2759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12" name="태그칩"/>
          <p:cNvSpPr/>
          <p:nvPr/>
        </p:nvSpPr>
        <p:spPr>
          <a:xfrm>
            <a:off x="496307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6307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1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88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88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배너"/>
          <p:cNvSpPr/>
          <p:nvPr/>
        </p:nvSpPr>
        <p:spPr>
          <a:xfrm>
            <a:off x="1161391" y="272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72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3056870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307330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2 서사 · 인사문화 내재화(직무중심 인사관리 강화 → 배치 강화 → 성과능력 중심 승진 → 低성과자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4426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230348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5113043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0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675117" y="2284435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675117" y="2284435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20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171696" y="2174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32047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75117" y="324860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675117" y="324860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3434870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171696" y="3259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4289478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744637" y="4453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6"/>
          </p:nvPr>
        </p:nvSpPr>
        <p:spPr>
          <a:xfrm>
            <a:off x="744637" y="4453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7"/>
          </p:nvPr>
        </p:nvSpPr>
        <p:spPr>
          <a:xfrm>
            <a:off x="734087" y="4640087"/>
            <a:ext cx="580696" cy="876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28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347652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48" name="머리칸"/>
          <p:cNvSpPr/>
          <p:nvPr/>
        </p:nvSpPr>
        <p:spPr>
          <a:xfrm>
            <a:off x="3230348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50" name="머리칸"/>
          <p:cNvSpPr/>
          <p:nvPr/>
        </p:nvSpPr>
        <p:spPr>
          <a:xfrm>
            <a:off x="5113043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230348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113043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배너"/>
          <p:cNvSpPr/>
          <p:nvPr/>
        </p:nvSpPr>
        <p:spPr>
          <a:xfrm>
            <a:off x="1347652" y="5313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313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723130" y="564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565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3 서사 · 임금피크제 운영 내실화 도입(정책 선도 · 임금피크 인력운용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sp>
        <p:nvSpPr>
          <p:cNvPr id="15" name="핵심성과 박스"/>
          <p:cNvSpPr/>
          <p:nvPr/>
        </p:nvSpPr>
        <p:spPr>
          <a:xfrm>
            <a:off x="536870" y="2536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핵심성과 라벨"/>
          <p:cNvSpPr/>
          <p:nvPr/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7" name="핵심성과 라벨"/>
          <p:cNvSpPr>
            <a:spLocks noGrp="1"/>
          </p:cNvSpPr>
          <p:nvPr>
            <p:ph type="body" sz="quarter" idx="22"/>
          </p:nvPr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8" name="핵심성과 문구"/>
          <p:cNvSpPr>
            <a:spLocks noGrp="1"/>
          </p:cNvSpPr>
          <p:nvPr>
            <p:ph type="body" sz="quarter" idx="23"/>
          </p:nvPr>
        </p:nvSpPr>
        <p:spPr>
          <a:xfrm>
            <a:off x="1314783" y="2552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4 서사 · 맞춤형 직무개발 · 직무 중심 관리체계(희망 직무 찾기 → 직무 수준 체계화 · 자율적 직무 지원 · 인사급여 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467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11" name="태그칩"/>
          <p:cNvSpPr/>
          <p:nvPr/>
        </p:nvSpPr>
        <p:spPr>
          <a:xfrm>
            <a:off x="516853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6853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44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44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541913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54191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541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347652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36" name="머리칸"/>
          <p:cNvSpPr/>
          <p:nvPr/>
        </p:nvSpPr>
        <p:spPr>
          <a:xfrm>
            <a:off x="3230348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38" name="머리칸"/>
          <p:cNvSpPr/>
          <p:nvPr/>
        </p:nvSpPr>
        <p:spPr>
          <a:xfrm>
            <a:off x="5113043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3230348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5113043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5 서사 · 숙련된 전문성 활용과 맞춤형 미래 준비(내부 지원 · 민관 협력 → 직무관리체계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12" name="태그칩"/>
          <p:cNvSpPr/>
          <p:nvPr/>
        </p:nvSpPr>
        <p:spPr>
          <a:xfrm>
            <a:off x="456820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6820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11932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11932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59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39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39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3044087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30" name="단계"/>
          <p:cNvSpPr/>
          <p:nvPr/>
        </p:nvSpPr>
        <p:spPr>
          <a:xfrm>
            <a:off x="492678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3044086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926782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3484174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484174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48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44" name="머리칸"/>
          <p:cNvSpPr/>
          <p:nvPr/>
        </p:nvSpPr>
        <p:spPr>
          <a:xfrm>
            <a:off x="3044087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46" name="머리칸"/>
          <p:cNvSpPr/>
          <p:nvPr/>
        </p:nvSpPr>
        <p:spPr>
          <a:xfrm>
            <a:off x="4926783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044087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926783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핵심성과 박스"/>
          <p:cNvSpPr/>
          <p:nvPr/>
        </p:nvSpPr>
        <p:spPr>
          <a:xfrm>
            <a:off x="536870" y="4733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핵심성과 라벨"/>
          <p:cNvSpPr/>
          <p:nvPr/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5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749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6 서사 · 일·가정 양립(성과 점검 → 의견 → 추진방향 정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56960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696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6243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5722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5722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2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230348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5113043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7 서사 · 제도 본격 도입 및 수용성 강화(全주기 가족친화제도 · 조직문화 개선 → 추진성과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157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12" name="태그칩"/>
          <p:cNvSpPr/>
          <p:nvPr/>
        </p:nvSpPr>
        <p:spPr>
          <a:xfrm>
            <a:off x="425117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5117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80230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80230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72958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72958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12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1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58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2388522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8852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2443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틀"/>
          <p:cNvSpPr/>
          <p:nvPr/>
        </p:nvSpPr>
        <p:spPr>
          <a:xfrm>
            <a:off x="536870" y="324313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성과 라벨"/>
          <p:cNvSpPr/>
          <p:nvPr/>
        </p:nvSpPr>
        <p:spPr>
          <a:xfrm>
            <a:off x="547826" y="325408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성과 라벨"/>
          <p:cNvSpPr>
            <a:spLocks noGrp="1"/>
          </p:cNvSpPr>
          <p:nvPr>
            <p:ph type="body" sz="quarter" idx="31"/>
          </p:nvPr>
        </p:nvSpPr>
        <p:spPr>
          <a:xfrm>
            <a:off x="547826" y="325408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/>
          <p:nvPr/>
        </p:nvSpPr>
        <p:spPr>
          <a:xfrm>
            <a:off x="1172348" y="327600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6" name="성과 띠"/>
          <p:cNvSpPr>
            <a:spLocks noGrp="1"/>
          </p:cNvSpPr>
          <p:nvPr>
            <p:ph type="body" sz="quarter" idx="32"/>
          </p:nvPr>
        </p:nvSpPr>
        <p:spPr>
          <a:xfrm>
            <a:off x="1172348" y="327600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37" name="카드"/>
          <p:cNvSpPr/>
          <p:nvPr/>
        </p:nvSpPr>
        <p:spPr>
          <a:xfrm>
            <a:off x="1172348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3"/>
          </p:nvPr>
        </p:nvSpPr>
        <p:spPr>
          <a:xfrm>
            <a:off x="1194261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39" name="막대"/>
          <p:cNvSpPr/>
          <p:nvPr/>
        </p:nvSpPr>
        <p:spPr>
          <a:xfrm>
            <a:off x="1249043" y="396900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4"/>
          </p:nvPr>
        </p:nvSpPr>
        <p:spPr>
          <a:xfrm>
            <a:off x="1161391" y="3793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5"/>
          </p:nvPr>
        </p:nvSpPr>
        <p:spPr>
          <a:xfrm>
            <a:off x="116139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2" name="막대"/>
          <p:cNvSpPr/>
          <p:nvPr/>
        </p:nvSpPr>
        <p:spPr>
          <a:xfrm>
            <a:off x="1859870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6"/>
          </p:nvPr>
        </p:nvSpPr>
        <p:spPr>
          <a:xfrm>
            <a:off x="177221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7"/>
          </p:nvPr>
        </p:nvSpPr>
        <p:spPr>
          <a:xfrm>
            <a:off x="177221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5" name="카드"/>
          <p:cNvSpPr/>
          <p:nvPr/>
        </p:nvSpPr>
        <p:spPr>
          <a:xfrm>
            <a:off x="259121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38"/>
          </p:nvPr>
        </p:nvSpPr>
        <p:spPr>
          <a:xfrm>
            <a:off x="261313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47" name="막대"/>
          <p:cNvSpPr/>
          <p:nvPr/>
        </p:nvSpPr>
        <p:spPr>
          <a:xfrm>
            <a:off x="2667913" y="399365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값"/>
          <p:cNvSpPr>
            <a:spLocks noGrp="1"/>
          </p:cNvSpPr>
          <p:nvPr>
            <p:ph type="body" sz="quarter" idx="39"/>
          </p:nvPr>
        </p:nvSpPr>
        <p:spPr>
          <a:xfrm>
            <a:off x="2580261" y="3818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0"/>
          </p:nvPr>
        </p:nvSpPr>
        <p:spPr>
          <a:xfrm>
            <a:off x="258026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0" name="막대"/>
          <p:cNvSpPr/>
          <p:nvPr/>
        </p:nvSpPr>
        <p:spPr>
          <a:xfrm>
            <a:off x="327873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값"/>
          <p:cNvSpPr>
            <a:spLocks noGrp="1"/>
          </p:cNvSpPr>
          <p:nvPr>
            <p:ph type="body" sz="quarter" idx="41"/>
          </p:nvPr>
        </p:nvSpPr>
        <p:spPr>
          <a:xfrm>
            <a:off x="319108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2"/>
          </p:nvPr>
        </p:nvSpPr>
        <p:spPr>
          <a:xfrm>
            <a:off x="319108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3" name="카드"/>
          <p:cNvSpPr/>
          <p:nvPr/>
        </p:nvSpPr>
        <p:spPr>
          <a:xfrm>
            <a:off x="401008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43"/>
          </p:nvPr>
        </p:nvSpPr>
        <p:spPr>
          <a:xfrm>
            <a:off x="403200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55" name="막대"/>
          <p:cNvSpPr/>
          <p:nvPr/>
        </p:nvSpPr>
        <p:spPr>
          <a:xfrm>
            <a:off x="4086783" y="4010087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값"/>
          <p:cNvSpPr>
            <a:spLocks noGrp="1"/>
          </p:cNvSpPr>
          <p:nvPr>
            <p:ph type="body" sz="quarter" idx="44"/>
          </p:nvPr>
        </p:nvSpPr>
        <p:spPr>
          <a:xfrm>
            <a:off x="3999130" y="3834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45"/>
          </p:nvPr>
        </p:nvSpPr>
        <p:spPr>
          <a:xfrm>
            <a:off x="399913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8" name="막대"/>
          <p:cNvSpPr/>
          <p:nvPr/>
        </p:nvSpPr>
        <p:spPr>
          <a:xfrm>
            <a:off x="469760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값"/>
          <p:cNvSpPr>
            <a:spLocks noGrp="1"/>
          </p:cNvSpPr>
          <p:nvPr>
            <p:ph type="body" sz="quarter" idx="46"/>
          </p:nvPr>
        </p:nvSpPr>
        <p:spPr>
          <a:xfrm>
            <a:off x="460995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47"/>
          </p:nvPr>
        </p:nvSpPr>
        <p:spPr>
          <a:xfrm>
            <a:off x="460995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61" name="카드"/>
          <p:cNvSpPr/>
          <p:nvPr/>
        </p:nvSpPr>
        <p:spPr>
          <a:xfrm>
            <a:off x="542895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8"/>
          </p:nvPr>
        </p:nvSpPr>
        <p:spPr>
          <a:xfrm>
            <a:off x="545087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63" name="막대"/>
          <p:cNvSpPr/>
          <p:nvPr/>
        </p:nvSpPr>
        <p:spPr>
          <a:xfrm>
            <a:off x="5505652" y="403200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9"/>
          </p:nvPr>
        </p:nvSpPr>
        <p:spPr>
          <a:xfrm>
            <a:off x="5418000" y="3856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50"/>
          </p:nvPr>
        </p:nvSpPr>
        <p:spPr>
          <a:xfrm>
            <a:off x="541800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66" name="막대"/>
          <p:cNvSpPr/>
          <p:nvPr/>
        </p:nvSpPr>
        <p:spPr>
          <a:xfrm>
            <a:off x="6116478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51"/>
          </p:nvPr>
        </p:nvSpPr>
        <p:spPr>
          <a:xfrm>
            <a:off x="6028826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52"/>
          </p:nvPr>
        </p:nvSpPr>
        <p:spPr>
          <a:xfrm>
            <a:off x="6028826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8 서사 · 소통·공감 기반 인사·복지제도 개선(新 승진제도 · 전보제도 → 가족 행복캠프 → 자회사 상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5333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11" name="태그칩"/>
          <p:cNvSpPr/>
          <p:nvPr/>
        </p:nvSpPr>
        <p:spPr>
          <a:xfrm>
            <a:off x="437507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7507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2619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2619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태그칩"/>
          <p:cNvSpPr/>
          <p:nvPr/>
        </p:nvSpPr>
        <p:spPr>
          <a:xfrm>
            <a:off x="569685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69685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723130" y="1062783"/>
            <a:ext cx="6300000" cy="323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734087" y="1079217"/>
            <a:ext cx="580696" cy="232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32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2235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235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347652" y="3177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3177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36" name="레일"/>
          <p:cNvSpPr/>
          <p:nvPr/>
        </p:nvSpPr>
        <p:spPr>
          <a:xfrm>
            <a:off x="734087" y="3418435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799521" y="3582783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4"/>
          </p:nvPr>
        </p:nvSpPr>
        <p:spPr>
          <a:xfrm>
            <a:off x="799521" y="3582783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5"/>
          </p:nvPr>
        </p:nvSpPr>
        <p:spPr>
          <a:xfrm>
            <a:off x="734087" y="3769043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41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44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344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344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344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344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3230348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113043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438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439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9 서사 · 근무 환경 · 일하는 방식 개선(조직활력 제고 → 자유롭고 유연하게 일하기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570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7311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11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28230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8230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68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12928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23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25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044087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4926783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배너"/>
          <p:cNvSpPr/>
          <p:nvPr/>
        </p:nvSpPr>
        <p:spPr>
          <a:xfrm>
            <a:off x="1161391" y="2388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88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34" name="레일"/>
          <p:cNvSpPr/>
          <p:nvPr/>
        </p:nvSpPr>
        <p:spPr>
          <a:xfrm>
            <a:off x="547826" y="2629565"/>
            <a:ext cx="580696" cy="109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488856" y="2793913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488856" y="2793913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980174"/>
            <a:ext cx="580696" cy="717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161391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41" name="머리칸"/>
          <p:cNvSpPr/>
          <p:nvPr/>
        </p:nvSpPr>
        <p:spPr>
          <a:xfrm>
            <a:off x="3985435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3985435" y="2925391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823826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85669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85669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845739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0 서사 · 노사관계 지표 표지(가중치 · 평가방법 · 지표정의 · 세부평가내용 · 지표관리부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주석"/>
          <p:cNvSpPr>
            <a:spLocks noGrp="1"/>
          </p:cNvSpPr>
          <p:nvPr>
            <p:ph type="body" sz="quarter" idx="20"/>
          </p:nvPr>
        </p:nvSpPr>
        <p:spPr>
          <a:xfrm>
            <a:off x="2366609" y="777913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723130" y="1029913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587826" y="1035391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1"/>
          </p:nvPr>
        </p:nvSpPr>
        <p:spPr>
          <a:xfrm>
            <a:off x="997043" y="1040870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783" y="1133169"/>
            <a:ext cx="1161391" cy="215314"/>
          </a:xfrm>
          <a:prstGeom prst="rect">
            <a:avLst/>
          </a:prstGeom>
        </p:spPr>
      </p:pic>
      <p:sp>
        <p:nvSpPr>
          <p:cNvPr id="14" name="라벨 박스"/>
          <p:cNvSpPr/>
          <p:nvPr/>
        </p:nvSpPr>
        <p:spPr>
          <a:xfrm>
            <a:off x="723130" y="15065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5174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5174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358609" y="152295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851652"/>
            <a:ext cx="6300000" cy="723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862609"/>
            <a:ext cx="591652" cy="7013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862609"/>
            <a:ext cx="591652" cy="7013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58609" y="1868087"/>
            <a:ext cx="5631652" cy="6904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1 서사 · 노사관계 목차(Contents: Ⅰ·Ⅱ·Ⅲ 장 + 평가내용별 항목 · 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2 서사 · 新노동 패러다임에 신속한 대응(정책기조 → 의견수렴 → 시사점 → 목표 · 4대 실행체계 · 9대 실행과제 → 대표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413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 태그"/>
          <p:cNvSpPr/>
          <p:nvPr/>
        </p:nvSpPr>
        <p:spPr>
          <a:xfrm>
            <a:off x="744637" y="118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8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8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75043"/>
            <a:ext cx="580696" cy="116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3230348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13043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74783"/>
            <a:ext cx="580696" cy="1177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744637" y="27391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7391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925391"/>
            <a:ext cx="580696" cy="805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57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347652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230348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5113043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캡션 띠"/>
          <p:cNvSpPr/>
          <p:nvPr/>
        </p:nvSpPr>
        <p:spPr>
          <a:xfrm>
            <a:off x="723130" y="3790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태그"/>
          <p:cNvSpPr/>
          <p:nvPr/>
        </p:nvSpPr>
        <p:spPr>
          <a:xfrm>
            <a:off x="1051826" y="383478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39"/>
          </p:nvPr>
        </p:nvSpPr>
        <p:spPr>
          <a:xfrm>
            <a:off x="1051826" y="383478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1" name="캡션"/>
          <p:cNvSpPr>
            <a:spLocks noGrp="1"/>
          </p:cNvSpPr>
          <p:nvPr>
            <p:ph type="body" sz="quarter" idx="40"/>
          </p:nvPr>
        </p:nvSpPr>
        <p:spPr>
          <a:xfrm>
            <a:off x="1545480" y="379095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52" name="표 외곽"/>
          <p:cNvSpPr/>
          <p:nvPr/>
        </p:nvSpPr>
        <p:spPr>
          <a:xfrm>
            <a:off x="723130" y="4097739"/>
            <a:ext cx="6300000" cy="30582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"/>
          <p:cNvSpPr/>
          <p:nvPr/>
        </p:nvSpPr>
        <p:spPr>
          <a:xfrm>
            <a:off x="734087" y="4114174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114174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5" name="배너"/>
          <p:cNvSpPr/>
          <p:nvPr/>
        </p:nvSpPr>
        <p:spPr>
          <a:xfrm>
            <a:off x="1347652" y="41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41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57" name="레일"/>
          <p:cNvSpPr/>
          <p:nvPr/>
        </p:nvSpPr>
        <p:spPr>
          <a:xfrm>
            <a:off x="734087" y="4384017"/>
            <a:ext cx="580696" cy="2755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384017"/>
            <a:ext cx="580696" cy="275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734086" y="4384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2770630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2759674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171696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5594674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cxnSp>
        <p:nvCxnSpPr>
          <p:cNvPr id="66" name="Connector 47"/>
          <p:cNvCxnSpPr/>
          <p:nvPr/>
        </p:nvCxnSpPr>
        <p:spPr>
          <a:xfrm>
            <a:off x="5583717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배너"/>
          <p:cNvSpPr/>
          <p:nvPr/>
        </p:nvSpPr>
        <p:spPr>
          <a:xfrm>
            <a:off x="1347652" y="56275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56275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69" name="단계"/>
          <p:cNvSpPr/>
          <p:nvPr/>
        </p:nvSpPr>
        <p:spPr>
          <a:xfrm>
            <a:off x="1347652" y="58631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71" name="단계"/>
          <p:cNvSpPr/>
          <p:nvPr/>
        </p:nvSpPr>
        <p:spPr>
          <a:xfrm>
            <a:off x="3230348" y="58631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3230348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73" name="단계"/>
          <p:cNvSpPr/>
          <p:nvPr/>
        </p:nvSpPr>
        <p:spPr>
          <a:xfrm>
            <a:off x="5113043" y="58631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5113043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3230347" y="58631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단계 삼각형"/>
          <p:cNvSpPr/>
          <p:nvPr/>
        </p:nvSpPr>
        <p:spPr>
          <a:xfrm>
            <a:off x="5113043" y="58631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1358609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3241304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230348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5124000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113043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틀"/>
          <p:cNvSpPr/>
          <p:nvPr/>
        </p:nvSpPr>
        <p:spPr>
          <a:xfrm>
            <a:off x="723130" y="7221757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성과 라벨"/>
          <p:cNvSpPr/>
          <p:nvPr/>
        </p:nvSpPr>
        <p:spPr>
          <a:xfrm>
            <a:off x="734087" y="723271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라벨"/>
          <p:cNvSpPr>
            <a:spLocks noGrp="1"/>
          </p:cNvSpPr>
          <p:nvPr>
            <p:ph type="body" sz="quarter" idx="55"/>
          </p:nvPr>
        </p:nvSpPr>
        <p:spPr>
          <a:xfrm>
            <a:off x="734087" y="723271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5" name="성과 띠"/>
          <p:cNvSpPr/>
          <p:nvPr/>
        </p:nvSpPr>
        <p:spPr>
          <a:xfrm>
            <a:off x="1358609" y="725462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6" name="성과 띠"/>
          <p:cNvSpPr>
            <a:spLocks noGrp="1"/>
          </p:cNvSpPr>
          <p:nvPr>
            <p:ph type="body" sz="quarter" idx="56"/>
          </p:nvPr>
        </p:nvSpPr>
        <p:spPr>
          <a:xfrm>
            <a:off x="1358609" y="725462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87" name="카드"/>
          <p:cNvSpPr/>
          <p:nvPr/>
        </p:nvSpPr>
        <p:spPr>
          <a:xfrm>
            <a:off x="1358609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카드 문구"/>
          <p:cNvSpPr>
            <a:spLocks noGrp="1"/>
          </p:cNvSpPr>
          <p:nvPr>
            <p:ph type="body" sz="quarter" idx="57"/>
          </p:nvPr>
        </p:nvSpPr>
        <p:spPr>
          <a:xfrm>
            <a:off x="1380522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89" name="카드"/>
          <p:cNvSpPr/>
          <p:nvPr/>
        </p:nvSpPr>
        <p:spPr>
          <a:xfrm>
            <a:off x="3250435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카드 문구"/>
          <p:cNvSpPr>
            <a:spLocks noGrp="1"/>
          </p:cNvSpPr>
          <p:nvPr>
            <p:ph type="body" sz="quarter" idx="58"/>
          </p:nvPr>
        </p:nvSpPr>
        <p:spPr>
          <a:xfrm>
            <a:off x="3272348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91" name="카드"/>
          <p:cNvSpPr/>
          <p:nvPr/>
        </p:nvSpPr>
        <p:spPr>
          <a:xfrm>
            <a:off x="5142261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59"/>
          </p:nvPr>
        </p:nvSpPr>
        <p:spPr>
          <a:xfrm>
            <a:off x="5164174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3 서사 · 노사기준 재정비 및 디지털 노무광장 오픈 도입(필수유지업무협정 개정 · 근로시간면제제도 재합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3015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7" name="태그칩"/>
          <p:cNvSpPr/>
          <p:nvPr/>
        </p:nvSpPr>
        <p:spPr>
          <a:xfrm>
            <a:off x="493702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93702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59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887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492609"/>
            <a:ext cx="580696" cy="1561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492609"/>
            <a:ext cx="580696" cy="156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492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3985435" y="2547391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4158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4174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4 서사 · K-노무포털(Portal) 런칭(성과환류 → 기존 L-Guard → 개선: 노사합의 관리시스템화 · 참여형 노무정보 HU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96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11" name="태그칩"/>
          <p:cNvSpPr/>
          <p:nvPr/>
        </p:nvSpPr>
        <p:spPr>
          <a:xfrm>
            <a:off x="50414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414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59255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59255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82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2163913"/>
            <a:ext cx="580696" cy="166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2163913"/>
            <a:ext cx="580696" cy="166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347652" y="2185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5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26" name="단계"/>
          <p:cNvSpPr/>
          <p:nvPr/>
        </p:nvSpPr>
        <p:spPr>
          <a:xfrm>
            <a:off x="1347652" y="2421391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2421391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28" name="단계"/>
          <p:cNvSpPr/>
          <p:nvPr/>
        </p:nvSpPr>
        <p:spPr>
          <a:xfrm>
            <a:off x="2477270" y="2421391"/>
            <a:ext cx="2259235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477270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30" name="단계"/>
          <p:cNvSpPr/>
          <p:nvPr/>
        </p:nvSpPr>
        <p:spPr>
          <a:xfrm>
            <a:off x="4736504" y="2421391"/>
            <a:ext cx="2259235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736504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2477269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736504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673391"/>
            <a:ext cx="1107704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2488226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2477270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4736504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3933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949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5 서사 · 선제적 노사갈등 관리체계 2.0(그간의 갈등관리 → 새롭게 직면한 환경 → 시사점 → 갈등관리 대응역량 UP → 미래갈등 사전대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319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173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 태그"/>
          <p:cNvSpPr/>
          <p:nvPr/>
        </p:nvSpPr>
        <p:spPr>
          <a:xfrm>
            <a:off x="626749" y="1177826"/>
            <a:ext cx="42285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레일 태그"/>
          <p:cNvSpPr>
            <a:spLocks noGrp="1"/>
          </p:cNvSpPr>
          <p:nvPr>
            <p:ph type="body" sz="quarter" idx="24"/>
          </p:nvPr>
        </p:nvSpPr>
        <p:spPr>
          <a:xfrm>
            <a:off x="626749" y="1177826"/>
            <a:ext cx="42285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364087"/>
            <a:ext cx="580696" cy="147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24" name="단계"/>
          <p:cNvSpPr/>
          <p:nvPr/>
        </p:nvSpPr>
        <p:spPr>
          <a:xfrm>
            <a:off x="1161391" y="1155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155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155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881565"/>
            <a:ext cx="580696" cy="141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27710" y="3045913"/>
            <a:ext cx="420927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2"/>
          </p:nvPr>
        </p:nvSpPr>
        <p:spPr>
          <a:xfrm>
            <a:off x="627710" y="3045913"/>
            <a:ext cx="42092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3232174"/>
            <a:ext cx="580696" cy="1046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881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배너"/>
          <p:cNvSpPr/>
          <p:nvPr/>
        </p:nvSpPr>
        <p:spPr>
          <a:xfrm>
            <a:off x="1161391" y="2903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2903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71913"/>
            <a:ext cx="0" cy="109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캡션 띠"/>
          <p:cNvSpPr/>
          <p:nvPr/>
        </p:nvSpPr>
        <p:spPr>
          <a:xfrm>
            <a:off x="536869" y="43387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태그"/>
          <p:cNvSpPr/>
          <p:nvPr/>
        </p:nvSpPr>
        <p:spPr>
          <a:xfrm>
            <a:off x="865565" y="4382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37"/>
          </p:nvPr>
        </p:nvSpPr>
        <p:spPr>
          <a:xfrm>
            <a:off x="865565" y="4382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0" name="캡션"/>
          <p:cNvSpPr>
            <a:spLocks noGrp="1"/>
          </p:cNvSpPr>
          <p:nvPr>
            <p:ph type="body" sz="quarter" idx="38"/>
          </p:nvPr>
        </p:nvSpPr>
        <p:spPr>
          <a:xfrm>
            <a:off x="1359219" y="4338783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51" name="표 외곽"/>
          <p:cNvSpPr/>
          <p:nvPr/>
        </p:nvSpPr>
        <p:spPr>
          <a:xfrm>
            <a:off x="536870" y="4645565"/>
            <a:ext cx="6300000" cy="4711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547826" y="4662000"/>
            <a:ext cx="580696" cy="3292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 태그"/>
          <p:cNvSpPr/>
          <p:nvPr/>
        </p:nvSpPr>
        <p:spPr>
          <a:xfrm>
            <a:off x="558376" y="4705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4705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55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4892087"/>
            <a:ext cx="580696" cy="304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683913"/>
            <a:ext cx="1860783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4683913"/>
            <a:ext cx="3743478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4716783"/>
            <a:ext cx="0" cy="149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cxnSp>
        <p:nvCxnSpPr>
          <p:cNvPr id="61" name="Connector 47"/>
          <p:cNvCxnSpPr/>
          <p:nvPr/>
        </p:nvCxnSpPr>
        <p:spPr>
          <a:xfrm>
            <a:off x="3044087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cxnSp>
        <p:nvCxnSpPr>
          <p:cNvPr id="63" name="Connector 49"/>
          <p:cNvCxnSpPr/>
          <p:nvPr/>
        </p:nvCxnSpPr>
        <p:spPr>
          <a:xfrm>
            <a:off x="4926783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161391" y="7729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7729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66" name="레일"/>
          <p:cNvSpPr/>
          <p:nvPr/>
        </p:nvSpPr>
        <p:spPr>
          <a:xfrm>
            <a:off x="547826" y="7970870"/>
            <a:ext cx="580696" cy="136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503491" y="8135217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7"/>
          </p:nvPr>
        </p:nvSpPr>
        <p:spPr>
          <a:xfrm>
            <a:off x="503491" y="8135217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8"/>
          </p:nvPr>
        </p:nvSpPr>
        <p:spPr>
          <a:xfrm>
            <a:off x="547826" y="8321478"/>
            <a:ext cx="580696" cy="997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70" name="레일 삼각형"/>
          <p:cNvSpPr/>
          <p:nvPr/>
        </p:nvSpPr>
        <p:spPr>
          <a:xfrm>
            <a:off x="547826" y="7970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cxnSp>
        <p:nvCxnSpPr>
          <p:cNvPr id="73" name="Connector 57"/>
          <p:cNvCxnSpPr/>
          <p:nvPr/>
        </p:nvCxnSpPr>
        <p:spPr>
          <a:xfrm>
            <a:off x="3985435" y="8025652"/>
            <a:ext cx="0" cy="127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536870" y="9444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9460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6 서사 · 노사리더 소통과 노동이사(노사소통 현주소 → 시사점 → 양방향 소통 → 한 단계 도약하는 핫라인 → 노사협력 가교 노동이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59303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59303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2174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22186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22186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21748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2481652"/>
            <a:ext cx="6300000" cy="5598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2498087"/>
            <a:ext cx="580696" cy="1342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98087"/>
            <a:ext cx="580696" cy="134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31" name="머리칸"/>
          <p:cNvSpPr/>
          <p:nvPr/>
        </p:nvSpPr>
        <p:spPr>
          <a:xfrm>
            <a:off x="1347652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33" name="머리칸"/>
          <p:cNvSpPr/>
          <p:nvPr/>
        </p:nvSpPr>
        <p:spPr>
          <a:xfrm>
            <a:off x="4171696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4171696" y="2793913"/>
            <a:ext cx="0" cy="1008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734087" y="3856696"/>
            <a:ext cx="580696" cy="175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856696"/>
            <a:ext cx="580696" cy="175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85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87860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87860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43" name="단계"/>
          <p:cNvSpPr/>
          <p:nvPr/>
        </p:nvSpPr>
        <p:spPr>
          <a:xfrm>
            <a:off x="2759674" y="3878609"/>
            <a:ext cx="423606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878609"/>
            <a:ext cx="42360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3878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4130609"/>
            <a:ext cx="1390109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4130609"/>
            <a:ext cx="4214152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759674" y="4163478"/>
            <a:ext cx="0" cy="141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5631652"/>
            <a:ext cx="580696" cy="243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5631652"/>
            <a:ext cx="580696" cy="243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5631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5653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5653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5653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5653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5653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6798522"/>
            <a:ext cx="2331457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3711978" y="6798522"/>
            <a:ext cx="3272804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cxnSp>
        <p:nvCxnSpPr>
          <p:cNvPr id="67" name="Connector 47"/>
          <p:cNvCxnSpPr/>
          <p:nvPr/>
        </p:nvCxnSpPr>
        <p:spPr>
          <a:xfrm>
            <a:off x="3701022" y="6831391"/>
            <a:ext cx="0" cy="119426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723130" y="816808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756000" y="820095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82009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819000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7 서사 · 계층별 노무역량강화 모델 최적화(필요역량 → 계층별 역량모델 → 추진과제 → 4계층 교육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노사전략과 환경변화를 연결하는 계층별 노무역량강화 모델 최적화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55646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필요역량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발전전략: 노무관리를 위한 대표 직무역량 3가지(소통 · 협상력 · 전문성)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717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계층별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역량모델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161391" y="14257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 기초(全직원)</a:t>
            </a:r>
          </a:p>
        </p:txBody>
      </p:sp>
      <p:sp>
        <p:nvSpPr>
          <p:cNvPr id="27" name="단계"/>
          <p:cNvSpPr/>
          <p:nvPr/>
        </p:nvSpPr>
        <p:spPr>
          <a:xfrm>
            <a:off x="2573413" y="14257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7"/>
          </p:nvPr>
        </p:nvSpPr>
        <p:spPr>
          <a:xfrm>
            <a:off x="2573413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노사주니어(일반조합원)</a:t>
            </a:r>
          </a:p>
        </p:txBody>
      </p:sp>
      <p:sp>
        <p:nvSpPr>
          <p:cNvPr id="29" name="단계"/>
          <p:cNvSpPr/>
          <p:nvPr/>
        </p:nvSpPr>
        <p:spPr>
          <a:xfrm>
            <a:off x="3985435" y="14257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협상력 노사담당자(노조간부)</a:t>
            </a:r>
          </a:p>
        </p:txBody>
      </p:sp>
      <p:sp>
        <p:nvSpPr>
          <p:cNvPr id="31" name="단계"/>
          <p:cNvSpPr/>
          <p:nvPr/>
        </p:nvSpPr>
        <p:spPr>
          <a:xfrm>
            <a:off x="5397457" y="14257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5397457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 관리자, 경영진(노조집행부)</a:t>
            </a:r>
          </a:p>
        </p:txBody>
      </p:sp>
      <p:sp>
        <p:nvSpPr>
          <p:cNvPr id="33" name="단계 삼각형"/>
          <p:cNvSpPr/>
          <p:nvPr/>
        </p:nvSpPr>
        <p:spPr>
          <a:xfrm>
            <a:off x="2573413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 삼각형"/>
          <p:cNvSpPr/>
          <p:nvPr/>
        </p:nvSpPr>
        <p:spPr>
          <a:xfrm>
            <a:off x="3985434" y="14257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5397456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 txBox="1"/>
          <p:nvPr/>
        </p:nvSpPr>
        <p:spPr>
          <a:xfrm>
            <a:off x="1172348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7" name="칸 본문"/>
          <p:cNvSpPr txBox="1"/>
          <p:nvPr/>
        </p:nvSpPr>
        <p:spPr>
          <a:xfrm>
            <a:off x="2584370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6"/>
          <p:cNvCxnSpPr/>
          <p:nvPr/>
        </p:nvCxnSpPr>
        <p:spPr>
          <a:xfrm>
            <a:off x="2573413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3996391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28"/>
          <p:cNvCxnSpPr/>
          <p:nvPr/>
        </p:nvCxnSpPr>
        <p:spPr>
          <a:xfrm>
            <a:off x="3985435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 txBox="1"/>
          <p:nvPr/>
        </p:nvSpPr>
        <p:spPr>
          <a:xfrm>
            <a:off x="5408413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2" name="Connector 30"/>
          <p:cNvCxnSpPr/>
          <p:nvPr/>
        </p:nvCxnSpPr>
        <p:spPr>
          <a:xfrm>
            <a:off x="5397457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137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137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조직문화교육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사이버교육 실효성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노무정보 HUB 구축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맞춤형 이음교육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노사신뢰UP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 교육 다변화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044087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K-Study(CoP)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외부기관 전문가과정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노동이사 역량강화</a:t>
            </a:r>
          </a:p>
        </p:txBody>
      </p:sp>
      <p:cxnSp>
        <p:nvCxnSpPr>
          <p:cNvPr id="49" name="Connector 36"/>
          <p:cNvCxnSpPr/>
          <p:nvPr/>
        </p:nvCxnSpPr>
        <p:spPr>
          <a:xfrm>
            <a:off x="4926783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292680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668144" y="29706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34"/>
          </p:nvPr>
        </p:nvSpPr>
        <p:spPr>
          <a:xfrm>
            <a:off x="668144" y="29706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3156887"/>
            <a:ext cx="580696" cy="52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다지고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조직문화: 참여 부서 2배 확대, 진단·코칭 Tool 다변화 / 부서단위 + 개인단위, 대상확대(운영·실무직 등), 계층별 모듈 교육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ON-OFF 교육연계: 대면교육 前 사이버교육 수강으로 교육 실효성 제고 * “온라인 교육내용이 문제로 출제되어 더 집중해서 수강했어요”(’25년 만족도조사 결과)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3985435" y="298158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715670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503491" y="3759496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38"/>
          </p:nvPr>
        </p:nvSpPr>
        <p:spPr>
          <a:xfrm>
            <a:off x="503491" y="3759496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노사주니어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945757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시작으로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입문교육(이음 120명): 직원의 니즈를 수렴 — 법령 해석(설명) 중심 설명 “법령 등 이해하기 너무 어려워요”(’24년 이음교육 피드백)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맞춤형 교육 추진: 노사관계 핵심 키워드(소통, 갈등)를 주제로 설정, 사례·체험 중심 맞춤형 강의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신뢰UP(80명): 현안 발생시 개별적 시스템 자문 / 노무환경 변화에 직원관심 증가 “뉴스에 자주 나오는 노란봉투법 개정에 대해 알고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 內 주요 자문 사례(64개) 공유 / 新정부정책 등 변경사항 기초교육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3985435" y="37704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4800365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503491" y="484419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2"/>
          </p:nvPr>
        </p:nvSpPr>
        <p:spPr>
          <a:xfrm>
            <a:off x="503491" y="484419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노사담당자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3"/>
          </p:nvPr>
        </p:nvSpPr>
        <p:spPr>
          <a:xfrm>
            <a:off x="547826" y="5030452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협상력을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배양하고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소통촉진자(506명): 기존 단발성 교육 — 사업장 현장방문, 갈등상황 Role-Play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‘소통·갈등’에 ‘권익보호’를 더한 다각적 교육: 소통촉진자 과정(소통·갈등 해결 교육과정 정규화·체계화) + 찾아가는 권익보호(성희롱·괴롭힘 예방·대처 교육)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학습연구회 K-Study(20명): 신설 학습과 업무가 연결된 CoP ‘K-Study(노사관계)’ 도입 — 노조법 개정, 정책변화 등 전문가 기초·심화교육 / 업무와 연관된 과제(제19차 단체협약 안건) 부여, 사내전문가 멘토링 및 수행결과 단체협약 반영</a:t>
            </a:r>
          </a:p>
        </p:txBody>
      </p:sp>
      <p:cxnSp>
        <p:nvCxnSpPr>
          <p:cNvPr id="70" name="Connector 54"/>
          <p:cNvCxnSpPr/>
          <p:nvPr/>
        </p:nvCxnSpPr>
        <p:spPr>
          <a:xfrm>
            <a:off x="3985435" y="4855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5885061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30684" y="6049409"/>
            <a:ext cx="81498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46"/>
          </p:nvPr>
        </p:nvSpPr>
        <p:spPr>
          <a:xfrm>
            <a:off x="430684" y="6049409"/>
            <a:ext cx="81498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관리자·경영진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47"/>
          </p:nvPr>
        </p:nvSpPr>
        <p:spPr>
          <a:xfrm>
            <a:off x="547826" y="623567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75" name="레일 삼각형"/>
          <p:cNvSpPr/>
          <p:nvPr/>
        </p:nvSpPr>
        <p:spPr>
          <a:xfrm>
            <a:off x="547826" y="58850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노사 전문가 과정: 관리자 전문 노무역량 및 노조이해 — 전문 위탁교육(선우재, 고려대 등 7명), 1~2급 승진자 노사관계 교육(위원장)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49"/>
          </p:nvPr>
        </p:nvSpPr>
        <p:spPr>
          <a:xfrm>
            <a:off x="3996391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내부경영, 외부전문교육 — 사내 직무교육(경영, 청렴 등) 수강, 석사학위 취득(고려대 노동법학)</a:t>
            </a:r>
          </a:p>
        </p:txBody>
      </p:sp>
      <p:cxnSp>
        <p:nvCxnSpPr>
          <p:cNvPr id="78" name="Connector 61"/>
          <p:cNvCxnSpPr/>
          <p:nvPr/>
        </p:nvCxnSpPr>
        <p:spPr>
          <a:xfrm>
            <a:off x="3985435" y="5939843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핵심성과 박스"/>
          <p:cNvSpPr/>
          <p:nvPr/>
        </p:nvSpPr>
        <p:spPr>
          <a:xfrm>
            <a:off x="536870" y="6769878"/>
            <a:ext cx="6300000" cy="88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핵심성과 라벨"/>
          <p:cNvSpPr/>
          <p:nvPr/>
        </p:nvSpPr>
        <p:spPr>
          <a:xfrm>
            <a:off x="569739" y="6802748"/>
            <a:ext cx="657391" cy="81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569739" y="6802748"/>
            <a:ext cx="657391" cy="8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2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314783" y="6791791"/>
            <a:ext cx="5456348" cy="84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교육관련 문항 역대 최고득점으로 3년 연속 노사관계 만족도 지속 상승 견인(91.1 → 91.6 → 92.3점)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역량강화 기여도 1.0점 상승(92.0 → 93.0점), 프로그램 효과성 1.1점 상승, 피드백 수용성 1.3점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8 서사 · 직원이 바라는 일터의 조건, 노사와 직원이 함께 솔루션 도출(’24년 환류 → 맞춤형 개선 적기 추진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직원 숙원을 해소하고, 더 나은 일터를 설계하는 노사 파트너십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5031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바라는 일터의 조건, 노사와 직원이 함께 솔루션 도출</a:t>
            </a:r>
          </a:p>
        </p:txBody>
      </p:sp>
      <p:sp>
        <p:nvSpPr>
          <p:cNvPr id="18" name="태그칩"/>
          <p:cNvSpPr/>
          <p:nvPr/>
        </p:nvSpPr>
        <p:spPr>
          <a:xfrm>
            <a:off x="43249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3249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0" name="태그칩"/>
          <p:cNvSpPr/>
          <p:nvPr/>
        </p:nvSpPr>
        <p:spPr>
          <a:xfrm>
            <a:off x="4876037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876037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289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117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117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갈등진단 직원이 느끼는 개선과제 3가지 ①승진·전보 ②직군간 격차 ③근로조건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’24년 갈등진단 결과에 대한 유형별 구체적 개선방안 마련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843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347652" y="245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5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등 운영 및 직원 참여 기반 맞춤형 개선 적기 추진</a:t>
            </a:r>
          </a:p>
        </p:txBody>
      </p:sp>
      <p:sp>
        <p:nvSpPr>
          <p:cNvPr id="30" name="레일"/>
          <p:cNvSpPr/>
          <p:nvPr/>
        </p:nvSpPr>
        <p:spPr>
          <a:xfrm>
            <a:off x="734087" y="2695304"/>
            <a:ext cx="580696" cy="167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95304"/>
            <a:ext cx="580696" cy="167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9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승진시험 최초시행, 육아휴직 승진차별 폐지: 승진시험 제도 최적화(노사공동 가족친화경영 TF 등) — 평가배점 상향 50점 → 55점, 승진비율 설정 심사 7 : 시험 3, 시험시간 확대 80분 → 90분, 육아휴직 응시 허용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시험승진 35명(25.7%) 배출(육아휴직 중 1명 포함)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친분과 인맥 등이 아닌 객관적 전보 기준 수립: 노사공동 본사-본부 TF 및 全직원 설문을 통한 전보 기준 수립 — 근무부서 여건(오지 등)을 고려한 마일리지 산정, 부서별 마일리지 비율 설정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전보마일리지 도입(’26년 시행)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직군격차 근무유형(교대-통상)에 따른 휴식권 제한 등 해소: 노사공동 교대근무 TF 및 설문, 전사 설명회 등을 통한 제도개선 — 교대근무자 중간휴가 신설, 공백 해소(운영지원반 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교대근무자 휴식권 강화 및 초과근무 최소화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723130" y="447026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48669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갈등진단 결과 全유형 갈등점수 하향, 종합청렴도 內 청렴체감도 공기업 유일 1등급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9 서사 · 모두의 약속 ‘제19차 단체협약’ 체결(추진배경 → 교섭과정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6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노동존중 실현, 일-생활 균형을 위한 모두의 약속 ‘제19차 단체협약’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509218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218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17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51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5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국정94 노동존중 실현, 노동기본권 보장 / 국정95 일·쉼 공존하는 행복한 일터 조성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대내환경 안전우선, 신규사업(초순수) 등 경영환경변화 / 단체협약 직원 관심 증가, 근로조건 개선요구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558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736609"/>
            <a:ext cx="580696" cy="1265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736609"/>
            <a:ext cx="580696" cy="126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교섭과정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736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758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참여로 안건 도출</a:t>
            </a:r>
          </a:p>
        </p:txBody>
      </p:sp>
      <p:sp>
        <p:nvSpPr>
          <p:cNvPr id="25" name="단계"/>
          <p:cNvSpPr/>
          <p:nvPr/>
        </p:nvSpPr>
        <p:spPr>
          <a:xfrm>
            <a:off x="3044087" y="1758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교섭과 공감 형성</a:t>
            </a:r>
          </a:p>
        </p:txBody>
      </p:sp>
      <p:sp>
        <p:nvSpPr>
          <p:cNvPr id="27" name="단계"/>
          <p:cNvSpPr/>
          <p:nvPr/>
        </p:nvSpPr>
        <p:spPr>
          <a:xfrm>
            <a:off x="4926783" y="1758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다각적 검증으로 이행력 확보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044086" y="1758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926782" y="1758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현장, 교육 등 의견 수렴(40건): K-water(16건) 찾아가는 유역간담회(8회), 톡톡수렴, K-Study(CoP) 과제 / 노동조합(24건) 현장지부 방문(70회), 조합원의 목소리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정례화 및 확대운영 * ’23년 2회 → ’25년 4회(월 1회)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실적, 사례 등 투명한 정보공유 * (使) 경영현황 등, (勞) 실제 현장사례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044087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실효성(내부), 적법성(외부) 차원의 교차검증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(실효성) 노동이사, 직원이사회 / (적법성) 대외 전문기관 활용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4926783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018522"/>
            <a:ext cx="580696" cy="1194261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3018522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304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304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38년 연속 無분규, 정책이행과 조합원 복지증진이 조화로운 ‘제19차 단체협약’ 개정!</a:t>
            </a:r>
          </a:p>
        </p:txBody>
      </p:sp>
      <p:sp>
        <p:nvSpPr>
          <p:cNvPr id="40" name="머리칸"/>
          <p:cNvSpPr/>
          <p:nvPr/>
        </p:nvSpPr>
        <p:spPr>
          <a:xfrm>
            <a:off x="1161391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2" name="머리칸"/>
          <p:cNvSpPr/>
          <p:nvPr/>
        </p:nvSpPr>
        <p:spPr>
          <a:xfrm>
            <a:off x="3985435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노동존중: 노조 전임직원 활동보장, 경영참여 인사위원회 등 조합참석 확대 / 국정94 노동존중 실현 및 경영참여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일-생활 자유로운 휴가사용, 가족친화문화 조성, 권리보호 권익·개인정보 보호, 연결되지 않을 권리 / 국정95 일·생활 균형 및 갑질 없는 일터 실현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985435" y="3549913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0 서사 · 가족친화경영 혁신 후 ‘직원의 목소리’ 청취(변화·성과 → 중간점검 → 한 번 더 혁신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가족과 안전은 지속가능한 근로조건의 근간, 노사가 함께 지속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307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가족친화경영 혁신 후, ‘직원의 목소리’를 청취하여 ‘한 번 더 혁신’</a:t>
            </a:r>
          </a:p>
        </p:txBody>
      </p:sp>
      <p:sp>
        <p:nvSpPr>
          <p:cNvPr id="16" name="태그칩"/>
          <p:cNvSpPr/>
          <p:nvPr/>
        </p:nvSpPr>
        <p:spPr>
          <a:xfrm>
            <a:off x="4652509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52509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2272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519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변화 가족친화경영 TF를 통해 근로조건(14개) 개선(’24년)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주 4.5일제 이용자 284명 사용, 육아휴직자 13% 증가(243 → 275명), 출산장려금 수령 38% 확대(194 → 268명)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42139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42139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중간점검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421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경험자 “새로운 승진제도에 육아휴직자도 참여 가능하도록” “아이돌봄 3·3·6제도 사용을 더 활성화 하도록”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사각지대 “미혼자, 아이가 없는 직원들도 소외받지 않고 사용할 수 있는 제도를 만들어 주세요”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96922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600922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00922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번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009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승진제도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아이돌봄 3·3·6 활성화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보편적 복지제도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승진시험제(’25년) 시행시, 육아휴직자 대상 포함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차별없는 승진시험제도 육아휴직자 승진자 배출(1명)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지표 신설(가점) / 캠페인(월 1회 관리자 독려메일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육아시간 사무외출 사용률 12.1%p 증가(54.0 → 66.1%)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0348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문화예술행사 지원 / 가족愛 행복캠프(가족·직원간)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본부 문화행사 770명 이용, 직원간 행복캠프 194명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849965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86640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대한민국 일하기 좋은 기업 Top3 및 아시아에서 가장 일하기 좋은 기업 200대 선정(GPTW 주관)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1 서사 · 안전에 타협 없는 노사, 안전 First(추진배경 → 예방강화 → 사후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007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안전에 타협 없는 노사, 예방부터 사후관리까지 안전 First</a:t>
            </a:r>
          </a:p>
        </p:txBody>
      </p:sp>
      <p:sp>
        <p:nvSpPr>
          <p:cNvPr id="12" name="태그칩"/>
          <p:cNvSpPr/>
          <p:nvPr/>
        </p:nvSpPr>
        <p:spPr>
          <a:xfrm>
            <a:off x="423622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3622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478734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8734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5800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5800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536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근로자 안전사고 상존, 안전관리체계 전반에 대한 보완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“더 이상의 안전사고는 없도록.. 제도정비” / 위원장 “안전문화확산, 세심한 피해직원 케어까지..”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123043"/>
            <a:ext cx="0" cy="1161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339217"/>
            <a:ext cx="580696" cy="1725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5035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50356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예방강화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89826"/>
            <a:ext cx="580696" cy="135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안전일터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39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使 정교한 제도, 시스템 개발: 안전경영委, 안전경영책임계획 / 안전 컨설팅, 스마트 안전관리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예방적 안전관리 ‘안전기동반’(전담 16인)을 통한 상시 점검 및 현장 안전관리 컨설팅, 현장 유해 요소 120건(안전통로 확보 등) 개선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안전관리 시스템 구축 및 스마트 장비 확대(스마트 안전모 등), 이동형 AI CCTV · 스마트 안전모 · 유해가스 측정기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勞 현장의 공감, 수용성을 결합: 상시 소통채널 등 현장 니즈 / 작업중지권, 안전보호구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활성화 ‘찾아가는 안전교육’, 안전모 QR 부착 등 제도 활용 증가(’24년 92건 → ’25년 132건, 43.5%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안전보호구 지급 ‘심쿵(CPR) 챌린지’ 노후 보호구 교체 간소, 적기지급 / 심쿵챌린지 420명, 全직원 안전보호구 개선 5.1억원 집행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2394000"/>
            <a:ext cx="0" cy="163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4081304"/>
            <a:ext cx="580696" cy="232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558376" y="4245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558376" y="4245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사후대응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4431913"/>
            <a:ext cx="580696" cy="1950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더나아가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안전사고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직원케어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408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410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410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업무 중 사고에 든든한 비바람막이 ‘안심케어센터’ + ‘상호부조 모금제’ 신설</a:t>
            </a:r>
          </a:p>
        </p:txBody>
      </p:sp>
      <p:sp>
        <p:nvSpPr>
          <p:cNvPr id="39" name="단계"/>
          <p:cNvSpPr/>
          <p:nvPr/>
        </p:nvSpPr>
        <p:spPr>
          <a:xfrm>
            <a:off x="1161391" y="433878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담당부서를 찾기쉽고</a:t>
            </a:r>
          </a:p>
        </p:txBody>
      </p:sp>
      <p:sp>
        <p:nvSpPr>
          <p:cNvPr id="41" name="단계"/>
          <p:cNvSpPr/>
          <p:nvPr/>
        </p:nvSpPr>
        <p:spPr>
          <a:xfrm>
            <a:off x="2573413" y="433878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2573413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대응은 신속하게</a:t>
            </a:r>
          </a:p>
        </p:txBody>
      </p:sp>
      <p:sp>
        <p:nvSpPr>
          <p:cNvPr id="43" name="단계"/>
          <p:cNvSpPr/>
          <p:nvPr/>
        </p:nvSpPr>
        <p:spPr>
          <a:xfrm>
            <a:off x="3985435" y="433878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985435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감성 케어까지</a:t>
            </a:r>
          </a:p>
        </p:txBody>
      </p:sp>
      <p:sp>
        <p:nvSpPr>
          <p:cNvPr id="45" name="단계"/>
          <p:cNvSpPr/>
          <p:nvPr/>
        </p:nvSpPr>
        <p:spPr>
          <a:xfrm>
            <a:off x="5397457" y="433878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397457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슬픔은 함께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2573413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3985434" y="4338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5397456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분산된 기능 일원화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안전사고 연관 직원/부서 → (총괄) 안심케어센터 → 법무실 · 안전본부 · 인재경영실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2584370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신속·밀착지원 *안심케어 담당 사내변호사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재해발생 노동청, 경찰조사 초동대응(변호사) / 재해자(사망) 산재 행정지원 노사공동 유족케어 / 법적분쟁 수사·피의·피고시 법률 조력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2573413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감성적 직원 맞춤케어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부서상담 사고발생 부서 단위 집단상담 / 맞춤상담 ‘집중케어 대상’ PTSD 상담 안내 / 사후관리 호전여부 모니터링 고충상담 지원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985435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5408413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노사·全직원 합심, 상호부조 개인급여 모금제 * 직원 찬성률: 63%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중 사망(안전사고) → 全직원 모금(개인월봉의 0.6%) → 노사공동 모금액 유가족 지급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397457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9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0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선정·국무총리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2 서사 · 노사협력·자율점검 기반 정부지침 체계 개선(목표 · 이행계획 → 혁신지침 관리비 100% 직원 부담 숙소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노사협력과 자율점검을 기반으로 정부지침에 발맞춘 체계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76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72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72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혁신지침 잔여과제(4건) 조속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합의(’24.12) 선결 개선과제 적기 달성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 준수 지속 유지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모니터링 통한 추가 개선사항 발굴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번호"/>
          <p:cNvSpPr>
            <a:spLocks noGrp="1"/>
          </p:cNvSpPr>
          <p:nvPr>
            <p:ph type="body" sz="quarter" idx="27"/>
          </p:nvPr>
        </p:nvSpPr>
        <p:spPr>
          <a:xfrm>
            <a:off x="723130" y="2010522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25" name="분야 박스"/>
          <p:cNvSpPr/>
          <p:nvPr/>
        </p:nvSpPr>
        <p:spPr>
          <a:xfrm>
            <a:off x="952651" y="2043391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분야 박스"/>
          <p:cNvSpPr>
            <a:spLocks noGrp="1"/>
          </p:cNvSpPr>
          <p:nvPr>
            <p:ph type="body" sz="quarter" idx="28"/>
          </p:nvPr>
        </p:nvSpPr>
        <p:spPr>
          <a:xfrm>
            <a:off x="952651" y="2043391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27" name="형광 밑줄"/>
          <p:cNvSpPr/>
          <p:nvPr/>
        </p:nvSpPr>
        <p:spPr>
          <a:xfrm>
            <a:off x="1610856" y="2163913"/>
            <a:ext cx="29260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소제목"/>
          <p:cNvSpPr>
            <a:spLocks noGrp="1"/>
          </p:cNvSpPr>
          <p:nvPr>
            <p:ph type="body" sz="quarter" idx="29"/>
          </p:nvPr>
        </p:nvSpPr>
        <p:spPr>
          <a:xfrm>
            <a:off x="1610856" y="2010522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관리비 100% 직원 부담 숙소 확대목표 초과 달성</a:t>
            </a:r>
          </a:p>
        </p:txBody>
      </p:sp>
      <p:sp>
        <p:nvSpPr>
          <p:cNvPr id="29" name="태그칩"/>
          <p:cNvSpPr/>
          <p:nvPr/>
        </p:nvSpPr>
        <p:spPr>
          <a:xfrm>
            <a:off x="4635516" y="2043391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칩"/>
          <p:cNvSpPr>
            <a:spLocks noGrp="1"/>
          </p:cNvSpPr>
          <p:nvPr>
            <p:ph type="body" sz="quarter" idx="30"/>
          </p:nvPr>
        </p:nvSpPr>
        <p:spPr>
          <a:xfrm>
            <a:off x="4635516" y="2043391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1" name="태그칩"/>
          <p:cNvSpPr/>
          <p:nvPr/>
        </p:nvSpPr>
        <p:spPr>
          <a:xfrm>
            <a:off x="5186637" y="2043391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칩"/>
          <p:cNvSpPr>
            <a:spLocks noGrp="1"/>
          </p:cNvSpPr>
          <p:nvPr>
            <p:ph type="body" sz="quarter" idx="31"/>
          </p:nvPr>
        </p:nvSpPr>
        <p:spPr>
          <a:xfrm>
            <a:off x="5186637" y="2043391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295391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311826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11826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노사합의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(’24.12)</a:t>
            </a:r>
          </a:p>
        </p:txBody>
      </p:sp>
      <p:sp>
        <p:nvSpPr>
          <p:cNvPr id="36" name="단계"/>
          <p:cNvSpPr/>
          <p:nvPr/>
        </p:nvSpPr>
        <p:spPr>
          <a:xfrm>
            <a:off x="1347652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합숙소를 원룸형 개인숙소로 전환 * 니즈 일치 관리비 100% 직원 부담에도 휴식권 보장 위한 원룸형 숙소 확대 요구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770채(거주직원 25%) → ’25년 890채(29%)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 1,165채(38%) → ’30년 1,510채(50%)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 txBox="1"/>
          <p:nvPr/>
        </p:nvSpPr>
        <p:spPr>
          <a:xfrm>
            <a:off x="1358609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5" name="칸 본문"/>
          <p:cNvSpPr txBox="1"/>
          <p:nvPr/>
        </p:nvSpPr>
        <p:spPr>
          <a:xfrm>
            <a:off x="3241304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6" name="Connector 30"/>
          <p:cNvCxnSpPr/>
          <p:nvPr/>
        </p:nvCxnSpPr>
        <p:spPr>
          <a:xfrm>
            <a:off x="3230348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 txBox="1"/>
          <p:nvPr/>
        </p:nvSpPr>
        <p:spPr>
          <a:xfrm>
            <a:off x="5124000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8" name="Connector 32"/>
          <p:cNvCxnSpPr/>
          <p:nvPr/>
        </p:nvCxnSpPr>
        <p:spPr>
          <a:xfrm>
            <a:off x="5113043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04591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04591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045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원룸형 숙소 확보 용이성 등 지역별 여건을 고려, 2-Track 방식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대도시 신속 전환: 現 아파트형 숙소(3인 거주) 임차계약 종료 즉시 대체(98채)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 시·군 거점별 대안: 거점도시 다가구주택 활용, 인근 지사 공동 사용(2채, 35세대)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’25년 원룸형 숙소 전환 목표 101.5% 달성(목표 890채(전년比 120채 증) → 실적 903채)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171696" y="3100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핵심성과 박스"/>
          <p:cNvSpPr/>
          <p:nvPr/>
        </p:nvSpPr>
        <p:spPr>
          <a:xfrm>
            <a:off x="723130" y="3889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핵심성과 라벨"/>
          <p:cNvSpPr/>
          <p:nvPr/>
        </p:nvSpPr>
        <p:spPr>
          <a:xfrm>
            <a:off x="756000" y="3922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22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11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합숙소 관리비 100% 부담 직원 증가(770 → 903명)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연간 관리비 98백만원 감축(개인부담금 ’24년 1,116백만원 → ’25년 1,214백만원)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3 서사 · 대내외 자율통제체제 강화(통제체제 · 자율점검 제도개선 → 추진성과 → 예산운용지침 5개 항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906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대내외 자율통제체제 강화로 정부기준에 부합하는 제도개선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501380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01380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56492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56492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9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합동 교차점검: ’25년 참여기관 확대(5 → 7개)로 기능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내부통제(자체 감사): 국가공무원 기준 개정 등 선제적 발굴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627043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2704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62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징계자 성과급 제한기준 정비: 음주측정 불응 관련 징계처분시 성과급 제한 / 他기관 벤치마킹으로 개선사항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‘미지급’ 규정화(’25.12) ➡ 경영평가성과급, 내부평가급 일체 지급 제외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국외근무수당 산정기준 개선: 국외근무수당 산정 부양가족 범위 조정 / 국가공무원과 수당 지급기준 일치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부양가족에서 ‘직계존속’ 제외 규정화(’25.12) ➡ 배우자 및 19세 미만 자녀로 범위 한정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681826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2635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651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체계적인 보수·복지 제도 모니터링 및 노사협력을 통해 정부지침 이행 동력 확보</a:t>
            </a:r>
          </a:p>
        </p:txBody>
      </p:sp>
      <p:sp>
        <p:nvSpPr>
          <p:cNvPr id="35" name="틀"/>
          <p:cNvSpPr/>
          <p:nvPr/>
        </p:nvSpPr>
        <p:spPr>
          <a:xfrm>
            <a:off x="536870" y="301226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성과 라벨"/>
          <p:cNvSpPr/>
          <p:nvPr/>
        </p:nvSpPr>
        <p:spPr>
          <a:xfrm>
            <a:off x="547826" y="302321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7" name="성과 라벨"/>
          <p:cNvSpPr>
            <a:spLocks noGrp="1"/>
          </p:cNvSpPr>
          <p:nvPr>
            <p:ph type="body" sz="quarter" idx="33"/>
          </p:nvPr>
        </p:nvSpPr>
        <p:spPr>
          <a:xfrm>
            <a:off x="547826" y="302321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지침</a:t>
            </a:r>
          </a:p>
        </p:txBody>
      </p:sp>
      <p:sp>
        <p:nvSpPr>
          <p:cNvPr id="38" name="성과 띠"/>
          <p:cNvSpPr/>
          <p:nvPr/>
        </p:nvSpPr>
        <p:spPr>
          <a:xfrm>
            <a:off x="1172348" y="304513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9" name="성과 띠"/>
          <p:cNvSpPr>
            <a:spLocks noGrp="1"/>
          </p:cNvSpPr>
          <p:nvPr>
            <p:ph type="body" sz="quarter" idx="34"/>
          </p:nvPr>
        </p:nvSpPr>
        <p:spPr>
          <a:xfrm>
            <a:off x="1172348" y="304513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준수: 총인건비 · 복리비 · 복지 · 성과급 · 퇴직금</a:t>
            </a:r>
          </a:p>
        </p:txBody>
      </p:sp>
      <p:sp>
        <p:nvSpPr>
          <p:cNvPr id="40" name="카드"/>
          <p:cNvSpPr/>
          <p:nvPr/>
        </p:nvSpPr>
        <p:spPr>
          <a:xfrm>
            <a:off x="1172348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카드 문구"/>
          <p:cNvSpPr>
            <a:spLocks noGrp="1"/>
          </p:cNvSpPr>
          <p:nvPr>
            <p:ph type="body" sz="quarter" idx="35"/>
          </p:nvPr>
        </p:nvSpPr>
        <p:spPr>
          <a:xfrm>
            <a:off x="1194261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인상률(3%) 한도 준수</a:t>
            </a:r>
          </a:p>
        </p:txBody>
      </p:sp>
      <p:sp>
        <p:nvSpPr>
          <p:cNvPr id="42" name="카드"/>
          <p:cNvSpPr/>
          <p:nvPr/>
        </p:nvSpPr>
        <p:spPr>
          <a:xfrm>
            <a:off x="2307443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36"/>
          </p:nvPr>
        </p:nvSpPr>
        <p:spPr>
          <a:xfrm>
            <a:off x="2329357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2,850천원/인(전년比 12천원↓)</a:t>
            </a:r>
          </a:p>
        </p:txBody>
      </p:sp>
      <p:sp>
        <p:nvSpPr>
          <p:cNvPr id="44" name="카드"/>
          <p:cNvSpPr/>
          <p:nvPr/>
        </p:nvSpPr>
        <p:spPr>
          <a:xfrm>
            <a:off x="3442539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37"/>
          </p:nvPr>
        </p:nvSpPr>
        <p:spPr>
          <a:xfrm>
            <a:off x="3464452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신설항목 Zero</a:t>
            </a:r>
          </a:p>
        </p:txBody>
      </p:sp>
      <p:sp>
        <p:nvSpPr>
          <p:cNvPr id="46" name="카드"/>
          <p:cNvSpPr/>
          <p:nvPr/>
        </p:nvSpPr>
        <p:spPr>
          <a:xfrm>
            <a:off x="4577635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카드 문구"/>
          <p:cNvSpPr>
            <a:spLocks noGrp="1"/>
          </p:cNvSpPr>
          <p:nvPr>
            <p:ph type="body" sz="quarter" idx="38"/>
          </p:nvPr>
        </p:nvSpPr>
        <p:spPr>
          <a:xfrm>
            <a:off x="4599548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중징계, 음주불응자 미지급</a:t>
            </a:r>
          </a:p>
        </p:txBody>
      </p:sp>
      <p:sp>
        <p:nvSpPr>
          <p:cNvPr id="48" name="카드"/>
          <p:cNvSpPr/>
          <p:nvPr/>
        </p:nvSpPr>
        <p:spPr>
          <a:xfrm>
            <a:off x="5712730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카드 문구"/>
          <p:cNvSpPr>
            <a:spLocks noGrp="1"/>
          </p:cNvSpPr>
          <p:nvPr>
            <p:ph type="body" sz="quarter" idx="39"/>
          </p:nvPr>
        </p:nvSpPr>
        <p:spPr>
          <a:xfrm>
            <a:off x="5734643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퇴직금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누진제 및 산재 가산 미운영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4 서사 · 목표 · 이행계획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공감과 직원 만족이 함께하는 균형 잡힌 복지 실현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8574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복지만족도 제고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복리후생 재원의 효율적 운영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429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29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42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고도화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5173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부합하는 제도개선·운용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484609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5 서사 · 추진배경(성과 환류 + 정부정책) → 계획 롤링 → 과제 4영역 → 핵심 제도 2건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16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정책·경영방향·직원 수요 조화 속 합리적 복지제도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3852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852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40318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40318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17384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7384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1383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  성과 환류(’24년 만족도 조사)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 안전한 일터 + 행복한 일터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보건분야 및 근무환경 형평성 제고 등 개선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경영 + 가족친화경영 추진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3640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87904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790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롤링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879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161391" y="1900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161391" y="1900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중장기(’24~’30) 복지 개선계획 내 신규 단기과제(4건), 중점(안전)과제(3건) 추가</a:t>
            </a:r>
          </a:p>
        </p:txBody>
      </p:sp>
      <p:sp>
        <p:nvSpPr>
          <p:cNvPr id="33" name="아이콘 칸"/>
          <p:cNvSpPr/>
          <p:nvPr/>
        </p:nvSpPr>
        <p:spPr>
          <a:xfrm>
            <a:off x="536870" y="253377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34" name="태그"/>
          <p:cNvSpPr/>
          <p:nvPr/>
        </p:nvSpPr>
        <p:spPr>
          <a:xfrm>
            <a:off x="756000" y="253377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1"/>
          </p:nvPr>
        </p:nvSpPr>
        <p:spPr>
          <a:xfrm>
            <a:off x="756000" y="253377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6" name="그룹 제목"/>
          <p:cNvSpPr>
            <a:spLocks noGrp="1"/>
          </p:cNvSpPr>
          <p:nvPr>
            <p:ph type="body" sz="quarter" idx="32"/>
          </p:nvPr>
        </p:nvSpPr>
        <p:spPr>
          <a:xfrm>
            <a:off x="1128929" y="251186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안심일터 · 가정친화 · 효율적 복지 · 직원 만족도 4영역</a:t>
            </a:r>
          </a:p>
        </p:txBody>
      </p:sp>
      <p:sp>
        <p:nvSpPr>
          <p:cNvPr id="37" name="그룹 틀"/>
          <p:cNvSpPr/>
          <p:nvPr/>
        </p:nvSpPr>
        <p:spPr>
          <a:xfrm>
            <a:off x="536870" y="2752904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머리"/>
          <p:cNvSpPr/>
          <p:nvPr/>
        </p:nvSpPr>
        <p:spPr>
          <a:xfrm>
            <a:off x="569739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613565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3"/>
          </p:nvPr>
        </p:nvSpPr>
        <p:spPr>
          <a:xfrm>
            <a:off x="613565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안심일터</a:t>
            </a:r>
          </a:p>
        </p:txBody>
      </p:sp>
      <p:sp>
        <p:nvSpPr>
          <p:cNvPr id="41" name="카드 제목"/>
          <p:cNvSpPr>
            <a:spLocks noGrp="1"/>
          </p:cNvSpPr>
          <p:nvPr>
            <p:ph type="body" sz="quarter" idx="34"/>
          </p:nvPr>
        </p:nvSpPr>
        <p:spPr>
          <a:xfrm>
            <a:off x="119507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안심케어센터 조직 신설</a:t>
            </a:r>
          </a:p>
        </p:txBody>
      </p:sp>
      <p:sp>
        <p:nvSpPr>
          <p:cNvPr id="42" name="카드 본문"/>
          <p:cNvSpPr>
            <a:spLocks noGrp="1"/>
          </p:cNvSpPr>
          <p:nvPr>
            <p:ph type="body" sz="quarter" idx="35"/>
          </p:nvPr>
        </p:nvSpPr>
        <p:spPr>
          <a:xfrm>
            <a:off x="569739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관련 재해 직원 심리·법률 등 밀착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EAP 지원 및 건강증진 활동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상호부조 모금제도 도입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675913" y="2807687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카드 머리"/>
          <p:cNvSpPr/>
          <p:nvPr/>
        </p:nvSpPr>
        <p:spPr>
          <a:xfrm>
            <a:off x="3686870" y="2774817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태그"/>
          <p:cNvSpPr/>
          <p:nvPr/>
        </p:nvSpPr>
        <p:spPr>
          <a:xfrm>
            <a:off x="3730696" y="279673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6"/>
          </p:nvPr>
        </p:nvSpPr>
        <p:spPr>
          <a:xfrm>
            <a:off x="3730696" y="279673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가정친화</a:t>
            </a:r>
          </a:p>
        </p:txBody>
      </p:sp>
      <p:sp>
        <p:nvSpPr>
          <p:cNvPr id="47" name="카드 제목"/>
          <p:cNvSpPr>
            <a:spLocks noGrp="1"/>
          </p:cNvSpPr>
          <p:nvPr>
            <p:ph type="body" sz="quarter" idx="37"/>
          </p:nvPr>
        </p:nvSpPr>
        <p:spPr>
          <a:xfrm>
            <a:off x="4312205" y="2774817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유역별 보육시설 확대 추진</a:t>
            </a:r>
          </a:p>
        </p:txBody>
      </p:sp>
      <p:sp>
        <p:nvSpPr>
          <p:cNvPr id="48" name="카드 본문"/>
          <p:cNvSpPr>
            <a:spLocks noGrp="1"/>
          </p:cNvSpPr>
          <p:nvPr>
            <p:ph type="body" sz="quarter" idx="38"/>
          </p:nvPr>
        </p:nvSpPr>
        <p:spPr>
          <a:xfrm>
            <a:off x="3686870" y="299394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K-water형 워케이션 시범운영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휴가제도 개선(임신검진 동행 10일 등)</a:t>
            </a:r>
          </a:p>
        </p:txBody>
      </p:sp>
      <p:sp>
        <p:nvSpPr>
          <p:cNvPr id="49" name="카드 머리"/>
          <p:cNvSpPr/>
          <p:nvPr/>
        </p:nvSpPr>
        <p:spPr>
          <a:xfrm>
            <a:off x="569739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태그"/>
          <p:cNvSpPr/>
          <p:nvPr/>
        </p:nvSpPr>
        <p:spPr>
          <a:xfrm>
            <a:off x="613565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9"/>
          </p:nvPr>
        </p:nvSpPr>
        <p:spPr>
          <a:xfrm>
            <a:off x="613565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효율적 복지</a:t>
            </a:r>
          </a:p>
        </p:txBody>
      </p:sp>
      <p:sp>
        <p:nvSpPr>
          <p:cNvPr id="52" name="카드 제목"/>
          <p:cNvSpPr>
            <a:spLocks noGrp="1"/>
          </p:cNvSpPr>
          <p:nvPr>
            <p:ph type="body" sz="quarter" idx="40"/>
          </p:nvPr>
        </p:nvSpPr>
        <p:spPr>
          <a:xfrm>
            <a:off x="133411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생활 밀착형 기업제휴 협약 확대</a:t>
            </a:r>
          </a:p>
        </p:txBody>
      </p:sp>
      <p:sp>
        <p:nvSpPr>
          <p:cNvPr id="53" name="카드 본문"/>
          <p:cNvSpPr>
            <a:spLocks noGrp="1"/>
          </p:cNvSpPr>
          <p:nvPr>
            <p:ph type="body" sz="quarter" idx="41"/>
          </p:nvPr>
        </p:nvSpPr>
        <p:spPr>
          <a:xfrm>
            <a:off x="569739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공유차량, 숙박, 쇼핑몰 등 제휴 할인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특근식대 제도 개선</a:t>
            </a:r>
          </a:p>
        </p:txBody>
      </p:sp>
      <p:cxnSp>
        <p:nvCxnSpPr>
          <p:cNvPr id="54" name="Connector 38"/>
          <p:cNvCxnSpPr/>
          <p:nvPr/>
        </p:nvCxnSpPr>
        <p:spPr>
          <a:xfrm>
            <a:off x="3675913" y="3903339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카드 머리"/>
          <p:cNvSpPr/>
          <p:nvPr/>
        </p:nvSpPr>
        <p:spPr>
          <a:xfrm>
            <a:off x="3686870" y="387047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태그"/>
          <p:cNvSpPr/>
          <p:nvPr/>
        </p:nvSpPr>
        <p:spPr>
          <a:xfrm>
            <a:off x="3730696" y="3892383"/>
            <a:ext cx="68768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태그"/>
          <p:cNvSpPr>
            <a:spLocks noGrp="1"/>
          </p:cNvSpPr>
          <p:nvPr>
            <p:ph type="body" sz="quarter" idx="42"/>
          </p:nvPr>
        </p:nvSpPr>
        <p:spPr>
          <a:xfrm>
            <a:off x="3730696" y="3892383"/>
            <a:ext cx="68768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만족도</a:t>
            </a:r>
          </a:p>
        </p:txBody>
      </p:sp>
      <p:sp>
        <p:nvSpPr>
          <p:cNvPr id="58" name="카드 제목"/>
          <p:cNvSpPr>
            <a:spLocks noGrp="1"/>
          </p:cNvSpPr>
          <p:nvPr>
            <p:ph type="body" sz="quarter" idx="43"/>
          </p:nvPr>
        </p:nvSpPr>
        <p:spPr>
          <a:xfrm>
            <a:off x="4451245" y="3870470"/>
            <a:ext cx="230892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전사 휴게·위생·복지공간 개선</a:t>
            </a:r>
          </a:p>
        </p:txBody>
      </p:sp>
      <p:sp>
        <p:nvSpPr>
          <p:cNvPr id="59" name="카드 본문"/>
          <p:cNvSpPr>
            <a:spLocks noGrp="1"/>
          </p:cNvSpPr>
          <p:nvPr>
            <p:ph type="body" sz="quarter" idx="44"/>
          </p:nvPr>
        </p:nvSpPr>
        <p:spPr>
          <a:xfrm>
            <a:off x="3686870" y="408960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휴게·화장실 151개소, 구내식당 등 285개소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60" name="아이콘 칸"/>
          <p:cNvSpPr/>
          <p:nvPr/>
        </p:nvSpPr>
        <p:spPr>
          <a:xfrm>
            <a:off x="536870" y="5119513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1" name="태그"/>
          <p:cNvSpPr/>
          <p:nvPr/>
        </p:nvSpPr>
        <p:spPr>
          <a:xfrm>
            <a:off x="756000" y="5119513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5"/>
          </p:nvPr>
        </p:nvSpPr>
        <p:spPr>
          <a:xfrm>
            <a:off x="756000" y="5119513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제도</a:t>
            </a:r>
          </a:p>
        </p:txBody>
      </p:sp>
      <p:sp>
        <p:nvSpPr>
          <p:cNvPr id="63" name="그룹 제목"/>
          <p:cNvSpPr>
            <a:spLocks noGrp="1"/>
          </p:cNvSpPr>
          <p:nvPr>
            <p:ph type="body" sz="quarter" idx="46"/>
          </p:nvPr>
        </p:nvSpPr>
        <p:spPr>
          <a:xfrm>
            <a:off x="1377737" y="5097600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재원 효율화와 직원 편의를 함께 높이는 핵심 제도 2건</a:t>
            </a:r>
          </a:p>
        </p:txBody>
      </p:sp>
      <p:sp>
        <p:nvSpPr>
          <p:cNvPr id="64" name="카드 틀"/>
          <p:cNvSpPr/>
          <p:nvPr/>
        </p:nvSpPr>
        <p:spPr>
          <a:xfrm>
            <a:off x="536870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탭"/>
          <p:cNvSpPr/>
          <p:nvPr/>
        </p:nvSpPr>
        <p:spPr>
          <a:xfrm>
            <a:off x="536870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탭"/>
          <p:cNvSpPr>
            <a:spLocks noGrp="1"/>
          </p:cNvSpPr>
          <p:nvPr>
            <p:ph type="body" sz="quarter" idx="47"/>
          </p:nvPr>
        </p:nvSpPr>
        <p:spPr>
          <a:xfrm>
            <a:off x="536870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</p:txBody>
      </p:sp>
      <p:sp>
        <p:nvSpPr>
          <p:cNvPr id="67" name="카드 제목"/>
          <p:cNvSpPr>
            <a:spLocks noGrp="1"/>
          </p:cNvSpPr>
          <p:nvPr>
            <p:ph type="body" sz="quarter" idx="48"/>
          </p:nvPr>
        </p:nvSpPr>
        <p:spPr>
          <a:xfrm>
            <a:off x="986087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특근식대 시스템 도입</a:t>
            </a:r>
          </a:p>
        </p:txBody>
      </p:sp>
      <p:sp>
        <p:nvSpPr>
          <p:cNvPr id="68" name="카드 본문"/>
          <p:cNvSpPr>
            <a:spLocks noGrp="1"/>
          </p:cNvSpPr>
          <p:nvPr>
            <p:ph type="body" sz="quarter" idx="49"/>
          </p:nvPr>
        </p:nvSpPr>
        <p:spPr>
          <a:xfrm>
            <a:off x="558783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근태와 연계한 모바일 식권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복지축소 우려 노조 협의 중단(’24.6) → 소통·합의(’24.11) → 도입(’25.1~3) → 확산(’25.4~)</a:t>
            </a:r>
          </a:p>
        </p:txBody>
      </p:sp>
      <p:sp>
        <p:nvSpPr>
          <p:cNvPr id="69" name="카드 요약"/>
          <p:cNvSpPr/>
          <p:nvPr/>
        </p:nvSpPr>
        <p:spPr>
          <a:xfrm>
            <a:off x="536870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0" name="카드 요약"/>
          <p:cNvSpPr>
            <a:spLocks noGrp="1"/>
          </p:cNvSpPr>
          <p:nvPr>
            <p:ph type="body" sz="quarter" idx="50"/>
          </p:nvPr>
        </p:nvSpPr>
        <p:spPr>
          <a:xfrm>
            <a:off x="536870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전년比 특근식대 5억원 절감(19 → 14억원)</a:t>
            </a:r>
          </a:p>
        </p:txBody>
      </p:sp>
      <p:sp>
        <p:nvSpPr>
          <p:cNvPr id="71" name="카드 틀"/>
          <p:cNvSpPr/>
          <p:nvPr/>
        </p:nvSpPr>
        <p:spPr>
          <a:xfrm>
            <a:off x="3708783" y="534960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탭"/>
          <p:cNvSpPr/>
          <p:nvPr/>
        </p:nvSpPr>
        <p:spPr>
          <a:xfrm>
            <a:off x="3708783" y="534960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탭"/>
          <p:cNvSpPr>
            <a:spLocks noGrp="1"/>
          </p:cNvSpPr>
          <p:nvPr>
            <p:ph type="body" sz="quarter" idx="51"/>
          </p:nvPr>
        </p:nvSpPr>
        <p:spPr>
          <a:xfrm>
            <a:off x="3708783" y="534960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</p:txBody>
      </p:sp>
      <p:sp>
        <p:nvSpPr>
          <p:cNvPr id="74" name="카드 제목"/>
          <p:cNvSpPr>
            <a:spLocks noGrp="1"/>
          </p:cNvSpPr>
          <p:nvPr>
            <p:ph type="body" sz="quarter" idx="52"/>
          </p:nvPr>
        </p:nvSpPr>
        <p:spPr>
          <a:xfrm>
            <a:off x="4158000" y="534960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통합 복지포털 구축</a:t>
            </a:r>
          </a:p>
        </p:txBody>
      </p:sp>
      <p:sp>
        <p:nvSpPr>
          <p:cNvPr id="75" name="카드 본문"/>
          <p:cNvSpPr>
            <a:spLocks noGrp="1"/>
          </p:cNvSpPr>
          <p:nvPr>
            <p:ph type="body" sz="quarter" idx="53"/>
          </p:nvPr>
        </p:nvSpPr>
        <p:spPr>
          <a:xfrm>
            <a:off x="3730696" y="557968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산재한 정보 창구 일원화 및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수기관리 → 신청·관리 시스템 구축, 복지예산 집행현황 실시간 모니터링</a:t>
            </a:r>
          </a:p>
        </p:txBody>
      </p:sp>
      <p:sp>
        <p:nvSpPr>
          <p:cNvPr id="76" name="카드 요약"/>
          <p:cNvSpPr/>
          <p:nvPr/>
        </p:nvSpPr>
        <p:spPr>
          <a:xfrm>
            <a:off x="3708783" y="613847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7" name="카드 요약"/>
          <p:cNvSpPr>
            <a:spLocks noGrp="1"/>
          </p:cNvSpPr>
          <p:nvPr>
            <p:ph type="body" sz="quarter" idx="54"/>
          </p:nvPr>
        </p:nvSpPr>
        <p:spPr>
          <a:xfrm>
            <a:off x="3708783" y="613847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복지포털 만족도 4.39점 달성(’25년)</a:t>
            </a:r>
          </a:p>
        </p:txBody>
      </p:sp>
      <p:sp>
        <p:nvSpPr>
          <p:cNvPr id="78" name="틀"/>
          <p:cNvSpPr/>
          <p:nvPr/>
        </p:nvSpPr>
        <p:spPr>
          <a:xfrm>
            <a:off x="536870" y="6521948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성과 라벨"/>
          <p:cNvSpPr/>
          <p:nvPr/>
        </p:nvSpPr>
        <p:spPr>
          <a:xfrm>
            <a:off x="547826" y="6532904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0" name="성과 라벨"/>
          <p:cNvSpPr>
            <a:spLocks noGrp="1"/>
          </p:cNvSpPr>
          <p:nvPr>
            <p:ph type="body" sz="quarter" idx="55"/>
          </p:nvPr>
        </p:nvSpPr>
        <p:spPr>
          <a:xfrm>
            <a:off x="547826" y="6532904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1" name="성과 띠"/>
          <p:cNvSpPr/>
          <p:nvPr/>
        </p:nvSpPr>
        <p:spPr>
          <a:xfrm>
            <a:off x="1172348" y="6554817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2" name="성과 띠"/>
          <p:cNvSpPr>
            <a:spLocks noGrp="1"/>
          </p:cNvSpPr>
          <p:nvPr>
            <p:ph type="body" sz="quarter" idx="56"/>
          </p:nvPr>
        </p:nvSpPr>
        <p:spPr>
          <a:xfrm>
            <a:off x="1172348" y="6554817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 감축 + 직원 복지만족도 향상</a:t>
            </a:r>
          </a:p>
        </p:txBody>
      </p:sp>
      <p:sp>
        <p:nvSpPr>
          <p:cNvPr id="83" name="카드"/>
          <p:cNvSpPr/>
          <p:nvPr/>
        </p:nvSpPr>
        <p:spPr>
          <a:xfrm>
            <a:off x="1172348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카드 문구"/>
          <p:cNvSpPr>
            <a:spLocks noGrp="1"/>
          </p:cNvSpPr>
          <p:nvPr>
            <p:ph type="body" sz="quarter" idx="57"/>
          </p:nvPr>
        </p:nvSpPr>
        <p:spPr>
          <a:xfrm>
            <a:off x="1194261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1인당 복리후생비(천원)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12천원 감축</a:t>
            </a:r>
          </a:p>
        </p:txBody>
      </p:sp>
      <p:sp>
        <p:nvSpPr>
          <p:cNvPr id="85" name="막대"/>
          <p:cNvSpPr/>
          <p:nvPr/>
        </p:nvSpPr>
        <p:spPr>
          <a:xfrm>
            <a:off x="2512330" y="7168383"/>
            <a:ext cx="164348" cy="21913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58"/>
          </p:nvPr>
        </p:nvSpPr>
        <p:spPr>
          <a:xfrm>
            <a:off x="2424678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2,862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59"/>
          </p:nvPr>
        </p:nvSpPr>
        <p:spPr>
          <a:xfrm>
            <a:off x="2424678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8" name="막대"/>
          <p:cNvSpPr/>
          <p:nvPr/>
        </p:nvSpPr>
        <p:spPr>
          <a:xfrm>
            <a:off x="3211904" y="7170817"/>
            <a:ext cx="164348" cy="21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0"/>
          </p:nvPr>
        </p:nvSpPr>
        <p:spPr>
          <a:xfrm>
            <a:off x="3124252" y="699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2,850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1"/>
          </p:nvPr>
        </p:nvSpPr>
        <p:spPr>
          <a:xfrm>
            <a:off x="3124252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6795861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2"/>
          </p:nvPr>
        </p:nvSpPr>
        <p:spPr>
          <a:xfrm>
            <a:off x="4032000" y="6806817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복지만족도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0.03점 향상</a:t>
            </a:r>
          </a:p>
        </p:txBody>
      </p:sp>
      <p:sp>
        <p:nvSpPr>
          <p:cNvPr id="93" name="막대"/>
          <p:cNvSpPr/>
          <p:nvPr/>
        </p:nvSpPr>
        <p:spPr>
          <a:xfrm>
            <a:off x="5350070" y="7170961"/>
            <a:ext cx="164348" cy="21655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3"/>
          </p:nvPr>
        </p:nvSpPr>
        <p:spPr>
          <a:xfrm>
            <a:off x="5262417" y="699565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4.18점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4"/>
          </p:nvPr>
        </p:nvSpPr>
        <p:spPr>
          <a:xfrm>
            <a:off x="5262417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6" name="막대"/>
          <p:cNvSpPr/>
          <p:nvPr/>
        </p:nvSpPr>
        <p:spPr>
          <a:xfrm>
            <a:off x="6049643" y="7168383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5"/>
          </p:nvPr>
        </p:nvSpPr>
        <p:spPr>
          <a:xfrm>
            <a:off x="5961991" y="699307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4.21점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6"/>
          </p:nvPr>
        </p:nvSpPr>
        <p:spPr>
          <a:xfrm>
            <a:off x="5961991" y="7398470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6 서사 · 통상임금 변경 가능성 → 사전 영향진단 → 대응체계 3칸 → 제도개선 2칸 → 추진성과(연도 비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직무중심 보수체계 기반으로 통상임금 판례 변경 파고(波高) 극복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5006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630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630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가능성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‘고정성’ 쟁점 사건 대법원 전원합의체 회부로 해석변경 가능성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고정성 요건 완화(제외)시 통상임금 확대로 법정초과수당 증가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72440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72440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영향진단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7244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7463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7463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보수체계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수당 증가 규모는 총인건비 내 해소 가능하나, 증가 최소화 필요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8735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수행직무에 따른 보수영향 차이 발생으로 직원 수용성 저하 우려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통상직무: 수당 미증가 → 보상휴가제 / 교대직무: 수당 증가 → 보상휴가제 적용 불가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2020226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721443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7214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2" name="배너"/>
          <p:cNvSpPr/>
          <p:nvPr/>
        </p:nvSpPr>
        <p:spPr>
          <a:xfrm>
            <a:off x="1347652" y="27433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27433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결과에 기반하여 변경판례 확정(’24.12)에 따른 신속한 대응체계 마련</a:t>
            </a:r>
          </a:p>
        </p:txBody>
      </p:sp>
      <p:sp>
        <p:nvSpPr>
          <p:cNvPr id="34" name="레일"/>
          <p:cNvSpPr/>
          <p:nvPr/>
        </p:nvSpPr>
        <p:spPr>
          <a:xfrm>
            <a:off x="734087" y="3146087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314608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36" name="머리칸"/>
          <p:cNvSpPr/>
          <p:nvPr/>
        </p:nvSpPr>
        <p:spPr>
          <a:xfrm>
            <a:off x="1347652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법·제도 불확실성 해소</a:t>
            </a:r>
          </a:p>
        </p:txBody>
      </p:sp>
      <p:sp>
        <p:nvSpPr>
          <p:cNvPr id="38" name="머리칸"/>
          <p:cNvSpPr/>
          <p:nvPr/>
        </p:nvSpPr>
        <p:spPr>
          <a:xfrm>
            <a:off x="3230348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직원니즈 수렴 및 소통</a:t>
            </a:r>
          </a:p>
        </p:txBody>
      </p:sp>
      <p:sp>
        <p:nvSpPr>
          <p:cNvPr id="40" name="머리칸"/>
          <p:cNvSpPr/>
          <p:nvPr/>
        </p:nvSpPr>
        <p:spPr>
          <a:xfrm>
            <a:off x="5113043" y="3168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3168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노사협의체 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산입여부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노무전문가 자문(’25.3), 고용노동부 유권해석(’25.8)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직무가치의 합리적 평가 및 보상 연계 강화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전직원 설명회(5회)</a:t>
            </a:r>
          </a:p>
        </p:txBody>
      </p:sp>
      <p:cxnSp>
        <p:nvCxnSpPr>
          <p:cNvPr id="44" name="Connector 27"/>
          <p:cNvCxnSpPr/>
          <p:nvPr/>
        </p:nvCxnSpPr>
        <p:spPr>
          <a:xfrm>
            <a:off x="3230348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409043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보수체계 개편 대안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임금협약(’25.6~12), 노사 교대근무 TF(’25.5~12)</a:t>
            </a:r>
          </a:p>
        </p:txBody>
      </p:sp>
      <p:cxnSp>
        <p:nvCxnSpPr>
          <p:cNvPr id="46" name="Connector 29"/>
          <p:cNvCxnSpPr/>
          <p:nvPr/>
        </p:nvCxnSpPr>
        <p:spPr>
          <a:xfrm>
            <a:off x="5113043" y="344191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4471826"/>
            <a:ext cx="580696" cy="109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71826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49" name="머리칸"/>
          <p:cNvSpPr/>
          <p:nvPr/>
        </p:nvSpPr>
        <p:spPr>
          <a:xfrm>
            <a:off x="1347652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임금협약  직무급 재설계</a:t>
            </a:r>
          </a:p>
        </p:txBody>
      </p:sp>
      <p:sp>
        <p:nvSpPr>
          <p:cNvPr id="51" name="머리칸"/>
          <p:cNvSpPr/>
          <p:nvPr/>
        </p:nvSpPr>
        <p:spPr>
          <a:xfrm>
            <a:off x="4171696" y="449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449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교대근무TF  초과근무 축소 및 휴식권 향상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직무가치 재진단으로 직무급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통상·교대 직무급 불균형 보완, 직무급 비중 확대(21.42% → 21.97% → 22.88%)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473478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‘운영관리 지원반’ 운영: 주간 근무일 휴가·외출 사용시 교체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초과근무 축소(수당 축소), 휴가사용 제약 완화</a:t>
            </a:r>
          </a:p>
        </p:txBody>
      </p:sp>
      <p:cxnSp>
        <p:nvCxnSpPr>
          <p:cNvPr id="55" name="Connector 35"/>
          <p:cNvCxnSpPr/>
          <p:nvPr/>
        </p:nvCxnSpPr>
        <p:spPr>
          <a:xfrm>
            <a:off x="4171696" y="4767652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5784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55784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5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60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560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노사협력·소통에 기반하여 총인건비 제도 내에서 수용성 높은 보수체계로 개편</a:t>
            </a:r>
          </a:p>
        </p:txBody>
      </p:sp>
      <p:sp>
        <p:nvSpPr>
          <p:cNvPr id="61" name="틀"/>
          <p:cNvSpPr/>
          <p:nvPr/>
        </p:nvSpPr>
        <p:spPr>
          <a:xfrm>
            <a:off x="723130" y="620029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성과 라벨"/>
          <p:cNvSpPr/>
          <p:nvPr/>
        </p:nvSpPr>
        <p:spPr>
          <a:xfrm>
            <a:off x="734087" y="6211252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3" name="성과 라벨"/>
          <p:cNvSpPr>
            <a:spLocks noGrp="1"/>
          </p:cNvSpPr>
          <p:nvPr>
            <p:ph type="body" sz="quarter" idx="46"/>
          </p:nvPr>
        </p:nvSpPr>
        <p:spPr>
          <a:xfrm>
            <a:off x="734087" y="6211252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4" name="성과 띠"/>
          <p:cNvSpPr/>
          <p:nvPr/>
        </p:nvSpPr>
        <p:spPr>
          <a:xfrm>
            <a:off x="1358609" y="6233165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5" name="성과 띠"/>
          <p:cNvSpPr>
            <a:spLocks noGrp="1"/>
          </p:cNvSpPr>
          <p:nvPr>
            <p:ph type="body" sz="quarter" idx="47"/>
          </p:nvPr>
        </p:nvSpPr>
        <p:spPr>
          <a:xfrm>
            <a:off x="1358609" y="6233165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및 업무 성과 기반 공정한 보상체계에 대한 조직 수용성 제고(’25년 신뢰경영지수)</a:t>
            </a:r>
          </a:p>
        </p:txBody>
      </p:sp>
      <p:sp>
        <p:nvSpPr>
          <p:cNvPr id="66" name="카드"/>
          <p:cNvSpPr/>
          <p:nvPr/>
        </p:nvSpPr>
        <p:spPr>
          <a:xfrm>
            <a:off x="1358609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카드 문구"/>
          <p:cNvSpPr>
            <a:spLocks noGrp="1"/>
          </p:cNvSpPr>
          <p:nvPr>
            <p:ph type="body" sz="quarter" idx="48"/>
          </p:nvPr>
        </p:nvSpPr>
        <p:spPr>
          <a:xfrm>
            <a:off x="1380522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존중: 업무성과와 노력에 대한 인정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3점 향상</a:t>
            </a:r>
          </a:p>
        </p:txBody>
      </p:sp>
      <p:sp>
        <p:nvSpPr>
          <p:cNvPr id="68" name="막대"/>
          <p:cNvSpPr/>
          <p:nvPr/>
        </p:nvSpPr>
        <p:spPr>
          <a:xfrm>
            <a:off x="2698591" y="6853876"/>
            <a:ext cx="164348" cy="21198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49"/>
          </p:nvPr>
        </p:nvSpPr>
        <p:spPr>
          <a:xfrm>
            <a:off x="2610939" y="667857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89점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0"/>
          </p:nvPr>
        </p:nvSpPr>
        <p:spPr>
          <a:xfrm>
            <a:off x="2610939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1" name="막대"/>
          <p:cNvSpPr/>
          <p:nvPr/>
        </p:nvSpPr>
        <p:spPr>
          <a:xfrm>
            <a:off x="3398165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값"/>
          <p:cNvSpPr>
            <a:spLocks noGrp="1"/>
          </p:cNvSpPr>
          <p:nvPr>
            <p:ph type="body" sz="quarter" idx="51"/>
          </p:nvPr>
        </p:nvSpPr>
        <p:spPr>
          <a:xfrm>
            <a:off x="3310513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92점</a:t>
            </a:r>
          </a:p>
        </p:txBody>
      </p:sp>
      <p:sp>
        <p:nvSpPr>
          <p:cNvPr id="73" name="연도"/>
          <p:cNvSpPr>
            <a:spLocks noGrp="1"/>
          </p:cNvSpPr>
          <p:nvPr>
            <p:ph type="body" sz="quarter" idx="52"/>
          </p:nvPr>
        </p:nvSpPr>
        <p:spPr>
          <a:xfrm>
            <a:off x="3310513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4" name="카드"/>
          <p:cNvSpPr/>
          <p:nvPr/>
        </p:nvSpPr>
        <p:spPr>
          <a:xfrm>
            <a:off x="4196348" y="6474209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카드 문구"/>
          <p:cNvSpPr>
            <a:spLocks noGrp="1"/>
          </p:cNvSpPr>
          <p:nvPr>
            <p:ph type="body" sz="quarter" idx="53"/>
          </p:nvPr>
        </p:nvSpPr>
        <p:spPr>
          <a:xfrm>
            <a:off x="4218261" y="6485165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공정성: 자신의 업무에 대한 공정한 보상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6점 향상</a:t>
            </a:r>
          </a:p>
        </p:txBody>
      </p:sp>
      <p:sp>
        <p:nvSpPr>
          <p:cNvPr id="76" name="막대"/>
          <p:cNvSpPr/>
          <p:nvPr/>
        </p:nvSpPr>
        <p:spPr>
          <a:xfrm>
            <a:off x="5536330" y="6861843"/>
            <a:ext cx="164348" cy="20401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값"/>
          <p:cNvSpPr>
            <a:spLocks noGrp="1"/>
          </p:cNvSpPr>
          <p:nvPr>
            <p:ph type="body" sz="quarter" idx="54"/>
          </p:nvPr>
        </p:nvSpPr>
        <p:spPr>
          <a:xfrm>
            <a:off x="5448678" y="6686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81점</a:t>
            </a:r>
          </a:p>
        </p:txBody>
      </p:sp>
      <p:sp>
        <p:nvSpPr>
          <p:cNvPr id="78" name="연도"/>
          <p:cNvSpPr>
            <a:spLocks noGrp="1"/>
          </p:cNvSpPr>
          <p:nvPr>
            <p:ph type="body" sz="quarter" idx="55"/>
          </p:nvPr>
        </p:nvSpPr>
        <p:spPr>
          <a:xfrm>
            <a:off x="5448678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9" name="막대"/>
          <p:cNvSpPr/>
          <p:nvPr/>
        </p:nvSpPr>
        <p:spPr>
          <a:xfrm>
            <a:off x="6235904" y="6846730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값"/>
          <p:cNvSpPr>
            <a:spLocks noGrp="1"/>
          </p:cNvSpPr>
          <p:nvPr>
            <p:ph type="body" sz="quarter" idx="56"/>
          </p:nvPr>
        </p:nvSpPr>
        <p:spPr>
          <a:xfrm>
            <a:off x="6148252" y="667142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87점</a:t>
            </a:r>
          </a:p>
        </p:txBody>
      </p:sp>
      <p:sp>
        <p:nvSpPr>
          <p:cNvPr id="81" name="연도"/>
          <p:cNvSpPr>
            <a:spLocks noGrp="1"/>
          </p:cNvSpPr>
          <p:nvPr>
            <p:ph type="body" sz="quarter" idx="57"/>
          </p:nvPr>
        </p:nvSpPr>
        <p:spPr>
          <a:xfrm>
            <a:off x="6148252" y="707681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7 서사 · 사업영역 개요(그림 + 관리체계 · 공급체계 두 패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088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사업영역 · 물순환 체계 전반과 에너지·도시사업을 아우르는 종합 물기업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개념도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090174"/>
            <a:ext cx="4514087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물순환 체계 전반: 유역 물환경 관리 · 용수확보 · 물재해 대응 · 수돗물 생산·공급 · 하수 재이용 · 물에너지 발전 · 수변공간 조성 · 글로벌 물산업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① 수도 ② 수자원 ③ 융합</a:t>
            </a:r>
          </a:p>
        </p:txBody>
      </p:sp>
      <p:sp>
        <p:nvSpPr>
          <p:cNvPr id="16" name="사진 칸"/>
          <p:cNvSpPr/>
          <p:nvPr/>
        </p:nvSpPr>
        <p:spPr>
          <a:xfrm>
            <a:off x="5730261" y="1095652"/>
            <a:ext cx="1079217" cy="1139478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7" name="사진 칸"/>
          <p:cNvSpPr>
            <a:spLocks noGrp="1"/>
          </p:cNvSpPr>
          <p:nvPr>
            <p:ph type="body" sz="quarter" idx="23"/>
          </p:nvPr>
        </p:nvSpPr>
        <p:spPr>
          <a:xfrm>
            <a:off x="5730261" y="1095652"/>
            <a:ext cx="1079217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사업영역 개념도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536870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패널 머리"/>
          <p:cNvSpPr/>
          <p:nvPr/>
        </p:nvSpPr>
        <p:spPr>
          <a:xfrm>
            <a:off x="536870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패널 머리"/>
          <p:cNvSpPr>
            <a:spLocks noGrp="1"/>
          </p:cNvSpPr>
          <p:nvPr>
            <p:ph type="body" sz="quarter" idx="24"/>
          </p:nvPr>
        </p:nvSpPr>
        <p:spPr>
          <a:xfrm>
            <a:off x="536870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관리체계</a:t>
            </a:r>
          </a:p>
        </p:txBody>
      </p:sp>
      <p:sp>
        <p:nvSpPr>
          <p:cNvPr id="21" name="패널 본문"/>
          <p:cNvSpPr>
            <a:spLocks noGrp="1"/>
          </p:cNvSpPr>
          <p:nvPr>
            <p:ph type="body" sz="quarter" idx="25"/>
          </p:nvPr>
        </p:nvSpPr>
        <p:spPr>
          <a:xfrm>
            <a:off x="558783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및 하천의 종류에 따라 관리주체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다목적댐과 그 직상하류만 관리</a:t>
            </a:r>
          </a:p>
        </p:txBody>
      </p:sp>
      <p:sp>
        <p:nvSpPr>
          <p:cNvPr id="22" name="요약 바"/>
          <p:cNvSpPr/>
          <p:nvPr/>
        </p:nvSpPr>
        <p:spPr>
          <a:xfrm>
            <a:off x="558783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요약 바"/>
          <p:cNvSpPr>
            <a:spLocks noGrp="1"/>
          </p:cNvSpPr>
          <p:nvPr>
            <p:ph type="body" sz="quarter" idx="26"/>
          </p:nvPr>
        </p:nvSpPr>
        <p:spPr>
          <a:xfrm>
            <a:off x="558783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· 발전댐 · 농업용 저수지 · 국가하천 · 지방하천</a:t>
            </a:r>
          </a:p>
        </p:txBody>
      </p:sp>
      <p:sp>
        <p:nvSpPr>
          <p:cNvPr id="24" name="패널 외곽"/>
          <p:cNvSpPr/>
          <p:nvPr/>
        </p:nvSpPr>
        <p:spPr>
          <a:xfrm>
            <a:off x="3708783" y="2317304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패널 머리"/>
          <p:cNvSpPr/>
          <p:nvPr/>
        </p:nvSpPr>
        <p:spPr>
          <a:xfrm>
            <a:off x="3708783" y="2317304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패널 머리"/>
          <p:cNvSpPr>
            <a:spLocks noGrp="1"/>
          </p:cNvSpPr>
          <p:nvPr>
            <p:ph type="body" sz="quarter" idx="27"/>
          </p:nvPr>
        </p:nvSpPr>
        <p:spPr>
          <a:xfrm>
            <a:off x="3708783" y="2317304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공급체계</a:t>
            </a:r>
          </a:p>
        </p:txBody>
      </p:sp>
      <p:sp>
        <p:nvSpPr>
          <p:cNvPr id="27" name="패널 본문"/>
          <p:cNvSpPr>
            <a:spLocks noGrp="1"/>
          </p:cNvSpPr>
          <p:nvPr>
            <p:ph type="body" sz="quarter" idx="28"/>
          </p:nvPr>
        </p:nvSpPr>
        <p:spPr>
          <a:xfrm>
            <a:off x="3730696" y="2558348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광역상수도(K-water)와 지방상수도(지자체)로 분절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K-water는 물을 생산해 지자체에 공급하는 역할</a:t>
            </a:r>
          </a:p>
        </p:txBody>
      </p:sp>
      <p:sp>
        <p:nvSpPr>
          <p:cNvPr id="28" name="요약 바"/>
          <p:cNvSpPr/>
          <p:nvPr/>
        </p:nvSpPr>
        <p:spPr>
          <a:xfrm>
            <a:off x="3730696" y="3062348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요약 바"/>
          <p:cNvSpPr>
            <a:spLocks noGrp="1"/>
          </p:cNvSpPr>
          <p:nvPr>
            <p:ph type="body" sz="quarter" idx="29"/>
          </p:nvPr>
        </p:nvSpPr>
        <p:spPr>
          <a:xfrm>
            <a:off x="3730696" y="3062348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취수장 → 정수장 → 배수지 → 급수관 → 국민 · 기업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8 서사 · 사업 분야 소개(미션 한 줄 → 사업구성 → 대상사업 · 사업범위 · 주요 미션 표 + 도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14" name="배너"/>
          <p:cNvSpPr/>
          <p:nvPr/>
        </p:nvSpPr>
        <p:spPr>
          <a:xfrm>
            <a:off x="723130" y="1139478"/>
            <a:ext cx="6300000" cy="536870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5" name="Connector 9"/>
          <p:cNvCxnSpPr/>
          <p:nvPr/>
        </p:nvCxnSpPr>
        <p:spPr>
          <a:xfrm>
            <a:off x="723130" y="113947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6" name="배너 글"/>
          <p:cNvSpPr>
            <a:spLocks noGrp="1"/>
          </p:cNvSpPr>
          <p:nvPr>
            <p:ph type="body" sz="quarter" idx="22"/>
          </p:nvPr>
        </p:nvSpPr>
        <p:spPr>
          <a:xfrm>
            <a:off x="723130" y="1194261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국민·기업이 만족하는 고품질 물공급으로 물복지 제고 및 산업 경쟁력 강화</a:t>
            </a:r>
          </a:p>
        </p:txBody>
      </p:sp>
      <p:sp>
        <p:nvSpPr>
          <p:cNvPr id="17" name="배너 글"/>
          <p:cNvSpPr>
            <a:spLocks noGrp="1"/>
          </p:cNvSpPr>
          <p:nvPr>
            <p:ph type="body" sz="quarter" idx="23"/>
          </p:nvPr>
        </p:nvSpPr>
        <p:spPr>
          <a:xfrm>
            <a:off x="723130" y="140243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 수돗물의 51% 공급 및 지방상수도 운영 선진화 지원 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950261"/>
            <a:ext cx="478319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796870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사업구성 · 수돗물 공급 혁신, 포용적 물복지 강화, 국민체감 서비스 개선, 안전관리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9 서사 · 주요사업 정의 및 평가대상 사업 선정(설립목적 → 비전 → 전략 → 주요사업 정의·대표성 → 평가대상사업 → 성과목표·지표·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주요사업 정의 및 평가대상 사업 선정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7761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 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적</a:t>
            </a:r>
          </a:p>
        </p:txBody>
      </p:sp>
      <p:sp>
        <p:nvSpPr>
          <p:cNvPr id="18" name="단계"/>
          <p:cNvSpPr/>
          <p:nvPr/>
        </p:nvSpPr>
        <p:spPr>
          <a:xfrm>
            <a:off x="1161391" y="115591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20" name="단계"/>
          <p:cNvSpPr/>
          <p:nvPr/>
        </p:nvSpPr>
        <p:spPr>
          <a:xfrm>
            <a:off x="2291009" y="115591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2291009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22" name="단계"/>
          <p:cNvSpPr/>
          <p:nvPr/>
        </p:nvSpPr>
        <p:spPr>
          <a:xfrm>
            <a:off x="3420626" y="115591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3420626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24" name="단계"/>
          <p:cNvSpPr/>
          <p:nvPr/>
        </p:nvSpPr>
        <p:spPr>
          <a:xfrm>
            <a:off x="4550243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4550243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26" name="단계"/>
          <p:cNvSpPr/>
          <p:nvPr/>
        </p:nvSpPr>
        <p:spPr>
          <a:xfrm>
            <a:off x="5679861" y="115591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679861" y="115591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291008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42062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55024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5679860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2301965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4"/>
          <p:cNvCxnSpPr/>
          <p:nvPr/>
        </p:nvCxnSpPr>
        <p:spPr>
          <a:xfrm flipV="1">
            <a:off x="2291009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3431583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6"/>
          <p:cNvCxnSpPr/>
          <p:nvPr/>
        </p:nvCxnSpPr>
        <p:spPr>
          <a:xfrm flipV="1">
            <a:off x="3420626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 txBox="1"/>
          <p:nvPr/>
        </p:nvSpPr>
        <p:spPr>
          <a:xfrm>
            <a:off x="4561200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8"/>
          <p:cNvCxnSpPr/>
          <p:nvPr/>
        </p:nvCxnSpPr>
        <p:spPr>
          <a:xfrm flipV="1">
            <a:off x="4550243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5690817" y="140791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30"/>
          <p:cNvCxnSpPr/>
          <p:nvPr/>
        </p:nvCxnSpPr>
        <p:spPr>
          <a:xfrm flipV="1">
            <a:off x="5679861" y="1429826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15586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 / AI 특화비전: 기후위기를 극복하는 AI 물관리 세계 1위 기업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1959965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599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8" name="배너"/>
          <p:cNvSpPr/>
          <p:nvPr/>
        </p:nvSpPr>
        <p:spPr>
          <a:xfrm>
            <a:off x="1161391" y="19818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9818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구현(~2030년 Water Storage 20% 확충 및 녹색수출 20조원)</a:t>
            </a:r>
          </a:p>
        </p:txBody>
      </p:sp>
      <p:sp>
        <p:nvSpPr>
          <p:cNvPr id="50" name="레일"/>
          <p:cNvSpPr/>
          <p:nvPr/>
        </p:nvSpPr>
        <p:spPr>
          <a:xfrm>
            <a:off x="547826" y="2384609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4609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52" name="단계"/>
          <p:cNvSpPr/>
          <p:nvPr/>
        </p:nvSpPr>
        <p:spPr>
          <a:xfrm>
            <a:off x="1161391" y="2406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54" name="단계"/>
          <p:cNvSpPr/>
          <p:nvPr/>
        </p:nvSpPr>
        <p:spPr>
          <a:xfrm>
            <a:off x="3044087" y="2406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56" name="단계"/>
          <p:cNvSpPr/>
          <p:nvPr/>
        </p:nvSpPr>
        <p:spPr>
          <a:xfrm>
            <a:off x="4926783" y="2406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406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044086" y="240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926782" y="2406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 txBox="1"/>
          <p:nvPr/>
        </p:nvSpPr>
        <p:spPr>
          <a:xfrm>
            <a:off x="1172348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1" name="칸 본문"/>
          <p:cNvSpPr txBox="1"/>
          <p:nvPr/>
        </p:nvSpPr>
        <p:spPr>
          <a:xfrm>
            <a:off x="3055043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2" name="Connector 44"/>
          <p:cNvCxnSpPr/>
          <p:nvPr/>
        </p:nvCxnSpPr>
        <p:spPr>
          <a:xfrm flipV="1">
            <a:off x="3044087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 txBox="1"/>
          <p:nvPr/>
        </p:nvSpPr>
        <p:spPr>
          <a:xfrm>
            <a:off x="4937739" y="26585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6"/>
          <p:cNvCxnSpPr/>
          <p:nvPr/>
        </p:nvCxnSpPr>
        <p:spPr>
          <a:xfrm flipV="1">
            <a:off x="4926783" y="26804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2809252"/>
            <a:ext cx="580696" cy="845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809252"/>
            <a:ext cx="580696" cy="84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全프로세스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 물안전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기반 물관리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확보·물이용 효율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댐주변활성화, 물환경 건전성 향상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31165"/>
            <a:ext cx="1860783" cy="81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활용 저탄소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특화도시 조성 및 혁신모델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생태계 확장 및 수출지원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 기반 물 시장 개척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2864035"/>
            <a:ext cx="0" cy="75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3670904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3670904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3692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수도서비스 사업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3692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2"/>
          </p:nvPr>
        </p:nvSpPr>
        <p:spPr>
          <a:xfrm>
            <a:off x="3044087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수자원서비스 사업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3692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43"/>
          </p:nvPr>
        </p:nvSpPr>
        <p:spPr>
          <a:xfrm>
            <a:off x="4926783" y="3692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융합서비스 사업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3692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3692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 txBox="1"/>
          <p:nvPr/>
        </p:nvSpPr>
        <p:spPr>
          <a:xfrm>
            <a:off x="1172348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3" name="칸 본문"/>
          <p:cNvSpPr txBox="1"/>
          <p:nvPr/>
        </p:nvSpPr>
        <p:spPr>
          <a:xfrm>
            <a:off x="3055043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4" name="Connector 61"/>
          <p:cNvCxnSpPr/>
          <p:nvPr/>
        </p:nvCxnSpPr>
        <p:spPr>
          <a:xfrm flipV="1">
            <a:off x="3044087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 txBox="1"/>
          <p:nvPr/>
        </p:nvSpPr>
        <p:spPr>
          <a:xfrm>
            <a:off x="4937739" y="3944817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6" name="Connector 63"/>
          <p:cNvCxnSpPr/>
          <p:nvPr/>
        </p:nvCxnSpPr>
        <p:spPr>
          <a:xfrm flipV="1">
            <a:off x="4926783" y="3966730"/>
            <a:ext cx="0" cy="1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4095548"/>
            <a:ext cx="580696" cy="723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095548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대표성</a:t>
            </a:r>
          </a:p>
        </p:txBody>
      </p:sp>
      <p:sp>
        <p:nvSpPr>
          <p:cNvPr id="89" name="배너"/>
          <p:cNvSpPr/>
          <p:nvPr/>
        </p:nvSpPr>
        <p:spPr>
          <a:xfrm>
            <a:off x="1161391" y="41174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0" name="배너"/>
          <p:cNvSpPr>
            <a:spLocks noGrp="1"/>
          </p:cNvSpPr>
          <p:nvPr>
            <p:ph type="body" sz="quarter" idx="45"/>
          </p:nvPr>
        </p:nvSpPr>
        <p:spPr>
          <a:xfrm>
            <a:off x="1161391" y="41174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깨끗하고 효율적인 수돗물의 생산과 중단 없는 공급을 통해 건강하고 쾌적한 생활환경을 조성하는 사업</a:t>
            </a:r>
          </a:p>
        </p:txBody>
      </p:sp>
      <p:sp>
        <p:nvSpPr>
          <p:cNvPr id="91" name="머리칸"/>
          <p:cNvSpPr/>
          <p:nvPr/>
        </p:nvSpPr>
        <p:spPr>
          <a:xfrm>
            <a:off x="1161391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2" name="머리칸"/>
          <p:cNvSpPr>
            <a:spLocks noGrp="1"/>
          </p:cNvSpPr>
          <p:nvPr>
            <p:ph type="body" sz="quarter" idx="46"/>
          </p:nvPr>
        </p:nvSpPr>
        <p:spPr>
          <a:xfrm>
            <a:off x="1161391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비중</a:t>
            </a:r>
          </a:p>
        </p:txBody>
      </p:sp>
      <p:sp>
        <p:nvSpPr>
          <p:cNvPr id="93" name="머리칸"/>
          <p:cNvSpPr/>
          <p:nvPr/>
        </p:nvSpPr>
        <p:spPr>
          <a:xfrm>
            <a:off x="3044087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47"/>
          </p:nvPr>
        </p:nvSpPr>
        <p:spPr>
          <a:xfrm>
            <a:off x="3044087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비중</a:t>
            </a:r>
          </a:p>
        </p:txBody>
      </p:sp>
      <p:sp>
        <p:nvSpPr>
          <p:cNvPr id="95" name="머리칸"/>
          <p:cNvSpPr/>
          <p:nvPr/>
        </p:nvSpPr>
        <p:spPr>
          <a:xfrm>
            <a:off x="4926783" y="4353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48"/>
          </p:nvPr>
        </p:nvSpPr>
        <p:spPr>
          <a:xfrm>
            <a:off x="4926783" y="4353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정책우선 비중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58.5%(3,049명)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56.8%(25,670억원)</a:t>
            </a:r>
          </a:p>
        </p:txBody>
      </p:sp>
      <p:cxnSp>
        <p:nvCxnSpPr>
          <p:cNvPr id="99" name="Connector 71"/>
          <p:cNvCxnSpPr/>
          <p:nvPr/>
        </p:nvCxnSpPr>
        <p:spPr>
          <a:xfrm>
            <a:off x="3044087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9407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39.5%</a:t>
            </a:r>
          </a:p>
        </p:txBody>
      </p:sp>
      <p:cxnSp>
        <p:nvCxnSpPr>
          <p:cNvPr id="101" name="Connector 73"/>
          <p:cNvCxnSpPr/>
          <p:nvPr/>
        </p:nvCxnSpPr>
        <p:spPr>
          <a:xfrm>
            <a:off x="4926783" y="46269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레일"/>
          <p:cNvSpPr/>
          <p:nvPr/>
        </p:nvSpPr>
        <p:spPr>
          <a:xfrm>
            <a:off x="547826" y="4835113"/>
            <a:ext cx="580696" cy="73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3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835113"/>
            <a:ext cx="580696" cy="73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04" name="배너"/>
          <p:cNvSpPr/>
          <p:nvPr/>
        </p:nvSpPr>
        <p:spPr>
          <a:xfrm>
            <a:off x="1161391" y="48570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배너"/>
          <p:cNvSpPr>
            <a:spLocks noGrp="1"/>
          </p:cNvSpPr>
          <p:nvPr>
            <p:ph type="body" sz="quarter" idx="53"/>
          </p:nvPr>
        </p:nvSpPr>
        <p:spPr>
          <a:xfrm>
            <a:off x="1161391" y="48570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우선순위 설정: 외부환경 변화를 고려한 STEEP 분석 및 AHP 기법 적용</a:t>
            </a:r>
          </a:p>
        </p:txBody>
      </p:sp>
      <p:sp>
        <p:nvSpPr>
          <p:cNvPr id="106" name="단계"/>
          <p:cNvSpPr/>
          <p:nvPr/>
        </p:nvSpPr>
        <p:spPr>
          <a:xfrm>
            <a:off x="1161391" y="50925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7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공급 혁신</a:t>
            </a:r>
          </a:p>
        </p:txBody>
      </p:sp>
      <p:sp>
        <p:nvSpPr>
          <p:cNvPr id="108" name="단계"/>
          <p:cNvSpPr/>
          <p:nvPr/>
        </p:nvSpPr>
        <p:spPr>
          <a:xfrm>
            <a:off x="2573413" y="50925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9" name="단계"/>
          <p:cNvSpPr>
            <a:spLocks noGrp="1"/>
          </p:cNvSpPr>
          <p:nvPr>
            <p:ph type="body" sz="quarter" idx="55"/>
          </p:nvPr>
        </p:nvSpPr>
        <p:spPr>
          <a:xfrm>
            <a:off x="2573413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포용적 물복지 강화</a:t>
            </a:r>
          </a:p>
        </p:txBody>
      </p:sp>
      <p:sp>
        <p:nvSpPr>
          <p:cNvPr id="110" name="단계"/>
          <p:cNvSpPr/>
          <p:nvPr/>
        </p:nvSpPr>
        <p:spPr>
          <a:xfrm>
            <a:off x="3985435" y="50925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1" name="단계"/>
          <p:cNvSpPr>
            <a:spLocks noGrp="1"/>
          </p:cNvSpPr>
          <p:nvPr>
            <p:ph type="body" sz="quarter" idx="56"/>
          </p:nvPr>
        </p:nvSpPr>
        <p:spPr>
          <a:xfrm>
            <a:off x="3985435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 서비스 개선</a:t>
            </a:r>
          </a:p>
        </p:txBody>
      </p:sp>
      <p:sp>
        <p:nvSpPr>
          <p:cNvPr id="112" name="단계"/>
          <p:cNvSpPr/>
          <p:nvPr/>
        </p:nvSpPr>
        <p:spPr>
          <a:xfrm>
            <a:off x="5397457" y="50925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57"/>
          </p:nvPr>
        </p:nvSpPr>
        <p:spPr>
          <a:xfrm>
            <a:off x="5397457" y="50925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 안전관리</a:t>
            </a:r>
          </a:p>
        </p:txBody>
      </p:sp>
      <p:sp>
        <p:nvSpPr>
          <p:cNvPr id="114" name="단계 삼각형"/>
          <p:cNvSpPr/>
          <p:nvPr/>
        </p:nvSpPr>
        <p:spPr>
          <a:xfrm>
            <a:off x="2573413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단계 삼각형"/>
          <p:cNvSpPr/>
          <p:nvPr/>
        </p:nvSpPr>
        <p:spPr>
          <a:xfrm>
            <a:off x="3985434" y="50925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단계 삼각형"/>
          <p:cNvSpPr/>
          <p:nvPr/>
        </p:nvSpPr>
        <p:spPr>
          <a:xfrm>
            <a:off x="5397456" y="50925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(광역상수도)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59"/>
          </p:nvPr>
        </p:nvSpPr>
        <p:spPr>
          <a:xfrm>
            <a:off x="2584370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(지방상수도)</a:t>
            </a:r>
          </a:p>
        </p:txBody>
      </p:sp>
      <p:cxnSp>
        <p:nvCxnSpPr>
          <p:cNvPr id="119" name="Connector 85"/>
          <p:cNvCxnSpPr/>
          <p:nvPr/>
        </p:nvCxnSpPr>
        <p:spPr>
          <a:xfrm>
            <a:off x="2573413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0" name="칸 본문"/>
          <p:cNvSpPr>
            <a:spLocks noGrp="1"/>
          </p:cNvSpPr>
          <p:nvPr>
            <p:ph type="body" sz="quarter" idx="60"/>
          </p:nvPr>
        </p:nvSpPr>
        <p:spPr>
          <a:xfrm>
            <a:off x="3996391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(국민과 기업 니즈 대응)</a:t>
            </a:r>
          </a:p>
        </p:txBody>
      </p:sp>
      <p:cxnSp>
        <p:nvCxnSpPr>
          <p:cNvPr id="121" name="Connector 87"/>
          <p:cNvCxnSpPr/>
          <p:nvPr/>
        </p:nvCxnSpPr>
        <p:spPr>
          <a:xfrm>
            <a:off x="3985435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2" name="칸 본문"/>
          <p:cNvSpPr>
            <a:spLocks noGrp="1"/>
          </p:cNvSpPr>
          <p:nvPr>
            <p:ph type="body" sz="quarter" idx="61"/>
          </p:nvPr>
        </p:nvSpPr>
        <p:spPr>
          <a:xfrm>
            <a:off x="5408413" y="5344591"/>
            <a:ext cx="1390109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(근로자·시민 안전 강화)</a:t>
            </a:r>
          </a:p>
        </p:txBody>
      </p:sp>
      <p:cxnSp>
        <p:nvCxnSpPr>
          <p:cNvPr id="123" name="Connector 89"/>
          <p:cNvCxnSpPr/>
          <p:nvPr/>
        </p:nvCxnSpPr>
        <p:spPr>
          <a:xfrm>
            <a:off x="5397457" y="5377461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4" name="레일"/>
          <p:cNvSpPr/>
          <p:nvPr/>
        </p:nvSpPr>
        <p:spPr>
          <a:xfrm>
            <a:off x="547826" y="5585635"/>
            <a:ext cx="580696" cy="519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62"/>
          </p:nvPr>
        </p:nvSpPr>
        <p:spPr>
          <a:xfrm>
            <a:off x="547826" y="558563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26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기후위기에 강한 안정적인 고품질 수돗물 생산 및 공급</a:t>
            </a:r>
          </a:p>
        </p:txBody>
      </p:sp>
      <p:sp>
        <p:nvSpPr>
          <p:cNvPr id="127" name="칸 본문"/>
          <p:cNvSpPr>
            <a:spLocks noGrp="1"/>
          </p:cNvSpPr>
          <p:nvPr>
            <p:ph type="body" sz="quarter" idx="64"/>
          </p:nvPr>
        </p:nvSpPr>
        <p:spPr>
          <a:xfrm>
            <a:off x="2584370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간 차별 없는 국민 물복지 혜택 확산</a:t>
            </a:r>
          </a:p>
        </p:txBody>
      </p:sp>
      <p:cxnSp>
        <p:nvCxnSpPr>
          <p:cNvPr id="128" name="Connector 93"/>
          <p:cNvCxnSpPr/>
          <p:nvPr/>
        </p:nvCxnSpPr>
        <p:spPr>
          <a:xfrm>
            <a:off x="2573413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9" name="칸 본문"/>
          <p:cNvSpPr>
            <a:spLocks noGrp="1"/>
          </p:cNvSpPr>
          <p:nvPr>
            <p:ph type="body" sz="quarter" idx="65"/>
          </p:nvPr>
        </p:nvSpPr>
        <p:spPr>
          <a:xfrm>
            <a:off x="3996391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서비스 향상 및 첨단산업 경쟁력 제고</a:t>
            </a:r>
          </a:p>
        </p:txBody>
      </p:sp>
      <p:cxnSp>
        <p:nvCxnSpPr>
          <p:cNvPr id="130" name="Connector 95"/>
          <p:cNvCxnSpPr/>
          <p:nvPr/>
        </p:nvCxnSpPr>
        <p:spPr>
          <a:xfrm>
            <a:off x="3985435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칸 본문"/>
          <p:cNvSpPr>
            <a:spLocks noGrp="1"/>
          </p:cNvSpPr>
          <p:nvPr>
            <p:ph type="body" sz="quarter" idx="66"/>
          </p:nvPr>
        </p:nvSpPr>
        <p:spPr>
          <a:xfrm>
            <a:off x="5408413" y="560754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근로자와 국민 모두 안전한 수도사업장 조성</a:t>
            </a:r>
          </a:p>
        </p:txBody>
      </p:sp>
      <p:cxnSp>
        <p:nvCxnSpPr>
          <p:cNvPr id="132" name="Connector 97"/>
          <p:cNvCxnSpPr/>
          <p:nvPr/>
        </p:nvCxnSpPr>
        <p:spPr>
          <a:xfrm>
            <a:off x="5397457" y="5640417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3" name="레일"/>
          <p:cNvSpPr/>
          <p:nvPr/>
        </p:nvSpPr>
        <p:spPr>
          <a:xfrm>
            <a:off x="547826" y="6121252"/>
            <a:ext cx="580696" cy="1000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4" name="레일"/>
          <p:cNvSpPr>
            <a:spLocks noGrp="1"/>
          </p:cNvSpPr>
          <p:nvPr>
            <p:ph type="body" sz="quarter" idx="67"/>
          </p:nvPr>
        </p:nvSpPr>
        <p:spPr>
          <a:xfrm>
            <a:off x="547826" y="6121252"/>
            <a:ext cx="580696" cy="1000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기후대응력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고도정수처리 도입률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달성률</a:t>
            </a:r>
          </a:p>
        </p:txBody>
      </p:sp>
      <p:sp>
        <p:nvSpPr>
          <p:cNvPr id="136" name="칸 본문"/>
          <p:cNvSpPr>
            <a:spLocks noGrp="1"/>
          </p:cNvSpPr>
          <p:nvPr>
            <p:ph type="body" sz="quarter" idx="69"/>
          </p:nvPr>
        </p:nvSpPr>
        <p:spPr>
          <a:xfrm>
            <a:off x="2584370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유수율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정비사업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선진화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 취약지역 인구해소</a:t>
            </a:r>
          </a:p>
        </p:txBody>
      </p:sp>
      <p:cxnSp>
        <p:nvCxnSpPr>
          <p:cNvPr id="137" name="Connector 101"/>
          <p:cNvCxnSpPr/>
          <p:nvPr/>
        </p:nvCxnSpPr>
        <p:spPr>
          <a:xfrm>
            <a:off x="2573413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8" name="칸 본문"/>
          <p:cNvSpPr>
            <a:spLocks noGrp="1"/>
          </p:cNvSpPr>
          <p:nvPr>
            <p:ph type="body" sz="quarter" idx="70"/>
          </p:nvPr>
        </p:nvSpPr>
        <p:spPr>
          <a:xfrm>
            <a:off x="3996391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국민친화 물서비스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지방상수도 고객만족도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상수도정보서비스 이용만족도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맞춤형 서비스 강화</a:t>
            </a:r>
          </a:p>
        </p:txBody>
      </p:sp>
      <p:cxnSp>
        <p:nvCxnSpPr>
          <p:cNvPr id="139" name="Connector 103"/>
          <p:cNvCxnSpPr/>
          <p:nvPr/>
        </p:nvCxnSpPr>
        <p:spPr>
          <a:xfrm>
            <a:off x="3985435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0" name="칸 본문"/>
          <p:cNvSpPr>
            <a:spLocks noGrp="1"/>
          </p:cNvSpPr>
          <p:nvPr>
            <p:ph type="body" sz="quarter" idx="71"/>
          </p:nvPr>
        </p:nvSpPr>
        <p:spPr>
          <a:xfrm>
            <a:off x="5408413" y="6143165"/>
            <a:ext cx="1390109" cy="9726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안전관리 강화</a:t>
            </a:r>
          </a:p>
        </p:txBody>
      </p:sp>
      <p:cxnSp>
        <p:nvCxnSpPr>
          <p:cNvPr id="141" name="Connector 105"/>
          <p:cNvCxnSpPr/>
          <p:nvPr/>
        </p:nvCxnSpPr>
        <p:spPr>
          <a:xfrm>
            <a:off x="5397457" y="6176035"/>
            <a:ext cx="0" cy="9068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47826" y="7137704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72"/>
          </p:nvPr>
        </p:nvSpPr>
        <p:spPr>
          <a:xfrm>
            <a:off x="547826" y="7137704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144" name="레일 삼각형"/>
          <p:cNvSpPr/>
          <p:nvPr/>
        </p:nvSpPr>
        <p:spPr>
          <a:xfrm>
            <a:off x="547826" y="71377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칸 본문"/>
          <p:cNvSpPr>
            <a:spLocks noGrp="1"/>
          </p:cNvSpPr>
          <p:nvPr>
            <p:ph type="body" sz="quarter" idx="73"/>
          </p:nvPr>
        </p:nvSpPr>
        <p:spPr>
          <a:xfrm>
            <a:off x="1172348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고품질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AX기반 자율운영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운영혁신 및 원가절감</a:t>
            </a:r>
          </a:p>
        </p:txBody>
      </p:sp>
      <p:sp>
        <p:nvSpPr>
          <p:cNvPr id="146" name="칸 본문"/>
          <p:cNvSpPr>
            <a:spLocks noGrp="1"/>
          </p:cNvSpPr>
          <p:nvPr>
            <p:ph type="body" sz="quarter" idx="74"/>
          </p:nvPr>
        </p:nvSpPr>
        <p:spPr>
          <a:xfrm>
            <a:off x="2584370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관리효율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정비와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재난지원 및 물복지</a:t>
            </a:r>
          </a:p>
        </p:txBody>
      </p:sp>
      <p:cxnSp>
        <p:nvCxnSpPr>
          <p:cNvPr id="147" name="Connector 110"/>
          <p:cNvCxnSpPr/>
          <p:nvPr/>
        </p:nvCxnSpPr>
        <p:spPr>
          <a:xfrm>
            <a:off x="2573413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48" name="칸 본문"/>
          <p:cNvSpPr>
            <a:spLocks noGrp="1"/>
          </p:cNvSpPr>
          <p:nvPr>
            <p:ph type="body" sz="quarter" idx="75"/>
          </p:nvPr>
        </p:nvSpPr>
        <p:spPr>
          <a:xfrm>
            <a:off x="3996391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해소, 서비스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첨단산업용수 안정공급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해외의존 극복</a:t>
            </a:r>
          </a:p>
        </p:txBody>
      </p:sp>
      <p:cxnSp>
        <p:nvCxnSpPr>
          <p:cNvPr id="149" name="Connector 112"/>
          <p:cNvCxnSpPr/>
          <p:nvPr/>
        </p:nvCxnSpPr>
        <p:spPr>
          <a:xfrm>
            <a:off x="3985435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50" name="칸 본문"/>
          <p:cNvSpPr>
            <a:spLocks noGrp="1"/>
          </p:cNvSpPr>
          <p:nvPr>
            <p:ph type="body" sz="quarter" idx="76"/>
          </p:nvPr>
        </p:nvSpPr>
        <p:spPr>
          <a:xfrm>
            <a:off x="5408413" y="7159617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맞춤 대책으로 근로자 안전확보, 시민 안전일상 수호</a:t>
            </a:r>
          </a:p>
        </p:txBody>
      </p:sp>
      <p:cxnSp>
        <p:nvCxnSpPr>
          <p:cNvPr id="151" name="Connector 114"/>
          <p:cNvCxnSpPr/>
          <p:nvPr/>
        </p:nvCxnSpPr>
        <p:spPr>
          <a:xfrm>
            <a:off x="5397457" y="71924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0 서사 · 경영환경 변화를 반영한 성과목표 정의(4열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및 성과지표 설정(생산성 향상, 서비스 질 제고, 공공성 강화)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226997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경영환경 변화를 반영한 성과목표 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1 서사 · 성과지표 개발·선정(검토 4단계 띠 → 지표 pool 적합성 평가표 → 변경 사유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444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성과지표 개발·선정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536870" y="1281913"/>
            <a:ext cx="36442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1"/>
          </p:nvPr>
        </p:nvSpPr>
        <p:spPr>
          <a:xfrm>
            <a:off x="536870" y="112852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 pool에 대한 적합성 평가를 통해 최종 성과지표 도출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413391"/>
            <a:ext cx="6300000" cy="135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429826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429826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451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유효성 검토 및 Pool 구성</a:t>
            </a:r>
          </a:p>
        </p:txBody>
      </p:sp>
      <p:sp>
        <p:nvSpPr>
          <p:cNvPr id="19" name="단계"/>
          <p:cNvSpPr/>
          <p:nvPr/>
        </p:nvSpPr>
        <p:spPr>
          <a:xfrm>
            <a:off x="2573413" y="1451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73413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선정(적합성 평가)</a:t>
            </a:r>
          </a:p>
        </p:txBody>
      </p:sp>
      <p:sp>
        <p:nvSpPr>
          <p:cNvPr id="21" name="단계"/>
          <p:cNvSpPr/>
          <p:nvPr/>
        </p:nvSpPr>
        <p:spPr>
          <a:xfrm>
            <a:off x="3985435" y="1451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85435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 선정 결과</a:t>
            </a:r>
          </a:p>
        </p:txBody>
      </p:sp>
      <p:sp>
        <p:nvSpPr>
          <p:cNvPr id="23" name="단계"/>
          <p:cNvSpPr/>
          <p:nvPr/>
        </p:nvSpPr>
        <p:spPr>
          <a:xfrm>
            <a:off x="5397457" y="1451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7457" y="1451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연중 환류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73413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85434" y="1451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7456" y="145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경영전략: 전략과제 및 KPI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평가환류: 지적사항 등 반영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정책연계·전략부합 우선고려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정책+전략+SMART 득점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573413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12개 성과지표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2개, 계량 6개, 비계량 4개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703739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비계량 신규 1개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2개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5397457" y="1736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2 서사 · 전략과제에 따른 평가대상 사업별 중장기계획(연도 3구간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651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전략과제에 따른 평가대상 사업별 중장기계획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3 서사 · 자원배분 계획(기본방향 → 재무예산 배분표 → 조직·인력 배분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성과목표 달성을 위한 자원배분 계획, 모니터링 및 평가 계획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256854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성과목표 달성을 위한 자원배분 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1709217"/>
            <a:ext cx="11108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1555826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자원배분 기본방향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840696"/>
            <a:ext cx="6300000" cy="19394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85713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85713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이슈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혁신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물복지 강화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879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879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서비스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 가속, 원가 상승 지속 등 전년보다 수돗물 공급여건 악화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균형성장 이행과 인력 한계를 극복하는 수탁사업 개선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2120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현안(수량, 수질)에 대한 K-water 역할 대두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2152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791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791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7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수돗물 공급을 위한 혁신과 전략적 예산배분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중심 사업확대와 적극적 재원 확보</a:t>
            </a:r>
          </a:p>
        </p:txBody>
      </p:sp>
      <p:cxnSp>
        <p:nvCxnSpPr>
          <p:cNvPr id="38" name="Connector 29"/>
          <p:cNvCxnSpPr/>
          <p:nvPr/>
        </p:nvCxnSpPr>
        <p:spPr>
          <a:xfrm>
            <a:off x="3044087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689826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기술중심 서비스 혁신으로 예산 효율성 제고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272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224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24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224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안전망 강화를 위한 인력 효율적 재배치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통합수탁 등 사업 다각화로 조직·인력 최적배분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3044087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3245948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첨단산업 지원을 위한 조직·인력 강화</a:t>
            </a:r>
          </a:p>
        </p:txBody>
      </p:sp>
      <p:cxnSp>
        <p:nvCxnSpPr>
          <p:cNvPr id="48" name="Connector 38"/>
          <p:cNvCxnSpPr/>
          <p:nvPr/>
        </p:nvCxnSpPr>
        <p:spPr>
          <a:xfrm>
            <a:off x="4926783" y="32788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형광 밑줄"/>
          <p:cNvSpPr/>
          <p:nvPr/>
        </p:nvSpPr>
        <p:spPr>
          <a:xfrm>
            <a:off x="536870" y="4054070"/>
            <a:ext cx="18697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소제목"/>
          <p:cNvSpPr>
            <a:spLocks noGrp="1"/>
          </p:cNvSpPr>
          <p:nvPr>
            <p:ph type="body" sz="quarter" idx="39"/>
          </p:nvPr>
        </p:nvSpPr>
        <p:spPr>
          <a:xfrm>
            <a:off x="536870" y="39006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재무예산 배분 계획(단위: 억원)</a:t>
            </a:r>
          </a:p>
        </p:txBody>
      </p:sp>
      <p:sp>
        <p:nvSpPr>
          <p:cNvPr id="51" name="형광 밑줄"/>
          <p:cNvSpPr/>
          <p:nvPr/>
        </p:nvSpPr>
        <p:spPr>
          <a:xfrm>
            <a:off x="536870" y="5881304"/>
            <a:ext cx="17810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소제목"/>
          <p:cNvSpPr>
            <a:spLocks noGrp="1"/>
          </p:cNvSpPr>
          <p:nvPr>
            <p:ph type="body" sz="quarter" idx="40"/>
          </p:nvPr>
        </p:nvSpPr>
        <p:spPr>
          <a:xfrm>
            <a:off x="536870" y="572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조직·인력 배분 계획(단위: 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4 서사 · 모니터링 및 평가 계획(성과지표 · 주기 · 모니터링 방법 표 → 평가·환류 순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60367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성과목표 관리를 위한 모니터링 및 평가 계획</a:t>
            </a:r>
          </a:p>
        </p:txBody>
      </p:sp>
      <p:sp>
        <p:nvSpPr>
          <p:cNvPr id="11" name="표 외곽"/>
          <p:cNvSpPr/>
          <p:nvPr/>
        </p:nvSpPr>
        <p:spPr>
          <a:xfrm>
            <a:off x="723130" y="3684209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레일"/>
          <p:cNvSpPr/>
          <p:nvPr/>
        </p:nvSpPr>
        <p:spPr>
          <a:xfrm>
            <a:off x="734087" y="3700643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레일"/>
          <p:cNvSpPr>
            <a:spLocks noGrp="1"/>
          </p:cNvSpPr>
          <p:nvPr>
            <p:ph type="body" sz="quarter" idx="21"/>
          </p:nvPr>
        </p:nvSpPr>
        <p:spPr>
          <a:xfrm>
            <a:off x="734087" y="370064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4" name="단계"/>
          <p:cNvSpPr/>
          <p:nvPr/>
        </p:nvSpPr>
        <p:spPr>
          <a:xfrm>
            <a:off x="1347652" y="37225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1347652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실행계획</a:t>
            </a:r>
          </a:p>
        </p:txBody>
      </p:sp>
      <p:sp>
        <p:nvSpPr>
          <p:cNvPr id="16" name="단계"/>
          <p:cNvSpPr/>
          <p:nvPr/>
        </p:nvSpPr>
        <p:spPr>
          <a:xfrm>
            <a:off x="2759674" y="37225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2759674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중간평가</a:t>
            </a:r>
          </a:p>
        </p:txBody>
      </p:sp>
      <p:sp>
        <p:nvSpPr>
          <p:cNvPr id="18" name="단계"/>
          <p:cNvSpPr/>
          <p:nvPr/>
        </p:nvSpPr>
        <p:spPr>
          <a:xfrm>
            <a:off x="4171696" y="37225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4171696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최종평가</a:t>
            </a:r>
          </a:p>
        </p:txBody>
      </p:sp>
      <p:sp>
        <p:nvSpPr>
          <p:cNvPr id="20" name="단계"/>
          <p:cNvSpPr/>
          <p:nvPr/>
        </p:nvSpPr>
        <p:spPr>
          <a:xfrm>
            <a:off x="5583717" y="37225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583717" y="37225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759673" y="37225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4171695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5583717" y="3722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 txBox="1"/>
          <p:nvPr/>
        </p:nvSpPr>
        <p:spPr>
          <a:xfrm>
            <a:off x="1358609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26" name="칸 본문"/>
          <p:cNvSpPr txBox="1"/>
          <p:nvPr/>
        </p:nvSpPr>
        <p:spPr>
          <a:xfrm>
            <a:off x="2770630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7" name="Connector 17"/>
          <p:cNvCxnSpPr/>
          <p:nvPr/>
        </p:nvCxnSpPr>
        <p:spPr>
          <a:xfrm flipV="1">
            <a:off x="2759674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 txBox="1"/>
          <p:nvPr/>
        </p:nvSpPr>
        <p:spPr>
          <a:xfrm>
            <a:off x="4182652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29" name="Connector 19"/>
          <p:cNvCxnSpPr/>
          <p:nvPr/>
        </p:nvCxnSpPr>
        <p:spPr>
          <a:xfrm flipV="1">
            <a:off x="4171696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 txBox="1"/>
          <p:nvPr/>
        </p:nvSpPr>
        <p:spPr>
          <a:xfrm>
            <a:off x="5594674" y="3974557"/>
            <a:ext cx="1390109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1" name="Connector 21"/>
          <p:cNvCxnSpPr/>
          <p:nvPr/>
        </p:nvCxnSpPr>
        <p:spPr>
          <a:xfrm flipV="1">
            <a:off x="5583717" y="3996470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4125287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412528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41252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41472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41472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내부성과관리체계: ESG경영위원회 성과관리회의 · 국민소통 플랫폼 · 경영목표·ESG지표</a:t>
            </a:r>
          </a:p>
        </p:txBody>
      </p:sp>
      <p:sp>
        <p:nvSpPr>
          <p:cNvPr id="37" name="레일"/>
          <p:cNvSpPr/>
          <p:nvPr/>
        </p:nvSpPr>
        <p:spPr>
          <a:xfrm>
            <a:off x="734087" y="4681409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4681409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46814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"/>
          <p:cNvSpPr/>
          <p:nvPr/>
        </p:nvSpPr>
        <p:spPr>
          <a:xfrm>
            <a:off x="1347652" y="47033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</a:t>
            </a:r>
          </a:p>
        </p:txBody>
      </p:sp>
      <p:sp>
        <p:nvSpPr>
          <p:cNvPr id="42" name="단계"/>
          <p:cNvSpPr/>
          <p:nvPr/>
        </p:nvSpPr>
        <p:spPr>
          <a:xfrm>
            <a:off x="3230348" y="47033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문제해결 CoP</a:t>
            </a:r>
          </a:p>
        </p:txBody>
      </p:sp>
      <p:sp>
        <p:nvSpPr>
          <p:cNvPr id="44" name="단계"/>
          <p:cNvSpPr/>
          <p:nvPr/>
        </p:nvSpPr>
        <p:spPr>
          <a:xfrm>
            <a:off x="5113043" y="47033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47033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성과홍보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3230347" y="47033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113043" y="47033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358609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3241304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4"/>
          <p:cNvCxnSpPr/>
          <p:nvPr/>
        </p:nvCxnSpPr>
        <p:spPr>
          <a:xfrm flipV="1">
            <a:off x="3230348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5124000" y="4955322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6"/>
          <p:cNvCxnSpPr/>
          <p:nvPr/>
        </p:nvCxnSpPr>
        <p:spPr>
          <a:xfrm flipV="1">
            <a:off x="5113043" y="4977235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5 서사 · 전략 실행 원년 Action Plan(환경변화 → 로드맵 → 4대 실행계획 → 실행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미래 상수도 전략 실행 원년, 전략목표 달성을 위한 Action Plan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55208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1090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109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해마다 어려워지는 수돗물 공급 여건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국정과제 선도체계로 물관리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최장 조류경보 발령(14개 지점 961일), 시설노후 티핑포인트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투자재원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자원 최적배분으로 선제적 대비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 안전 · 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글로벌 시장 선도와 예방적 재난관리, 지역물문제 해소로 정책 부합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미래상수도 적기 실행이 곧 국정과제 이행의 지름길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2406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2406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24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2262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262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전략수립에서 나아가 ’25년 변화된 환경·정책을 반영한 ‘실행중심 체계’로 전환</a:t>
            </a:r>
          </a:p>
        </p:txBody>
      </p:sp>
      <p:sp>
        <p:nvSpPr>
          <p:cNvPr id="30" name="레일"/>
          <p:cNvSpPr/>
          <p:nvPr/>
        </p:nvSpPr>
        <p:spPr>
          <a:xfrm>
            <a:off x="547826" y="2641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641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 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상수도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32" name="단계"/>
          <p:cNvSpPr/>
          <p:nvPr/>
        </p:nvSpPr>
        <p:spPr>
          <a:xfrm>
            <a:off x="1161391" y="26638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전략(Strategy)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26638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실행(Action Plan)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26638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26638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신속 추진(Execution)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26638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26638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국민안심을 위한 미래 수도 4대 전략 수립 · 안정화, 스마트, 고품질, 운영혁신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달성을 위한 실행과제 구체화 및 이행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044087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9158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全과정 전략과제 실행 가속화 성과창출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4926783" y="29487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43080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3080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안정화 · 스마트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34527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34527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· 운영혁신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재난·사고에 대비한 안정적인 수돗물: 취약요인(밸브, 하천) 발굴·해소로 선제적 개선, 사고 예방 중심의 관로 안정화 실행계획(~’40, 17조원)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단수시 비상공급률 100%, 실 단수 Zero 수준 유지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6937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특화 AX 기반 스마트한 수돗물: AI 기술 사업화(8건)·ISO 표준화로 국내외 선도, 수도서비스 全과정 AX 사업화(~’30, 0.1조원)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물 공급 全과정 AX전환, 全사업장 완전자율운영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3985435" y="37266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7565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55" name="머리칸"/>
          <p:cNvSpPr/>
          <p:nvPr/>
        </p:nvSpPr>
        <p:spPr>
          <a:xfrm>
            <a:off x="1161391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고품질: 국민이 안심할 수 있는 고품질 수돗물</a:t>
            </a:r>
          </a:p>
        </p:txBody>
      </p:sp>
      <p:sp>
        <p:nvSpPr>
          <p:cNvPr id="57" name="머리칸"/>
          <p:cNvSpPr/>
          <p:nvPr/>
        </p:nvSpPr>
        <p:spPr>
          <a:xfrm>
            <a:off x="3985435" y="47784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47784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운영혁신: 低원가, 高효율의 지속가능한 수돗물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취약요소 관리 및 신종오염물질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복합수질 대응을 위한 정수장 종합개선 계획(~’40,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고도정수처리 100% 도입, 초고도 시범도입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50194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설비, 운영 혁신 중심 원가절감 확대(~’30)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자산관리체계 고도화 및 한강유역 확대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미래상: 수돗물 생산원가 절감 484억원/연, 에너지 자립</a:t>
            </a:r>
          </a:p>
        </p:txBody>
      </p:sp>
      <p:cxnSp>
        <p:nvCxnSpPr>
          <p:cNvPr id="61" name="Connector 43"/>
          <p:cNvCxnSpPr/>
          <p:nvPr/>
        </p:nvCxnSpPr>
        <p:spPr>
          <a:xfrm>
            <a:off x="3985435" y="50523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6082278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608227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60822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취약요인 선제개선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안정화 사업계획 재수립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2584370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ISO 인증 등 글로벌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AX 추진계획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2573413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국민기대수질 98.3%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PFAS OUT 로드맵 마련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985435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9"/>
          </p:nvPr>
        </p:nvSpPr>
        <p:spPr>
          <a:xfrm>
            <a:off x="5408413" y="610419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목표 比 105%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자산체계 활용 의사결정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5397457" y="61370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6 서사 · 추진배경(현황 · 한계 두 칸 + 세부 3줄) → 개선 방향 배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사고 환류와 실행력이 담보된 안정화 계획 이행으로 비상공급률 향상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349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1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1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 연평균 50㎞ 사업에도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한계  다양한 요인으로 인한 단수사고 발생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646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단수시 비상공급률 87.3%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연평균 약 0.5조원 안정화 투자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646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사고: 숨은 사각지대 존재 → 예기치 못한 사고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사업비: 건설원가 상승 → 사업비 부족 → 사업지연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우선순위: 공급량 중심 → 단수위험 반영 부족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580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76261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626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7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209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209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성과는 유지, 한계는 보완하여 속도와 효율을 높인 안정화 실행계획 전면 재수립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7 서사 · 취약요인 개선(시사점 → 사례·한계 3칸 → 개선 방안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73403" y="920348"/>
            <a:ext cx="33363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73403" y="766957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예기치 못한 단수, 사고원인 환류로 선제적 개선대책 마련</a:t>
            </a:r>
          </a:p>
        </p:txBody>
      </p:sp>
      <p:sp>
        <p:nvSpPr>
          <p:cNvPr id="15" name="태그칩"/>
          <p:cNvSpPr/>
          <p:nvPr/>
        </p:nvSpPr>
        <p:spPr>
          <a:xfrm>
            <a:off x="510834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0834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배너"/>
          <p:cNvSpPr/>
          <p:nvPr/>
        </p:nvSpPr>
        <p:spPr>
          <a:xfrm>
            <a:off x="536869" y="105182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태그"/>
          <p:cNvSpPr/>
          <p:nvPr/>
        </p:nvSpPr>
        <p:spPr>
          <a:xfrm>
            <a:off x="756000" y="1106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756000" y="1106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0" name="배너 글"/>
          <p:cNvSpPr>
            <a:spLocks noGrp="1"/>
          </p:cNvSpPr>
          <p:nvPr>
            <p:ph type="body" sz="quarter" idx="25"/>
          </p:nvPr>
        </p:nvSpPr>
        <p:spPr>
          <a:xfrm>
            <a:off x="1249654" y="1051826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사고의 원인을 복기하여 시스템 근본적 개선 도모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369565"/>
            <a:ext cx="6300000" cy="2196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386000"/>
            <a:ext cx="580696" cy="1188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86000"/>
            <a:ext cx="580696" cy="1188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잠재적 단수위험 노후 밸브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강물로 복구가 어려운 하천관로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407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407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부단수공법 사고대비 미흡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서산 등 31만명 단수(’24.11) (원인: 노후 밸브 작동불량)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4만개 밸브 상태 불확실 및 노후(20년이상 66%)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증평군 3.7만명 단수(’25.8) (원인: 집중호우로 관 주변 세굴)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집중호우로 하상변동 심하고, 복구 지난(전체 313㎞)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3044087" y="1681826"/>
            <a:ext cx="0" cy="854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648957"/>
            <a:ext cx="1860783" cy="920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파주시 29만명 단수(’25.11) (원인: 연약지반, 고수압 등 복합원인)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고수압·노후·연약지반 등 잠재 위험 대비 부족, 지자체 미협의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4926783" y="1681826"/>
            <a:ext cx="0" cy="854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591217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59121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591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체계: 전수조사 및 신뢰지수 개발 → 교체 대상 선정 및 우선교체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밸브상태 자산 DB화 → 자산체계 활용 순차 교체(1만개)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우선: 임시관로(265m) 설치로 2일만에 용수공급 개시, 680m 복선화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취약시설 관리 체계화 및 복선화 등 설계지침 개정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6460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6131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기준: 잠재 위험 선제적 제거를 위한 시방서, 설계기준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절차: 계획단수 절차 개선 → 지자체 사전협의, 공법검토 강화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6460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8 서사 · 실행력 강화(시사점 → 사업비 · 사업계획 · 우선순위 재조정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강화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350332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안정화 시행 15년, 실행력과 형평성을 높인 계획으로 재탄생</a:t>
            </a:r>
          </a:p>
        </p:txBody>
      </p:sp>
      <p:sp>
        <p:nvSpPr>
          <p:cNvPr id="14" name="태그칩"/>
          <p:cNvSpPr/>
          <p:nvPr/>
        </p:nvSpPr>
        <p:spPr>
          <a:xfrm>
            <a:off x="53518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518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062782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175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175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5"/>
          </p:nvPr>
        </p:nvSpPr>
        <p:spPr>
          <a:xfrm>
            <a:off x="1435915" y="1062783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실행력이 담보된 사업계획 재수립이 필요한 시점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380522"/>
            <a:ext cx="6300000" cy="294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396957"/>
            <a:ext cx="580696" cy="947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96957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41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비효율은 줄이고</a:t>
            </a:r>
          </a:p>
        </p:txBody>
      </p:sp>
      <p:sp>
        <p:nvSpPr>
          <p:cNvPr id="25" name="단계"/>
          <p:cNvSpPr/>
          <p:nvPr/>
        </p:nvSpPr>
        <p:spPr>
          <a:xfrm>
            <a:off x="3230348" y="141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지연 원인분석 및 환류로</a:t>
            </a:r>
          </a:p>
        </p:txBody>
      </p:sp>
      <p:sp>
        <p:nvSpPr>
          <p:cNvPr id="27" name="단계"/>
          <p:cNvSpPr/>
          <p:nvPr/>
        </p:nvSpPr>
        <p:spPr>
          <a:xfrm>
            <a:off x="5113043" y="141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41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 사업지연요인 해소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230347" y="141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113043" y="141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시기 조정 등 중복사업 통합으로 사업비(2.2조원)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투자예산 확보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가시설, 추진공사 등 총사업비 증가요인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현실화: 준공수준 사업비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3230348" y="1703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7087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현실화(12.4 → 17.4조원, 증 5조원)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사업지연, 비용증가 요인 선제 반영 → 실행력 강화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5113043" y="1703739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361130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361130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사업계획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236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347652" y="238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8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직접조사 한계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38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8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취약요인 + 인력부족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62408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단수, 안전 문제로 직접조사 제한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6,970개소 중 457개소 조사(6.6%)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정확: AI 노후도 예측, 영상판독 등 기술도입으로 극복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624087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본관 중심 개량으로 취약요인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밸브, 분기관 등에서 연평균 9.9건 사고발생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선제: 부속시설 포함 개량 → 잠재적 취약요인 최소화 / 전담조직 2배(4→8개)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171696" y="2656957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58174"/>
            <a:ext cx="580696" cy="947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58174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우선순위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재조정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358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380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시설규모 중심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380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금회 단수발생 확률 중심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380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380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 취약시설 우선시행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380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380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그룹화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공급량이 많을수록 유리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한계: 노후관 개량과 복선화 동일기준 → 사업특성 미반영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기법: AHP 가중치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노후도와 단수위험도 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사업별 별도 기준 마련 → 우선순위 의사결정 정교화</a:t>
            </a:r>
          </a:p>
        </p:txBody>
      </p:sp>
      <p:cxnSp>
        <p:nvCxnSpPr>
          <p:cNvPr id="59" name="Connector 39"/>
          <p:cNvCxnSpPr/>
          <p:nvPr/>
        </p:nvCxnSpPr>
        <p:spPr>
          <a:xfrm>
            <a:off x="3230348" y="3664957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63208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 위험이 높은 시설에 선투자하여 투자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지역사업 포함 30건 우선순위 상향 조정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5113043" y="3664957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핵심성과 박스"/>
          <p:cNvSpPr/>
          <p:nvPr/>
        </p:nvSpPr>
        <p:spPr>
          <a:xfrm>
            <a:off x="723130" y="4410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핵심성과 라벨"/>
          <p:cNvSpPr/>
          <p:nvPr/>
        </p:nvSpPr>
        <p:spPr>
          <a:xfrm>
            <a:off x="756000" y="4448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4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4448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5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4426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어려운 여건에서 노후관 개량, 복선화 등 60.8km 및 비상공급률 87.6%(목표 대비 100%)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89 서사 · AI 정수장 Step-up(필요성 → 그간의 성과 | 한번 더 혁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AI 정수장 Step-up, 상수도 全과정 AX 실현으로 자율운영체계 전환</a:t>
            </a:r>
          </a:p>
        </p:txBody>
      </p:sp>
      <p:sp>
        <p:nvSpPr>
          <p:cNvPr id="15" name="배너"/>
          <p:cNvSpPr/>
          <p:nvPr/>
        </p:nvSpPr>
        <p:spPr>
          <a:xfrm>
            <a:off x="536869" y="1117565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태그"/>
          <p:cNvSpPr/>
          <p:nvPr/>
        </p:nvSpPr>
        <p:spPr>
          <a:xfrm>
            <a:off x="756000" y="1172348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2"/>
          </p:nvPr>
        </p:nvSpPr>
        <p:spPr>
          <a:xfrm>
            <a:off x="756000" y="1172348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18" name="배너 글"/>
          <p:cNvSpPr>
            <a:spLocks noGrp="1"/>
          </p:cNvSpPr>
          <p:nvPr>
            <p:ph type="body" sz="quarter" idx="23"/>
          </p:nvPr>
        </p:nvSpPr>
        <p:spPr>
          <a:xfrm>
            <a:off x="1249654" y="1117565"/>
            <a:ext cx="542286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인력 중심 대응의 한계 → AI 활용 의사결정 필요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35304"/>
            <a:ext cx="6300000" cy="134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51739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517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473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473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 AI정수장(43개소) 구축</a:t>
            </a:r>
          </a:p>
        </p:txBody>
      </p:sp>
      <p:sp>
        <p:nvSpPr>
          <p:cNvPr id="24" name="머리칸"/>
          <p:cNvSpPr/>
          <p:nvPr/>
        </p:nvSpPr>
        <p:spPr>
          <a:xfrm>
            <a:off x="3985435" y="1473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473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 더 혁신!  글로벌 선도체계 확립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714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AI자율운영 등 기술 도입·검증 주력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WEF 등대공장 선정(’23), 인도네시아 첫 사업(’24)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디지털전환: 관망·정수장 DT 구현, 자산관리체계(7개소) 시범구축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714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기술인 AI정수장은 고도화·사업화로 격차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메시지: 새로운 기준을 만드는 선도자가 되는 것 AI 정수장은 첫 대답입니다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DX 성과는 AI와 접목, AX로 성장 가속 → 수도 특화 AX 계획을 국가 정책사업에 반영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0 서사 · AI(정) 고도화와 기술 사업화(로드맵 → 고도화 두 패널 → 성과 → 사업화 표준선도 · 국내외 확산 → 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2950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AI(정) 고도화와 기술 사업화를 통해 글로벌 선도기술로 자리매김</a:t>
            </a:r>
          </a:p>
        </p:txBody>
      </p:sp>
      <p:sp>
        <p:nvSpPr>
          <p:cNvPr id="11" name="태그칩"/>
          <p:cNvSpPr/>
          <p:nvPr/>
        </p:nvSpPr>
        <p:spPr>
          <a:xfrm>
            <a:off x="46512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512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0236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0236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86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2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AI정수장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AI기술 도입·검증 2.0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고도화·사업화 확대 2.0+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완전 자율운영 3.0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예측 기반 의사결정(설명 한계)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정수공정 중심 AI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근거를 설명하는 eXplainable AI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취수, 관망포함 피지컬 AI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및 사업화(8건) 확대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AI·DT·로봇 융합운영으로 全 수도시설 완전자율운영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 제정, 글로벌 확대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번호"/>
          <p:cNvSpPr>
            <a:spLocks noGrp="1"/>
          </p:cNvSpPr>
          <p:nvPr>
            <p:ph type="body" sz="quarter" idx="30"/>
          </p:nvPr>
        </p:nvSpPr>
        <p:spPr>
          <a:xfrm>
            <a:off x="723130" y="2043391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32" name="분야 박스"/>
          <p:cNvSpPr/>
          <p:nvPr/>
        </p:nvSpPr>
        <p:spPr>
          <a:xfrm>
            <a:off x="914248" y="2076261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분야 박스"/>
          <p:cNvSpPr>
            <a:spLocks noGrp="1"/>
          </p:cNvSpPr>
          <p:nvPr>
            <p:ph type="body" sz="quarter" idx="31"/>
          </p:nvPr>
        </p:nvSpPr>
        <p:spPr>
          <a:xfrm>
            <a:off x="914248" y="2076261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4" name="형광 밑줄"/>
          <p:cNvSpPr/>
          <p:nvPr/>
        </p:nvSpPr>
        <p:spPr>
          <a:xfrm>
            <a:off x="1462685" y="2196783"/>
            <a:ext cx="4566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소제목"/>
          <p:cNvSpPr>
            <a:spLocks noGrp="1"/>
          </p:cNvSpPr>
          <p:nvPr>
            <p:ph type="body" sz="quarter" idx="32"/>
          </p:nvPr>
        </p:nvSpPr>
        <p:spPr>
          <a:xfrm>
            <a:off x="1462685" y="2043391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분석/의사결정 지원을 넘어 행동하는 ‘AI 정수장 2.0+’ 현안 해결형 AI로 진화</a:t>
            </a:r>
          </a:p>
        </p:txBody>
      </p:sp>
      <p:sp>
        <p:nvSpPr>
          <p:cNvPr id="36" name="패널 외곽"/>
          <p:cNvSpPr/>
          <p:nvPr/>
        </p:nvSpPr>
        <p:spPr>
          <a:xfrm>
            <a:off x="723130" y="2339217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패널 머리"/>
          <p:cNvSpPr/>
          <p:nvPr/>
        </p:nvSpPr>
        <p:spPr>
          <a:xfrm>
            <a:off x="723130" y="2339217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패널 머리"/>
          <p:cNvSpPr>
            <a:spLocks noGrp="1"/>
          </p:cNvSpPr>
          <p:nvPr>
            <p:ph type="body" sz="quarter" idx="33"/>
          </p:nvPr>
        </p:nvSpPr>
        <p:spPr>
          <a:xfrm>
            <a:off x="723130" y="2339217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설명가능 AI(XAI) 도입</a:t>
            </a:r>
          </a:p>
        </p:txBody>
      </p:sp>
      <p:sp>
        <p:nvSpPr>
          <p:cNvPr id="39" name="패널 본문"/>
          <p:cNvSpPr>
            <a:spLocks noGrp="1"/>
          </p:cNvSpPr>
          <p:nvPr>
            <p:ph type="body" sz="quarter" idx="34"/>
          </p:nvPr>
        </p:nvSpPr>
        <p:spPr>
          <a:xfrm>
            <a:off x="745043" y="2580261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개발·시범운영(4개 정수장), 국제발명전시회 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 가이드라인 제정 → 운영 표준화</a:t>
            </a:r>
          </a:p>
        </p:txBody>
      </p:sp>
      <p:sp>
        <p:nvSpPr>
          <p:cNvPr id="40" name="요약 바"/>
          <p:cNvSpPr/>
          <p:nvPr/>
        </p:nvSpPr>
        <p:spPr>
          <a:xfrm>
            <a:off x="745043" y="3084261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요약 바"/>
          <p:cNvSpPr>
            <a:spLocks noGrp="1"/>
          </p:cNvSpPr>
          <p:nvPr>
            <p:ph type="body" sz="quarter" idx="35"/>
          </p:nvPr>
        </p:nvSpPr>
        <p:spPr>
          <a:xfrm>
            <a:off x="745043" y="3084261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XAI 도입 후 약품량을 4ppm 상향</a:t>
            </a:r>
          </a:p>
        </p:txBody>
      </p:sp>
      <p:sp>
        <p:nvSpPr>
          <p:cNvPr id="42" name="패널 외곽"/>
          <p:cNvSpPr/>
          <p:nvPr/>
        </p:nvSpPr>
        <p:spPr>
          <a:xfrm>
            <a:off x="3895043" y="2339217"/>
            <a:ext cx="3128087" cy="98608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3895043" y="2339217"/>
            <a:ext cx="312808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3895043" y="2339217"/>
            <a:ext cx="3128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 확대</a:t>
            </a:r>
          </a:p>
        </p:txBody>
      </p:sp>
      <p:sp>
        <p:nvSpPr>
          <p:cNvPr id="45" name="패널 본문"/>
          <p:cNvSpPr>
            <a:spLocks noGrp="1"/>
          </p:cNvSpPr>
          <p:nvPr>
            <p:ph type="body" sz="quarter" idx="37"/>
          </p:nvPr>
        </p:nvSpPr>
        <p:spPr>
          <a:xfrm>
            <a:off x="3916957" y="2580261"/>
            <a:ext cx="3084261" cy="482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→ 全 공정(취수장+관망) AI 예측·연계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드론·로봇의 시범운영 확대 및 성능검증</a:t>
            </a:r>
          </a:p>
        </p:txBody>
      </p:sp>
      <p:sp>
        <p:nvSpPr>
          <p:cNvPr id="46" name="요약 바"/>
          <p:cNvSpPr/>
          <p:nvPr/>
        </p:nvSpPr>
        <p:spPr>
          <a:xfrm>
            <a:off x="3916957" y="3084261"/>
            <a:ext cx="3084261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요약 바"/>
          <p:cNvSpPr>
            <a:spLocks noGrp="1"/>
          </p:cNvSpPr>
          <p:nvPr>
            <p:ph type="body" sz="quarter" idx="38"/>
          </p:nvPr>
        </p:nvSpPr>
        <p:spPr>
          <a:xfrm>
            <a:off x="3916957" y="3084261"/>
            <a:ext cx="3084261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AI취수원 · AI정수장 · AI관망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723130" y="3412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451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451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429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정수장 고도화로 운영원가 110억원/연 절감, 운영 표준화를 통해 사업화 기반 강화</a:t>
            </a:r>
          </a:p>
        </p:txBody>
      </p:sp>
      <p:sp>
        <p:nvSpPr>
          <p:cNvPr id="52" name="번호"/>
          <p:cNvSpPr>
            <a:spLocks noGrp="1"/>
          </p:cNvSpPr>
          <p:nvPr>
            <p:ph type="body" sz="quarter" idx="41"/>
          </p:nvPr>
        </p:nvSpPr>
        <p:spPr>
          <a:xfrm>
            <a:off x="723130" y="3844957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53" name="분야 박스"/>
          <p:cNvSpPr/>
          <p:nvPr/>
        </p:nvSpPr>
        <p:spPr>
          <a:xfrm>
            <a:off x="914248" y="3877826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분야 박스"/>
          <p:cNvSpPr>
            <a:spLocks noGrp="1"/>
          </p:cNvSpPr>
          <p:nvPr>
            <p:ph type="body" sz="quarter" idx="42"/>
          </p:nvPr>
        </p:nvSpPr>
        <p:spPr>
          <a:xfrm>
            <a:off x="914248" y="3877826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사업화</a:t>
            </a:r>
          </a:p>
        </p:txBody>
      </p:sp>
      <p:sp>
        <p:nvSpPr>
          <p:cNvPr id="55" name="형광 밑줄"/>
          <p:cNvSpPr/>
          <p:nvPr/>
        </p:nvSpPr>
        <p:spPr>
          <a:xfrm>
            <a:off x="1462685" y="3998348"/>
            <a:ext cx="438192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소제목"/>
          <p:cNvSpPr>
            <a:spLocks noGrp="1"/>
          </p:cNvSpPr>
          <p:nvPr>
            <p:ph type="body" sz="quarter" idx="43"/>
          </p:nvPr>
        </p:nvSpPr>
        <p:spPr>
          <a:xfrm>
            <a:off x="1462685" y="3844957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세계가 인정한 AI 정수장, 핵심 기술력을 기반으로 글로벌 기술 사업화 확대</a:t>
            </a:r>
          </a:p>
        </p:txBody>
      </p:sp>
      <p:sp>
        <p:nvSpPr>
          <p:cNvPr id="57" name="표 외곽"/>
          <p:cNvSpPr/>
          <p:nvPr/>
        </p:nvSpPr>
        <p:spPr>
          <a:xfrm>
            <a:off x="723130" y="4129826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"/>
          <p:cNvSpPr/>
          <p:nvPr/>
        </p:nvSpPr>
        <p:spPr>
          <a:xfrm>
            <a:off x="734087" y="4146261"/>
            <a:ext cx="580696" cy="936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4146261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</a:t>
            </a:r>
          </a:p>
        </p:txBody>
      </p:sp>
      <p:sp>
        <p:nvSpPr>
          <p:cNvPr id="60" name="머리칸"/>
          <p:cNvSpPr/>
          <p:nvPr/>
        </p:nvSpPr>
        <p:spPr>
          <a:xfrm>
            <a:off x="1347652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5"/>
          </p:nvPr>
        </p:nvSpPr>
        <p:spPr>
          <a:xfrm>
            <a:off x="1347652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국제 규범으로 채택</a:t>
            </a:r>
          </a:p>
        </p:txBody>
      </p:sp>
      <p:sp>
        <p:nvSpPr>
          <p:cNvPr id="62" name="머리칸"/>
          <p:cNvSpPr/>
          <p:nvPr/>
        </p:nvSpPr>
        <p:spPr>
          <a:xfrm>
            <a:off x="3230348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6"/>
          </p:nvPr>
        </p:nvSpPr>
        <p:spPr>
          <a:xfrm>
            <a:off x="3230348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정부10대 AI선도기관 선정!</a:t>
            </a:r>
          </a:p>
        </p:txBody>
      </p:sp>
      <p:sp>
        <p:nvSpPr>
          <p:cNvPr id="64" name="머리칸"/>
          <p:cNvSpPr/>
          <p:nvPr/>
        </p:nvSpPr>
        <p:spPr>
          <a:xfrm>
            <a:off x="5113043" y="4168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7"/>
          </p:nvPr>
        </p:nvSpPr>
        <p:spPr>
          <a:xfrm>
            <a:off x="5113043" y="4168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Biz 모델 우수성 국제 인증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1358609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제안(’23) → 개발(’24) → 심의(’25) → 위원회 승인(’26.1) → 최종안 → 제정(’27)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국제표준특허 2건 출원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3241304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확산 주도·기준점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기업기술이전 35건</a:t>
            </a:r>
          </a:p>
        </p:txBody>
      </p:sp>
      <p:cxnSp>
        <p:nvCxnSpPr>
          <p:cNvPr id="68" name="Connector 45"/>
          <p:cNvCxnSpPr/>
          <p:nvPr/>
        </p:nvCxnSpPr>
        <p:spPr>
          <a:xfrm>
            <a:off x="3230348" y="444208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4409217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투자가치 OECD 인증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수요 활성화</a:t>
            </a:r>
          </a:p>
        </p:txBody>
      </p:sp>
      <p:cxnSp>
        <p:nvCxnSpPr>
          <p:cNvPr id="70" name="Connector 47"/>
          <p:cNvCxnSpPr/>
          <p:nvPr/>
        </p:nvCxnSpPr>
        <p:spPr>
          <a:xfrm>
            <a:off x="5113043" y="4442087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734087" y="509947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09947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734086" y="509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머리칸"/>
          <p:cNvSpPr/>
          <p:nvPr/>
        </p:nvSpPr>
        <p:spPr>
          <a:xfrm>
            <a:off x="1347652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인정  ‘First Mover’ 위상 제고</a:t>
            </a:r>
          </a:p>
        </p:txBody>
      </p:sp>
      <p:sp>
        <p:nvSpPr>
          <p:cNvPr id="76" name="머리칸"/>
          <p:cNvSpPr/>
          <p:nvPr/>
        </p:nvSpPr>
        <p:spPr>
          <a:xfrm>
            <a:off x="3230348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 국가 상수도 선진화</a:t>
            </a:r>
          </a:p>
        </p:txBody>
      </p:sp>
      <p:sp>
        <p:nvSpPr>
          <p:cNvPr id="78" name="머리칸"/>
          <p:cNvSpPr/>
          <p:nvPr/>
        </p:nvSpPr>
        <p:spPr>
          <a:xfrm>
            <a:off x="5113043" y="512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2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국외  글로벌 시장 개척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최고권위 산업 기술상 ‘장영실상’ 수상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물관리 혁신을 국가 핵심기술력으로 평가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부산시 수도 AX MOU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수원시·함평군·광해공단(타분야) AI 기술 지원</a:t>
            </a:r>
          </a:p>
        </p:txBody>
      </p:sp>
      <p:cxnSp>
        <p:nvCxnSpPr>
          <p:cNvPr id="82" name="Connector 55"/>
          <p:cNvCxnSpPr/>
          <p:nvPr/>
        </p:nvCxnSpPr>
        <p:spPr>
          <a:xfrm>
            <a:off x="3230348" y="539530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362435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‘베트남 켄동 정수장’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컨설팅 3건</a:t>
            </a:r>
          </a:p>
        </p:txBody>
      </p:sp>
      <p:cxnSp>
        <p:nvCxnSpPr>
          <p:cNvPr id="84" name="Connector 57"/>
          <p:cNvCxnSpPr/>
          <p:nvPr/>
        </p:nvCxnSpPr>
        <p:spPr>
          <a:xfrm>
            <a:off x="5113043" y="5395304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핵심성과 박스"/>
          <p:cNvSpPr/>
          <p:nvPr/>
        </p:nvSpPr>
        <p:spPr>
          <a:xfrm>
            <a:off x="723130" y="6140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핵심성과 라벨"/>
          <p:cNvSpPr/>
          <p:nvPr/>
        </p:nvSpPr>
        <p:spPr>
          <a:xfrm>
            <a:off x="756000" y="6178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7" name="핵심성과 라벨"/>
          <p:cNvSpPr>
            <a:spLocks noGrp="1"/>
          </p:cNvSpPr>
          <p:nvPr>
            <p:ph type="body" sz="quarter" idx="58"/>
          </p:nvPr>
        </p:nvSpPr>
        <p:spPr>
          <a:xfrm>
            <a:off x="756000" y="6178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8" name="핵심성과 문구"/>
          <p:cNvSpPr>
            <a:spLocks noGrp="1"/>
          </p:cNvSpPr>
          <p:nvPr>
            <p:ph type="body" sz="quarter" idx="59"/>
          </p:nvPr>
        </p:nvSpPr>
        <p:spPr>
          <a:xfrm>
            <a:off x="1501043" y="6156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사업화 8건+국제 표준화(ISO)로 글로벌 사업화 기반 강화, 지자체 확대로 서비스 격차 해소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1 서사 · 수도 AX 슬로건 도약(AI 전환계획: 목표·비전·공정 → 로드맵 → 주요과제 → AI 개발성과 4카드 → 특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54411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전환(DX)을 넘어, AI가 융합된 미래 상수도 ‘AI for water’ 수도AX 슬로건으로 도약</a:t>
            </a:r>
          </a:p>
        </p:txBody>
      </p:sp>
      <p:sp>
        <p:nvSpPr>
          <p:cNvPr id="12" name="태그칩"/>
          <p:cNvSpPr/>
          <p:nvPr/>
        </p:nvSpPr>
        <p:spPr>
          <a:xfrm>
            <a:off x="6076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6076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28522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727987" y="1161391"/>
            <a:ext cx="74663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727987" y="1161391"/>
            <a:ext cx="74663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전환계획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40364" y="1281913"/>
            <a:ext cx="433235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40364" y="1128522"/>
            <a:ext cx="529650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취수원부터 관말까지, 물공급 전과정 AI 내재화를 위한 수도 AX 계획 마련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13391"/>
            <a:ext cx="6300000" cy="33145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2982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2982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451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51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생애주기(Life Cycle) 전반, AI·DT 기반의 종합적인 의사결정 체계 완성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699670"/>
            <a:ext cx="580696" cy="1627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9670"/>
            <a:ext cx="580696" cy="1627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 AX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96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"/>
          <p:cNvSpPr/>
          <p:nvPr/>
        </p:nvSpPr>
        <p:spPr>
          <a:xfrm>
            <a:off x="1161391" y="172158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취수·정수장</a:t>
            </a:r>
          </a:p>
        </p:txBody>
      </p:sp>
      <p:sp>
        <p:nvSpPr>
          <p:cNvPr id="29" name="단계"/>
          <p:cNvSpPr/>
          <p:nvPr/>
        </p:nvSpPr>
        <p:spPr>
          <a:xfrm>
            <a:off x="2291009" y="172158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2291009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가압장</a:t>
            </a:r>
          </a:p>
        </p:txBody>
      </p:sp>
      <p:sp>
        <p:nvSpPr>
          <p:cNvPr id="31" name="단계"/>
          <p:cNvSpPr/>
          <p:nvPr/>
        </p:nvSpPr>
        <p:spPr>
          <a:xfrm>
            <a:off x="3420626" y="172158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420626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배수지</a:t>
            </a:r>
          </a:p>
        </p:txBody>
      </p:sp>
      <p:sp>
        <p:nvSpPr>
          <p:cNvPr id="33" name="단계"/>
          <p:cNvSpPr/>
          <p:nvPr/>
        </p:nvSpPr>
        <p:spPr>
          <a:xfrm>
            <a:off x="4550243" y="172158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4550243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망</a:t>
            </a:r>
          </a:p>
        </p:txBody>
      </p:sp>
      <p:sp>
        <p:nvSpPr>
          <p:cNvPr id="35" name="단계"/>
          <p:cNvSpPr/>
          <p:nvPr/>
        </p:nvSpPr>
        <p:spPr>
          <a:xfrm>
            <a:off x="5679861" y="172158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5679861" y="172158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수요자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291008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3420626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550243" y="17215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 삼각형"/>
          <p:cNvSpPr/>
          <p:nvPr/>
        </p:nvSpPr>
        <p:spPr>
          <a:xfrm>
            <a:off x="5679860" y="17215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 txBox="1"/>
          <p:nvPr/>
        </p:nvSpPr>
        <p:spPr>
          <a:xfrm>
            <a:off x="1172348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2" name="칸 본문"/>
          <p:cNvSpPr txBox="1"/>
          <p:nvPr/>
        </p:nvSpPr>
        <p:spPr>
          <a:xfrm>
            <a:off x="2301965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3" name="Connector 29"/>
          <p:cNvCxnSpPr/>
          <p:nvPr/>
        </p:nvCxnSpPr>
        <p:spPr>
          <a:xfrm flipV="1">
            <a:off x="2291009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 txBox="1"/>
          <p:nvPr/>
        </p:nvSpPr>
        <p:spPr>
          <a:xfrm>
            <a:off x="3431583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5" name="Connector 31"/>
          <p:cNvCxnSpPr/>
          <p:nvPr/>
        </p:nvCxnSpPr>
        <p:spPr>
          <a:xfrm flipV="1">
            <a:off x="3420626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 txBox="1"/>
          <p:nvPr/>
        </p:nvSpPr>
        <p:spPr>
          <a:xfrm>
            <a:off x="4561200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7" name="Connector 33"/>
          <p:cNvCxnSpPr/>
          <p:nvPr/>
        </p:nvCxnSpPr>
        <p:spPr>
          <a:xfrm flipV="1">
            <a:off x="4550243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 txBox="1"/>
          <p:nvPr/>
        </p:nvSpPr>
        <p:spPr>
          <a:xfrm>
            <a:off x="5690817" y="197358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9" name="Connector 35"/>
          <p:cNvCxnSpPr/>
          <p:nvPr/>
        </p:nvCxnSpPr>
        <p:spPr>
          <a:xfrm flipV="1">
            <a:off x="5679861" y="1995496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44800"/>
            <a:ext cx="451408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기반 통합플랫폼 · Agent AI · 수질예측 · 공정최적화 · 무인점검 · 최적투자 · 실시간 운영 · 진단 고도화</a:t>
            </a:r>
          </a:p>
        </p:txBody>
      </p:sp>
      <p:sp>
        <p:nvSpPr>
          <p:cNvPr id="51" name="사진 칸"/>
          <p:cNvSpPr/>
          <p:nvPr/>
        </p:nvSpPr>
        <p:spPr>
          <a:xfrm>
            <a:off x="5730261" y="2050278"/>
            <a:ext cx="1079217" cy="1029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2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50278"/>
            <a:ext cx="1079217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수도 AX 개념도</a:t>
            </a:r>
          </a:p>
        </p:txBody>
      </p:sp>
      <p:sp>
        <p:nvSpPr>
          <p:cNvPr id="53" name="배너"/>
          <p:cNvSpPr/>
          <p:nvPr/>
        </p:nvSpPr>
        <p:spPr>
          <a:xfrm>
            <a:off x="1161391" y="31021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31021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미래상: 현실과 동일한 AI·DT 통합플랫폼, 스스로 판단·행동하는 Agent AI</a:t>
            </a:r>
          </a:p>
        </p:txBody>
      </p:sp>
      <p:sp>
        <p:nvSpPr>
          <p:cNvPr id="55" name="레일"/>
          <p:cNvSpPr/>
          <p:nvPr/>
        </p:nvSpPr>
        <p:spPr>
          <a:xfrm>
            <a:off x="547826" y="3343148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343148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단계"/>
          <p:cNvSpPr/>
          <p:nvPr/>
        </p:nvSpPr>
        <p:spPr>
          <a:xfrm>
            <a:off x="1161391" y="336506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Digital 전환</a:t>
            </a:r>
          </a:p>
        </p:txBody>
      </p:sp>
      <p:sp>
        <p:nvSpPr>
          <p:cNvPr id="59" name="단계"/>
          <p:cNvSpPr/>
          <p:nvPr/>
        </p:nvSpPr>
        <p:spPr>
          <a:xfrm>
            <a:off x="2573413" y="336506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38"/>
          </p:nvPr>
        </p:nvSpPr>
        <p:spPr>
          <a:xfrm>
            <a:off x="2573413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AX 추진계획</a:t>
            </a:r>
          </a:p>
        </p:txBody>
      </p:sp>
      <p:sp>
        <p:nvSpPr>
          <p:cNvPr id="61" name="단계"/>
          <p:cNvSpPr/>
          <p:nvPr/>
        </p:nvSpPr>
        <p:spPr>
          <a:xfrm>
            <a:off x="3985435" y="336506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39"/>
          </p:nvPr>
        </p:nvSpPr>
        <p:spPr>
          <a:xfrm>
            <a:off x="3985435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’28년 AI·DT 통합연계</a:t>
            </a:r>
          </a:p>
        </p:txBody>
      </p:sp>
      <p:sp>
        <p:nvSpPr>
          <p:cNvPr id="63" name="단계"/>
          <p:cNvSpPr/>
          <p:nvPr/>
        </p:nvSpPr>
        <p:spPr>
          <a:xfrm>
            <a:off x="5397457" y="336506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0"/>
          </p:nvPr>
        </p:nvSpPr>
        <p:spPr>
          <a:xfrm>
            <a:off x="5397457" y="336506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’30년 AI 내재화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2573413" y="33650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3985434" y="33650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단계 삼각형"/>
          <p:cNvSpPr/>
          <p:nvPr/>
        </p:nvSpPr>
        <p:spPr>
          <a:xfrm>
            <a:off x="5397456" y="33650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관망·정수장 DT(시범)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요소기술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수도AX 과제 발굴(27개)</a:t>
            </a:r>
          </a:p>
        </p:txBody>
      </p:sp>
      <p:cxnSp>
        <p:nvCxnSpPr>
          <p:cNvPr id="70" name="Connector 49"/>
          <p:cNvCxnSpPr/>
          <p:nvPr/>
        </p:nvCxnSpPr>
        <p:spPr>
          <a:xfrm>
            <a:off x="2573413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요소기술 기반 자율운영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확대</a:t>
            </a:r>
          </a:p>
        </p:txBody>
      </p:sp>
      <p:cxnSp>
        <p:nvCxnSpPr>
          <p:cNvPr id="72" name="Connector 51"/>
          <p:cNvCxnSpPr/>
          <p:nvPr/>
        </p:nvCxnSpPr>
        <p:spPr>
          <a:xfrm>
            <a:off x="3985435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3617061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 완성</a:t>
            </a:r>
          </a:p>
        </p:txBody>
      </p:sp>
      <p:cxnSp>
        <p:nvCxnSpPr>
          <p:cNvPr id="74" name="Connector 53"/>
          <p:cNvCxnSpPr/>
          <p:nvPr/>
        </p:nvCxnSpPr>
        <p:spPr>
          <a:xfrm>
            <a:off x="5397457" y="36499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레일"/>
          <p:cNvSpPr/>
          <p:nvPr/>
        </p:nvSpPr>
        <p:spPr>
          <a:xfrm>
            <a:off x="547826" y="41362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41362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7" name="레일 삼각형"/>
          <p:cNvSpPr/>
          <p:nvPr/>
        </p:nvSpPr>
        <p:spPr>
          <a:xfrm>
            <a:off x="547826" y="41362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15815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설계·시공: BIM 확대, 디지털 트윈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운영관리: AI운영 고도화, Agent/Physical AI 확대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7"/>
          </p:nvPr>
        </p:nvSpPr>
        <p:spPr>
          <a:xfrm>
            <a:off x="3996391" y="415815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유지관리: 진단 기술 혁신, 관망·정수장 진단 AI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자산관리: 투자 최적화, 자산평가 기반 의사결정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3985435" y="41910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번호"/>
          <p:cNvSpPr>
            <a:spLocks noGrp="1"/>
          </p:cNvSpPr>
          <p:nvPr>
            <p:ph type="body" sz="quarter" idx="48"/>
          </p:nvPr>
        </p:nvSpPr>
        <p:spPr>
          <a:xfrm>
            <a:off x="536870" y="4848417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82" name="분야 박스"/>
          <p:cNvSpPr/>
          <p:nvPr/>
        </p:nvSpPr>
        <p:spPr>
          <a:xfrm>
            <a:off x="727987" y="4881287"/>
            <a:ext cx="74663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분야 박스"/>
          <p:cNvSpPr>
            <a:spLocks noGrp="1"/>
          </p:cNvSpPr>
          <p:nvPr>
            <p:ph type="body" sz="quarter" idx="49"/>
          </p:nvPr>
        </p:nvSpPr>
        <p:spPr>
          <a:xfrm>
            <a:off x="727987" y="4881287"/>
            <a:ext cx="74663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개발성과</a:t>
            </a:r>
          </a:p>
        </p:txBody>
      </p:sp>
      <p:sp>
        <p:nvSpPr>
          <p:cNvPr id="84" name="형광 밑줄"/>
          <p:cNvSpPr/>
          <p:nvPr/>
        </p:nvSpPr>
        <p:spPr>
          <a:xfrm>
            <a:off x="1540364" y="5001809"/>
            <a:ext cx="38047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소제목"/>
          <p:cNvSpPr>
            <a:spLocks noGrp="1"/>
          </p:cNvSpPr>
          <p:nvPr>
            <p:ph type="body" sz="quarter" idx="50"/>
          </p:nvPr>
        </p:nvSpPr>
        <p:spPr>
          <a:xfrm>
            <a:off x="1540364" y="4848417"/>
            <a:ext cx="529650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2025 수도 특화 AX를 위한 요소기술을 지속적으로 발굴·내재화</a:t>
            </a:r>
          </a:p>
        </p:txBody>
      </p:sp>
      <p:sp>
        <p:nvSpPr>
          <p:cNvPr id="86" name="아이콘 칸"/>
          <p:cNvSpPr/>
          <p:nvPr/>
        </p:nvSpPr>
        <p:spPr>
          <a:xfrm>
            <a:off x="536870" y="51880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87" name="태그"/>
          <p:cNvSpPr/>
          <p:nvPr/>
        </p:nvSpPr>
        <p:spPr>
          <a:xfrm>
            <a:off x="756000" y="5188070"/>
            <a:ext cx="43701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1"/>
          </p:nvPr>
        </p:nvSpPr>
        <p:spPr>
          <a:xfrm>
            <a:off x="756000" y="5188070"/>
            <a:ext cx="43701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</a:t>
            </a:r>
          </a:p>
        </p:txBody>
      </p:sp>
      <p:sp>
        <p:nvSpPr>
          <p:cNvPr id="89" name="그룹 제목"/>
          <p:cNvSpPr>
            <a:spLocks noGrp="1"/>
          </p:cNvSpPr>
          <p:nvPr>
            <p:ph type="body" sz="quarter" idx="52"/>
          </p:nvPr>
        </p:nvSpPr>
        <p:spPr>
          <a:xfrm>
            <a:off x="1236836" y="5166157"/>
            <a:ext cx="557812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현안 해결형 요소기술 4건</a:t>
            </a:r>
          </a:p>
        </p:txBody>
      </p:sp>
      <p:sp>
        <p:nvSpPr>
          <p:cNvPr id="90" name="그룹 틀"/>
          <p:cNvSpPr/>
          <p:nvPr/>
        </p:nvSpPr>
        <p:spPr>
          <a:xfrm>
            <a:off x="536870" y="54072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카드 머리"/>
          <p:cNvSpPr/>
          <p:nvPr/>
        </p:nvSpPr>
        <p:spPr>
          <a:xfrm>
            <a:off x="569739" y="54291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태그"/>
          <p:cNvSpPr/>
          <p:nvPr/>
        </p:nvSpPr>
        <p:spPr>
          <a:xfrm>
            <a:off x="613565" y="5451026"/>
            <a:ext cx="59304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3"/>
          </p:nvPr>
        </p:nvSpPr>
        <p:spPr>
          <a:xfrm>
            <a:off x="613565" y="5451026"/>
            <a:ext cx="59304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딥러닝</a:t>
            </a:r>
          </a:p>
        </p:txBody>
      </p:sp>
      <p:sp>
        <p:nvSpPr>
          <p:cNvPr id="94" name="카드 제목"/>
          <p:cNvSpPr>
            <a:spLocks noGrp="1"/>
          </p:cNvSpPr>
          <p:nvPr>
            <p:ph type="body" sz="quarter" idx="54"/>
          </p:nvPr>
        </p:nvSpPr>
        <p:spPr>
          <a:xfrm>
            <a:off x="1239478" y="5429113"/>
            <a:ext cx="240356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보이지 않는 싱크홀, 지반침하 AI 분석</a:t>
            </a:r>
          </a:p>
        </p:txBody>
      </p:sp>
      <p:sp>
        <p:nvSpPr>
          <p:cNvPr id="95" name="카드 본문"/>
          <p:cNvSpPr>
            <a:spLocks noGrp="1"/>
          </p:cNvSpPr>
          <p:nvPr>
            <p:ph type="body" sz="quarter" idx="55"/>
          </p:nvPr>
        </p:nvSpPr>
        <p:spPr>
          <a:xfrm>
            <a:off x="569739" y="56482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5년 주기 점검, 적기 포착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관로 주변 AI 침하 예측 → 선제적 싱크홀 사고 대응</a:t>
            </a:r>
          </a:p>
        </p:txBody>
      </p:sp>
      <p:cxnSp>
        <p:nvCxnSpPr>
          <p:cNvPr id="96" name="Connector 71"/>
          <p:cNvCxnSpPr/>
          <p:nvPr/>
        </p:nvCxnSpPr>
        <p:spPr>
          <a:xfrm>
            <a:off x="3675913" y="54619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카드 머리"/>
          <p:cNvSpPr/>
          <p:nvPr/>
        </p:nvSpPr>
        <p:spPr>
          <a:xfrm>
            <a:off x="3686870" y="54291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태그"/>
          <p:cNvSpPr/>
          <p:nvPr/>
        </p:nvSpPr>
        <p:spPr>
          <a:xfrm>
            <a:off x="3730696" y="5451026"/>
            <a:ext cx="27626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태그"/>
          <p:cNvSpPr>
            <a:spLocks noGrp="1"/>
          </p:cNvSpPr>
          <p:nvPr>
            <p:ph type="body" sz="quarter" idx="56"/>
          </p:nvPr>
        </p:nvSpPr>
        <p:spPr>
          <a:xfrm>
            <a:off x="3730696" y="5451026"/>
            <a:ext cx="27626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</a:t>
            </a:r>
          </a:p>
        </p:txBody>
      </p:sp>
      <p:sp>
        <p:nvSpPr>
          <p:cNvPr id="100" name="카드 제목"/>
          <p:cNvSpPr>
            <a:spLocks noGrp="1"/>
          </p:cNvSpPr>
          <p:nvPr>
            <p:ph type="body" sz="quarter" idx="57"/>
          </p:nvPr>
        </p:nvSpPr>
        <p:spPr>
          <a:xfrm>
            <a:off x="4039828" y="5429113"/>
            <a:ext cx="272034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현장관리를 위한 全광역 water-NET Field 확대</a:t>
            </a:r>
          </a:p>
        </p:txBody>
      </p:sp>
      <p:sp>
        <p:nvSpPr>
          <p:cNvPr id="101" name="카드 본문"/>
          <p:cNvSpPr>
            <a:spLocks noGrp="1"/>
          </p:cNvSpPr>
          <p:nvPr>
            <p:ph type="body" sz="quarter" idx="58"/>
          </p:nvPr>
        </p:nvSpPr>
        <p:spPr>
          <a:xfrm>
            <a:off x="3686870" y="56482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사무실 위주 정보·2D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모바일·AR 구현 → 시설관리 효율↑, 성과 확산(지방)</a:t>
            </a:r>
          </a:p>
        </p:txBody>
      </p:sp>
      <p:sp>
        <p:nvSpPr>
          <p:cNvPr id="102" name="카드 머리"/>
          <p:cNvSpPr/>
          <p:nvPr/>
        </p:nvSpPr>
        <p:spPr>
          <a:xfrm>
            <a:off x="569739" y="65247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태그"/>
          <p:cNvSpPr/>
          <p:nvPr/>
        </p:nvSpPr>
        <p:spPr>
          <a:xfrm>
            <a:off x="613565" y="6546678"/>
            <a:ext cx="59304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04" name="태그"/>
          <p:cNvSpPr>
            <a:spLocks noGrp="1"/>
          </p:cNvSpPr>
          <p:nvPr>
            <p:ph type="body" sz="quarter" idx="59"/>
          </p:nvPr>
        </p:nvSpPr>
        <p:spPr>
          <a:xfrm>
            <a:off x="613565" y="6546678"/>
            <a:ext cx="59304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생성형 AI</a:t>
            </a:r>
          </a:p>
        </p:txBody>
      </p:sp>
      <p:sp>
        <p:nvSpPr>
          <p:cNvPr id="105" name="카드 제목"/>
          <p:cNvSpPr>
            <a:spLocks noGrp="1"/>
          </p:cNvSpPr>
          <p:nvPr>
            <p:ph type="body" sz="quarter" idx="60"/>
          </p:nvPr>
        </p:nvSpPr>
        <p:spPr>
          <a:xfrm>
            <a:off x="1239478" y="6524765"/>
            <a:ext cx="240356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CCTV-AI 기반 지능형 건설 안전관리</a:t>
            </a:r>
          </a:p>
        </p:txBody>
      </p:sp>
      <p:sp>
        <p:nvSpPr>
          <p:cNvPr id="106" name="카드 본문"/>
          <p:cNvSpPr>
            <a:spLocks noGrp="1"/>
          </p:cNvSpPr>
          <p:nvPr>
            <p:ph type="body" sz="quarter" idx="61"/>
          </p:nvPr>
        </p:nvSpPr>
        <p:spPr>
          <a:xfrm>
            <a:off x="569739" y="67438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인력 점검, 사고 인지 지연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위험요인 자동탐지·예측 → 중대재해↓, 자율형 예방체계</a:t>
            </a:r>
          </a:p>
        </p:txBody>
      </p:sp>
      <p:cxnSp>
        <p:nvCxnSpPr>
          <p:cNvPr id="107" name="Connector 80"/>
          <p:cNvCxnSpPr/>
          <p:nvPr/>
        </p:nvCxnSpPr>
        <p:spPr>
          <a:xfrm>
            <a:off x="3675913" y="65576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카드 머리"/>
          <p:cNvSpPr/>
          <p:nvPr/>
        </p:nvSpPr>
        <p:spPr>
          <a:xfrm>
            <a:off x="3686870" y="65247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태그"/>
          <p:cNvSpPr/>
          <p:nvPr/>
        </p:nvSpPr>
        <p:spPr>
          <a:xfrm>
            <a:off x="3730696" y="6546678"/>
            <a:ext cx="76408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태그"/>
          <p:cNvSpPr>
            <a:spLocks noGrp="1"/>
          </p:cNvSpPr>
          <p:nvPr>
            <p:ph type="body" sz="quarter" idx="62"/>
          </p:nvPr>
        </p:nvSpPr>
        <p:spPr>
          <a:xfrm>
            <a:off x="3730696" y="6546678"/>
            <a:ext cx="76408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Physical AI</a:t>
            </a:r>
          </a:p>
        </p:txBody>
      </p:sp>
      <p:sp>
        <p:nvSpPr>
          <p:cNvPr id="111" name="카드 제목"/>
          <p:cNvSpPr>
            <a:spLocks noGrp="1"/>
          </p:cNvSpPr>
          <p:nvPr>
            <p:ph type="body" sz="quarter" idx="63"/>
          </p:nvPr>
        </p:nvSpPr>
        <p:spPr>
          <a:xfrm>
            <a:off x="4527648" y="6524765"/>
            <a:ext cx="223252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드론 기반 무인 자율점검체계 시범적용</a:t>
            </a:r>
          </a:p>
        </p:txBody>
      </p:sp>
      <p:sp>
        <p:nvSpPr>
          <p:cNvPr id="112" name="카드 본문"/>
          <p:cNvSpPr>
            <a:spLocks noGrp="1"/>
          </p:cNvSpPr>
          <p:nvPr>
            <p:ph type="body" sz="quarter" idx="64"/>
          </p:nvPr>
        </p:nvSpPr>
        <p:spPr>
          <a:xfrm>
            <a:off x="3686870" y="67438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현황: 취약구간(교량 등) 인력점검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드론 무인점검, AI 분석 → 점검효율↑, 점검자 안전성↑</a:t>
            </a:r>
          </a:p>
        </p:txBody>
      </p:sp>
      <p:sp>
        <p:nvSpPr>
          <p:cNvPr id="113" name="틀"/>
          <p:cNvSpPr/>
          <p:nvPr/>
        </p:nvSpPr>
        <p:spPr>
          <a:xfrm>
            <a:off x="536870" y="7740939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4" name="성과 라벨"/>
          <p:cNvSpPr/>
          <p:nvPr/>
        </p:nvSpPr>
        <p:spPr>
          <a:xfrm>
            <a:off x="547826" y="775189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5" name="성과 라벨"/>
          <p:cNvSpPr>
            <a:spLocks noGrp="1"/>
          </p:cNvSpPr>
          <p:nvPr>
            <p:ph type="body" sz="quarter" idx="65"/>
          </p:nvPr>
        </p:nvSpPr>
        <p:spPr>
          <a:xfrm>
            <a:off x="547826" y="775189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특별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6" name="성과 띠"/>
          <p:cNvSpPr/>
          <p:nvPr/>
        </p:nvSpPr>
        <p:spPr>
          <a:xfrm>
            <a:off x="1172348" y="777380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7" name="성과 띠"/>
          <p:cNvSpPr>
            <a:spLocks noGrp="1"/>
          </p:cNvSpPr>
          <p:nvPr>
            <p:ph type="body" sz="quarter" idx="66"/>
          </p:nvPr>
        </p:nvSpPr>
        <p:spPr>
          <a:xfrm>
            <a:off x="1172348" y="777380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SWM 고도화 사업(’26~’30, 955억원), 국가 정책사업 반영으로 AX 추진동력 확보</a:t>
            </a:r>
          </a:p>
        </p:txBody>
      </p:sp>
      <p:sp>
        <p:nvSpPr>
          <p:cNvPr id="118" name="카드"/>
          <p:cNvSpPr/>
          <p:nvPr/>
        </p:nvSpPr>
        <p:spPr>
          <a:xfrm>
            <a:off x="1172348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9" name="카드 문구"/>
          <p:cNvSpPr>
            <a:spLocks noGrp="1"/>
          </p:cNvSpPr>
          <p:nvPr>
            <p:ph type="body" sz="quarter" idx="67"/>
          </p:nvPr>
        </p:nvSpPr>
        <p:spPr>
          <a:xfrm>
            <a:off x="1194261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취수원 AI 수질 예측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이상수질 등 예측으로 선제적 대응체계 구축</a:t>
            </a:r>
          </a:p>
        </p:txBody>
      </p:sp>
      <p:sp>
        <p:nvSpPr>
          <p:cNvPr id="120" name="카드"/>
          <p:cNvSpPr/>
          <p:nvPr/>
        </p:nvSpPr>
        <p:spPr>
          <a:xfrm>
            <a:off x="259121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카드 문구"/>
          <p:cNvSpPr>
            <a:spLocks noGrp="1"/>
          </p:cNvSpPr>
          <p:nvPr>
            <p:ph type="body" sz="quarter" idx="68"/>
          </p:nvPr>
        </p:nvSpPr>
        <p:spPr>
          <a:xfrm>
            <a:off x="261313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자율운영 완성을 위한 인프라 확충·로직 최적화</a:t>
            </a:r>
          </a:p>
        </p:txBody>
      </p:sp>
      <p:sp>
        <p:nvSpPr>
          <p:cNvPr id="122" name="카드"/>
          <p:cNvSpPr/>
          <p:nvPr/>
        </p:nvSpPr>
        <p:spPr>
          <a:xfrm>
            <a:off x="401008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카드 문구"/>
          <p:cNvSpPr>
            <a:spLocks noGrp="1"/>
          </p:cNvSpPr>
          <p:nvPr>
            <p:ph type="body" sz="quarter" idx="69"/>
          </p:nvPr>
        </p:nvSpPr>
        <p:spPr>
          <a:xfrm>
            <a:off x="403200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점검로봇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무인자율점검을 통한 사고예방·점검효율화</a:t>
            </a:r>
          </a:p>
        </p:txBody>
      </p:sp>
      <p:sp>
        <p:nvSpPr>
          <p:cNvPr id="124" name="카드"/>
          <p:cNvSpPr/>
          <p:nvPr/>
        </p:nvSpPr>
        <p:spPr>
          <a:xfrm>
            <a:off x="5428957" y="8014852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5" name="카드 문구"/>
          <p:cNvSpPr>
            <a:spLocks noGrp="1"/>
          </p:cNvSpPr>
          <p:nvPr>
            <p:ph type="body" sz="quarter" idx="70"/>
          </p:nvPr>
        </p:nvSpPr>
        <p:spPr>
          <a:xfrm>
            <a:off x="5450870" y="8025809"/>
            <a:ext cx="1353130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AI·DT 통합플랫폼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데이터 기반 종합의사결정 지원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2 서사 · 기후리스크 · 정책강화 두 칸(번호 띠 바로 아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취약 수질 핀셋관리와 신종 유해물질 선제 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999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폭염일수 최근 10년간 2배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12월 겨울한파에도 지속된 조류경보 등 수처리 여건 악화로 기후리스크 일상화</a:t>
            </a:r>
          </a:p>
        </p:txBody>
      </p:sp>
      <p:sp>
        <p:nvSpPr>
          <p:cNvPr id="18" name="레일"/>
          <p:cNvSpPr/>
          <p:nvPr/>
        </p:nvSpPr>
        <p:spPr>
          <a:xfrm>
            <a:off x="734087" y="15722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722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0" name="레일 삼각형"/>
          <p:cNvSpPr/>
          <p:nvPr/>
        </p:nvSpPr>
        <p:spPr>
          <a:xfrm>
            <a:off x="734086" y="157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94174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전 과정 인프라 고도화 필요성 대두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과불화화합물(PFAS) 규제강화 예고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핵심산업 자원안보 강조, 자원순환 활성화 촉구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3 서사 · 국민기대수질(체감도 높은 5대 항목 → 계절별 취약요소 4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국민기대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야열대화 여건을 기후적응 기술로 극복, 역대 최고 국민기대수질 달성</a:t>
            </a:r>
          </a:p>
        </p:txBody>
      </p:sp>
      <p:sp>
        <p:nvSpPr>
          <p:cNvPr id="15" name="태그칩"/>
          <p:cNvSpPr/>
          <p:nvPr/>
        </p:nvSpPr>
        <p:spPr>
          <a:xfrm>
            <a:off x="555327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327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배너"/>
          <p:cNvSpPr/>
          <p:nvPr/>
        </p:nvSpPr>
        <p:spPr>
          <a:xfrm>
            <a:off x="536870" y="1062783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8" name="Connector 12"/>
          <p:cNvCxnSpPr/>
          <p:nvPr/>
        </p:nvCxnSpPr>
        <p:spPr>
          <a:xfrm>
            <a:off x="536870" y="1062783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536870" y="1117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국민기대수질: 체감도가 높은 5대 항목(조류독소, 냄새, 소독부산물, 망간), ‘불검출’ 수준 관리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435304"/>
            <a:ext cx="6300000" cy="134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51739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517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요소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봄~가을 조류독소·냄새</a:t>
            </a:r>
          </a:p>
        </p:txBody>
      </p:sp>
      <p:sp>
        <p:nvSpPr>
          <p:cNvPr id="25" name="머리칸"/>
          <p:cNvSpPr/>
          <p:nvPr/>
        </p:nvSpPr>
        <p:spPr>
          <a:xfrm>
            <a:off x="2573413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2573413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여름 소독부산물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가을~겨울 망간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397457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397457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연중 깔따구 유충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분말활성탄 투입 자동화: 휴일 등 취약시기 즉각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독소 불검출, 냄새민원 Zero(’25년 他 지자체 민원 80건)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수도꼭지까지 수질예측 확대: 소독공정 AI 시뮬레이션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無염소 국가 수준 운영(국내 수질기준보다 4배 강화)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573413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가정용필터 감시 병행: 필터변색 징후 사전감지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 민원 Zero(’25년 他 지자체 민원 180건)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14696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다채널 유충계측기 기술개발: 원수~정수 24시간 감시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정수장 유충 미발생(’25년 3개 지자체 발생)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5397457" y="1747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2865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2903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903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881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선진국 최고 수질기준 대비 최대 2배 상회한 ‘국민기대수질’ 설정, 달성률 98.3%(역대 최고)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4 서사 · 인프라 강화(정수 · 배출수 × 기존 → 추진실적 → 개선계획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인프라 강화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49896" y="931304"/>
            <a:ext cx="41728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49896" y="777913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미래 수질이슈 및 규제강화 대비, 정수장 종합계획(Master Plan) 추진</a:t>
            </a:r>
          </a:p>
        </p:txBody>
      </p:sp>
      <p:sp>
        <p:nvSpPr>
          <p:cNvPr id="14" name="태그칩"/>
          <p:cNvSpPr/>
          <p:nvPr/>
        </p:nvSpPr>
        <p:spPr>
          <a:xfrm>
            <a:off x="602138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602138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166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 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배출수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기존</a:t>
            </a:r>
          </a:p>
        </p:txBody>
      </p:sp>
      <p:sp>
        <p:nvSpPr>
          <p:cNvPr id="21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추진실적</a:t>
            </a:r>
          </a:p>
        </p:txBody>
      </p:sp>
      <p:sp>
        <p:nvSpPr>
          <p:cNvPr id="23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~’40년 개선계획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 공정중심 + 고도확대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한강·낙동강 고도도입(13개소)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고형물 중심 표준 1차 처리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미래형 혁신정수장 시범도입(5개소)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공주(정) 등 8개소 설계·타당성 조사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미량물질 제거 2차 처리시설 확대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38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353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초고도 도입(활성탄+미세막)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 유역 고도 100% 확대(39개소)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수처리로 폐수 재이용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386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핵심성과 박스"/>
          <p:cNvSpPr/>
          <p:nvPr/>
        </p:nvSpPr>
        <p:spPr>
          <a:xfrm>
            <a:off x="723130" y="2317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756000" y="2355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55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333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고품질 수돗물 생산 기반 고도정수처리 도입률 56.6%, ’25년 성과목표 101%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5 서사 · 규제대비 PFAS OUT 로드맵(과불화화합물 4대 대응 → 고도처리 핵심자원 활성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규제대비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6727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‘PFAS OUT’ 로드맵과 활성탄 순환체계 구축으로 선제적 대비</a:t>
            </a:r>
          </a:p>
        </p:txBody>
      </p:sp>
      <p:sp>
        <p:nvSpPr>
          <p:cNvPr id="15" name="태그칩"/>
          <p:cNvSpPr/>
          <p:nvPr/>
        </p:nvSpPr>
        <p:spPr>
          <a:xfrm>
            <a:off x="51959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1959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배너"/>
          <p:cNvSpPr/>
          <p:nvPr/>
        </p:nvSpPr>
        <p:spPr>
          <a:xfrm>
            <a:off x="536870" y="1062783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8" name="Connector 12"/>
          <p:cNvCxnSpPr/>
          <p:nvPr/>
        </p:nvCxnSpPr>
        <p:spPr>
          <a:xfrm>
            <a:off x="536870" y="1062783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536870" y="1117565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과불화화합물(PFAS): WHO 신규 발암물질, ‘Forever Chemical’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435304"/>
            <a:ext cx="6300000" cy="2799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51739"/>
            <a:ext cx="580696" cy="176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51739"/>
            <a:ext cx="580696" cy="176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항목·범위 확대</a:t>
            </a:r>
          </a:p>
        </p:txBody>
      </p:sp>
      <p:sp>
        <p:nvSpPr>
          <p:cNvPr id="25" name="머리칸"/>
          <p:cNvSpPr/>
          <p:nvPr/>
        </p:nvSpPr>
        <p:spPr>
          <a:xfrm>
            <a:off x="2573413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2573413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정수처리 고도처리 강화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무해화 배출원 관리</a:t>
            </a:r>
          </a:p>
        </p:txBody>
      </p:sp>
      <p:sp>
        <p:nvSpPr>
          <p:cNvPr id="29" name="머리칸"/>
          <p:cNvSpPr/>
          <p:nvPr/>
        </p:nvSpPr>
        <p:spPr>
          <a:xfrm>
            <a:off x="5397457" y="1473652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397457" y="1473652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정책선도 선제적 R&amp;D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검출빈도↑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항목 3 → 40(정수 · 원수 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’26년~ 분기 1회 → 월 1회, 선제적 감시 강화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584370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활성탄 수급 불안정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운영고도화 · 전 유역 재생시설 · 고도도입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’40년 고도100%, 초고도 3개 → 순환형 수급체계 준비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573413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PFAS 함유 폐수처리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재생 시 고농도 응축 폐수 생성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자체처리로 無배출 → PFAS 배출경로 차단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408413" y="1714696"/>
            <a:ext cx="1390109" cy="150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중장기적 대응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대응 협의체 참여로 국가 R&amp;D 정책 견인(384억원 규모 예산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대체재 등 기술확보 → 국가 PFAS 대응 선도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5397457" y="1747565"/>
            <a:ext cx="0" cy="143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237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237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활성탄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23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비축 1년치 구매량 비축</a:t>
            </a:r>
          </a:p>
        </p:txBody>
      </p:sp>
      <p:sp>
        <p:nvSpPr>
          <p:cNvPr id="43" name="머리칸"/>
          <p:cNvSpPr/>
          <p:nvPr/>
        </p:nvSpPr>
        <p:spPr>
          <a:xfrm>
            <a:off x="3044087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 교체량의 85% 재생</a:t>
            </a:r>
          </a:p>
        </p:txBody>
      </p:sp>
      <p:sp>
        <p:nvSpPr>
          <p:cNvPr id="45" name="머리칸"/>
          <p:cNvSpPr/>
          <p:nvPr/>
        </p:nvSpPr>
        <p:spPr>
          <a:xfrm>
            <a:off x="4926783" y="3259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259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대비 선제 준비로 대응강화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준공, 낙동강 공사중 조달청 합동비축(군산)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8천㎥ 규모(1년 구매량)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全유역 재생시설 도입: 한강·낙동강 공사 중, 금강·영섭 계획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126㎥/일(연 교체량 85%)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044087" y="353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500609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자급체계 구축: 신탄 구매 85%(355억원/연) 절감효과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재생기술 수출로 우수성 입증(美 실증 MOU, 태국 성능평가)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4926783" y="3533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6 서사 · 현황 분석(두 칸 + 시사점) → 개선 방향(기존 → 개선, 연도 3단 + 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자산 데이터 기반 투자 최적화로 원가 저감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64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46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수도원가 상승을 극복하기 위해 디지털 혁신·저에너지 운영체계 추진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정책, 전력수요 증가 대응을 위한 운영혁신 및 자산관리 기반 원가절감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배너"/>
          <p:cNvSpPr/>
          <p:nvPr/>
        </p:nvSpPr>
        <p:spPr>
          <a:xfrm>
            <a:off x="1347652" y="1566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566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시사점: 비용 저감 중심의 단기 목표를 넘어, 효율 기반의 중장기 관리체계로 전환(당초 ’26년 → ’30년 확대)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07826"/>
            <a:ext cx="580696" cy="947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07826"/>
            <a:ext cx="580696" cy="947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0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347652" y="1829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’24~’26 생산원가 저감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829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230348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미래 전환 대응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829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113043" y="1829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 운영혁신 완성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829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829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디지털·고효율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생산공급 全과정 에너지효율화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원가절감 목표 55 → 172 → 225억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AI운영·미래 환경 대응 운영체계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자립형 e체계 전환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114609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081739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운영 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효율화 선순환 구조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 원가절감 목표 484억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114609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7 서사 · 운영 고도화 인프라(’24 디지털·저에너지 → ’25 지능형 AI → 추진실적 3칸 → 신규과제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고도화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679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인프라 운영에 지능과 효율을 더하여 생산원가 저감 Scale-up</a:t>
            </a:r>
          </a:p>
        </p:txBody>
      </p:sp>
      <p:sp>
        <p:nvSpPr>
          <p:cNvPr id="15" name="태그칩"/>
          <p:cNvSpPr/>
          <p:nvPr/>
        </p:nvSpPr>
        <p:spPr>
          <a:xfrm>
            <a:off x="534187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34187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1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적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디지털·저에너지 전환으로 원가저감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실적 지능형 AI기반 e소비 체질 개선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디지털운영 혁신 ’29억원/연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 도입 ’11억원/연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활용 ’16억원/연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55억원 대비 56억원 저감 달성(102%)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331217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과제 전략 고도화+신규과제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최적 운영, 고효율설비 확대, 재생e 추가발굴로 미래 대응 기반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320%(182억원) 절감(목표 대비 105% 달성)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3985435" y="1364087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96783"/>
            <a:ext cx="580696" cy="1199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196783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96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최적 운영</a:t>
            </a:r>
          </a:p>
        </p:txBody>
      </p:sp>
      <p:sp>
        <p:nvSpPr>
          <p:cNvPr id="32" name="머리칸"/>
          <p:cNvSpPr/>
          <p:nvPr/>
        </p:nvSpPr>
        <p:spPr>
          <a:xfrm>
            <a:off x="3044087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확대</a:t>
            </a:r>
          </a:p>
        </p:txBody>
      </p:sp>
      <p:sp>
        <p:nvSpPr>
          <p:cNvPr id="34" name="머리칸"/>
          <p:cNvSpPr/>
          <p:nvPr/>
        </p:nvSpPr>
        <p:spPr>
          <a:xfrm>
            <a:off x="4926783" y="2218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218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미래에너지 확보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 고도화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 공정 알고리즘 개선 및 AI정수장 운영 정착(43개소)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최적운영으로 110억원 저감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수도설비 고도화 MP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체계적 도입 확대(427대) 및 촉진제도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효율개선으로 46억원 저감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3044087" y="249260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459739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신재생에너지 개발 전략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태양광(8개소), ESS 도입(2개소), 추가 잠재e 발굴(52개소)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공급개선 26억원 저감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4926783" y="249260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12957"/>
            <a:ext cx="580696" cy="92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3412957"/>
            <a:ext cx="580696" cy="92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12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머리칸"/>
          <p:cNvSpPr/>
          <p:nvPr/>
        </p:nvSpPr>
        <p:spPr>
          <a:xfrm>
            <a:off x="1161391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운영관리</a:t>
            </a:r>
          </a:p>
        </p:txBody>
      </p:sp>
      <p:sp>
        <p:nvSpPr>
          <p:cNvPr id="46" name="머리칸"/>
          <p:cNvSpPr/>
          <p:nvPr/>
        </p:nvSpPr>
        <p:spPr>
          <a:xfrm>
            <a:off x="3044087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3044087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절감형 운영개선</a:t>
            </a:r>
          </a:p>
        </p:txBody>
      </p:sp>
      <p:sp>
        <p:nvSpPr>
          <p:cNvPr id="48" name="머리칸"/>
          <p:cNvSpPr/>
          <p:nvPr/>
        </p:nvSpPr>
        <p:spPr>
          <a:xfrm>
            <a:off x="4926783" y="3434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4926783" y="3434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 신기술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로봇 도입 실증 완료(’25) 및 확대 추진(’26~’30년)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점검비 22억원/연 절감 효과 기대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분석 기반 공급체계 재구성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 1.7억원/연 절감 효과 기대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3044087" y="3708783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675913"/>
            <a:ext cx="1860783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생산시 폐열·가스 Re-Cycling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운영비 56백만원/연+α 절감 효과 기대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926783" y="3708783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98 서사 · 자산관리 확대 K-AMS(성과와 한계 | 활용과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자산관리 확대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859664" y="931304"/>
            <a:ext cx="35981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859664" y="777913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K-AMS 자산관리시스템 확대로 자산체계중심 의사결정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55640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55640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610752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0752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451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141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141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성과와 한계  수도시설 맞춤, 자산시스템 시범구축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활용과 확대  개대체 의사결정 활용 및 도입확대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342174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7개 사업장 시범사업(27,967개 자산에 대한 DB 구축)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한계점: 의사결정 즉시 활용 곤란(일부 사업장만 적용 연계데이터 부족)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DB부족 · DB신뢰도(일부상이) · 투자계획 차이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342174"/>
            <a:ext cx="2802130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시범사업 성과 보완 및 활용: 신규 자산·진단결과 DB 보완, 자산시스템 활용 의사결정 의무화 → 개대체 일치율 91.1%(전년비 102.2%)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확대구축: 한강 유역 8개소 확대 구축 · ’26년 낙동강(13개소) → ’27년 금영섭(22개소) 확대 / 공기업 최초 자산 Biz모델 특허등록 / 개방형 R&amp;D로 자산관리체계 강화</a:t>
            </a:r>
          </a:p>
        </p:txBody>
      </p:sp>
      <p:cxnSp>
        <p:nvCxnSpPr>
          <p:cNvPr id="27" name="Connector 15"/>
          <p:cNvCxnSpPr/>
          <p:nvPr/>
        </p:nvCxnSpPr>
        <p:spPr>
          <a:xfrm>
            <a:off x="4171696" y="1375043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핵심성과 박스"/>
          <p:cNvSpPr/>
          <p:nvPr/>
        </p:nvSpPr>
        <p:spPr>
          <a:xfrm>
            <a:off x="723130" y="2602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핵심성과 라벨"/>
          <p:cNvSpPr/>
          <p:nvPr/>
        </p:nvSpPr>
        <p:spPr>
          <a:xfrm>
            <a:off x="756000" y="2640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0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640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618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생산원가 절감 182억원/연 달성(목표 172억원/연 比 105%) 및 데이터 기반 투자 최적화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9 서사 · Restart 추진전략 재정립(4대 분야 전략 → 그간의 성과 → 환경변화 → 로드맵 재정립 → 4대 실행과제 → 실행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지방상수도 Restart 추진전략, 변화된 환경에 맞춰 로드맵 재정립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57016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Restart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  상수도 운영관리</a:t>
            </a:r>
          </a:p>
        </p:txBody>
      </p:sp>
      <p:sp>
        <p:nvSpPr>
          <p:cNvPr id="20" name="머리칸"/>
          <p:cNvSpPr/>
          <p:nvPr/>
        </p:nvSpPr>
        <p:spPr>
          <a:xfrm>
            <a:off x="2573413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573413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  노후상수도 정비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지원  유역수도지원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5397457" y="115591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5397457" y="115591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  취약지역 물복지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사업모델 다각화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첨단 물기술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운영·서비스 개선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유수율 제고 지원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성과유지체계 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초격차기술 확산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2573413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통합운영체계 구축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체감형서비스 창출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사고대응역량 강화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39695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지역맞춤사업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⓫ 군부대 물문제 해결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⓬ 글로벌 기술 확산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5397457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94478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9447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944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966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운영: 전국 23개 지자체, 유수율 60.1 → 85.3%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건설: 수탁 92개, 성과판정(유수율 85% 달성) 34개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966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지원: 기술지원 6천건(누계), 운영지원시스템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복지: 취약지역 25.2천명 물공급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985435" y="1999565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2500904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500904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43" name="머리칸"/>
          <p:cNvSpPr/>
          <p:nvPr/>
        </p:nvSpPr>
        <p:spPr>
          <a:xfrm>
            <a:off x="3044087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여전한 물공급 격차</a:t>
            </a:r>
          </a:p>
        </p:txBody>
      </p:sp>
      <p:sp>
        <p:nvSpPr>
          <p:cNvPr id="45" name="머리칸"/>
          <p:cNvSpPr/>
          <p:nvPr/>
        </p:nvSpPr>
        <p:spPr>
          <a:xfrm>
            <a:off x="4926783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극한의 자연재해 빈번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강국 · 국민안전 · 균형발전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시·군평균 81.6% vs 특·광역시 93.1%, 유수율 차이 大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044087" y="27967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2763861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경북 산불, 강릉 가뭄 등 주민 피해 심각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4926783" y="27967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3311687"/>
            <a:ext cx="580696" cy="2534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31168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54" name="배너"/>
          <p:cNvSpPr/>
          <p:nvPr/>
        </p:nvSpPr>
        <p:spPr>
          <a:xfrm>
            <a:off x="1161391" y="33336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3336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20년 노하우와 미래를 담은 ‘지방상수도 Restart 추진전략’ 토대로 사업방향 재정립</a:t>
            </a:r>
          </a:p>
        </p:txBody>
      </p:sp>
      <p:sp>
        <p:nvSpPr>
          <p:cNvPr id="56" name="레일"/>
          <p:cNvSpPr/>
          <p:nvPr/>
        </p:nvSpPr>
        <p:spPr>
          <a:xfrm>
            <a:off x="547826" y="3581530"/>
            <a:ext cx="580696" cy="827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581530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재정립</a:t>
            </a:r>
          </a:p>
        </p:txBody>
      </p:sp>
      <p:sp>
        <p:nvSpPr>
          <p:cNvPr id="58" name="단계"/>
          <p:cNvSpPr/>
          <p:nvPr/>
        </p:nvSpPr>
        <p:spPr>
          <a:xfrm>
            <a:off x="1161391" y="36034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44"/>
          </p:nvPr>
        </p:nvSpPr>
        <p:spPr>
          <a:xfrm>
            <a:off x="1161391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전략 수립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36034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45"/>
          </p:nvPr>
        </p:nvSpPr>
        <p:spPr>
          <a:xfrm>
            <a:off x="3044087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환경변화 연계 재정립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36034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46"/>
          </p:nvPr>
        </p:nvSpPr>
        <p:spPr>
          <a:xfrm>
            <a:off x="4926783" y="36034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~’29년 Restart 정착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36034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36034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 지방상수도 운영성과 기반 업역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Restart 추진전략 수립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특화 AI도입 운영효율 향상 및 맞춤형 사업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재난, 취약지역 공적역할 강화</a:t>
            </a:r>
          </a:p>
        </p:txBody>
      </p:sp>
      <p:cxnSp>
        <p:nvCxnSpPr>
          <p:cNvPr id="68" name="Connector 48"/>
          <p:cNvCxnSpPr/>
          <p:nvPr/>
        </p:nvCxnSpPr>
        <p:spPr>
          <a:xfrm>
            <a:off x="3044087" y="3888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855443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포용적 물복지 실현 위한 전략과제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물복지 격차 해소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926783" y="3888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4425183"/>
            <a:ext cx="580696" cy="162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4425183"/>
            <a:ext cx="580696" cy="162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470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1"/>
          </p:nvPr>
        </p:nvSpPr>
        <p:spPr>
          <a:xfrm>
            <a:off x="1161391" y="44470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운영관리  작지만 강한 AI, 운영효율 및 서비스 고도화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985435" y="44470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2"/>
          </p:nvPr>
        </p:nvSpPr>
        <p:spPr>
          <a:xfrm>
            <a:off x="3985435" y="44470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노후상수도  사업 성과달성으로 물 복지 및 해외 확산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688139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기술을 접목한 관망·안전관리 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기대를 충족하는 수질관리, 서비스 개선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4"/>
          </p:nvPr>
        </p:nvSpPr>
        <p:spPr>
          <a:xfrm>
            <a:off x="3996391" y="4688139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지자체 수탁 확대 및 사업 수행체계 내실화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Biz 모델 개발로 글로벌 진출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985435" y="47210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칸"/>
          <p:cNvSpPr/>
          <p:nvPr/>
        </p:nvSpPr>
        <p:spPr>
          <a:xfrm>
            <a:off x="1161391" y="52524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52524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유역수도  국가적 재난 지원과 지자체 역량 향상</a:t>
            </a:r>
          </a:p>
        </p:txBody>
      </p:sp>
      <p:sp>
        <p:nvSpPr>
          <p:cNvPr id="82" name="머리칸"/>
          <p:cNvSpPr/>
          <p:nvPr/>
        </p:nvSpPr>
        <p:spPr>
          <a:xfrm>
            <a:off x="3985435" y="52524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6"/>
          </p:nvPr>
        </p:nvSpPr>
        <p:spPr>
          <a:xfrm>
            <a:off x="3985435" y="52524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복지  군부대, 도서·산간까지 빈틈없는 물복지 실현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54934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 중단 지자체 총력지원, 국민불편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개선·확대를 통한 지자체 역량 육성 지원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8"/>
          </p:nvPr>
        </p:nvSpPr>
        <p:spPr>
          <a:xfrm>
            <a:off x="3996391" y="54934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도서지역 수원개발 및 중점현안사항 기술지원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마지막 남은 0.5%까지 소외없는 전국민 혜택 실현</a:t>
            </a:r>
          </a:p>
        </p:txBody>
      </p:sp>
      <p:cxnSp>
        <p:nvCxnSpPr>
          <p:cNvPr id="86" name="Connector 61"/>
          <p:cNvCxnSpPr/>
          <p:nvPr/>
        </p:nvCxnSpPr>
        <p:spPr>
          <a:xfrm>
            <a:off x="3985435" y="55263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606318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9"/>
          </p:nvPr>
        </p:nvSpPr>
        <p:spPr>
          <a:xfrm>
            <a:off x="547826" y="606318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실행성과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606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유수율 85.4%(수탁前 60.1%)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수질기준 100% 만족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61"/>
          </p:nvPr>
        </p:nvSpPr>
        <p:spPr>
          <a:xfrm>
            <a:off x="2584370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최다 협약(24개)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성과판정 13개(누적 47개) 합격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2573413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칸 본문"/>
          <p:cNvSpPr>
            <a:spLocks noGrp="1"/>
          </p:cNvSpPr>
          <p:nvPr>
            <p:ph type="body" sz="quarter" idx="62"/>
          </p:nvPr>
        </p:nvSpPr>
        <p:spPr>
          <a:xfrm>
            <a:off x="3996391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 등 지원 1천건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위기감시·대응 확대</a:t>
            </a:r>
          </a:p>
        </p:txBody>
      </p:sp>
      <p:cxnSp>
        <p:nvCxnSpPr>
          <p:cNvPr id="94" name="Connector 68"/>
          <p:cNvCxnSpPr/>
          <p:nvPr/>
        </p:nvCxnSpPr>
        <p:spPr>
          <a:xfrm>
            <a:off x="3985435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63"/>
          </p:nvPr>
        </p:nvSpPr>
        <p:spPr>
          <a:xfrm>
            <a:off x="5408413" y="6085096"/>
            <a:ext cx="139010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급수취약 10.2천명 해소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맞춤형 물복지 확대</a:t>
            </a:r>
          </a:p>
        </p:txBody>
      </p:sp>
      <p:cxnSp>
        <p:nvCxnSpPr>
          <p:cNvPr id="96" name="Connector 70"/>
          <p:cNvCxnSpPr/>
          <p:nvPr/>
        </p:nvCxnSpPr>
        <p:spPr>
          <a:xfrm>
            <a:off x="5397457" y="61179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0 서사 · 스마트 기술 기반 운영관리 혁신(운영관리 혁신 2칸 → 시사점 → AI 전환 로드맵 → AI 기술 개발·실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954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운영관리를 지속 혁신하고, ‘지방상수도 AI 전환’을 준비</a:t>
            </a:r>
          </a:p>
        </p:txBody>
      </p:sp>
      <p:sp>
        <p:nvSpPr>
          <p:cNvPr id="11" name="태그칩"/>
          <p:cNvSpPr/>
          <p:nvPr/>
        </p:nvSpPr>
        <p:spPr>
          <a:xfrm>
            <a:off x="51171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171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4581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시설안전  침수 예·경보시스템 구축(논산시)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민원처리  One-Stop 모바일 업무처리(공통)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논산가압장 침수로 단수위기(’23~’24, 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영상분석·모델링으로 침수 예측(3시간前)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침수 사전예측·대응으로 용수공급 중단예방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접수 ↔ 현장조치 이원화로 처리시간 과다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현장에서 접속하는 모바일시스템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조회 · 입력 · 공유를 통한 신속 응대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2076261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626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2076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배너"/>
          <p:cNvSpPr/>
          <p:nvPr/>
        </p:nvSpPr>
        <p:spPr>
          <a:xfrm>
            <a:off x="1347652" y="209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7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209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‘AI 3대 강국’ 정책에 발맞춰 ‘지방상수도 운영’과 ‘AI’ 접목을 통한 한단계 더 도약</a:t>
            </a:r>
          </a:p>
        </p:txBody>
      </p:sp>
      <p:sp>
        <p:nvSpPr>
          <p:cNvPr id="28" name="레일"/>
          <p:cNvSpPr/>
          <p:nvPr/>
        </p:nvSpPr>
        <p:spPr>
          <a:xfrm>
            <a:off x="734087" y="2477583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7583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4994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데이터인프라 구축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4994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요소기술 개발·실증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4994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4994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AX 전략수립·확산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4994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4994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관망관리 기반, 운영데이터 확보체계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통합관리시스템 구축 및 고도화(분석기능 추가 등)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파일럿 프로젝트 개발 및 실사업장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기반 모델 최적화</a:t>
            </a:r>
          </a:p>
        </p:txBody>
      </p:sp>
      <p:cxnSp>
        <p:nvCxnSpPr>
          <p:cNvPr id="40" name="Connector 24"/>
          <p:cNvCxnSpPr/>
          <p:nvPr/>
        </p:nvCxnSpPr>
        <p:spPr>
          <a:xfrm>
            <a:off x="3230348" y="27843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751496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생산·공급·서비스 全과정 AI 전환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지방(상) AI 정책 정책화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5113043" y="27843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452713"/>
            <a:ext cx="580696" cy="1051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452713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증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4527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배너"/>
          <p:cNvSpPr/>
          <p:nvPr/>
        </p:nvSpPr>
        <p:spPr>
          <a:xfrm>
            <a:off x="1347652" y="34746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4746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 중심 수동적 관망운영 → AI 연계 능동적 관망운영으로 누수시간 최소화 및 신속대응</a:t>
            </a:r>
          </a:p>
        </p:txBody>
      </p:sp>
      <p:sp>
        <p:nvSpPr>
          <p:cNvPr id="48" name="머리칸"/>
          <p:cNvSpPr/>
          <p:nvPr/>
        </p:nvSpPr>
        <p:spPr>
          <a:xfrm>
            <a:off x="1347652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데이터 분석</a:t>
            </a:r>
          </a:p>
        </p:txBody>
      </p:sp>
      <p:sp>
        <p:nvSpPr>
          <p:cNvPr id="50" name="머리칸"/>
          <p:cNvSpPr/>
          <p:nvPr/>
        </p:nvSpPr>
        <p:spPr>
          <a:xfrm>
            <a:off x="3230348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사고인지</a:t>
            </a:r>
          </a:p>
        </p:txBody>
      </p:sp>
      <p:sp>
        <p:nvSpPr>
          <p:cNvPr id="52" name="머리칸"/>
          <p:cNvSpPr/>
          <p:nvPr/>
        </p:nvSpPr>
        <p:spPr>
          <a:xfrm>
            <a:off x="5113043" y="3710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3710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누수저감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생성형 AI 활용, 관망데이터 자동분석(부여군)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신속한 분석과 이상감지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수압데이터 활용, AI예측과 실측치 비교로 사고인지(장흥군)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누수시간 최소화로 누수량 저감</a:t>
            </a:r>
          </a:p>
        </p:txBody>
      </p:sp>
      <p:cxnSp>
        <p:nvCxnSpPr>
          <p:cNvPr id="56" name="Connector 35"/>
          <p:cNvCxnSpPr/>
          <p:nvPr/>
        </p:nvCxnSpPr>
        <p:spPr>
          <a:xfrm>
            <a:off x="3230348" y="3984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3951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구역별 유량 모니터링 및 분석을 통한 누수 사전예측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누수탐사·복구 가능</a:t>
            </a:r>
          </a:p>
        </p:txBody>
      </p:sp>
      <p:cxnSp>
        <p:nvCxnSpPr>
          <p:cNvPr id="58" name="Connector 37"/>
          <p:cNvCxnSpPr/>
          <p:nvPr/>
        </p:nvCxnSpPr>
        <p:spPr>
          <a:xfrm>
            <a:off x="5113043" y="3984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1 서사 · 글로벌 수질기준을 충족하는 수돗물 품질관리(실태조사 → VOC · 수질이슈 두 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863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글로벌 수질기준을 충족하는 철저한 수돗물 품질관리로 국민 눈높이에 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502179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2179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7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수질관리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수돗물 먹는 실태조사 → 수돗물 수질 이용불편 경험, 원수 수질관리 정책 응답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VOC 연계, 가정 방문 수질검사 서비스 개선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상수원수 및 정수 수질이슈 대응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667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VOC: “싱크대에 하얀 자국이 남아요”(석회·경도 증가), “수도꼭지 필터 색깔이 변해요”(망간 검출), “수돗물이 너무 뜨거워요”(수온 상승)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고객수용성 제고, 지역별 수질 특성 고려, 수질 검사항목 탄력적 확대(5→8개)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667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수질데이터 지역·시기별 분석, 이슈 도출 → 3대 이슈 항목(냄새, 알루미늄, 망간)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냄새: 방선균 발생(동절기) 대비 활성탄 선제주입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알루미늄: pH 관리목표 도출, 취약시기 CO₂ 주입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망간: 취약시기 선택 취수, 염소 소독강화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5996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핵심성과 박스"/>
          <p:cNvSpPr/>
          <p:nvPr/>
        </p:nvSpPr>
        <p:spPr>
          <a:xfrm>
            <a:off x="536870" y="2717217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핵심성과 라벨"/>
          <p:cNvSpPr/>
          <p:nvPr/>
        </p:nvSpPr>
        <p:spPr>
          <a:xfrm>
            <a:off x="569739" y="2755565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28" name="핵심성과 라벨"/>
          <p:cNvSpPr>
            <a:spLocks noGrp="1"/>
          </p:cNvSpPr>
          <p:nvPr>
            <p:ph type="body" sz="quarter" idx="28"/>
          </p:nvPr>
        </p:nvSpPr>
        <p:spPr>
          <a:xfrm>
            <a:off x="569739" y="2755565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9" name="핵심성과 문구"/>
          <p:cNvSpPr>
            <a:spLocks noGrp="1"/>
          </p:cNvSpPr>
          <p:nvPr>
            <p:ph type="body" sz="quarter" idx="29"/>
          </p:nvPr>
        </p:nvSpPr>
        <p:spPr>
          <a:xfrm>
            <a:off x="1314783" y="2733652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지방정수장 글로벌 수질기준 100% 만족 최초 달성(기준초과 ’23년 9건 → ’24년 3건 → ’25년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2 서사 · 규모는 키우고 효율성은 높여 서비스 격차 해소(신규협약 지자체 맞춤형 모델 → 수행체계 효율성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003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규모는 키우고, 효율성은 높여 보다 빠른 성과 창출로 서비스 격차 해소</a:t>
            </a:r>
          </a:p>
        </p:txBody>
      </p:sp>
      <p:sp>
        <p:nvSpPr>
          <p:cNvPr id="11" name="태그칩"/>
          <p:cNvSpPr/>
          <p:nvPr/>
        </p:nvSpPr>
        <p:spPr>
          <a:xfrm>
            <a:off x="492205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92205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47317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47317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0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지자체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‘건설 6년(유수율제고) + 운영 4년(성과유지)’ 복합모델 개발 → ’25년 통합형·일괄형 新모델로 진화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충남서부  인근 지자체 동시 요청 → 통합형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제주도  同지자체 다수 사업 → 일괄형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성과유지 복합모델 위탁요구 지자체↑ → K-water 인력 부족, 전체 개별수탁 수용불가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제안: 인근 지자체 간 통합형 모델 수탁 → 충남서부 5개 지자체(개별) → 2개 권역(’25.7)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유수율 전국 최저지역이나, K-water 시범사업의 유수율 제고 가능성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요청: 신규 정비사업 일괄 수탁(4→14개) → 全지역 집중관리로 단기간 유수율 제고 계획(’24년 55% → ’31년 81%)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6405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6405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효율성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2640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2662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662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사업기간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2662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662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9034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수행절차 개선으로 성과 조기 창출: 협약체결(4개월 단축) → 지자체협의 → 예산확정 → 내부절차 → 협약체결 / 설계용역 착수(3개월 단축)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예산확정 후 협의+설계 개별 발주 → 개선: 예산확정 전 협의+설계 일괄 발주 → 사업기간 7개월 단축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9034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협업, 총사업비 체계 개편: 건설사업관리비 확보 9.2억원 ▲/사업당(24.7 → 33.9억원), 우수기술 예산 확대 15억원 ▲/사업당(5 → 20억원)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이슈: 법·제도 강화 불구, 안전·기술 예산 부족 → 개선: 예산 확대 근거 마련, 재원 추가확보 → 38개 사업 감리 351억원, 우수기술 570억원 증액</a:t>
            </a:r>
          </a:p>
        </p:txBody>
      </p:sp>
      <p:cxnSp>
        <p:nvCxnSpPr>
          <p:cNvPr id="36" name="Connector 21"/>
          <p:cNvCxnSpPr/>
          <p:nvPr/>
        </p:nvCxnSpPr>
        <p:spPr>
          <a:xfrm>
            <a:off x="4171696" y="29363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핵심성과 박스"/>
          <p:cNvSpPr/>
          <p:nvPr/>
        </p:nvSpPr>
        <p:spPr>
          <a:xfrm>
            <a:off x="723130" y="405391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408678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08678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075826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신규 협약 역대 최다 24개 체결(전체 43개, 55.8%)로 공적 역할 집중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성과판정 100% 13개(누적 47개) 합격 → 유수율 89.6% 달성(수탁 前 대비 35.6%p↑, 목표 대비 4.6%p↑)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3 서사 · SWNM 기술 표준화 및 Biz모델 개발을 통한 글로벌 진출(SWNM 정의 → 기술 표준화 · 맞춤형 Biz모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1348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SWNM 기술 표준화 및 맞춤형 Biz모델 개발을 통한 글로벌 진출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4896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4896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80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77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관망관리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체계화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관망관리에 스마트기술을 결합한 SWNM, 글로벌 진출의 핵심수단으로 전략화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325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SWNM: 수돗물 공급 全과정에 IoT·AI기술 결합, 평상시 운영효율 제고 및 사고시 선제·능동적 대처 가능한 시스템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561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561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요소기술 정립</a:t>
            </a:r>
          </a:p>
        </p:txBody>
      </p:sp>
      <p:sp>
        <p:nvSpPr>
          <p:cNvPr id="23" name="머리칸"/>
          <p:cNvSpPr/>
          <p:nvPr/>
        </p:nvSpPr>
        <p:spPr>
          <a:xfrm>
            <a:off x="3985435" y="1561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985435" y="1561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사업비 표준화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8023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기술정의서(45개) 도출(해외 제안 활용)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8023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국가별 표준사업비 산출 Tool 구축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985435" y="183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235130"/>
            <a:ext cx="451408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필요한 것만 골라 담는 국가 기술수준(Lv1~3) 맞춤형 요소기술 패키지화(솔루션 제시)</a:t>
            </a:r>
          </a:p>
        </p:txBody>
      </p:sp>
      <p:sp>
        <p:nvSpPr>
          <p:cNvPr id="29" name="사진 칸"/>
          <p:cNvSpPr/>
          <p:nvPr/>
        </p:nvSpPr>
        <p:spPr>
          <a:xfrm>
            <a:off x="5730261" y="2240609"/>
            <a:ext cx="1079217" cy="591652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30"/>
          </p:nvPr>
        </p:nvSpPr>
        <p:spPr>
          <a:xfrm>
            <a:off x="5730261" y="2240609"/>
            <a:ext cx="1079217" cy="591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SWNM 기술정의서 · Biz 모델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536870" y="2947304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985652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985652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963739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필리핀 등 5개국 사업개발·검증 및 엘살바도르·과테말라 사업 발굴(’26~’30년, 사업비 1,068억원)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4 서사 · 국가적 재난 속 지원군(경북산불 · 강릉가뭄 지원: 위기 상황 → 비상 대응 → 대응 성과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470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국가적 재난 속 국민·지자체 물 위기 극복의 든든한 지원군, K-water</a:t>
            </a:r>
          </a:p>
        </p:txBody>
      </p:sp>
      <p:sp>
        <p:nvSpPr>
          <p:cNvPr id="11" name="태그칩"/>
          <p:cNvSpPr/>
          <p:nvPr/>
        </p:nvSpPr>
        <p:spPr>
          <a:xfrm>
            <a:off x="484644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4644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39756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39756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6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35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경북산불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복구지원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화마에 휩싸이고 전력공급 중단 상황에서도 멈추지 않은 수돗물 공급!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물공급: 청송군 단전으로 정수장(2개) 공급중단 위기 → 중단시 8,000세대 단수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상수도: 불에 탄 수도관, 누수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비상발전기 가동 후 긴급대피 → 정수장 무중단 가동으로 단수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 시설복구반 투입(132명) 및 2차피해 예방 음용안전 수질검사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621565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6일만에 청송군 수도 공급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산불영향 지자체(5개, 20만명) 수질안전 확보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621565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454261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454261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강릉가뭄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극복지원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454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2476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476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강릉시민 18만명의 물공급 중단 위기, 가용가능한 모든 지원대책 총동원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2711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 및 여건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2711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 대응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2711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711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2711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271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물부족: 핵심상수원 오봉댐 저수율 11%로 취수중단 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대체수원: 도암댐 수질 불신 지역의 취수반대여론 大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운휴정수장 재가동 지원, 관로 누수(30%) 저감방안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도암댐 수질검증위원회 참여 → 수질검사 &amp; 안정성 검증(취수 결정)</a:t>
            </a:r>
          </a:p>
        </p:txBody>
      </p:sp>
      <p:cxnSp>
        <p:nvCxnSpPr>
          <p:cNvPr id="48" name="Connector 30"/>
          <p:cNvCxnSpPr/>
          <p:nvPr/>
        </p:nvCxnSpPr>
        <p:spPr>
          <a:xfrm>
            <a:off x="3230348" y="2996609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963739"/>
            <a:ext cx="1860783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비상용수공급 대안 마련(14천㎥/일)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강릉시 인구 13%(2.6만명) 사용분(유사시 활용 가능)</a:t>
            </a:r>
          </a:p>
        </p:txBody>
      </p:sp>
      <p:cxnSp>
        <p:nvCxnSpPr>
          <p:cNvPr id="50" name="Connector 32"/>
          <p:cNvCxnSpPr/>
          <p:nvPr/>
        </p:nvCxnSpPr>
        <p:spPr>
          <a:xfrm>
            <a:off x="5113043" y="2996609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723130" y="39169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756000" y="39553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553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333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전문가 178명 지자체 투입, 피해 영향지역(6개 지자체) 수돗물 공급 정상화 촉진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5 서사 · 전국 수도사업자 기술지원 시스템 개선(위기대응 강화 · 선제적 기술지원 각 두 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전국 수도사업자 업무효율 제고를 위한 기술지원 시스템 개선</a:t>
            </a:r>
          </a:p>
        </p:txBody>
      </p:sp>
      <p:sp>
        <p:nvSpPr>
          <p:cNvPr id="12" name="태그칩"/>
          <p:cNvSpPr/>
          <p:nvPr/>
        </p:nvSpPr>
        <p:spPr>
          <a:xfrm>
            <a:off x="419633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19633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747451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47451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68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공동대응  유역수도 운영지원시스템 공유 확대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감시  저수조 모니터링 도입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사고 공동대응 가능한 데이터감시체계 전국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금강유역(31개) → ’25년 전국(114개)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대수용가 저수조(민간데이터) 실시간 감시체계 시범구축·운영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금산군 대수용가 유량·수위 모니터링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19009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9009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기술지원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900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922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922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이슈 발생  기술지원 자동 안내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1922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922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  법적 절차 이행 조건부 안내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6391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상시안내 팝업 외 추가안내 팝업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소형생물, 조류경보 등 수질이슈 발생시 운영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16391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수질기준 초과시, 조치사항 자동안내(조치가이드, 기술지원 이력, 수질트렌드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수도담당자의 법적 절차 미이행 방지 지원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985435" y="219678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53687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569739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데이터와 AI를 활용, 수도종사자 역량 향상과 수도사업자 간 소통으로 위기대응체계 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6 서사 · 국민체감서비스 정의 → 환경변화 → 발굴과정 → 니즈 도출 → 실행과제 → 추진성과(5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‘국민에게는 안심을, 기업·지자체에게는 든든한’ K-water 물관리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974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 비 스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물공급을 넘어 국민·지자체·기업의 개별적 고충을 선제적으로 발굴·해소하는 체감 가치 제공</a:t>
            </a:r>
          </a:p>
        </p:txBody>
      </p:sp>
      <p:sp>
        <p:nvSpPr>
          <p:cNvPr id="19" name="레일"/>
          <p:cNvSpPr/>
          <p:nvPr/>
        </p:nvSpPr>
        <p:spPr>
          <a:xfrm>
            <a:off x="734087" y="15696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696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915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5915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환경을 고려, 국민·지자체·기업 관점에서의 니즈를 발굴·신속 이행</a:t>
            </a:r>
          </a:p>
        </p:txBody>
      </p:sp>
      <p:sp>
        <p:nvSpPr>
          <p:cNvPr id="24" name="레일"/>
          <p:cNvSpPr/>
          <p:nvPr/>
        </p:nvSpPr>
        <p:spPr>
          <a:xfrm>
            <a:off x="734087" y="19709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9709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26" name="머리칸"/>
          <p:cNvSpPr/>
          <p:nvPr/>
        </p:nvSpPr>
        <p:spPr>
          <a:xfrm>
            <a:off x="1347652" y="199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9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국정방향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992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92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복합적 외부 이슈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23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국민안전 · 혁신경제 · 기후위기 대응 · 균형발전 · 민생안정 · 공공혁신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2338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심화에 따른 물 부족·불균형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중심 산업전환으로 물수요 변화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22667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606400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064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발 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정</a:t>
            </a:r>
          </a:p>
        </p:txBody>
      </p:sp>
      <p:sp>
        <p:nvSpPr>
          <p:cNvPr id="35" name="머리칸"/>
          <p:cNvSpPr/>
          <p:nvPr/>
        </p:nvSpPr>
        <p:spPr>
          <a:xfrm>
            <a:off x="1347652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37" name="머리칸"/>
          <p:cNvSpPr/>
          <p:nvPr/>
        </p:nvSpPr>
        <p:spPr>
          <a:xfrm>
            <a:off x="3230348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 운영</a:t>
            </a:r>
          </a:p>
        </p:txBody>
      </p:sp>
      <p:sp>
        <p:nvSpPr>
          <p:cNvPr id="39" name="머리칸"/>
          <p:cNvSpPr/>
          <p:nvPr/>
        </p:nvSpPr>
        <p:spPr>
          <a:xfrm>
            <a:off x="5113043" y="26283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6283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 워크숍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고객만족도, VOC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대국민 설문·제안 분석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국민소통센터(국민디자인단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지자체·기업소통채널</a:t>
            </a:r>
          </a:p>
        </p:txBody>
      </p:sp>
      <p:cxnSp>
        <p:nvCxnSpPr>
          <p:cNvPr id="43" name="Connector 26"/>
          <p:cNvCxnSpPr/>
          <p:nvPr/>
        </p:nvCxnSpPr>
        <p:spPr>
          <a:xfrm>
            <a:off x="3230348" y="29022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8693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정책, 요금, 고객만족분야 전문가 및 담당·연계부서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5113043" y="29022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307617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30761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8" name="머리칸"/>
          <p:cNvSpPr/>
          <p:nvPr/>
        </p:nvSpPr>
        <p:spPr>
          <a:xfrm>
            <a:off x="1347652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50" name="머리칸"/>
          <p:cNvSpPr/>
          <p:nvPr/>
        </p:nvSpPr>
        <p:spPr>
          <a:xfrm>
            <a:off x="3230348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52" name="머리칸"/>
          <p:cNvSpPr/>
          <p:nvPr/>
        </p:nvSpPr>
        <p:spPr>
          <a:xfrm>
            <a:off x="5113043" y="33295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3295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막연한 수돗물 불신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사회안전망 등 눈높이 상향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현안해소 기술·재원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기후위기, 물복지 불균형 대응</a:t>
            </a:r>
          </a:p>
        </p:txBody>
      </p:sp>
      <p:cxnSp>
        <p:nvCxnSpPr>
          <p:cNvPr id="56" name="Connector 35"/>
          <p:cNvCxnSpPr/>
          <p:nvPr/>
        </p:nvCxnSpPr>
        <p:spPr>
          <a:xfrm>
            <a:off x="3230348" y="36034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705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지역간 용수확보 경쟁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 산업용수 수요 급증</a:t>
            </a:r>
          </a:p>
        </p:txBody>
      </p:sp>
      <p:cxnSp>
        <p:nvCxnSpPr>
          <p:cNvPr id="58" name="Connector 37"/>
          <p:cNvCxnSpPr/>
          <p:nvPr/>
        </p:nvCxnSpPr>
        <p:spPr>
          <a:xfrm>
            <a:off x="5113043" y="36034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734087" y="4008835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400883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1" name="머리칸"/>
          <p:cNvSpPr/>
          <p:nvPr/>
        </p:nvSpPr>
        <p:spPr>
          <a:xfrm>
            <a:off x="1347652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6"/>
          </p:nvPr>
        </p:nvSpPr>
        <p:spPr>
          <a:xfrm>
            <a:off x="1347652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수돗물 신뢰 증대</a:t>
            </a:r>
          </a:p>
        </p:txBody>
      </p:sp>
      <p:sp>
        <p:nvSpPr>
          <p:cNvPr id="63" name="머리칸"/>
          <p:cNvSpPr/>
          <p:nvPr/>
        </p:nvSpPr>
        <p:spPr>
          <a:xfrm>
            <a:off x="3230348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3230348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물위기 선제 대응</a:t>
            </a:r>
          </a:p>
        </p:txBody>
      </p:sp>
      <p:sp>
        <p:nvSpPr>
          <p:cNvPr id="65" name="머리칸"/>
          <p:cNvSpPr/>
          <p:nvPr/>
        </p:nvSpPr>
        <p:spPr>
          <a:xfrm>
            <a:off x="5113043" y="4030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5113043" y="4030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공급방안 마련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민생경제 안정, 수돗물 안심 정보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이슈 해소 지원</a:t>
            </a:r>
          </a:p>
        </p:txBody>
      </p:sp>
      <p:cxnSp>
        <p:nvCxnSpPr>
          <p:cNvPr id="69" name="Connector 44"/>
          <p:cNvCxnSpPr/>
          <p:nvPr/>
        </p:nvCxnSpPr>
        <p:spPr>
          <a:xfrm>
            <a:off x="3230348" y="4304661"/>
            <a:ext cx="0" cy="20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71791"/>
            <a:ext cx="1860783" cy="27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 국가차원 검토</a:t>
            </a:r>
          </a:p>
        </p:txBody>
      </p:sp>
      <p:cxnSp>
        <p:nvCxnSpPr>
          <p:cNvPr id="71" name="Connector 46"/>
          <p:cNvCxnSpPr/>
          <p:nvPr/>
        </p:nvCxnSpPr>
        <p:spPr>
          <a:xfrm>
            <a:off x="5113043" y="4304661"/>
            <a:ext cx="0" cy="20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734087" y="4567617"/>
            <a:ext cx="580696" cy="519183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567617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고객만족(85.27점 → 87.03점)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2488226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국가상수도정보시스템 역대 최고 만족 96.6점</a:t>
            </a:r>
          </a:p>
        </p:txBody>
      </p:sp>
      <p:cxnSp>
        <p:nvCxnSpPr>
          <p:cNvPr id="76" name="Connector 50"/>
          <p:cNvCxnSpPr/>
          <p:nvPr/>
        </p:nvCxnSpPr>
        <p:spPr>
          <a:xfrm>
            <a:off x="2477270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3617843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낙동강 맑은 물 공급 사업화 등 현안 해소</a:t>
            </a:r>
          </a:p>
        </p:txBody>
      </p:sp>
      <p:cxnSp>
        <p:nvCxnSpPr>
          <p:cNvPr id="78" name="Connector 52"/>
          <p:cNvCxnSpPr/>
          <p:nvPr/>
        </p:nvCxnSpPr>
        <p:spPr>
          <a:xfrm>
            <a:off x="3606887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6"/>
          </p:nvPr>
        </p:nvSpPr>
        <p:spPr>
          <a:xfrm>
            <a:off x="4747461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최적 공급방안 마련·사업 추진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4736504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7"/>
          </p:nvPr>
        </p:nvSpPr>
        <p:spPr>
          <a:xfrm>
            <a:off x="5877078" y="4589530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SKhynix 초순수 공급 해외 독점시장 타파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866122" y="4622400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7 서사 · 실질적 도움이 되는 정보와 요금부담 완화(요금부담 경감 3칸 → 대화형 수도정보서비스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실질적 도움이 되는 정보와 요금부담 완화로 안정된 일상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요금부담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 감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장기간 요금동결 지속(’16~)</a:t>
            </a:r>
          </a:p>
        </p:txBody>
      </p:sp>
      <p:sp>
        <p:nvSpPr>
          <p:cNvPr id="22" name="머리칸"/>
          <p:cNvSpPr/>
          <p:nvPr/>
        </p:nvSpPr>
        <p:spPr>
          <a:xfrm>
            <a:off x="3044087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사회적배려계층 감면</a:t>
            </a:r>
          </a:p>
        </p:txBody>
      </p:sp>
      <p:sp>
        <p:nvSpPr>
          <p:cNvPr id="24" name="머리칸"/>
          <p:cNvSpPr/>
          <p:nvPr/>
        </p:nvSpPr>
        <p:spPr>
          <a:xfrm>
            <a:off x="4926783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재난지역 감면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연간 1,483억원 인하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원가절감 지속(’25년 182억원)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지자체의 先감면액 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99개 지자체, 8.2억원 감면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044087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9695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산불, 집중호우 피해지역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19개 지자체, 0.8억원 감면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4926783" y="1429826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194478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944783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1944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196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96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사용자 소통·의견 수렴</a:t>
            </a:r>
          </a:p>
        </p:txBody>
      </p:sp>
      <p:sp>
        <p:nvSpPr>
          <p:cNvPr id="36" name="머리칸"/>
          <p:cNvSpPr/>
          <p:nvPr/>
        </p:nvSpPr>
        <p:spPr>
          <a:xfrm>
            <a:off x="3985435" y="196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196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국가수도정보시스템 내 대화형 AI 플랫폼 도입 및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07739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참여: 국민디자인단 + 만족도조사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“수돗물 어디서 오는지 쉽게 찾고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지자체: “민원관련 수도기술자료 어디있죠?”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2207739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워터365 ‘런칭’: 사용자 위치 자동 인식 기반 우리집 수돗물 공급경로, 수질정보 등 시각화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워터챗 ‘확대’: 총 1,093건 최신정보 학습·제공 / ’24년 런칭(낙동강) → ’25년 전국(2천명 활용)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985435" y="2240609"/>
            <a:ext cx="0" cy="657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핵심성과 박스"/>
          <p:cNvSpPr/>
          <p:nvPr/>
        </p:nvSpPr>
        <p:spPr>
          <a:xfrm>
            <a:off x="536870" y="3040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핵심성과 라벨"/>
          <p:cNvSpPr/>
          <p:nvPr/>
        </p:nvSpPr>
        <p:spPr>
          <a:xfrm>
            <a:off x="569739" y="3073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073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4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062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고객만족도 87.03점(역대 최고) 획득(3년 연속 상승, ’23년 84.16점 → ’24년 85.27점)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국가수도정보시스템 이용자 76만명, 상수도정보서비스 이용만족도 96.6점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8 서사 · 지자체가 해결하기 어려운 물 문제(대응 방향 3칸 → 사례 4건: 배경 · 해결 · 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00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지자체가 해결하기 어려운 물 문제, K-water의 아이디어와 기술로 해결</a:t>
            </a:r>
          </a:p>
        </p:txBody>
      </p:sp>
      <p:sp>
        <p:nvSpPr>
          <p:cNvPr id="11" name="태그칩"/>
          <p:cNvSpPr/>
          <p:nvPr/>
        </p:nvSpPr>
        <p:spPr>
          <a:xfrm>
            <a:off x="503175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3175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15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지역맞춤형 대안</a:t>
            </a:r>
          </a:p>
        </p:txBody>
      </p:sp>
      <p:sp>
        <p:nvSpPr>
          <p:cNvPr id="18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수원 다변화</a:t>
            </a:r>
          </a:p>
        </p:txBody>
      </p:sp>
      <p:sp>
        <p:nvSpPr>
          <p:cNvPr id="20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발상의 전환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정서·니즈의 충족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댐·하천 非의존형 수원 발굴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3230348" y="1375043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4217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독보적 기술의 융합·활용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5113043" y="1375043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1665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665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지자체의 물 관리 어려움에 때로는 해결사로! 때로는 중재자로! 맞춤형 대응</a:t>
            </a:r>
          </a:p>
        </p:txBody>
      </p:sp>
      <p:sp>
        <p:nvSpPr>
          <p:cNvPr id="29" name="레일"/>
          <p:cNvSpPr/>
          <p:nvPr/>
        </p:nvSpPr>
        <p:spPr>
          <a:xfrm>
            <a:off x="734087" y="1906435"/>
            <a:ext cx="580696" cy="1638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06435"/>
            <a:ext cx="580696" cy="163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1·2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1906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머리칸"/>
          <p:cNvSpPr/>
          <p:nvPr/>
        </p:nvSpPr>
        <p:spPr>
          <a:xfrm>
            <a:off x="1347652" y="1928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928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대구 맑은 물 공급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1928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1928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강릉 가뭄 대응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69391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다변화(하천 복류수)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’91년 페놀사건 이후 대구시는 취수원 이전 지속 추진 중, 최근 안동댐 활용 검토 요청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現취수원 인근 복류수 도입 제안·정책화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복류수 공급사업 시행근거 확보(타당성조사 용역비 국고 45억원 반영)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169391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인력·기술·비상식수 지원 + 대책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단일 수원 저수율 11%↓, ‘재난사태’ 선포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단기대응 지원 및 항구대책 마련·수행(운휴시설 재가동 기술지원, 지하수저류댐 건설)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가뭄 적극 대응 노력 인정, 재난관리평가 ‘국무총리 표창’(’25.12)</a:t>
            </a:r>
          </a:p>
        </p:txBody>
      </p:sp>
      <p:cxnSp>
        <p:nvCxnSpPr>
          <p:cNvPr id="38" name="Connector 23"/>
          <p:cNvCxnSpPr/>
          <p:nvPr/>
        </p:nvCxnSpPr>
        <p:spPr>
          <a:xfrm>
            <a:off x="4171696" y="2202261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560870"/>
            <a:ext cx="580696" cy="1638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560870"/>
            <a:ext cx="580696" cy="163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3·4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5608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582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582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대산 산단 해수담수화 도입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582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582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부산 산단 공업용수 공급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23826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수원 다변화(해수담수화) 성공적 완수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충남서부지역 가뭄 반복, 대산석유화학단지 공업용수 수요 증대로 만성적 물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국내최대(10만 톤/일) 해수담수화 준공(’25.12)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(대산 산단) 無限 수원 확보, (충남서부지역) 만성적 물 부족 문제 해소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23826"/>
            <a:ext cx="2802130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첨단 수처리기술 활용, 현안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방사능 우려로 해수담수화시설(부산 기장)을 활용한 식수공급 반대로 10년간 시설 방치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해·담 시설을 하수재이용 시설로 전환, 공업용수 공급에 기술지원 및 운영 참여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동부산 산단 공업용수 공급 MOU 체결(’25.9)</a:t>
            </a:r>
          </a:p>
        </p:txBody>
      </p:sp>
      <p:cxnSp>
        <p:nvCxnSpPr>
          <p:cNvPr id="48" name="Connector 30"/>
          <p:cNvCxnSpPr/>
          <p:nvPr/>
        </p:nvCxnSpPr>
        <p:spPr>
          <a:xfrm>
            <a:off x="4171696" y="3856696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09 서사 · 근본적 지역 물 문제 해결을 위한 물 이용 개선방안(관리체계 혁신 · 극한가뭄 대응 · 워터믹스 3칸 → 기후부 방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5306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근본적인 지역 물 문제 해결을 위한 ‘물 이용 개선방안’ 수립·정부 제안</a:t>
            </a:r>
          </a:p>
        </p:txBody>
      </p:sp>
      <p:sp>
        <p:nvSpPr>
          <p:cNvPr id="12" name="태그칩"/>
          <p:cNvSpPr/>
          <p:nvPr/>
        </p:nvSpPr>
        <p:spPr>
          <a:xfrm>
            <a:off x="468853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8853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3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0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0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방안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이용 관리체계 혁신</a:t>
            </a:r>
          </a:p>
        </p:txBody>
      </p:sp>
      <p:sp>
        <p:nvSpPr>
          <p:cNvPr id="19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극한가뭄 대응 기반 조성</a:t>
            </a:r>
          </a:p>
        </p:txBody>
      </p:sp>
      <p:sp>
        <p:nvSpPr>
          <p:cNvPr id="21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워터믹스로 댐 의존도↓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국가계획 주기(5→2년), 지자체계획 연계 + 물수급협의체 신설(정부·지자체·산업)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수요변화 대응 적시성·유연성 제고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가뭄취약지역 평가 고도화: 다양한 가뭄 시나리오, 물 수급 여건 등을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계획: 가뭄대책 반영 의무화 / 워터그리드: 기존 수원 간 연계체계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044087" y="1364087"/>
            <a:ext cx="0" cy="931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31217"/>
            <a:ext cx="1860783" cy="997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다목적댐·발전용댐·지하수저류댐·농업용저수지를 연계하는 워터믹스(watermix)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수요처별 최적 수원 연계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926783" y="1364087"/>
            <a:ext cx="0" cy="931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161391" y="2344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344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K-water가 제안한 ‘물 이용 개선방안’ 기반, 기후부 ‘물 이용 체계 혁신방안’ 수립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0 서사 · 기업니즈 → K-water 역할(번호 띠 바로 아래 한 줄 + 역할 배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첨단산업 성장을 뒷받침하는 안정적인 용수공급으로 국가경쟁력 제고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 즈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5626174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첨단기술 패권경쟁 우위 선점은 ‘규모의 경제’와 ‘속도’가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‘용수’가 필수적인 첨단산업 기업은 신속한 인프라 확충에 갈증</a:t>
            </a:r>
          </a:p>
        </p:txBody>
      </p:sp>
      <p:sp>
        <p:nvSpPr>
          <p:cNvPr id="18" name="배너"/>
          <p:cNvSpPr/>
          <p:nvPr/>
        </p:nvSpPr>
        <p:spPr>
          <a:xfrm>
            <a:off x="723130" y="161342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태그"/>
          <p:cNvSpPr/>
          <p:nvPr/>
        </p:nvSpPr>
        <p:spPr>
          <a:xfrm>
            <a:off x="942261" y="1668209"/>
            <a:ext cx="837635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668209"/>
            <a:ext cx="837635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역할</a:t>
            </a:r>
          </a:p>
        </p:txBody>
      </p:sp>
      <p:sp>
        <p:nvSpPr>
          <p:cNvPr id="21" name="배너 글"/>
          <p:cNvSpPr>
            <a:spLocks noGrp="1"/>
          </p:cNvSpPr>
          <p:nvPr>
            <p:ph type="body" sz="quarter" idx="25"/>
          </p:nvPr>
        </p:nvSpPr>
        <p:spPr>
          <a:xfrm>
            <a:off x="1834678" y="1613426"/>
            <a:ext cx="5024105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합리적 수요산정·체계적 공급여건 마련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1 서사 · 첨단산단 최적 용수공급방안(그간의 성과 → 확대 배너 → 지방권 첨단산단 4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379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첨단산단 특성과 입지여건을 고려, 최적 용수공급방안 마련·사업 추진</a:t>
            </a:r>
          </a:p>
        </p:txBody>
      </p:sp>
      <p:sp>
        <p:nvSpPr>
          <p:cNvPr id="12" name="태그칩"/>
          <p:cNvSpPr/>
          <p:nvPr/>
        </p:nvSpPr>
        <p:spPr>
          <a:xfrm>
            <a:off x="467343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7343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43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06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정부  첨단산업 육성전략 발표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선도  용인반도체 첨단산단 조성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‘용수 확보’ 계획없이 첨단산단(27개소)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적기 인프라 구축 어려움 가중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발전댐(화천댐) 연계, 용수공급방안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반도체클러스터 용수공급 사업 신속 추진 → 국가산단(삼성), 일반산단(SK hynix) 통합기반 마련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161391" y="1950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50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확대: 용인반도체 통합용수공급방안 확정에 이어 ‘지방권 첨단산단’ 공급방안 선제적 대응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2191304"/>
            <a:ext cx="580696" cy="227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91304"/>
            <a:ext cx="580696" cy="227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지방권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첨단산단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19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213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213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 클러스터(’25년 추진계획 변경)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213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213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고흥 우주항공 산단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54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적기 추진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관로통합: 관로위치 조정 및 3→2열로 통합, 사업비 0.25조원 절감(타당성조사 완료)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54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사업기간 2년 단축 + 사업비 363억원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원거리의 광역(상) 공급(사업기간 7년, 767억원) / 개선: 인근의 지방(상) 개량·공급(사업기간 5년, 404억원)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985435" y="248713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머리칸"/>
          <p:cNvSpPr/>
          <p:nvPr/>
        </p:nvSpPr>
        <p:spPr>
          <a:xfrm>
            <a:off x="1161391" y="3347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3347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울진 원자력수소 산단</a:t>
            </a:r>
          </a:p>
        </p:txBody>
      </p:sp>
      <p:sp>
        <p:nvSpPr>
          <p:cNvPr id="38" name="머리칸"/>
          <p:cNvSpPr/>
          <p:nvPr/>
        </p:nvSpPr>
        <p:spPr>
          <a:xfrm>
            <a:off x="3985435" y="33472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985435" y="33472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울산 샤힌 프로젝트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588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수소원료인 물 단가 절감, 산업경쟁력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해수담수화 공급(고비용) 수요량 40천톤/일, 사업비 1,554억원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수요 재추정, 지방수원 공급활용 수요량 28천톤/일, 1,268억원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588261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니즈 반영, 산업시설 적기 가동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첨단석유화학 플랜트 조기 가동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국가계획 반영·국고 조기 확보 → 공급시기 1년 단축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985435" y="362113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2 서사 · 산업단지 물공급 인프라 사전 검토 가이드라인(현황 분석 → 제도개선 + 추진성과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산업단지 출발은 물길부터, 물공급 인프라 사전 검토 가이드라인 마련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8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8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 반도체산단 조성에서 얻은 교훈 → 산업단지 조성의 핵심은 ‘인프라’ 확보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현실: 先산단지정·後인프라 검토 방식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 확보 불가시, 산단 조성에 난항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산단 계획부터 인프라를 검토하도록 ‘산업입지 수급계획 수립 국가기준’ 마련(’25.10)</a:t>
            </a:r>
          </a:p>
        </p:txBody>
      </p:sp>
      <p:sp>
        <p:nvSpPr>
          <p:cNvPr id="24" name="머리칸"/>
          <p:cNvSpPr/>
          <p:nvPr/>
        </p:nvSpPr>
        <p:spPr>
          <a:xfrm>
            <a:off x="1347652" y="176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76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산업입지별 용수 수요산정 방법 + 시기 제안(→국토부)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76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76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02383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용수수요: 업종별 추정(업종별 원단위 × 부지 면적)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확보계획: 수요량 ↔ 지역 물여유량 비교(부족시 수립)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산정시기: 산업단지 조성 최초 계획 수립시 검토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002383"/>
            <a:ext cx="2802130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전국 17개 시·도 제5차 산업입지 수급계획 즉시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산업단지 수급계획 수립(용수·전력 인프라 검토) → 산업단지 지정 → 산업단지 계획승인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2035252"/>
            <a:ext cx="0" cy="657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주요성과 박스"/>
          <p:cNvSpPr/>
          <p:nvPr/>
        </p:nvSpPr>
        <p:spPr>
          <a:xfrm>
            <a:off x="723130" y="2824122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주요성과 라벨"/>
          <p:cNvSpPr/>
          <p:nvPr/>
        </p:nvSpPr>
        <p:spPr>
          <a:xfrm>
            <a:off x="756000" y="285699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주요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85699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34" name="주요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8405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인프라 적기 구축을 통한 첨단산단의 원활한 조성으로 국가 산업경쟁력 강화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3 서사 · 니즈의 일치 → 신정부 정책 → 로드맵(초순수 3자 협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글로벌 기업이 독점한 초순수 분야, K-water 중심으로 개척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8025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 치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수요기업(반도체 등)</a:t>
            </a:r>
          </a:p>
        </p:txBody>
      </p:sp>
      <p:sp>
        <p:nvSpPr>
          <p:cNvPr id="22" name="머리칸"/>
          <p:cNvSpPr/>
          <p:nvPr/>
        </p:nvSpPr>
        <p:spPr>
          <a:xfrm>
            <a:off x="3044087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협력기업(시공·장비 등)</a:t>
            </a:r>
          </a:p>
        </p:txBody>
      </p:sp>
      <p:sp>
        <p:nvSpPr>
          <p:cNvPr id="24" name="머리칸"/>
          <p:cNvSpPr/>
          <p:nvPr/>
        </p:nvSpPr>
        <p:spPr>
          <a:xfrm>
            <a:off x="4926783" y="11559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1559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공급망 확보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개발기술 검증·실증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044087" y="14298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96957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통합물관리 업역 확대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4926783" y="1429826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1725652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25652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1725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174756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74756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新정부의 ‘안정적인 반도체 초순수 공급체계 구축’으로 사업 가속화(국정과제 43 국가 경제 적응력 강화)</a:t>
            </a:r>
          </a:p>
        </p:txBody>
      </p:sp>
      <p:sp>
        <p:nvSpPr>
          <p:cNvPr id="36" name="레일"/>
          <p:cNvSpPr/>
          <p:nvPr/>
        </p:nvSpPr>
        <p:spPr>
          <a:xfrm>
            <a:off x="547826" y="21269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269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1269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1488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기술완성·사업기반조성</a:t>
            </a:r>
          </a:p>
        </p:txBody>
      </p:sp>
      <p:sp>
        <p:nvSpPr>
          <p:cNvPr id="41" name="단계"/>
          <p:cNvSpPr/>
          <p:nvPr/>
        </p:nvSpPr>
        <p:spPr>
          <a:xfrm>
            <a:off x="3044087" y="21488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성능검증·사업진출</a:t>
            </a:r>
          </a:p>
        </p:txBody>
      </p:sp>
      <p:sp>
        <p:nvSpPr>
          <p:cNvPr id="43" name="단계"/>
          <p:cNvSpPr/>
          <p:nvPr/>
        </p:nvSpPr>
        <p:spPr>
          <a:xfrm>
            <a:off x="4926783" y="21488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488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기술고도화·사업확대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3044086" y="21488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926782" y="21488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국산화(설계·시공·운영·장비)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사업화: 사업진출 협약 체결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實공급 기반 장기성능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운영사업 최초 진출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044087" y="24337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0887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국산장비 고도화 R&amp;D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용인산단 통합 물서비스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4926783" y="24337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4 서사 · 1차 국산화 R&amp;D 성공 → 새로운 도전(기술자립 주도: 마무리 → 참여기업 성과 → 2차 기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73035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1차 국산화 R&amp;D(’21~’25) 성공을 통한 확신, 완전 기술자립을 위한 새로운 도전</a:t>
            </a:r>
          </a:p>
        </p:txBody>
      </p:sp>
      <p:sp>
        <p:nvSpPr>
          <p:cNvPr id="11" name="태그칩"/>
          <p:cNvSpPr/>
          <p:nvPr/>
        </p:nvSpPr>
        <p:spPr>
          <a:xfrm>
            <a:off x="55520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5520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기술자립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국산화 R&amp;D 성공적 마무리(’21~’25)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R&amp;D 참여기업 가시적 성과 창출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국산화 목표: 장비 70% + 설계·시공·운영 100%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SK실트론內 R&amp;D 시설 활용, 초순수 實공급 및 웨이퍼 생산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장기운전 신뢰 검증, 노하우 축적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한성크린텍 — 설계+시공: 삼성전자 EPC사업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SAMYANG — 장비: 군산에 300억원 시설투자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SepraTek — 장비: 삼양社와 탈기막 공동사업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— 총괄+운영: R&amp;D 연계, 전문인력 양성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배너"/>
          <p:cNvSpPr/>
          <p:nvPr/>
        </p:nvSpPr>
        <p:spPr>
          <a:xfrm>
            <a:off x="1347652" y="218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성과 기반으로 2차 국산화 R&amp;D 기획(반도체급 실증플랜트 구축 + 장비 국산화 90% 확대)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5 서사 · 국가 초순수 생태계 육성 로드맵(정책선도: 국가전략 → 실행체계 → 전략-실행 연계 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637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반도체와 함께 커가는 물산업 경쟁력, 국가 초순수 생태계 육성 로드맵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99924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9924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558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5257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5257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도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산업 급부상으로 뒤늦게 발견된 ‘초순수 산업’의 가치, 국가 전략화 추진(’24.11~)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국가전략  산업 全주기 지원 청사진 제시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실행체계  초순수 산업 활성화 Action Plan 마련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6678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정부정책, 산·학·연 니즈 분석 기반, 「국가 초순수 전략 수립」 직접 참여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6678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자체TF(산업용수 활성화) 운영, 국가전략과 연계한 종합 실행계획 수립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599652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199956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자립화 및 고도화</a:t>
            </a:r>
          </a:p>
        </p:txBody>
      </p:sp>
      <p:sp>
        <p:nvSpPr>
          <p:cNvPr id="28" name="단계"/>
          <p:cNvSpPr/>
          <p:nvPr/>
        </p:nvSpPr>
        <p:spPr>
          <a:xfrm>
            <a:off x="2573413" y="199956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산업 경쟁력 강화</a:t>
            </a:r>
          </a:p>
        </p:txBody>
      </p:sp>
      <p:sp>
        <p:nvSpPr>
          <p:cNvPr id="30" name="단계"/>
          <p:cNvSpPr/>
          <p:nvPr/>
        </p:nvSpPr>
        <p:spPr>
          <a:xfrm>
            <a:off x="3985435" y="199956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시장·판로지원</a:t>
            </a:r>
          </a:p>
        </p:txBody>
      </p:sp>
      <p:sp>
        <p:nvSpPr>
          <p:cNvPr id="32" name="단계"/>
          <p:cNvSpPr/>
          <p:nvPr/>
        </p:nvSpPr>
        <p:spPr>
          <a:xfrm>
            <a:off x="5397457" y="199956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99956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❹ 지속성장 기반구축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257341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3985434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397456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공공랩 구축 · 진단기술 확보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2584370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전문인력 양성 · 민간기업 지원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2573413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사업추진·협력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985435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5408413" y="2251565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국가R&amp;D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397457" y="228443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6 서사 · 국내기업 최초 초순수 운영관리 사업 진출(12년 연구 → 반도체 플랜트 → 추진성과 3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3006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모두가 불가능이라 했지만, 국내기업 최초 초순수 운영관리 사업 진출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8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8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0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476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47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SK hynix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초순수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사업진출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2012년 첫발을 디딘 K-water 초순수 연구, 13년만에 국내 반도체 기업의 파트너로 성장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’12년 요소기술 확보</a:t>
            </a:r>
          </a:p>
        </p:txBody>
      </p:sp>
      <p:sp>
        <p:nvSpPr>
          <p:cNvPr id="20" name="단계"/>
          <p:cNvSpPr/>
          <p:nvPr/>
        </p:nvSpPr>
        <p:spPr>
          <a:xfrm>
            <a:off x="2759674" y="133669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2759674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’21년 생산능력 검증</a:t>
            </a:r>
          </a:p>
        </p:txBody>
      </p:sp>
      <p:sp>
        <p:nvSpPr>
          <p:cNvPr id="22" name="단계"/>
          <p:cNvSpPr/>
          <p:nvPr/>
        </p:nvSpPr>
        <p:spPr>
          <a:xfrm>
            <a:off x="4171696" y="133669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사업진출</a:t>
            </a:r>
          </a:p>
        </p:txBody>
      </p:sp>
      <p:sp>
        <p:nvSpPr>
          <p:cNvPr id="24" name="단계"/>
          <p:cNvSpPr/>
          <p:nvPr/>
        </p:nvSpPr>
        <p:spPr>
          <a:xfrm>
            <a:off x="5583717" y="133669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583717" y="133669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반도체 플랜트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2759673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171695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5583717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24㎥/일 → X100배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2770630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2,400㎥/일 → X10배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2759674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24,400㎥/일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5594674" y="1588696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HBM 반도체 수요 대응 신규공장(M15X-청주) 신설 / (3월) 실시협약 → (~12월) 인계·시운전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5583717" y="162156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2844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’12~’21년 파일럿플랜트: 자체연구, 장기간 기술개발 노력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2844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’21~’25년 실증플랜트: 국가R&amp;D, 웨이퍼 공정 實공급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3173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2730991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2769339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2769339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2747426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공공성 · 차별성 · 도전성 · 상징성: 민간기업 협력 기술자립 성공, 글로벌 유일 물공급 全기술 보유, 해외 전문기업 독점시장 진입, 국내기업 최초 운영사업 진출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7 서사 · 수도서비스 사업특성 · 주요위험(번호 띠 없는 두 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30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30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 성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562617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이동: 취수장 → 정수장 → 고객 간 물 이동을 위해 고압전기, 복잡한 설비(회전체 등) 운영. 물 공급관로·밸브설비는 지하(밀폐)에 매설, 일부구간 도심/도로 횡단(전국 5.5만㎞)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생산: 하천수 등을 수심 깊은 저수조에서 다량(중량물)의 화학물질(정수약품)을 사용, 정수 처리</a:t>
            </a:r>
          </a:p>
        </p:txBody>
      </p:sp>
      <p:sp>
        <p:nvSpPr>
          <p:cNvPr id="14" name="레일"/>
          <p:cNvSpPr/>
          <p:nvPr/>
        </p:nvSpPr>
        <p:spPr>
          <a:xfrm>
            <a:off x="547826" y="1429826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429826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</p:txBody>
      </p:sp>
      <p:sp>
        <p:nvSpPr>
          <p:cNvPr id="16" name="레일 삼각형"/>
          <p:cNvSpPr/>
          <p:nvPr/>
        </p:nvSpPr>
        <p:spPr>
          <a:xfrm>
            <a:off x="547826" y="1429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머리칸"/>
          <p:cNvSpPr/>
          <p:nvPr/>
        </p:nvSpPr>
        <p:spPr>
          <a:xfrm>
            <a:off x="1161391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밀폐공간</a:t>
            </a:r>
          </a:p>
        </p:txBody>
      </p:sp>
      <p:sp>
        <p:nvSpPr>
          <p:cNvPr id="19" name="머리칸"/>
          <p:cNvSpPr/>
          <p:nvPr/>
        </p:nvSpPr>
        <p:spPr>
          <a:xfrm>
            <a:off x="2573413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573413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 고위험 시설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산재된 시설</a:t>
            </a:r>
          </a:p>
        </p:txBody>
      </p:sp>
      <p:sp>
        <p:nvSpPr>
          <p:cNvPr id="23" name="머리칸"/>
          <p:cNvSpPr/>
          <p:nvPr/>
        </p:nvSpPr>
        <p:spPr>
          <a:xfrm>
            <a:off x="5397457" y="1451739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397457" y="1451739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시민재해 요인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관로상 밸브실 등 밀폐장소(5만개) 작업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2584370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고위험(약품, 전기 등) 공정운영(2천개)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2573413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5.5만㎞ 산재로 감시와 접근 한계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408413" y="169278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싱크홀 원인의 6% 노후상수도관 파손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5397457" y="172565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18 서사 · 수도 특화 안전설계기준과 맞춤형 대책(기준제정 3칸 → 위험요소 맞춤형 대책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수도 특화 안전설계기준과 맞춤형 대책으로 근로자 안전 확보</a:t>
            </a:r>
          </a:p>
        </p:txBody>
      </p:sp>
      <p:sp>
        <p:nvSpPr>
          <p:cNvPr id="11" name="태그칩"/>
          <p:cNvSpPr/>
          <p:nvPr/>
        </p:nvSpPr>
        <p:spPr>
          <a:xfrm>
            <a:off x="438259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8259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33712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33712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388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21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수도특화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안전설계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준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위험요소 맞춤형 기준 제시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안전 기준 통합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실행력 확보와 확산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시설 특성·위험분석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반복지적 2천여건 분석 → 부위별 위험별 기준 제시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5천건의 안전기준 → 수도시설에 맞는 522개 항목으로 통합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표준작업절차서 131종, 안전시설 개선계획 수립(예산 80억원 확보)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확산 및 공동활용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07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07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한번에 쉽고 빠르게 찾는 안전수칙 마련과 실행·확산으로 국가 상수도 안전 표준 제시</a:t>
            </a:r>
          </a:p>
        </p:txBody>
      </p:sp>
      <p:sp>
        <p:nvSpPr>
          <p:cNvPr id="31" name="레일"/>
          <p:cNvSpPr/>
          <p:nvPr/>
        </p:nvSpPr>
        <p:spPr>
          <a:xfrm>
            <a:off x="734087" y="2311826"/>
            <a:ext cx="580696" cy="1123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311826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 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311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333739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밀폐공간: ‘eCall’ 전사 도입 — 출입통제, 유해가스 실시간 감지, 움직임 감지 → 경보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산재: 기술과 인력으로 사각지대 최소화 — AI+CCTV, 스마트 안전장비, 자회사 안전인력 全사업소(46명) 반영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333739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복합설비: 위험제거·통제로 실효적 재해예방 — 보호구 4종 추가, 안전거울, 약품 자동투입설비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제도개선: 안전 최우선 가치로 발주자 역할 수행 — 안전중심 평가, 정부 총사업비지침 개정 통해 감리비 현실화(76 → 96%)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36660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9 서사 · 노후관로 선제 정비와 실시간 누수 감지(시민밀접시설 안전확보 3칸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931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노후관로 선제 정비와 실시간 누수 감지를 통한 시민의 안전한 일상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82859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2859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849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시민밀접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안전확보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노후관 정비  싱크홀 예방</a:t>
            </a:r>
          </a:p>
        </p:txBody>
      </p:sp>
      <p:sp>
        <p:nvSpPr>
          <p:cNvPr id="19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누수 감지  침수사고 예방</a:t>
            </a:r>
          </a:p>
        </p:txBody>
      </p:sp>
      <p:sp>
        <p:nvSpPr>
          <p:cNvPr id="21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맨홀 개선  차량사고 예방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광역상수도 노후관 개량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지방상수도 노후관 정비 수탁 수행·운영(116개)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수압·유량 관망해석 및 AI 활용, 실시간 누수감지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관망분석 전담인력 확대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044087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31217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맨홀 ↔ 도로 높낮이 차이 개선계획 수립(729개)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관로 일일점검 강화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926783" y="1364087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주요성과 박스"/>
          <p:cNvSpPr/>
          <p:nvPr/>
        </p:nvSpPr>
        <p:spPr>
          <a:xfrm>
            <a:off x="536870" y="1977652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주요성과 라벨"/>
          <p:cNvSpPr/>
          <p:nvPr/>
        </p:nvSpPr>
        <p:spPr>
          <a:xfrm>
            <a:off x="569739" y="2010522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주요성과 라벨"/>
          <p:cNvSpPr>
            <a:spLocks noGrp="1"/>
          </p:cNvSpPr>
          <p:nvPr>
            <p:ph type="body" sz="quarter" idx="29"/>
          </p:nvPr>
        </p:nvSpPr>
        <p:spPr>
          <a:xfrm>
            <a:off x="569739" y="2010522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1" name="주요성과 문구"/>
          <p:cNvSpPr>
            <a:spLocks noGrp="1"/>
          </p:cNvSpPr>
          <p:nvPr>
            <p:ph type="body" sz="quarter" idx="30"/>
          </p:nvPr>
        </p:nvSpPr>
        <p:spPr>
          <a:xfrm>
            <a:off x="1314783" y="1994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수도서비스 실효적 안전대책·싱크홀 방지 등 국정과제 이행과 산업·시민재해 저감(△27%)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0 서사 · 조직·인력·예산 운용 등의 효율성 제고노력(4열 표: 대상사업 · 구분 · 주요내용 · 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조직·인력·예산 운용 등의 효율성 제고노력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1 서사 · 대국민 서비스 질 제고 및 공공성 강화 노력(3열 표 2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및 공공성 강화 노력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16113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대국민 서비스 질 제고 노력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536870" y="3013043"/>
            <a:ext cx="101422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285965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공공성 강화 노력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2 서사 · 경영환경 변화에 따른 대응노력 및 성과(3열 표: 경영환경 · 위험요인 칩 → 대응노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경영환경 변화에 따른 대응노력 및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3 서사 · 추진성과의 설립목적 및 경영목표 달성 기여도(주요사업 추진성과 → 경영목표 달성기여 → 설립목적 달성기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추진성과의 설립목적 및 경영목표 달성 기여도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315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수돗물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공급혁신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155913"/>
            <a:ext cx="562617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취약요인 개선 및 안정화 신속 추진으로 비상공급률 목표(100%)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AI(정) 고도화와 국제표준 인증으로 사업화 확대(8건)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계절별 취약요인 집중관리로 역대 최고 국민기대수질(98.3%)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지능형 AI 기반 운영혁신과 에너지절감으로 원가절감 목표(105%) 달성</a:t>
            </a:r>
          </a:p>
        </p:txBody>
      </p:sp>
      <p:sp>
        <p:nvSpPr>
          <p:cNvPr id="19" name="레일"/>
          <p:cNvSpPr/>
          <p:nvPr/>
        </p:nvSpPr>
        <p:spPr>
          <a:xfrm>
            <a:off x="547826" y="185713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85713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물복지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879043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활용, 운영·서비스 개선으로 최고실적(유수율, 고객만족도)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사업모델 다각화(통합형 등)와 수행체계 개선으로 누수량 70백만톤 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재난대응·기술지원으로 국민(22만명) 급수 정상화 및 취약인구(1만명) 해소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2413252"/>
            <a:ext cx="580696" cy="530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2413252"/>
            <a:ext cx="580696" cy="530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국민체감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서비스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2435165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요금동결로 연간 1,483억원 인하효과 등 국민 부담완화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맞춤형 대응방안 제시로 물 문제 해결 및 지역균형발전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최적 용수공급과 초순수 운영 국산화로 첨단산업 경쟁력 제고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2959826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959826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수도서비스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981739"/>
            <a:ext cx="5626174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 권으로 끝내는 수도특화 안전설계기준 마련으로 산업재해 저감(Δ30%)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선제적 노후관 정비와 실시간 누수감지로 싱크홀 및 침수사고 Zero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3384470"/>
            <a:ext cx="580696" cy="2117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384470"/>
            <a:ext cx="580696" cy="211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달성기여</a:t>
            </a:r>
          </a:p>
        </p:txBody>
      </p:sp>
      <p:sp>
        <p:nvSpPr>
          <p:cNvPr id="31" name="단계"/>
          <p:cNvSpPr/>
          <p:nvPr/>
        </p:nvSpPr>
        <p:spPr>
          <a:xfrm>
            <a:off x="1161391" y="34063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3406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 물공급 실현</a:t>
            </a:r>
          </a:p>
        </p:txBody>
      </p:sp>
      <p:sp>
        <p:nvSpPr>
          <p:cNvPr id="33" name="단계"/>
          <p:cNvSpPr/>
          <p:nvPr/>
        </p:nvSpPr>
        <p:spPr>
          <a:xfrm>
            <a:off x="3044087" y="34063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044087" y="3406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시스템 구축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34063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4926783" y="34063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물가치 창출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044086" y="3406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4926782" y="34063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658383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수요를 충족하는 고품질 물공급 실현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658383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극한기후에 안전한 물관리 시스템 구축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3044087" y="36912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658383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민관·지역·글로벌 협력 중심 물가치 창출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4926783" y="369125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머리칸"/>
          <p:cNvSpPr/>
          <p:nvPr/>
        </p:nvSpPr>
        <p:spPr>
          <a:xfrm>
            <a:off x="1161391" y="40118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40118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 全 프로세스 고도화</a:t>
            </a:r>
          </a:p>
        </p:txBody>
      </p:sp>
      <p:sp>
        <p:nvSpPr>
          <p:cNvPr id="46" name="머리칸"/>
          <p:cNvSpPr/>
          <p:nvPr/>
        </p:nvSpPr>
        <p:spPr>
          <a:xfrm>
            <a:off x="3985435" y="40118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40118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첨단기술 기반 상수도 혁신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252852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중단없는 안전한 수돗물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안심하는 고품질 수돗물 생산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4252852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중심의 상수도 全 분야 AX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기반 시설 운영고도화로 원가절감</a:t>
            </a:r>
          </a:p>
        </p:txBody>
      </p:sp>
      <p:cxnSp>
        <p:nvCxnSpPr>
          <p:cNvPr id="50" name="Connector 36"/>
          <p:cNvCxnSpPr/>
          <p:nvPr/>
        </p:nvCxnSpPr>
        <p:spPr>
          <a:xfrm>
            <a:off x="3985435" y="4285722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머리칸"/>
          <p:cNvSpPr/>
          <p:nvPr/>
        </p:nvSpPr>
        <p:spPr>
          <a:xfrm>
            <a:off x="1161391" y="47623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47623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지방 지원 상수도 패키지 제공</a:t>
            </a:r>
          </a:p>
        </p:txBody>
      </p:sp>
      <p:sp>
        <p:nvSpPr>
          <p:cNvPr id="53" name="머리칸"/>
          <p:cNvSpPr/>
          <p:nvPr/>
        </p:nvSpPr>
        <p:spPr>
          <a:xfrm>
            <a:off x="3985435" y="47623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47623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 안심 물공급 서비스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5003374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지방상수도 적기 개선으로 누수저감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취약시설 맞춤형 기술지원 강화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5003374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첨단용수(초순수 등) 안정적 용수공급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체감 물정보 제공 및 수돗물 인식 개선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3985435" y="5036243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5518330"/>
            <a:ext cx="580696" cy="2898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18330"/>
            <a:ext cx="580696" cy="289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달성기여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55183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"/>
          <p:cNvSpPr/>
          <p:nvPr/>
        </p:nvSpPr>
        <p:spPr>
          <a:xfrm>
            <a:off x="1161391" y="5540243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 개발·관리</a:t>
            </a:r>
          </a:p>
        </p:txBody>
      </p:sp>
      <p:sp>
        <p:nvSpPr>
          <p:cNvPr id="63" name="단계"/>
          <p:cNvSpPr/>
          <p:nvPr/>
        </p:nvSpPr>
        <p:spPr>
          <a:xfrm>
            <a:off x="2291009" y="5540243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2291009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65" name="단계"/>
          <p:cNvSpPr/>
          <p:nvPr/>
        </p:nvSpPr>
        <p:spPr>
          <a:xfrm>
            <a:off x="3420626" y="5540243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3420626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67" name="단계"/>
          <p:cNvSpPr/>
          <p:nvPr/>
        </p:nvSpPr>
        <p:spPr>
          <a:xfrm>
            <a:off x="4550243" y="554024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9"/>
          </p:nvPr>
        </p:nvSpPr>
        <p:spPr>
          <a:xfrm>
            <a:off x="4550243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69" name="단계"/>
          <p:cNvSpPr/>
          <p:nvPr/>
        </p:nvSpPr>
        <p:spPr>
          <a:xfrm>
            <a:off x="5679861" y="5540243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50"/>
          </p:nvPr>
        </p:nvSpPr>
        <p:spPr>
          <a:xfrm>
            <a:off x="5679861" y="5540243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2291008" y="55402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3420626" y="55402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4550243" y="55402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 삼각형"/>
          <p:cNvSpPr/>
          <p:nvPr/>
        </p:nvSpPr>
        <p:spPr>
          <a:xfrm>
            <a:off x="5679860" y="55402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칸 본문"/>
          <p:cNvSpPr txBox="1"/>
          <p:nvPr/>
        </p:nvSpPr>
        <p:spPr>
          <a:xfrm>
            <a:off x="1172348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76" name="칸 본문"/>
          <p:cNvSpPr txBox="1"/>
          <p:nvPr/>
        </p:nvSpPr>
        <p:spPr>
          <a:xfrm>
            <a:off x="2301965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77" name="Connector 55"/>
          <p:cNvCxnSpPr/>
          <p:nvPr/>
        </p:nvCxnSpPr>
        <p:spPr>
          <a:xfrm flipV="1">
            <a:off x="2291009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칸 본문"/>
          <p:cNvSpPr txBox="1"/>
          <p:nvPr/>
        </p:nvSpPr>
        <p:spPr>
          <a:xfrm>
            <a:off x="3431583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79" name="Connector 57"/>
          <p:cNvCxnSpPr/>
          <p:nvPr/>
        </p:nvCxnSpPr>
        <p:spPr>
          <a:xfrm flipV="1">
            <a:off x="3420626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 txBox="1"/>
          <p:nvPr/>
        </p:nvSpPr>
        <p:spPr>
          <a:xfrm>
            <a:off x="4561200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1" name="Connector 59"/>
          <p:cNvCxnSpPr/>
          <p:nvPr/>
        </p:nvCxnSpPr>
        <p:spPr>
          <a:xfrm flipV="1">
            <a:off x="4550243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 txBox="1"/>
          <p:nvPr/>
        </p:nvSpPr>
        <p:spPr>
          <a:xfrm>
            <a:off x="5690817" y="5792243"/>
            <a:ext cx="1107704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3" name="Connector 61"/>
          <p:cNvCxnSpPr/>
          <p:nvPr/>
        </p:nvCxnSpPr>
        <p:spPr>
          <a:xfrm flipV="1">
            <a:off x="5679861" y="5814157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머리칸"/>
          <p:cNvSpPr/>
          <p:nvPr/>
        </p:nvSpPr>
        <p:spPr>
          <a:xfrm>
            <a:off x="1161391" y="5863461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1"/>
          </p:nvPr>
        </p:nvSpPr>
        <p:spPr>
          <a:xfrm>
            <a:off x="1161391" y="5863461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수질 개선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2"/>
          </p:nvPr>
        </p:nvSpPr>
        <p:spPr>
          <a:xfrm>
            <a:off x="1172348" y="6104504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국민기대수질, 고도도입률 향상으로 고품질 수돗물 생산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기반 엄격한 수질관리로 수돗물 신뢰 향상</a:t>
            </a:r>
          </a:p>
        </p:txBody>
      </p:sp>
      <p:sp>
        <p:nvSpPr>
          <p:cNvPr id="87" name="머리칸"/>
          <p:cNvSpPr/>
          <p:nvPr/>
        </p:nvSpPr>
        <p:spPr>
          <a:xfrm>
            <a:off x="1161391" y="6504417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3"/>
          </p:nvPr>
        </p:nvSpPr>
        <p:spPr>
          <a:xfrm>
            <a:off x="1161391" y="6504417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 용수공급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6745461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사고에 대비한 취약시설 집중개선으로 물 공급 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안정적 용수공급으로 국가 경쟁력 제고</a:t>
            </a:r>
          </a:p>
        </p:txBody>
      </p:sp>
      <p:sp>
        <p:nvSpPr>
          <p:cNvPr id="90" name="머리칸"/>
          <p:cNvSpPr/>
          <p:nvPr/>
        </p:nvSpPr>
        <p:spPr>
          <a:xfrm>
            <a:off x="1161391" y="7145374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1" name="머리칸"/>
          <p:cNvSpPr>
            <a:spLocks noGrp="1"/>
          </p:cNvSpPr>
          <p:nvPr>
            <p:ph type="body" sz="quarter" idx="55"/>
          </p:nvPr>
        </p:nvSpPr>
        <p:spPr>
          <a:xfrm>
            <a:off x="1161391" y="7145374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국민생활 향상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6"/>
          </p:nvPr>
        </p:nvSpPr>
        <p:spPr>
          <a:xfrm>
            <a:off x="1172348" y="7386417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10년간 요금동결과 강도 높은 원가저감으로 국민부담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등 국가적 재난 총력지원으로 국민의 빠른 일상 회복 기여</a:t>
            </a:r>
          </a:p>
        </p:txBody>
      </p:sp>
      <p:sp>
        <p:nvSpPr>
          <p:cNvPr id="93" name="머리칸"/>
          <p:cNvSpPr/>
          <p:nvPr/>
        </p:nvSpPr>
        <p:spPr>
          <a:xfrm>
            <a:off x="1161391" y="7786330"/>
            <a:ext cx="56316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4" name="머리칸"/>
          <p:cNvSpPr>
            <a:spLocks noGrp="1"/>
          </p:cNvSpPr>
          <p:nvPr>
            <p:ph type="body" sz="quarter" idx="57"/>
          </p:nvPr>
        </p:nvSpPr>
        <p:spPr>
          <a:xfrm>
            <a:off x="1161391" y="7786330"/>
            <a:ext cx="56316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공공복리 증진</a:t>
            </a:r>
          </a:p>
        </p:txBody>
      </p:sp>
      <p:sp>
        <p:nvSpPr>
          <p:cNvPr id="95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8027374"/>
            <a:ext cx="5626174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상수도 누수 저감과 서비스 수준 향상으로 공공복리 증진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軍부대·산간·도서지역 등 급수취약지역 물복지 확산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4 서사 · 전년도 자체 환류활동 추진성과(’24 개선·확산 과제 → ’25 추진성과 3열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전년도 자체 환류활동 추진성과 및 ’25년 자체 환류활동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183968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전년도 자체 환류활동 추진성과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5 서사 · 성과지표별 목표수준 설정(글로벌 · 계량 · 비계량 성과지표 3묶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15411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성과지표별 목표수준 설정</a:t>
            </a:r>
          </a:p>
        </p:txBody>
      </p:sp>
      <p:sp>
        <p:nvSpPr>
          <p:cNvPr id="12" name="번호"/>
          <p:cNvSpPr>
            <a:spLocks noGrp="1"/>
          </p:cNvSpPr>
          <p:nvPr>
            <p:ph type="body" sz="quarter" idx="21"/>
          </p:nvPr>
        </p:nvSpPr>
        <p:spPr>
          <a:xfrm>
            <a:off x="536870" y="1128522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13" name="분야 박스"/>
          <p:cNvSpPr/>
          <p:nvPr/>
        </p:nvSpPr>
        <p:spPr>
          <a:xfrm>
            <a:off x="727987" y="1161391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분야 박스"/>
          <p:cNvSpPr>
            <a:spLocks noGrp="1"/>
          </p:cNvSpPr>
          <p:nvPr>
            <p:ph type="body" sz="quarter" idx="22"/>
          </p:nvPr>
        </p:nvSpPr>
        <p:spPr>
          <a:xfrm>
            <a:off x="727987" y="1161391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1276424" y="1281913"/>
            <a:ext cx="9790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3"/>
          </p:nvPr>
        </p:nvSpPr>
        <p:spPr>
          <a:xfrm>
            <a:off x="1276424" y="1128522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글로벌 성과지표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13391"/>
            <a:ext cx="6300000" cy="2509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29826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29826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451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451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 대응강화: 위성 활용기술 수준(%) (’30년도까지 90% 달성)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85447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5447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대상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854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876383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미국(NASA, Global Top 1) Catch-Up: 100%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876383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80%</a:t>
            </a:r>
          </a:p>
        </p:txBody>
      </p:sp>
      <p:cxnSp>
        <p:nvCxnSpPr>
          <p:cNvPr id="27" name="Connector 19"/>
          <p:cNvCxnSpPr/>
          <p:nvPr/>
        </p:nvCxnSpPr>
        <p:spPr>
          <a:xfrm>
            <a:off x="3985435" y="1909252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2410591"/>
            <a:ext cx="580696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41059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Gap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32504"/>
            <a:ext cx="5626174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기술 3개 분야(분석·운영·데이터) 기술격차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분석: 활용산출물 제공 ↔ 시범테스트 / 운영: 전용 S/W 보유 ↔ 수신 S/W·H/W 보유 / 데이터: 글로벌 데이터 제공 ↔ 테스트 데이터 제공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951687"/>
            <a:ext cx="580696" cy="5301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951687"/>
            <a:ext cx="580696" cy="530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9516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973600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분석기술: 위성 검보정 기술선진국(DLR) 국제협력으로 원천기술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운영기술: 해외위성 자료획득 노하우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품질: AI기반 위성 활용산출물 정확도 향상</a:t>
            </a:r>
          </a:p>
        </p:txBody>
      </p:sp>
      <p:sp>
        <p:nvSpPr>
          <p:cNvPr id="35" name="레일"/>
          <p:cNvSpPr/>
          <p:nvPr/>
        </p:nvSpPr>
        <p:spPr>
          <a:xfrm>
            <a:off x="547826" y="3498261"/>
            <a:ext cx="580696" cy="4082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352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352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82% 이상(’30년 90% 수준 달성을 위하여 연간 약 2%p 향상 목표)</a:t>
            </a:r>
          </a:p>
        </p:txBody>
      </p:sp>
      <p:sp>
        <p:nvSpPr>
          <p:cNvPr id="39" name="번호"/>
          <p:cNvSpPr>
            <a:spLocks noGrp="1"/>
          </p:cNvSpPr>
          <p:nvPr>
            <p:ph type="body" sz="quarter" idx="35"/>
          </p:nvPr>
        </p:nvSpPr>
        <p:spPr>
          <a:xfrm>
            <a:off x="536870" y="4043426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40" name="분야 박스"/>
          <p:cNvSpPr/>
          <p:nvPr/>
        </p:nvSpPr>
        <p:spPr>
          <a:xfrm>
            <a:off x="727987" y="407629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분야 박스"/>
          <p:cNvSpPr>
            <a:spLocks noGrp="1"/>
          </p:cNvSpPr>
          <p:nvPr>
            <p:ph type="body" sz="quarter" idx="36"/>
          </p:nvPr>
        </p:nvSpPr>
        <p:spPr>
          <a:xfrm>
            <a:off x="727987" y="407629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계량</a:t>
            </a:r>
          </a:p>
        </p:txBody>
      </p:sp>
      <p:sp>
        <p:nvSpPr>
          <p:cNvPr id="42" name="형광 밑줄"/>
          <p:cNvSpPr/>
          <p:nvPr/>
        </p:nvSpPr>
        <p:spPr>
          <a:xfrm>
            <a:off x="1166655" y="4196817"/>
            <a:ext cx="8473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소제목"/>
          <p:cNvSpPr>
            <a:spLocks noGrp="1"/>
          </p:cNvSpPr>
          <p:nvPr>
            <p:ph type="body" sz="quarter" idx="37"/>
          </p:nvPr>
        </p:nvSpPr>
        <p:spPr>
          <a:xfrm>
            <a:off x="1166655" y="4043426"/>
            <a:ext cx="567021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계량 성과지표</a:t>
            </a:r>
          </a:p>
        </p:txBody>
      </p:sp>
      <p:sp>
        <p:nvSpPr>
          <p:cNvPr id="44" name="번호"/>
          <p:cNvSpPr>
            <a:spLocks noGrp="1"/>
          </p:cNvSpPr>
          <p:nvPr>
            <p:ph type="body" sz="quarter" idx="38"/>
          </p:nvPr>
        </p:nvSpPr>
        <p:spPr>
          <a:xfrm>
            <a:off x="536870" y="7184348"/>
            <a:ext cx="191118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■</a:t>
            </a:r>
          </a:p>
        </p:txBody>
      </p:sp>
      <p:sp>
        <p:nvSpPr>
          <p:cNvPr id="45" name="분야 박스"/>
          <p:cNvSpPr/>
          <p:nvPr/>
        </p:nvSpPr>
        <p:spPr>
          <a:xfrm>
            <a:off x="727987" y="7217217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분야 박스"/>
          <p:cNvSpPr>
            <a:spLocks noGrp="1"/>
          </p:cNvSpPr>
          <p:nvPr>
            <p:ph type="body" sz="quarter" idx="39"/>
          </p:nvPr>
        </p:nvSpPr>
        <p:spPr>
          <a:xfrm>
            <a:off x="727987" y="7217217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비계량</a:t>
            </a:r>
          </a:p>
        </p:txBody>
      </p:sp>
      <p:sp>
        <p:nvSpPr>
          <p:cNvPr id="47" name="형광 밑줄"/>
          <p:cNvSpPr/>
          <p:nvPr/>
        </p:nvSpPr>
        <p:spPr>
          <a:xfrm>
            <a:off x="1276424" y="7337739"/>
            <a:ext cx="9790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소제목"/>
          <p:cNvSpPr>
            <a:spLocks noGrp="1"/>
          </p:cNvSpPr>
          <p:nvPr>
            <p:ph type="body" sz="quarter" idx="40"/>
          </p:nvPr>
        </p:nvSpPr>
        <p:spPr>
          <a:xfrm>
            <a:off x="1276424" y="7184348"/>
            <a:ext cx="556044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비계량 성과지표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6 서사 · 추진배경(물관리 여건 | 정부정책) → 추진방향 → 추진과제 3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99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여건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이상기후 양극화로 극한홍수, 극한가뭄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예측적 댐운영 및 저수량 관리 어려움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AI, 물재해 감시위성 등 기후적응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대비, 물관리 인프라 안정성 확보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17478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17478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17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39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39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기술 기반의 과학적 물관리와 인프라 고도화로 안전한 물관리 실현 필요</a:t>
            </a:r>
          </a:p>
        </p:txBody>
      </p:sp>
      <p:sp>
        <p:nvSpPr>
          <p:cNvPr id="24" name="레일"/>
          <p:cNvSpPr/>
          <p:nvPr/>
        </p:nvSpPr>
        <p:spPr>
          <a:xfrm>
            <a:off x="734087" y="2073600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736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2095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095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대응 고도화</a:t>
            </a:r>
          </a:p>
        </p:txBody>
      </p:sp>
      <p:sp>
        <p:nvSpPr>
          <p:cNvPr id="29" name="머리칸"/>
          <p:cNvSpPr/>
          <p:nvPr/>
        </p:nvSpPr>
        <p:spPr>
          <a:xfrm>
            <a:off x="3230348" y="2095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230348" y="2095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 안전성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5113043" y="209551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5113043" y="209551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선도 혁신기술 확산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365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AI, DT 기반 홍수대응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이상기후 대응 가뭄 극복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3365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 안전관리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구조개선 등 댐 안전 강화</a:t>
            </a:r>
          </a:p>
        </p:txBody>
      </p:sp>
      <p:cxnSp>
        <p:nvCxnSpPr>
          <p:cNvPr id="35" name="Connector 20"/>
          <p:cNvCxnSpPr/>
          <p:nvPr/>
        </p:nvCxnSpPr>
        <p:spPr>
          <a:xfrm>
            <a:off x="3230348" y="23694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3365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DT성과 글로벌·민간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물재해 감시 위성분야 선도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5113043" y="23694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7 서사 · 홍수 대응체계 고도화와 댐 운영 제약요건 영구해소(홍수대응 준비 → 체계 고도화 3단 → 제약요건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불확실한 기후 여건 맞춤형 댐 운영으로 물재해 Zero 달성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91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홍수 대응체계 고도화와 댐 운영 제약요건 영구해소로 홍수대비 완료</a:t>
            </a:r>
          </a:p>
        </p:txBody>
      </p:sp>
      <p:sp>
        <p:nvSpPr>
          <p:cNvPr id="17" name="태그칩"/>
          <p:cNvSpPr/>
          <p:nvPr/>
        </p:nvSpPr>
        <p:spPr>
          <a:xfrm>
            <a:off x="4626623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626623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7283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 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5626174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여건조사: ’25.2~6 全댐 운영여건 조사를 통해 댐 운영시 영향을 받는 1,771개소 점검 → 방류시 하류 침수위험 128개소, 시민 고립 우려지역 81개소 등 포함 DT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이상홍수: 기상예보와 다른 이상 극한홍수 대비 모의훈련 실시(2회, 200년 빈도 이상) → 극한홍수 상황시 DT 활용 등 실제 상황과 동일한 의사결정 과정을 통한 대응역량 강화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2207739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2207739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220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배너"/>
          <p:cNvSpPr/>
          <p:nvPr/>
        </p:nvSpPr>
        <p:spPr>
          <a:xfrm>
            <a:off x="1161391" y="2229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7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2229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피해는 예보를 초과한 집중호우로 대다수 발생, 스마트기술 활용 모니터링 체계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1161391" y="24652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4652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 AI 활용 극한강우 예측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24652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4652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분석 방류 의사결정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24652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4652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감시 하류 모니터링 강화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24652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24652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71721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기상청 정보 기반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AI 활용 기상 예측(실황기반 최적모델 선별)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71721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단일조건(강우×방류)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최대 48개(강우8×방류6) 동시 시뮬레이션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27500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71721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기존: 하천 CCTV 46개 기반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국가 CCTV 1,800개 추가 연계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27500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341739"/>
            <a:ext cx="580696" cy="8492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341739"/>
            <a:ext cx="580696" cy="849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안동댐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제약요건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영구해소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341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363652"/>
            <a:ext cx="562617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배경: ’76년 안동댐 준공 이후 댐 국유지 내 47가구 불법 점유 중으로, 침수 우려로 비워둔 댐 용량 활용 불가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추진: ’24년 국유재산 관리 목적 행정대집행 권한 확보에도, 1:1 이주 상담·설계, 정부지원 안내 등 맞춤형 이주 설득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해결: 주민 100% 이주로 안동댐 물그릇 100% 활용(물그릇 1.3억톤 회복, 운문댐 1개 규모의 이·치수 물량 확보)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8 서사 · AI·DT 활용 이상기후 맞춤형 홍수 대응(홍수기 중 · 홍수기 후: 운영여건 | 대응실적 + 사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5649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AI, DT를 활용한 이상기후 맞춤형 홍수 대응으로 하류 피해 예방</a:t>
            </a:r>
          </a:p>
        </p:txBody>
      </p:sp>
      <p:sp>
        <p:nvSpPr>
          <p:cNvPr id="11" name="태그칩"/>
          <p:cNvSpPr/>
          <p:nvPr/>
        </p:nvSpPr>
        <p:spPr>
          <a:xfrm>
            <a:off x="457823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7823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2935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2935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302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97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97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6~9월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中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운영: AI 기반 극한호우 가능성까지 고려, DT 분석에 기반한 최적 의사결정 시행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운영여건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3366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3366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대응실적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77739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지역·시기별 이상기후에 따른 극한홍수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예년比 7월 남강 2배, 8~9월 섬진강 1.3배 강우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77739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극한호우 대응, 사전방류·홍수저류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활용한 댐 하류지역 방류 영향 분석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6106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0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사례1 7.17~19 남강댐 역대 최대 홍수: 강우 3일간 518㎜(역대 1위), 유입 16,951㎥/초(댐 설계기준 1.6배 초과)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사례2 7.16~20 합천댐 하류 집중 호우: 강우 4일간 댐하류 500㎜↑(댐상류의 약 2배), 하천 공사현장(7개소) 등 침수 피해 우려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010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후속강우 예측, 신속 수위저하(22시간 동안 1.2억㎥ 용량 확보), DT 분석, 최적시기 방류로 하류피해 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극한호우까지 대응 가능한 조절용량 확보(홍수기 전 4.8억㎥, 설계용량의 6배), DT 하류 모니터링, 2일간 전량 홍수 저류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4171696" y="2043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3073304"/>
            <a:ext cx="580696" cy="997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3304"/>
            <a:ext cx="580696" cy="997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홍수기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後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3073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배너"/>
          <p:cNvSpPr/>
          <p:nvPr/>
        </p:nvSpPr>
        <p:spPr>
          <a:xfrm>
            <a:off x="1347652" y="3095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095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운영: 8~9월 지역별 강우 편차로 저수상황 상이, 댐별 맞춤형 홍수대응 실시</a:t>
            </a:r>
          </a:p>
        </p:txBody>
      </p:sp>
      <p:sp>
        <p:nvSpPr>
          <p:cNvPr id="35" name="머리칸"/>
          <p:cNvSpPr/>
          <p:nvPr/>
        </p:nvSpPr>
        <p:spPr>
          <a:xfrm>
            <a:off x="1347652" y="3330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3330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운영여건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3330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3330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대응실적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71826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태풍 없이 10월 역대 1위 강우 발생(다목적댐 164㎜, 예년의 3배)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571826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댐-하천 상황 고려, 홍수 저류 위주 대응 → 다목적댐 중 남강·횡성댐 2개소만 방류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4171696" y="3604696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4174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4212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4212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4190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하류 안전까지 물재해 Zero 기여, 이상기후에도 물재해 대응성과 인정(합천군 감사패)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29 서사 · 선제적 대응, 비상체계 가동으로 가뭄 극복(강우 부족 · 짧은 장마 · 역대 강우: 운영여건 | 대응실적 + 특별실적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선제적 대응, 비상체계 가동으로 가뭄 극복 및 재난상황 적극 지원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3158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197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197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1~5월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강우 부족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운영여건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대응실적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이른 봄가뭄으로 모든 댐 강우 부족 발생(예년比 다목적댐 0.9배, 용수댐 0.8배 강우)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댐간 연계, 하천유지용수 감축 등 선제 대응 → 보령 등 3개 댐 0.4억㎥ 비축으로 정상화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특별실적: 국가재난 상황에서 댐 저수량을 활용, 경북 산불 진화 총력 대응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065304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현안사항: ’25.3 봄가뭄 영향, 역대 최악의 초대형 산불 발생 → 안동하천 취수를 통해 대량의 소방용수, 긴급 공급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사상최초: 안동댐, 성덕댐 방류로 하류 하천 인근지역에 소방용수 대량 공급(5일간 26백만㎥, 전국민 2일 사용량)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골든타임: ‘인지-협의-통보(SMS)-방류’까지 90분(통상 7시간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추진성과: 재난시 댐 역할 재조명, 긴급구조지원 최우수기관(소방청장)</a:t>
            </a:r>
          </a:p>
        </p:txBody>
      </p:sp>
      <p:sp>
        <p:nvSpPr>
          <p:cNvPr id="28" name="레일"/>
          <p:cNvSpPr/>
          <p:nvPr/>
        </p:nvSpPr>
        <p:spPr>
          <a:xfrm>
            <a:off x="547826" y="3128087"/>
            <a:ext cx="580696" cy="575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312808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6~9월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짧은 장마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312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3150000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남부지방 역대 2위 짧은 장마(13일)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경북·영동 중심 강우 부족 심화(예년比 안동댐 0.6배, 광동댐 0.4배 강우)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3150000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비상대책본부 가동, 수질개선용수까지 감축 → 안동·임하·광동댐 0.7억㎥ 댐용수 비축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비상대책 시행에도 안동·임하댐 가뭄 주의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3182870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3719739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3719739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강우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3719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741652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태풍 없이 10월 역대 1위 강우 발생(다목적댐 164㎜, 예년의 3배)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741652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활용 물그릇 채우기(85 → 93, 8억㎥ 증) → 全댐 가뭄 정상화 및 차년도 용수 확보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985435" y="3774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핵심성과 박스"/>
          <p:cNvSpPr/>
          <p:nvPr/>
        </p:nvSpPr>
        <p:spPr>
          <a:xfrm>
            <a:off x="536870" y="436351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440186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40186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799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8억㎥ 강우 비축, 1.1억㎥ 댐용수 비축(댐간 연계 등)으로 안정적 용수공급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30 서사 · 차세대 댐 시설관리 시스템(추진배경 → 스마트댐 안전관리 로드맵 → 추진내용 → 추진성과 3칸 → 대외인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 기술로 관리하고 성능개선으로 완성하는 국가 댐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2627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댐 시설관리에 필요한 모든 정보와 기능을 융합한 차세대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84801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4801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29036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정책: 기후변화 대비, 댐 안전성 및 재해 대응력 강화로 안정적 국민 생활 기반 마련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노후화: K-water 관리댐 노후화(54%, 30년 이상), 최상의 성능 유지 및 안전관리 중요성 증대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31165"/>
            <a:ext cx="580696" cy="662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29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1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</a:t>
            </a:r>
          </a:p>
        </p:txBody>
      </p:sp>
      <p:sp>
        <p:nvSpPr>
          <p:cNvPr id="33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205078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도입: 스마트 댐 안전관리 시범도입 및 확대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205078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시행: 全 국가 댐(37개소) 구축 완료 및 시스템 고도화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230348" y="22379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205078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확대: 스마트 댐 관리 표준모델 정립 및 국내·외 확대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5113043" y="22379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2610470"/>
            <a:ext cx="580696" cy="134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610470"/>
            <a:ext cx="580696" cy="134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42" name="배너"/>
          <p:cNvSpPr/>
          <p:nvPr/>
        </p:nvSpPr>
        <p:spPr>
          <a:xfrm>
            <a:off x="1347652" y="26323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26323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스마트 기술 활용, 댐 시설물을 실시간 감시·분석하여 선제적 위험관리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67948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~’24년 요소기술 적용으로 인력중심 한계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모니터링: 열화상카메라(누수), GPS(변위)를 활용하여 실시간 시설안전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드론: 항공·수중 드론을 활용하여 접근이 어려운 사각지대 점검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67948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AI 분석·진단으로 관리효율성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개선: 누수, 변위 등의 오·결측 자동 검출 → 계측자료 실시간 산출, 정확성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신규: 드론 촬영 결과물을 AI 분석·진단 → 시설물 결함 신속 검출, 판정정확도 향상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171696" y="2900817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347652" y="3728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728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적용: 지진시 자동 경보, 드론 점검 등 스마트 기술 활용 실제훈련으로 재난 대응력 입증</a:t>
            </a:r>
          </a:p>
        </p:txBody>
      </p:sp>
      <p:sp>
        <p:nvSpPr>
          <p:cNvPr id="49" name="레일"/>
          <p:cNvSpPr/>
          <p:nvPr/>
        </p:nvSpPr>
        <p:spPr>
          <a:xfrm>
            <a:off x="734087" y="3969078"/>
            <a:ext cx="580696" cy="408209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969078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990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정확성: 데이터 결측률 감소(32% → 3%)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990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효율성: 점검 투입시간 감소(육상 90%, 수중 67%)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3230348" y="4023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990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경제성: 점검 투입비용 감소(육상 95%, 수중 85%)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5113043" y="4023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주요성과 박스"/>
          <p:cNvSpPr/>
          <p:nvPr/>
        </p:nvSpPr>
        <p:spPr>
          <a:xfrm>
            <a:off x="723130" y="4470417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주요성과 라벨"/>
          <p:cNvSpPr/>
          <p:nvPr/>
        </p:nvSpPr>
        <p:spPr>
          <a:xfrm>
            <a:off x="756000" y="4503287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4503287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대외인정</a:t>
            </a:r>
          </a:p>
        </p:txBody>
      </p:sp>
      <p:sp>
        <p:nvSpPr>
          <p:cNvPr id="59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4486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행안부 주관, 全국가기관이 참여하는 안전한국훈련, ‘우수’ 등급 달성(335개 기관 참여)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1 서사 · 재난 대비 대규모 성능개선부터 선제적 사고예방까지 댐 안전 강화(구조적 개선 | 3대 취약시설 → 추진계획 → 대외인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5942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재난 대비 대규모 성능개선부터 선제적 사고예방까지 댐 안전 강화</a:t>
            </a:r>
          </a:p>
        </p:txBody>
      </p:sp>
      <p:sp>
        <p:nvSpPr>
          <p:cNvPr id="12" name="태그칩"/>
          <p:cNvSpPr/>
          <p:nvPr/>
        </p:nvSpPr>
        <p:spPr>
          <a:xfrm>
            <a:off x="44949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949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4602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4602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3897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지진, 노후화 위험 증가로 노후댐 내진보강 등 댐 본체 구조적 개선 추진 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한발 더 나아가 댐 운영시 취약시설 등을 발굴·개선하여 댐 안전 강화 필요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492904"/>
            <a:ext cx="580696" cy="1199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290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개선  댐 안전성 강화사업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 댐사고 3대 취약시설 개선사업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5861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합천·임하·충주댐 3개 댐 기본계획 고시(全댐 24개 고시 完), 13개 댐 설계·공사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대곡·달방·횡성댐 3개 댐 준공(누적 11개)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강화된 내진설계기준 만족, 비상시 신속한 댐 수위저하(上10일, 下50일 이내 방류)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5861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全댐 전수조사를 통해 반복 사고유형, 위험지역 등 3대 취약요인 포착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高위험 10개 댐 안전 인프라 개선설계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취약사면(낙석방지망, 옹벽) · 접근제약(점검로, 장비진입로) · 배수체계(배수측구, 침사지)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788730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709078"/>
            <a:ext cx="580696" cy="131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09078"/>
            <a:ext cx="580696" cy="131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73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73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73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73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73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73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~’30년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73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73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82991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용수댐 8개 준공(3,441억원)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82991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 1개, 용수댐 10개 준공(4,456억원, 누계)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30158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82991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全댐 24개 준공(9,113억원, 누계)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30158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3382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382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’25년~</a:t>
            </a:r>
          </a:p>
        </p:txBody>
      </p:sp>
      <p:sp>
        <p:nvSpPr>
          <p:cNvPr id="49" name="단계"/>
          <p:cNvSpPr/>
          <p:nvPr/>
        </p:nvSpPr>
        <p:spPr>
          <a:xfrm>
            <a:off x="3044087" y="3382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3044087" y="3382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’26년~</a:t>
            </a:r>
          </a:p>
        </p:txBody>
      </p:sp>
      <p:sp>
        <p:nvSpPr>
          <p:cNvPr id="51" name="단계"/>
          <p:cNvSpPr/>
          <p:nvPr/>
        </p:nvSpPr>
        <p:spPr>
          <a:xfrm>
            <a:off x="4926783" y="3382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4926783" y="3382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3044086" y="3382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26782" y="3382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634904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다목적댐(10개)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634904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다목적댐(+10개), 홍수댐(3개)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044087" y="3667774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634904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용수댐(14개)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4926783" y="3667774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40402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0402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40402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06220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국가중요시설 안전 확보, 재난 대비 역량 강화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062209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사각지대 해소로 근로자·시민 안전 확보</a:t>
            </a:r>
          </a:p>
        </p:txBody>
      </p:sp>
      <p:cxnSp>
        <p:nvCxnSpPr>
          <p:cNvPr id="65" name="Connector 47"/>
          <p:cNvCxnSpPr/>
          <p:nvPr/>
        </p:nvCxnSpPr>
        <p:spPr>
          <a:xfrm>
            <a:off x="3985435" y="4095078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주요성과 박스"/>
          <p:cNvSpPr/>
          <p:nvPr/>
        </p:nvSpPr>
        <p:spPr>
          <a:xfrm>
            <a:off x="536870" y="4518313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주요성과 라벨"/>
          <p:cNvSpPr/>
          <p:nvPr/>
        </p:nvSpPr>
        <p:spPr>
          <a:xfrm>
            <a:off x="569739" y="4551183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주요성과 라벨"/>
          <p:cNvSpPr>
            <a:spLocks noGrp="1"/>
          </p:cNvSpPr>
          <p:nvPr>
            <p:ph type="body" sz="quarter" idx="47"/>
          </p:nvPr>
        </p:nvSpPr>
        <p:spPr>
          <a:xfrm>
            <a:off x="569739" y="4551183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대외인정</a:t>
            </a:r>
          </a:p>
        </p:txBody>
      </p:sp>
      <p:sp>
        <p:nvSpPr>
          <p:cNvPr id="69" name="주요성과 문구"/>
          <p:cNvSpPr>
            <a:spLocks noGrp="1"/>
          </p:cNvSpPr>
          <p:nvPr>
            <p:ph type="body" sz="quarter" idx="48"/>
          </p:nvPr>
        </p:nvSpPr>
        <p:spPr>
          <a:xfrm>
            <a:off x="1314783" y="45347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행안부 주관 ‘국가핵심기반 재난관리평가’ 우수기관 선정, 국무총리표창 수상(157개 기관 대상)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32 서사 · 디지털트윈 기술 노하우의 전방위 확산(혁신과정 3단계 → 그간의 성과 → 고도화 및 글로벌 확산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수혜국에서, 이제는 세계를 주도하는 K-water 물관리 기술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91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수요에 대응하며 진화한 디지털트윈 기술 노하우의 전방위 확산</a:t>
            </a:r>
          </a:p>
        </p:txBody>
      </p:sp>
      <p:sp>
        <p:nvSpPr>
          <p:cNvPr id="16" name="태그칩"/>
          <p:cNvSpPr/>
          <p:nvPr/>
        </p:nvSpPr>
        <p:spPr>
          <a:xfrm>
            <a:off x="48128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128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36400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6400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381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002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002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정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5284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Step1 댐 운영 중심 DT</a:t>
            </a:r>
          </a:p>
        </p:txBody>
      </p:sp>
      <p:sp>
        <p:nvSpPr>
          <p:cNvPr id="25" name="단계"/>
          <p:cNvSpPr/>
          <p:nvPr/>
        </p:nvSpPr>
        <p:spPr>
          <a:xfrm>
            <a:off x="3230348" y="15284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8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Step2 도시분야 확장</a:t>
            </a:r>
          </a:p>
        </p:txBody>
      </p:sp>
      <p:sp>
        <p:nvSpPr>
          <p:cNvPr id="27" name="단계"/>
          <p:cNvSpPr/>
          <p:nvPr/>
        </p:nvSpPr>
        <p:spPr>
          <a:xfrm>
            <a:off x="5113043" y="15284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84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Step3 재난분야로 다각화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230347" y="1528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113043" y="1528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80435"/>
            <a:ext cx="1860783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’20년 대규모 하천범람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실무형 물관리 DT 구축(’21~’23), 플랫폼 통합으로 시너지화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80435"/>
            <a:ext cx="1860783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’22년 수도권 집중호우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도림천 도시침수 DT 구축(’22), 도시침수 DT 요소기술 확보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3230348" y="1813304"/>
            <a:ext cx="0" cy="657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80435"/>
            <a:ext cx="1860783" cy="723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위험자동감지 기술수요(’22년~)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위험자동감지 기술개발(~’25), 세종시 맞춤 DT 구축(’24~’25)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13304"/>
            <a:ext cx="0" cy="657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525478"/>
            <a:ext cx="580696" cy="646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525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2525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배너"/>
          <p:cNvSpPr/>
          <p:nvPr/>
        </p:nvSpPr>
        <p:spPr>
          <a:xfrm>
            <a:off x="1347652" y="2547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0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547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Step2 모델 수출: 사우디 제다市 등 DT 구축사업에 네이버와 공동참여(’23.11~)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782957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도시홍수: 기후위기 영향, 대도시 극한호우(6시간 동안 연강우 2.3배) 등 홍수 피해 발생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782957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도시특화: 도시홍수 특화 DT 구축(실시간 모니터링-도시홍수 분석-물순환 분석)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4171696" y="2815826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734087" y="3188348"/>
            <a:ext cx="580696" cy="2534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188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6" name="배너"/>
          <p:cNvSpPr/>
          <p:nvPr/>
        </p:nvSpPr>
        <p:spPr>
          <a:xfrm>
            <a:off x="1347652" y="3210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210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물관리를 가장 잘 아는 조직이 만든, 전 세계에서 가장 많이 실증된 DT로 맞춤형 솔루션 제시</a:t>
            </a:r>
          </a:p>
        </p:txBody>
      </p:sp>
      <p:sp>
        <p:nvSpPr>
          <p:cNvPr id="48" name="레일"/>
          <p:cNvSpPr/>
          <p:nvPr/>
        </p:nvSpPr>
        <p:spPr>
          <a:xfrm>
            <a:off x="734087" y="3458191"/>
            <a:ext cx="580696" cy="1396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458191"/>
            <a:ext cx="580696" cy="139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34581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48010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Step2 고도화 기후리스크 평가 모델: 기업수요 — 기업의 사업장 단위, 물재해 위험도 정량화 필요 / 핀셋분석 — DT+3D 공간정보 결합, 홍수위를 ㎝단위까지 예측 → 리스크 평가, 민간 확대(’26년~)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48010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Step2·3 수출 일본 나가이市: 방재약화 — 전문인력 감소, 2D 정보 활용으로 재난대응 효율 저하 / 역량강화 — 실시간 AI CCTV 감지 등 직관적 3D 재난관리시스템 구축 → 과거 기술 수혜국에서 선진 물관리 DT 기술 공여국으로 전환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230348" y="3512974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48010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Step1~3 수출 미국 산타클라라: 독립시스템 — 분산형 시스템으로 신속·효율적 의사결정 한계 / 통합관리 — 물관리 DT 플랫폼 기반 K-water형 통합물관리 실현</a:t>
            </a:r>
          </a:p>
        </p:txBody>
      </p:sp>
      <p:cxnSp>
        <p:nvCxnSpPr>
          <p:cNvPr id="55" name="Connector 38"/>
          <p:cNvCxnSpPr/>
          <p:nvPr/>
        </p:nvCxnSpPr>
        <p:spPr>
          <a:xfrm>
            <a:off x="5113043" y="3512974"/>
            <a:ext cx="0" cy="130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3 서사 · 물재해 감시 전용위성 혁신기술 강화 및 글로벌 기후테크 선도(추진배경 → 로드맵 3단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5959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물재해 감시 전용위성 혁신기술 강화 및 글로벌 기후테크 선도</a:t>
            </a:r>
          </a:p>
        </p:txBody>
      </p:sp>
      <p:sp>
        <p:nvSpPr>
          <p:cNvPr id="12" name="태그칩"/>
          <p:cNvSpPr/>
          <p:nvPr/>
        </p:nvSpPr>
        <p:spPr>
          <a:xfrm>
            <a:off x="42314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314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7748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동향: 미계측 지역에 대한 기후변화 및 물재해 감시 전용위성 관측 수요 급증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기술을 DT 등 물관리 경험과 접목, 글로벌 물재해 감시 위성분야 주도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929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2904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~’25 위성 기술·인프라 구축</a:t>
            </a:r>
          </a:p>
        </p:txBody>
      </p:sp>
      <p:sp>
        <p:nvSpPr>
          <p:cNvPr id="25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~’27 전용위성 발사</a:t>
            </a:r>
          </a:p>
        </p:txBody>
      </p:sp>
      <p:sp>
        <p:nvSpPr>
          <p:cNvPr id="27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~’30 플랫폼 운영·기술 수출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68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국가: 수자원위성 운영센터 신축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초소형 군집위성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수자원위성 품질최적화 기술 및 활용기술 개발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7668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수자원 전용 초소형 위성 발사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산출물 분석·활용기술 성능검증 및 고도화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044087" y="17996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7668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국가: 수자원 위성 발사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초소형 위성 군집화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R&amp;D: 위성 플랫폼 시범운영 및 관측·운영기술 해외수출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4926783" y="17996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250090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00904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500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161391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수자원 전용위성 추진</a:t>
            </a:r>
          </a:p>
        </p:txBody>
      </p:sp>
      <p:sp>
        <p:nvSpPr>
          <p:cNvPr id="41" name="머리칸"/>
          <p:cNvSpPr/>
          <p:nvPr/>
        </p:nvSpPr>
        <p:spPr>
          <a:xfrm>
            <a:off x="3044087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위성 기술 현업·재해분석 적용</a:t>
            </a:r>
          </a:p>
        </p:txBody>
      </p:sp>
      <p:sp>
        <p:nvSpPr>
          <p:cNvPr id="43" name="머리칸"/>
          <p:cNvSpPr/>
          <p:nvPr/>
        </p:nvSpPr>
        <p:spPr>
          <a:xfrm>
            <a:off x="4926783" y="2522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522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기후테크 R&amp;D 주도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7638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국가: 수자원위성 운용을 위한 센터 준공(’25.8), 국가 수자원 위성(’28년 발사)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수자원 전용 초소형 군집위성 개발 기획(’25.6)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7638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민간위성 활용: 남북접경 영상 적기 제공, 현업부서 의사결정 지원(’24년 327회 → ’25년 350회)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국내·외 홍수 및 가뭄 분석 기술 개발(16종, 전년比 3개↑)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044087" y="27967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7638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기반 글로벌 기후테크 R&amp;D 주도: 한·EU 글로벌 컨소시엄(7개국 18개 기관) 구성(’25.6)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호라이즌 유럽 공동 연구 제안(’25.9)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4926783" y="27967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핵심성과 박스"/>
          <p:cNvSpPr/>
          <p:nvPr/>
        </p:nvSpPr>
        <p:spPr>
          <a:xfrm>
            <a:off x="536870" y="3914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핵심성과 라벨"/>
          <p:cNvSpPr/>
          <p:nvPr/>
        </p:nvSpPr>
        <p:spPr>
          <a:xfrm>
            <a:off x="569739" y="3952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2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3952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3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3930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NASA(글로벌 No.1) 대비 위성 활용기술 82% 수준 달성, 호라이즌 유럽 R&amp;D 주도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34 서사 · 추진배경(물관리 여건 | 정부정책) → 추진방향 → 추진과제 4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18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여건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 중인 댐 91%가 상수원(전국 상수원의 76.2%)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목소리: 먹는물 만족도 향상을 위한 정책 1순위는 ‘상수원 수질관리(27.7%)’(’24 기후부 조사)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쾌적한 물환경 구현, 생물다양성 회복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패러다임: 물관리 일원화(’18) 이후, 수량+수질+수생태 통합관리 정책 강화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6270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64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상수원 안전을 위한 과학적 수질 관리와 수생태 복원을 통한 건강한 물환경 조성 필요</a:t>
            </a:r>
          </a:p>
        </p:txBody>
      </p:sp>
      <p:sp>
        <p:nvSpPr>
          <p:cNvPr id="24" name="레일"/>
          <p:cNvSpPr/>
          <p:nvPr/>
        </p:nvSpPr>
        <p:spPr>
          <a:xfrm>
            <a:off x="734087" y="2183165"/>
            <a:ext cx="580696" cy="765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83165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183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2205078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205078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상시관리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205078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205078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오염발생·유입 저감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205078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205078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녹조 등 수질관리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205078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205078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수생태 개선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6122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통합관리시스템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오염원 관리기술 고도화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46122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농·축산 오염원 저감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사업 추진</a:t>
            </a:r>
          </a:p>
        </p:txBody>
      </p:sp>
      <p:cxnSp>
        <p:nvCxnSpPr>
          <p:cNvPr id="37" name="Connector 21"/>
          <p:cNvCxnSpPr/>
          <p:nvPr/>
        </p:nvCxnSpPr>
        <p:spPr>
          <a:xfrm>
            <a:off x="2759674" y="2478991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46122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녹조제거 新기술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물환경설비 개선·확대</a:t>
            </a:r>
          </a:p>
        </p:txBody>
      </p:sp>
      <p:cxnSp>
        <p:nvCxnSpPr>
          <p:cNvPr id="39" name="Connector 23"/>
          <p:cNvCxnSpPr/>
          <p:nvPr/>
        </p:nvCxnSpPr>
        <p:spPr>
          <a:xfrm>
            <a:off x="4171696" y="2478991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46122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생태복원 가치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강의 연속성 회복 추진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5583717" y="2478991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5 서사 · 스마트 기술 적용 오염원 통합관리체계 구축(추진배경 → 그림 배너 → 기존 · 개선 3칸 → 추진성과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12622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663094" y="799826"/>
            <a:ext cx="9510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663094" y="799826"/>
            <a:ext cx="9510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상시관리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79877" y="920348"/>
            <a:ext cx="256854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79877" y="766957"/>
            <a:ext cx="515699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적용 오염원 통합관리체계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3470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3470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48981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48981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265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777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중심, 분산된 오염원 관리의 한계로 첨단기술 기반 감시체계 전환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47652"/>
            <a:ext cx="4514087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유역 오염원 감시부터 저감까지 일원화한 통합관리체계 구축</a:t>
            </a:r>
          </a:p>
        </p:txBody>
      </p:sp>
      <p:sp>
        <p:nvSpPr>
          <p:cNvPr id="24" name="사진 칸"/>
          <p:cNvSpPr/>
          <p:nvPr/>
        </p:nvSpPr>
        <p:spPr>
          <a:xfrm>
            <a:off x="5730261" y="1353130"/>
            <a:ext cx="1079217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5" name="사진 칸"/>
          <p:cNvSpPr>
            <a:spLocks noGrp="1"/>
          </p:cNvSpPr>
          <p:nvPr>
            <p:ph type="body" sz="quarter" idx="28"/>
          </p:nvPr>
        </p:nvSpPr>
        <p:spPr>
          <a:xfrm>
            <a:off x="5730261" y="1353130"/>
            <a:ext cx="1079217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통합관리체계 그림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862609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62609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현장·인력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물환경관리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862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884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84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감시: 현장 중심 국지적 감시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884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84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관리: 인력 기반 수동 관리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884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84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시설운영: 기관별 운영센터 운영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25565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물리적·시간적 비용 과다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全유역 오염원 감시 곤란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25565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조회·선별시간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선별 작업 中 휴먼에러 발생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2158435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25565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오염저감시설 연계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 경계의 사각지대 발생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2158435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750087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750087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물환경관리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2750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머리칸"/>
          <p:cNvSpPr/>
          <p:nvPr/>
        </p:nvSpPr>
        <p:spPr>
          <a:xfrm>
            <a:off x="1161391" y="2772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772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위성·드론 全유역 감시</a:t>
            </a:r>
          </a:p>
        </p:txBody>
      </p:sp>
      <p:sp>
        <p:nvSpPr>
          <p:cNvPr id="45" name="머리칸"/>
          <p:cNvSpPr/>
          <p:nvPr/>
        </p:nvSpPr>
        <p:spPr>
          <a:xfrm>
            <a:off x="3044087" y="2772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3044087" y="2772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오염원 데이터 자동 관리</a:t>
            </a:r>
          </a:p>
        </p:txBody>
      </p:sp>
      <p:sp>
        <p:nvSpPr>
          <p:cNvPr id="47" name="머리칸"/>
          <p:cNvSpPr/>
          <p:nvPr/>
        </p:nvSpPr>
        <p:spPr>
          <a:xfrm>
            <a:off x="4926783" y="2772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9"/>
          </p:nvPr>
        </p:nvSpPr>
        <p:spPr>
          <a:xfrm>
            <a:off x="4926783" y="2772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오염저감시설 통합운영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13043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위성 활용, 토지 변화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야적 퇴비 등 식별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드론 활용, 정밀 감시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13043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RPA(로봇 프로세스 자동화) 활용 선별자료 자동 생성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 선별 Tool 개발·적용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044087" y="3045913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13043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오염저감시설 통합운영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오염원 감시부터 처리까지 全과정 통합관리(연계운영)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오염유입 예측시 선제 가동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4926783" y="3045913"/>
            <a:ext cx="0" cy="602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536870" y="3790957"/>
            <a:ext cx="6300000" cy="91721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569739" y="3823826"/>
            <a:ext cx="657391" cy="85147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569739" y="3823826"/>
            <a:ext cx="657391" cy="85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314783" y="3812870"/>
            <a:ext cx="5456348" cy="873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국내 최초 댐 상류 유역 오염원 통합관리시스템 구축(’25.12, 기후부·경상북도 등 5개 기관 MOU)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데이터 관리 소요시간 2시간 → 10분(△92%), 수동 관리 대비 휴먼에러 방지(5.4% → 0%)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기후에너지환경부 환경데이터 분석·활용 공모전 ‘대상’ 수상(’25.11)</a:t>
            </a:r>
          </a:p>
        </p:txBody>
      </p:sp>
      <p:sp>
        <p:nvSpPr>
          <p:cNvPr id="58" name="주요성과 박스"/>
          <p:cNvSpPr/>
          <p:nvPr/>
        </p:nvSpPr>
        <p:spPr>
          <a:xfrm>
            <a:off x="536870" y="4784870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주요성과 라벨"/>
          <p:cNvSpPr/>
          <p:nvPr/>
        </p:nvSpPr>
        <p:spPr>
          <a:xfrm>
            <a:off x="569739" y="4817739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817739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61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8013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오염원 변화 인지 범위 확대(우려 지점 → 全유역) 및 조기 대응 역량 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36 서사 · 발생원 맞춤형 협력 확대(추진배경 → 추진계획 2묶음 → 추진내용 + 그림 → 추진성과 두 칸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14780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870938" y="810783"/>
            <a:ext cx="109665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870938" y="810783"/>
            <a:ext cx="109665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오염발생·유입 저감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2033335" y="931304"/>
            <a:ext cx="313055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2033335" y="777913"/>
            <a:ext cx="498979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민간 협력 강화로 실행하는 주민체감 오염원 저감사업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139478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172348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172348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발생원 관리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749896" y="1292870"/>
            <a:ext cx="336765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5"/>
          </p:nvPr>
        </p:nvSpPr>
        <p:spPr>
          <a:xfrm>
            <a:off x="1749896" y="1139478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댐 유역 오염 발생 최소화를 위한 발생원 맞춤형 협력 확대</a:t>
            </a:r>
          </a:p>
        </p:txBody>
      </p:sp>
      <p:sp>
        <p:nvSpPr>
          <p:cNvPr id="19" name="태그칩"/>
          <p:cNvSpPr/>
          <p:nvPr/>
        </p:nvSpPr>
        <p:spPr>
          <a:xfrm>
            <a:off x="5216163" y="1172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6"/>
          </p:nvPr>
        </p:nvSpPr>
        <p:spPr>
          <a:xfrm>
            <a:off x="5216163" y="1172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24348"/>
            <a:ext cx="6300000" cy="288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440783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440783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62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상수원 수질 문제를 야기하는 오염원의 89% 이상은 농·축산업이 차지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62696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농·축산 오염원 저감 실효성 확보를 위해 주민(민간) 참여 필요</a:t>
            </a:r>
          </a:p>
        </p:txBody>
      </p:sp>
      <p:cxnSp>
        <p:nvCxnSpPr>
          <p:cNvPr id="26" name="Connector 16"/>
          <p:cNvCxnSpPr/>
          <p:nvPr/>
        </p:nvCxnSpPr>
        <p:spPr>
          <a:xfrm>
            <a:off x="4171696" y="1495565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865426"/>
            <a:ext cx="580696" cy="12135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65426"/>
            <a:ext cx="580696" cy="1213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8654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887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887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887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887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’25~’27년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887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887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’28년~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887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887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13933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축분 고체연료 사업모델 개발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13933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시범사업(운영 및 효과 검증)</a:t>
            </a:r>
          </a:p>
        </p:txBody>
      </p:sp>
      <p:cxnSp>
        <p:nvCxnSpPr>
          <p:cNvPr id="40" name="Connector 26"/>
          <p:cNvCxnSpPr/>
          <p:nvPr/>
        </p:nvCxnSpPr>
        <p:spPr>
          <a:xfrm>
            <a:off x="3230348" y="217220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13933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본사업 및 全댐 확대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5113043" y="217220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단계"/>
          <p:cNvSpPr/>
          <p:nvPr/>
        </p:nvSpPr>
        <p:spPr>
          <a:xfrm>
            <a:off x="1347652" y="24927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4927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</a:t>
            </a:r>
          </a:p>
        </p:txBody>
      </p:sp>
      <p:sp>
        <p:nvSpPr>
          <p:cNvPr id="45" name="단계"/>
          <p:cNvSpPr/>
          <p:nvPr/>
        </p:nvSpPr>
        <p:spPr>
          <a:xfrm>
            <a:off x="3230348" y="24927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4927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7" name="단계"/>
          <p:cNvSpPr/>
          <p:nvPr/>
        </p:nvSpPr>
        <p:spPr>
          <a:xfrm>
            <a:off x="5113043" y="24927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4927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3230347" y="24927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113043" y="24927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744765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댐상류 보급(논, 밭, 과수원)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2744765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 댐상류 보급(시설재배단지)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230348" y="2777635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2744765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댐상류 보급(고랭지 밭 등)</a:t>
            </a:r>
          </a:p>
        </p:txBody>
      </p:sp>
      <p:cxnSp>
        <p:nvCxnSpPr>
          <p:cNvPr id="55" name="Connector 38"/>
          <p:cNvCxnSpPr/>
          <p:nvPr/>
        </p:nvCxnSpPr>
        <p:spPr>
          <a:xfrm>
            <a:off x="5113043" y="2777635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30953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0953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30953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머리칸"/>
          <p:cNvSpPr/>
          <p:nvPr/>
        </p:nvSpPr>
        <p:spPr>
          <a:xfrm>
            <a:off x="1347652" y="31172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31172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영주댐 가축분뇨 고체연료화 사업</a:t>
            </a:r>
          </a:p>
        </p:txBody>
      </p:sp>
      <p:sp>
        <p:nvSpPr>
          <p:cNvPr id="61" name="머리칸"/>
          <p:cNvSpPr/>
          <p:nvPr/>
        </p:nvSpPr>
        <p:spPr>
          <a:xfrm>
            <a:off x="4171696" y="31172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31172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상류 주민참여 농업오염 저감 사업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3358330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고체연료화 시설 준공(’25.2) 및 시험운영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영주댐 가축분뇨(우분) 고체연료화 사업 공동 추진 협약(’25.3, 축협·발전사 등 5개 기관) → 민·관·공 협력을 통한 원활한 사업 추진</a:t>
            </a:r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4182652" y="3358330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확대(3 → 5개 댐) 및 기법보급(’25.5~)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주민의견 반영, 방치 영농부산물 집하장 신설 추진(’25.9 계획수립, ’26년 설치) → 상향식(주민의견) 의사결정을 통한 신규대책 도출</a:t>
            </a:r>
          </a:p>
        </p:txBody>
      </p:sp>
      <p:cxnSp>
        <p:nvCxnSpPr>
          <p:cNvPr id="65" name="Connector 45"/>
          <p:cNvCxnSpPr/>
          <p:nvPr/>
        </p:nvCxnSpPr>
        <p:spPr>
          <a:xfrm>
            <a:off x="4171696" y="33912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표 외곽"/>
          <p:cNvSpPr/>
          <p:nvPr/>
        </p:nvSpPr>
        <p:spPr>
          <a:xfrm>
            <a:off x="723130" y="4355374"/>
            <a:ext cx="6300000" cy="44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"/>
          <p:cNvSpPr/>
          <p:nvPr/>
        </p:nvSpPr>
        <p:spPr>
          <a:xfrm>
            <a:off x="734087" y="4371809"/>
            <a:ext cx="580696" cy="410870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8"/>
          </p:nvPr>
        </p:nvSpPr>
        <p:spPr>
          <a:xfrm>
            <a:off x="734087" y="4371809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3937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가축분뇨 고체연료 생산(’25.5~, 40톤)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한우 260마리 분뇨처리(오염원 T-P 9.3kg/일↓)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3937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 댐 상류 주민 협약체결·기법 보급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물꼬장치 등 1,400세대(오염원 T-P 7.9kg/일↓)</a:t>
            </a:r>
          </a:p>
        </p:txBody>
      </p:sp>
      <p:cxnSp>
        <p:nvCxnSpPr>
          <p:cNvPr id="71" name="Connector 50"/>
          <p:cNvCxnSpPr/>
          <p:nvPr/>
        </p:nvCxnSpPr>
        <p:spPr>
          <a:xfrm>
            <a:off x="4171696" y="44265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주요성과 박스"/>
          <p:cNvSpPr/>
          <p:nvPr/>
        </p:nvSpPr>
        <p:spPr>
          <a:xfrm>
            <a:off x="723130" y="4875809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주요성과 라벨"/>
          <p:cNvSpPr/>
          <p:nvPr/>
        </p:nvSpPr>
        <p:spPr>
          <a:xfrm>
            <a:off x="756000" y="4908678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4" name="주요성과 라벨"/>
          <p:cNvSpPr>
            <a:spLocks noGrp="1"/>
          </p:cNvSpPr>
          <p:nvPr>
            <p:ph type="body" sz="quarter" idx="51"/>
          </p:nvPr>
        </p:nvSpPr>
        <p:spPr>
          <a:xfrm>
            <a:off x="756000" y="49086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75" name="주요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4892243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저감 오염배출량(17.2kg/일)은 1.3만명(3개 면 인구)의 배출 오염원을 매일 정화하는 수준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고체연료 생산량(40톤)은 석탄 22톤 대체하는 수준(48tCO₂eq 저감 ≒ 소나무 1.2만 그루)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7 서사 · 국내 최초 정부·K-water·기업간 협력 물 복원사업 성공(추진배경 → 기반 마련 → 사업 추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유입 저감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52580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국내 최초 정부·K-water·기업간 협력으로 물 복원사업 성공</a:t>
            </a:r>
          </a:p>
        </p:txBody>
      </p:sp>
      <p:sp>
        <p:nvSpPr>
          <p:cNvPr id="15" name="태그칩"/>
          <p:cNvSpPr/>
          <p:nvPr/>
        </p:nvSpPr>
        <p:spPr>
          <a:xfrm>
            <a:off x="50782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0782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62939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62939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2917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5626174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기업니즈: 글로벌 ESG 공시에서 물 복원 성과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K-water: 풍부한 수질개선 경험 보유</a:t>
            </a:r>
          </a:p>
        </p:txBody>
      </p:sp>
      <p:sp>
        <p:nvSpPr>
          <p:cNvPr id="23" name="배너"/>
          <p:cNvSpPr/>
          <p:nvPr/>
        </p:nvSpPr>
        <p:spPr>
          <a:xfrm>
            <a:off x="1161391" y="1449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449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 Positive란? 기업이 사용한 물 이상의 물을 수질개선 등을 통해 자연으로 반환(=물 복원)</a:t>
            </a:r>
          </a:p>
        </p:txBody>
      </p:sp>
      <p:sp>
        <p:nvSpPr>
          <p:cNvPr id="25" name="레일"/>
          <p:cNvSpPr/>
          <p:nvPr/>
        </p:nvSpPr>
        <p:spPr>
          <a:xfrm>
            <a:off x="547826" y="1690122"/>
            <a:ext cx="580696" cy="1051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90122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712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712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기업의 물 복원사업 참여 확대를 위한 제도적 기반 마련</a:t>
            </a:r>
          </a:p>
        </p:txBody>
      </p:sp>
      <p:sp>
        <p:nvSpPr>
          <p:cNvPr id="30" name="머리칸"/>
          <p:cNvSpPr/>
          <p:nvPr/>
        </p:nvSpPr>
        <p:spPr>
          <a:xfrm>
            <a:off x="1161391" y="19476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거버넌스  협의체 출범(’25.8)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9476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9476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 물 복원량 산정기준 마련(’25.11)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886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실천을 위한 협의체(K-water 운영기관 선정, 삼성전자, SK 등 8개社 참여)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 사업발굴, 물 이슈 논의 등 협력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88643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민·관·공 협력, 물 복원량 산정 방법과 공식 인증체계 정립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14개 물 복원 활동 및 16개 산정방식 제시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3985435" y="222151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758383"/>
            <a:ext cx="580696" cy="1194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58383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758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780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780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물 복원 선도 습지 개선사업 성공적 완료 및 후속사업 확대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3015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01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’24.11 선도사업 협약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3015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01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장흥댐 습지 개선 완료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3015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015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사업 지속 확대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3015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3015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67861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최초(삼성전자) 장흥댐 습지 개선 협약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67861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퇴적토 제거 등 습지용량 회복(47%↑)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유입比 유출 수질개선 기대(4→2등급)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3044087" y="3300730"/>
            <a:ext cx="0" cy="613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67861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 소양강댐 비점오염 저감사업 추진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4926783" y="3300730"/>
            <a:ext cx="0" cy="613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핵심성과 박스"/>
          <p:cNvSpPr/>
          <p:nvPr/>
        </p:nvSpPr>
        <p:spPr>
          <a:xfrm>
            <a:off x="536870" y="4056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핵심성과 라벨"/>
          <p:cNvSpPr/>
          <p:nvPr/>
        </p:nvSpPr>
        <p:spPr>
          <a:xfrm>
            <a:off x="569739" y="4095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7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4095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8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4073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기업협력型 오염원 유입저감 지속성 확보, 삼성전자 2천명/연 사용분 물 복원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38 서사 · 녹조 등 수질관리(관리여건 → 관리강화 배너 → 4대 대응 2×2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15212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875253" y="810783"/>
            <a:ext cx="98031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875253" y="810783"/>
            <a:ext cx="9803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녹조 등 수질관리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92130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921306" y="777913"/>
            <a:ext cx="510182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안전한 물환경 관리로 역대급 녹조 발생에 완벽 대응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062783"/>
            <a:ext cx="6300000" cy="23777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5626174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최다지점에서 조류경보제 발령(전국 경보지점 운영 29개소 中 14개소 발령)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안전지대였던 주암댐도 15년만에 조류경보 ‘관심’ 발령 등 전국에 걸쳐 녹조 심화</a:t>
            </a:r>
          </a:p>
        </p:txBody>
      </p:sp>
      <p:sp>
        <p:nvSpPr>
          <p:cNvPr id="18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20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심화되는 녹조, 국민이 안심할 수 있도록 관리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2059983"/>
            <a:ext cx="580696" cy="136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59983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2059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2081896"/>
            <a:ext cx="2802130" cy="1336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① 준비 발생저감을 위한 녹조관리 新기술 도입: 기술대전·심층토론회를 통해 산·학·관이 협업한 기술 발굴로 부력수차 등 시범 도입(대청 등 6개소)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③ 독소 안전성 검증을 위한 全주기 모니터링 강화: 상수원부터 생산된 먹는물까지 全주기에 걸쳐 모니터링 확대(2개 유역 15 → 전체 4개 유역 45개소) → 상수원 比 정수장 원수 독소 저감(89%↓), 먹는물 불검출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2081896"/>
            <a:ext cx="2802130" cy="1336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② 대응 녹조발생 패턴 변화, 제거설비 운영 개선: 제거설비 적재적소에 즉시, 확대(28 → 35대) 투입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④ 홍보 다양한 채널을 통한 국민 맞춤형 정보 제공: 全社 보도 표준안 마련, 선제 홍보(14회), 녹조 부정보도 비율 38% → 32%(-6%p)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2114765"/>
            <a:ext cx="0" cy="1270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352815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566504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566504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544591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취수원 집중 녹조 수거량(5,099톤, 1.9배↑), 상수원 比 정수장 유입원수 조류개체수(75%↓)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9 서사 · 국정과제 이행 생태개선 노력(번호 띠 + 가. 친환경 공간 · 나. 강의 연속성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15495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691821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691821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수생태 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89066" y="920348"/>
            <a:ext cx="28802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89066" y="766957"/>
            <a:ext cx="534780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국정과제 이행에 발맞춘 K-water 생태개선 노력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281913"/>
            <a:ext cx="41316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3"/>
          </p:nvPr>
        </p:nvSpPr>
        <p:spPr>
          <a:xfrm>
            <a:off x="536870" y="112852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댐 상류 친환경 공간 확대를 통한 자연성 회복 및 탄소 흡수원 지속 발굴</a:t>
            </a:r>
          </a:p>
        </p:txBody>
      </p:sp>
      <p:sp>
        <p:nvSpPr>
          <p:cNvPr id="17" name="태그칩"/>
          <p:cNvSpPr/>
          <p:nvPr/>
        </p:nvSpPr>
        <p:spPr>
          <a:xfrm>
            <a:off x="4767126" y="1161391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4767126" y="1161391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13391"/>
            <a:ext cx="6300000" cy="1416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29826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29826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451739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생태 서비스 공간 확대 및 탄소 흡수원 지속 확충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451739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친환경 공간: 댐 상류에 정화림, 생태습지 등을 조성, 생태계 건강성 증진 및 탄소흡수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8460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4470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5447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4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876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876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댐 상류 친환경 공간 조성</a:t>
            </a:r>
          </a:p>
        </p:txBody>
      </p:sp>
      <p:sp>
        <p:nvSpPr>
          <p:cNvPr id="30" name="단계"/>
          <p:cNvSpPr/>
          <p:nvPr/>
        </p:nvSpPr>
        <p:spPr>
          <a:xfrm>
            <a:off x="3985435" y="1876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876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친환경 공간 양적·질적 향상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3985434" y="1876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2838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조성사업 지속: 축구장 20개 규모(14ha) 친환경 공간 조성 완료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12838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대상지 발굴: 단일사업 최대규모(29ha) 대상지(임하댐 상류) 발굴 / 탄소 흡수원 인증: 기조성지 탄소 흡수원 인증(주암댐 등 6.7ha, CO₂ 3천t 인증)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216125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536870" y="2917252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569739" y="2955600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2955600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2933687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여의도공원 1.3배 규모(29ha) 생태쉼터 발굴, 2.7천명 사용전력 상당 탄소 저감 인증(3천tCO₂eq)</a:t>
            </a:r>
          </a:p>
        </p:txBody>
      </p:sp>
      <p:sp>
        <p:nvSpPr>
          <p:cNvPr id="40" name="형광 밑줄"/>
          <p:cNvSpPr/>
          <p:nvPr/>
        </p:nvSpPr>
        <p:spPr>
          <a:xfrm>
            <a:off x="536870" y="3682643"/>
            <a:ext cx="38537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소제목"/>
          <p:cNvSpPr>
            <a:spLocks noGrp="1"/>
          </p:cNvSpPr>
          <p:nvPr>
            <p:ph type="body" sz="quarter" idx="35"/>
          </p:nvPr>
        </p:nvSpPr>
        <p:spPr>
          <a:xfrm>
            <a:off x="536870" y="3529252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민관 소통 강화 및 체계적 준비를 통한 江의 연속성 회복 기반 마련</a:t>
            </a:r>
          </a:p>
        </p:txBody>
      </p:sp>
      <p:sp>
        <p:nvSpPr>
          <p:cNvPr id="42" name="태그칩"/>
          <p:cNvSpPr/>
          <p:nvPr/>
        </p:nvSpPr>
        <p:spPr>
          <a:xfrm>
            <a:off x="4489243" y="3562122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태그칩"/>
          <p:cNvSpPr>
            <a:spLocks noGrp="1"/>
          </p:cNvSpPr>
          <p:nvPr>
            <p:ph type="body" sz="quarter" idx="36"/>
          </p:nvPr>
        </p:nvSpPr>
        <p:spPr>
          <a:xfrm>
            <a:off x="4489243" y="3562122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4" name="표 외곽"/>
          <p:cNvSpPr/>
          <p:nvPr/>
        </p:nvSpPr>
        <p:spPr>
          <a:xfrm>
            <a:off x="536870" y="3814122"/>
            <a:ext cx="6300000" cy="152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547826" y="38305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8305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8524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4대강 자연성 및 생물다양성 회복: 수생태계 연속성 확보로 건강한 하천 환경 조성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8524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江의 연속성 회복을 위한 선결과제 해소 필요: 하천 수위저하로 인한 지역민원 우려</a:t>
            </a:r>
          </a:p>
        </p:txBody>
      </p:sp>
      <p:cxnSp>
        <p:nvCxnSpPr>
          <p:cNvPr id="49" name="Connector 36"/>
          <p:cNvCxnSpPr/>
          <p:nvPr/>
        </p:nvCxnSpPr>
        <p:spPr>
          <a:xfrm>
            <a:off x="3985435" y="38853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4255200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5200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42552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42771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771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신속한 정부정책 이행을 위해 ‘수자원정책지원단’ 전담조직 신설, 추진동력 확보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45126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45126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생태계 변화 모니터링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45126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45126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지역의견 수렴 및 물이용 제약해소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45126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4764678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 경관(80지점) 및 어도(11개소)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 주변 지하수위 실시간 모니터링(405공)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4764678"/>
            <a:ext cx="2802130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지역소통: 사회적 공감대 형성(주민·환경단체·전문가 등) / 시설개선: 취·양수장 개선(총 70개 中 4개 완료·30개 추진中)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4797548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54220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54604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54604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54385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지역합의를 통한 보 개방 확대(승촌·백제, ’25.11)로 공감대 및 江 연속성 회복 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0 서사 · 지속가능한 물관리 개요(정의 → 추진배경 → 추진방향 → 추진과제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2681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지속가능한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12" name="배너"/>
          <p:cNvSpPr/>
          <p:nvPr/>
        </p:nvSpPr>
        <p:spPr>
          <a:xfrm>
            <a:off x="1347652" y="81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3" name="배너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지역과 상생하며 수자원을 다변화하여 안전하고 깨끗한 물을 안정적으로 공급</a:t>
            </a:r>
          </a:p>
        </p:txBody>
      </p:sp>
      <p:sp>
        <p:nvSpPr>
          <p:cNvPr id="14" name="레일"/>
          <p:cNvSpPr/>
          <p:nvPr/>
        </p:nvSpPr>
        <p:spPr>
          <a:xfrm>
            <a:off x="734087" y="121899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21899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레일 삼각형"/>
          <p:cNvSpPr/>
          <p:nvPr/>
        </p:nvSpPr>
        <p:spPr>
          <a:xfrm>
            <a:off x="734086" y="121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머리칸"/>
          <p:cNvSpPr/>
          <p:nvPr/>
        </p:nvSpPr>
        <p:spPr>
          <a:xfrm>
            <a:off x="1347652" y="1240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240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물관리(지역) 여건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240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240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819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성장, 가뭄으로 물 부족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지자체 71개의 69%(49개) 소멸위험지역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8194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확보, 투명한 거버넌스로 물 안보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자생력 확보를 통한 지역 균형발전 실현</a:t>
            </a:r>
          </a:p>
        </p:txBody>
      </p:sp>
      <p:cxnSp>
        <p:nvCxnSpPr>
          <p:cNvPr id="23" name="Connector 12"/>
          <p:cNvCxnSpPr/>
          <p:nvPr/>
        </p:nvCxnSpPr>
        <p:spPr>
          <a:xfrm>
            <a:off x="4171696" y="15148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20209"/>
            <a:ext cx="580696" cy="4082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20209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26" name="배너"/>
          <p:cNvSpPr/>
          <p:nvPr/>
        </p:nvSpPr>
        <p:spPr>
          <a:xfrm>
            <a:off x="1347652" y="1942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7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42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성장을 위한 물그릇 확보 및 지역의 자생력을 키우는 로컬 활력 모델 필요</a:t>
            </a:r>
          </a:p>
        </p:txBody>
      </p:sp>
      <p:sp>
        <p:nvSpPr>
          <p:cNvPr id="28" name="레일"/>
          <p:cNvSpPr/>
          <p:nvPr/>
        </p:nvSpPr>
        <p:spPr>
          <a:xfrm>
            <a:off x="734087" y="234485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4485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448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347652" y="23667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3667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지산지소型 물 부족 해소</a:t>
            </a:r>
          </a:p>
        </p:txBody>
      </p:sp>
      <p:sp>
        <p:nvSpPr>
          <p:cNvPr id="33" name="머리칸"/>
          <p:cNvSpPr/>
          <p:nvPr/>
        </p:nvSpPr>
        <p:spPr>
          <a:xfrm>
            <a:off x="3230348" y="23667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230348" y="23667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소통·공감을 통한 신규댐</a:t>
            </a:r>
          </a:p>
        </p:txBody>
      </p:sp>
      <p:sp>
        <p:nvSpPr>
          <p:cNvPr id="35" name="머리칸"/>
          <p:cNvSpPr/>
          <p:nvPr/>
        </p:nvSpPr>
        <p:spPr>
          <a:xfrm>
            <a:off x="5113043" y="23667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5113043" y="23667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로컬브랜딩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0780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수자원시설 효율적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수원 다변화로 물 부족 해소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60780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부족지역 신규 물그릇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공론화를 통한 공감대 형성</a:t>
            </a:r>
          </a:p>
        </p:txBody>
      </p:sp>
      <p:cxnSp>
        <p:nvCxnSpPr>
          <p:cNvPr id="39" name="Connector 22"/>
          <p:cNvCxnSpPr/>
          <p:nvPr/>
        </p:nvCxnSpPr>
        <p:spPr>
          <a:xfrm>
            <a:off x="3230348" y="264067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60780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댐과 지역주민의 상생과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맞춤·자립형 댐 브랜드化</a:t>
            </a:r>
          </a:p>
        </p:txBody>
      </p:sp>
      <p:cxnSp>
        <p:nvCxnSpPr>
          <p:cNvPr id="41" name="Connector 24"/>
          <p:cNvCxnSpPr/>
          <p:nvPr/>
        </p:nvCxnSpPr>
        <p:spPr>
          <a:xfrm>
            <a:off x="5113043" y="264067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41 서사 · 지산지소형 물 부족 해결(수자원 지산지소 정의 → 대체수자원 기술 3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기존 시설 최적 활용과 수원 다각화를 통한 지산지소형 물 부족 해결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142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지산지소</a:t>
            </a:r>
          </a:p>
        </p:txBody>
      </p:sp>
      <p:sp>
        <p:nvSpPr>
          <p:cNvPr id="18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생산(産)된 물을 그 지역에서 소비(消)할 수 있게 맞춤형 공급</a:t>
            </a:r>
          </a:p>
        </p:txBody>
      </p:sp>
      <p:sp>
        <p:nvSpPr>
          <p:cNvPr id="20" name="레일"/>
          <p:cNvSpPr/>
          <p:nvPr/>
        </p:nvSpPr>
        <p:spPr>
          <a:xfrm>
            <a:off x="547826" y="1558643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558643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대체수자원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확보기술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하수재이용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해수담수화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216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버려지던 하수를 막여과 등으로 수질개선 후 재활용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216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해수로부터 염분 등 용해 물질을 제거 후 용수로 활용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544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216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 차수벽 설치로 지하수를 저장해 활용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544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2 서사 · 부산시 10년 과제 하수재이용시설 재탄생(니즈의 일치 → 추진내용 + 단계 띠 → 기대효과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18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부산시 10년 과제, 하수재이용시설로 재탄생하여 지역 현안 해소</a:t>
            </a:r>
          </a:p>
        </p:txBody>
      </p:sp>
      <p:sp>
        <p:nvSpPr>
          <p:cNvPr id="11" name="태그칩"/>
          <p:cNvSpPr/>
          <p:nvPr/>
        </p:nvSpPr>
        <p:spPr>
          <a:xfrm>
            <a:off x="459356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9356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4469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4469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31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 치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부산광역시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동부산 산업단지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10년 넘게 방치된 기장 해수담수화시설 활용 모색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공업용수 공급망이 없어 비싼 생활용수 사용(2,410원/㎥)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경기서남(화성, 수원) 등 하수재이용 사업 지속 추진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1780435"/>
            <a:ext cx="580696" cy="1024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80435"/>
            <a:ext cx="580696" cy="1024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178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배너"/>
          <p:cNvSpPr/>
          <p:nvPr/>
        </p:nvSpPr>
        <p:spPr>
          <a:xfrm>
            <a:off x="1347652" y="180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0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기장 해수담수화시설 활용, 하수재이용 방안 사업화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7913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부산시와 협업, 최적의 공업용수 공급방안 마련 * 해수담수화 → 하수재이용 변환 기술지원, 사업성 등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의견수렴을 통한 공감대 형성(’25.9, 150명)</a:t>
            </a:r>
          </a:p>
        </p:txBody>
      </p:sp>
      <p:sp>
        <p:nvSpPr>
          <p:cNvPr id="35" name="단계"/>
          <p:cNvSpPr/>
          <p:nvPr/>
        </p:nvSpPr>
        <p:spPr>
          <a:xfrm>
            <a:off x="1347652" y="2492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492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일광·기장 하수처리수</a:t>
            </a:r>
          </a:p>
        </p:txBody>
      </p:sp>
      <p:sp>
        <p:nvSpPr>
          <p:cNvPr id="37" name="단계"/>
          <p:cNvSpPr/>
          <p:nvPr/>
        </p:nvSpPr>
        <p:spPr>
          <a:xfrm>
            <a:off x="3230348" y="2492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492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기장 해수담수화시설 여과</a:t>
            </a:r>
          </a:p>
        </p:txBody>
      </p:sp>
      <p:sp>
        <p:nvSpPr>
          <p:cNvPr id="39" name="단계"/>
          <p:cNvSpPr/>
          <p:nvPr/>
        </p:nvSpPr>
        <p:spPr>
          <a:xfrm>
            <a:off x="5113043" y="2492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492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동부산 산업단지 공업용수 공급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3230347" y="2492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 삼각형"/>
          <p:cNvSpPr/>
          <p:nvPr/>
        </p:nvSpPr>
        <p:spPr>
          <a:xfrm>
            <a:off x="5113043" y="2492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 txBox="1"/>
          <p:nvPr/>
        </p:nvSpPr>
        <p:spPr>
          <a:xfrm>
            <a:off x="1358609" y="2744609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4" name="칸 본문"/>
          <p:cNvSpPr txBox="1"/>
          <p:nvPr/>
        </p:nvSpPr>
        <p:spPr>
          <a:xfrm>
            <a:off x="3241304" y="2744609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5" name="Connector 28"/>
          <p:cNvCxnSpPr/>
          <p:nvPr/>
        </p:nvCxnSpPr>
        <p:spPr>
          <a:xfrm flipV="1">
            <a:off x="3230348" y="2766522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 txBox="1"/>
          <p:nvPr/>
        </p:nvSpPr>
        <p:spPr>
          <a:xfrm>
            <a:off x="5124000" y="2744609"/>
            <a:ext cx="1860783" cy="5478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7" name="Connector 30"/>
          <p:cNvCxnSpPr/>
          <p:nvPr/>
        </p:nvCxnSpPr>
        <p:spPr>
          <a:xfrm flipV="1">
            <a:off x="5113043" y="2766522"/>
            <a:ext cx="0" cy="10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8213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8213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효과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821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843217"/>
            <a:ext cx="5626174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사업비 절감: 해수담수화시설 개량시 하수재이용시설 신설 대비 60억원 절감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기업부담완화: 기업의 용수 비용을 대폭 절감하여 산업경쟁력 강화(2,410 → 800원/㎥, Δ67%)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친환경수자원: 하수처리수를 방류하지 않고 재사용함으로써 지속가능한 물관리 모델 구축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465078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503426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503426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481513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동부산 하수재이용 공급 MOU 체결(’25.9, 부산시↔기업↔K-water) → ’31년 공급개시(3.6만㎥/일)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43 서사 · 무한한 해수 자원 활용(추진배경 | 추진내용 + 규모 추이 → 추진성과 두 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0031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무한한 해수 자원 활용, 대산임해 지역의 지속가능한 물 공급 기반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79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79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128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최대 대산임해 해수담수화 적기 준공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일반공장 온배수 활용 「물재이용법」 개정 주도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충남서부지역 가뭄 반복, 대산산업단지 공업용수 수요 증대로 만성적 물 부족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해수담수 원수로 온배수 활용시 경제적이나, 발전소 온배수만 활용 가능한 제한적 구조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879043"/>
            <a:ext cx="580696" cy="860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79043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879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900957"/>
            <a:ext cx="2802130" cy="832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운영을 위한 ‘주민소통협의체’ 가동(’25.11)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최대(10만㎥/일) 해수담수화 준공(’25.12) → 가뭄·수질변동에도 산단 물공급 리스크 완전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’04년 50㎥/일 도서 최초 → ’20년 2천㎥/일 도서지역 최대 → ’25년 10만㎥/일 국내 단일 최대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900957"/>
            <a:ext cx="2802130" cy="832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21대 국회 개정 불발, 국회·임해지역 지속 설득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물재이용 범위 및 국고지원 확대(’25.3) → 온배수 활용성 증대 + 해수담수화 공급단가 13% 인하 효과(국고지원 및 운영비 절감)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3985435" y="1933826"/>
            <a:ext cx="0" cy="766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755565"/>
            <a:ext cx="580696" cy="408209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75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77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대산산업단지 항구수원 10만㎥/일 확보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77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물재이용 범위 확대, 해수담수화 사업성 제고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985435" y="281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4 서사 · 지하수저류댐 활용 다변화로 물공급 취약지역 맞춤형 해결사(추진배경 → 추진내용 지역확대 | 용도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228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지하수저류댐 활용 다변화로 물공급 취약지역 맞춤형 해결사 역할 수행</a:t>
            </a:r>
          </a:p>
        </p:txBody>
      </p:sp>
      <p:sp>
        <p:nvSpPr>
          <p:cNvPr id="11" name="태그칩"/>
          <p:cNvSpPr/>
          <p:nvPr/>
        </p:nvSpPr>
        <p:spPr>
          <a:xfrm>
            <a:off x="49446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9446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673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상습 물 부족을 겪는 도서지역을 중심으로 대체수자원으로서의 효과성 인정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용수공급이 불안정한 지역, 산업단지에 안정적인 용수 공급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도서지역, 생활용수 공급에서 내륙지역, 공업용수까지 맞춤형 확대 적용</a:t>
            </a:r>
          </a:p>
        </p:txBody>
      </p:sp>
      <p:sp>
        <p:nvSpPr>
          <p:cNvPr id="24" name="머리칸"/>
          <p:cNvSpPr/>
          <p:nvPr/>
        </p:nvSpPr>
        <p:spPr>
          <a:xfrm>
            <a:off x="1347652" y="176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76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지역확대  도서 → 내륙(주민)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761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761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용도확대  생활 → 공업(산단)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023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지표수 취수로 오염 등에 취약한 지방상수도 취수원 개선 마중물 사업을 성공적 완수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양평 내륙 최초 지하수저류댐 설치(’25.9) → 1천㎥/일, 지역주민 2.6천명 공급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0023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산업단지의 물 리스크 완화를 위해 지하수저류댐을 활용, 공업용수 공급모델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경주 SMR 국가산단, 16천㎥/일(조사 完) / 청양 수소 지역산단, 5천㎥/일(설계 完)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20352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8241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8624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8624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8405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취약지역 맞춤형 대체수원 다변화를 통해 2.2만㎥/일 규모의 안정적 신규 수원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45 서사 · 신규댐 추진(추진배경 → 추진 로드맵 3단 → 패러다임 전환 배너 → 추진실적 3칸 + 요약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관계기관 협력, 지역 소통으로 모두 공감하는 신규댐 추진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878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댐은 사회 전반에 영향, 계획 적정성 검증으로 본격적인 사업 추진단계 진입 발판 마련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865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5805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 ~’24년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5805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5805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 ’25년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5805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5805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 ’26년~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5805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5805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255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댐별 이·치수 평가 등 데이터 분석 기반 후보지 선정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255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댐별 대안·사업 타당성 정밀 검증 및 객관적 관점 공론화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65426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2557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댐별 최적 개발방안에 대한 사업 구체화 및 실행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65426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배너"/>
          <p:cNvSpPr/>
          <p:nvPr/>
        </p:nvSpPr>
        <p:spPr>
          <a:xfrm>
            <a:off x="1161391" y="21996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1996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‘他부처·기관 수자원시설 활용’ 패러다임 전환 + 기술적 타당성 및 공감대 기반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440643"/>
            <a:ext cx="580696" cy="1539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440643"/>
            <a:ext cx="580696" cy="153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440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2462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62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기관협력</a:t>
            </a:r>
          </a:p>
        </p:txBody>
      </p:sp>
      <p:sp>
        <p:nvSpPr>
          <p:cNvPr id="44" name="머리칸"/>
          <p:cNvSpPr/>
          <p:nvPr/>
        </p:nvSpPr>
        <p:spPr>
          <a:xfrm>
            <a:off x="3044087" y="2462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2462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지역소통</a:t>
            </a:r>
          </a:p>
        </p:txBody>
      </p:sp>
      <p:sp>
        <p:nvSpPr>
          <p:cNvPr id="46" name="머리칸"/>
          <p:cNvSpPr/>
          <p:nvPr/>
        </p:nvSpPr>
        <p:spPr>
          <a:xfrm>
            <a:off x="4926783" y="2462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2462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공론화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70360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기관간 칸막이 제거: 농공·한수원·K-water 협력, 농업·발전용댐 치수기능 부여 * 한수원 업무협약 체결(’25.12)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70360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요구 반영: 주민 현장소통(1,000여명), 워터투어 확대(4회, 400여명), 주민·기관 협의체 운영(15회)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044087" y="2736470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703600"/>
            <a:ext cx="1860783" cy="668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전문성·공신력 확보: 정밀 검토로 최적규모 도출, 중립적 기술검증을 위한 공론화위원회 구성·운영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926783" y="2736470"/>
            <a:ext cx="0" cy="602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배너"/>
          <p:cNvSpPr/>
          <p:nvPr/>
        </p:nvSpPr>
        <p:spPr>
          <a:xfrm>
            <a:off x="1161391" y="33883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33883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후보지 14개소 → 공감대 형성 10개소 기본구상 → 7개소 추진, 3개소 대안 전환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623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 5개소: 신규댐 기본구상을 통한 사업 구체화 / 2개소: 찬반대립, 공론화를 통해 방향성 도출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623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대안 3개소: 정부·기관·지역 협력 기반, 기존시설 활용 등 대안으로 추진 방향 선회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3985435" y="365681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536870" y="40841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569739" y="41224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569739" y="41224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314783" y="41005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정책 방향에 부합한 실용적인 신규댐 추진방안 마련 및 지역 물문제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6 서사 · 지원사업으로 만든 지역자립기반(댐주변지역 지원사업 정의 → 추진배경 | 복지 확대 2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지원사업으로 만든 지역자립기반, 로컬브랜딩으로 지역가치 창출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댐주변지역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지원사업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댐건설·운영 영향 댐주변지역의 경제·사회적 발전 지원, 지역 상생을 위한 사업</a:t>
            </a:r>
          </a:p>
        </p:txBody>
      </p:sp>
      <p:sp>
        <p:nvSpPr>
          <p:cNvPr id="19" name="레일"/>
          <p:cNvSpPr/>
          <p:nvPr/>
        </p:nvSpPr>
        <p:spPr>
          <a:xfrm>
            <a:off x="734087" y="15696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696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915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댐주변지역 지자체 71개의 69%(49개)가 소멸위험지역으로 생활 인프라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915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의료·문화 등 체감형 복지 인프라 확충 및 댐 지역 활성화로 지방소멸 대응 필요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6243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형광 밑줄"/>
          <p:cNvSpPr/>
          <p:nvPr/>
        </p:nvSpPr>
        <p:spPr>
          <a:xfrm>
            <a:off x="723130" y="2399635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소제목"/>
          <p:cNvSpPr>
            <a:spLocks noGrp="1"/>
          </p:cNvSpPr>
          <p:nvPr>
            <p:ph type="body" sz="quarter" idx="27"/>
          </p:nvPr>
        </p:nvSpPr>
        <p:spPr>
          <a:xfrm>
            <a:off x="723130" y="224624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찾아가는 맞춤형 돌봄과 네트워크 구축으로 지역 공동체 강화</a:t>
            </a:r>
          </a:p>
        </p:txBody>
      </p:sp>
      <p:sp>
        <p:nvSpPr>
          <p:cNvPr id="27" name="태그칩"/>
          <p:cNvSpPr/>
          <p:nvPr/>
        </p:nvSpPr>
        <p:spPr>
          <a:xfrm>
            <a:off x="4382591" y="22791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칩"/>
          <p:cNvSpPr>
            <a:spLocks noGrp="1"/>
          </p:cNvSpPr>
          <p:nvPr>
            <p:ph type="body" sz="quarter" idx="28"/>
          </p:nvPr>
        </p:nvSpPr>
        <p:spPr>
          <a:xfrm>
            <a:off x="4382591" y="22791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531113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547548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547548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5694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5694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의료 돌봄, 낙동강을 넘어 한강까지 확대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5694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5694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공동체 지원으로 사회관계망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8105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의료 돌봄 대상지역 확대(낙동 3 → 낙동·한강 6개면)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니즈에 맞춘 서비스 양적·질적 향상 → 추적검진 전년比 2배↑, 녹내장·치매검사 도입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8105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지역정착을 돕는 맞춤 커뮤니티 지원(남강댐)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귀농 멘토링, 아빠육아교실, 청소년 문화교육 → 7개 커뮤니티 구축, 지역주민 204명 지원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8433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47 서사 · 상품개발에서 온·오프라인 이음장날까지 농가 소득 확보(지역특화 상품개발 3단 → 온오프라인 이음장날 3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8083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상품개발에서 온·오프라인 ‘이음장날’까지 실질적 농가 소득 확보</a:t>
            </a:r>
          </a:p>
        </p:txBody>
      </p:sp>
      <p:sp>
        <p:nvSpPr>
          <p:cNvPr id="12" name="태그칩"/>
          <p:cNvSpPr/>
          <p:nvPr/>
        </p:nvSpPr>
        <p:spPr>
          <a:xfrm>
            <a:off x="441631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1631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70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82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지역특화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상품개발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지속 모델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참여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지역특화 상품 개발·판매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댐과 지역사회가 동반성장 → K-water 홍보, 협동조합 관리, 주민 생산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참여 무농약 들깨 재배 → 축구장 3배 넓이 밀원식물 생산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무농약 들기름 1,150병 생산 → 일자리 19명, 매출 37백만원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911913"/>
            <a:ext cx="580696" cy="827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11913"/>
            <a:ext cx="580696" cy="82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온오프라인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이음장날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911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"/>
          <p:cNvSpPr/>
          <p:nvPr/>
        </p:nvSpPr>
        <p:spPr>
          <a:xfrm>
            <a:off x="1161391" y="19338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33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직거래 행사 확대</a:t>
            </a:r>
          </a:p>
        </p:txBody>
      </p:sp>
      <p:sp>
        <p:nvSpPr>
          <p:cNvPr id="35" name="단계"/>
          <p:cNvSpPr/>
          <p:nvPr/>
        </p:nvSpPr>
        <p:spPr>
          <a:xfrm>
            <a:off x="3044087" y="19338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33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오프라인 매장 확대</a:t>
            </a:r>
          </a:p>
        </p:txBody>
      </p:sp>
      <p:sp>
        <p:nvSpPr>
          <p:cNvPr id="37" name="단계"/>
          <p:cNvSpPr/>
          <p:nvPr/>
        </p:nvSpPr>
        <p:spPr>
          <a:xfrm>
            <a:off x="4926783" y="19338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338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 온라인 커머스 입점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044086" y="19338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단계 삼각형"/>
          <p:cNvSpPr/>
          <p:nvPr/>
        </p:nvSpPr>
        <p:spPr>
          <a:xfrm>
            <a:off x="4926782" y="1933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5826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대전 중심에서 전국 유역 거점으로 확대(2→5회) → 매출 213백만원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5826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서울정원박람회, 대전파머스 농가·청년창업 식품 40종 → 이틀 동안 매출 45백만원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21869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5826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공공형 쇼핑몰(남도장터) 농가제품 18종 입점 → 7천여명 시청, 매출 63백만원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21869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8 서사 · 댐이 그려내는 지역가치 재창출(댐 가치 재창출 3칸 → 로컬브랜딩 론칭 3칸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6519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댐이 그려내는 지역가치 재창출, 소멸의 벽을 넘어 로컬 활력 프로젝트</a:t>
            </a:r>
          </a:p>
        </p:txBody>
      </p:sp>
      <p:sp>
        <p:nvSpPr>
          <p:cNvPr id="11" name="태그칩"/>
          <p:cNvSpPr/>
          <p:nvPr/>
        </p:nvSpPr>
        <p:spPr>
          <a:xfrm>
            <a:off x="4886931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6931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438052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438052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021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재창출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댐-잇 프로젝트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연계 철도여행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역사·문화 발굴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한탄강댐, 군남댐 여행코스 발굴 및 인플루언서 활용·홍보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댐잇투어 프로그램 팝업스토어 → SNS 379건, 30백만원 판매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코레일 협업 댐 기차여행 상품 출시(영주·섬진강·밀양)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연계 지역특산물 판매 → 방문객 270명, 지역매출 18백만원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충주댐 역사문화자원 사진전, 제천시 문화유산 학술대회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인문경관자원 다큐 제작 → 다큐방송 3회, 숏폼 제작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95391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95391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9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배너"/>
          <p:cNvSpPr/>
          <p:nvPr/>
        </p:nvSpPr>
        <p:spPr>
          <a:xfrm>
            <a:off x="1347652" y="2317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2317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지역가치 재창출 가능성 발견, 댐 로컬브랜딩 론칭</a:t>
            </a:r>
          </a:p>
        </p:txBody>
      </p:sp>
      <p:sp>
        <p:nvSpPr>
          <p:cNvPr id="34" name="레일"/>
          <p:cNvSpPr/>
          <p:nvPr/>
        </p:nvSpPr>
        <p:spPr>
          <a:xfrm>
            <a:off x="734087" y="2696713"/>
            <a:ext cx="580696" cy="1051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96713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로컬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브랜딩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6967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27186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7186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주변이 사람들이 찾는 매력적인 곳이 되도록 댐 지역 고유자원을 활용, 브랜드化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954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954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지자체 매칭 공모 확대</a:t>
            </a:r>
          </a:p>
        </p:txBody>
      </p:sp>
      <p:sp>
        <p:nvSpPr>
          <p:cNvPr id="41" name="머리칸"/>
          <p:cNvSpPr/>
          <p:nvPr/>
        </p:nvSpPr>
        <p:spPr>
          <a:xfrm>
            <a:off x="3230348" y="2954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3230348" y="2954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 특화사업 22건 발굴</a:t>
            </a:r>
          </a:p>
        </p:txBody>
      </p:sp>
      <p:sp>
        <p:nvSpPr>
          <p:cNvPr id="43" name="머리칸"/>
          <p:cNvSpPr/>
          <p:nvPr/>
        </p:nvSpPr>
        <p:spPr>
          <a:xfrm>
            <a:off x="5113043" y="29541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541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로컬브랜딩 전용 앱 개발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195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최다 지자체 공모신청(34건)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 공모 규모확대(9건)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로컬브랜딩 댐-지자체 3개 선정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241304" y="3195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용담댐-진안군 로컬브랜딩 아이디어 발굴 대학생 해커톤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충남대, 전북대 등 청년 73명 참여</a:t>
            </a:r>
          </a:p>
        </p:txBody>
      </p:sp>
      <p:cxnSp>
        <p:nvCxnSpPr>
          <p:cNvPr id="47" name="Connector 28"/>
          <p:cNvCxnSpPr/>
          <p:nvPr/>
        </p:nvCxnSpPr>
        <p:spPr>
          <a:xfrm>
            <a:off x="3230348" y="3228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95235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맞춤형 플랫폼(App) ‘로컬바이브’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정보·커뮤니티·마켓·예약 등</a:t>
            </a:r>
          </a:p>
        </p:txBody>
      </p:sp>
      <p:cxnSp>
        <p:nvCxnSpPr>
          <p:cNvPr id="49" name="Connector 30"/>
          <p:cNvCxnSpPr/>
          <p:nvPr/>
        </p:nvCxnSpPr>
        <p:spPr>
          <a:xfrm>
            <a:off x="5113043" y="3228104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주요성과 박스"/>
          <p:cNvSpPr/>
          <p:nvPr/>
        </p:nvSpPr>
        <p:spPr>
          <a:xfrm>
            <a:off x="723130" y="3841670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주요성과 라벨"/>
          <p:cNvSpPr/>
          <p:nvPr/>
        </p:nvSpPr>
        <p:spPr>
          <a:xfrm>
            <a:off x="756000" y="3874539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주요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874539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53" name="주요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858104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국정과제(취약지역 의료서비스 확대) 이행, 의료돌봄 만족도 2년 연속 99%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지역특화 상품개발 중기부 원원아너스 우수, 이음장날 매출 321백만원 달성(전년比 3.2배)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로컬브랜딩 선정 3개 댐-지자체 MP 수립 착수, 역대 최대 지역상생협력사업 200억원 발굴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49 서사 · 스마트 기술 활용 및 구조적 작업방식 개선으로 안전예방체계 마련(고소 · 수중 · 선박작업 + 제도개선 4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945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스마트 기술 활용 및 구조적 작업방식 개선 통해 안전예방체계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53002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002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114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114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항공드론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용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위험구간·사각지대 외관점검 인력 대체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인력 대체 업무범위 확대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홍수기 후 시설외관점검을 인력 의존에서 드론 영상촬영으로 대체(AI 활용, 안전진단) / ’24년 7개 댐 → ’25년 37개 全댐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외부세척(콘크리트)에 드론 최초 활용(충주댐) * 고압 살수로 표면 이물질 제거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1879043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9043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수중작업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최소화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879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900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900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수중드론 활용 안전점검 일상화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1900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900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대안공법 마련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4200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인력점검 대체, 잠수 전 드론 점검체계 도입 / ’24년 5건 → ’25년 24건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14200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여건 고려, 非수중공사로 공법 변경 * 기존시설 수중 보강 → 신규시설 육상 공사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985435" y="2174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2580261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운행환경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602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602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선박 안전 강화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602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602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승무원·근로자 안전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432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안전점검: 선박실태점검 강화(연 1회 →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표준화: 용도별 선박 형식 통일(5종) * 선박규격 체계화로 운항·정비 등 효율성 제고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843217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선상안전: 안전장치(미끄럼 방지 등)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계류시설: 진입도교 등 노후시설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안전교육: 선장 교육 강화(1회/5년 → 1회/2년)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8760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467739"/>
            <a:ext cx="580696" cy="871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467739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46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머리칸"/>
          <p:cNvSpPr/>
          <p:nvPr/>
        </p:nvSpPr>
        <p:spPr>
          <a:xfrm>
            <a:off x="1161391" y="3489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489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수중작업 기술기준 개정</a:t>
            </a:r>
          </a:p>
        </p:txBody>
      </p:sp>
      <p:sp>
        <p:nvSpPr>
          <p:cNvPr id="50" name="머리칸"/>
          <p:cNvSpPr/>
          <p:nvPr/>
        </p:nvSpPr>
        <p:spPr>
          <a:xfrm>
            <a:off x="3985435" y="348965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48965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건설공사 안전체계 개선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730696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 수중작업 여건 보장을 위해 적정 인력, 대가, 공법선정 방식 등 기준 마련 * 설계 단계부터 수중공사 작업자 안전 확보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730696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全댐건설사업에 감리제도 도입(공사 최초) / 기존 35명 자체 → 개선 69명 자체+감리 * 전액 재정사업인 댐건설에 자체예산 투입(540억원)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3985435" y="3763565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50 서사 · 시민재해 Zero구역 조성(능동적 수문방류 경보 | 국민이용시설 개선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9473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안심하고 댐을 찾고 즐길 수 있도록 시민재해 Zero구역 조성</a:t>
            </a:r>
          </a:p>
        </p:txBody>
      </p:sp>
      <p:sp>
        <p:nvSpPr>
          <p:cNvPr id="11" name="태그칩"/>
          <p:cNvSpPr/>
          <p:nvPr/>
        </p:nvSpPr>
        <p:spPr>
          <a:xfrm>
            <a:off x="491647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91647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44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1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시민재해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능동적 수문방류 경보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 개선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안내·경보방식 다각화 → 범용성 높은 매체로 인근 시민에게 실시간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~’24년 SMS, 내비게이션, 방류 전 안내음성 / ’25년 카카오톡 추가알림(全댐), 시각정보 상시 송출(8개댐)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노후시설 교체 및 안전시설 투자 확대 * 댐 정상부, 문화관, 공원 등 국민이용시설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6건, 13억원 / ’24년 11건, 23억원 / ’25년 12건, 43억원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777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주요성과 박스"/>
          <p:cNvSpPr/>
          <p:nvPr/>
        </p:nvSpPr>
        <p:spPr>
          <a:xfrm>
            <a:off x="723130" y="2284435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주요성과 라벨"/>
          <p:cNvSpPr/>
          <p:nvPr/>
        </p:nvSpPr>
        <p:spPr>
          <a:xfrm>
            <a:off x="756000" y="231730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주요성과 라벨"/>
          <p:cNvSpPr>
            <a:spLocks noGrp="1"/>
          </p:cNvSpPr>
          <p:nvPr>
            <p:ph type="body" sz="quarter" idx="27"/>
          </p:nvPr>
        </p:nvSpPr>
        <p:spPr>
          <a:xfrm>
            <a:off x="756000" y="231730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26" name="주요성과 문구"/>
          <p:cNvSpPr>
            <a:spLocks noGrp="1"/>
          </p:cNvSpPr>
          <p:nvPr>
            <p:ph type="body" sz="quarter" idx="28"/>
          </p:nvPr>
        </p:nvSpPr>
        <p:spPr>
          <a:xfrm>
            <a:off x="1501043" y="2300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스마트기술 활용 및 선제적 안전관리를 통한 산업·시민재해 저감(△32%)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Relationship Id="rId136" Type="http://schemas.openxmlformats.org/officeDocument/2006/relationships/slideLayout" Target="../slideLayouts/slideLayout138.xml"/><Relationship Id="rId137" Type="http://schemas.openxmlformats.org/officeDocument/2006/relationships/slideLayout" Target="../slideLayouts/slideLayout139.xml"/><Relationship Id="rId138" Type="http://schemas.openxmlformats.org/officeDocument/2006/relationships/slideLayout" Target="../slideLayouts/slideLayout140.xml"/><Relationship Id="rId139" Type="http://schemas.openxmlformats.org/officeDocument/2006/relationships/slideLayout" Target="../slideLayouts/slideLayout141.xml"/><Relationship Id="rId140" Type="http://schemas.openxmlformats.org/officeDocument/2006/relationships/slideLayout" Target="../slideLayouts/slideLayout142.xml"/><Relationship Id="rId141" Type="http://schemas.openxmlformats.org/officeDocument/2006/relationships/slideLayout" Target="../slideLayouts/slideLayout143.xml"/><Relationship Id="rId142" Type="http://schemas.openxmlformats.org/officeDocument/2006/relationships/slideLayout" Target="../slideLayouts/slideLayout144.xml"/><Relationship Id="rId143" Type="http://schemas.openxmlformats.org/officeDocument/2006/relationships/slideLayout" Target="../slideLayouts/slideLayout145.xml"/><Relationship Id="rId144" Type="http://schemas.openxmlformats.org/officeDocument/2006/relationships/slideLayout" Target="../slideLayouts/slideLayout146.xml"/><Relationship Id="rId145" Type="http://schemas.openxmlformats.org/officeDocument/2006/relationships/slideLayout" Target="../slideLayouts/slideLayout147.xml"/><Relationship Id="rId146" Type="http://schemas.openxmlformats.org/officeDocument/2006/relationships/slideLayout" Target="../slideLayouts/slideLayout148.xml"/><Relationship Id="rId147" Type="http://schemas.openxmlformats.org/officeDocument/2006/relationships/slideLayout" Target="../slideLayouts/slideLayout149.xml"/><Relationship Id="rId148" Type="http://schemas.openxmlformats.org/officeDocument/2006/relationships/slideLayout" Target="../slideLayouts/slideLayout150.xml"/><Relationship Id="rId149" Type="http://schemas.openxmlformats.org/officeDocument/2006/relationships/slideLayout" Target="../slideLayouts/slideLayout151.xml"/><Relationship Id="rId150" Type="http://schemas.openxmlformats.org/officeDocument/2006/relationships/slideLayout" Target="../slideLayouts/slideLayout152.xml"/><Relationship Id="rId151" Type="http://schemas.openxmlformats.org/officeDocument/2006/relationships/slideLayout" Target="../slideLayouts/slideLayout153.xml"/><Relationship Id="rId152" Type="http://schemas.openxmlformats.org/officeDocument/2006/relationships/slideLayout" Target="../slideLayouts/slideLayout154.xml"/><Relationship Id="rId153" Type="http://schemas.openxmlformats.org/officeDocument/2006/relationships/slideLayout" Target="../slideLayouts/slideLayout155.xml"/><Relationship Id="rId154" Type="http://schemas.openxmlformats.org/officeDocument/2006/relationships/slideLayout" Target="../slideLayouts/slideLayout156.xml"/><Relationship Id="rId155" Type="http://schemas.openxmlformats.org/officeDocument/2006/relationships/slideLayout" Target="../slideLayouts/slideLayout157.xml"/><Relationship Id="rId156" Type="http://schemas.openxmlformats.org/officeDocument/2006/relationships/slideLayout" Target="../slideLayouts/slideLayout158.xml"/><Relationship Id="rId157" Type="http://schemas.openxmlformats.org/officeDocument/2006/relationships/slideLayout" Target="../slideLayouts/slideLayout159.xml"/><Relationship Id="rId158" Type="http://schemas.openxmlformats.org/officeDocument/2006/relationships/slideLayout" Target="../slideLayouts/slideLayout160.xml"/><Relationship Id="rId159" Type="http://schemas.openxmlformats.org/officeDocument/2006/relationships/slideLayout" Target="../slideLayouts/slideLayout161.xml"/><Relationship Id="rId160" Type="http://schemas.openxmlformats.org/officeDocument/2006/relationships/slideLayout" Target="../slideLayouts/slideLayout162.xml"/><Relationship Id="rId161" Type="http://schemas.openxmlformats.org/officeDocument/2006/relationships/slideLayout" Target="../slideLayouts/slideLayout163.xml"/><Relationship Id="rId162" Type="http://schemas.openxmlformats.org/officeDocument/2006/relationships/slideLayout" Target="../slideLayouts/slideLayout164.xml"/><Relationship Id="rId163" Type="http://schemas.openxmlformats.org/officeDocument/2006/relationships/slideLayout" Target="../slideLayouts/slideLayout165.xml"/><Relationship Id="rId164" Type="http://schemas.openxmlformats.org/officeDocument/2006/relationships/slideLayout" Target="../slideLayouts/slideLayout166.xml"/><Relationship Id="rId165" Type="http://schemas.openxmlformats.org/officeDocument/2006/relationships/slideLayout" Target="../slideLayouts/slideLayout167.xml"/><Relationship Id="rId166" Type="http://schemas.openxmlformats.org/officeDocument/2006/relationships/slideLayout" Target="../slideLayouts/slideLayout168.xml"/><Relationship Id="rId167" Type="http://schemas.openxmlformats.org/officeDocument/2006/relationships/slideLayout" Target="../slideLayouts/slideLayout169.xml"/><Relationship Id="rId168" Type="http://schemas.openxmlformats.org/officeDocument/2006/relationships/slideLayout" Target="../slideLayouts/slideLayout170.xml"/><Relationship Id="rId169" Type="http://schemas.openxmlformats.org/officeDocument/2006/relationships/slideLayout" Target="../slideLayouts/slideLayout171.xml"/><Relationship Id="rId170" Type="http://schemas.openxmlformats.org/officeDocument/2006/relationships/slideLayout" Target="../slideLayouts/slideLayout172.xml"/><Relationship Id="rId171" Type="http://schemas.openxmlformats.org/officeDocument/2006/relationships/slideLayout" Target="../slideLayouts/slideLayout173.xml"/><Relationship Id="rId172" Type="http://schemas.openxmlformats.org/officeDocument/2006/relationships/slideLayout" Target="../slideLayouts/slideLayout174.xml"/><Relationship Id="rId173" Type="http://schemas.openxmlformats.org/officeDocument/2006/relationships/slideLayout" Target="../slideLayouts/slideLayout175.xml"/><Relationship Id="rId174" Type="http://schemas.openxmlformats.org/officeDocument/2006/relationships/slideLayout" Target="../slideLayouts/slideLayout176.xml"/><Relationship Id="rId175" Type="http://schemas.openxmlformats.org/officeDocument/2006/relationships/slideLayout" Target="../slideLayouts/slideLayout177.xml"/><Relationship Id="rId176" Type="http://schemas.openxmlformats.org/officeDocument/2006/relationships/slideLayout" Target="../slideLayouts/slideLayout178.xml"/><Relationship Id="rId177" Type="http://schemas.openxmlformats.org/officeDocument/2006/relationships/slideLayout" Target="../slideLayouts/slideLayout179.xml"/><Relationship Id="rId178" Type="http://schemas.openxmlformats.org/officeDocument/2006/relationships/slideLayout" Target="../slideLayouts/slideLayout180.xml"/><Relationship Id="rId179" Type="http://schemas.openxmlformats.org/officeDocument/2006/relationships/slideLayout" Target="../slideLayouts/slideLayout181.xml"/><Relationship Id="rId180" Type="http://schemas.openxmlformats.org/officeDocument/2006/relationships/slideLayout" Target="../slideLayouts/slideLayout182.xml"/><Relationship Id="rId181" Type="http://schemas.openxmlformats.org/officeDocument/2006/relationships/slideLayout" Target="../slideLayouts/slideLayout183.xml"/><Relationship Id="rId182" Type="http://schemas.openxmlformats.org/officeDocument/2006/relationships/slideLayout" Target="../slideLayouts/slideLayout184.xml"/><Relationship Id="rId183" Type="http://schemas.openxmlformats.org/officeDocument/2006/relationships/slideLayout" Target="../slideLayouts/slideLayout185.xml"/><Relationship Id="rId184" Type="http://schemas.openxmlformats.org/officeDocument/2006/relationships/slideLayout" Target="../slideLayouts/slideLayout186.xml"/><Relationship Id="rId185" Type="http://schemas.openxmlformats.org/officeDocument/2006/relationships/slideLayout" Target="../slideLayouts/slideLayout187.xml"/><Relationship Id="rId186" Type="http://schemas.openxmlformats.org/officeDocument/2006/relationships/slideLayout" Target="../slideLayouts/slideLayout188.xml"/><Relationship Id="rId187" Type="http://schemas.openxmlformats.org/officeDocument/2006/relationships/slideLayout" Target="../slideLayouts/slideLayout189.xml"/><Relationship Id="rId188" Type="http://schemas.openxmlformats.org/officeDocument/2006/relationships/slideLayout" Target="../slideLayouts/slideLayout190.xml"/><Relationship Id="rId189" Type="http://schemas.openxmlformats.org/officeDocument/2006/relationships/slideLayout" Target="../slideLayouts/slideLayout191.xml"/><Relationship Id="rId190" Type="http://schemas.openxmlformats.org/officeDocument/2006/relationships/slideLayout" Target="../slideLayouts/slideLayout192.xml"/><Relationship Id="rId191" Type="http://schemas.openxmlformats.org/officeDocument/2006/relationships/slideLayout" Target="../slideLayouts/slideLayout193.xml"/><Relationship Id="rId192" Type="http://schemas.openxmlformats.org/officeDocument/2006/relationships/slideLayout" Target="../slideLayouts/slideLayout194.xml"/><Relationship Id="rId193" Type="http://schemas.openxmlformats.org/officeDocument/2006/relationships/slideLayout" Target="../slideLayouts/slideLayout195.xml"/><Relationship Id="rId194" Type="http://schemas.openxmlformats.org/officeDocument/2006/relationships/slideLayout" Target="../slideLayouts/slideLayout196.xml"/><Relationship Id="rId195" Type="http://schemas.openxmlformats.org/officeDocument/2006/relationships/slideLayout" Target="../slideLayouts/slideLayout197.xml"/><Relationship Id="rId196" Type="http://schemas.openxmlformats.org/officeDocument/2006/relationships/slideLayout" Target="../slideLayouts/slideLayout198.xml"/><Relationship Id="rId197" Type="http://schemas.openxmlformats.org/officeDocument/2006/relationships/slideLayout" Target="../slideLayouts/slideLayout199.xml"/><Relationship Id="rId198" Type="http://schemas.openxmlformats.org/officeDocument/2006/relationships/slideLayout" Target="../slideLayouts/slideLayout200.xml"/><Relationship Id="rId199" Type="http://schemas.openxmlformats.org/officeDocument/2006/relationships/slideLayout" Target="../slideLayouts/slideLayout201.xml"/><Relationship Id="rId200" Type="http://schemas.openxmlformats.org/officeDocument/2006/relationships/slideLayout" Target="../slideLayouts/slideLayout202.xml"/><Relationship Id="rId201" Type="http://schemas.openxmlformats.org/officeDocument/2006/relationships/slideLayout" Target="../slideLayouts/slideLayout203.xml"/><Relationship Id="rId202" Type="http://schemas.openxmlformats.org/officeDocument/2006/relationships/slideLayout" Target="../slideLayouts/slideLayout204.xml"/><Relationship Id="rId203" Type="http://schemas.openxmlformats.org/officeDocument/2006/relationships/slideLayout" Target="../slideLayouts/slideLayout205.xml"/><Relationship Id="rId204" Type="http://schemas.openxmlformats.org/officeDocument/2006/relationships/slideLayout" Target="../slideLayouts/slideLayout206.xml"/><Relationship Id="rId205" Type="http://schemas.openxmlformats.org/officeDocument/2006/relationships/slideLayout" Target="../slideLayouts/slideLayout207.xml"/><Relationship Id="rId206" Type="http://schemas.openxmlformats.org/officeDocument/2006/relationships/slideLayout" Target="../slideLayouts/slideLayout208.xml"/><Relationship Id="rId207" Type="http://schemas.openxmlformats.org/officeDocument/2006/relationships/slideLayout" Target="../slideLayouts/slideLayout209.xml"/><Relationship Id="rId208" Type="http://schemas.openxmlformats.org/officeDocument/2006/relationships/slideLayout" Target="../slideLayouts/slideLayout210.xml"/><Relationship Id="rId209" Type="http://schemas.openxmlformats.org/officeDocument/2006/relationships/slideLayout" Target="../slideLayouts/slideLayout211.xml"/><Relationship Id="rId210" Type="http://schemas.openxmlformats.org/officeDocument/2006/relationships/slideLayout" Target="../slideLayouts/slideLayout212.xml"/><Relationship Id="rId211" Type="http://schemas.openxmlformats.org/officeDocument/2006/relationships/slideLayout" Target="../slideLayouts/slideLayout213.xml"/><Relationship Id="rId212" Type="http://schemas.openxmlformats.org/officeDocument/2006/relationships/slideLayout" Target="../slideLayouts/slideLayout214.xml"/><Relationship Id="rId213" Type="http://schemas.openxmlformats.org/officeDocument/2006/relationships/slideLayout" Target="../slideLayouts/slideLayout215.xml"/><Relationship Id="rId214" Type="http://schemas.openxmlformats.org/officeDocument/2006/relationships/slideLayout" Target="../slideLayouts/slideLayout216.xml"/><Relationship Id="rId215" Type="http://schemas.openxmlformats.org/officeDocument/2006/relationships/slideLayout" Target="../slideLayouts/slideLayout217.xml"/><Relationship Id="rId216" Type="http://schemas.openxmlformats.org/officeDocument/2006/relationships/slideLayout" Target="../slideLayouts/slideLayout218.xml"/><Relationship Id="rId217" Type="http://schemas.openxmlformats.org/officeDocument/2006/relationships/slideLayout" Target="../slideLayouts/slideLayout219.xml"/><Relationship Id="rId218" Type="http://schemas.openxmlformats.org/officeDocument/2006/relationships/slideLayout" Target="../slideLayouts/slideLayout220.xml"/><Relationship Id="rId219" Type="http://schemas.openxmlformats.org/officeDocument/2006/relationships/slideLayout" Target="../slideLayouts/slideLayout221.xml"/><Relationship Id="rId220" Type="http://schemas.openxmlformats.org/officeDocument/2006/relationships/slideLayout" Target="../slideLayouts/slideLayout222.xml"/><Relationship Id="rId221" Type="http://schemas.openxmlformats.org/officeDocument/2006/relationships/slideLayout" Target="../slideLayouts/slideLayout223.xml"/><Relationship Id="rId222" Type="http://schemas.openxmlformats.org/officeDocument/2006/relationships/slideLayout" Target="../slideLayouts/slideLayout224.xml"/><Relationship Id="rId223" Type="http://schemas.openxmlformats.org/officeDocument/2006/relationships/slideLayout" Target="../slideLayouts/slideLayout225.xml"/><Relationship Id="rId224" Type="http://schemas.openxmlformats.org/officeDocument/2006/relationships/slideLayout" Target="../slideLayouts/slideLayout226.xml"/><Relationship Id="rId225" Type="http://schemas.openxmlformats.org/officeDocument/2006/relationships/slideLayout" Target="../slideLayouts/slideLayout227.xml"/><Relationship Id="rId226" Type="http://schemas.openxmlformats.org/officeDocument/2006/relationships/slideLayout" Target="../slideLayouts/slideLayout228.xml"/><Relationship Id="rId227" Type="http://schemas.openxmlformats.org/officeDocument/2006/relationships/slideLayout" Target="../slideLayouts/slideLayout229.xml"/><Relationship Id="rId228" Type="http://schemas.openxmlformats.org/officeDocument/2006/relationships/slideLayout" Target="../slideLayouts/slideLayout230.xml"/><Relationship Id="rId229" Type="http://schemas.openxmlformats.org/officeDocument/2006/relationships/slideLayout" Target="../slideLayouts/slideLayout231.xml"/><Relationship Id="rId230" Type="http://schemas.openxmlformats.org/officeDocument/2006/relationships/slideLayout" Target="../slideLayouts/slideLayout232.xml"/><Relationship Id="rId231" Type="http://schemas.openxmlformats.org/officeDocument/2006/relationships/slideLayout" Target="../slideLayouts/slideLayout233.xml"/><Relationship Id="rId232" Type="http://schemas.openxmlformats.org/officeDocument/2006/relationships/slideLayout" Target="../slideLayouts/slideLayout234.xml"/><Relationship Id="rId233" Type="http://schemas.openxmlformats.org/officeDocument/2006/relationships/slideLayout" Target="../slideLayouts/slideLayout235.xml"/><Relationship Id="rId234" Type="http://schemas.openxmlformats.org/officeDocument/2006/relationships/slideLayout" Target="../slideLayouts/slideLayout236.xml"/><Relationship Id="rId235" Type="http://schemas.openxmlformats.org/officeDocument/2006/relationships/slideLayout" Target="../slideLayouts/slideLayout237.xml"/><Relationship Id="rId236" Type="http://schemas.openxmlformats.org/officeDocument/2006/relationships/slideLayout" Target="../slideLayouts/slideLayout238.xml"/><Relationship Id="rId237" Type="http://schemas.openxmlformats.org/officeDocument/2006/relationships/slideLayout" Target="../slideLayouts/slideLayout239.xml"/><Relationship Id="rId238" Type="http://schemas.openxmlformats.org/officeDocument/2006/relationships/slideLayout" Target="../slideLayouts/slideLayout240.xml"/><Relationship Id="rId239" Type="http://schemas.openxmlformats.org/officeDocument/2006/relationships/slideLayout" Target="../slideLayouts/slideLayout241.xml"/><Relationship Id="rId240" Type="http://schemas.openxmlformats.org/officeDocument/2006/relationships/slideLayout" Target="../slideLayouts/slideLayout242.xml"/><Relationship Id="rId241" Type="http://schemas.openxmlformats.org/officeDocument/2006/relationships/slideLayout" Target="../slideLayouts/slideLayout243.xml"/><Relationship Id="rId242" Type="http://schemas.openxmlformats.org/officeDocument/2006/relationships/slideLayout" Target="../slideLayouts/slideLayout244.xml"/><Relationship Id="rId243" Type="http://schemas.openxmlformats.org/officeDocument/2006/relationships/slideLayout" Target="../slideLayouts/slideLayout245.xml"/><Relationship Id="rId244" Type="http://schemas.openxmlformats.org/officeDocument/2006/relationships/slideLayout" Target="../slideLayouts/slideLayout246.xml"/><Relationship Id="rId245" Type="http://schemas.openxmlformats.org/officeDocument/2006/relationships/slideLayout" Target="../slideLayouts/slideLayout247.xml"/><Relationship Id="rId246" Type="http://schemas.openxmlformats.org/officeDocument/2006/relationships/slideLayout" Target="../slideLayouts/slideLayout248.xml"/><Relationship Id="rId247" Type="http://schemas.openxmlformats.org/officeDocument/2006/relationships/slideLayout" Target="../slideLayouts/slideLayout249.xml"/><Relationship Id="rId248" Type="http://schemas.openxmlformats.org/officeDocument/2006/relationships/slideLayout" Target="../slideLayouts/slideLayout250.xml"/><Relationship Id="rId249" Type="http://schemas.openxmlformats.org/officeDocument/2006/relationships/slideLayout" Target="../slideLayouts/slideLayout251.xml"/><Relationship Id="rId250" Type="http://schemas.openxmlformats.org/officeDocument/2006/relationships/slideLayout" Target="../slideLayouts/slideLayout252.xml"/><Relationship Id="rId251" Type="http://schemas.openxmlformats.org/officeDocument/2006/relationships/slideLayout" Target="../slideLayouts/slideLayout253.xml"/><Relationship Id="rId252" Type="http://schemas.openxmlformats.org/officeDocument/2006/relationships/slideLayout" Target="../slideLayouts/slideLayout254.xml"/><Relationship Id="rId253" Type="http://schemas.openxmlformats.org/officeDocument/2006/relationships/slideLayout" Target="../slideLayouts/slideLayout255.xml"/><Relationship Id="rId254" Type="http://schemas.openxmlformats.org/officeDocument/2006/relationships/slideLayout" Target="../slideLayouts/slideLayout25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  <p:sldLayoutId id="2147483786" r:id="rId136"/>
    <p:sldLayoutId id="2147483787" r:id="rId137"/>
    <p:sldLayoutId id="2147483788" r:id="rId138"/>
    <p:sldLayoutId id="2147483789" r:id="rId139"/>
    <p:sldLayoutId id="2147483790" r:id="rId140"/>
    <p:sldLayoutId id="2147483791" r:id="rId141"/>
    <p:sldLayoutId id="2147483792" r:id="rId142"/>
    <p:sldLayoutId id="2147483793" r:id="rId143"/>
    <p:sldLayoutId id="2147483794" r:id="rId144"/>
    <p:sldLayoutId id="2147483795" r:id="rId145"/>
    <p:sldLayoutId id="2147483796" r:id="rId146"/>
    <p:sldLayoutId id="2147483797" r:id="rId147"/>
    <p:sldLayoutId id="2147483798" r:id="rId148"/>
    <p:sldLayoutId id="2147483799" r:id="rId149"/>
    <p:sldLayoutId id="2147483800" r:id="rId150"/>
    <p:sldLayoutId id="2147483801" r:id="rId151"/>
    <p:sldLayoutId id="2147483802" r:id="rId152"/>
    <p:sldLayoutId id="2147483803" r:id="rId153"/>
    <p:sldLayoutId id="2147483804" r:id="rId154"/>
    <p:sldLayoutId id="2147483805" r:id="rId155"/>
    <p:sldLayoutId id="2147483806" r:id="rId156"/>
    <p:sldLayoutId id="2147483807" r:id="rId157"/>
    <p:sldLayoutId id="2147483808" r:id="rId158"/>
    <p:sldLayoutId id="2147483809" r:id="rId159"/>
    <p:sldLayoutId id="2147483810" r:id="rId160"/>
    <p:sldLayoutId id="2147483811" r:id="rId161"/>
    <p:sldLayoutId id="2147483812" r:id="rId162"/>
    <p:sldLayoutId id="2147483813" r:id="rId163"/>
    <p:sldLayoutId id="2147483814" r:id="rId164"/>
    <p:sldLayoutId id="2147483815" r:id="rId165"/>
    <p:sldLayoutId id="2147483816" r:id="rId166"/>
    <p:sldLayoutId id="2147483817" r:id="rId167"/>
    <p:sldLayoutId id="2147483818" r:id="rId168"/>
    <p:sldLayoutId id="2147483819" r:id="rId169"/>
    <p:sldLayoutId id="2147483820" r:id="rId170"/>
    <p:sldLayoutId id="2147483821" r:id="rId171"/>
    <p:sldLayoutId id="2147483822" r:id="rId172"/>
    <p:sldLayoutId id="2147483823" r:id="rId173"/>
    <p:sldLayoutId id="2147483824" r:id="rId174"/>
    <p:sldLayoutId id="2147483825" r:id="rId175"/>
    <p:sldLayoutId id="2147483826" r:id="rId176"/>
    <p:sldLayoutId id="2147483827" r:id="rId177"/>
    <p:sldLayoutId id="2147483828" r:id="rId178"/>
    <p:sldLayoutId id="2147483829" r:id="rId179"/>
    <p:sldLayoutId id="2147483830" r:id="rId180"/>
    <p:sldLayoutId id="2147483831" r:id="rId181"/>
    <p:sldLayoutId id="2147483832" r:id="rId182"/>
    <p:sldLayoutId id="2147483833" r:id="rId183"/>
    <p:sldLayoutId id="2147483834" r:id="rId184"/>
    <p:sldLayoutId id="2147483835" r:id="rId185"/>
    <p:sldLayoutId id="2147483836" r:id="rId186"/>
    <p:sldLayoutId id="2147483837" r:id="rId187"/>
    <p:sldLayoutId id="2147483838" r:id="rId188"/>
    <p:sldLayoutId id="2147483839" r:id="rId189"/>
    <p:sldLayoutId id="2147483840" r:id="rId190"/>
    <p:sldLayoutId id="2147483841" r:id="rId191"/>
    <p:sldLayoutId id="2147483842" r:id="rId192"/>
    <p:sldLayoutId id="2147483843" r:id="rId193"/>
    <p:sldLayoutId id="2147483844" r:id="rId194"/>
    <p:sldLayoutId id="2147483845" r:id="rId195"/>
    <p:sldLayoutId id="2147483846" r:id="rId196"/>
    <p:sldLayoutId id="2147483847" r:id="rId197"/>
    <p:sldLayoutId id="2147483848" r:id="rId198"/>
    <p:sldLayoutId id="2147483849" r:id="rId199"/>
    <p:sldLayoutId id="2147483850" r:id="rId200"/>
    <p:sldLayoutId id="2147483851" r:id="rId201"/>
    <p:sldLayoutId id="2147483852" r:id="rId202"/>
    <p:sldLayoutId id="2147483853" r:id="rId203"/>
    <p:sldLayoutId id="2147483854" r:id="rId204"/>
    <p:sldLayoutId id="2147483855" r:id="rId205"/>
    <p:sldLayoutId id="2147483856" r:id="rId206"/>
    <p:sldLayoutId id="2147483857" r:id="rId207"/>
    <p:sldLayoutId id="2147483858" r:id="rId208"/>
    <p:sldLayoutId id="2147483859" r:id="rId209"/>
    <p:sldLayoutId id="2147483860" r:id="rId210"/>
    <p:sldLayoutId id="2147483861" r:id="rId211"/>
    <p:sldLayoutId id="2147483862" r:id="rId212"/>
    <p:sldLayoutId id="2147483863" r:id="rId213"/>
    <p:sldLayoutId id="2147483864" r:id="rId214"/>
    <p:sldLayoutId id="2147483865" r:id="rId215"/>
    <p:sldLayoutId id="2147483866" r:id="rId216"/>
    <p:sldLayoutId id="2147483867" r:id="rId217"/>
    <p:sldLayoutId id="2147483868" r:id="rId218"/>
    <p:sldLayoutId id="2147483869" r:id="rId219"/>
    <p:sldLayoutId id="2147483870" r:id="rId220"/>
    <p:sldLayoutId id="2147483871" r:id="rId221"/>
    <p:sldLayoutId id="2147483872" r:id="rId222"/>
    <p:sldLayoutId id="2147483873" r:id="rId223"/>
    <p:sldLayoutId id="2147483874" r:id="rId224"/>
    <p:sldLayoutId id="2147483875" r:id="rId225"/>
    <p:sldLayoutId id="2147483876" r:id="rId226"/>
    <p:sldLayoutId id="2147483877" r:id="rId227"/>
    <p:sldLayoutId id="2147483878" r:id="rId228"/>
    <p:sldLayoutId id="2147483879" r:id="rId229"/>
    <p:sldLayoutId id="2147483880" r:id="rId230"/>
    <p:sldLayoutId id="2147483881" r:id="rId231"/>
    <p:sldLayoutId id="2147483882" r:id="rId232"/>
    <p:sldLayoutId id="2147483883" r:id="rId233"/>
    <p:sldLayoutId id="2147483884" r:id="rId234"/>
    <p:sldLayoutId id="2147483885" r:id="rId235"/>
    <p:sldLayoutId id="2147483886" r:id="rId236"/>
    <p:sldLayoutId id="2147483887" r:id="rId237"/>
    <p:sldLayoutId id="2147483888" r:id="rId238"/>
    <p:sldLayoutId id="2147483889" r:id="rId239"/>
    <p:sldLayoutId id="2147483890" r:id="rId240"/>
    <p:sldLayoutId id="2147483891" r:id="rId241"/>
    <p:sldLayoutId id="2147483892" r:id="rId242"/>
    <p:sldLayoutId id="2147483893" r:id="rId243"/>
    <p:sldLayoutId id="2147483894" r:id="rId244"/>
    <p:sldLayoutId id="2147483895" r:id="rId245"/>
    <p:sldLayoutId id="2147483896" r:id="rId246"/>
    <p:sldLayoutId id="2147483897" r:id="rId247"/>
    <p:sldLayoutId id="2147483898" r:id="rId248"/>
    <p:sldLayoutId id="2147483899" r:id="rId249"/>
    <p:sldLayoutId id="2147483900" r:id="rId250"/>
    <p:sldLayoutId id="2147483901" r:id="rId251"/>
    <p:sldLayoutId id="2147483902" r:id="rId252"/>
    <p:sldLayoutId id="2147483903" r:id="rId253"/>
    <p:sldLayoutId id="2147483904" r:id="rId254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