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주 서사 (기관 수)</c:v>
                </c:pt>
              </c:strCache>
            </c:strRef>
          </c:tx>
          <c:spPr>
            <a:pattFill prst="wdUpDiag">
              <a:fgClr>
                <a:srgbClr val="00B0F6"/>
              </a:fgClr>
              <a:bgClr>
                <a:srgbClr val="30C2FF"/>
              </a:bgClr>
            </a:pattFill>
          </c:spPr>
          <c:cat>
            <c:strRef>
              <c:f>Sheet1!$A$2:$A$10</c:f>
              <c:strCache>
                <c:ptCount val="9"/>
                <c:pt idx="0">
                  <c:v>폐쇄루프</c:v>
                </c:pt>
                <c:pt idx="1">
                  <c:v>협의체</c:v>
                </c:pt>
                <c:pt idx="2">
                  <c:v>법제·준법</c:v>
                </c:pt>
                <c:pt idx="3">
                  <c:v>다층소통</c:v>
                </c:pt>
                <c:pt idx="4">
                  <c:v>지표개선</c:v>
                </c:pt>
                <c:pt idx="5">
                  <c:v>제도변화</c:v>
                </c:pt>
                <c:pt idx="6">
                  <c:v>교육적용</c:v>
                </c:pt>
                <c:pt idx="7">
                  <c:v>위기·전환</c:v>
                </c:pt>
                <c:pt idx="8">
                  <c:v>미분류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6</c:v>
                </c:pt>
                <c:pt idx="2">
                  <c:v>9</c:v>
                </c:pt>
                <c:pt idx="3">
                  <c:v>5</c:v>
                </c:pt>
                <c:pt idx="4">
                  <c:v>4</c:v>
                </c:pt>
                <c:pt idx="5">
                  <c:v>5</c:v>
                </c:pt>
                <c:pt idx="6">
                  <c:v>0</c:v>
                </c:pt>
                <c:pt idx="7">
                  <c:v>3</c:v>
                </c:pt>
                <c:pt idx="8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보조 서사 (기관 수)</c:v>
                </c:pt>
              </c:strCache>
            </c:strRef>
          </c:tx>
          <c:spPr>
            <a:pattFill prst="wdUpDiag">
              <a:fgClr>
                <a:srgbClr val="C1D1ED"/>
              </a:fgClr>
              <a:bgClr>
                <a:srgbClr val="CCD9F0"/>
              </a:bgClr>
            </a:pattFill>
          </c:spPr>
          <c:cat>
            <c:strRef>
              <c:f>Sheet1!$A$2:$A$10</c:f>
              <c:strCache>
                <c:ptCount val="9"/>
                <c:pt idx="0">
                  <c:v>폐쇄루프</c:v>
                </c:pt>
                <c:pt idx="1">
                  <c:v>협의체</c:v>
                </c:pt>
                <c:pt idx="2">
                  <c:v>법제·준법</c:v>
                </c:pt>
                <c:pt idx="3">
                  <c:v>다층소통</c:v>
                </c:pt>
                <c:pt idx="4">
                  <c:v>지표개선</c:v>
                </c:pt>
                <c:pt idx="5">
                  <c:v>제도변화</c:v>
                </c:pt>
                <c:pt idx="6">
                  <c:v>교육적용</c:v>
                </c:pt>
                <c:pt idx="7">
                  <c:v>위기·전환</c:v>
                </c:pt>
                <c:pt idx="8">
                  <c:v>미분류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8</c:v>
                </c:pt>
                <c:pt idx="4">
                  <c:v>3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D9C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DEE6F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.0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0035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간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4" name="간지 번호"/>
          <p:cNvSpPr>
            <a:spLocks noGrp="1"/>
          </p:cNvSpPr>
          <p:nvPr>
            <p:ph type="body" sz="quarter" idx="13"/>
          </p:nvPr>
        </p:nvSpPr>
        <p:spPr>
          <a:xfrm>
            <a:off x="756000" y="3960000"/>
            <a:ext cx="2160000" cy="1080000"/>
          </a:xfrm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540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01</a:t>
            </a:r>
          </a:p>
        </p:txBody>
      </p:sp>
      <p:sp>
        <p:nvSpPr>
          <p:cNvPr id="5" name="간지 제목"/>
          <p:cNvSpPr>
            <a:spLocks noGrp="1"/>
          </p:cNvSpPr>
          <p:nvPr>
            <p:ph type="title"/>
          </p:nvPr>
        </p:nvSpPr>
        <p:spPr>
          <a:xfrm>
            <a:off x="756000" y="5184000"/>
            <a:ext cx="6048000" cy="129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간지 제목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면 경로"/>
          <p:cNvSpPr>
            <a:spLocks noGrp="1"/>
          </p:cNvSpPr>
          <p:nvPr>
            <p:ph type="body" sz="quarter" idx="13"/>
          </p:nvPr>
        </p:nvSpPr>
        <p:spPr>
          <a:xfrm>
            <a:off x="540000" y="360000"/>
            <a:ext cx="4680000" cy="288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| 04. 조직 운영 및 관리 | 노사관계</a:t>
            </a:r>
          </a:p>
        </p:txBody>
      </p:sp>
      <p:pic>
        <p:nvPicPr>
          <p:cNvPr id="3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00" y="381600"/>
            <a:ext cx="1188000" cy="220247"/>
          </a:xfrm>
          <a:prstGeom prst="rect">
            <a:avLst/>
          </a:prstGeom>
        </p:spPr>
      </p:pic>
      <p:sp>
        <p:nvSpPr>
          <p:cNvPr id="4" name="머리글 실선"/>
          <p:cNvSpPr/>
          <p:nvPr/>
        </p:nvSpPr>
        <p:spPr>
          <a:xfrm>
            <a:off x="540000" y="684000"/>
            <a:ext cx="6480000" cy="25200"/>
          </a:xfrm>
          <a:prstGeom prst="rect">
            <a:avLst/>
          </a:prstGeom>
          <a:solidFill>
            <a:srgbClr val="0051B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GM 기준선"/>
          <p:cNvSpPr/>
          <p:nvPr/>
        </p:nvSpPr>
        <p:spPr>
          <a:xfrm>
            <a:off x="540000" y="792000"/>
            <a:ext cx="64800" cy="4500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Governing Message"/>
          <p:cNvSpPr>
            <a:spLocks noGrp="1"/>
          </p:cNvSpPr>
          <p:nvPr>
            <p:ph type="title"/>
          </p:nvPr>
        </p:nvSpPr>
        <p:spPr>
          <a:xfrm>
            <a:off x="702000" y="774000"/>
            <a:ext cx="6318000" cy="48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Governing Message</a:t>
            </a:r>
          </a:p>
        </p:txBody>
      </p:sp>
      <p:sp>
        <p:nvSpPr>
          <p:cNvPr id="7" name="GM 하단 띠"/>
          <p:cNvSpPr/>
          <p:nvPr/>
        </p:nvSpPr>
        <p:spPr>
          <a:xfrm>
            <a:off x="540000" y="1296000"/>
            <a:ext cx="6480000" cy="18000"/>
          </a:xfrm>
          <a:prstGeom prst="rect">
            <a:avLst/>
          </a:prstGeom>
          <a:solidFill>
            <a:srgbClr val="DEE6F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8" name="출처·주석"/>
          <p:cNvSpPr>
            <a:spLocks noGrp="1"/>
          </p:cNvSpPr>
          <p:nvPr>
            <p:ph type="body" sz="quarter" idx="16"/>
          </p:nvPr>
        </p:nvSpPr>
        <p:spPr>
          <a:xfrm>
            <a:off x="540000" y="10026000"/>
            <a:ext cx="6048000" cy="306000"/>
          </a:xfrm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출처·주석</a:t>
            </a:r>
          </a:p>
        </p:txBody>
      </p:sp>
      <p:sp>
        <p:nvSpPr>
          <p:cNvPr id="9" name="페이지 탭"/>
          <p:cNvSpPr/>
          <p:nvPr/>
        </p:nvSpPr>
        <p:spPr>
          <a:xfrm>
            <a:off x="6678000" y="10008000"/>
            <a:ext cx="342000" cy="3240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10" name="페이지 번호"/>
          <p:cNvSpPr txBox="1"/>
          <p:nvPr/>
        </p:nvSpPr>
        <p:spPr>
          <a:xfrm>
            <a:off x="6678000" y="10008000"/>
            <a:ext cx="342000" cy="3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fld id="{B6F15528-21DE-4FAA-801E-634DDDAF4B2B}" type="slidenum">
              <a:rPr lang="en-US" sz="1200" b="1">
                <a:solidFill>
                  <a:srgbClr val="003764"/>
                </a:solidFill>
                <a:latin typeface="Pretendard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공공기관 노사관계 지표</a:t>
            </a:r>
          </a:p>
          <a:p>
            <a:r>
              <a:t>전수검토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종합 B등급 이상 44개 기관의 서사 유형과</a:t>
            </a:r>
          </a:p>
          <a:p>
            <a:r>
              <a:t>KORAD 경영실적보고서 지면 레이아웃(A4 세로)</a:t>
            </a:r>
          </a:p>
        </p:txBody>
      </p:sp>
      <p:sp>
        <p:nvSpPr>
          <p:cNvPr id="4" name="표지 라벨"/>
          <p:cNvSpPr/>
          <p:nvPr/>
        </p:nvSpPr>
        <p:spPr>
          <a:xfrm>
            <a:off x="756000" y="2376000"/>
            <a:ext cx="2232000" cy="288000"/>
          </a:xfrm>
          <a:prstGeom prst="roundRect">
            <a:avLst>
              <a:gd name="adj" fmla="val 50000"/>
            </a:avLst>
          </a:prstGeom>
          <a:solidFill>
            <a:srgbClr val="B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KORAD 경영평가 · 노사관계</a:t>
            </a:r>
          </a:p>
        </p:txBody>
      </p:sp>
      <p:sp>
        <p:nvSpPr>
          <p:cNvPr id="5" name="표지 일자"/>
          <p:cNvSpPr/>
          <p:nvPr/>
        </p:nvSpPr>
        <p:spPr>
          <a:xfrm>
            <a:off x="756000" y="6048000"/>
            <a:ext cx="1656000" cy="288000"/>
          </a:xfrm>
          <a:prstGeom prst="roundRect">
            <a:avLst>
              <a:gd name="adj" fmla="val 50000"/>
            </a:avLst>
          </a:prstGeom>
          <a:solidFill>
            <a:srgbClr val="B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2026. 10. 26. (월)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보고요지: 노사 우수는 '채널'이 아니라 닫힌 고리에서 갈리고, 지면은 보고서 형식을 따른다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기관별 공식평가 재검증(2026.9.24.)</a:t>
            </a:r>
          </a:p>
        </p:txBody>
      </p:sp>
      <p:sp>
        <p:nvSpPr>
          <p:cNvPr id="5" name="보고요지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보고요지</a:t>
            </a:r>
          </a:p>
        </p:txBody>
      </p:sp>
      <p:sp>
        <p:nvSpPr>
          <p:cNvPr id="6" name="보고요지 본문"/>
          <p:cNvSpPr txBox="1"/>
          <p:nvPr/>
        </p:nvSpPr>
        <p:spPr>
          <a:xfrm>
            <a:off x="540000" y="1836000"/>
            <a:ext cx="6480000" cy="18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종합 B등급 이상 44개 기관(A 15·B 29)의 노사관계 공식 평가를 전수 분류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노사 B0 이상은 15개(34%), C는 20개(45%), D+는 9개(20%) — 종합등급이 노사 우수성을 보장하지 않음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실적 서사는 8유형이며 37개 기관이 분류되고 7개는 상세 문장 미확인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레이아웃은 일반 PPT가 아니라 경영실적보고서 지면 체계로 설계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보고서 순서: 지표 개요 → 지표 차례 → Ⅰ 지적사항 조치실적 → Ⅱ 주요 추진실적 → Ⅲ 평가내용별 추진실적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평가내용별 추진실적(FULL·HALF BP)에 8유형 본문 모듈을 끼우고, 하단 성과 띠로 마무리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A4 세로, 여백 좌우 15·상하 10mm, 글자 12·14·15pt로 마스터에 고정</a:t>
            </a:r>
          </a:p>
        </p:txBody>
      </p:sp>
      <p:sp>
        <p:nvSpPr>
          <p:cNvPr id="7" name="핵심 진단 띠"/>
          <p:cNvSpPr/>
          <p:nvPr/>
        </p:nvSpPr>
        <p:spPr>
          <a:xfrm>
            <a:off x="540000" y="3916210"/>
            <a:ext cx="6480000" cy="306000"/>
          </a:xfrm>
          <a:prstGeom prst="rect">
            <a:avLst/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핵심 진단</a:t>
            </a:r>
          </a:p>
        </p:txBody>
      </p:sp>
      <p:graphicFrame>
        <p:nvGraphicFramePr>
          <p:cNvPr id="8" name="핵심 진단 표"/>
          <p:cNvGraphicFramePr>
            <a:graphicFrameLocks noGrp="1"/>
          </p:cNvGraphicFramePr>
          <p:nvPr/>
        </p:nvGraphicFramePr>
        <p:xfrm>
          <a:off x="540000" y="4312210"/>
          <a:ext cx="6480000" cy="1287000"/>
        </p:xfrm>
        <a:graphic>
          <a:graphicData uri="http://schemas.openxmlformats.org/drawingml/2006/table">
            <a:tbl>
              <a:tblPr/>
              <a:tblGrid>
                <a:gridCol w="936000"/>
                <a:gridCol w="3168000"/>
                <a:gridCol w="2376000"/>
              </a:tblGrid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확인된 흐름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지면 반영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최다 서사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 9개 기관(주 유형 기준)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BP 모듈 C 위험·통제·잔여 표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등급 편차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 B0 이상 비율 — 에너지 공기업 83%, 기금관리 0%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보고요지·분포 표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반복 지적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미종결 안건·대표성·효과 검증이 공통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Ⅰ 지적사항 조치실적 지면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주석"/>
          <p:cNvSpPr txBox="1"/>
          <p:nvPr/>
        </p:nvSpPr>
        <p:spPr>
          <a:xfrm>
            <a:off x="540000" y="5707210"/>
            <a:ext cx="6480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서사 분류는 분석자 판단이며 공식 경영평가 체계가 아님. 근거는 2025 공식 평가 재검증 문서.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기관별 공식평가 재검증(2026.9.24.)</a:t>
            </a:r>
          </a:p>
        </p:txBody>
      </p:sp>
      <p:sp>
        <p:nvSpPr>
          <p:cNvPr id="5" name="목차 번호"/>
          <p:cNvSpPr txBox="1"/>
          <p:nvPr/>
        </p:nvSpPr>
        <p:spPr>
          <a:xfrm>
            <a:off x="612000" y="1656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Ⅰ</a:t>
            </a:r>
          </a:p>
        </p:txBody>
      </p:sp>
      <p:sp>
        <p:nvSpPr>
          <p:cNvPr id="6" name="목차 제목"/>
          <p:cNvSpPr txBox="1"/>
          <p:nvPr/>
        </p:nvSpPr>
        <p:spPr>
          <a:xfrm>
            <a:off x="1188000" y="1656000"/>
            <a:ext cx="50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spc="-75" dirty="0">
                <a:solidFill>
                  <a:srgbClr val="000359"/>
                </a:solidFill>
                <a:latin typeface="Pretendard"/>
                <a:ea typeface="Pretendard"/>
              </a:rPr>
              <a:t>검토 개요</a:t>
            </a:r>
          </a:p>
        </p:txBody>
      </p:sp>
      <p:sp>
        <p:nvSpPr>
          <p:cNvPr id="7" name="쪽"/>
          <p:cNvSpPr txBox="1"/>
          <p:nvPr/>
        </p:nvSpPr>
        <p:spPr>
          <a:xfrm>
            <a:off x="6444000" y="1656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ABB9CE"/>
                </a:solidFill>
                <a:latin typeface="Pretendard"/>
                <a:ea typeface="Pretendard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000" y="2052000"/>
            <a:ext cx="5760000" cy="0"/>
          </a:xfrm>
          <a:prstGeom prst="line">
            <a:avLst/>
          </a:prstGeom>
          <a:ln w="9525">
            <a:solidFill>
              <a:srgbClr val="00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목차 번호"/>
          <p:cNvSpPr txBox="1"/>
          <p:nvPr/>
        </p:nvSpPr>
        <p:spPr>
          <a:xfrm>
            <a:off x="612000" y="2340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Ⅱ</a:t>
            </a:r>
          </a:p>
        </p:txBody>
      </p:sp>
      <p:sp>
        <p:nvSpPr>
          <p:cNvPr id="10" name="목차 제목"/>
          <p:cNvSpPr txBox="1"/>
          <p:nvPr/>
        </p:nvSpPr>
        <p:spPr>
          <a:xfrm>
            <a:off x="1188000" y="2340000"/>
            <a:ext cx="50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spc="-75" dirty="0">
                <a:solidFill>
                  <a:srgbClr val="000359"/>
                </a:solidFill>
                <a:latin typeface="Pretendard"/>
                <a:ea typeface="Pretendard"/>
              </a:rPr>
              <a:t>44개 기관 전수 분류와 서사 유형</a:t>
            </a:r>
          </a:p>
        </p:txBody>
      </p:sp>
      <p:sp>
        <p:nvSpPr>
          <p:cNvPr id="11" name="쪽"/>
          <p:cNvSpPr txBox="1"/>
          <p:nvPr/>
        </p:nvSpPr>
        <p:spPr>
          <a:xfrm>
            <a:off x="6444000" y="2340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ABB9CE"/>
                </a:solidFill>
                <a:latin typeface="Pretendard"/>
                <a:ea typeface="Pretendard"/>
              </a:rPr>
              <a:t>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000" y="2736000"/>
            <a:ext cx="5760000" cy="0"/>
          </a:xfrm>
          <a:prstGeom prst="line">
            <a:avLst/>
          </a:prstGeom>
          <a:ln w="9525">
            <a:solidFill>
              <a:srgbClr val="00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목차 번호"/>
          <p:cNvSpPr txBox="1"/>
          <p:nvPr/>
        </p:nvSpPr>
        <p:spPr>
          <a:xfrm>
            <a:off x="612000" y="3024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Ⅲ</a:t>
            </a:r>
          </a:p>
        </p:txBody>
      </p:sp>
      <p:sp>
        <p:nvSpPr>
          <p:cNvPr id="14" name="목차 제목"/>
          <p:cNvSpPr txBox="1"/>
          <p:nvPr/>
        </p:nvSpPr>
        <p:spPr>
          <a:xfrm>
            <a:off x="1188000" y="3024000"/>
            <a:ext cx="50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spc="-75" dirty="0">
                <a:solidFill>
                  <a:srgbClr val="000359"/>
                </a:solidFill>
                <a:latin typeface="Pretendard"/>
                <a:ea typeface="Pretendard"/>
              </a:rPr>
              <a:t>경영실적보고서 지면 체계(원본 구조)</a:t>
            </a:r>
          </a:p>
        </p:txBody>
      </p:sp>
      <p:sp>
        <p:nvSpPr>
          <p:cNvPr id="15" name="쪽"/>
          <p:cNvSpPr txBox="1"/>
          <p:nvPr/>
        </p:nvSpPr>
        <p:spPr>
          <a:xfrm>
            <a:off x="6444000" y="3024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ABB9CE"/>
                </a:solidFill>
                <a:latin typeface="Pretendard"/>
                <a:ea typeface="Pretendard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3420000"/>
            <a:ext cx="5760000" cy="0"/>
          </a:xfrm>
          <a:prstGeom prst="line">
            <a:avLst/>
          </a:prstGeom>
          <a:ln w="9525">
            <a:solidFill>
              <a:srgbClr val="00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목차 번호"/>
          <p:cNvSpPr txBox="1"/>
          <p:nvPr/>
        </p:nvSpPr>
        <p:spPr>
          <a:xfrm>
            <a:off x="612000" y="3708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Ⅳ</a:t>
            </a:r>
          </a:p>
        </p:txBody>
      </p:sp>
      <p:sp>
        <p:nvSpPr>
          <p:cNvPr id="18" name="목차 제목"/>
          <p:cNvSpPr txBox="1"/>
          <p:nvPr/>
        </p:nvSpPr>
        <p:spPr>
          <a:xfrm>
            <a:off x="1188000" y="3708000"/>
            <a:ext cx="50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spc="-75" dirty="0">
                <a:solidFill>
                  <a:srgbClr val="000359"/>
                </a:solidFill>
                <a:latin typeface="Pretendard"/>
                <a:ea typeface="Pretendard"/>
              </a:rPr>
              <a:t>지면 레이아웃 R0~R4 (지표 간지·개요·차례·지적사항·주요실적)</a:t>
            </a:r>
          </a:p>
        </p:txBody>
      </p:sp>
      <p:sp>
        <p:nvSpPr>
          <p:cNvPr id="19" name="쪽"/>
          <p:cNvSpPr txBox="1"/>
          <p:nvPr/>
        </p:nvSpPr>
        <p:spPr>
          <a:xfrm>
            <a:off x="6444000" y="3708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ABB9CE"/>
                </a:solidFill>
                <a:latin typeface="Pretendard"/>
                <a:ea typeface="Pretendard"/>
              </a:rPr>
              <a:t>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000" y="4104000"/>
            <a:ext cx="5760000" cy="0"/>
          </a:xfrm>
          <a:prstGeom prst="line">
            <a:avLst/>
          </a:prstGeom>
          <a:ln w="9525">
            <a:solidFill>
              <a:srgbClr val="00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목차 번호"/>
          <p:cNvSpPr txBox="1"/>
          <p:nvPr/>
        </p:nvSpPr>
        <p:spPr>
          <a:xfrm>
            <a:off x="612000" y="4392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Ⅴ</a:t>
            </a:r>
          </a:p>
        </p:txBody>
      </p:sp>
      <p:sp>
        <p:nvSpPr>
          <p:cNvPr id="22" name="목차 제목"/>
          <p:cNvSpPr txBox="1"/>
          <p:nvPr/>
        </p:nvSpPr>
        <p:spPr>
          <a:xfrm>
            <a:off x="1188000" y="4392000"/>
            <a:ext cx="50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spc="-75" dirty="0">
                <a:solidFill>
                  <a:srgbClr val="000359"/>
                </a:solidFill>
                <a:latin typeface="Pretendard"/>
                <a:ea typeface="Pretendard"/>
              </a:rPr>
              <a:t>평가내용별 추진실적 BP 모듈 A~H</a:t>
            </a:r>
          </a:p>
        </p:txBody>
      </p:sp>
      <p:sp>
        <p:nvSpPr>
          <p:cNvPr id="23" name="쪽"/>
          <p:cNvSpPr txBox="1"/>
          <p:nvPr/>
        </p:nvSpPr>
        <p:spPr>
          <a:xfrm>
            <a:off x="6444000" y="4392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ABB9CE"/>
                </a:solidFill>
                <a:latin typeface="Pretendard"/>
                <a:ea typeface="Pretendard"/>
              </a:rPr>
              <a:t>14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88000" y="4788000"/>
            <a:ext cx="5760000" cy="0"/>
          </a:xfrm>
          <a:prstGeom prst="line">
            <a:avLst/>
          </a:prstGeom>
          <a:ln w="9525">
            <a:solidFill>
              <a:srgbClr val="00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목차 번호"/>
          <p:cNvSpPr txBox="1"/>
          <p:nvPr/>
        </p:nvSpPr>
        <p:spPr>
          <a:xfrm>
            <a:off x="612000" y="5076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Ⅵ</a:t>
            </a:r>
          </a:p>
        </p:txBody>
      </p:sp>
      <p:sp>
        <p:nvSpPr>
          <p:cNvPr id="26" name="목차 제목"/>
          <p:cNvSpPr txBox="1"/>
          <p:nvPr/>
        </p:nvSpPr>
        <p:spPr>
          <a:xfrm>
            <a:off x="1188000" y="5076000"/>
            <a:ext cx="50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spc="-75" dirty="0">
                <a:solidFill>
                  <a:srgbClr val="000359"/>
                </a:solidFill>
                <a:latin typeface="Pretendard"/>
                <a:ea typeface="Pretendard"/>
              </a:rPr>
              <a:t>반쪽 BP·성과 입증 지면과 A4 표준</a:t>
            </a:r>
          </a:p>
        </p:txBody>
      </p:sp>
      <p:sp>
        <p:nvSpPr>
          <p:cNvPr id="27" name="쪽"/>
          <p:cNvSpPr txBox="1"/>
          <p:nvPr/>
        </p:nvSpPr>
        <p:spPr>
          <a:xfrm>
            <a:off x="6444000" y="5076000"/>
            <a:ext cx="50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ABB9CE"/>
                </a:solidFill>
                <a:latin typeface="Pretendard"/>
                <a:ea typeface="Pretendard"/>
              </a:rPr>
              <a:t>22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88000" y="5472000"/>
            <a:ext cx="5760000" cy="0"/>
          </a:xfrm>
          <a:prstGeom prst="line">
            <a:avLst/>
          </a:prstGeom>
          <a:ln w="9525">
            <a:solidFill>
              <a:srgbClr val="00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해설 박스"/>
          <p:cNvSpPr/>
          <p:nvPr/>
        </p:nvSpPr>
        <p:spPr>
          <a:xfrm>
            <a:off x="540000" y="5904000"/>
            <a:ext cx="6480000" cy="1224000"/>
          </a:xfrm>
          <a:prstGeom prst="roundRect">
            <a:avLst>
              <a:gd name="adj" fmla="val 4000"/>
            </a:avLst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5200" rIns="115200" tIns="86400" bIns="86400" wrap="square"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읽는 순서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Ⅰ~Ⅱ에서 44개 기관을 분류하고, Ⅲ에서 실제 보고서 지면 구조를 확인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Ⅳ~Ⅵ에서 지면별 레이아웃을 사례와 함께 제시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1-1. 종합 B등급 이상 44개 기관 중 노사 우수는 15개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기관별 공식평가 재검증(2026.9.24.)</a:t>
            </a:r>
          </a:p>
        </p:txBody>
      </p:sp>
      <p:sp>
        <p:nvSpPr>
          <p:cNvPr id="5" name="핵심 수치"/>
          <p:cNvSpPr txBox="1"/>
          <p:nvPr/>
        </p:nvSpPr>
        <p:spPr>
          <a:xfrm>
            <a:off x="540000" y="1440000"/>
            <a:ext cx="2064000" cy="900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검토 기관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44개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종합 A 15 · B 29</a:t>
            </a:r>
          </a:p>
        </p:txBody>
      </p:sp>
      <p:sp>
        <p:nvSpPr>
          <p:cNvPr id="6" name="핵심 수치"/>
          <p:cNvSpPr txBox="1"/>
          <p:nvPr/>
        </p:nvSpPr>
        <p:spPr>
          <a:xfrm>
            <a:off x="2748000" y="1440000"/>
            <a:ext cx="2064000" cy="900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노사 B0 이상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15개 (34%)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B+ 2 · B0 13</a:t>
            </a:r>
          </a:p>
        </p:txBody>
      </p:sp>
      <p:sp>
        <p:nvSpPr>
          <p:cNvPr id="7" name="핵심 수치"/>
          <p:cNvSpPr txBox="1"/>
          <p:nvPr/>
        </p:nvSpPr>
        <p:spPr>
          <a:xfrm>
            <a:off x="4956000" y="1440000"/>
            <a:ext cx="2064000" cy="900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노사 D+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9개 (20%)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KORAD 포함</a:t>
            </a:r>
          </a:p>
        </p:txBody>
      </p:sp>
      <p:sp>
        <p:nvSpPr>
          <p:cNvPr id="8" name="캡션"/>
          <p:cNvSpPr/>
          <p:nvPr/>
        </p:nvSpPr>
        <p:spPr>
          <a:xfrm>
            <a:off x="2340000" y="2484000"/>
            <a:ext cx="2880000" cy="237600"/>
          </a:xfrm>
          <a:prstGeom prst="roundRect">
            <a:avLst>
              <a:gd name="adj" fmla="val 50000"/>
            </a:avLst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8EFF"/>
                </a:solidFill>
                <a:latin typeface="Pretendard"/>
                <a:ea typeface="Pretendard"/>
              </a:rPr>
              <a:t>종합등급 × 노사등급 (기관 수)</a:t>
            </a:r>
          </a:p>
        </p:txBody>
      </p:sp>
      <p:graphicFrame>
        <p:nvGraphicFramePr>
          <p:cNvPr id="9" name="종합×노사 매트릭스"/>
          <p:cNvGraphicFramePr>
            <a:graphicFrameLocks noGrp="1"/>
          </p:cNvGraphicFramePr>
          <p:nvPr/>
        </p:nvGraphicFramePr>
        <p:xfrm>
          <a:off x="540000" y="2808000"/>
          <a:ext cx="6480000" cy="2034000"/>
        </p:xfrm>
        <a:graphic>
          <a:graphicData uri="http://schemas.openxmlformats.org/drawingml/2006/table">
            <a:tbl>
              <a:tblPr/>
              <a:tblGrid>
                <a:gridCol w="864000"/>
                <a:gridCol w="1872000"/>
                <a:gridCol w="2016000"/>
                <a:gridCol w="1728000"/>
              </a:tblGrid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노사 B+ · B0 (15)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노사 C (20)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노사 D+ (9)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종합 A (15)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남동(B+)·한전·남부·수력원자력·한전KDN·산업기술진흥원·예금보험공사·교통안전공단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조폐·KOTRA·무역보험·건보심사평가원·근로복지·가스안전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국민연금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3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종합 B (29)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도로공사(B+)·중부·부동산원·한전KPS·수자원·관광·산업기술기획평가원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지역난방·마사회·인천공항·산단공·에너지공단·지능정보원·중진공·주택금융·사회보장정보원·소비자원·장학·환경공단·산업안전보건·전기안전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주택도시보증·LH·소진공·농수산유통·보훈복지의료·재정정보원·KORAD·전력거래소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해설 박스"/>
          <p:cNvSpPr/>
          <p:nvPr/>
        </p:nvSpPr>
        <p:spPr>
          <a:xfrm>
            <a:off x="540000" y="4986000"/>
            <a:ext cx="6480000" cy="864000"/>
          </a:xfrm>
          <a:prstGeom prst="roundRect">
            <a:avLst>
              <a:gd name="adj" fmla="val 4000"/>
            </a:avLst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5200" rIns="115200" tIns="86400" bIns="86400" wrap="square"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쉽게 말하면) </a:t>
            </a: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학교 전체 석차(종합)가 상위권이어도 '대인관계' 과목(노사)은 낙제점일 수 있습니다. 종합 A 15개 중 노사 C 이하가 7개입니다.</a:t>
            </a:r>
          </a:p>
        </p:txBody>
      </p:sp>
      <p:sp>
        <p:nvSpPr>
          <p:cNvPr id="11" name="주석"/>
          <p:cNvSpPr txBox="1"/>
          <p:nvPr/>
        </p:nvSpPr>
        <p:spPr>
          <a:xfrm>
            <a:off x="540000" y="5994000"/>
            <a:ext cx="648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B등급 이상은 종합등급 A·B 기준(분석자 해석). 노사 B+·B0를 우수군으로 봄.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기관명은 줄여 표기. 등급은 2025 공식 평가 재검증 문서 기준.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2-1. 기관별 주 서사 유형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재검증(2026.9.24.) · 분석자 분류</a:t>
            </a:r>
          </a:p>
        </p:txBody>
      </p:sp>
      <p:graphicFrame>
        <p:nvGraphicFramePr>
          <p:cNvPr id="5" name="분류표 1/2"/>
          <p:cNvGraphicFramePr>
            <a:graphicFrameLocks noGrp="1"/>
          </p:cNvGraphicFramePr>
          <p:nvPr/>
        </p:nvGraphicFramePr>
        <p:xfrm>
          <a:off x="540000" y="1440000"/>
          <a:ext cx="6480000" cy="6604200"/>
        </p:xfrm>
        <a:graphic>
          <a:graphicData uri="http://schemas.openxmlformats.org/drawingml/2006/table">
            <a:tbl>
              <a:tblPr/>
              <a:tblGrid>
                <a:gridCol w="1728000"/>
                <a:gridCol w="864000"/>
                <a:gridCol w="1800000"/>
                <a:gridCol w="2088000"/>
              </a:tblGrid>
              <a:tr h="257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기관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종합 / 노사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주 서사 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보조 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428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한국전력공사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위기·전환 공동대응형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 · 교육·역량 적용형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한국남동발전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 · 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한국남부발전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지수·지표 개선형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한국수력원자력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위기·전환 공동대응형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한국중부발전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위기·전환 공동대응형 · 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한국지역난방공사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위기·전환 공동대응형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지수·지표 개선형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주택도시보증공사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지수·지표 개선형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한국부동산원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한국조폐공사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위기·전환 공동대응형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한전KDN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 · 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한전KPS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위기·전환 공동대응형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한국마사회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인천국제공항공사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5D7280"/>
                          </a:solidFill>
                          <a:latin typeface="Pretendard"/>
                          <a:ea typeface="Pretendard"/>
                        </a:rPr>
                        <a:t>미분류(건수만 확인)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한국도로공사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한국수자원공사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한국토지주택공사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위기·전환 공동대응형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대한무역투자진흥공사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5D7280"/>
                          </a:solidFill>
                          <a:latin typeface="Pretendard"/>
                          <a:ea typeface="Pretendard"/>
                        </a:rPr>
                        <a:t>미분류(건수만 확인)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소상공인시장진흥공단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5D7280"/>
                          </a:solidFill>
                          <a:latin typeface="Pretendard"/>
                          <a:ea typeface="Pretendard"/>
                        </a:rPr>
                        <a:t>미분류(건수만 확인)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한국관광공사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한국농수산식품유통공사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지수·지표 개선형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한국산업기술진흥원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한국산업기술기획평가원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주석"/>
          <p:cNvSpPr txBox="1"/>
          <p:nvPr/>
        </p:nvSpPr>
        <p:spPr>
          <a:xfrm>
            <a:off x="540000" y="8152200"/>
            <a:ext cx="6480000" cy="50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굵게 표시한 등급은 노사 B+·B0(우수군). 주 유형은 기관 실적 서사의 중심, 보조 유형은 함께 나타난 서사.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2-1. 기관별 주 서사 유형 (2/2)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재검증(2026.9.24.) · 분석자 분류</a:t>
            </a:r>
          </a:p>
        </p:txBody>
      </p:sp>
      <p:graphicFrame>
        <p:nvGraphicFramePr>
          <p:cNvPr id="5" name="분류표 2/2"/>
          <p:cNvGraphicFramePr>
            <a:graphicFrameLocks noGrp="1"/>
          </p:cNvGraphicFramePr>
          <p:nvPr/>
        </p:nvGraphicFramePr>
        <p:xfrm>
          <a:off x="540000" y="1440000"/>
          <a:ext cx="6480000" cy="6262200"/>
        </p:xfrm>
        <a:graphic>
          <a:graphicData uri="http://schemas.openxmlformats.org/drawingml/2006/table">
            <a:tbl>
              <a:tblPr/>
              <a:tblGrid>
                <a:gridCol w="1728000"/>
                <a:gridCol w="864000"/>
                <a:gridCol w="1800000"/>
                <a:gridCol w="2088000"/>
              </a:tblGrid>
              <a:tr h="257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기관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종합 / 노사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주 서사 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보조 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한국산업단지공단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5D7280"/>
                          </a:solidFill>
                          <a:latin typeface="Pretendard"/>
                          <a:ea typeface="Pretendard"/>
                        </a:rPr>
                        <a:t>미분류(건수만 확인)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한국에너지공단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5D7280"/>
                          </a:solidFill>
                          <a:latin typeface="Pretendard"/>
                          <a:ea typeface="Pretendard"/>
                        </a:rPr>
                        <a:t>미분류(건수만 확인)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한국지능정보사회진흥원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5D7280"/>
                          </a:solidFill>
                          <a:latin typeface="Pretendard"/>
                          <a:ea typeface="Pretendard"/>
                        </a:rPr>
                        <a:t>미분류(건수만 확인)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국민연금공단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중소벤처기업진흥공단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한국무역보험공사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한국주택금융공사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교육·역량 적용형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건강보험심사평가원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근로복지공단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예금보험공사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교육·역량 적용형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한국보훈복지의료공단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 · 교육·역량 적용형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한국사회보장정보원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5D7280"/>
                          </a:solidFill>
                          <a:latin typeface="Pretendard"/>
                          <a:ea typeface="Pretendard"/>
                        </a:rPr>
                        <a:t>미분류(건수만 확인)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한국소비자원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한국장학재단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교육·역량 적용형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한국재정정보원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지수·지표 개선형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제도·근로조건 변화형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한국환경공단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지수·지표 개선형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한국가스안전공사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한국교통안전공단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한국산업안전보건공단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폐쇄루프형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한국원자력환경공단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협의체·거버넌스형 · 지수·지표 개선형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한국전기안전공사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다층소통·대표성형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74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한국전력거래소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법제·준법 선제대응형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32400" marB="32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주석"/>
          <p:cNvSpPr txBox="1"/>
          <p:nvPr/>
        </p:nvSpPr>
        <p:spPr>
          <a:xfrm>
            <a:off x="540000" y="7810200"/>
            <a:ext cx="6480000" cy="50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굵게 표시한 등급은 노사 B+·B0(우수군). 주 유형은 기관 실적 서사의 중심, 보조 유형은 함께 나타난 서사.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2-2. 법제·준법형이 가장 많고, 교육 적용형은 보조 서사로 나타남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기관별 공식평가 재검증(2026.9.24.)</a:t>
            </a:r>
          </a:p>
        </p:txBody>
      </p:sp>
      <p:graphicFrame>
        <p:nvGraphicFramePr>
          <p:cNvPr id="5" name="유형별 분포 차트"/>
          <p:cNvGraphicFramePr>
            <a:graphicFrameLocks noGrp="1"/>
          </p:cNvGraphicFramePr>
          <p:nvPr/>
        </p:nvGraphicFramePr>
        <p:xfrm>
          <a:off x="540000" y="1764000"/>
          <a:ext cx="6480000" cy="345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차트 제목"/>
          <p:cNvSpPr/>
          <p:nvPr/>
        </p:nvSpPr>
        <p:spPr>
          <a:xfrm>
            <a:off x="540000" y="1440000"/>
            <a:ext cx="3168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유형별 기관 수 (주 37 · 미분류 7)</a:t>
            </a:r>
          </a:p>
        </p:txBody>
      </p:sp>
      <p:sp>
        <p:nvSpPr>
          <p:cNvPr id="7" name="해설 박스"/>
          <p:cNvSpPr/>
          <p:nvPr/>
        </p:nvSpPr>
        <p:spPr>
          <a:xfrm>
            <a:off x="540000" y="5328000"/>
            <a:ext cx="6480000" cy="2304000"/>
          </a:xfrm>
          <a:prstGeom prst="roundRect">
            <a:avLst>
              <a:gd name="adj" fmla="val 4000"/>
            </a:avLst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5200" rIns="115200" tIns="86400" bIns="86400" wrap="square"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읽는 법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주 서사는 기관당 1개(37개 기관), 보조 서사는 기관당 0~2개로 중복 집계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법제·준법형 9개: 노란봉투법·사용자성·준법점검을 중심에 둔 기관이 많음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교육 적용형은 주 서사가 없고 5개 기관에서 보조 서사로만 등장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미분류 7개: 인천공항·KOTRA·소진공·산단공·에너지공단·지능정보원·사회보장정보원은 공식 문장 수만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3-1. 보고서는 지표 개요에서 평가내용별 추진실적 순으로 구성된다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한국재정정보원·보훈복지의료공단 보고서 구성 · KPE 지면 역할</a:t>
            </a:r>
          </a:p>
        </p:txBody>
      </p:sp>
      <p:graphicFrame>
        <p:nvGraphicFramePr>
          <p:cNvPr id="5" name="지면 체계표"/>
          <p:cNvGraphicFramePr>
            <a:graphicFrameLocks noGrp="1"/>
          </p:cNvGraphicFramePr>
          <p:nvPr/>
        </p:nvGraphicFramePr>
        <p:xfrm>
          <a:off x="540000" y="1440000"/>
          <a:ext cx="6480000" cy="3366000"/>
        </p:xfrm>
        <a:graphic>
          <a:graphicData uri="http://schemas.openxmlformats.org/drawingml/2006/table">
            <a:tbl>
              <a:tblPr/>
              <a:tblGrid>
                <a:gridCol w="1152000"/>
                <a:gridCol w="2808000"/>
                <a:gridCol w="1584000"/>
                <a:gridCol w="936000"/>
              </a:tblGrid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지면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보고서에서 하는 일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지면 역할 · 점유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레이아웃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지표 간지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장 번호·장 제목, 지표 목록과 쪽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구분 · FULL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R0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지표 개요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지표명·가중치·평가방법·지표정의·평가내용·담당자표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개요 · FULL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R1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지표 차례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Ⅰ 지적사항, Ⅱ 주요 추진실적, Ⅲ 평가내용별 추진실적 쪽 안내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안내 · FULL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R2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Ⅰ 지적사항 조치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지적 → 조치 → 개선효과 → 잔여 Gap 추적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PR04 · FULL/HALF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R3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Ⅱ 주요 추진실적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전년 수준 → 금년 변화 → 개선효과 요약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PR01 · FULL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R4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Ⅲ 추진실적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평가내용 N 아래 추진실적 BP: 두괄식 제목, 본문 모듈, 성과 띠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PR03 · FULL BP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R5 A~H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반쪽 BP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서로 다른 두 사례를 한 쪽에 위아래로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PR03 · HALF×2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R6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성과·효과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Before/After, 수혜 범위, 재측정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PR05 · FULL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R7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해설 박스"/>
          <p:cNvSpPr/>
          <p:nvPr/>
        </p:nvSpPr>
        <p:spPr>
          <a:xfrm>
            <a:off x="540000" y="4950000"/>
            <a:ext cx="6480000" cy="1800000"/>
          </a:xfrm>
          <a:prstGeom prst="roundRect">
            <a:avLst>
              <a:gd name="adj" fmla="val 4000"/>
            </a:avLst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5200" rIns="115200" tIns="86400" bIns="86400" wrap="square"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원본 보고서에서 확인한 것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지표 쪽은 지표명·가중치·평가방법·지표정의·평가내용·담당자표로 시작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이어 Ⅰ 외부 지적사항 조치실적 → Ⅱ 주요 추진실적 → Ⅲ 세부평가내용별 추진실적 순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KORAD 보고서 쪽(104~112)은 이미지 PDF라 텍스트로 읽지 못해 다른 기관 구성과 KPE 지면 규칙으로 보완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4" name="지표 목록"/>
          <p:cNvSpPr txBox="1"/>
          <p:nvPr/>
        </p:nvSpPr>
        <p:spPr>
          <a:xfrm>
            <a:off x="756000" y="6696000"/>
            <a:ext cx="60480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1500" spc="-75" dirty="0">
                <a:solidFill>
                  <a:srgbClr val="FFFFFF"/>
                </a:solidFill>
                <a:latin typeface="Pretendard"/>
                <a:ea typeface="Pretendard"/>
              </a:rPr>
              <a:t>조직 및 인적자원관리 ··············· [00]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노사관계 ··············· [00]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1500" spc="-75" dirty="0">
                <a:solidFill>
                  <a:srgbClr val="FFFFFF"/>
                </a:solidFill>
                <a:latin typeface="Pretendard"/>
                <a:ea typeface="Pretendard"/>
              </a:rPr>
              <a:t>보수 및 복리후생 ··············· [00]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1500" spc="-75" dirty="0">
                <a:solidFill>
                  <a:srgbClr val="FFFFFF"/>
                </a:solidFill>
                <a:latin typeface="Pretendard"/>
                <a:ea typeface="Pretendard"/>
              </a:rPr>
              <a:t>총인건비 관리(계량) ··············· [00]</a:t>
            </a:r>
          </a:p>
        </p:txBody>
      </p:sp>
      <p:sp>
        <p:nvSpPr>
          <p:cNvPr id="5" name="장 이름"/>
          <p:cNvSpPr txBox="1"/>
          <p:nvPr/>
        </p:nvSpPr>
        <p:spPr>
          <a:xfrm>
            <a:off x="756000" y="3528000"/>
            <a:ext cx="6048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spc="-75" dirty="0">
                <a:solidFill>
                  <a:srgbClr val="FFFFFF"/>
                </a:solidFill>
                <a:latin typeface="Pretendard"/>
                <a:ea typeface="Pretendard"/>
              </a:rPr>
              <a:t>Chapter  경영관리</a:t>
            </a:r>
          </a:p>
        </p:txBody>
      </p:sp>
      <p:sp>
        <p:nvSpPr>
          <p:cNvPr id="6" name="기관명"/>
          <p:cNvSpPr txBox="1"/>
          <p:nvPr/>
        </p:nvSpPr>
        <p:spPr>
          <a:xfrm>
            <a:off x="756000" y="9756000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한국원자력환경공단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R1. 지표 개요: 지표명·가중치·평가방법을 먼저 보이고 지표정의와 평가내용을 이어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2026 경영평가편람 노사관계 · 담당자는 기재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graphicFrame>
        <p:nvGraphicFramePr>
          <p:cNvPr id="9" name="지표 기본정보"/>
          <p:cNvGraphicFramePr>
            <a:graphicFrameLocks noGrp="1"/>
          </p:cNvGraphicFramePr>
          <p:nvPr/>
        </p:nvGraphicFramePr>
        <p:xfrm>
          <a:off x="540000" y="1440000"/>
          <a:ext cx="6480000" cy="324000"/>
        </p:xfrm>
        <a:graphic>
          <a:graphicData uri="http://schemas.openxmlformats.org/drawingml/2006/table">
            <a:tbl>
              <a:tblPr/>
              <a:tblGrid>
                <a:gridCol w="864000"/>
                <a:gridCol w="1584000"/>
                <a:gridCol w="864000"/>
                <a:gridCol w="864000"/>
                <a:gridCol w="1008000"/>
                <a:gridCol w="1296000"/>
              </a:tblGrid>
              <a:tr h="32400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지표명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노사관계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가중치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2.5점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평가방법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비계량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지표정의"/>
          <p:cNvGraphicFramePr>
            <a:graphicFrameLocks noGrp="1"/>
          </p:cNvGraphicFramePr>
          <p:nvPr/>
        </p:nvGraphicFramePr>
        <p:xfrm>
          <a:off x="540000" y="1872000"/>
          <a:ext cx="6480000" cy="504000"/>
        </p:xfrm>
        <a:graphic>
          <a:graphicData uri="http://schemas.openxmlformats.org/drawingml/2006/table">
            <a:tbl>
              <a:tblPr/>
              <a:tblGrid>
                <a:gridCol w="864000"/>
                <a:gridCol w="5616000"/>
              </a:tblGrid>
              <a:tr h="504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지표정의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협력체계의 적법·실질 운영, 의사소통과 관리역량 강화, 노사협력을 통한 근로조건의 실질적 향상을 함께 평가한다.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평가내용"/>
          <p:cNvGraphicFramePr>
            <a:graphicFrameLocks noGrp="1"/>
          </p:cNvGraphicFramePr>
          <p:nvPr/>
        </p:nvGraphicFramePr>
        <p:xfrm>
          <a:off x="540000" y="2484000"/>
          <a:ext cx="6480000" cy="1080000"/>
        </p:xfrm>
        <a:graphic>
          <a:graphicData uri="http://schemas.openxmlformats.org/drawingml/2006/table">
            <a:tbl>
              <a:tblPr/>
              <a:tblGrid>
                <a:gridCol w="864000"/>
                <a:gridCol w="5616000"/>
              </a:tblGrid>
              <a:tr h="1080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평가내용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① 협력체계의 적법·실질 운영 — 노사공동 준법점검, 근로시간면제, 적법도급, 현장관리 기준</a:t>
                      </a:r>
                    </a:p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② 의사소통과 관리역량 강화 — 전 계층 맞춤교육, 전문가 육성체계, 노동이사·노조간부 역량</a:t>
                      </a:r>
                    </a:p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③ 근로조건의 실질적 향상 — 실제 합의·규정·근로조건 변화와 사후이행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캡션"/>
          <p:cNvSpPr/>
          <p:nvPr/>
        </p:nvSpPr>
        <p:spPr>
          <a:xfrm>
            <a:off x="540000" y="3708000"/>
            <a:ext cx="1440000" cy="237600"/>
          </a:xfrm>
          <a:prstGeom prst="roundRect">
            <a:avLst>
              <a:gd name="adj" fmla="val 50000"/>
            </a:avLst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8EFF"/>
                </a:solidFill>
                <a:latin typeface="Pretendard"/>
                <a:ea typeface="Pretendard"/>
              </a:rPr>
              <a:t>담당자</a:t>
            </a:r>
          </a:p>
        </p:txBody>
      </p:sp>
      <p:graphicFrame>
        <p:nvGraphicFramePr>
          <p:cNvPr id="13" name="담당자표"/>
          <p:cNvGraphicFramePr>
            <a:graphicFrameLocks noGrp="1"/>
          </p:cNvGraphicFramePr>
          <p:nvPr/>
        </p:nvGraphicFramePr>
        <p:xfrm>
          <a:off x="540000" y="4032000"/>
          <a:ext cx="6480000" cy="1116000"/>
        </p:xfrm>
        <a:graphic>
          <a:graphicData uri="http://schemas.openxmlformats.org/drawingml/2006/table">
            <a:tbl>
              <a:tblPr/>
              <a:tblGrid>
                <a:gridCol w="1584000"/>
                <a:gridCol w="1296000"/>
                <a:gridCol w="1656000"/>
                <a:gridCol w="1944000"/>
              </a:tblGrid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직위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성명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연락처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E-mail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[직위 기재]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[성명]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[000-000-0000]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[이메일]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[직위 기재]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[성명]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[000-000-0000]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[이메일]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[직위 기재]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[성명]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[000-000-0000]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[이메일]</a:t>
                      </a:r>
                    </a:p>
                  </a:txBody>
                  <a:tcPr marL="57600" marR="57600" marT="43200" marB="43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주석"/>
          <p:cNvSpPr txBox="1"/>
          <p:nvPr/>
        </p:nvSpPr>
        <p:spPr>
          <a:xfrm>
            <a:off x="540000" y="5292000"/>
            <a:ext cx="6480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세부평가내용은 2026 경영평가편람 기준이며 해당 연도 편람으로 교체. 대괄호는 기재 항목.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R2. 지표 차례: Ⅰ 지적사항, Ⅱ 주요 추진실적, Ⅲ 평가내용별 추진실적 쪽을 안내한다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지표 쪽 구성 · 쪽 번호는 기재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장 번호"/>
          <p:cNvSpPr txBox="1"/>
          <p:nvPr/>
        </p:nvSpPr>
        <p:spPr>
          <a:xfrm>
            <a:off x="540000" y="1512000"/>
            <a:ext cx="5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Ⅰ</a:t>
            </a:r>
          </a:p>
        </p:txBody>
      </p:sp>
      <p:sp>
        <p:nvSpPr>
          <p:cNvPr id="10" name="장 제목"/>
          <p:cNvSpPr txBox="1"/>
          <p:nvPr/>
        </p:nvSpPr>
        <p:spPr>
          <a:xfrm>
            <a:off x="1116000" y="1512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외부 지적사항 조치실적</a:t>
            </a:r>
          </a:p>
        </p:txBody>
      </p:sp>
      <p:sp>
        <p:nvSpPr>
          <p:cNvPr id="11" name="쪽"/>
          <p:cNvSpPr txBox="1"/>
          <p:nvPr/>
        </p:nvSpPr>
        <p:spPr>
          <a:xfrm>
            <a:off x="6372000" y="1512000"/>
            <a:ext cx="576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12" name="장 번호"/>
          <p:cNvSpPr txBox="1"/>
          <p:nvPr/>
        </p:nvSpPr>
        <p:spPr>
          <a:xfrm>
            <a:off x="540000" y="1908000"/>
            <a:ext cx="5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Ⅱ</a:t>
            </a:r>
          </a:p>
        </p:txBody>
      </p:sp>
      <p:sp>
        <p:nvSpPr>
          <p:cNvPr id="13" name="장 제목"/>
          <p:cNvSpPr txBox="1"/>
          <p:nvPr/>
        </p:nvSpPr>
        <p:spPr>
          <a:xfrm>
            <a:off x="1116000" y="1908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2025년 주요 추진실적</a:t>
            </a:r>
          </a:p>
        </p:txBody>
      </p:sp>
      <p:sp>
        <p:nvSpPr>
          <p:cNvPr id="14" name="쪽"/>
          <p:cNvSpPr txBox="1"/>
          <p:nvPr/>
        </p:nvSpPr>
        <p:spPr>
          <a:xfrm>
            <a:off x="6372000" y="1908000"/>
            <a:ext cx="576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15" name="장 번호"/>
          <p:cNvSpPr txBox="1"/>
          <p:nvPr/>
        </p:nvSpPr>
        <p:spPr>
          <a:xfrm>
            <a:off x="540000" y="2304000"/>
            <a:ext cx="5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61DE"/>
                </a:solidFill>
                <a:latin typeface="Pretendard"/>
                <a:ea typeface="Pretendard"/>
              </a:rPr>
              <a:t>Ⅲ</a:t>
            </a:r>
          </a:p>
        </p:txBody>
      </p:sp>
      <p:sp>
        <p:nvSpPr>
          <p:cNvPr id="16" name="장 제목"/>
          <p:cNvSpPr txBox="1"/>
          <p:nvPr/>
        </p:nvSpPr>
        <p:spPr>
          <a:xfrm>
            <a:off x="1116000" y="2304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2025년 세부평가내용별 추진실적</a:t>
            </a:r>
          </a:p>
        </p:txBody>
      </p:sp>
      <p:sp>
        <p:nvSpPr>
          <p:cNvPr id="17" name="쪽"/>
          <p:cNvSpPr txBox="1"/>
          <p:nvPr/>
        </p:nvSpPr>
        <p:spPr>
          <a:xfrm>
            <a:off x="6372000" y="2304000"/>
            <a:ext cx="576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18" name="평가내용 띠"/>
          <p:cNvSpPr/>
          <p:nvPr/>
        </p:nvSpPr>
        <p:spPr>
          <a:xfrm>
            <a:off x="540000" y="2772000"/>
            <a:ext cx="6480000" cy="306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평가내용 1  [세부평가내용 제목 기재]</a:t>
            </a:r>
          </a:p>
        </p:txBody>
      </p:sp>
      <p:sp>
        <p:nvSpPr>
          <p:cNvPr id="19" name="추진실적 목차"/>
          <p:cNvSpPr txBox="1"/>
          <p:nvPr/>
        </p:nvSpPr>
        <p:spPr>
          <a:xfrm>
            <a:off x="756000" y="3150000"/>
            <a:ext cx="54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1. [추진실적 제목 기재] ··················································</a:t>
            </a:r>
          </a:p>
        </p:txBody>
      </p:sp>
      <p:sp>
        <p:nvSpPr>
          <p:cNvPr id="20" name="쪽"/>
          <p:cNvSpPr txBox="1"/>
          <p:nvPr/>
        </p:nvSpPr>
        <p:spPr>
          <a:xfrm>
            <a:off x="6372000" y="3150000"/>
            <a:ext cx="57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21" name="추진실적 목차"/>
          <p:cNvSpPr txBox="1"/>
          <p:nvPr/>
        </p:nvSpPr>
        <p:spPr>
          <a:xfrm>
            <a:off x="756000" y="3420000"/>
            <a:ext cx="54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2. [추진실적 제목 기재] ··················································</a:t>
            </a:r>
          </a:p>
        </p:txBody>
      </p:sp>
      <p:sp>
        <p:nvSpPr>
          <p:cNvPr id="22" name="쪽"/>
          <p:cNvSpPr txBox="1"/>
          <p:nvPr/>
        </p:nvSpPr>
        <p:spPr>
          <a:xfrm>
            <a:off x="6372000" y="3420000"/>
            <a:ext cx="57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23" name="평가내용 띠"/>
          <p:cNvSpPr/>
          <p:nvPr/>
        </p:nvSpPr>
        <p:spPr>
          <a:xfrm>
            <a:off x="540000" y="3798000"/>
            <a:ext cx="6480000" cy="306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평가내용 2  [세부평가내용 제목 기재]</a:t>
            </a:r>
          </a:p>
        </p:txBody>
      </p:sp>
      <p:sp>
        <p:nvSpPr>
          <p:cNvPr id="24" name="추진실적 목차"/>
          <p:cNvSpPr txBox="1"/>
          <p:nvPr/>
        </p:nvSpPr>
        <p:spPr>
          <a:xfrm>
            <a:off x="756000" y="4176000"/>
            <a:ext cx="54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1. [추진실적 제목 기재] ··················································</a:t>
            </a:r>
          </a:p>
        </p:txBody>
      </p:sp>
      <p:sp>
        <p:nvSpPr>
          <p:cNvPr id="25" name="쪽"/>
          <p:cNvSpPr txBox="1"/>
          <p:nvPr/>
        </p:nvSpPr>
        <p:spPr>
          <a:xfrm>
            <a:off x="6372000" y="4176000"/>
            <a:ext cx="57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26" name="추진실적 목차"/>
          <p:cNvSpPr txBox="1"/>
          <p:nvPr/>
        </p:nvSpPr>
        <p:spPr>
          <a:xfrm>
            <a:off x="756000" y="4446000"/>
            <a:ext cx="54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2. [추진실적 제목 기재] ··················································</a:t>
            </a:r>
          </a:p>
        </p:txBody>
      </p:sp>
      <p:sp>
        <p:nvSpPr>
          <p:cNvPr id="27" name="쪽"/>
          <p:cNvSpPr txBox="1"/>
          <p:nvPr/>
        </p:nvSpPr>
        <p:spPr>
          <a:xfrm>
            <a:off x="6372000" y="4446000"/>
            <a:ext cx="57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28" name="평가내용 띠"/>
          <p:cNvSpPr/>
          <p:nvPr/>
        </p:nvSpPr>
        <p:spPr>
          <a:xfrm>
            <a:off x="540000" y="4824000"/>
            <a:ext cx="6480000" cy="306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평가내용 3  [세부평가내용 제목 기재]</a:t>
            </a:r>
          </a:p>
        </p:txBody>
      </p:sp>
      <p:sp>
        <p:nvSpPr>
          <p:cNvPr id="29" name="추진실적 목차"/>
          <p:cNvSpPr txBox="1"/>
          <p:nvPr/>
        </p:nvSpPr>
        <p:spPr>
          <a:xfrm>
            <a:off x="756000" y="5202000"/>
            <a:ext cx="54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1. [추진실적 제목 기재] ··················································</a:t>
            </a:r>
          </a:p>
        </p:txBody>
      </p:sp>
      <p:sp>
        <p:nvSpPr>
          <p:cNvPr id="30" name="쪽"/>
          <p:cNvSpPr txBox="1"/>
          <p:nvPr/>
        </p:nvSpPr>
        <p:spPr>
          <a:xfrm>
            <a:off x="6372000" y="5202000"/>
            <a:ext cx="57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31" name="추진실적 목차"/>
          <p:cNvSpPr txBox="1"/>
          <p:nvPr/>
        </p:nvSpPr>
        <p:spPr>
          <a:xfrm>
            <a:off x="756000" y="5472000"/>
            <a:ext cx="540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2. [추진실적 제목 기재] ··················································</a:t>
            </a:r>
          </a:p>
        </p:txBody>
      </p:sp>
      <p:sp>
        <p:nvSpPr>
          <p:cNvPr id="32" name="쪽"/>
          <p:cNvSpPr txBox="1"/>
          <p:nvPr/>
        </p:nvSpPr>
        <p:spPr>
          <a:xfrm>
            <a:off x="6372000" y="5472000"/>
            <a:ext cx="57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[00]</a:t>
            </a:r>
          </a:p>
        </p:txBody>
      </p:sp>
      <p:sp>
        <p:nvSpPr>
          <p:cNvPr id="33" name="주석"/>
          <p:cNvSpPr txBox="1"/>
          <p:nvPr/>
        </p:nvSpPr>
        <p:spPr>
          <a:xfrm>
            <a:off x="540000" y="5850000"/>
            <a:ext cx="6480000" cy="50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평가내용은 지표당 3개 안팎, 평가내용마다 추진실적 1~5건. 쪽 번호는 조판 후 기재.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R3. Ⅰ 외부 지적사항 조치실적: 지적 → 조치 → 개선효과 → 잔여 Gap을 한 줄로 이어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KORAD 평가문장(R4094~R4106) 지적 · 조치는 기재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Ⅰ  외부 지적사항 조치실적</a:t>
            </a:r>
          </a:p>
        </p:txBody>
      </p:sp>
      <p:graphicFrame>
        <p:nvGraphicFramePr>
          <p:cNvPr id="10" name="지적-조치 추적표"/>
          <p:cNvGraphicFramePr>
            <a:graphicFrameLocks noGrp="1"/>
          </p:cNvGraphicFramePr>
          <p:nvPr/>
        </p:nvGraphicFramePr>
        <p:xfrm>
          <a:off x="540000" y="1836000"/>
          <a:ext cx="6480000" cy="5940000"/>
        </p:xfrm>
        <a:graphic>
          <a:graphicData uri="http://schemas.openxmlformats.org/drawingml/2006/table">
            <a:tbl>
              <a:tblPr/>
              <a:tblGrid>
                <a:gridCol w="360000"/>
                <a:gridCol w="2520000"/>
                <a:gridCol w="1224000"/>
                <a:gridCol w="1152000"/>
                <a:gridCol w="1224000"/>
              </a:tblGrid>
              <a:tr h="351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No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외부 지적사항(2025 평가)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조치내용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개선효과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잔여 Gap·후속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9315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경비 교대제·피복·출퇴근버스 등 장기 안건의 종결관리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[조치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[효과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[잔여·기한]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15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사용자성 판단회의체·현장관리자 가이드의 사전 모의 적용·현장 검증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[조치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[효과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[잔여·기한]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15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공무직·교대직군 인식 차이의 집단별 환류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[조치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[효과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[잔여·기한]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15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내부 HRM·노무 전문성 투자 성과 관리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[조치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[효과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[잔여·기한]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15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 개선 이후 조직문화·재발방지 효과의 정량 확인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[조치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[효과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[잔여·기한]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15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협력사 안전관리 역량의 현장 확산 검증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[조치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[효과 기재]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[잔여·기한]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성과 띠"/>
          <p:cNvSpPr/>
          <p:nvPr/>
        </p:nvSpPr>
        <p:spPr>
          <a:xfrm>
            <a:off x="540000" y="7920000"/>
            <a:ext cx="648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성과 라벨"/>
          <p:cNvSpPr/>
          <p:nvPr/>
        </p:nvSpPr>
        <p:spPr>
          <a:xfrm>
            <a:off x="630000" y="8046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환류</a:t>
            </a:r>
          </a:p>
        </p:txBody>
      </p:sp>
      <p:sp>
        <p:nvSpPr>
          <p:cNvPr id="13" name="성과 문구"/>
          <p:cNvSpPr txBox="1"/>
          <p:nvPr/>
        </p:nvSpPr>
        <p:spPr>
          <a:xfrm>
            <a:off x="1476000" y="7920000"/>
            <a:ext cx="540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조치 완료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가 아니라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효과와 잔여 Gap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을 함께 쓴다 — 미완료는 후속 기한과 함께 남김</a:t>
            </a:r>
          </a:p>
        </p:txBody>
      </p:sp>
      <p:sp>
        <p:nvSpPr>
          <p:cNvPr id="14" name="주석"/>
          <p:cNvSpPr txBox="1"/>
          <p:nvPr/>
        </p:nvSpPr>
        <p:spPr>
          <a:xfrm>
            <a:off x="540000" y="8568000"/>
            <a:ext cx="648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지적 6건은 KORAD 공식 평가문장에서 확인된 내용. 조치·효과는 실제 실적으로 기재.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미완료 사항은 숨기지 않고 잔여 Gap으로 표기.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R4. Ⅱ 2025년 주요 추진실적: 전년 수준 → 금년 변화 → 개선효과로 한눈에 보인다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KORAD 노사관계 역량강화 종합계획(2026.10.7.) · 기재 항목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Ⅱ  2025년 주요 추진실적</a:t>
            </a:r>
          </a:p>
        </p:txBody>
      </p:sp>
      <p:sp>
        <p:nvSpPr>
          <p:cNvPr id="10" name="핵심 수치"/>
          <p:cNvSpPr txBox="1"/>
          <p:nvPr/>
        </p:nvSpPr>
        <p:spPr>
          <a:xfrm>
            <a:off x="540000" y="1836000"/>
            <a:ext cx="2088000" cy="864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노사관계 소통지수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81.05점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2025년</a:t>
            </a:r>
          </a:p>
        </p:txBody>
      </p:sp>
      <p:sp>
        <p:nvSpPr>
          <p:cNvPr id="11" name="핵심 수치"/>
          <p:cNvSpPr txBox="1"/>
          <p:nvPr/>
        </p:nvSpPr>
        <p:spPr>
          <a:xfrm>
            <a:off x="2736000" y="1836000"/>
            <a:ext cx="2088000" cy="864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노사관계 역량수준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81.9점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2025년</a:t>
            </a:r>
          </a:p>
        </p:txBody>
      </p:sp>
      <p:sp>
        <p:nvSpPr>
          <p:cNvPr id="12" name="핵심 수치"/>
          <p:cNvSpPr txBox="1"/>
          <p:nvPr/>
        </p:nvSpPr>
        <p:spPr>
          <a:xfrm>
            <a:off x="4932000" y="1836000"/>
            <a:ext cx="2088000" cy="864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인사관리 학습조직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17 → 28명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확대</a:t>
            </a:r>
          </a:p>
        </p:txBody>
      </p:sp>
      <p:graphicFrame>
        <p:nvGraphicFramePr>
          <p:cNvPr id="13" name="연간 요약표"/>
          <p:cNvGraphicFramePr>
            <a:graphicFrameLocks noGrp="1"/>
          </p:cNvGraphicFramePr>
          <p:nvPr/>
        </p:nvGraphicFramePr>
        <p:xfrm>
          <a:off x="540000" y="2808000"/>
          <a:ext cx="6480000" cy="4968000"/>
        </p:xfrm>
        <a:graphic>
          <a:graphicData uri="http://schemas.openxmlformats.org/drawingml/2006/table">
            <a:tbl>
              <a:tblPr/>
              <a:tblGrid>
                <a:gridCol w="1296000"/>
                <a:gridCol w="1296000"/>
                <a:gridCol w="2376000"/>
                <a:gridCol w="1512000"/>
              </a:tblGrid>
              <a:tr h="365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평가내용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전년 수준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금년 변화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개선효과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15342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① 적법·실질 운영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342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② 의사소통·관리역량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노사필통(매주)·공통채널(격주)·노사소위원회(매월) 다층 소통 운영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342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③ 근로조건 향상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[기재]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성과 띠"/>
          <p:cNvSpPr/>
          <p:nvPr/>
        </p:nvSpPr>
        <p:spPr>
          <a:xfrm>
            <a:off x="540000" y="7920000"/>
            <a:ext cx="648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성과 라벨"/>
          <p:cNvSpPr/>
          <p:nvPr/>
        </p:nvSpPr>
        <p:spPr>
          <a:xfrm>
            <a:off x="630000" y="8046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요약</a:t>
            </a:r>
          </a:p>
        </p:txBody>
      </p:sp>
      <p:sp>
        <p:nvSpPr>
          <p:cNvPr id="16" name="성과 문구"/>
          <p:cNvSpPr txBox="1"/>
          <p:nvPr/>
        </p:nvSpPr>
        <p:spPr>
          <a:xfrm>
            <a:off x="1476000" y="7920000"/>
            <a:ext cx="540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활동 건수보다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전년 대비 변화와 효과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를 앞에 두고, 세부는 Ⅲ 추진실적으로 연결</a:t>
            </a:r>
          </a:p>
        </p:txBody>
      </p:sp>
      <p:sp>
        <p:nvSpPr>
          <p:cNvPr id="17" name="주석"/>
          <p:cNvSpPr txBox="1"/>
          <p:nvPr/>
        </p:nvSpPr>
        <p:spPr>
          <a:xfrm>
            <a:off x="540000" y="8568000"/>
            <a:ext cx="648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수치는 KORAD 종합계획 보고요지의 기존 지표(소통지수·역량수준·학습조직). 나머지 칸은 실적으로 기재.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분모 없는 증감은 이용률로 쓰지 않음.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 폐쇄루프형: 진단에서 환류까지 단계마다 증빙을 한 줄에 놓는다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5개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②  의사소통과 관리역량 강화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쟁점이 이행 확인까지 닫힌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V114·V120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A</a:t>
            </a:r>
          </a:p>
        </p:txBody>
      </p:sp>
      <p:sp>
        <p:nvSpPr>
          <p:cNvPr id="13" name="단계 헤더"/>
          <p:cNvSpPr/>
          <p:nvPr/>
        </p:nvSpPr>
        <p:spPr>
          <a:xfrm>
            <a:off x="540000" y="2214000"/>
            <a:ext cx="900000" cy="288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기관</a:t>
            </a:r>
          </a:p>
        </p:txBody>
      </p:sp>
      <p:sp>
        <p:nvSpPr>
          <p:cNvPr id="14" name="단계 헤더"/>
          <p:cNvSpPr/>
          <p:nvPr/>
        </p:nvSpPr>
        <p:spPr>
          <a:xfrm>
            <a:off x="1476000" y="2214000"/>
            <a:ext cx="1278000" cy="288000"/>
          </a:xfrm>
          <a:prstGeom prst="homePlate">
            <a:avLst/>
          </a:prstGeom>
          <a:solidFill>
            <a:srgbClr val="008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진단·분석</a:t>
            </a:r>
          </a:p>
        </p:txBody>
      </p:sp>
      <p:sp>
        <p:nvSpPr>
          <p:cNvPr id="15" name="단계 헤더"/>
          <p:cNvSpPr/>
          <p:nvPr/>
        </p:nvSpPr>
        <p:spPr>
          <a:xfrm>
            <a:off x="2700000" y="2214000"/>
            <a:ext cx="1278000" cy="288000"/>
          </a:xfrm>
          <a:prstGeom prst="homePlate">
            <a:avLst/>
          </a:prstGeom>
          <a:solidFill>
            <a:srgbClr val="008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협의·결정</a:t>
            </a:r>
          </a:p>
        </p:txBody>
      </p:sp>
      <p:sp>
        <p:nvSpPr>
          <p:cNvPr id="16" name="단계 헤더"/>
          <p:cNvSpPr/>
          <p:nvPr/>
        </p:nvSpPr>
        <p:spPr>
          <a:xfrm>
            <a:off x="3924000" y="2214000"/>
            <a:ext cx="1710000" cy="288000"/>
          </a:xfrm>
          <a:prstGeom prst="homePlate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제도 변경</a:t>
            </a:r>
          </a:p>
        </p:txBody>
      </p:sp>
      <p:sp>
        <p:nvSpPr>
          <p:cNvPr id="17" name="단계 헤더"/>
          <p:cNvSpPr/>
          <p:nvPr/>
        </p:nvSpPr>
        <p:spPr>
          <a:xfrm>
            <a:off x="5580000" y="2214000"/>
            <a:ext cx="1494000" cy="288000"/>
          </a:xfrm>
          <a:prstGeom prst="homePlate">
            <a:avLst/>
          </a:prstGeom>
          <a:solidFill>
            <a:srgbClr val="00A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이행·환류</a:t>
            </a:r>
          </a:p>
        </p:txBody>
      </p:sp>
      <p:graphicFrame>
        <p:nvGraphicFramePr>
          <p:cNvPr id="18" name="단계 레일 사례표"/>
          <p:cNvGraphicFramePr>
            <a:graphicFrameLocks noGrp="1"/>
          </p:cNvGraphicFramePr>
          <p:nvPr/>
        </p:nvGraphicFramePr>
        <p:xfrm>
          <a:off x="540000" y="2574000"/>
          <a:ext cx="6480000" cy="5202000"/>
        </p:xfrm>
        <a:graphic>
          <a:graphicData uri="http://schemas.openxmlformats.org/drawingml/2006/table">
            <a:tbl>
              <a:tblPr/>
              <a:tblGrid>
                <a:gridCol w="936000"/>
                <a:gridCol w="1224000"/>
                <a:gridCol w="1224000"/>
                <a:gridCol w="1656000"/>
                <a:gridCol w="1440000"/>
              </a:tblGrid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한국수자원공사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갈등진단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승진·전보·직군격차 개선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K-노무포털로 합의사항 이행 모니터링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한국관광공사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근로환경 만족도 분석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 → 의사결정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자녀수당 확대 등 실제 결과 연결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환류(4단계 마지막)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한국교통안전공단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갈등 발생·제도 분석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 설계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 시행(토요검사 합의·직무급 확대)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모니터링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한국산업기술진흥원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노사공동 TF 논의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직무역량평가·IDP·직무급·자율출퇴근제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예금보험공사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채널별 인식·활용·만족도 진단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협의체를 인사·조직 현안 의사결정에 연결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진단 후 환류·정비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21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B0를 가르는 것은 채널이 아니라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판단 → 합의 → 제도변경 → 이행 추적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이 닫혔는가</a:t>
            </a:r>
          </a:p>
        </p:txBody>
      </p:sp>
      <p:sp>
        <p:nvSpPr>
          <p:cNvPr id="22" name="주석"/>
          <p:cNvSpPr txBox="1"/>
          <p:nvPr/>
        </p:nvSpPr>
        <p:spPr>
          <a:xfrm>
            <a:off x="540000" y="8640000"/>
            <a:ext cx="6480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― 는 공식 평가문장에서 확인되지 않은 단계(빈칸으로 두지 않고 표시).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쉽게 말하면) </a:t>
            </a: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민원이 접수만 되고 끝나는 게 아니라 처리·회신·재점검까지 가는지를 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 협의체형: 복수노조·직군별 협의체가 안건을 합의로 닫는지 매트릭스로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4개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①  협력체계의 적법·실질 운영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협의체로 안건을 종결한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V320·V319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B</a:t>
            </a:r>
          </a:p>
        </p:txBody>
      </p:sp>
      <p:graphicFrame>
        <p:nvGraphicFramePr>
          <p:cNvPr id="13" name="협의체 매트릭스"/>
          <p:cNvGraphicFramePr>
            <a:graphicFrameLocks noGrp="1"/>
          </p:cNvGraphicFramePr>
          <p:nvPr/>
        </p:nvGraphicFramePr>
        <p:xfrm>
          <a:off x="540000" y="2214000"/>
          <a:ext cx="6480000" cy="5562000"/>
        </p:xfrm>
        <a:graphic>
          <a:graphicData uri="http://schemas.openxmlformats.org/drawingml/2006/table">
            <a:tbl>
              <a:tblPr/>
              <a:tblGrid>
                <a:gridCol w="1080000"/>
                <a:gridCol w="1872000"/>
                <a:gridCol w="1800000"/>
                <a:gridCol w="1728000"/>
              </a:tblGrid>
              <a:tr h="365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기관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협의 구조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합의·성과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평가가 본 보완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한국도로공사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B+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9개 복수노조에 상생협의체를 본사·지사로 운영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노란봉투법 전담 TF·외부 전문기관 협업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자회사 노무역량 공유·온라인 환류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근로복지공단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7개 복수노조 참여 통합노사협의회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현장 미해결 안건 협의 구조 유지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노조 간 조정 기준·합의 절차, 이행 점검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한국무역보험공사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복수노조별 별도 협의체, 해외지사 포함 소위원회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19개 근로조건 개선안 실제 이행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복수노조 소통 절차 매뉴얼화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한국주택금융공사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장기과제협의체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교착 과제 2건 완전합의·3건 개선안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3건 최종합의·완료시점 없음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6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협의체 수가 아니라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합의율·미합의 사유·완료시점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으로 평가 — 완전합의와 개선안을 구분</a:t>
            </a:r>
          </a:p>
        </p:txBody>
      </p:sp>
      <p:sp>
        <p:nvSpPr>
          <p:cNvPr id="17" name="주석"/>
          <p:cNvSpPr txBox="1"/>
          <p:nvPr/>
        </p:nvSpPr>
        <p:spPr>
          <a:xfrm>
            <a:off x="540000" y="8640000"/>
            <a:ext cx="6480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복수노조는 같은 채널 제공보다 충돌 시 조정 기준·절차의 문서화가 핵심.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보완 열은 평가위원이 짚은 잔여 과제.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C. 법제·준법형: 법 변화 위험은 통제 장치와 잔여 위험을 한 줄로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5개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①  협력체계의 적법·실질 운영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법 변화 위험을 통제한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V517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C</a:t>
            </a:r>
          </a:p>
        </p:txBody>
      </p:sp>
      <p:graphicFrame>
        <p:nvGraphicFramePr>
          <p:cNvPr id="13" name="위험-통제-잔여 표"/>
          <p:cNvGraphicFramePr>
            <a:graphicFrameLocks noGrp="1"/>
          </p:cNvGraphicFramePr>
          <p:nvPr/>
        </p:nvGraphicFramePr>
        <p:xfrm>
          <a:off x="540000" y="2214000"/>
          <a:ext cx="6480000" cy="5562000"/>
        </p:xfrm>
        <a:graphic>
          <a:graphicData uri="http://schemas.openxmlformats.org/drawingml/2006/table">
            <a:tbl>
              <a:tblPr/>
              <a:tblGrid>
                <a:gridCol w="1296000"/>
                <a:gridCol w="1440000"/>
                <a:gridCol w="1872000"/>
                <a:gridCol w="1872000"/>
              </a:tblGrid>
              <a:tr h="336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기관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위험·이슈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통제 장치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잔여 위험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1045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한전KDN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노란봉투법·통상임금·정년연장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복수노조 통합 지원 등 선제 대응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무기명 설문 대표성, 미해결 안건 보류 기준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5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한국원자력환경공단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D+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노란봉투법·적법도급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대응 시나리오·협력사 핫라인·점검기준 계약 반영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사용자성 판단회의체·가이드 모의적용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5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산업안전보건공단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노동관계 법령 변화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공동대응, 자체 AI 사용자성 기준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판례 축적 부족, 외부 검증 필요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5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건강보험심사평가원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C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단체협약 신고·부당노동행위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사내노무사·외부 노무법인 공동점검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점검 후 결과 환류·재발방지 미종결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5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한국전기안전공사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노동관계 리스크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외부 컨설팅 로드맵, 노사합동 자체점검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내부 실행계획·KPI·책임체계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6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규정·매뉴얼 보유보다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모의 적용·현장 적용·재검증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이 높게 평가됨</a:t>
            </a:r>
          </a:p>
        </p:txBody>
      </p:sp>
      <p:sp>
        <p:nvSpPr>
          <p:cNvPr id="17" name="주석"/>
          <p:cNvSpPr txBox="1"/>
          <p:nvPr/>
        </p:nvSpPr>
        <p:spPr>
          <a:xfrm>
            <a:off x="540000" y="8640000"/>
            <a:ext cx="6480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외부 자문은 시작점이며 내부 Owner·KPI·종결 관리가 있어야 증빙.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잔여 위험 칸은 비우지 않고 평가 문장을 인용.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D. 다층소통형: 누구의 의견을 들었는지 대상별 표로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6개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②  의사소통과 관리역량 강화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대상별 채널·대표성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V614·V619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D</a:t>
            </a:r>
          </a:p>
        </p:txBody>
      </p:sp>
      <p:graphicFrame>
        <p:nvGraphicFramePr>
          <p:cNvPr id="13" name="대상별 채널표"/>
          <p:cNvGraphicFramePr>
            <a:graphicFrameLocks noGrp="1"/>
          </p:cNvGraphicFramePr>
          <p:nvPr/>
        </p:nvGraphicFramePr>
        <p:xfrm>
          <a:off x="540000" y="2214000"/>
          <a:ext cx="6480000" cy="5562000"/>
        </p:xfrm>
        <a:graphic>
          <a:graphicData uri="http://schemas.openxmlformats.org/drawingml/2006/table">
            <a:tbl>
              <a:tblPr/>
              <a:tblGrid>
                <a:gridCol w="1944000"/>
                <a:gridCol w="2304000"/>
                <a:gridCol w="2232000"/>
              </a:tblGrid>
              <a:tr h="3222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대상 · 기관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운영한 채널·실적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평가가 본 한계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세대·직급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한국장학재단 B / C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세대·직급별 채널, 전직원 노무교육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일부 관리자 중심 소통, 교육 격차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소수노조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한국수력원자력 A / B0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복수노조 소수노조 소통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근무자 간 권익 인식 차이, 잠재 노노갈등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하위직·공무직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국민연금공단 A / D+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본부-지역 협의 역할 명확화, 참여 비율 조정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갑질 신고가 수년간 개선되지 않음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직종·연령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한국마사회 B / C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맞춤형 채널 확대, 대면소통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노동이사 제언 증가의 의사결정·성과 환류 부족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전직원 설문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주택도시보증공사 B / D+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조사 참여 286→387명, 협력지수 87.0→91.3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노조 간부 중심, 일반직원 직접 대면 미흡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CEO 직접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한국중부발전 B / B0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CEO 직접채널 상설화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갈등관리 매뉴얼 정교화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6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채널 수보다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대표성·회신·결정 변경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이 보이는지를 평가</a:t>
            </a:r>
          </a:p>
        </p:txBody>
      </p:sp>
      <p:sp>
        <p:nvSpPr>
          <p:cNvPr id="17" name="주석"/>
          <p:cNvSpPr txBox="1"/>
          <p:nvPr/>
        </p:nvSpPr>
        <p:spPr>
          <a:xfrm>
            <a:off x="540000" y="8640000"/>
            <a:ext cx="6480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쉽게 말하면) </a:t>
            </a: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반장 의견만 듣지 않고 전학생 의견도 들었는지를 봅니다.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한계 칸에는 평가 문장만 인용.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E. 지표개선형: 수치는 전·후 값으로 보이고 한계를 바로 옆에 둔다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4개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②  의사소통과 관리역량 강화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수치가 개선된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V418·V215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E</a:t>
            </a:r>
          </a:p>
        </p:txBody>
      </p:sp>
      <p:sp>
        <p:nvSpPr>
          <p:cNvPr id="13" name="핵심 수치"/>
          <p:cNvSpPr txBox="1"/>
          <p:nvPr/>
        </p:nvSpPr>
        <p:spPr>
          <a:xfrm>
            <a:off x="540000" y="2214000"/>
            <a:ext cx="1539000" cy="972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주택도시보증공사 · D+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87.0 → 91.3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노사소통협력지수</a:t>
            </a:r>
          </a:p>
        </p:txBody>
      </p:sp>
      <p:sp>
        <p:nvSpPr>
          <p:cNvPr id="14" name="핵심 수치"/>
          <p:cNvSpPr txBox="1"/>
          <p:nvPr/>
        </p:nvSpPr>
        <p:spPr>
          <a:xfrm>
            <a:off x="2187000" y="2214000"/>
            <a:ext cx="1539000" cy="972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한국남부발전 · B0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4.32 → 4.41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소통 만족</a:t>
            </a:r>
          </a:p>
        </p:txBody>
      </p:sp>
      <p:sp>
        <p:nvSpPr>
          <p:cNvPr id="15" name="핵심 수치"/>
          <p:cNvSpPr txBox="1"/>
          <p:nvPr/>
        </p:nvSpPr>
        <p:spPr>
          <a:xfrm>
            <a:off x="3834000" y="2214000"/>
            <a:ext cx="1539000" cy="972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한국지역난방공사 · C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70.0 → 77.1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노사 만족도</a:t>
            </a:r>
          </a:p>
        </p:txBody>
      </p:sp>
      <p:sp>
        <p:nvSpPr>
          <p:cNvPr id="16" name="핵심 수치"/>
          <p:cNvSpPr txBox="1"/>
          <p:nvPr/>
        </p:nvSpPr>
        <p:spPr>
          <a:xfrm>
            <a:off x="5481000" y="2214000"/>
            <a:ext cx="1539000" cy="972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한전KDN · B0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8.7 → 15.6%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직무급 비중</a:t>
            </a:r>
          </a:p>
        </p:txBody>
      </p:sp>
      <p:graphicFrame>
        <p:nvGraphicFramePr>
          <p:cNvPr id="17" name="수치 인정·한계표"/>
          <p:cNvGraphicFramePr>
            <a:graphicFrameLocks noGrp="1"/>
          </p:cNvGraphicFramePr>
          <p:nvPr/>
        </p:nvGraphicFramePr>
        <p:xfrm>
          <a:off x="540000" y="3294000"/>
          <a:ext cx="6480000" cy="4482000"/>
        </p:xfrm>
        <a:graphic>
          <a:graphicData uri="http://schemas.openxmlformats.org/drawingml/2006/table">
            <a:tbl>
              <a:tblPr/>
              <a:tblGrid>
                <a:gridCol w="1080000"/>
                <a:gridCol w="2592000"/>
                <a:gridCol w="2808000"/>
              </a:tblGrid>
              <a:tr h="351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인정된 것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한계로 본 것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1377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지수·참여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지수·만족도·참여율 상승(조사 참여 286 → 387명)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만족도 상승만으로는 고등급이 아님(지역난방 C·주택도시 D+)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77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세부 지표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3년 연속 직무급 합의(남부발전)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4.0 미만 세부지표와 교육 현업적용도 별도 관리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77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제안 처리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제안 12건 상정·5건 해소(한전KDN)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미해결 안건의 보류·재검토·중장기 과제화 기준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20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상승 폭이 아니라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체감도·제도변경과 분리 측정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한 결과를 함께 제시</a:t>
            </a:r>
          </a:p>
        </p:txBody>
      </p:sp>
      <p:sp>
        <p:nvSpPr>
          <p:cNvPr id="21" name="주석"/>
          <p:cNvSpPr txBox="1"/>
          <p:nvPr/>
        </p:nvSpPr>
        <p:spPr>
          <a:xfrm>
            <a:off x="540000" y="8640000"/>
            <a:ext cx="648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수치 카드는 4개 이내, 전→후 값 1쌍씩.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종합 71.0 → 78.2는 지역난방공사 종합 만족도.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F. 제도변화형: 합의된 제도와 남은 쟁점을 한 행에 나란히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6개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③  근로조건의 실질적 향상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합의가 제도로 바뀐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V214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F</a:t>
            </a:r>
          </a:p>
        </p:txBody>
      </p:sp>
      <p:graphicFrame>
        <p:nvGraphicFramePr>
          <p:cNvPr id="13" name="제도 변화표"/>
          <p:cNvGraphicFramePr>
            <a:graphicFrameLocks noGrp="1"/>
          </p:cNvGraphicFramePr>
          <p:nvPr/>
        </p:nvGraphicFramePr>
        <p:xfrm>
          <a:off x="540000" y="2214000"/>
          <a:ext cx="6480000" cy="5562000"/>
        </p:xfrm>
        <a:graphic>
          <a:graphicData uri="http://schemas.openxmlformats.org/drawingml/2006/table">
            <a:tbl>
              <a:tblPr/>
              <a:tblGrid>
                <a:gridCol w="2016000"/>
                <a:gridCol w="2520000"/>
                <a:gridCol w="1944000"/>
              </a:tblGrid>
              <a:tr h="3222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제도 · 기관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노사 합의·변경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남은 쟁점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직무급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한전KDN A / B0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직무급 비중 8.7 → 15.6%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미해결 안건 보류·재검토 기준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임금체계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중소벤처기업진흥공단 B / C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연공수당 폐지·호봉상한·직무급 비중 확대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고연차 반대, 단계적 수용성 관리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근로조건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한국무역보험공사 A / C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태아검진동행휴가·출산휴가·장기근속휴가 등 19개 이행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직무급 불만 소통·보완책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직무평가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산업기술기획평가원 B / B0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 직원 참여형 직무평가·노사공동 심의 → 성과·승진·배치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지적 1건(세부 미기재)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임금체계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한국소비자원 B / C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노사협의·워크숍 → 직무급 확대·임금체계 변경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직무급 신뢰·수용성, 지표 객관성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3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통상임금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보훈복지의료공단 B / D+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통상임금 분쟁 일부 해결·직무급 확대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합의 후 보상격차·잔여 분쟁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6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제도 도입 다음에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이용률·수용성·집단별 편차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가 다시 평가됨</a:t>
            </a:r>
          </a:p>
        </p:txBody>
      </p:sp>
      <p:sp>
        <p:nvSpPr>
          <p:cNvPr id="17" name="주석"/>
          <p:cNvSpPr txBox="1"/>
          <p:nvPr/>
        </p:nvSpPr>
        <p:spPr>
          <a:xfrm>
            <a:off x="540000" y="8640000"/>
            <a:ext cx="648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직무급 확대는 반대 집단·미합의 쟁점의 장기 관리까지 평가.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G. 교육적용형: 교육은 수료가 아니라 현업 적용과 예방 성과까지 올린다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3개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②  의사소통과 관리역량 강화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교육이 현업 적용으로 이어진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V422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G</a:t>
            </a:r>
          </a:p>
        </p:txBody>
      </p:sp>
      <p:graphicFrame>
        <p:nvGraphicFramePr>
          <p:cNvPr id="13" name="교육 성과 단계표"/>
          <p:cNvGraphicFramePr>
            <a:graphicFrameLocks noGrp="1"/>
          </p:cNvGraphicFramePr>
          <p:nvPr/>
        </p:nvGraphicFramePr>
        <p:xfrm>
          <a:off x="540000" y="2214000"/>
          <a:ext cx="6480000" cy="5562000"/>
        </p:xfrm>
        <a:graphic>
          <a:graphicData uri="http://schemas.openxmlformats.org/drawingml/2006/table">
            <a:tbl>
              <a:tblPr/>
              <a:tblGrid>
                <a:gridCol w="1080000"/>
                <a:gridCol w="2232000"/>
                <a:gridCol w="2160000"/>
                <a:gridCol w="1008000"/>
              </a:tblGrid>
              <a:tr h="365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평가가 보는 증거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사례 기관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증거 강도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 교육 투입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대상별 노무교육 실시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주택금융공사(직급·직군별), 장학재단(전직원)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낮음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2 이해·만족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교육을 만족도만으로 측정하는 한계(평가 반복 지적)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유형 공통 총평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중간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 현업 적용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중장기 노무 HRD, 실전형 모의신고 훈련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예금보험공사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높음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915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 예방 성과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잠재 리스크 사전 점검, 관련 사고 Zero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예금보험공사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가장 높음</a:t>
                      </a:r>
                    </a:p>
                  </a:txBody>
                  <a:tcPr marL="57600" marR="57600" marT="86400" marB="864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6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교육 횟수보다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현업 검토서·모의훈련·사고 예방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의 적용 증거를 평가</a:t>
            </a:r>
          </a:p>
        </p:txBody>
      </p:sp>
      <p:sp>
        <p:nvSpPr>
          <p:cNvPr id="17" name="주석"/>
          <p:cNvSpPr txBox="1"/>
          <p:nvPr/>
        </p:nvSpPr>
        <p:spPr>
          <a:xfrm>
            <a:off x="540000" y="8640000"/>
            <a:ext cx="6480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쉽게 말하면) </a:t>
            </a: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소방 교육을 들었는지가 아니라 실제 화재 훈련에서 움직였는지를 봅니다.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증거 강도는 평가 반복 지적에 근거한 분석자 구분.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H. 위기·전환형: 위기·전환 과제는 노사 공동 대응 장치로 보여준다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5개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③  근로조건의 실질적 향상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위기·전환을 공동 대응한 사례</a:t>
            </a:r>
          </a:p>
        </p:txBody>
      </p:sp>
      <p:sp>
        <p:nvSpPr>
          <p:cNvPr id="11" name="라벨"/>
          <p:cNvSpPr/>
          <p:nvPr/>
        </p:nvSpPr>
        <p:spPr>
          <a:xfrm>
            <a:off x="5364000" y="1854000"/>
            <a:ext cx="1602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V212</a:t>
            </a:r>
          </a:p>
        </p:txBody>
      </p:sp>
      <p:sp>
        <p:nvSpPr>
          <p:cNvPr id="12" name="라벨"/>
          <p:cNvSpPr/>
          <p:nvPr/>
        </p:nvSpPr>
        <p:spPr>
          <a:xfrm>
            <a:off x="4428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H</a:t>
            </a:r>
          </a:p>
        </p:txBody>
      </p:sp>
      <p:sp>
        <p:nvSpPr>
          <p:cNvPr id="13" name="헤더"/>
          <p:cNvSpPr/>
          <p:nvPr/>
        </p:nvSpPr>
        <p:spPr>
          <a:xfrm>
            <a:off x="540000" y="2214000"/>
            <a:ext cx="1188000" cy="288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기관</a:t>
            </a:r>
          </a:p>
        </p:txBody>
      </p:sp>
      <p:sp>
        <p:nvSpPr>
          <p:cNvPr id="14" name="헤더"/>
          <p:cNvSpPr/>
          <p:nvPr/>
        </p:nvSpPr>
        <p:spPr>
          <a:xfrm>
            <a:off x="1764000" y="2214000"/>
            <a:ext cx="1494000" cy="288000"/>
          </a:xfrm>
          <a:prstGeom prst="homePlate">
            <a:avLst/>
          </a:prstGeom>
          <a:solidFill>
            <a:srgbClr val="008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현안·전환</a:t>
            </a:r>
          </a:p>
        </p:txBody>
      </p:sp>
      <p:sp>
        <p:nvSpPr>
          <p:cNvPr id="15" name="헤더"/>
          <p:cNvSpPr/>
          <p:nvPr/>
        </p:nvSpPr>
        <p:spPr>
          <a:xfrm>
            <a:off x="3204000" y="2214000"/>
            <a:ext cx="2142000" cy="288000"/>
          </a:xfrm>
          <a:prstGeom prst="homePlate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노사 공동대응</a:t>
            </a:r>
          </a:p>
        </p:txBody>
      </p:sp>
      <p:sp>
        <p:nvSpPr>
          <p:cNvPr id="16" name="헤더"/>
          <p:cNvSpPr/>
          <p:nvPr/>
        </p:nvSpPr>
        <p:spPr>
          <a:xfrm>
            <a:off x="5292000" y="2214000"/>
            <a:ext cx="1782000" cy="288000"/>
          </a:xfrm>
          <a:prstGeom prst="homePlate">
            <a:avLst/>
          </a:prstGeom>
          <a:solidFill>
            <a:srgbClr val="00A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평가·잔여</a:t>
            </a:r>
          </a:p>
        </p:txBody>
      </p:sp>
      <p:graphicFrame>
        <p:nvGraphicFramePr>
          <p:cNvPr id="17" name="현안-대응-평가표"/>
          <p:cNvGraphicFramePr>
            <a:graphicFrameLocks noGrp="1"/>
          </p:cNvGraphicFramePr>
          <p:nvPr/>
        </p:nvGraphicFramePr>
        <p:xfrm>
          <a:off x="540000" y="2574000"/>
          <a:ext cx="6480000" cy="5202000"/>
        </p:xfrm>
        <a:graphic>
          <a:graphicData uri="http://schemas.openxmlformats.org/drawingml/2006/table">
            <a:tbl>
              <a:tblPr/>
              <a:tblGrid>
                <a:gridCol w="1224000"/>
                <a:gridCol w="1440000"/>
                <a:gridCol w="2088000"/>
                <a:gridCol w="1728000"/>
              </a:tblGrid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한국전력공사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전력망 확충·재무위기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핵심 경영과제를 노사 공동 의제로 전환, 핵심 사업소 대면소통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구조개편 중 현장 불안 관리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한국지역난방공사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C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AI 대전환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노사공동위·실무 TF, 노동이사 경영제언 9건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채널 형식화 방지·체감 갈등 해소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한국수력원자력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 / B0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조직 전환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R&amp;R 공동조정, 취약직군·협력사 근로조건 개선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노노갈등 예방·후속조치 체감 모니터링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한국중부발전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에너지 전환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노사정 협의회, 전 사업소 노사관계우수기업 인증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디지털 전환 대비 갈등관리 매뉴얼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4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한전KPS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B / B0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정의로운 전환 등 정책 변화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노사합동 TF, 수준진단 25→30문항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감사 지적 일부 조치 미완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20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위기를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노사 공동 의제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로 바꾸고 전환기 인력·근로조건 계획까지 연결</a:t>
            </a:r>
          </a:p>
        </p:txBody>
      </p:sp>
      <p:sp>
        <p:nvSpPr>
          <p:cNvPr id="21" name="주석"/>
          <p:cNvSpPr txBox="1"/>
          <p:nvPr/>
        </p:nvSpPr>
        <p:spPr>
          <a:xfrm>
            <a:off x="540000" y="8640000"/>
            <a:ext cx="648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종합등급이 C여도 노사 B0가 가능하므로 사례를 분리해 인용.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R6. 반쪽 BP: 서로 다른 두 사례를 한 쪽에 위아래로 같은 밀도로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 · 사례 2개 기관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27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②  의사소통과 관리역량 강화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764000"/>
            <a:ext cx="46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1-1. 갈등진단에서 이행 점검까지 (수자원공사 B / B0)</a:t>
            </a:r>
          </a:p>
        </p:txBody>
      </p:sp>
      <p:sp>
        <p:nvSpPr>
          <p:cNvPr id="11" name="라벨"/>
          <p:cNvSpPr/>
          <p:nvPr/>
        </p:nvSpPr>
        <p:spPr>
          <a:xfrm>
            <a:off x="5724000" y="1782000"/>
            <a:ext cx="1296000" cy="288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V120</a:t>
            </a:r>
          </a:p>
        </p:txBody>
      </p:sp>
      <p:graphicFrame>
        <p:nvGraphicFramePr>
          <p:cNvPr id="12" name="반쪽 표 1"/>
          <p:cNvGraphicFramePr>
            <a:graphicFrameLocks noGrp="1"/>
          </p:cNvGraphicFramePr>
          <p:nvPr/>
        </p:nvGraphicFramePr>
        <p:xfrm>
          <a:off x="540000" y="2196000"/>
          <a:ext cx="6480000" cy="1836000"/>
        </p:xfrm>
        <a:graphic>
          <a:graphicData uri="http://schemas.openxmlformats.org/drawingml/2006/table">
            <a:tbl>
              <a:tblPr/>
              <a:tblGrid>
                <a:gridCol w="1224000"/>
                <a:gridCol w="5256000"/>
              </a:tblGrid>
              <a:tr h="61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진단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갈등진단 실시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 변경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승진·전보·직군격차 개선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이행·환류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K-노무포털로 합의사항 이행 모니터링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성과 띠"/>
          <p:cNvSpPr/>
          <p:nvPr/>
        </p:nvSpPr>
        <p:spPr>
          <a:xfrm>
            <a:off x="540000" y="4140000"/>
            <a:ext cx="6480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성과 라벨"/>
          <p:cNvSpPr/>
          <p:nvPr/>
        </p:nvSpPr>
        <p:spPr>
          <a:xfrm>
            <a:off x="630000" y="423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5" name="성과 문구"/>
          <p:cNvSpPr txBox="1"/>
          <p:nvPr/>
        </p:nvSpPr>
        <p:spPr>
          <a:xfrm>
            <a:off x="1476000" y="4140000"/>
            <a:ext cx="540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진단에서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이행 모니터링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까지 한 고리로 연결</a:t>
            </a:r>
          </a:p>
        </p:txBody>
      </p:sp>
      <p:sp>
        <p:nvSpPr>
          <p:cNvPr id="16" name="섹션 띠"/>
          <p:cNvSpPr/>
          <p:nvPr/>
        </p:nvSpPr>
        <p:spPr>
          <a:xfrm>
            <a:off x="540000" y="5328000"/>
            <a:ext cx="6480000" cy="27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①  협력체계의 적법·실질 운영</a:t>
            </a:r>
          </a:p>
        </p:txBody>
      </p:sp>
      <p:sp>
        <p:nvSpPr>
          <p:cNvPr id="17" name="추진실적 제목"/>
          <p:cNvSpPr txBox="1"/>
          <p:nvPr/>
        </p:nvSpPr>
        <p:spPr>
          <a:xfrm>
            <a:off x="540000" y="5652000"/>
            <a:ext cx="46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1-2. 협의체와 법 변화 TF 병행 (도로공사 B / B+)</a:t>
            </a:r>
          </a:p>
        </p:txBody>
      </p:sp>
      <p:sp>
        <p:nvSpPr>
          <p:cNvPr id="18" name="라벨"/>
          <p:cNvSpPr/>
          <p:nvPr/>
        </p:nvSpPr>
        <p:spPr>
          <a:xfrm>
            <a:off x="5724000" y="5670000"/>
            <a:ext cx="1296000" cy="288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V320</a:t>
            </a:r>
          </a:p>
        </p:txBody>
      </p:sp>
      <p:graphicFrame>
        <p:nvGraphicFramePr>
          <p:cNvPr id="19" name="반쪽 표 2"/>
          <p:cNvGraphicFramePr>
            <a:graphicFrameLocks noGrp="1"/>
          </p:cNvGraphicFramePr>
          <p:nvPr/>
        </p:nvGraphicFramePr>
        <p:xfrm>
          <a:off x="540000" y="6084000"/>
          <a:ext cx="6480000" cy="1836000"/>
        </p:xfrm>
        <a:graphic>
          <a:graphicData uri="http://schemas.openxmlformats.org/drawingml/2006/table">
            <a:tbl>
              <a:tblPr/>
              <a:tblGrid>
                <a:gridCol w="1224000"/>
                <a:gridCol w="5256000"/>
              </a:tblGrid>
              <a:tr h="61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협의 구조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9개 복수노조에 상생협의체를 본사·지사로 운영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법 변화 대응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노란봉투법 전담 TF·외부 전문기관 협업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보완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자회사 노무역량 공유·온라인 상시 환류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성과 띠"/>
          <p:cNvSpPr/>
          <p:nvPr/>
        </p:nvSpPr>
        <p:spPr>
          <a:xfrm>
            <a:off x="540000" y="8028000"/>
            <a:ext cx="6480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성과 라벨"/>
          <p:cNvSpPr/>
          <p:nvPr/>
        </p:nvSpPr>
        <p:spPr>
          <a:xfrm>
            <a:off x="630000" y="8118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22" name="성과 문구"/>
          <p:cNvSpPr txBox="1"/>
          <p:nvPr/>
        </p:nvSpPr>
        <p:spPr>
          <a:xfrm>
            <a:off x="1476000" y="8028000"/>
            <a:ext cx="540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협의 구조와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법 변화 대응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을 함께 제시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R7. 성과·효과 입증: Before/After와 범위·분모를 함께 쓰고 재측정으로 닫는다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공식평가 재검증(한전KDN) · 분모 없는 비율은 쓰지 않음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평가내용 ③  근로조건의 실질적 향상</a:t>
            </a:r>
          </a:p>
        </p:txBody>
      </p:sp>
      <p:sp>
        <p:nvSpPr>
          <p:cNvPr id="10" name="추진실적 제목"/>
          <p:cNvSpPr txBox="1"/>
          <p:nvPr/>
        </p:nvSpPr>
        <p:spPr>
          <a:xfrm>
            <a:off x="540000" y="1836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직무급 확대와 제안 처리 (한전KDN)</a:t>
            </a:r>
          </a:p>
        </p:txBody>
      </p:sp>
      <p:sp>
        <p:nvSpPr>
          <p:cNvPr id="11" name="라벨"/>
          <p:cNvSpPr/>
          <p:nvPr/>
        </p:nvSpPr>
        <p:spPr>
          <a:xfrm>
            <a:off x="5652000" y="1854000"/>
            <a:ext cx="1314000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KPE V422</a:t>
            </a:r>
          </a:p>
        </p:txBody>
      </p:sp>
      <p:sp>
        <p:nvSpPr>
          <p:cNvPr id="12" name="라벨"/>
          <p:cNvSpPr/>
          <p:nvPr/>
        </p:nvSpPr>
        <p:spPr>
          <a:xfrm>
            <a:off x="4716000" y="1854000"/>
            <a:ext cx="882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모듈 R7</a:t>
            </a:r>
          </a:p>
        </p:txBody>
      </p:sp>
      <p:sp>
        <p:nvSpPr>
          <p:cNvPr id="13" name="핵심 수치"/>
          <p:cNvSpPr txBox="1"/>
          <p:nvPr/>
        </p:nvSpPr>
        <p:spPr>
          <a:xfrm>
            <a:off x="540000" y="2214000"/>
            <a:ext cx="2088000" cy="864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직무급 비중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8.7 → 15.6%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노사 합의 확대</a:t>
            </a:r>
          </a:p>
        </p:txBody>
      </p:sp>
      <p:sp>
        <p:nvSpPr>
          <p:cNvPr id="14" name="핵심 수치"/>
          <p:cNvSpPr txBox="1"/>
          <p:nvPr/>
        </p:nvSpPr>
        <p:spPr>
          <a:xfrm>
            <a:off x="2736000" y="2214000"/>
            <a:ext cx="2088000" cy="864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경영진 상정 제안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12건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무기명 온라인 조사</a:t>
            </a:r>
          </a:p>
        </p:txBody>
      </p:sp>
      <p:sp>
        <p:nvSpPr>
          <p:cNvPr id="15" name="핵심 수치"/>
          <p:cNvSpPr txBox="1"/>
          <p:nvPr/>
        </p:nvSpPr>
        <p:spPr>
          <a:xfrm>
            <a:off x="4932000" y="2214000"/>
            <a:ext cx="2088000" cy="864000"/>
          </a:xfrm>
          <a:prstGeom prst="rect">
            <a:avLst/>
          </a:prstGeom>
          <a:solidFill>
            <a:srgbClr val="E1F4FF"/>
          </a:solidFill>
          <a:ln w="6350">
            <a:solidFill>
              <a:srgbClr val="BDE0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해소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5건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상정 12건 중</a:t>
            </a:r>
          </a:p>
        </p:txBody>
      </p:sp>
      <p:graphicFrame>
        <p:nvGraphicFramePr>
          <p:cNvPr id="16" name="Before-After 표"/>
          <p:cNvGraphicFramePr>
            <a:graphicFrameLocks noGrp="1"/>
          </p:cNvGraphicFramePr>
          <p:nvPr/>
        </p:nvGraphicFramePr>
        <p:xfrm>
          <a:off x="540000" y="3186000"/>
          <a:ext cx="6480000" cy="4590000"/>
        </p:xfrm>
        <a:graphic>
          <a:graphicData uri="http://schemas.openxmlformats.org/drawingml/2006/table">
            <a:tbl>
              <a:tblPr/>
              <a:tblGrid>
                <a:gridCol w="936000"/>
                <a:gridCol w="720000"/>
                <a:gridCol w="1440000"/>
                <a:gridCol w="1584000"/>
                <a:gridCol w="1800000"/>
              </a:tblGrid>
              <a:tr h="351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Before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After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범위·분모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재측정·한계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1413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직무급 비중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8.7%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15.6%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전체 보수체계 기준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미해결 안건의 보류·재검토 기준 필요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13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제안 처리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상정 12건·해소 5건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상정 12건이 분모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직급·소속·노조가입별 대표성 한계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13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제도 대응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복수노조 통합 지원, 법제 선제 대응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노란봉투법·통상임금·정년연장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접수→상정→해결→장기과제화→공유 설계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성과 띠"/>
          <p:cNvSpPr/>
          <p:nvPr/>
        </p:nvSpPr>
        <p:spPr>
          <a:xfrm>
            <a:off x="540000" y="79560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성과 라벨"/>
          <p:cNvSpPr/>
          <p:nvPr/>
        </p:nvSpPr>
        <p:spPr>
          <a:xfrm>
            <a:off x="630000" y="81000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9" name="성과 문구"/>
          <p:cNvSpPr txBox="1"/>
          <p:nvPr/>
        </p:nvSpPr>
        <p:spPr>
          <a:xfrm>
            <a:off x="1476000" y="79560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Hero 수치 옆에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분모·범위·재측정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을 붙여 과장 없이 입증</a:t>
            </a:r>
          </a:p>
        </p:txBody>
      </p:sp>
      <p:sp>
        <p:nvSpPr>
          <p:cNvPr id="20" name="주석"/>
          <p:cNvSpPr txBox="1"/>
          <p:nvPr/>
        </p:nvSpPr>
        <p:spPr>
          <a:xfrm>
            <a:off x="540000" y="8640000"/>
            <a:ext cx="6480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― 는 공식 문장에서 확인되지 않은 값.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성과는 평가문장 기준이며 인과 효과로 단정하지 않음.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4-1. KORAD 노사관계 고정양식: 진단→실행→성과→평가·해석→환류를 한 단위로 묶는다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KORAD_고정양식_실제자료_검증용_v0.1(PDF 실측), 기관 실적보고서 108~109쪽, 공식평가 902~903쪽</a:t>
            </a:r>
          </a:p>
        </p:txBody>
      </p:sp>
      <p:sp>
        <p:nvSpPr>
          <p:cNvPr id="5" name="섹션 띠"/>
          <p:cNvSpPr/>
          <p:nvPr/>
        </p:nvSpPr>
        <p:spPr>
          <a:xfrm>
            <a:off x="540000" y="1440000"/>
            <a:ext cx="6480000" cy="306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고정양식 1단위: 번호 머리줄 + 라벨열 5행</a:t>
            </a:r>
          </a:p>
        </p:txBody>
      </p:sp>
      <p:graphicFrame>
        <p:nvGraphicFramePr>
          <p:cNvPr id="6" name="고정양식 1단위"/>
          <p:cNvGraphicFramePr>
            <a:graphicFrameLocks noGrp="1"/>
          </p:cNvGraphicFramePr>
          <p:nvPr/>
        </p:nvGraphicFramePr>
        <p:xfrm>
          <a:off x="540000" y="1836000"/>
          <a:ext cx="6480000" cy="2530800"/>
        </p:xfrm>
        <a:graphic>
          <a:graphicData uri="http://schemas.openxmlformats.org/drawingml/2006/table">
            <a:tbl>
              <a:tblPr/>
              <a:tblGrid>
                <a:gridCol w="864000"/>
                <a:gridCol w="5616000"/>
              </a:tblGrid>
              <a:tr h="504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진단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본사·사업소 간 수평 소통과 현장 고충 해결의 상대적 취약성을 진단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실행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노사소위원회 사업소 순회 개최 정례화 · 노동이사가 비정규직·비조합원 의견수렴 보완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7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성과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현장 안건 해결 6건 → 10건 / 소통지수 81.05점(신설)  ※ 근거: 기관 실적보고서 108쪽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7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평가·해석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소통 사각 보완 노력 인정. 장기안건·참여율·직군별 인식차의 후속관리 필요  ※ 근거: 공식평가 902~903쪽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7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환류(안)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안건별 원인·책임부서·조정기한을 기록해 논의-결정-이행-재측정을 연결(검토안, 이행실적 아님)</a:t>
                      </a:r>
                    </a:p>
                  </a:txBody>
                  <a:tcPr marL="57600" marR="57600" marT="72000" marB="72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성과 띠"/>
          <p:cNvSpPr/>
          <p:nvPr/>
        </p:nvSpPr>
        <p:spPr>
          <a:xfrm>
            <a:off x="540000" y="454680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성과 라벨"/>
          <p:cNvSpPr/>
          <p:nvPr/>
        </p:nvSpPr>
        <p:spPr>
          <a:xfrm>
            <a:off x="630000" y="469080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읽는 법</a:t>
            </a:r>
          </a:p>
        </p:txBody>
      </p:sp>
      <p:sp>
        <p:nvSpPr>
          <p:cNvPr id="9" name="성과 문구"/>
          <p:cNvSpPr txBox="1"/>
          <p:nvPr/>
        </p:nvSpPr>
        <p:spPr>
          <a:xfrm>
            <a:off x="1476000" y="454680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기관 주장(실행·성과)과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평가자 판단(평가·해석)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을 행으로 분리하고, 근거 쪽수를 줄마다 붙인다</a:t>
            </a:r>
          </a:p>
        </p:txBody>
      </p:sp>
      <p:sp>
        <p:nvSpPr>
          <p:cNvPr id="10" name="해설 박스"/>
          <p:cNvSpPr/>
          <p:nvPr/>
        </p:nvSpPr>
        <p:spPr>
          <a:xfrm>
            <a:off x="540000" y="5230800"/>
            <a:ext cx="6480000" cy="1944000"/>
          </a:xfrm>
          <a:prstGeom prst="roundRect">
            <a:avLst>
              <a:gd name="adj" fmla="val 4000"/>
            </a:avLst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5200" rIns="115200" tIns="86400" bIns="86400" wrap="square"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실측값 (고정양식 PDF 1쪽)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A4 595×842pt, 바깥 여백 33.75pt = 약 11.9mm(사방 12mm), 본문 폭 186mm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글꼴 본문 11pt·부제 9pt·소제목 12.6pt·표제 16pt, 라벨열 약 24mm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쉽게 말하면) </a:t>
            </a: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명세서처럼 "무엇을 했고(실행) 어떤 결과가 났고(성과) 심사위원은 뭐라 했고(평가) 다음엔 뭘 하나(환류)"를 한 줄씩 적는 칸입니다.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KORAD 경영평가 | 노사관계 지표 전수검토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5-1. A4 세로 표준: 여백 좌우 15·상하 10, 글자 12·14·15pt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사용자 지정 기준</a:t>
            </a:r>
          </a:p>
        </p:txBody>
      </p:sp>
      <p:graphicFrame>
        <p:nvGraphicFramePr>
          <p:cNvPr id="5" name="표준표"/>
          <p:cNvGraphicFramePr>
            <a:graphicFrameLocks noGrp="1"/>
          </p:cNvGraphicFramePr>
          <p:nvPr/>
        </p:nvGraphicFramePr>
        <p:xfrm>
          <a:off x="540000" y="1440000"/>
          <a:ext cx="6480000" cy="3081600"/>
        </p:xfrm>
        <a:graphic>
          <a:graphicData uri="http://schemas.openxmlformats.org/drawingml/2006/table">
            <a:tbl>
              <a:tblPr/>
              <a:tblGrid>
                <a:gridCol w="1296000"/>
                <a:gridCol w="2880000"/>
                <a:gridCol w="2304000"/>
              </a:tblGrid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항목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표준값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적용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용지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A4 세로 210 × 297mm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슬라이드 크기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5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여백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좌·우 15mm / 상·하 10mm (지정값)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본문 180 × 277mm · 고정양식 실측은 사방 12mm(186mm)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머리글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y 10~19 경로(좌)·CI(우)·실선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장·지표 경로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Governing Message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y 21.5~35 좌측 기준선 가로형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15pt 굵게, 두괄식 1~2줄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본문 영역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y 40~262 (222mm), 하단 탭 y 265~275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지면 R1~R7·모듈 A~H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하단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출처·주석 y 278.5~287 + 쪽 번호 탭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12pt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글자 12pt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본문 글상자 · 박스·표 안 텍스트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개조식 □ ○ - ※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글자 14pt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네모·동그라미 라벨·번호·핵심 수치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단계 헤더·성과 라벨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글자 15pt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박스 밖 제목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GM·섹션 띠·추진실적 제목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46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글꼴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Pretendard (Regular·Bold)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행간 110%, 자간 -5%</a:t>
                      </a:r>
                    </a:p>
                  </a:txBody>
                  <a:tcPr marL="57600" marR="57600" marT="36000" marB="360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해설 박스"/>
          <p:cNvSpPr/>
          <p:nvPr/>
        </p:nvSpPr>
        <p:spPr>
          <a:xfrm>
            <a:off x="540000" y="4665600"/>
            <a:ext cx="6480000" cy="2016000"/>
          </a:xfrm>
          <a:prstGeom prst="roundRect">
            <a:avLst>
              <a:gd name="adj" fmla="val 4000"/>
            </a:avLst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5200" rIns="115200" tIns="86400" bIns="86400" wrap="square"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예외와 확인 사항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표지·간지의 큰 제목은 KORAD 원본 크기를 따르며 12·14·15pt 규칙에서 제외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여백 수치는 마스터 한 곳에서 바꾸면 모든 지면에 반영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KORAD 고정양식 PDF는 실측함(사방 12mm). 보고서 원본 104~112쪽 이미지는 10MB 초과로 미확보: 여백을 12mm로 바꿀지 확인 필요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평가내용별 추진실적 | 지면 레이아웃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R10. 평가내용 첫 쪽: 장 제목·평가내용·BP 배너·환경진단·기존해석→재정의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타 기관 보고서 5~9쪽 좌표 분석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BL-001 chapter_title"/>
          <p:cNvSpPr txBox="1"/>
          <p:nvPr/>
        </p:nvSpPr>
        <p:spPr>
          <a:xfrm>
            <a:off x="540615" y="1440000"/>
            <a:ext cx="5304970" cy="21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제목</a:t>
            </a:r>
          </a:p>
        </p:txBody>
      </p:sp>
      <p:sp>
        <p:nvSpPr>
          <p:cNvPr id="10" name="BL-002 eval_item_box"/>
          <p:cNvSpPr/>
          <p:nvPr/>
        </p:nvSpPr>
        <p:spPr>
          <a:xfrm>
            <a:off x="540615" y="1819357"/>
            <a:ext cx="6478771" cy="468617"/>
          </a:xfrm>
          <a:prstGeom prst="rect">
            <a:avLst/>
          </a:prstGeom>
          <a:solidFill>
            <a:srgbClr val="E1F4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평가내용 N | 평가내용 문장</a:t>
            </a:r>
          </a:p>
        </p:txBody>
      </p:sp>
      <p:sp>
        <p:nvSpPr>
          <p:cNvPr id="11" name="BL-003 bp_banner"/>
          <p:cNvSpPr/>
          <p:nvPr/>
        </p:nvSpPr>
        <p:spPr>
          <a:xfrm>
            <a:off x="540615" y="2412302"/>
            <a:ext cx="6478771" cy="793781"/>
          </a:xfrm>
          <a:prstGeom prst="rect">
            <a:avLst/>
          </a:prstGeom>
          <a:solidFill>
            <a:srgbClr val="BDE0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Best Practice | 두괄식 제목 + 개조식 2줄</a:t>
            </a:r>
          </a:p>
        </p:txBody>
      </p:sp>
      <p:sp>
        <p:nvSpPr>
          <p:cNvPr id="12" name="BL-004 section_bar"/>
          <p:cNvSpPr/>
          <p:nvPr/>
        </p:nvSpPr>
        <p:spPr>
          <a:xfrm>
            <a:off x="540615" y="3336785"/>
            <a:ext cx="6402550" cy="21996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N  번호 띠 제목 (두괄식 15pt)</a:t>
            </a:r>
          </a:p>
        </p:txBody>
      </p:sp>
      <p:sp>
        <p:nvSpPr>
          <p:cNvPr id="13" name="BL-004 section_bar 칩"/>
          <p:cNvSpPr/>
          <p:nvPr/>
        </p:nvSpPr>
        <p:spPr>
          <a:xfrm>
            <a:off x="6079164" y="3379985"/>
            <a:ext cx="792000" cy="13356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✔개선</a:t>
            </a:r>
          </a:p>
        </p:txBody>
      </p:sp>
      <p:sp>
        <p:nvSpPr>
          <p:cNvPr id="14" name="BL-005 subhead"/>
          <p:cNvSpPr txBox="1"/>
          <p:nvPr/>
        </p:nvSpPr>
        <p:spPr>
          <a:xfrm>
            <a:off x="540615" y="3652385"/>
            <a:ext cx="5693696" cy="21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소제목 (가·나·다)</a:t>
            </a:r>
          </a:p>
        </p:txBody>
      </p:sp>
      <p:sp>
        <p:nvSpPr>
          <p:cNvPr id="15" name="BL-006 labeled_block"/>
          <p:cNvSpPr/>
          <p:nvPr/>
        </p:nvSpPr>
        <p:spPr>
          <a:xfrm>
            <a:off x="540615" y="3923354"/>
            <a:ext cx="6478771" cy="2295269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BL-006 labeled_block 라벨열"/>
          <p:cNvSpPr/>
          <p:nvPr/>
        </p:nvSpPr>
        <p:spPr>
          <a:xfrm>
            <a:off x="540615" y="3923354"/>
            <a:ext cx="755139" cy="229526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환경진단</a:t>
            </a:r>
          </a:p>
        </p:txBody>
      </p:sp>
      <p:sp>
        <p:nvSpPr>
          <p:cNvPr id="17" name="card_tl"/>
          <p:cNvSpPr/>
          <p:nvPr/>
        </p:nvSpPr>
        <p:spPr>
          <a:xfrm>
            <a:off x="1348555" y="3961608"/>
            <a:ext cx="2820171" cy="120501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좌상</a:t>
            </a:r>
          </a:p>
        </p:txBody>
      </p:sp>
      <p:sp>
        <p:nvSpPr>
          <p:cNvPr id="18" name="card_tr"/>
          <p:cNvSpPr/>
          <p:nvPr/>
        </p:nvSpPr>
        <p:spPr>
          <a:xfrm>
            <a:off x="4180159" y="3961608"/>
            <a:ext cx="2812549" cy="120501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우상</a:t>
            </a:r>
          </a:p>
        </p:txBody>
      </p:sp>
      <p:sp>
        <p:nvSpPr>
          <p:cNvPr id="19" name="card_bl"/>
          <p:cNvSpPr/>
          <p:nvPr/>
        </p:nvSpPr>
        <p:spPr>
          <a:xfrm>
            <a:off x="1348555" y="5192128"/>
            <a:ext cx="2820171" cy="99780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좌하</a:t>
            </a:r>
          </a:p>
        </p:txBody>
      </p:sp>
      <p:sp>
        <p:nvSpPr>
          <p:cNvPr id="20" name="card_br"/>
          <p:cNvSpPr/>
          <p:nvPr/>
        </p:nvSpPr>
        <p:spPr>
          <a:xfrm>
            <a:off x="4180159" y="5192128"/>
            <a:ext cx="2812549" cy="99780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우하</a:t>
            </a:r>
          </a:p>
        </p:txBody>
      </p:sp>
      <p:sp>
        <p:nvSpPr>
          <p:cNvPr id="21" name="hub_circle_images"/>
          <p:cNvSpPr/>
          <p:nvPr/>
        </p:nvSpPr>
        <p:spPr>
          <a:xfrm>
            <a:off x="3360785" y="4194323"/>
            <a:ext cx="1612071" cy="148554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중앙 허브(이미지)</a:t>
            </a:r>
          </a:p>
        </p:txBody>
      </p:sp>
      <p:sp>
        <p:nvSpPr>
          <p:cNvPr id="22" name="BL-007 insight_bar"/>
          <p:cNvSpPr/>
          <p:nvPr/>
        </p:nvSpPr>
        <p:spPr>
          <a:xfrm>
            <a:off x="540615" y="6244126"/>
            <a:ext cx="6478771" cy="255030"/>
          </a:xfrm>
          <a:prstGeom prst="rect">
            <a:avLst/>
          </a:prstGeom>
          <a:solidFill>
            <a:srgbClr val="E1F4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Insight | 시사점 한 줄</a:t>
            </a:r>
          </a:p>
        </p:txBody>
      </p:sp>
      <p:sp>
        <p:nvSpPr>
          <p:cNvPr id="23" name="BL-008 labeled_block"/>
          <p:cNvSpPr/>
          <p:nvPr/>
        </p:nvSpPr>
        <p:spPr>
          <a:xfrm>
            <a:off x="540615" y="6524659"/>
            <a:ext cx="6478771" cy="2907341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BL-008 labeled_block 라벨열"/>
          <p:cNvSpPr/>
          <p:nvPr/>
        </p:nvSpPr>
        <p:spPr>
          <a:xfrm>
            <a:off x="540615" y="6524659"/>
            <a:ext cx="755139" cy="290734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기존해석/변화필요성/설립목적재정의</a:t>
            </a:r>
          </a:p>
        </p:txBody>
      </p:sp>
      <p:sp>
        <p:nvSpPr>
          <p:cNvPr id="25" name="label_chevron_stack"/>
          <p:cNvSpPr/>
          <p:nvPr/>
        </p:nvSpPr>
        <p:spPr>
          <a:xfrm>
            <a:off x="540615" y="6524659"/>
            <a:ext cx="754586" cy="2904153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라벨 화살표 3단</a:t>
            </a:r>
          </a:p>
        </p:txBody>
      </p:sp>
      <p:sp>
        <p:nvSpPr>
          <p:cNvPr id="26" name="top_pair_strip"/>
          <p:cNvSpPr/>
          <p:nvPr/>
        </p:nvSpPr>
        <p:spPr>
          <a:xfrm>
            <a:off x="1348555" y="6569289"/>
            <a:ext cx="5628908" cy="22633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법·정관 목적 2단 띠</a:t>
            </a:r>
          </a:p>
        </p:txBody>
      </p:sp>
      <p:sp>
        <p:nvSpPr>
          <p:cNvPr id="27" name="row1_cells"/>
          <p:cNvSpPr/>
          <p:nvPr/>
        </p:nvSpPr>
        <p:spPr>
          <a:xfrm>
            <a:off x="1348555" y="6853010"/>
            <a:ext cx="5628908" cy="819284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기존 해석 3칸</a:t>
            </a:r>
          </a:p>
        </p:txBody>
      </p:sp>
      <p:sp>
        <p:nvSpPr>
          <p:cNvPr id="28" name="row2_cells"/>
          <p:cNvSpPr/>
          <p:nvPr/>
        </p:nvSpPr>
        <p:spPr>
          <a:xfrm>
            <a:off x="1348555" y="7809372"/>
            <a:ext cx="5628908" cy="56744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변화 필요성 3칸</a:t>
            </a:r>
          </a:p>
        </p:txBody>
      </p:sp>
      <p:sp>
        <p:nvSpPr>
          <p:cNvPr id="29" name="row3_cells"/>
          <p:cNvSpPr/>
          <p:nvPr/>
        </p:nvSpPr>
        <p:spPr>
          <a:xfrm>
            <a:off x="1348555" y="8456511"/>
            <a:ext cx="5628908" cy="647138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재정의 3칸</a:t>
            </a:r>
          </a:p>
        </p:txBody>
      </p:sp>
      <p:sp>
        <p:nvSpPr>
          <p:cNvPr id="30" name="bottom_conclusion_bar"/>
          <p:cNvSpPr/>
          <p:nvPr/>
        </p:nvSpPr>
        <p:spPr>
          <a:xfrm>
            <a:off x="1348555" y="9157843"/>
            <a:ext cx="5628908" cy="21677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결론 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평가내용별 추진실적 | 지면 레이아웃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R11. 이해관계자 재분류·가치전략 진단·롤링·소통 확산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타 기관 보고서 5~9쪽 좌표 분석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BL-005 subhead"/>
          <p:cNvSpPr txBox="1"/>
          <p:nvPr/>
        </p:nvSpPr>
        <p:spPr>
          <a:xfrm>
            <a:off x="540615" y="1440000"/>
            <a:ext cx="5110607" cy="1874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소제목 (가·나·다)</a:t>
            </a:r>
          </a:p>
        </p:txBody>
      </p:sp>
      <p:sp>
        <p:nvSpPr>
          <p:cNvPr id="10" name="BL-009 labeled_block"/>
          <p:cNvSpPr/>
          <p:nvPr/>
        </p:nvSpPr>
        <p:spPr>
          <a:xfrm>
            <a:off x="540615" y="1681508"/>
            <a:ext cx="6478771" cy="1830375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L-009 labeled_block 라벨열"/>
          <p:cNvSpPr/>
          <p:nvPr/>
        </p:nvSpPr>
        <p:spPr>
          <a:xfrm>
            <a:off x="540615" y="1681508"/>
            <a:ext cx="755139" cy="1830375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이해관계자 재분류</a:t>
            </a:r>
          </a:p>
        </p:txBody>
      </p:sp>
      <p:sp>
        <p:nvSpPr>
          <p:cNvPr id="12" name="top_banner"/>
          <p:cNvSpPr/>
          <p:nvPr/>
        </p:nvSpPr>
        <p:spPr>
          <a:xfrm>
            <a:off x="1348555" y="1719641"/>
            <a:ext cx="5628908" cy="23197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상단 배너(핵심 메시지)</a:t>
            </a:r>
          </a:p>
        </p:txBody>
      </p:sp>
      <p:sp>
        <p:nvSpPr>
          <p:cNvPr id="13" name="chevron_process_4step"/>
          <p:cNvSpPr/>
          <p:nvPr/>
        </p:nvSpPr>
        <p:spPr>
          <a:xfrm>
            <a:off x="1348555" y="1992926"/>
            <a:ext cx="5628908" cy="25421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4단계 프로세스</a:t>
            </a:r>
          </a:p>
        </p:txBody>
      </p:sp>
      <p:sp>
        <p:nvSpPr>
          <p:cNvPr id="14" name="card_tl"/>
          <p:cNvSpPr/>
          <p:nvPr/>
        </p:nvSpPr>
        <p:spPr>
          <a:xfrm>
            <a:off x="1348555" y="2285277"/>
            <a:ext cx="2820171" cy="597414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좌상</a:t>
            </a:r>
          </a:p>
        </p:txBody>
      </p:sp>
      <p:sp>
        <p:nvSpPr>
          <p:cNvPr id="15" name="card_tr"/>
          <p:cNvSpPr/>
          <p:nvPr/>
        </p:nvSpPr>
        <p:spPr>
          <a:xfrm>
            <a:off x="4180159" y="2285277"/>
            <a:ext cx="2793493" cy="597414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우상</a:t>
            </a:r>
          </a:p>
        </p:txBody>
      </p:sp>
      <p:sp>
        <p:nvSpPr>
          <p:cNvPr id="16" name="card_bl"/>
          <p:cNvSpPr/>
          <p:nvPr/>
        </p:nvSpPr>
        <p:spPr>
          <a:xfrm>
            <a:off x="1348555" y="2892224"/>
            <a:ext cx="2820171" cy="591058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좌하</a:t>
            </a:r>
          </a:p>
        </p:txBody>
      </p:sp>
      <p:sp>
        <p:nvSpPr>
          <p:cNvPr id="17" name="card_br"/>
          <p:cNvSpPr/>
          <p:nvPr/>
        </p:nvSpPr>
        <p:spPr>
          <a:xfrm>
            <a:off x="4180159" y="2892224"/>
            <a:ext cx="2793493" cy="591058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우하</a:t>
            </a:r>
          </a:p>
        </p:txBody>
      </p:sp>
      <p:sp>
        <p:nvSpPr>
          <p:cNvPr id="18" name="BL-010 arrow_caption"/>
          <p:cNvSpPr/>
          <p:nvPr/>
        </p:nvSpPr>
        <p:spPr>
          <a:xfrm>
            <a:off x="567292" y="3537304"/>
            <a:ext cx="6425416" cy="171598"/>
          </a:xfrm>
          <a:prstGeom prst="rect">
            <a:avLst/>
          </a:prstGeom>
          <a:solidFill>
            <a:srgbClr val="E1F4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【검증 대상 한 줄】</a:t>
            </a:r>
          </a:p>
        </p:txBody>
      </p:sp>
      <p:sp>
        <p:nvSpPr>
          <p:cNvPr id="19" name="BL-011 labeled_block"/>
          <p:cNvSpPr/>
          <p:nvPr/>
        </p:nvSpPr>
        <p:spPr>
          <a:xfrm>
            <a:off x="540615" y="3832833"/>
            <a:ext cx="6478771" cy="2062349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BL-011 labeled_block 라벨열"/>
          <p:cNvSpPr/>
          <p:nvPr/>
        </p:nvSpPr>
        <p:spPr>
          <a:xfrm>
            <a:off x="540615" y="3832833"/>
            <a:ext cx="755139" cy="206234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가치전략 진단</a:t>
            </a:r>
          </a:p>
        </p:txBody>
      </p:sp>
      <p:sp>
        <p:nvSpPr>
          <p:cNvPr id="21" name="lead_bullets"/>
          <p:cNvSpPr/>
          <p:nvPr/>
        </p:nvSpPr>
        <p:spPr>
          <a:xfrm>
            <a:off x="1348555" y="3886855"/>
            <a:ext cx="5628908" cy="29552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도입 개조식</a:t>
            </a:r>
          </a:p>
        </p:txBody>
      </p:sp>
      <p:sp>
        <p:nvSpPr>
          <p:cNvPr id="22" name="col3_header"/>
          <p:cNvSpPr/>
          <p:nvPr/>
        </p:nvSpPr>
        <p:spPr>
          <a:xfrm>
            <a:off x="1348555" y="4245939"/>
            <a:ext cx="5628908" cy="177953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3열 머리</a:t>
            </a:r>
          </a:p>
        </p:txBody>
      </p:sp>
      <p:sp>
        <p:nvSpPr>
          <p:cNvPr id="23" name="col3_body"/>
          <p:cNvSpPr/>
          <p:nvPr/>
        </p:nvSpPr>
        <p:spPr>
          <a:xfrm>
            <a:off x="1348555" y="4452491"/>
            <a:ext cx="5628908" cy="37815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3열 본문</a:t>
            </a:r>
          </a:p>
        </p:txBody>
      </p:sp>
      <p:sp>
        <p:nvSpPr>
          <p:cNvPr id="24" name="message_band"/>
          <p:cNvSpPr/>
          <p:nvPr/>
        </p:nvSpPr>
        <p:spPr>
          <a:xfrm>
            <a:off x="1348555" y="4856064"/>
            <a:ext cx="5628908" cy="21608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메시지 띠</a:t>
            </a:r>
          </a:p>
        </p:txBody>
      </p:sp>
      <p:sp>
        <p:nvSpPr>
          <p:cNvPr id="25" name="table_row_value"/>
          <p:cNvSpPr/>
          <p:nvPr/>
        </p:nvSpPr>
        <p:spPr>
          <a:xfrm>
            <a:off x="1348555" y="5088038"/>
            <a:ext cx="5628908" cy="33366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표 1행(가치체계)</a:t>
            </a:r>
          </a:p>
        </p:txBody>
      </p:sp>
      <p:sp>
        <p:nvSpPr>
          <p:cNvPr id="26" name="table_row_strategy"/>
          <p:cNvSpPr/>
          <p:nvPr/>
        </p:nvSpPr>
        <p:spPr>
          <a:xfrm>
            <a:off x="1348555" y="5447122"/>
            <a:ext cx="5628908" cy="349551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표 2행(전략체계)</a:t>
            </a:r>
          </a:p>
        </p:txBody>
      </p:sp>
      <p:sp>
        <p:nvSpPr>
          <p:cNvPr id="27" name="check_column"/>
          <p:cNvSpPr/>
          <p:nvPr/>
        </p:nvSpPr>
        <p:spPr>
          <a:xfrm>
            <a:off x="5361582" y="5088038"/>
            <a:ext cx="1612071" cy="71181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우측 확인 열</a:t>
            </a:r>
          </a:p>
        </p:txBody>
      </p:sp>
      <p:sp>
        <p:nvSpPr>
          <p:cNvPr id="28" name="BL-012 rolling_block"/>
          <p:cNvSpPr/>
          <p:nvPr/>
        </p:nvSpPr>
        <p:spPr>
          <a:xfrm>
            <a:off x="540615" y="5933315"/>
            <a:ext cx="6478771" cy="1490357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ibbon_title"/>
          <p:cNvSpPr/>
          <p:nvPr/>
        </p:nvSpPr>
        <p:spPr>
          <a:xfrm>
            <a:off x="567292" y="5958737"/>
            <a:ext cx="6429227" cy="162064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【리본 제목】</a:t>
            </a:r>
          </a:p>
        </p:txBody>
      </p:sp>
      <p:sp>
        <p:nvSpPr>
          <p:cNvPr id="30" name="chevron3_header"/>
          <p:cNvSpPr/>
          <p:nvPr/>
        </p:nvSpPr>
        <p:spPr>
          <a:xfrm>
            <a:off x="540615" y="6149401"/>
            <a:ext cx="6478771" cy="177953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3단 화살표 머리</a:t>
            </a:r>
          </a:p>
        </p:txBody>
      </p:sp>
      <p:sp>
        <p:nvSpPr>
          <p:cNvPr id="31" name="cards"/>
          <p:cNvSpPr/>
          <p:nvPr/>
        </p:nvSpPr>
        <p:spPr>
          <a:xfrm>
            <a:off x="567292" y="6362309"/>
            <a:ext cx="6429227" cy="537037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카드 3칸</a:t>
            </a:r>
          </a:p>
        </p:txBody>
      </p:sp>
      <p:sp>
        <p:nvSpPr>
          <p:cNvPr id="32" name="desc_strip"/>
          <p:cNvSpPr/>
          <p:nvPr/>
        </p:nvSpPr>
        <p:spPr>
          <a:xfrm>
            <a:off x="567292" y="6873924"/>
            <a:ext cx="6429227" cy="14617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설명 띠</a:t>
            </a:r>
          </a:p>
        </p:txBody>
      </p:sp>
      <p:sp>
        <p:nvSpPr>
          <p:cNvPr id="33" name="bullets"/>
          <p:cNvSpPr/>
          <p:nvPr/>
        </p:nvSpPr>
        <p:spPr>
          <a:xfrm>
            <a:off x="567292" y="7064588"/>
            <a:ext cx="6429227" cy="29552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개조식</a:t>
            </a:r>
          </a:p>
        </p:txBody>
      </p:sp>
      <p:sp>
        <p:nvSpPr>
          <p:cNvPr id="34" name="BL-005 subhead"/>
          <p:cNvSpPr txBox="1"/>
          <p:nvPr/>
        </p:nvSpPr>
        <p:spPr>
          <a:xfrm>
            <a:off x="540615" y="7563493"/>
            <a:ext cx="6326329" cy="1811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소제목 (가·나·다)</a:t>
            </a:r>
          </a:p>
        </p:txBody>
      </p:sp>
      <p:sp>
        <p:nvSpPr>
          <p:cNvPr id="35" name="BL-013 matrix_plus_channels"/>
          <p:cNvSpPr/>
          <p:nvPr/>
        </p:nvSpPr>
        <p:spPr>
          <a:xfrm>
            <a:off x="540615" y="7798645"/>
            <a:ext cx="6478771" cy="1633355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quadrant_matrix"/>
          <p:cNvSpPr/>
          <p:nvPr/>
        </p:nvSpPr>
        <p:spPr>
          <a:xfrm>
            <a:off x="552048" y="7798645"/>
            <a:ext cx="2160861" cy="1630177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4분면 매트릭스</a:t>
            </a:r>
          </a:p>
        </p:txBody>
      </p:sp>
      <p:sp>
        <p:nvSpPr>
          <p:cNvPr id="37" name="channel_by_type"/>
          <p:cNvSpPr/>
          <p:nvPr/>
        </p:nvSpPr>
        <p:spPr>
          <a:xfrm>
            <a:off x="2762452" y="7843133"/>
            <a:ext cx="2054151" cy="1588867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유형별 채널 4행</a:t>
            </a:r>
          </a:p>
        </p:txBody>
      </p:sp>
      <p:sp>
        <p:nvSpPr>
          <p:cNvPr id="38" name="spread_channels_with_thumbs"/>
          <p:cNvSpPr/>
          <p:nvPr/>
        </p:nvSpPr>
        <p:spPr>
          <a:xfrm>
            <a:off x="4812792" y="7843133"/>
            <a:ext cx="2195160" cy="1588867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확산 채널 + 썸네일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평가내용별 추진실적 | 지면 레이아웃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R12. 그간 혁신연계와 TF 3개 모듈(리본·흐름·2030 미래상)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타 기관 보고서 5~9쪽 좌표 분석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BL-004 section_bar"/>
          <p:cNvSpPr/>
          <p:nvPr/>
        </p:nvSpPr>
        <p:spPr>
          <a:xfrm>
            <a:off x="540615" y="1440000"/>
            <a:ext cx="6402550" cy="22934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N  번호 띠 제목 (두괄식 15pt)</a:t>
            </a:r>
          </a:p>
        </p:txBody>
      </p:sp>
      <p:sp>
        <p:nvSpPr>
          <p:cNvPr id="10" name="BL-004 section_bar 칩"/>
          <p:cNvSpPr/>
          <p:nvPr/>
        </p:nvSpPr>
        <p:spPr>
          <a:xfrm>
            <a:off x="6079164" y="1483200"/>
            <a:ext cx="792000" cy="14294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✔개선</a:t>
            </a:r>
          </a:p>
        </p:txBody>
      </p:sp>
      <p:sp>
        <p:nvSpPr>
          <p:cNvPr id="11" name="BL-014 labeled_block"/>
          <p:cNvSpPr/>
          <p:nvPr/>
        </p:nvSpPr>
        <p:spPr>
          <a:xfrm>
            <a:off x="540615" y="1752163"/>
            <a:ext cx="6478771" cy="1207241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BL-014 labeled_block 라벨열"/>
          <p:cNvSpPr/>
          <p:nvPr/>
        </p:nvSpPr>
        <p:spPr>
          <a:xfrm>
            <a:off x="540615" y="1752163"/>
            <a:ext cx="755139" cy="120724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그간의 혁신연계</a:t>
            </a:r>
          </a:p>
        </p:txBody>
      </p:sp>
      <p:sp>
        <p:nvSpPr>
          <p:cNvPr id="13" name="top_banner"/>
          <p:cNvSpPr/>
          <p:nvPr/>
        </p:nvSpPr>
        <p:spPr>
          <a:xfrm>
            <a:off x="1348555" y="1831796"/>
            <a:ext cx="5628908" cy="1624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상단 배너(핵심 메시지)</a:t>
            </a:r>
          </a:p>
        </p:txBody>
      </p:sp>
      <p:sp>
        <p:nvSpPr>
          <p:cNvPr id="14" name="year_chevron3"/>
          <p:cNvSpPr/>
          <p:nvPr/>
        </p:nvSpPr>
        <p:spPr>
          <a:xfrm>
            <a:off x="1348555" y="2042028"/>
            <a:ext cx="5628908" cy="23252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연도별 3단 화살표</a:t>
            </a:r>
          </a:p>
        </p:txBody>
      </p:sp>
      <p:sp>
        <p:nvSpPr>
          <p:cNvPr id="15" name="cols3_body"/>
          <p:cNvSpPr/>
          <p:nvPr/>
        </p:nvSpPr>
        <p:spPr>
          <a:xfrm>
            <a:off x="1348555" y="2303225"/>
            <a:ext cx="5628908" cy="59247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3열 본문</a:t>
            </a:r>
          </a:p>
        </p:txBody>
      </p:sp>
      <p:sp>
        <p:nvSpPr>
          <p:cNvPr id="16" name="BL-015 tf_module"/>
          <p:cNvSpPr/>
          <p:nvPr/>
        </p:nvSpPr>
        <p:spPr>
          <a:xfrm>
            <a:off x="540615" y="3003998"/>
            <a:ext cx="6478771" cy="2130988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BL-015 tf_module 라벨열"/>
          <p:cNvSpPr/>
          <p:nvPr/>
        </p:nvSpPr>
        <p:spPr>
          <a:xfrm>
            <a:off x="540615" y="3182377"/>
            <a:ext cx="806773" cy="100975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AI First 전략기획단</a:t>
            </a:r>
          </a:p>
        </p:txBody>
      </p:sp>
      <p:sp>
        <p:nvSpPr>
          <p:cNvPr id="18" name="BL-015 tf_module 라벨열"/>
          <p:cNvSpPr/>
          <p:nvPr/>
        </p:nvSpPr>
        <p:spPr>
          <a:xfrm>
            <a:off x="540615" y="4217610"/>
            <a:ext cx="806773" cy="91737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2030 미래상</a:t>
            </a:r>
          </a:p>
        </p:txBody>
      </p:sp>
      <p:sp>
        <p:nvSpPr>
          <p:cNvPr id="19" name="ribbon_title"/>
          <p:cNvSpPr/>
          <p:nvPr/>
        </p:nvSpPr>
        <p:spPr>
          <a:xfrm>
            <a:off x="540615" y="3003998"/>
            <a:ext cx="6478771" cy="1624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【리본 제목】</a:t>
            </a:r>
          </a:p>
        </p:txBody>
      </p:sp>
      <p:sp>
        <p:nvSpPr>
          <p:cNvPr id="20" name="flow_block"/>
          <p:cNvSpPr/>
          <p:nvPr/>
        </p:nvSpPr>
        <p:spPr>
          <a:xfrm>
            <a:off x="1347388" y="3182377"/>
            <a:ext cx="5671998" cy="100975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흐름: 라벨+3단 머리+결과 3칸</a:t>
            </a:r>
          </a:p>
        </p:txBody>
      </p:sp>
      <p:sp>
        <p:nvSpPr>
          <p:cNvPr id="21" name="future_block"/>
          <p:cNvSpPr/>
          <p:nvPr/>
        </p:nvSpPr>
        <p:spPr>
          <a:xfrm>
            <a:off x="1347388" y="4217610"/>
            <a:ext cx="5671998" cy="91737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2030 미래상: 배너+타임라인/차트</a:t>
            </a:r>
          </a:p>
        </p:txBody>
      </p:sp>
      <p:sp>
        <p:nvSpPr>
          <p:cNvPr id="22" name="BL-015 tf_module"/>
          <p:cNvSpPr/>
          <p:nvPr/>
        </p:nvSpPr>
        <p:spPr>
          <a:xfrm>
            <a:off x="540615" y="5205063"/>
            <a:ext cx="6478771" cy="2140544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BL-015 tf_module 라벨열"/>
          <p:cNvSpPr/>
          <p:nvPr/>
        </p:nvSpPr>
        <p:spPr>
          <a:xfrm>
            <a:off x="540615" y="5383442"/>
            <a:ext cx="806773" cy="100975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물에너지 Re:boot TF</a:t>
            </a:r>
          </a:p>
        </p:txBody>
      </p:sp>
      <p:sp>
        <p:nvSpPr>
          <p:cNvPr id="24" name="BL-015 tf_module 라벨열"/>
          <p:cNvSpPr/>
          <p:nvPr/>
        </p:nvSpPr>
        <p:spPr>
          <a:xfrm>
            <a:off x="540615" y="6418675"/>
            <a:ext cx="806773" cy="91737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2030 미래상</a:t>
            </a:r>
          </a:p>
        </p:txBody>
      </p:sp>
      <p:sp>
        <p:nvSpPr>
          <p:cNvPr id="25" name="ribbon_title"/>
          <p:cNvSpPr/>
          <p:nvPr/>
        </p:nvSpPr>
        <p:spPr>
          <a:xfrm>
            <a:off x="540615" y="5205063"/>
            <a:ext cx="6478771" cy="1624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【리본 제목】</a:t>
            </a:r>
          </a:p>
        </p:txBody>
      </p:sp>
      <p:sp>
        <p:nvSpPr>
          <p:cNvPr id="26" name="flow_block"/>
          <p:cNvSpPr/>
          <p:nvPr/>
        </p:nvSpPr>
        <p:spPr>
          <a:xfrm>
            <a:off x="1347388" y="5383442"/>
            <a:ext cx="5671998" cy="100975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흐름: 라벨+3단 머리+결과 3칸</a:t>
            </a:r>
          </a:p>
        </p:txBody>
      </p:sp>
      <p:sp>
        <p:nvSpPr>
          <p:cNvPr id="27" name="future_block"/>
          <p:cNvSpPr/>
          <p:nvPr/>
        </p:nvSpPr>
        <p:spPr>
          <a:xfrm>
            <a:off x="1347388" y="6418675"/>
            <a:ext cx="5671998" cy="91737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2030 미래상: 배너+타임라인/차트</a:t>
            </a:r>
          </a:p>
        </p:txBody>
      </p:sp>
      <p:sp>
        <p:nvSpPr>
          <p:cNvPr id="28" name="BL-015 tf_module"/>
          <p:cNvSpPr/>
          <p:nvPr/>
        </p:nvSpPr>
        <p:spPr>
          <a:xfrm>
            <a:off x="540615" y="7399758"/>
            <a:ext cx="6478771" cy="2032242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BL-015 tf_module 라벨열"/>
          <p:cNvSpPr/>
          <p:nvPr/>
        </p:nvSpPr>
        <p:spPr>
          <a:xfrm>
            <a:off x="540615" y="7578136"/>
            <a:ext cx="806773" cy="100975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산업용수 활성화 TF</a:t>
            </a:r>
          </a:p>
        </p:txBody>
      </p:sp>
      <p:sp>
        <p:nvSpPr>
          <p:cNvPr id="30" name="BL-015 tf_module 라벨열"/>
          <p:cNvSpPr/>
          <p:nvPr/>
        </p:nvSpPr>
        <p:spPr>
          <a:xfrm>
            <a:off x="540615" y="8613369"/>
            <a:ext cx="806773" cy="91737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2030 미래상</a:t>
            </a:r>
          </a:p>
        </p:txBody>
      </p:sp>
      <p:sp>
        <p:nvSpPr>
          <p:cNvPr id="31" name="ribbon_title"/>
          <p:cNvSpPr/>
          <p:nvPr/>
        </p:nvSpPr>
        <p:spPr>
          <a:xfrm>
            <a:off x="540615" y="7399758"/>
            <a:ext cx="6478771" cy="1624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【리본 제목】</a:t>
            </a:r>
          </a:p>
        </p:txBody>
      </p:sp>
      <p:sp>
        <p:nvSpPr>
          <p:cNvPr id="32" name="flow_block"/>
          <p:cNvSpPr/>
          <p:nvPr/>
        </p:nvSpPr>
        <p:spPr>
          <a:xfrm>
            <a:off x="1347388" y="7578136"/>
            <a:ext cx="5671998" cy="100975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흐름: 라벨+3단 머리+결과 3칸</a:t>
            </a:r>
          </a:p>
        </p:txBody>
      </p:sp>
      <p:sp>
        <p:nvSpPr>
          <p:cNvPr id="33" name="future_block"/>
          <p:cNvSpPr/>
          <p:nvPr/>
        </p:nvSpPr>
        <p:spPr>
          <a:xfrm>
            <a:off x="1347388" y="8613369"/>
            <a:ext cx="5671998" cy="91737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2030 미래상: 배너+타임라인/차트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평가내용별 추진실적 | 지면 레이아웃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R13. 선제적 제안·반영 로드맵과 정책 정합성 확보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타 기관 보고서 5~9쪽 좌표 분석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BL-004 section_bar"/>
          <p:cNvSpPr/>
          <p:nvPr/>
        </p:nvSpPr>
        <p:spPr>
          <a:xfrm>
            <a:off x="540615" y="1440000"/>
            <a:ext cx="6402550" cy="22934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N  번호 띠 제목 (두괄식 15pt)</a:t>
            </a:r>
          </a:p>
        </p:txBody>
      </p:sp>
      <p:sp>
        <p:nvSpPr>
          <p:cNvPr id="10" name="BL-004 section_bar 칩"/>
          <p:cNvSpPr/>
          <p:nvPr/>
        </p:nvSpPr>
        <p:spPr>
          <a:xfrm>
            <a:off x="6079164" y="1483200"/>
            <a:ext cx="792000" cy="14294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✔개선</a:t>
            </a:r>
          </a:p>
        </p:txBody>
      </p:sp>
      <p:sp>
        <p:nvSpPr>
          <p:cNvPr id="11" name="BL-016 labeled_block"/>
          <p:cNvSpPr/>
          <p:nvPr/>
        </p:nvSpPr>
        <p:spPr>
          <a:xfrm>
            <a:off x="540615" y="1752163"/>
            <a:ext cx="6478771" cy="5864198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BL-016 labeled_block 라벨열"/>
          <p:cNvSpPr/>
          <p:nvPr/>
        </p:nvSpPr>
        <p:spPr>
          <a:xfrm>
            <a:off x="540615" y="1752163"/>
            <a:ext cx="755139" cy="586419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선제적 제안·반영</a:t>
            </a:r>
          </a:p>
        </p:txBody>
      </p:sp>
      <p:sp>
        <p:nvSpPr>
          <p:cNvPr id="13" name="process_title_bar"/>
          <p:cNvSpPr/>
          <p:nvPr/>
        </p:nvSpPr>
        <p:spPr>
          <a:xfrm>
            <a:off x="1348555" y="1844537"/>
            <a:ext cx="5628908" cy="1624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프로세스 제목 띠</a:t>
            </a:r>
          </a:p>
        </p:txBody>
      </p:sp>
      <p:sp>
        <p:nvSpPr>
          <p:cNvPr id="14" name="roadmap_timeline"/>
          <p:cNvSpPr/>
          <p:nvPr/>
        </p:nvSpPr>
        <p:spPr>
          <a:xfrm>
            <a:off x="1348555" y="2077067"/>
            <a:ext cx="5628908" cy="11180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로드맵 타임라인(좌 로고, 우 2레인)</a:t>
            </a:r>
          </a:p>
        </p:txBody>
      </p:sp>
      <p:sp>
        <p:nvSpPr>
          <p:cNvPr id="15" name="policy_bar"/>
          <p:cNvSpPr/>
          <p:nvPr/>
        </p:nvSpPr>
        <p:spPr>
          <a:xfrm>
            <a:off x="1348555" y="3246084"/>
            <a:ext cx="5628908" cy="18793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정책 제안 띠</a:t>
            </a:r>
          </a:p>
        </p:txBody>
      </p:sp>
      <p:sp>
        <p:nvSpPr>
          <p:cNvPr id="16" name="support_pair_bar"/>
          <p:cNvSpPr/>
          <p:nvPr/>
        </p:nvSpPr>
        <p:spPr>
          <a:xfrm>
            <a:off x="1348555" y="3532764"/>
            <a:ext cx="5628908" cy="14652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지원 2단 띠</a:t>
            </a:r>
          </a:p>
        </p:txBody>
      </p:sp>
      <p:sp>
        <p:nvSpPr>
          <p:cNvPr id="17" name="month_cols3"/>
          <p:cNvSpPr/>
          <p:nvPr/>
        </p:nvSpPr>
        <p:spPr>
          <a:xfrm>
            <a:off x="1348555" y="3720698"/>
            <a:ext cx="5628908" cy="605213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월별 3열</a:t>
            </a:r>
          </a:p>
        </p:txBody>
      </p:sp>
      <p:sp>
        <p:nvSpPr>
          <p:cNvPr id="18" name="wide_message_bar"/>
          <p:cNvSpPr/>
          <p:nvPr/>
        </p:nvSpPr>
        <p:spPr>
          <a:xfrm>
            <a:off x="1348555" y="4405545"/>
            <a:ext cx="5628908" cy="270753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통 메시지 띠</a:t>
            </a:r>
          </a:p>
        </p:txBody>
      </p:sp>
      <p:sp>
        <p:nvSpPr>
          <p:cNvPr id="19" name="split_header"/>
          <p:cNvSpPr/>
          <p:nvPr/>
        </p:nvSpPr>
        <p:spPr>
          <a:xfrm>
            <a:off x="1927834" y="4701781"/>
            <a:ext cx="5045819" cy="18793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좌우 2단 머리</a:t>
            </a:r>
          </a:p>
        </p:txBody>
      </p:sp>
      <p:sp>
        <p:nvSpPr>
          <p:cNvPr id="20" name="category_rows5"/>
          <p:cNvSpPr/>
          <p:nvPr/>
        </p:nvSpPr>
        <p:spPr>
          <a:xfrm>
            <a:off x="1348555" y="4918383"/>
            <a:ext cx="5628908" cy="2697977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분야 5행(아이콘+좌/우 목록)</a:t>
            </a:r>
          </a:p>
        </p:txBody>
      </p:sp>
      <p:sp>
        <p:nvSpPr>
          <p:cNvPr id="21" name="BL-017 labeled_block"/>
          <p:cNvSpPr/>
          <p:nvPr/>
        </p:nvSpPr>
        <p:spPr>
          <a:xfrm>
            <a:off x="540615" y="7641843"/>
            <a:ext cx="6478771" cy="1790157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BL-017 labeled_block 라벨열"/>
          <p:cNvSpPr/>
          <p:nvPr/>
        </p:nvSpPr>
        <p:spPr>
          <a:xfrm>
            <a:off x="540615" y="7641843"/>
            <a:ext cx="755139" cy="179015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정책 정합성 확보</a:t>
            </a:r>
          </a:p>
        </p:txBody>
      </p:sp>
      <p:sp>
        <p:nvSpPr>
          <p:cNvPr id="23" name="direction_bar"/>
          <p:cNvSpPr/>
          <p:nvPr/>
        </p:nvSpPr>
        <p:spPr>
          <a:xfrm>
            <a:off x="1348555" y="7721476"/>
            <a:ext cx="5628908" cy="1624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방향 설정 띠</a:t>
            </a:r>
          </a:p>
        </p:txBody>
      </p:sp>
      <p:sp>
        <p:nvSpPr>
          <p:cNvPr id="24" name="split_header"/>
          <p:cNvSpPr/>
          <p:nvPr/>
        </p:nvSpPr>
        <p:spPr>
          <a:xfrm>
            <a:off x="1348555" y="7954006"/>
            <a:ext cx="5628908" cy="20067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좌우 2단 머리</a:t>
            </a:r>
          </a:p>
        </p:txBody>
      </p:sp>
      <p:sp>
        <p:nvSpPr>
          <p:cNvPr id="25" name="pill_rows4"/>
          <p:cNvSpPr/>
          <p:nvPr/>
        </p:nvSpPr>
        <p:spPr>
          <a:xfrm>
            <a:off x="1348555" y="8208832"/>
            <a:ext cx="5628908" cy="118812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화살표 pill → 목표 4행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평가내용별 추진실적 | 지면 레이아웃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R14. 진단 TOOL·사업 포트폴리오 재구성·중장기 재무·인력 계획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타 기관 보고서 5~9쪽 좌표 분석</a:t>
            </a:r>
          </a:p>
        </p:txBody>
      </p:sp>
      <p:sp>
        <p:nvSpPr>
          <p:cNvPr id="5" name="하단 탭"/>
          <p:cNvSpPr/>
          <p:nvPr/>
        </p:nvSpPr>
        <p:spPr>
          <a:xfrm>
            <a:off x="540000" y="9540000"/>
            <a:ext cx="1332000" cy="360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FFFFFF"/>
                </a:solidFill>
                <a:latin typeface="Pretendard"/>
                <a:ea typeface="Pretendard"/>
              </a:rPr>
              <a:t>Ⅰ 경영관리</a:t>
            </a:r>
          </a:p>
        </p:txBody>
      </p:sp>
      <p:sp>
        <p:nvSpPr>
          <p:cNvPr id="6" name="하단 탭"/>
          <p:cNvSpPr/>
          <p:nvPr/>
        </p:nvSpPr>
        <p:spPr>
          <a:xfrm>
            <a:off x="1908000" y="9540000"/>
            <a:ext cx="1332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Ⅱ 주요사업</a:t>
            </a:r>
          </a:p>
        </p:txBody>
      </p:sp>
      <p:sp>
        <p:nvSpPr>
          <p:cNvPr id="7" name="하단 탭"/>
          <p:cNvSpPr/>
          <p:nvPr/>
        </p:nvSpPr>
        <p:spPr>
          <a:xfrm>
            <a:off x="3276000" y="9540000"/>
            <a:ext cx="219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Ⅲ 혁신노력·성과가점</a:t>
            </a:r>
          </a:p>
        </p:txBody>
      </p:sp>
      <p:sp>
        <p:nvSpPr>
          <p:cNvPr id="8" name="하단 탭"/>
          <p:cNvSpPr/>
          <p:nvPr/>
        </p:nvSpPr>
        <p:spPr>
          <a:xfrm>
            <a:off x="5508000" y="9540000"/>
            <a:ext cx="1476000" cy="360000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5D7280"/>
                </a:solidFill>
                <a:latin typeface="Pretendard"/>
                <a:ea typeface="Pretendard"/>
              </a:rPr>
              <a:t>Ⅳ 계량지표요약표</a:t>
            </a:r>
          </a:p>
        </p:txBody>
      </p:sp>
      <p:sp>
        <p:nvSpPr>
          <p:cNvPr id="9" name="BL-004 section_bar"/>
          <p:cNvSpPr/>
          <p:nvPr/>
        </p:nvSpPr>
        <p:spPr>
          <a:xfrm>
            <a:off x="540615" y="1440000"/>
            <a:ext cx="6402550" cy="22934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N  번호 띠 제목 (두괄식 15pt)</a:t>
            </a:r>
          </a:p>
        </p:txBody>
      </p:sp>
      <p:sp>
        <p:nvSpPr>
          <p:cNvPr id="10" name="BL-004 section_bar 칩"/>
          <p:cNvSpPr/>
          <p:nvPr/>
        </p:nvSpPr>
        <p:spPr>
          <a:xfrm>
            <a:off x="6079164" y="1483200"/>
            <a:ext cx="792000" cy="14294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61DE"/>
                </a:solidFill>
                <a:latin typeface="Pretendard"/>
                <a:ea typeface="Pretendard"/>
              </a:rPr>
              <a:t>✔개선</a:t>
            </a:r>
          </a:p>
        </p:txBody>
      </p:sp>
      <p:sp>
        <p:nvSpPr>
          <p:cNvPr id="11" name="BL-018 labeled_block"/>
          <p:cNvSpPr/>
          <p:nvPr/>
        </p:nvSpPr>
        <p:spPr>
          <a:xfrm>
            <a:off x="540615" y="1752163"/>
            <a:ext cx="6478771" cy="280309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BL-018 labeled_block 라벨열"/>
          <p:cNvSpPr/>
          <p:nvPr/>
        </p:nvSpPr>
        <p:spPr>
          <a:xfrm>
            <a:off x="540615" y="1752163"/>
            <a:ext cx="755139" cy="28030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조정방향</a:t>
            </a:r>
          </a:p>
        </p:txBody>
      </p:sp>
      <p:sp>
        <p:nvSpPr>
          <p:cNvPr id="13" name="BL-019 labeled_block"/>
          <p:cNvSpPr/>
          <p:nvPr/>
        </p:nvSpPr>
        <p:spPr>
          <a:xfrm>
            <a:off x="540615" y="2112105"/>
            <a:ext cx="6478771" cy="961971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BL-019 labeled_block 라벨열"/>
          <p:cNvSpPr/>
          <p:nvPr/>
        </p:nvSpPr>
        <p:spPr>
          <a:xfrm>
            <a:off x="540615" y="2112105"/>
            <a:ext cx="755139" cy="96197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진단 TOOL</a:t>
            </a:r>
          </a:p>
        </p:txBody>
      </p:sp>
      <p:sp>
        <p:nvSpPr>
          <p:cNvPr id="15" name="duo_header_plus"/>
          <p:cNvSpPr/>
          <p:nvPr/>
        </p:nvSpPr>
        <p:spPr>
          <a:xfrm>
            <a:off x="1348555" y="2150329"/>
            <a:ext cx="5628908" cy="203861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2단 머리(+)</a:t>
            </a:r>
          </a:p>
        </p:txBody>
      </p:sp>
      <p:sp>
        <p:nvSpPr>
          <p:cNvPr id="16" name="bullets2"/>
          <p:cNvSpPr/>
          <p:nvPr/>
        </p:nvSpPr>
        <p:spPr>
          <a:xfrm>
            <a:off x="1348555" y="2408341"/>
            <a:ext cx="5628908" cy="37905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개조식 2단</a:t>
            </a:r>
          </a:p>
        </p:txBody>
      </p:sp>
      <p:sp>
        <p:nvSpPr>
          <p:cNvPr id="17" name="caption2"/>
          <p:cNvSpPr/>
          <p:nvPr/>
        </p:nvSpPr>
        <p:spPr>
          <a:xfrm>
            <a:off x="1348555" y="2796952"/>
            <a:ext cx="5628908" cy="232529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회색 해설 2단</a:t>
            </a:r>
          </a:p>
        </p:txBody>
      </p:sp>
      <p:sp>
        <p:nvSpPr>
          <p:cNvPr id="18" name="BL-020 labeled_block"/>
          <p:cNvSpPr/>
          <p:nvPr/>
        </p:nvSpPr>
        <p:spPr>
          <a:xfrm>
            <a:off x="540615" y="3099558"/>
            <a:ext cx="6478771" cy="1592666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BL-020 labeled_block 라벨열"/>
          <p:cNvSpPr/>
          <p:nvPr/>
        </p:nvSpPr>
        <p:spPr>
          <a:xfrm>
            <a:off x="540615" y="3099558"/>
            <a:ext cx="755139" cy="159266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사업별 진단</a:t>
            </a:r>
          </a:p>
        </p:txBody>
      </p:sp>
      <p:sp>
        <p:nvSpPr>
          <p:cNvPr id="20" name="top_banner"/>
          <p:cNvSpPr/>
          <p:nvPr/>
        </p:nvSpPr>
        <p:spPr>
          <a:xfrm>
            <a:off x="1348555" y="3137782"/>
            <a:ext cx="5628908" cy="162452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상단 배너(핵심 메시지)</a:t>
            </a:r>
          </a:p>
        </p:txBody>
      </p:sp>
      <p:sp>
        <p:nvSpPr>
          <p:cNvPr id="21" name="split_header"/>
          <p:cNvSpPr/>
          <p:nvPr/>
        </p:nvSpPr>
        <p:spPr>
          <a:xfrm>
            <a:off x="1348555" y="3354385"/>
            <a:ext cx="5628908" cy="18793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좌우 2단 머리</a:t>
            </a:r>
          </a:p>
        </p:txBody>
      </p:sp>
      <p:sp>
        <p:nvSpPr>
          <p:cNvPr id="22" name="left_stack_expand_new"/>
          <p:cNvSpPr/>
          <p:nvPr/>
        </p:nvSpPr>
        <p:spPr>
          <a:xfrm>
            <a:off x="1348555" y="3596470"/>
            <a:ext cx="2789682" cy="1079828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좌: 확대/신규 적층</a:t>
            </a:r>
          </a:p>
        </p:txBody>
      </p:sp>
      <p:sp>
        <p:nvSpPr>
          <p:cNvPr id="23" name="right_two_step_eval"/>
          <p:cNvSpPr/>
          <p:nvPr/>
        </p:nvSpPr>
        <p:spPr>
          <a:xfrm>
            <a:off x="4168726" y="3596470"/>
            <a:ext cx="2808738" cy="1079828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우: 2단계 평가</a:t>
            </a:r>
          </a:p>
        </p:txBody>
      </p:sp>
      <p:sp>
        <p:nvSpPr>
          <p:cNvPr id="24" name="BL-021 labeled_block"/>
          <p:cNvSpPr/>
          <p:nvPr/>
        </p:nvSpPr>
        <p:spPr>
          <a:xfrm>
            <a:off x="540615" y="4730449"/>
            <a:ext cx="6478771" cy="672105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BL-021 labeled_block 라벨열"/>
          <p:cNvSpPr/>
          <p:nvPr/>
        </p:nvSpPr>
        <p:spPr>
          <a:xfrm>
            <a:off x="540615" y="4730449"/>
            <a:ext cx="755139" cy="672105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사업유형 분류</a:t>
            </a:r>
          </a:p>
        </p:txBody>
      </p:sp>
      <p:sp>
        <p:nvSpPr>
          <p:cNvPr id="26" name="cols3_header"/>
          <p:cNvSpPr/>
          <p:nvPr/>
        </p:nvSpPr>
        <p:spPr>
          <a:xfrm>
            <a:off x="1348555" y="4775043"/>
            <a:ext cx="5628908" cy="200676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3열 머리</a:t>
            </a:r>
          </a:p>
        </p:txBody>
      </p:sp>
      <p:sp>
        <p:nvSpPr>
          <p:cNvPr id="27" name="cols3_body"/>
          <p:cNvSpPr/>
          <p:nvPr/>
        </p:nvSpPr>
        <p:spPr>
          <a:xfrm>
            <a:off x="1348555" y="5001202"/>
            <a:ext cx="5628908" cy="366313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3열 본문</a:t>
            </a:r>
          </a:p>
        </p:txBody>
      </p:sp>
      <p:sp>
        <p:nvSpPr>
          <p:cNvPr id="28" name="BL-022 divider_chevron"/>
          <p:cNvSpPr/>
          <p:nvPr/>
        </p:nvSpPr>
        <p:spPr>
          <a:xfrm>
            <a:off x="540615" y="5456705"/>
            <a:ext cx="6478771" cy="98745"/>
          </a:xfrm>
          <a:prstGeom prst="homePlate">
            <a:avLst/>
          </a:prstGeom>
          <a:solidFill>
            <a:srgbClr val="BDE0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BL-023 labeled_block"/>
          <p:cNvSpPr/>
          <p:nvPr/>
        </p:nvSpPr>
        <p:spPr>
          <a:xfrm>
            <a:off x="540615" y="5635083"/>
            <a:ext cx="6478771" cy="1548072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BL-023 labeled_block 라벨열"/>
          <p:cNvSpPr/>
          <p:nvPr/>
        </p:nvSpPr>
        <p:spPr>
          <a:xfrm>
            <a:off x="540615" y="5635083"/>
            <a:ext cx="755139" cy="1548072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사업 포트폴리오 재구성</a:t>
            </a:r>
          </a:p>
        </p:txBody>
      </p:sp>
      <p:sp>
        <p:nvSpPr>
          <p:cNvPr id="31" name="scatter_before"/>
          <p:cNvSpPr/>
          <p:nvPr/>
        </p:nvSpPr>
        <p:spPr>
          <a:xfrm>
            <a:off x="1348555" y="5698790"/>
            <a:ext cx="2820171" cy="129324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산점도(전)</a:t>
            </a:r>
          </a:p>
        </p:txBody>
      </p:sp>
      <p:sp>
        <p:nvSpPr>
          <p:cNvPr id="32" name="arrow"/>
          <p:cNvSpPr/>
          <p:nvPr/>
        </p:nvSpPr>
        <p:spPr>
          <a:xfrm>
            <a:off x="4088694" y="6240297"/>
            <a:ext cx="240096" cy="270753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화살표</a:t>
            </a:r>
          </a:p>
        </p:txBody>
      </p:sp>
      <p:sp>
        <p:nvSpPr>
          <p:cNvPr id="33" name="scatter_after"/>
          <p:cNvSpPr/>
          <p:nvPr/>
        </p:nvSpPr>
        <p:spPr>
          <a:xfrm>
            <a:off x="4317357" y="5698790"/>
            <a:ext cx="2679162" cy="129324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산점도(후)</a:t>
            </a:r>
          </a:p>
        </p:txBody>
      </p:sp>
      <p:sp>
        <p:nvSpPr>
          <p:cNvPr id="34" name="footnote_legend"/>
          <p:cNvSpPr/>
          <p:nvPr/>
        </p:nvSpPr>
        <p:spPr>
          <a:xfrm>
            <a:off x="1348555" y="7004776"/>
            <a:ext cx="5628908" cy="14015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BL-024 ribbon_title"/>
          <p:cNvSpPr/>
          <p:nvPr/>
        </p:nvSpPr>
        <p:spPr>
          <a:xfrm>
            <a:off x="540615" y="7253232"/>
            <a:ext cx="6478771" cy="146525"/>
          </a:xfrm>
          <a:prstGeom prst="rect">
            <a:avLst/>
          </a:prstGeom>
          <a:solidFill>
            <a:srgbClr val="BDE0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【리본 제목】</a:t>
            </a:r>
          </a:p>
        </p:txBody>
      </p:sp>
      <p:sp>
        <p:nvSpPr>
          <p:cNvPr id="36" name="BL-025 labeled_block"/>
          <p:cNvSpPr/>
          <p:nvPr/>
        </p:nvSpPr>
        <p:spPr>
          <a:xfrm>
            <a:off x="540615" y="7415684"/>
            <a:ext cx="6478771" cy="926932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BL-025 labeled_block 라벨열"/>
          <p:cNvSpPr/>
          <p:nvPr/>
        </p:nvSpPr>
        <p:spPr>
          <a:xfrm>
            <a:off x="540615" y="7415684"/>
            <a:ext cx="755139" cy="926932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중장기 재무전략</a:t>
            </a:r>
          </a:p>
        </p:txBody>
      </p:sp>
      <p:sp>
        <p:nvSpPr>
          <p:cNvPr id="38" name="stacked_bar_chart"/>
          <p:cNvSpPr/>
          <p:nvPr/>
        </p:nvSpPr>
        <p:spPr>
          <a:xfrm>
            <a:off x="1348555" y="7453908"/>
            <a:ext cx="2240892" cy="86322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누적 막대 차트</a:t>
            </a:r>
          </a:p>
        </p:txBody>
      </p:sp>
      <p:sp>
        <p:nvSpPr>
          <p:cNvPr id="39" name="table_4rows_x3"/>
          <p:cNvSpPr/>
          <p:nvPr/>
        </p:nvSpPr>
        <p:spPr>
          <a:xfrm>
            <a:off x="3619936" y="7453908"/>
            <a:ext cx="3357528" cy="86322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표 4행×3기간</a:t>
            </a:r>
          </a:p>
        </p:txBody>
      </p:sp>
      <p:sp>
        <p:nvSpPr>
          <p:cNvPr id="40" name="BL-025 labeled_block"/>
          <p:cNvSpPr/>
          <p:nvPr/>
        </p:nvSpPr>
        <p:spPr>
          <a:xfrm>
            <a:off x="540615" y="8358543"/>
            <a:ext cx="6478771" cy="1073457"/>
          </a:xfrm>
          <a:prstGeom prst="rect">
            <a:avLst/>
          </a:prstGeom>
          <a:solidFill>
            <a:srgbClr val="FFFFFF"/>
          </a:solidFill>
          <a:ln w="6350">
            <a:solidFill>
              <a:srgbClr val="00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BL-025 labeled_block 라벨열"/>
          <p:cNvSpPr/>
          <p:nvPr/>
        </p:nvSpPr>
        <p:spPr>
          <a:xfrm>
            <a:off x="540615" y="8358543"/>
            <a:ext cx="755139" cy="107345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중장기 인력운용</a:t>
            </a:r>
          </a:p>
        </p:txBody>
      </p:sp>
      <p:sp>
        <p:nvSpPr>
          <p:cNvPr id="42" name="stacked_bar_chart"/>
          <p:cNvSpPr/>
          <p:nvPr/>
        </p:nvSpPr>
        <p:spPr>
          <a:xfrm>
            <a:off x="1348555" y="8396767"/>
            <a:ext cx="2240892" cy="86322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누적 막대 차트</a:t>
            </a:r>
          </a:p>
        </p:txBody>
      </p:sp>
      <p:sp>
        <p:nvSpPr>
          <p:cNvPr id="43" name="table_4rows_x3"/>
          <p:cNvSpPr/>
          <p:nvPr/>
        </p:nvSpPr>
        <p:spPr>
          <a:xfrm>
            <a:off x="3619936" y="8396767"/>
            <a:ext cx="3357528" cy="863225"/>
          </a:xfrm>
          <a:prstGeom prst="rect">
            <a:avLst/>
          </a:prstGeom>
          <a:solidFill>
            <a:srgbClr val="EFF9FF"/>
          </a:solidFill>
          <a:ln w="6350">
            <a:solidFill>
              <a:srgbClr val="BD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표 4행×3기간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