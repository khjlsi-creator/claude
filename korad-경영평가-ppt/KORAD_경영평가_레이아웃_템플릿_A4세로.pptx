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2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5 서사 · 성과지표별 목표수준 설정(글로벌 · 계량 · 비계량 성과지표 3묶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15411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727987" y="116139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분야 박스"/>
          <p:cNvSpPr>
            <a:spLocks noGrp="1"/>
          </p:cNvSpPr>
          <p:nvPr>
            <p:ph type="body" sz="quarter" idx="22"/>
          </p:nvPr>
        </p:nvSpPr>
        <p:spPr>
          <a:xfrm>
            <a:off x="727987" y="116139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1276424" y="1281913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1276424" y="1128522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13391"/>
            <a:ext cx="6300000" cy="2509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85447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5447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3985435" y="1909252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2410591"/>
            <a:ext cx="580696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41059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32504"/>
            <a:ext cx="5626174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951687"/>
            <a:ext cx="580696" cy="5301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1687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951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973600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35" name="레일"/>
          <p:cNvSpPr/>
          <p:nvPr/>
        </p:nvSpPr>
        <p:spPr>
          <a:xfrm>
            <a:off x="547826" y="3498261"/>
            <a:ext cx="580696" cy="4082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352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352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35"/>
          </p:nvPr>
        </p:nvSpPr>
        <p:spPr>
          <a:xfrm>
            <a:off x="536870" y="4043426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0" name="분야 박스"/>
          <p:cNvSpPr/>
          <p:nvPr/>
        </p:nvSpPr>
        <p:spPr>
          <a:xfrm>
            <a:off x="727987" y="407629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분야 박스"/>
          <p:cNvSpPr>
            <a:spLocks noGrp="1"/>
          </p:cNvSpPr>
          <p:nvPr>
            <p:ph type="body" sz="quarter" idx="36"/>
          </p:nvPr>
        </p:nvSpPr>
        <p:spPr>
          <a:xfrm>
            <a:off x="727987" y="407629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1166655" y="4196817"/>
            <a:ext cx="8473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>
            <a:spLocks noGrp="1"/>
          </p:cNvSpPr>
          <p:nvPr>
            <p:ph type="body" sz="quarter" idx="37"/>
          </p:nvPr>
        </p:nvSpPr>
        <p:spPr>
          <a:xfrm>
            <a:off x="1166655" y="4043426"/>
            <a:ext cx="567021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8"/>
          </p:nvPr>
        </p:nvSpPr>
        <p:spPr>
          <a:xfrm>
            <a:off x="536870" y="7184348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5" name="분야 박스"/>
          <p:cNvSpPr/>
          <p:nvPr/>
        </p:nvSpPr>
        <p:spPr>
          <a:xfrm>
            <a:off x="727987" y="7217217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분야 박스"/>
          <p:cNvSpPr>
            <a:spLocks noGrp="1"/>
          </p:cNvSpPr>
          <p:nvPr>
            <p:ph type="body" sz="quarter" idx="39"/>
          </p:nvPr>
        </p:nvSpPr>
        <p:spPr>
          <a:xfrm>
            <a:off x="727987" y="7217217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47" name="형광 밑줄"/>
          <p:cNvSpPr/>
          <p:nvPr/>
        </p:nvSpPr>
        <p:spPr>
          <a:xfrm>
            <a:off x="1276424" y="7337739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소제목"/>
          <p:cNvSpPr>
            <a:spLocks noGrp="1"/>
          </p:cNvSpPr>
          <p:nvPr>
            <p:ph type="body" sz="quarter" idx="40"/>
          </p:nvPr>
        </p:nvSpPr>
        <p:spPr>
          <a:xfrm>
            <a:off x="1276424" y="7184348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6 서사 · 추진배경(물관리 여건 | 정부정책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99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17478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174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17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39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39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07360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36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29" name="머리칸"/>
          <p:cNvSpPr/>
          <p:nvPr/>
        </p:nvSpPr>
        <p:spPr>
          <a:xfrm>
            <a:off x="3230348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230348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511304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511304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cxnSp>
        <p:nvCxnSpPr>
          <p:cNvPr id="35" name="Connector 20"/>
          <p:cNvCxnSpPr/>
          <p:nvPr/>
        </p:nvCxnSpPr>
        <p:spPr>
          <a:xfrm>
            <a:off x="3230348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5113043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7 서사 · 홍수 대응체계 고도화와 댐 운영 제약요건 영구해소(홍수대응 준비 → 체계 고도화 3단 → 제약요건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7" name="태그칩"/>
          <p:cNvSpPr/>
          <p:nvPr/>
        </p:nvSpPr>
        <p:spPr>
          <a:xfrm>
            <a:off x="46266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6266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7283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5626174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207739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07739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220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161391" y="2229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229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1161391" y="24652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24652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24652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24652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24652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341739"/>
            <a:ext cx="580696" cy="8492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341739"/>
            <a:ext cx="580696" cy="849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341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363652"/>
            <a:ext cx="562617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8 서사 · AI·DT 활용 이상기후 맞춤형 홍수 대응(홍수기 중 · 홍수기 후: 운영여건 | 대응실적 + 사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564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11" name="태그칩"/>
          <p:cNvSpPr/>
          <p:nvPr/>
        </p:nvSpPr>
        <p:spPr>
          <a:xfrm>
            <a:off x="457823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7823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2935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2935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30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4171696" y="2043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3073304"/>
            <a:ext cx="580696" cy="997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3304"/>
            <a:ext cx="580696" cy="99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3073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347652" y="3095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095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171696" y="3604696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4174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419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9 서사 · 선제적 대응, 비상체계 가동으로 가뭄 극복(강우 부족 · 짧은 장마 · 역대 강우: 운영여건 | 대응실적 + 특별실적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3158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065304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8" name="레일"/>
          <p:cNvSpPr/>
          <p:nvPr/>
        </p:nvSpPr>
        <p:spPr>
          <a:xfrm>
            <a:off x="547826" y="3128087"/>
            <a:ext cx="580696" cy="57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312808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312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318287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371973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71973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3719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985435" y="3774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핵심성과 박스"/>
          <p:cNvSpPr/>
          <p:nvPr/>
        </p:nvSpPr>
        <p:spPr>
          <a:xfrm>
            <a:off x="536870" y="436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7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0 서사 · 차세대 댐 시설관리 시스템(추진배경 → 스마트댐 안전관리 로드맵 → 추진내용 → 추진성과 3칸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262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84801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4801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9036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31165"/>
            <a:ext cx="580696" cy="662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9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1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230348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5113043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610470"/>
            <a:ext cx="580696" cy="134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610470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배너"/>
          <p:cNvSpPr/>
          <p:nvPr/>
        </p:nvSpPr>
        <p:spPr>
          <a:xfrm>
            <a:off x="1347652" y="2632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632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171696" y="290081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347652" y="3728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728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49" name="레일"/>
          <p:cNvSpPr/>
          <p:nvPr/>
        </p:nvSpPr>
        <p:spPr>
          <a:xfrm>
            <a:off x="734087" y="3969078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96907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주요성과 박스"/>
          <p:cNvSpPr/>
          <p:nvPr/>
        </p:nvSpPr>
        <p:spPr>
          <a:xfrm>
            <a:off x="723130" y="4470417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주요성과 라벨"/>
          <p:cNvSpPr/>
          <p:nvPr/>
        </p:nvSpPr>
        <p:spPr>
          <a:xfrm>
            <a:off x="756000" y="450328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450328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9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448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1 서사 · 재난 대비 대규모 성능개선부터 선제적 사고예방까지 댐 안전 강화(구조적 개선 | 3대 취약시설 → 추진계획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5942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12" name="태그칩"/>
          <p:cNvSpPr/>
          <p:nvPr/>
        </p:nvSpPr>
        <p:spPr>
          <a:xfrm>
            <a:off x="44949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949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4602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4602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897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290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788730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709078"/>
            <a:ext cx="580696" cy="131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09078"/>
            <a:ext cx="580696" cy="131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73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73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73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73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73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3382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49" name="단계"/>
          <p:cNvSpPr/>
          <p:nvPr/>
        </p:nvSpPr>
        <p:spPr>
          <a:xfrm>
            <a:off x="3044087" y="3382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51" name="단계"/>
          <p:cNvSpPr/>
          <p:nvPr/>
        </p:nvSpPr>
        <p:spPr>
          <a:xfrm>
            <a:off x="4926783" y="3382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044086" y="3382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26782" y="3382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044087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4926783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40402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402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40402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985435" y="4095078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주요성과 박스"/>
          <p:cNvSpPr/>
          <p:nvPr/>
        </p:nvSpPr>
        <p:spPr>
          <a:xfrm>
            <a:off x="536870" y="4518313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주요성과 라벨"/>
          <p:cNvSpPr/>
          <p:nvPr/>
        </p:nvSpPr>
        <p:spPr>
          <a:xfrm>
            <a:off x="569739" y="4551183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주요성과 라벨"/>
          <p:cNvSpPr>
            <a:spLocks noGrp="1"/>
          </p:cNvSpPr>
          <p:nvPr>
            <p:ph type="body" sz="quarter" idx="47"/>
          </p:nvPr>
        </p:nvSpPr>
        <p:spPr>
          <a:xfrm>
            <a:off x="569739" y="4551183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69" name="주요성과 문구"/>
          <p:cNvSpPr>
            <a:spLocks noGrp="1"/>
          </p:cNvSpPr>
          <p:nvPr>
            <p:ph type="body" sz="quarter" idx="48"/>
          </p:nvPr>
        </p:nvSpPr>
        <p:spPr>
          <a:xfrm>
            <a:off x="1314783" y="45347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2 서사 · 디지털트윈 기술 노하우의 전방위 확산(혁신과정 3단계 → 그간의 성과 → 고도화 및 글로벌 확산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6" name="태그칩"/>
          <p:cNvSpPr/>
          <p:nvPr/>
        </p:nvSpPr>
        <p:spPr>
          <a:xfrm>
            <a:off x="48128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128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36400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6400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381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002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002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528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528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528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528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525478"/>
            <a:ext cx="580696" cy="646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525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525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54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54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4171696" y="28158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3188348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188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배너"/>
          <p:cNvSpPr/>
          <p:nvPr/>
        </p:nvSpPr>
        <p:spPr>
          <a:xfrm>
            <a:off x="1347652" y="321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21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48" name="레일"/>
          <p:cNvSpPr/>
          <p:nvPr/>
        </p:nvSpPr>
        <p:spPr>
          <a:xfrm>
            <a:off x="734087" y="3458191"/>
            <a:ext cx="580696" cy="1396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458191"/>
            <a:ext cx="580696" cy="139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458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3 서사 · 물재해 감시 전용위성 혁신기술 강화 및 글로벌 기후테크 선도(추진배경 → 로드맵 3단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959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42314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14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7748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0090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00904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500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41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43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044087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4926783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핵심성과 박스"/>
          <p:cNvSpPr/>
          <p:nvPr/>
        </p:nvSpPr>
        <p:spPr>
          <a:xfrm>
            <a:off x="536870" y="3914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핵심성과 라벨"/>
          <p:cNvSpPr/>
          <p:nvPr/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2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3930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4 서사 · 추진배경(물관리 여건 | 정부정책) → 추진방향 → 추진과제 4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18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270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64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183165"/>
            <a:ext cx="580696" cy="765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8316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183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cxnSp>
        <p:nvCxnSpPr>
          <p:cNvPr id="37" name="Connector 21"/>
          <p:cNvCxnSpPr/>
          <p:nvPr/>
        </p:nvCxnSpPr>
        <p:spPr>
          <a:xfrm>
            <a:off x="2759674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5583717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5 서사 · 스마트 기술 적용 오염원 통합관리체계 구축(추진배경 → 그림 배너 → 기존 · 개선 3칸 →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2622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63094" y="799826"/>
            <a:ext cx="9510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63094" y="799826"/>
            <a:ext cx="9510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9877" y="920348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9877" y="766957"/>
            <a:ext cx="515699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3470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3470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48981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8981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65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777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47652"/>
            <a:ext cx="4514087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24" name="사진 칸"/>
          <p:cNvSpPr/>
          <p:nvPr/>
        </p:nvSpPr>
        <p:spPr>
          <a:xfrm>
            <a:off x="5730261" y="1353130"/>
            <a:ext cx="1079217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8"/>
          </p:nvPr>
        </p:nvSpPr>
        <p:spPr>
          <a:xfrm>
            <a:off x="5730261" y="1353130"/>
            <a:ext cx="1079217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862609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6260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6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750087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750087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2750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161391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45" name="머리칸"/>
          <p:cNvSpPr/>
          <p:nvPr/>
        </p:nvSpPr>
        <p:spPr>
          <a:xfrm>
            <a:off x="3044087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47" name="머리칸"/>
          <p:cNvSpPr/>
          <p:nvPr/>
        </p:nvSpPr>
        <p:spPr>
          <a:xfrm>
            <a:off x="4926783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044087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4926783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536870" y="3790957"/>
            <a:ext cx="6300000" cy="91721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569739" y="3823826"/>
            <a:ext cx="657391" cy="85147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823826"/>
            <a:ext cx="657391" cy="85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812870"/>
            <a:ext cx="5456348" cy="873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58" name="주요성과 박스"/>
          <p:cNvSpPr/>
          <p:nvPr/>
        </p:nvSpPr>
        <p:spPr>
          <a:xfrm>
            <a:off x="536870" y="4784870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주요성과 라벨"/>
          <p:cNvSpPr/>
          <p:nvPr/>
        </p:nvSpPr>
        <p:spPr>
          <a:xfrm>
            <a:off x="569739" y="4817739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817739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8013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6 서사 · 발생원 맞춤형 협력 확대(추진배경 → 추진계획 2묶음 → 추진내용 + 그림 → 추진성과 두 칸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4780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0938" y="810783"/>
            <a:ext cx="109665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0938" y="810783"/>
            <a:ext cx="109665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033335" y="931304"/>
            <a:ext cx="31305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033335" y="777913"/>
            <a:ext cx="498979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139478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172348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172348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749896" y="1292870"/>
            <a:ext cx="33676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5"/>
          </p:nvPr>
        </p:nvSpPr>
        <p:spPr>
          <a:xfrm>
            <a:off x="1749896" y="1139478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9" name="태그칩"/>
          <p:cNvSpPr/>
          <p:nvPr/>
        </p:nvSpPr>
        <p:spPr>
          <a:xfrm>
            <a:off x="5216163" y="1172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6"/>
          </p:nvPr>
        </p:nvSpPr>
        <p:spPr>
          <a:xfrm>
            <a:off x="5216163" y="1172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24348"/>
            <a:ext cx="6300000" cy="288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44078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44078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4171696" y="1495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865426"/>
            <a:ext cx="580696" cy="12135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65426"/>
            <a:ext cx="580696" cy="1213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8654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887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887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887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887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887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230348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5113043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단계"/>
          <p:cNvSpPr/>
          <p:nvPr/>
        </p:nvSpPr>
        <p:spPr>
          <a:xfrm>
            <a:off x="1347652" y="24927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4927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4927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4927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4927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0953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0953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0953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머리칸"/>
          <p:cNvSpPr/>
          <p:nvPr/>
        </p:nvSpPr>
        <p:spPr>
          <a:xfrm>
            <a:off x="1347652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61" name="머리칸"/>
          <p:cNvSpPr/>
          <p:nvPr/>
        </p:nvSpPr>
        <p:spPr>
          <a:xfrm>
            <a:off x="4171696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182652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cxnSp>
        <p:nvCxnSpPr>
          <p:cNvPr id="65" name="Connector 45"/>
          <p:cNvCxnSpPr/>
          <p:nvPr/>
        </p:nvCxnSpPr>
        <p:spPr>
          <a:xfrm>
            <a:off x="4171696" y="33912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표 외곽"/>
          <p:cNvSpPr/>
          <p:nvPr/>
        </p:nvSpPr>
        <p:spPr>
          <a:xfrm>
            <a:off x="723130" y="4355374"/>
            <a:ext cx="6300000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371809"/>
            <a:ext cx="580696" cy="410870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371809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4265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주요성과 박스"/>
          <p:cNvSpPr/>
          <p:nvPr/>
        </p:nvSpPr>
        <p:spPr>
          <a:xfrm>
            <a:off x="723130" y="48758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주요성과 라벨"/>
          <p:cNvSpPr/>
          <p:nvPr/>
        </p:nvSpPr>
        <p:spPr>
          <a:xfrm>
            <a:off x="756000" y="49086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4" name="주요성과 라벨"/>
          <p:cNvSpPr>
            <a:spLocks noGrp="1"/>
          </p:cNvSpPr>
          <p:nvPr>
            <p:ph type="body" sz="quarter" idx="51"/>
          </p:nvPr>
        </p:nvSpPr>
        <p:spPr>
          <a:xfrm>
            <a:off x="756000" y="49086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75" name="주요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48922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7 서사 · 국내 최초 정부·K-water·기업간 협력 물 복원사업 성공(추진배경 → 기반 마련 → 사업 추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5258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5" name="태그칩"/>
          <p:cNvSpPr/>
          <p:nvPr/>
        </p:nvSpPr>
        <p:spPr>
          <a:xfrm>
            <a:off x="50782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782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62939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62939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917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23" name="배너"/>
          <p:cNvSpPr/>
          <p:nvPr/>
        </p:nvSpPr>
        <p:spPr>
          <a:xfrm>
            <a:off x="1161391" y="1449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449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25" name="레일"/>
          <p:cNvSpPr/>
          <p:nvPr/>
        </p:nvSpPr>
        <p:spPr>
          <a:xfrm>
            <a:off x="547826" y="1690122"/>
            <a:ext cx="580696" cy="1051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90122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712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712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30" name="머리칸"/>
          <p:cNvSpPr/>
          <p:nvPr/>
        </p:nvSpPr>
        <p:spPr>
          <a:xfrm>
            <a:off x="1161391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3985435" y="22215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758383"/>
            <a:ext cx="580696" cy="1194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58383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758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780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780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301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301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301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301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301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3044087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4926783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536870" y="4056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4073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8 서사 · 녹조 등 수질관리(관리여건 → 관리강화 배너 → 4대 대응 2×2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5212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5253" y="810783"/>
            <a:ext cx="98031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5253" y="810783"/>
            <a:ext cx="9803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92130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921306" y="777913"/>
            <a:ext cx="510182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안전한 물환경 관리로 역대급 녹조 발생에 완벽 대응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062783"/>
            <a:ext cx="6300000" cy="23777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최다지점에서 조류경보제 발령(전국 경보지점 운영 29개소 中 14개소 발령)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안전지대였던 주암댐도 15년만에 조류경보 ‘관심’ 발령 등 전국에 걸쳐 녹조 심화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심화되는 녹조, 국민이 안심할 수 있도록 관리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2059983"/>
            <a:ext cx="580696" cy="136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59983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59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81896"/>
            <a:ext cx="2802130" cy="1336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① 준비 발생저감을 위한 녹조관리 新기술 도입: 기술대전·심층토론회를 통해 산·학·관이 협업한 기술 발굴로 부력수차 등 시범 도입(대청 등 6개소)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③ 독소 안전성 검증을 위한 全주기 모니터링 강화: 상수원부터 생산된 먹는물까지 全주기에 걸쳐 모니터링 확대(2개 유역 15 → 전체 4개 유역 45개소) → 상수원 比 정수장 원수 독소 저감(89%↓), 먹는물 불검출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81896"/>
            <a:ext cx="2802130" cy="1336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② 대응 녹조발생 패턴 변화, 제거설비 운영 개선: 제거설비 적재적소에 즉시, 확대(28 → 35대)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④ 홍보 다양한 채널을 통한 국민 맞춤형 정보 제공: 全社 보도 표준안 마련, 선제 홍보(14회), 녹조 부정보도 비율 38% → 32%(-6%p)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2114765"/>
            <a:ext cx="0" cy="127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35281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5665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5665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5445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취수원 집중 녹조 수거량(5,099톤, 1.9배↑), 상수원 比 정수장 유입원수 조류개체수(75%↓)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9 서사 · 국정과제 이행 생태개선 노력(번호 띠 + 가. 친환경 공간 · 나. 강의 연속성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5495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91821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91821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89066" y="920348"/>
            <a:ext cx="28802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89066" y="766957"/>
            <a:ext cx="534780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 이행에 발맞춘 K-water 생태개선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281913"/>
            <a:ext cx="41316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 확대를 통한 자연성 회복 및 탄소 흡수원 지속 발굴</a:t>
            </a:r>
          </a:p>
        </p:txBody>
      </p:sp>
      <p:sp>
        <p:nvSpPr>
          <p:cNvPr id="17" name="태그칩"/>
          <p:cNvSpPr/>
          <p:nvPr/>
        </p:nvSpPr>
        <p:spPr>
          <a:xfrm>
            <a:off x="4767126" y="1161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767126" y="1161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1416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45173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생태 서비스 공간 확대 및 탄소 흡수원 지속 확충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45173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공간: 댐 상류에 정화림, 생태습지 등을 조성, 생태계 건강성 증진 및 탄소흡수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846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4470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5447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876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876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댐 상류 친환경 공간 조성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876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876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친환경 공간 양적·질적 향상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985434" y="187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2838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조성사업 지속: 축구장 20개 규모(14ha) 친환경 공간 조성 완료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2838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대상지 발굴: 단일사업 최대규모(29ha) 대상지(임하댐 상류) 발굴 / 탄소 흡수원 인증: 기조성지 탄소 흡수원 인증(주암댐 등 6.7ha, CO₂ 3천t 인증)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216125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9172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9556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9556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9336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여의도공원 1.3배 규모(29ha) 생태쉼터 발굴, 2.7천명 사용전력 상당 탄소 저감 인증(3천tCO₂eq)</a:t>
            </a:r>
          </a:p>
        </p:txBody>
      </p:sp>
      <p:sp>
        <p:nvSpPr>
          <p:cNvPr id="40" name="형광 밑줄"/>
          <p:cNvSpPr/>
          <p:nvPr/>
        </p:nvSpPr>
        <p:spPr>
          <a:xfrm>
            <a:off x="536870" y="3682643"/>
            <a:ext cx="38537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소제목"/>
          <p:cNvSpPr>
            <a:spLocks noGrp="1"/>
          </p:cNvSpPr>
          <p:nvPr>
            <p:ph type="body" sz="quarter" idx="35"/>
          </p:nvPr>
        </p:nvSpPr>
        <p:spPr>
          <a:xfrm>
            <a:off x="536870" y="35292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민관 소통 강화 및 체계적 준비를 통한 江의 연속성 회복 기반 마련</a:t>
            </a:r>
          </a:p>
        </p:txBody>
      </p:sp>
      <p:sp>
        <p:nvSpPr>
          <p:cNvPr id="42" name="태그칩"/>
          <p:cNvSpPr/>
          <p:nvPr/>
        </p:nvSpPr>
        <p:spPr>
          <a:xfrm>
            <a:off x="4489243" y="3562122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칩"/>
          <p:cNvSpPr>
            <a:spLocks noGrp="1"/>
          </p:cNvSpPr>
          <p:nvPr>
            <p:ph type="body" sz="quarter" idx="36"/>
          </p:nvPr>
        </p:nvSpPr>
        <p:spPr>
          <a:xfrm>
            <a:off x="4489243" y="3562122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4" name="표 외곽"/>
          <p:cNvSpPr/>
          <p:nvPr/>
        </p:nvSpPr>
        <p:spPr>
          <a:xfrm>
            <a:off x="536870" y="3814122"/>
            <a:ext cx="6300000" cy="152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547826" y="38305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305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524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4대강 자연성 및 생물다양성 회복: 수생태계 연속성 확보로 건강한 하천 환경 조성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8524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江의 연속성 회복을 위한 선결과제 해소 필요: 하천 수위저하로 인한 지역민원 우려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3985435" y="38853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4255200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5200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4255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42771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771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신속한 정부정책 이행을 위해 ‘수자원정책지원단’ 전담조직 신설, 추진동력 확보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45126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45126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생태계 변화 모니터링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45126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45126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지역의견 수렴 및 물이용 제약해소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45126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764678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경관(80지점) 및 어도(11개소)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주변 지하수위 실시간 모니터링(405공)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764678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지역소통: 사회적 공감대 형성(주민·환경단체·전문가 등) / 시설개선: 취·양수장 개선(총 70개 中 4개 완료·30개 추진中)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4797548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54220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54604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54604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54385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지역합의를 통한 보 개방 확대(승촌·백제, ’25.11)로 공감대 및 江 연속성 회복 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0 서사 · 지속가능한 물관리 개요(정의 → 추진배경 → 추진방향 → 추진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681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지속가능한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지역과 상생하며 수자원을 다변화하여 안전하고 깨끗한 물을 안정적으로 공급</a:t>
            </a:r>
          </a:p>
        </p:txBody>
      </p:sp>
      <p:sp>
        <p:nvSpPr>
          <p:cNvPr id="14" name="레일"/>
          <p:cNvSpPr/>
          <p:nvPr/>
        </p:nvSpPr>
        <p:spPr>
          <a:xfrm>
            <a:off x="734087" y="121899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21899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734086" y="121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347652" y="1240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40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물관리(지역) 여건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240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40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819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성장, 가뭄으로 물 부족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지자체 71개의 69%(49개) 소멸위험지역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819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확보, 투명한 거버넌스로 물 안보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자생력 확보를 통한 지역 균형발전 실현</a:t>
            </a:r>
          </a:p>
        </p:txBody>
      </p:sp>
      <p:cxnSp>
        <p:nvCxnSpPr>
          <p:cNvPr id="23" name="Connector 12"/>
          <p:cNvCxnSpPr/>
          <p:nvPr/>
        </p:nvCxnSpPr>
        <p:spPr>
          <a:xfrm>
            <a:off x="4171696" y="15148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202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202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6" name="배너"/>
          <p:cNvSpPr/>
          <p:nvPr/>
        </p:nvSpPr>
        <p:spPr>
          <a:xfrm>
            <a:off x="1347652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성장을 위한 물그릇 확보 및 지역의 자생력을 키우는 로컬 활력 모델 필요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34485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4485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44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347652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지산지소型 물 부족 해소</a:t>
            </a:r>
          </a:p>
        </p:txBody>
      </p:sp>
      <p:sp>
        <p:nvSpPr>
          <p:cNvPr id="33" name="머리칸"/>
          <p:cNvSpPr/>
          <p:nvPr/>
        </p:nvSpPr>
        <p:spPr>
          <a:xfrm>
            <a:off x="3230348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소통·공감을 통한 신규댐</a:t>
            </a:r>
          </a:p>
        </p:txBody>
      </p:sp>
      <p:sp>
        <p:nvSpPr>
          <p:cNvPr id="35" name="머리칸"/>
          <p:cNvSpPr/>
          <p:nvPr/>
        </p:nvSpPr>
        <p:spPr>
          <a:xfrm>
            <a:off x="5113043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로컬브랜딩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수자원시설 효율적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다변화로 물 부족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부족지역 신규 물그릇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공론화를 통한 공감대 형성</a:t>
            </a:r>
          </a:p>
        </p:txBody>
      </p:sp>
      <p:cxnSp>
        <p:nvCxnSpPr>
          <p:cNvPr id="39" name="Connector 22"/>
          <p:cNvCxnSpPr/>
          <p:nvPr/>
        </p:nvCxnSpPr>
        <p:spPr>
          <a:xfrm>
            <a:off x="3230348" y="264067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지역주민의 상생과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맞춤·자립형 댐 브랜드化</a:t>
            </a:r>
          </a:p>
        </p:txBody>
      </p:sp>
      <p:cxnSp>
        <p:nvCxnSpPr>
          <p:cNvPr id="41" name="Connector 24"/>
          <p:cNvCxnSpPr/>
          <p:nvPr/>
        </p:nvCxnSpPr>
        <p:spPr>
          <a:xfrm>
            <a:off x="5113043" y="264067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1 서사 · 지산지소형 물 부족 해결(수자원 지산지소 정의 → 대체수자원 기술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기존 시설 최적 활용과 수원 다각화를 통한 지산지소형 물 부족 해결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142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지산지소</a:t>
            </a:r>
          </a:p>
        </p:txBody>
      </p:sp>
      <p:sp>
        <p:nvSpPr>
          <p:cNvPr id="18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생산(産)된 물을 그 지역에서 소비(消)할 수 있게 맞춤형 공급</a:t>
            </a:r>
          </a:p>
        </p:txBody>
      </p:sp>
      <p:sp>
        <p:nvSpPr>
          <p:cNvPr id="20" name="레일"/>
          <p:cNvSpPr/>
          <p:nvPr/>
        </p:nvSpPr>
        <p:spPr>
          <a:xfrm>
            <a:off x="547826" y="1558643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5864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대체수자원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확보기술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하수재이용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해수담수화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버려지던 하수를 막여과 등으로 수질개선 후 재활용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해수로부터 염분 등 용해 물질을 제거 후 용수로 활용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544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 차수벽 설치로 지하수를 저장해 활용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544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2 서사 · 부산시 10년 과제 하수재이용시설 재탄생(니즈의 일치 → 추진내용 + 단계 띠 → 기대효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18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부산시 10년 과제, 하수재이용시설로 재탄생하여 지역 현안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59356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9356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4469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4469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1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부산광역시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동부산 산업단지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넘게 방치된 기장 해수담수화시설 활용 모색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공업용수 공급망이 없어 비싼 생활용수 사용(2,410원/㎥)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경기서남(화성, 수원) 등 하수재이용 사업 지속 추진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1780435"/>
            <a:ext cx="580696" cy="1024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024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180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0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활용, 하수재이용 방안 사업화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7913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협업, 최적의 공업용수 공급방안 마련 * 해수담수화 → 하수재이용 변환 기술지원, 사업성 등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의견수렴을 통한 공감대 형성(’25.9, 150명)</a:t>
            </a:r>
          </a:p>
        </p:txBody>
      </p:sp>
      <p:sp>
        <p:nvSpPr>
          <p:cNvPr id="35" name="단계"/>
          <p:cNvSpPr/>
          <p:nvPr/>
        </p:nvSpPr>
        <p:spPr>
          <a:xfrm>
            <a:off x="1347652" y="2492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일광·기장 하수처리수</a:t>
            </a:r>
          </a:p>
        </p:txBody>
      </p:sp>
      <p:sp>
        <p:nvSpPr>
          <p:cNvPr id="37" name="단계"/>
          <p:cNvSpPr/>
          <p:nvPr/>
        </p:nvSpPr>
        <p:spPr>
          <a:xfrm>
            <a:off x="3230348" y="2492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여과</a:t>
            </a:r>
          </a:p>
        </p:txBody>
      </p:sp>
      <p:sp>
        <p:nvSpPr>
          <p:cNvPr id="39" name="단계"/>
          <p:cNvSpPr/>
          <p:nvPr/>
        </p:nvSpPr>
        <p:spPr>
          <a:xfrm>
            <a:off x="5113043" y="2492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동부산 산업단지 공업용수 공급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230347" y="2492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113043" y="2492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 txBox="1"/>
          <p:nvPr/>
        </p:nvSpPr>
        <p:spPr>
          <a:xfrm>
            <a:off x="1358609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4" name="칸 본문"/>
          <p:cNvSpPr txBox="1"/>
          <p:nvPr/>
        </p:nvSpPr>
        <p:spPr>
          <a:xfrm>
            <a:off x="3241304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28"/>
          <p:cNvCxnSpPr/>
          <p:nvPr/>
        </p:nvCxnSpPr>
        <p:spPr>
          <a:xfrm flipV="1">
            <a:off x="3230348" y="2766522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5124000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0"/>
          <p:cNvCxnSpPr/>
          <p:nvPr/>
        </p:nvCxnSpPr>
        <p:spPr>
          <a:xfrm flipV="1">
            <a:off x="5113043" y="2766522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8213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8213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821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843217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 절감: 해수담수화시설 개량시 하수재이용시설 신설 대비 60억원 절감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기업부담완화: 기업의 용수 비용을 대폭 절감하여 산업경쟁력 강화(2,410 → 800원/㎥, Δ67%)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친환경수자원: 하수처리수를 방류하지 않고 재사용함으로써 지속가능한 물관리 모델 구축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465078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503426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503426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481513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동부산 하수재이용 공급 MOU 체결(’25.9, 부산시↔기업↔K-water) → ’31년 공급개시(3.6만㎥/일)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3 서사 · 무한한 해수 자원 활용(추진배경 | 추진내용 + 규모 추이 → 추진성과 두 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무한한 해수 자원 활용, 대산임해 지역의 지속가능한 물 공급 기반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79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79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128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최대 대산임해 해수담수화 적기 준공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일반공장 온배수 활용 「물재이용법」 개정 주도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충남서부지역 가뭄 반복, 대산산업단지 공업용수 수요 증대로 만성적 물 부족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해수담수 원수로 온배수 활용시 경제적이나, 발전소 온배수만 활용 가능한 제한적 구조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879043"/>
            <a:ext cx="580696" cy="860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79043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900957"/>
            <a:ext cx="2802130" cy="832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운영을 위한 ‘주민소통협의체’ 가동(’25.11)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최대(10만㎥/일) 해수담수화 준공(’25.12) → 가뭄·수질변동에도 산단 물공급 리스크 완전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’04년 50㎥/일 도서 최초 → ’20년 2천㎥/일 도서지역 최대 → ’25년 10만㎥/일 국내 단일 최대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900957"/>
            <a:ext cx="2802130" cy="832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21대 국회 개정 불발, 국회·임해지역 지속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및 국고지원 확대(’25.3) → 온배수 활용성 증대 + 해수담수화 공급단가 13% 인하 효과(국고지원 및 운영비 절감)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933826"/>
            <a:ext cx="0" cy="766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755565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75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7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대산산업단지 항구수원 10만㎥/일 확보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77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확대, 해수담수화 사업성 제고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985435" y="281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4 서사 · 지하수저류댐 활용 다변화로 물공급 취약지역 맞춤형 해결사(추진배경 → 추진내용 지역확대 | 용도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228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지하수저류댐 활용 다변화로 물공급 취약지역 맞춤형 해결사 역할 수행</a:t>
            </a:r>
          </a:p>
        </p:txBody>
      </p:sp>
      <p:sp>
        <p:nvSpPr>
          <p:cNvPr id="11" name="태그칩"/>
          <p:cNvSpPr/>
          <p:nvPr/>
        </p:nvSpPr>
        <p:spPr>
          <a:xfrm>
            <a:off x="49446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446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73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상습 물 부족을 겪는 도서지역을 중심으로 대체수자원으로서의 효과성 인정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용수공급이 불안정한 지역, 산업단지에 안정적인 용수 공급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도서지역, 생활용수 공급에서 내륙지역, 공업용수까지 맞춤형 확대 적용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지역확대  도서 → 내륙(주민)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용도확대  생활 → 공업(산단)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지표수 취수로 오염 등에 취약한 지방상수도 취수원 개선 마중물 사업을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양평 내륙 최초 지하수저류댐 설치(’25.9) → 1천㎥/일, 지역주민 2.6천명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산업단지의 물 리스크 완화를 위해 지하수저류댐을 활용, 공업용수 공급모델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경주 SMR 국가산단, 16천㎥/일(조사 完) / 청양 수소 지역산단, 5천㎥/일(설계 完)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8624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624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취약지역 맞춤형 대체수원 다변화를 통해 2.2만㎥/일 규모의 안정적 신규 수원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5 서사 · 신규댐 추진(추진배경 → 추진 로드맵 3단 → 패러다임 전환 배너 → 추진실적 3칸 + 요약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관계기관 협력, 지역 소통으로 모두 공감하는 신규댐 추진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878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댐은 사회 전반에 영향, 계획 적정성 검증으로 본격적인 사업 추진단계 진입 발판 마련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865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5805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 ~’24년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5805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 ’25년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5805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 ’26년~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580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580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이·치수 평가 등 데이터 분석 기반 후보지 선정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대안·사업 타당성 정밀 검증 및 객관적 관점 공론화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최적 개발방안에 대한 사업 구체화 및 실행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배너"/>
          <p:cNvSpPr/>
          <p:nvPr/>
        </p:nvSpPr>
        <p:spPr>
          <a:xfrm>
            <a:off x="1161391" y="219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19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‘他부처·기관 수자원시설 활용’ 패러다임 전환 + 기술적 타당성 및 공감대 기반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440643"/>
            <a:ext cx="580696" cy="1539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440643"/>
            <a:ext cx="580696" cy="153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440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기관협력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지역소통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공론화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기관간 칸막이 제거: 농공·한수원·K-water 협력, 농업·발전용댐 치수기능 부여 * 한수원 업무협약 체결(’25.12)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요구 반영: 주민 현장소통(1,000여명), 워터투어 확대(4회, 400여명), 주민·기관 협의체 운영(15회)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044087" y="2736470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전문성·공신력 확보: 정밀 검토로 최적규모 도출, 중립적 기술검증을 위한 공론화위원회 구성·운영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926783" y="2736470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배너"/>
          <p:cNvSpPr/>
          <p:nvPr/>
        </p:nvSpPr>
        <p:spPr>
          <a:xfrm>
            <a:off x="1161391" y="3388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3388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후보지 14개소 → 공감대 형성 10개소 기본구상 → 7개소 추진, 3개소 대안 전환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23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 5개소: 신규댐 기본구상을 통한 사업 구체화 / 2개소: 찬반대립, 공론화를 통해 방향성 도출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623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대안 3개소: 정부·기관·지역 협력 기반, 기존시설 활용 등 대안으로 추진 방향 선회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3656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536870" y="40841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569739" y="41224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41224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410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정책 방향에 부합한 실용적인 신규댐 추진방안 마련 및 지역 물문제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6 서사 · 지원사업으로 만든 지역자립기반(댐주변지역 지원사업 정의 → 추진배경 | 복지 확대 2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지원사업으로 만든 지역자립기반, 로컬브랜딩으로 지역가치 창출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댐주변지역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지원사업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댐건설·운영 영향 댐주변지역의 경제·사회적 발전 지원, 지역 상생을 위한 사업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15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댐주변지역 지자체 71개의 69%(49개)가 소멸위험지역으로 생활 인프라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915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의료·문화 등 체감형 복지 인프라 확충 및 댐 지역 활성화로 지방소멸 대응 필요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6243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형광 밑줄"/>
          <p:cNvSpPr/>
          <p:nvPr/>
        </p:nvSpPr>
        <p:spPr>
          <a:xfrm>
            <a:off x="723130" y="2399635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소제목"/>
          <p:cNvSpPr>
            <a:spLocks noGrp="1"/>
          </p:cNvSpPr>
          <p:nvPr>
            <p:ph type="body" sz="quarter" idx="27"/>
          </p:nvPr>
        </p:nvSpPr>
        <p:spPr>
          <a:xfrm>
            <a:off x="723130" y="22462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찾아가는 맞춤형 돌봄과 네트워크 구축으로 지역 공동체 강화</a:t>
            </a:r>
          </a:p>
        </p:txBody>
      </p:sp>
      <p:sp>
        <p:nvSpPr>
          <p:cNvPr id="27" name="태그칩"/>
          <p:cNvSpPr/>
          <p:nvPr/>
        </p:nvSpPr>
        <p:spPr>
          <a:xfrm>
            <a:off x="4382591" y="22791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칩"/>
          <p:cNvSpPr>
            <a:spLocks noGrp="1"/>
          </p:cNvSpPr>
          <p:nvPr>
            <p:ph type="body" sz="quarter" idx="28"/>
          </p:nvPr>
        </p:nvSpPr>
        <p:spPr>
          <a:xfrm>
            <a:off x="4382591" y="22791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531113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547548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547548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569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69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의료 돌봄, 낙동강을 넘어 한강까지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569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69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공동체 지원으로 사회관계망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8105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 돌봄 대상지역 확대(낙동 3 → 낙동·한강 6개면)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니즈에 맞춘 서비스 양적·질적 향상 → 추적검진 전년比 2배↑, 녹내장·치매검사 도입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8105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지역정착을 돕는 맞춤 커뮤니티 지원(남강댐)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귀농 멘토링, 아빠육아교실, 청소년 문화교육 → 7개 커뮤니티 구축, 지역주민 204명 지원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8433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7 서사 · 상품개발에서 온·오프라인 이음장날까지 농가 소득 확보(지역특화 상품개발 3단 → 온오프라인 이음장날 3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808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상품개발에서 온·오프라인 ‘이음장날’까지 실질적 농가 소득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41631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1631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70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상품개발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지속 모델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참여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 상품 개발·판매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지역사회가 동반성장 → K-water 홍보, 협동조합 관리, 주민 생산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참여 무농약 들깨 재배 → 축구장 3배 넓이 밀원식물 생산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무농약 들기름 1,150병 생산 → 일자리 19명, 매출 37백만원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911913"/>
            <a:ext cx="580696" cy="827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11913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온오프라인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이음장날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911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1933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직거래 행사 확대</a:t>
            </a:r>
          </a:p>
        </p:txBody>
      </p:sp>
      <p:sp>
        <p:nvSpPr>
          <p:cNvPr id="35" name="단계"/>
          <p:cNvSpPr/>
          <p:nvPr/>
        </p:nvSpPr>
        <p:spPr>
          <a:xfrm>
            <a:off x="3044087" y="1933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오프라인 매장 확대</a:t>
            </a:r>
          </a:p>
        </p:txBody>
      </p:sp>
      <p:sp>
        <p:nvSpPr>
          <p:cNvPr id="37" name="단계"/>
          <p:cNvSpPr/>
          <p:nvPr/>
        </p:nvSpPr>
        <p:spPr>
          <a:xfrm>
            <a:off x="4926783" y="1933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온라인 커머스 입점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044086" y="1933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4926782" y="1933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대전 중심에서 전국 유역 거점으로 확대(2→5회) → 매출 213백만원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서울정원박람회, 대전파머스 농가·청년창업 식품 40종 → 이틀 동안 매출 45백만원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21869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공공형 쇼핑몰(남도장터) 농가제품 18종 입점 → 7천여명 시청, 매출 63백만원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21869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8 서사 · 댐이 그려내는 지역가치 재창출(댐 가치 재창출 3칸 → 로컬브랜딩 론칭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6519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댐이 그려내는 지역가치 재창출, 소멸의 벽을 넘어 로컬 활력 프로젝트</a:t>
            </a:r>
          </a:p>
        </p:txBody>
      </p:sp>
      <p:sp>
        <p:nvSpPr>
          <p:cNvPr id="11" name="태그칩"/>
          <p:cNvSpPr/>
          <p:nvPr/>
        </p:nvSpPr>
        <p:spPr>
          <a:xfrm>
            <a:off x="488693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693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43805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3805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02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재창출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댐-잇 프로젝트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연계 철도여행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역사·문화 발굴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한탄강댐, 군남댐 여행코스 발굴 및 인플루언서 활용·홍보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댐잇투어 프로그램 팝업스토어 → SNS 379건, 30백만원 판매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코레일 협업 댐 기차여행 상품 출시(영주·섬진강·밀양)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연계 지역특산물 판매 → 방문객 270명, 지역매출 18백만원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충주댐 역사문화자원 사진전, 제천시 문화유산 학술대회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인문경관자원 다큐 제작 → 다큐방송 3회, 숏폼 제작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9539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9539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9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317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317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지역가치 재창출 가능성 발견, 댐 로컬브랜딩 론칭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2696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96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로컬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브랜딩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696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2718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718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주변이 사람들이 찾는 매력적인 곳이 되도록 댐 지역 고유자원을 활용, 브랜드化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 매칭 공모 확대</a:t>
            </a:r>
          </a:p>
        </p:txBody>
      </p:sp>
      <p:sp>
        <p:nvSpPr>
          <p:cNvPr id="41" name="머리칸"/>
          <p:cNvSpPr/>
          <p:nvPr/>
        </p:nvSpPr>
        <p:spPr>
          <a:xfrm>
            <a:off x="3230348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230348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 특화사업 22건 발굴</a:t>
            </a:r>
          </a:p>
        </p:txBody>
      </p:sp>
      <p:sp>
        <p:nvSpPr>
          <p:cNvPr id="43" name="머리칸"/>
          <p:cNvSpPr/>
          <p:nvPr/>
        </p:nvSpPr>
        <p:spPr>
          <a:xfrm>
            <a:off x="5113043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로컬브랜딩 전용 앱 개발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최다 지자체 공모신청(34건)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 공모 규모확대(9건)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로컬브랜딩 댐-지자체 3개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용담댐-진안군 로컬브랜딩 아이디어 발굴 대학생 해커톤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충남대, 전북대 등 청년 73명 참여</a:t>
            </a:r>
          </a:p>
        </p:txBody>
      </p:sp>
      <p:cxnSp>
        <p:nvCxnSpPr>
          <p:cNvPr id="47" name="Connector 28"/>
          <p:cNvCxnSpPr/>
          <p:nvPr/>
        </p:nvCxnSpPr>
        <p:spPr>
          <a:xfrm>
            <a:off x="3230348" y="3228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맞춤형 플랫폼(App) ‘로컬바이브’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정보·커뮤니티·마켓·예약 등</a:t>
            </a:r>
          </a:p>
        </p:txBody>
      </p:sp>
      <p:cxnSp>
        <p:nvCxnSpPr>
          <p:cNvPr id="49" name="Connector 30"/>
          <p:cNvCxnSpPr/>
          <p:nvPr/>
        </p:nvCxnSpPr>
        <p:spPr>
          <a:xfrm>
            <a:off x="5113043" y="3228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주요성과 박스"/>
          <p:cNvSpPr/>
          <p:nvPr/>
        </p:nvSpPr>
        <p:spPr>
          <a:xfrm>
            <a:off x="723130" y="3841670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주요성과 라벨"/>
          <p:cNvSpPr/>
          <p:nvPr/>
        </p:nvSpPr>
        <p:spPr>
          <a:xfrm>
            <a:off x="756000" y="3874539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주요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874539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3" name="주요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858104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국정과제(취약지역 의료서비스 확대) 이행, 의료돌봄 만족도 2년 연속 99%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지역특화 상품개발 중기부 원원아너스 우수, 이음장날 매출 321백만원 달성(전년比 3.2배)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로컬브랜딩 선정 3개 댐-지자체 MP 수립 착수, 역대 최대 지역상생협력사업 200억원 발굴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9 서사 · 스마트 기술 활용 및 구조적 작업방식 개선으로 안전예방체계 마련(고소 · 수중 · 선박작업 + 제도개선 4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94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활용 및 구조적 작업방식 개선 통해 안전예방체계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53002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002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11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11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항공드론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용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위험구간·사각지대 외관점검 인력 대체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인력 대체 업무범위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홍수기 후 시설외관점검을 인력 의존에서 드론 영상촬영으로 대체(AI 활용, 안전진단) / ’24년 7개 댐 → ’25년 37개 全댐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외부세척(콘크리트)에 드론 최초 활용(충주댐) * 고압 살수로 표면 이물질 제거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87904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904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수중작업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최소화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수중드론 활용 안전점검 일상화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대안공법 마련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4200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인력점검 대체, 잠수 전 드론 점검체계 도입 / ’24년 5건 → ’25년 24건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4200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여건 고려, 非수중공사로 공법 변경 * 기존시설 수중 보강 → 신규시설 육상 공사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74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80261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운행환경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602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02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선박 안전 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602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02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승무원·근로자 안전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43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안전점검: 선박실태점검 강화(연 1회 →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표준화: 용도별 선박 형식 통일(5종) * 선박규격 체계화로 운항·정비 등 효율성 제고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43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선상안전: 안전장치(미끄럼 방지 등)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계류시설: 진입도교 등 노후시설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안전교육: 선장 교육 강화(1회/5년 → 1회/2년)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876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67739"/>
            <a:ext cx="580696" cy="871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46773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46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머리칸"/>
          <p:cNvSpPr/>
          <p:nvPr/>
        </p:nvSpPr>
        <p:spPr>
          <a:xfrm>
            <a:off x="1161391" y="3489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489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수중작업 기술기준 개정</a:t>
            </a:r>
          </a:p>
        </p:txBody>
      </p:sp>
      <p:sp>
        <p:nvSpPr>
          <p:cNvPr id="50" name="머리칸"/>
          <p:cNvSpPr/>
          <p:nvPr/>
        </p:nvSpPr>
        <p:spPr>
          <a:xfrm>
            <a:off x="3985435" y="3489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489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건설공사 안전체계 개선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30696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 수중작업 여건 보장을 위해 적정 인력, 대가, 공법선정 방식 등 기준 마련 * 설계 단계부터 수중공사 작업자 안전 확보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730696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全댐건설사업에 감리제도 도입(공사 최초) / 기존 35명 자체 → 개선 69명 자체+감리 * 전액 재정사업인 댐건설에 자체예산 투입(540억원)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3985435" y="3763565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0 서사 · 시민재해 Zero구역 조성(능동적 수문방류 경보 | 국민이용시설 개선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947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안심하고 댐을 찾고 즐길 수 있도록 시민재해 Zero구역 조성</a:t>
            </a:r>
          </a:p>
        </p:txBody>
      </p:sp>
      <p:sp>
        <p:nvSpPr>
          <p:cNvPr id="11" name="태그칩"/>
          <p:cNvSpPr/>
          <p:nvPr/>
        </p:nvSpPr>
        <p:spPr>
          <a:xfrm>
            <a:off x="491647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1647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44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시민재해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능동적 수문방류 경보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안내·경보방식 다각화 → 범용성 높은 매체로 인근 시민에게 실시간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SMS, 내비게이션, 방류 전 안내음성 / ’25년 카카오톡 추가알림(全댐), 시각정보 상시 송출(8개댐)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노후시설 교체 및 안전시설 투자 확대 * 댐 정상부, 문화관, 공원 등 국민이용시설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6건, 13억원 / ’24년 11건, 23억원 / ’25년 12건, 43억원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77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주요성과 박스"/>
          <p:cNvSpPr/>
          <p:nvPr/>
        </p:nvSpPr>
        <p:spPr>
          <a:xfrm>
            <a:off x="723130" y="22844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주요성과 라벨"/>
          <p:cNvSpPr/>
          <p:nvPr/>
        </p:nvSpPr>
        <p:spPr>
          <a:xfrm>
            <a:off x="756000" y="23173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주요성과 라벨"/>
          <p:cNvSpPr>
            <a:spLocks noGrp="1"/>
          </p:cNvSpPr>
          <p:nvPr>
            <p:ph type="body" sz="quarter" idx="27"/>
          </p:nvPr>
        </p:nvSpPr>
        <p:spPr>
          <a:xfrm>
            <a:off x="756000" y="23173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6" name="주요성과 문구"/>
          <p:cNvSpPr>
            <a:spLocks noGrp="1"/>
          </p:cNvSpPr>
          <p:nvPr>
            <p:ph type="body" sz="quarter" idx="28"/>
          </p:nvPr>
        </p:nvSpPr>
        <p:spPr>
          <a:xfrm>
            <a:off x="1501043" y="230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스마트기술 활용 및 선제적 안전관리를 통한 산업·시민재해 저감(△32%)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Relationship Id="rId229" Type="http://schemas.openxmlformats.org/officeDocument/2006/relationships/slideLayout" Target="../slideLayouts/slideLayout231.xml"/><Relationship Id="rId230" Type="http://schemas.openxmlformats.org/officeDocument/2006/relationships/slideLayout" Target="../slideLayouts/slideLayout232.xml"/><Relationship Id="rId231" Type="http://schemas.openxmlformats.org/officeDocument/2006/relationships/slideLayout" Target="../slideLayouts/slideLayout233.xml"/><Relationship Id="rId232" Type="http://schemas.openxmlformats.org/officeDocument/2006/relationships/slideLayout" Target="../slideLayouts/slideLayout234.xml"/><Relationship Id="rId233" Type="http://schemas.openxmlformats.org/officeDocument/2006/relationships/slideLayout" Target="../slideLayouts/slideLayout235.xml"/><Relationship Id="rId234" Type="http://schemas.openxmlformats.org/officeDocument/2006/relationships/slideLayout" Target="../slideLayouts/slideLayout236.xml"/><Relationship Id="rId235" Type="http://schemas.openxmlformats.org/officeDocument/2006/relationships/slideLayout" Target="../slideLayouts/slideLayout237.xml"/><Relationship Id="rId236" Type="http://schemas.openxmlformats.org/officeDocument/2006/relationships/slideLayout" Target="../slideLayouts/slideLayout238.xml"/><Relationship Id="rId237" Type="http://schemas.openxmlformats.org/officeDocument/2006/relationships/slideLayout" Target="../slideLayouts/slideLayout239.xml"/><Relationship Id="rId238" Type="http://schemas.openxmlformats.org/officeDocument/2006/relationships/slideLayout" Target="../slideLayouts/slideLayout240.xml"/><Relationship Id="rId239" Type="http://schemas.openxmlformats.org/officeDocument/2006/relationships/slideLayout" Target="../slideLayouts/slideLayout241.xml"/><Relationship Id="rId240" Type="http://schemas.openxmlformats.org/officeDocument/2006/relationships/slideLayout" Target="../slideLayouts/slideLayout242.xml"/><Relationship Id="rId241" Type="http://schemas.openxmlformats.org/officeDocument/2006/relationships/slideLayout" Target="../slideLayouts/slideLayout243.xml"/><Relationship Id="rId242" Type="http://schemas.openxmlformats.org/officeDocument/2006/relationships/slideLayout" Target="../slideLayouts/slideLayout244.xml"/><Relationship Id="rId243" Type="http://schemas.openxmlformats.org/officeDocument/2006/relationships/slideLayout" Target="../slideLayouts/slideLayout245.xml"/><Relationship Id="rId244" Type="http://schemas.openxmlformats.org/officeDocument/2006/relationships/slideLayout" Target="../slideLayouts/slideLayout246.xml"/><Relationship Id="rId245" Type="http://schemas.openxmlformats.org/officeDocument/2006/relationships/slideLayout" Target="../slideLayouts/slideLayout247.xml"/><Relationship Id="rId246" Type="http://schemas.openxmlformats.org/officeDocument/2006/relationships/slideLayout" Target="../slideLayouts/slideLayout248.xml"/><Relationship Id="rId247" Type="http://schemas.openxmlformats.org/officeDocument/2006/relationships/slideLayout" Target="../slideLayouts/slideLayout249.xml"/><Relationship Id="rId248" Type="http://schemas.openxmlformats.org/officeDocument/2006/relationships/slideLayout" Target="../slideLayouts/slideLayout250.xml"/><Relationship Id="rId249" Type="http://schemas.openxmlformats.org/officeDocument/2006/relationships/slideLayout" Target="../slideLayouts/slideLayout251.xml"/><Relationship Id="rId250" Type="http://schemas.openxmlformats.org/officeDocument/2006/relationships/slideLayout" Target="../slideLayouts/slideLayout252.xml"/><Relationship Id="rId251" Type="http://schemas.openxmlformats.org/officeDocument/2006/relationships/slideLayout" Target="../slideLayouts/slideLayout253.xml"/><Relationship Id="rId252" Type="http://schemas.openxmlformats.org/officeDocument/2006/relationships/slideLayout" Target="../slideLayouts/slideLayout254.xml"/><Relationship Id="rId253" Type="http://schemas.openxmlformats.org/officeDocument/2006/relationships/slideLayout" Target="../slideLayouts/slideLayout255.xml"/><Relationship Id="rId254" Type="http://schemas.openxmlformats.org/officeDocument/2006/relationships/slideLayout" Target="../slideLayouts/slideLayout2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  <p:sldLayoutId id="2147483879" r:id="rId229"/>
    <p:sldLayoutId id="2147483880" r:id="rId230"/>
    <p:sldLayoutId id="2147483881" r:id="rId231"/>
    <p:sldLayoutId id="2147483882" r:id="rId232"/>
    <p:sldLayoutId id="2147483883" r:id="rId233"/>
    <p:sldLayoutId id="2147483884" r:id="rId234"/>
    <p:sldLayoutId id="2147483885" r:id="rId235"/>
    <p:sldLayoutId id="2147483886" r:id="rId236"/>
    <p:sldLayoutId id="2147483887" r:id="rId237"/>
    <p:sldLayoutId id="2147483888" r:id="rId238"/>
    <p:sldLayoutId id="2147483889" r:id="rId239"/>
    <p:sldLayoutId id="2147483890" r:id="rId240"/>
    <p:sldLayoutId id="2147483891" r:id="rId241"/>
    <p:sldLayoutId id="2147483892" r:id="rId242"/>
    <p:sldLayoutId id="2147483893" r:id="rId243"/>
    <p:sldLayoutId id="2147483894" r:id="rId244"/>
    <p:sldLayoutId id="2147483895" r:id="rId245"/>
    <p:sldLayoutId id="2147483896" r:id="rId246"/>
    <p:sldLayoutId id="2147483897" r:id="rId247"/>
    <p:sldLayoutId id="2147483898" r:id="rId248"/>
    <p:sldLayoutId id="2147483899" r:id="rId249"/>
    <p:sldLayoutId id="2147483900" r:id="rId250"/>
    <p:sldLayoutId id="2147483901" r:id="rId251"/>
    <p:sldLayoutId id="2147483902" r:id="rId252"/>
    <p:sldLayoutId id="2147483903" r:id="rId253"/>
    <p:sldLayoutId id="2147483904" r:id="rId25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6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8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9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1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2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3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5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6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8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9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0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2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3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4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6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8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9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0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1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3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4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5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6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7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8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9.xml"/><Relationship Id="rId2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0.xml"/><Relationship Id="rId2" Type="http://schemas.openxmlformats.org/officeDocument/2006/relationships/notesSlide" Target="../notesSlides/notesSlide214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1.xml"/><Relationship Id="rId2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2.xml"/><Relationship Id="rId2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3.xml"/><Relationship Id="rId2" Type="http://schemas.openxmlformats.org/officeDocument/2006/relationships/notesSlide" Target="../notesSlides/notesSlide21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4.xml"/><Relationship Id="rId2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5.xml"/><Relationship Id="rId2" Type="http://schemas.openxmlformats.org/officeDocument/2006/relationships/notesSlide" Target="../notesSlides/notesSlide219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6.xml"/><Relationship Id="rId2" Type="http://schemas.openxmlformats.org/officeDocument/2006/relationships/notesSlide" Target="../notesSlides/notesSlide220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7.xml"/><Relationship Id="rId2" Type="http://schemas.openxmlformats.org/officeDocument/2006/relationships/notesSlide" Target="../notesSlides/notesSlide221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8.xml"/><Relationship Id="rId2" Type="http://schemas.openxmlformats.org/officeDocument/2006/relationships/notesSlide" Target="../notesSlides/notesSlide22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9.xml"/><Relationship Id="rId2" Type="http://schemas.openxmlformats.org/officeDocument/2006/relationships/notesSlide" Target="../notesSlides/notesSlide223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0.xml"/><Relationship Id="rId2" Type="http://schemas.openxmlformats.org/officeDocument/2006/relationships/notesSlide" Target="../notesSlides/notesSlide224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1.xml"/><Relationship Id="rId2" Type="http://schemas.openxmlformats.org/officeDocument/2006/relationships/notesSlide" Target="../notesSlides/notesSlide225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2.xml"/><Relationship Id="rId2" Type="http://schemas.openxmlformats.org/officeDocument/2006/relationships/notesSlide" Target="../notesSlides/notesSlide226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3.xml"/><Relationship Id="rId2" Type="http://schemas.openxmlformats.org/officeDocument/2006/relationships/notesSlide" Target="../notesSlides/notesSlide22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4.xml"/><Relationship Id="rId2" Type="http://schemas.openxmlformats.org/officeDocument/2006/relationships/notesSlide" Target="../notesSlides/notesSlide228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5.xml"/><Relationship Id="rId2" Type="http://schemas.openxmlformats.org/officeDocument/2006/relationships/notesSlide" Target="../notesSlides/notesSlide229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6.xml"/><Relationship Id="rId2" Type="http://schemas.openxmlformats.org/officeDocument/2006/relationships/notesSlide" Target="../notesSlides/notesSlide230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7.xml"/><Relationship Id="rId2" Type="http://schemas.openxmlformats.org/officeDocument/2006/relationships/notesSlide" Target="../notesSlides/notesSlide231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8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9.xml"/><Relationship Id="rId2" Type="http://schemas.openxmlformats.org/officeDocument/2006/relationships/notesSlide" Target="../notesSlides/notesSlide233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0.xml"/><Relationship Id="rId2" Type="http://schemas.openxmlformats.org/officeDocument/2006/relationships/notesSlide" Target="../notesSlides/notesSlide234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2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3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4.xml"/><Relationship Id="rId2" Type="http://schemas.openxmlformats.org/officeDocument/2006/relationships/notesSlide" Target="../notesSlides/notesSlide238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5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6.xml"/><Relationship Id="rId2" Type="http://schemas.openxmlformats.org/officeDocument/2006/relationships/notesSlide" Target="../notesSlides/notesSlide240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7.xml"/><Relationship Id="rId2" Type="http://schemas.openxmlformats.org/officeDocument/2006/relationships/notesSlide" Target="../notesSlides/notesSlide241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8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9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0.xml"/><Relationship Id="rId2" Type="http://schemas.openxmlformats.org/officeDocument/2006/relationships/notesSlide" Target="../notesSlides/notesSlide244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1.xml"/><Relationship Id="rId2" Type="http://schemas.openxmlformats.org/officeDocument/2006/relationships/notesSlide" Target="../notesSlides/notesSlide245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2.xml"/><Relationship Id="rId2" Type="http://schemas.openxmlformats.org/officeDocument/2006/relationships/notesSlide" Target="../notesSlides/notesSlide246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3.xml"/><Relationship Id="rId2" Type="http://schemas.openxmlformats.org/officeDocument/2006/relationships/notesSlide" Target="../notesSlides/notesSlide24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4.xml"/><Relationship Id="rId2" Type="http://schemas.openxmlformats.org/officeDocument/2006/relationships/notesSlide" Target="../notesSlides/notesSlide248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5.xml"/><Relationship Id="rId2" Type="http://schemas.openxmlformats.org/officeDocument/2006/relationships/notesSlide" Target="../notesSlides/notesSlide249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6.xml"/><Relationship Id="rId2" Type="http://schemas.openxmlformats.org/officeDocument/2006/relationships/notesSlide" Target="../notesSlides/notesSlide2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7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  <p:graphicFrame>
        <p:nvGraphicFramePr>
          <p:cNvPr id="11" name="다열 표"/>
          <p:cNvGraphicFramePr>
            <a:graphicFrameLocks noGrp="1"/>
          </p:cNvGraphicFramePr>
          <p:nvPr/>
        </p:nvGraphicFramePr>
        <p:xfrm>
          <a:off x="723130" y="1522957"/>
          <a:ext cx="6300000" cy="2394471"/>
        </p:xfrm>
        <a:graphic>
          <a:graphicData uri="http://schemas.openxmlformats.org/drawingml/2006/table">
            <a:tbl>
              <a:tblPr/>
              <a:tblGrid>
                <a:gridCol w="882000"/>
                <a:gridCol w="1764000"/>
                <a:gridCol w="1764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’24년도 평가환류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이상기후, 노후화 대비 첨단기술 기반 물공급 전환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최소화, PFAS 규제 예고 등 수돗물 안전요구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기후위기에 강한 안정적인 고품질 수돗물 생산·공급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물문제에 대응할 수 있도록 지자체 역량 육성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재난, 지자체 재정 악화 등 공공기관의 공적역할 강조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지역간 차별 없는 국민 물 복지 혜택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요금동결 속 서비스 유지와 첨단산업 물공급 노력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 정보서비스 확대와 지방 첨단산단 물수요 증가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대국민 서비스 향상 및 첨단산업 경쟁력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특성에 맞는 실효적 산재예방 및 시민안전 대책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서울시 싱크홀 사고 등 국민 불안 증가, 수도사업 지속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근로자와 국민 모두 안전한 수도사업장 조성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graphicFrame>
        <p:nvGraphicFramePr>
          <p:cNvPr id="27" name="다열 표"/>
          <p:cNvGraphicFramePr>
            <a:graphicFrameLocks noGrp="1"/>
          </p:cNvGraphicFramePr>
          <p:nvPr/>
        </p:nvGraphicFramePr>
        <p:xfrm>
          <a:off x="536870" y="2843217"/>
          <a:ext cx="6300000" cy="4016351"/>
        </p:xfrm>
        <a:graphic>
          <a:graphicData uri="http://schemas.openxmlformats.org/drawingml/2006/table">
            <a:tbl>
              <a:tblPr/>
              <a:tblGrid>
                <a:gridCol w="819000"/>
                <a:gridCol w="1827000"/>
                <a:gridCol w="504000"/>
                <a:gridCol w="504000"/>
                <a:gridCol w="504000"/>
                <a:gridCol w="441000"/>
                <a:gridCol w="170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Pool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정책부합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SMART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적합성 평가결과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안전한 물 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첨단기술 기반 물공급 전환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대비 국가 인프라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시대 물 안보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(국정15) 지역 간 물복지 편차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달성도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(국정72) 노후상수관 정비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국민친화 요금제도 운영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(국정14) 국민 맞춤 공공서비스 제공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(국정72·75) 모든 사람이 안전한 나라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다열 표"/>
          <p:cNvGraphicFramePr>
            <a:graphicFrameLocks noGrp="1"/>
          </p:cNvGraphicFramePr>
          <p:nvPr/>
        </p:nvGraphicFramePr>
        <p:xfrm>
          <a:off x="536870" y="6936261"/>
          <a:ext cx="6300000" cy="1543775"/>
        </p:xfrm>
        <a:graphic>
          <a:graphicData uri="http://schemas.openxmlformats.org/drawingml/2006/table">
            <a:tbl>
              <a:tblPr/>
              <a:tblGrid>
                <a:gridCol w="1008000"/>
                <a:gridCol w="2016000"/>
                <a:gridCol w="3276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변경사유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선정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평가 실사시 제시된 의견에 따라 사용자 중심의 서비스 개선과 질적 향상을 위해 만족도 비중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환류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발표된 평가단 지적 및 新정부 안전강화 정책을 반영해 근로자안전 및 시민재해 예방을 위한 지표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新정부 AI 정책을 반영해 기존 첨단기술과 함께 全과정 AI 전환을 통한 기후위기 대응력 강화로 성과관리 확장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3576680"/>
        </p:xfrm>
        <a:graphic>
          <a:graphicData uri="http://schemas.openxmlformats.org/drawingml/2006/table">
            <a:tbl>
              <a:tblPr/>
              <a:tblGrid>
                <a:gridCol w="882000"/>
                <a:gridCol w="378000"/>
                <a:gridCol w="1701000"/>
                <a:gridCol w="1701000"/>
                <a:gridCol w="1638000"/>
              </a:tblGrid>
              <a:tr h="328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~’27년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~’29년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❶❸❺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고도화 및 AX 기반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운영고도화(원가 172억원/연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기후대응 인프라 개선 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국제표준 및 AX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잠재e 발굴(원가 370억원/연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안정화, 고도 등 사업시행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 자율운영 및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고도화(원가 467억원/연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수준 고도도입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❶❻❼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표준모델 구축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맞춤형 지원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 선도사업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신규사업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취약점 선제적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국내외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활용, 지방(상) 운영고도화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사각지대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❷❹❽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최적공급방안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운영관리 사업 진출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물이용개선방안 제안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공급망 조성 시행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기반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물이용체계 개선 수립·실행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 용수공급 인프라 준공 등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사업확대 및 민간 동반성장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워터믹스 등 물이용체계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수도특화 안전설계기준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인프라 구축 및 AI기술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 제로 안전 관리체계 완성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sp>
        <p:nvSpPr>
          <p:cNvPr id="41" name="소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graphicFrame>
        <p:nvGraphicFramePr>
          <p:cNvPr id="42" name="다열 표"/>
          <p:cNvGraphicFramePr>
            <a:graphicFrameLocks noGrp="1"/>
          </p:cNvGraphicFramePr>
          <p:nvPr/>
        </p:nvGraphicFramePr>
        <p:xfrm>
          <a:off x="536870" y="4218417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19,391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17,628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사업 등 건설 완료에 따라 예산이 소폭 감소하였으며, 노후시설 개선 등에 집중투자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7,010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7,520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7,915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안전·혁신기술 예산 전략적 확대와 취약 지자체 정비사업 재원 집중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141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463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390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등 성장분야 및 대국민 서비스 투자는 확대하되, 기술기반 원가저감으로 한정된 재원 활용 효율 극대화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  <p:graphicFrame>
        <p:nvGraphicFramePr>
          <p:cNvPr id="45" name="다열 표"/>
          <p:cNvGraphicFramePr>
            <a:graphicFrameLocks noGrp="1"/>
          </p:cNvGraphicFramePr>
          <p:nvPr/>
        </p:nvGraphicFramePr>
        <p:xfrm>
          <a:off x="536870" y="6045652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1,985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물공급 안전망 투자 확대에 맞춰 운영·건설 병행조직에서 건설 전담조직을 분리·확대(4→8개소)하는 등 조직·인력 조정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712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684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통합 운영, 정비사업 완료(12개) 및 신규협약(24개)에 따른 인력 조정배치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 전담조직 신설 및 운영관리 인력 증원(37명) 등 산업용수 인력 재배치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2544727"/>
        </p:xfrm>
        <a:graphic>
          <a:graphicData uri="http://schemas.openxmlformats.org/drawingml/2006/table">
            <a:tbl>
              <a:tblPr/>
              <a:tblGrid>
                <a:gridCol w="2520000"/>
                <a:gridCol w="630000"/>
                <a:gridCol w="315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 방법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측정시스템: 운영통합(WRO), 시설통합(WFM), 수질통합(WQE)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월간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성과관리시스템, 국가상수도정보시스템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국민소통센터(BP발굴)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국민기대수질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전사경영회의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노후(상) 정비사업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성과관리회의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급수 취약지역 인구 해소(누계, 천명)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고객만족도(점)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 등 5개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1" name="분야 박스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3" name="소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27" name="요약 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29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31" name="요약 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6" name="분야 박스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38" name="소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sp>
        <p:nvSpPr>
          <p:cNvPr id="60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61" name="분야 박스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75" name="카드 제목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76" name="카드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7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79" name="카드 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80" name="카드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sp>
        <p:nvSpPr>
          <p:cNvPr id="83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8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94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sp>
        <p:nvSpPr>
          <p:cNvPr id="21" name="주요성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주요성과 문구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  <p:graphicFrame>
        <p:nvGraphicFramePr>
          <p:cNvPr id="9" name="다열 표"/>
          <p:cNvGraphicFramePr>
            <a:graphicFrameLocks noGrp="1"/>
          </p:cNvGraphicFramePr>
          <p:nvPr/>
        </p:nvGraphicFramePr>
        <p:xfrm>
          <a:off x="723130" y="1161391"/>
          <a:ext cx="6300000" cy="3398559"/>
        </p:xfrm>
        <a:graphic>
          <a:graphicData uri="http://schemas.openxmlformats.org/drawingml/2006/table">
            <a:tbl>
              <a:tblPr/>
              <a:tblGrid>
                <a:gridCol w="882000"/>
                <a:gridCol w="693000"/>
                <a:gridCol w="2835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 중심 고비용 노후관로 상태평가를 AI를 활용한 평가 예측과 영상판독으로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 비용을 인력수행 比 최대 455억원 절감 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데이터 관리·성능 및 품질관리·장애대응 등 표준 운영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운영편차 최소화를 통한 휴먼에러 저감(신뢰도 95%)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통합수탁(5개 개별 지자체 → 2개 권역 통합)으로 적은 인원으로 성과 창출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인력부족으로 인한 개별수탁 수용불가 문제 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 정비사업 프로세스 간소화로 성과 조기 창출(순차적 협의 → 지자체 우선협의+설계 일괄발주)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정비사업 기간 7개월 단축(전체 사업기간의 10%)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조직·인력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국내 기업 최초 초순수 운영관리 사업 진출에 따라 전문성을 갖춘 전담 조직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공백없는 시설운영(인수인계, 시운전 등 사전수행)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산업단지 계획단계부터 인프라(용수, 전력 등) 사전 검토 가이드라인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산단 입주에 맞춘 적기 물공급으로 기업 니즈 충족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프로세스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수도시설에 맞는 안전기준 집약(5천건 → 522개 항목), 표준작업절차서 131종 마련, 자회사 안전인력 확충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상수도 안전 표준 제시 및 산업재해 저감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graphicFrame>
        <p:nvGraphicFramePr>
          <p:cNvPr id="14" name="실적표"/>
          <p:cNvGraphicFramePr>
            <a:graphicFrameLocks noGrp="1"/>
          </p:cNvGraphicFramePr>
          <p:nvPr/>
        </p:nvGraphicFramePr>
        <p:xfrm>
          <a:off x="536870" y="1522957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계절별 수질 취약요소 관리강화로 국민체감도가 높은 냄새, 망간 등을 불검출 수준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이상수질 증가에도 역대 최고 국민기대수질 98.3% 달성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현장에서 접속, 민원 일괄처리가 가능한 One-Stop 모바일 지방상수도 업무처리 시스템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민원 신속 응대로 국민 편의성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10년간 요금동결 등 재정적 어려움에도 급수 취약지역 해소, 사회적 배려계층 지원 확대 등 국민 고충 해결 노력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보편적 물 수혜확대와 물 복지 사각지대 해소기여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 상수도관 신속정비, AI 활용 누수관리 강화 등을 통해 국민 불안이 높은 싱크홀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K-water 관리 상수도관 관련 싱크홀 제로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  <p:graphicFrame>
        <p:nvGraphicFramePr>
          <p:cNvPr id="17" name="실적표"/>
          <p:cNvGraphicFramePr>
            <a:graphicFrameLocks noGrp="1"/>
          </p:cNvGraphicFramePr>
          <p:nvPr/>
        </p:nvGraphicFramePr>
        <p:xfrm>
          <a:off x="536870" y="3188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선도 AI정수장 기술 민간기업 기술이전 활성화로 국내 물산업 육성 및 공적 역할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기술이전 35건으로 중소기업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산불·가뭄 등 재난 시 피해복구 지원, 수질검사, 정수처리 컨설팅 등 총력지원으로 물 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6개 지자체, 22만여명 국민의 빠른 일상회복에 기여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R&amp;D 민관 합동 수행을 통한 기술 자립으로 민간 기업의 사업확장과 기술경쟁력 제고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전략산업(반도체) 기반 강화 및 동반성장 도모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맨홀 단차에 의한 차량 사고 예방과 실시간 누수감지로 침수사고 예방 등 시민재해 예방활동 적극 추진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국민생활 밀접 수도시설 관리 강화로 안전한 일상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  <p:graphicFrame>
        <p:nvGraphicFramePr>
          <p:cNvPr id="9" name="실적표"/>
          <p:cNvGraphicFramePr>
            <a:graphicFrameLocks noGrp="1"/>
          </p:cNvGraphicFramePr>
          <p:nvPr/>
        </p:nvGraphicFramePr>
        <p:xfrm>
          <a:off x="723130" y="1172348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 및 위험요인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대응노력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과불화화합물 규제강화 예고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WHO 발암물질 지정, 선제 대비 중요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활성탄 순환 생태계 선제 구축 및 국가 R&amp;D 정책 견인으로 PFAS 대응 선도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가뭄, 산불 등 대형 국가재난 지속 발생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재난발생으로 물 공급 중단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인력·자재·기술 등 지자체 총력지원과 합동 위기대응으로 용수공급 조기 정상화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첨단산단 중심 물수요 지속 증가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댐개발 불투명, 가용수자원 한정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산업입지에 적합한 최적 용수공급 방안 제시 및 근본적 물 문제해소 방안 정책화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경영환경: 근로자, 국민 안전 최우선 경영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위험요인: 수도시설은 시민밀접시설로 전국 산재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밀폐공간, 스마트 안전장비로 근로자 안전, 노후관 정비로 싱크홀 예방 등 국민 안전 보장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723130" y="1533913"/>
          <a:ext cx="6300001" cy="110942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개선 및 확산 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추진성과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AI정수장 기술최적화 지속(생성형AI), 수도통합 DT 기반 의사결정 Solution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정수장 고도화(피지컬 AI 등)와 통합 의사결정 플랫폼 구축으로 성과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수요 맞춤 모듈형 사업모델 기반, 기존 사업 재협약과 신규사업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통합형(충남), 일괄형(제주) 수탁 등 사업모델 다변화로 신규사업 최다(24개)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활용도 제고를 위한 지자체 연계 홍보 실시 및 서비스 대상 지자체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 맞춤형 상수도정보 소통플랫폼 런칭·서비스 확대로 이용자 확대(증 103천), 서비스만족도 96.6점 달성(목표대비 100.1%)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28" name="번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9" name="분야 박스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31" name="소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graphicFrame>
        <p:nvGraphicFramePr>
          <p:cNvPr id="32" name="다열 표"/>
          <p:cNvGraphicFramePr>
            <a:graphicFrameLocks noGrp="1"/>
          </p:cNvGraphicFramePr>
          <p:nvPr/>
        </p:nvGraphicFramePr>
        <p:xfrm>
          <a:off x="536870" y="4361165"/>
          <a:ext cx="6300000" cy="2702663"/>
        </p:xfrm>
        <a:graphic>
          <a:graphicData uri="http://schemas.openxmlformats.org/drawingml/2006/table">
            <a:tbl>
              <a:tblPr/>
              <a:tblGrid>
                <a:gridCol w="1260000"/>
                <a:gridCol w="567000"/>
                <a:gridCol w="567000"/>
                <a:gridCol w="567000"/>
                <a:gridCol w="3339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설정근거 및 도전성·제약요인 분석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최적운영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 / 이상기후 심화에도 물재해 Zero 달성을 위해 100% 목표 설정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노후시설 재해대응력 확보율(%)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20.8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45.8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국정과제-43 / 불리한 공정추진 여건에도 2년 연속 3개소 완료로 목표 설정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환경기준 1등급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경영목표 / 수질관리 어려움에도 목표 상향 및 검증항목 확대(2 → 4 → 5개)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물환경 개선사업 추진댐(누적, 개소)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댐별 오염원 특성 맞춤형 저감, ’24년 목표(23개소)보다 5개소 추가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대체수자원 시설용량(천㎥/일)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179.5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263.4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288.5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물부족 해소를 위해 전년 실적 대비 약 10%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상생협력 사업비(억원)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161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국정과제-15·107 / 지역소멸 대응, 전년 실적 比 15% 목표 상향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번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4" name="분야 박스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36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  <p:graphicFrame>
        <p:nvGraphicFramePr>
          <p:cNvPr id="37" name="다열 표"/>
          <p:cNvGraphicFramePr>
            <a:graphicFrameLocks noGrp="1"/>
          </p:cNvGraphicFramePr>
          <p:nvPr/>
        </p:nvGraphicFramePr>
        <p:xfrm>
          <a:off x="536870" y="7502087"/>
          <a:ext cx="6300000" cy="2394471"/>
        </p:xfrm>
        <a:graphic>
          <a:graphicData uri="http://schemas.openxmlformats.org/drawingml/2006/table">
            <a:tbl>
              <a:tblPr/>
              <a:tblGrid>
                <a:gridCol w="1071000"/>
                <a:gridCol w="945000"/>
                <a:gridCol w="945000"/>
                <a:gridCol w="945000"/>
                <a:gridCol w="945000"/>
                <a:gridCol w="1449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설정근거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AI·DT 기반 기술 고도화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홍수분석 고도화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국가하천 CCTV 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고도화 기술 홍수기 시범적용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핵심기술 안정화 완료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국정과제-23·73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 상류 유역 오염원 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 사업 추진계획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 대상지 사업설명회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참여농가 이행협약 체결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오염저감기법 보급 및 주민교육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 기반 물그릇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신규댐 관련 국가계획 반영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 거버넌스 구축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신규댐 지역 수용성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댐별 사업 추진계획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수자원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 계획수립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안내방식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스마트기술 적용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제도개선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전략경영계획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0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sp>
        <p:nvSpPr>
          <p:cNvPr id="32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sp>
        <p:nvSpPr>
          <p:cNvPr id="42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43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sp>
        <p:nvSpPr>
          <p:cNvPr id="50" name="주요성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1" name="주요성과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17" name="사진 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42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3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8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9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sp>
        <p:nvSpPr>
          <p:cNvPr id="53" name="주요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안전한 물환경 관리로 역대급 녹조 발생에 완벽 대응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여건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최다지점에서 조류경보제 발령(전국 경보지점 운영 29개소 中 14개소 발령)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안전지대였던 주암댐도 15년만에 조류경보 ‘관심’ 발령 등 전국에 걸쳐 녹조 심화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심화되는 녹조, 국민이 안심할 수 있도록 관리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① 준비 발생저감을 위한 녹조관리 新기술 도입: 기술대전·심층토론회를 통해 산·학·관이 협업한 기술 발굴로 부력수차 등 시범 도입(대청 등 6개소)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③ 독소 안전성 검증을 위한 全주기 모니터링 강화: 상수원부터 생산된 먹는물까지 全주기에 걸쳐 모니터링 확대(2개 유역 15 → 전체 4개 유역 45개소) → 상수원 比 정수장 원수 독소 저감(89%↓), 먹는물 불검출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② 대응 녹조발생 패턴 변화, 제거설비 운영 개선: 제거설비 적재적소에 즉시, 확대(28 → 35대)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④ 홍보 다양한 채널을 통한 국민 맞춤형 정보 제공: 全社 보도 표준안 마련, 선제 홍보(14회), 녹조 부정보도 비율 38% → 32%(-6%p)</a:t>
            </a:r>
          </a:p>
        </p:txBody>
      </p:sp>
      <p:sp>
        <p:nvSpPr>
          <p:cNvPr id="20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1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취수원 집중 녹조 수거량(5,099톤, 1.9배↑), 상수원 比 정수장 유입원수 조류개체수(75%↓)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 이행에 발맞춘 K-water 생태개선 노력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 확대를 통한 자연성 회복 및 탄소 흡수원 지속 발굴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생태 서비스 공간 확대 및 탄소 흡수원 지속 확충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공간: 댐 상류에 정화림, 생태습지 등을 조성, 생태계 건강성 증진 및 탄소흡수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댐 상류 친환경 공간 조성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친환경 공간 양적·질적 향상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조성사업 지속: 축구장 20개 규모(14ha) 친환경 공간 조성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대상지 발굴: 단일사업 최대규모(29ha) 대상지(임하댐 상류) 발굴 / 탄소 흡수원 인증: 기조성지 탄소 흡수원 인증(주암댐 등 6.7ha, CO₂ 3천t 인증)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여의도공원 1.3배 규모(29ha) 생태쉼터 발굴, 2.7천명 사용전력 상당 탄소 저감 인증(3천tCO₂eq)</a:t>
            </a:r>
          </a:p>
        </p:txBody>
      </p:sp>
      <p:sp>
        <p:nvSpPr>
          <p:cNvPr id="31" name="소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민관 소통 강화 및 체계적 준비를 통한 江의 연속성 회복 기반 마련</a:t>
            </a:r>
          </a:p>
        </p:txBody>
      </p:sp>
      <p:sp>
        <p:nvSpPr>
          <p:cNvPr id="32" name="태그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4대강 자연성 및 생물다양성 회복: 수생태계 연속성 확보로 건강한 하천 환경 조성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江의 연속성 회복을 위한 선결과제 해소 필요: 하천 수위저하로 인한 지역민원 우려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신속한 정부정책 이행을 위해 ‘수자원정책지원단’ 전담조직 신설, 추진동력 확보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생태계 변화 모니터링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지역의견 수렴 및 물이용 제약해소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경관(80지점) 및 어도(11개소)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주변 지하수위 실시간 모니터링(405공)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지역소통: 사회적 공감대 형성(주민·환경단체·전문가 등) / 시설개선: 취·양수장 개선(총 70개 中 4개 완료·30개 추진中)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지역합의를 통한 보 개방 확대(승촌·백제, ’25.11)로 공감대 및 江 연속성 회복 기반 마련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240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지속가능한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" name="배너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지역과 상생하며 수자원을 다변화하여 안전하고 깨끗한 물을 안정적으로 공급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물관리(지역) 여건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성장, 가뭄으로 물 부족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지자체 71개의 69%(49개) 소멸위험지역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확보, 투명한 거버넌스로 물 안보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자생력 확보를 통한 지역 균형발전 실현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성장을 위한 물그릇 확보 및 지역의 자생력을 키우는 로컬 활력 모델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지산지소型 물 부족 해소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소통·공감을 통한 신규댐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로컬브랜딩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수자원시설 효율적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다변화로 물 부족 해소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부족지역 신규 물그릇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공론화를 통한 공감대 형성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지역주민의 상생과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맞춤·자립형 댐 브랜드化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기존 시설 최적 활용과 수원 다각화를 통한 지산지소형 물 부족 해결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지산지소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생산(産)된 물을 그 지역에서 소비(消)할 수 있게 맞춤형 공급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대체수자원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확보기술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하수재이용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해수담수화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버려지던 하수를 막여과 등으로 수질개선 후 재활용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해수로부터 염분 등 용해 물질을 제거 후 용수로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 차수벽 설치로 지하수를 저장해 활용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부산시 10년 과제, 하수재이용시설로 재탄생하여 지역 현안 해소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부산광역시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동부산 산업단지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넘게 방치된 기장 해수담수화시설 활용 모색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공업용수 공급망이 없어 비싼 생활용수 사용(2,410원/㎥)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경기서남(화성, 수원) 등 하수재이용 사업 지속 추진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활용, 하수재이용 방안 사업화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협업, 최적의 공업용수 공급방안 마련 * 해수담수화 → 하수재이용 변환 기술지원, 사업성 등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의견수렴을 통한 공감대 형성(’25.9, 150명)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일광·기장 하수처리수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여과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동부산 산업단지 공업용수 공급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 절감: 해수담수화시설 개량시 하수재이용시설 신설 대비 60억원 절감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기업부담완화: 기업의 용수 비용을 대폭 절감하여 산업경쟁력 강화(2,410 → 800원/㎥, Δ67%)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친환경수자원: 하수처리수를 방류하지 않고 재사용함으로써 지속가능한 물관리 모델 구축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동부산 하수재이용 공급 MOU 체결(’25.9, 부산시↔기업↔K-water) → ’31년 공급개시(3.6만㎥/일)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무한한 해수 자원 활용, 대산임해 지역의 지속가능한 물 공급 기반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최대 대산임해 해수담수화 적기 준공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일반공장 온배수 활용 「물재이용법」 개정 주도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충남서부지역 가뭄 반복, 대산산업단지 공업용수 수요 증대로 만성적 물 부족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해수담수 원수로 온배수 활용시 경제적이나, 발전소 온배수만 활용 가능한 제한적 구조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운영을 위한 ‘주민소통협의체’ 가동(’25.11)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최대(10만㎥/일) 해수담수화 준공(’25.12) → 가뭄·수질변동에도 산단 물공급 리스크 완전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’04년 50㎥/일 도서 최초 → ’20년 2천㎥/일 도서지역 최대 → ’25년 10만㎥/일 국내 단일 최대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21대 국회 개정 불발, 국회·임해지역 지속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및 국고지원 확대(’25.3) → 온배수 활용성 증대 + 해수담수화 공급단가 13% 인하 효과(국고지원 및 운영비 절감)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대산산업단지 항구수원 10만㎥/일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확대, 해수담수화 사업성 제고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지하수저류댐 활용 다변화로 물공급 취약지역 맞춤형 해결사 역할 수행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상습 물 부족을 겪는 도서지역을 중심으로 대체수자원으로서의 효과성 인정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용수공급이 불안정한 지역, 산업단지에 안정적인 용수 공급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도서지역, 생활용수 공급에서 내륙지역, 공업용수까지 맞춤형 확대 적용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지역확대  도서 → 내륙(주민)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용도확대  생활 → 공업(산단)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지표수 취수로 오염 등에 취약한 지방상수도 취수원 개선 마중물 사업을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양평 내륙 최초 지하수저류댐 설치(’25.9) → 1천㎥/일, 지역주민 2.6천명 공급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산업단지의 물 리스크 완화를 위해 지하수저류댐을 활용, 공업용수 공급모델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경주 SMR 국가산단, 16천㎥/일(조사 完) / 청양 수소 지역산단, 5천㎥/일(설계 完)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취약지역 맞춤형 대체수원 다변화를 통해 2.2만㎥/일 규모의 안정적 신규 수원 확보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관계기관 협력, 지역 소통으로 모두 공감하는 신규댐 추진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댐은 사회 전반에 영향, 계획 적정성 검증으로 본격적인 사업 추진단계 진입 발판 마련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 ~’24년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 ’25년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 ’26년~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이·치수 평가 등 데이터 분석 기반 후보지 선정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대안·사업 타당성 정밀 검증 및 객관적 관점 공론화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최적 개발방안에 대한 사업 구체화 및 실행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‘他부처·기관 수자원시설 활용’ 패러다임 전환 + 기술적 타당성 및 공감대 기반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기관협력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지역소통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공론화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기관간 칸막이 제거: 농공·한수원·K-water 협력, 농업·발전용댐 치수기능 부여 * 한수원 업무협약 체결(’25.12)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요구 반영: 주민 현장소통(1,000여명), 워터투어 확대(4회, 400여명), 주민·기관 협의체 운영(15회)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전문성·공신력 확보: 정밀 검토로 최적규모 도출, 중립적 기술검증을 위한 공론화위원회 구성·운영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후보지 14개소 → 공감대 형성 10개소 기본구상 → 7개소 추진, 3개소 대안 전환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 5개소: 신규댐 기본구상을 통한 사업 구체화 / 2개소: 찬반대립, 공론화를 통해 방향성 도출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대안 3개소: 정부·기관·지역 협력 기반, 기존시설 활용 등 대안으로 추진 방향 선회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정책 방향에 부합한 실용적인 신규댐 추진방안 마련 및 지역 물문제 해결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지원사업으로 만든 지역자립기반, 로컬브랜딩으로 지역가치 창출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댐주변지역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지원사업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댐건설·운영 영향 댐주변지역의 경제·사회적 발전 지원, 지역 상생을 위한 사업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댐주변지역 지자체 71개의 69%(49개)가 소멸위험지역으로 생활 인프라 부족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의료·문화 등 체감형 복지 인프라 확충 및 댐 지역 활성화로 지방소멸 대응 필요</a:t>
            </a:r>
          </a:p>
        </p:txBody>
      </p:sp>
      <p:sp>
        <p:nvSpPr>
          <p:cNvPr id="18" name="소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찾아가는 맞춤형 돌봄과 네트워크 구축으로 지역 공동체 강화</a:t>
            </a:r>
          </a:p>
        </p:txBody>
      </p:sp>
      <p:sp>
        <p:nvSpPr>
          <p:cNvPr id="19" name="태그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의료 돌봄, 낙동강을 넘어 한강까지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공동체 지원으로 사회관계망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 돌봄 대상지역 확대(낙동 3 → 낙동·한강 6개면)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니즈에 맞춘 서비스 양적·질적 향상 → 추적검진 전년比 2배↑, 녹내장·치매검사 도입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지역정착을 돕는 맞춤 커뮤니티 지원(남강댐)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귀농 멘토링, 아빠육아교실, 청소년 문화교육 → 7개 커뮤니티 구축, 지역주민 204명 지원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상품개발에서 온·오프라인 ‘이음장날’까지 실질적 농가 소득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상품개발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지속 모델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참여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 상품 개발·판매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지역사회가 동반성장 → K-water 홍보, 협동조합 관리, 주민 생산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참여 무농약 들깨 재배 → 축구장 3배 넓이 밀원식물 생산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무농약 들기름 1,150병 생산 → 일자리 19명, 매출 37백만원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온오프라인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이음장날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직거래 행사 확대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오프라인 매장 확대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온라인 커머스 입점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대전 중심에서 전국 유역 거점으로 확대(2→5회) → 매출 213백만원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서울정원박람회, 대전파머스 농가·청년창업 식품 40종 → 이틀 동안 매출 45백만원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공공형 쇼핑몰(남도장터) 농가제품 18종 입점 → 7천여명 시청, 매출 63백만원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댐이 그려내는 지역가치 재창출, 소멸의 벽을 넘어 로컬 활력 프로젝트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재창출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댐-잇 프로젝트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연계 철도여행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역사·문화 발굴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한탄강댐, 군남댐 여행코스 발굴 및 인플루언서 활용·홍보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댐잇투어 프로그램 팝업스토어 → SNS 379건, 30백만원 판매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코레일 협업 댐 기차여행 상품 출시(영주·섬진강·밀양)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연계 지역특산물 판매 → 방문객 270명, 지역매출 18백만원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충주댐 역사문화자원 사진전, 제천시 문화유산 학술대회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인문경관자원 다큐 제작 → 다큐방송 3회, 숏폼 제작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지역가치 재창출 가능성 발견, 댐 로컬브랜딩 론칭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로컬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주변이 사람들이 찾는 매력적인 곳이 되도록 댐 지역 고유자원을 활용, 브랜드化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 매칭 공모 확대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 특화사업 22건 발굴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로컬브랜딩 전용 앱 개발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최다 지자체 공모신청(34건)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 공모 규모확대(9건)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로컬브랜딩 댐-지자체 3개 선정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용담댐-진안군 로컬브랜딩 아이디어 발굴 대학생 해커톤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충남대, 전북대 등 청년 73명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맞춤형 플랫폼(App) ‘로컬바이브’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정보·커뮤니티·마켓·예약 등</a:t>
            </a:r>
          </a:p>
        </p:txBody>
      </p:sp>
      <p:sp>
        <p:nvSpPr>
          <p:cNvPr id="33" name="주요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국정과제(취약지역 의료서비스 확대) 이행, 의료돌봄 만족도 2년 연속 99%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지역특화 상품개발 중기부 원원아너스 우수, 이음장날 매출 321백만원 달성(전년比 3.2배)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로컬브랜딩 선정 3개 댐-지자체 MP 수립 착수, 역대 최대 지역상생협력사업 200억원 발굴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활용 및 구조적 작업방식 개선 통해 안전예방체계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항공드론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위험구간·사각지대 외관점검 인력 대체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인력 대체 업무범위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홍수기 후 시설외관점검을 인력 의존에서 드론 영상촬영으로 대체(AI 활용, 안전진단) / ’24년 7개 댐 → ’25년 37개 全댐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외부세척(콘크리트)에 드론 최초 활용(충주댐) * 고압 살수로 표면 이물질 제거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수중작업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최소화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수중드론 활용 안전점검 일상화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대안공법 마련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인력점검 대체, 잠수 전 드론 점검체계 도입 / ’24년 5건 → ’25년 24건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여건 고려, 非수중공사로 공법 변경 * 기존시설 수중 보강 → 신규시설 육상 공사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운행환경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선박 안전 강화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승무원·근로자 안전 강화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안전점검: 선박실태점검 강화(연 1회 →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표준화: 용도별 선박 형식 통일(5종) * 선박규격 체계화로 운항·정비 등 효율성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선상안전: 안전장치(미끄럼 방지 등)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계류시설: 진입도교 등 노후시설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안전교육: 선장 교육 강화(1회/5년 → 1회/2년)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수중작업 기술기준 개정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건설공사 안전체계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 수중작업 여건 보장을 위해 적정 인력, 대가, 공법선정 방식 등 기준 마련 * 설계 단계부터 수중공사 작업자 안전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全댐건설사업에 감리제도 도입(공사 최초) / 기존 35명 자체 → 개선 69명 자체+감리 * 전액 재정사업인 댐건설에 자체예산 투입(540억원)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250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안심하고 댐을 찾고 즐길 수 있도록 시민재해 Zero구역 조성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시민재해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능동적 수문방류 경보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 개선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안내·경보방식 다각화 → 범용성 높은 매체로 인근 시민에게 실시간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SMS, 내비게이션, 방류 전 안내음성 / ’25년 카카오톡 추가알림(全댐), 시각정보 상시 송출(8개댐)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노후시설 교체 및 안전시설 투자 확대 * 댐 정상부, 문화관, 공원 등 국민이용시설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6건, 13억원 / ’24년 11건, 23억원 / ’25년 12건, 43억원</a:t>
            </a:r>
          </a:p>
        </p:txBody>
      </p:sp>
      <p:sp>
        <p:nvSpPr>
          <p:cNvPr id="15" name="주요성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6" name="주요성과 문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스마트기술 활용 및 선제적 안전관리를 통한 산업·시민재해 저감(△32%)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