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주민과 함께하는 터전·소득·사람 솔루션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주민과 함께하는 터전·소득·사람 솔루션으로 지역 가치 재조명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농산물 판로확대 등 지역소멸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재난피해·취약계층가구 노후 물이용공간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‘이음장날’ 전국 판로확대 및 온라인몰 입점 지원, 마케팅 코칭·크라우드펀딩 연계 ▶ p.67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지자체·주민 협업 기반 소멸위험마을의 빈집을 지역거점공간으로 재생 ▶ p.66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농가 소득 3.6억원 창출, 코칭 만족도(성장체감) 97%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복지서비스 참여자 500명, 이용만족도 97% 달성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문턱은 낮추고 체감 가치는 높인 공간 개방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문화관 시설개선·지역연계 프로그램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강변 자전거길을 이용한 대국민 러닝코스 및 인증제 개발·운영(RiverRun) ▶ p.68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체감형 서비스 개선과제 선정(’25.9, 재경부)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미래성장과 현장실행력 확보를 결합한 조직설계와 최적 인력배분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미래성장과 현장실행력 확보를 결합한 조직설계와 최적 인력배분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가변통합정원제 도입을 통해 정책사업, 안전 등 적시 인력배치(123명)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성장동력 확보를 위한 선제적 조직정비 ▶ p.90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가변통합정원제 등 지속 혁신으로 역대 최대 재배치 자원(전년대비 118%) 발굴 ▶ p.92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AI·안전·녹색전환 3대 과제 수행 조직 구축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 소요분야 적시 배치로 실행체계 강화(145명)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교육-역량-성과-보상이 연계되는 HRD &amp; HRM 체계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교육-역량-성과-보상이 연계되는 HRD &amp; HRM 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직무와 연계한 교육과정 자동 추천 및 직무역량 중심 인사관리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 모델 개발하여 맞춤형 교육 실시 ▶ p.95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승진시험제 도입, 직무 중심 배치 강화 등 역량·성과 중심 인사문화 고도화 ▶ p.96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교육만족도 상승(’25년 96.3점)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종합청렴도(인사) 상승 * 인사부문 73.1 → 89.9점(16.8점↑)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출산~육아 全주기 지원형 가족친화제도 완성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출산~육아 全주기 지원형 가족친화제도 완성을 통한 행복한 일터 조성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TF를 통한 생애주기별 지원체계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 높은 가족친화제도 운영성과(육아휴직 중 승진 등) 창출로 구성원 인식변화 유도 ▶ p.98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획득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1" name="레일"/>
          <p:cNvSpPr/>
          <p:nvPr/>
        </p:nvSpPr>
        <p:spPr>
          <a:xfrm>
            <a:off x="734087" y="14148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148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14367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4367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1816122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8161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816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838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2770630" y="1838035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2759674" y="1870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캡션 띠"/>
          <p:cNvSpPr/>
          <p:nvPr/>
        </p:nvSpPr>
        <p:spPr>
          <a:xfrm>
            <a:off x="723130" y="2373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캡션"/>
          <p:cNvSpPr>
            <a:spLocks noGrp="1"/>
          </p:cNvSpPr>
          <p:nvPr>
            <p:ph type="body" sz="quarter" idx="30"/>
          </p:nvPr>
        </p:nvSpPr>
        <p:spPr>
          <a:xfrm>
            <a:off x="942261" y="2373652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680435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696870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96870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7" name="배너"/>
          <p:cNvSpPr/>
          <p:nvPr/>
        </p:nvSpPr>
        <p:spPr>
          <a:xfrm>
            <a:off x="1347652" y="271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1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954348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5434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1" name="단계"/>
          <p:cNvSpPr/>
          <p:nvPr/>
        </p:nvSpPr>
        <p:spPr>
          <a:xfrm>
            <a:off x="2759674" y="2954348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5434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3" name="단계"/>
          <p:cNvSpPr/>
          <p:nvPr/>
        </p:nvSpPr>
        <p:spPr>
          <a:xfrm>
            <a:off x="4171696" y="2954348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5434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5" name="단계"/>
          <p:cNvSpPr/>
          <p:nvPr/>
        </p:nvSpPr>
        <p:spPr>
          <a:xfrm>
            <a:off x="5583717" y="2954348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54348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759673" y="295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4171695" y="295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583717" y="295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063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063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2759674" y="32392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063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4171696" y="32392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063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6" name="Connector 38"/>
          <p:cNvCxnSpPr/>
          <p:nvPr/>
        </p:nvCxnSpPr>
        <p:spPr>
          <a:xfrm>
            <a:off x="5583717" y="32392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34087" y="3720052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720052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37200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7419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7419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7748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74196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7748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캡션 띠"/>
          <p:cNvSpPr/>
          <p:nvPr/>
        </p:nvSpPr>
        <p:spPr>
          <a:xfrm>
            <a:off x="723130" y="41432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051826" y="41871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1051826" y="41871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8" name="캡션"/>
          <p:cNvSpPr>
            <a:spLocks noGrp="1"/>
          </p:cNvSpPr>
          <p:nvPr>
            <p:ph type="body" sz="quarter" idx="46"/>
          </p:nvPr>
        </p:nvSpPr>
        <p:spPr>
          <a:xfrm>
            <a:off x="1545480" y="41432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69" name="표 외곽"/>
          <p:cNvSpPr/>
          <p:nvPr/>
        </p:nvSpPr>
        <p:spPr>
          <a:xfrm>
            <a:off x="723130" y="4450070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734087" y="4466504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4466504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2" name="머리칸"/>
          <p:cNvSpPr/>
          <p:nvPr/>
        </p:nvSpPr>
        <p:spPr>
          <a:xfrm>
            <a:off x="1347652" y="44884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44884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44884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44884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44884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44884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72946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72946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0" name="Connector 56"/>
          <p:cNvCxnSpPr/>
          <p:nvPr/>
        </p:nvCxnSpPr>
        <p:spPr>
          <a:xfrm>
            <a:off x="3230348" y="47623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72946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2" name="Connector 58"/>
          <p:cNvCxnSpPr/>
          <p:nvPr/>
        </p:nvCxnSpPr>
        <p:spPr>
          <a:xfrm>
            <a:off x="5113043" y="47623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353983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5353983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5" name="레일 삼각형"/>
          <p:cNvSpPr/>
          <p:nvPr/>
        </p:nvSpPr>
        <p:spPr>
          <a:xfrm>
            <a:off x="734086" y="535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배너"/>
          <p:cNvSpPr/>
          <p:nvPr/>
        </p:nvSpPr>
        <p:spPr>
          <a:xfrm>
            <a:off x="1347652" y="53758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7" name="배너"/>
          <p:cNvSpPr>
            <a:spLocks noGrp="1"/>
          </p:cNvSpPr>
          <p:nvPr>
            <p:ph type="body" sz="quarter" idx="55"/>
          </p:nvPr>
        </p:nvSpPr>
        <p:spPr>
          <a:xfrm>
            <a:off x="1347652" y="53758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8" name="단계"/>
          <p:cNvSpPr/>
          <p:nvPr/>
        </p:nvSpPr>
        <p:spPr>
          <a:xfrm>
            <a:off x="1347652" y="56114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6"/>
          </p:nvPr>
        </p:nvSpPr>
        <p:spPr>
          <a:xfrm>
            <a:off x="1347652" y="56114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0" name="단계"/>
          <p:cNvSpPr/>
          <p:nvPr/>
        </p:nvSpPr>
        <p:spPr>
          <a:xfrm>
            <a:off x="3230348" y="56114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1" name="단계"/>
          <p:cNvSpPr>
            <a:spLocks noGrp="1"/>
          </p:cNvSpPr>
          <p:nvPr>
            <p:ph type="body" sz="quarter" idx="57"/>
          </p:nvPr>
        </p:nvSpPr>
        <p:spPr>
          <a:xfrm>
            <a:off x="3230348" y="56114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2" name="단계"/>
          <p:cNvSpPr/>
          <p:nvPr/>
        </p:nvSpPr>
        <p:spPr>
          <a:xfrm>
            <a:off x="5113043" y="56114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3" name="단계"/>
          <p:cNvSpPr>
            <a:spLocks noGrp="1"/>
          </p:cNvSpPr>
          <p:nvPr>
            <p:ph type="body" sz="quarter" idx="58"/>
          </p:nvPr>
        </p:nvSpPr>
        <p:spPr>
          <a:xfrm>
            <a:off x="5113043" y="56114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4" name="단계 삼각형"/>
          <p:cNvSpPr/>
          <p:nvPr/>
        </p:nvSpPr>
        <p:spPr>
          <a:xfrm>
            <a:off x="3230347" y="56114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단계 삼각형"/>
          <p:cNvSpPr/>
          <p:nvPr/>
        </p:nvSpPr>
        <p:spPr>
          <a:xfrm>
            <a:off x="5113043" y="56114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1358609" y="5863461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3241304" y="5863461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8" name="Connector 69"/>
          <p:cNvCxnSpPr/>
          <p:nvPr/>
        </p:nvCxnSpPr>
        <p:spPr>
          <a:xfrm>
            <a:off x="3230348" y="5896330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5124000" y="5863461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0" name="Connector 71"/>
          <p:cNvCxnSpPr/>
          <p:nvPr/>
        </p:nvCxnSpPr>
        <p:spPr>
          <a:xfrm>
            <a:off x="5113043" y="5896330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8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914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3914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044087" y="1424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3914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4926783" y="1424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배너"/>
          <p:cNvSpPr/>
          <p:nvPr/>
        </p:nvSpPr>
        <p:spPr>
          <a:xfrm>
            <a:off x="1161391" y="212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212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1" name="태그칩"/>
          <p:cNvSpPr/>
          <p:nvPr/>
        </p:nvSpPr>
        <p:spPr>
          <a:xfrm>
            <a:off x="510855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0855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65967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65967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8" name="태그"/>
          <p:cNvSpPr/>
          <p:nvPr/>
        </p:nvSpPr>
        <p:spPr>
          <a:xfrm>
            <a:off x="1347652" y="1123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23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1753450" y="1112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336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336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88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4171696" y="1621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73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277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5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재생에너지 10GW 확보를 위한 실행구조 재정비(정책 → 전략 → 재생에너지 이행조직 재편 · 컨트롤타워 구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7671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2030년 재생에너지 10GW(국가목표의 10%) 확보를 위한 실행구조 재정비</a:t>
            </a:r>
          </a:p>
        </p:txBody>
      </p:sp>
      <p:sp>
        <p:nvSpPr>
          <p:cNvPr id="12" name="태그칩"/>
          <p:cNvSpPr/>
          <p:nvPr/>
        </p:nvSpPr>
        <p:spPr>
          <a:xfrm>
            <a:off x="540259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40259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953711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953711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09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4766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476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탈탄소·녹색전환 ➡ 전략 기후위기대응 에너지 대전환(국가 NDC·RE100 달성 지원)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이행조직 재편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NDC·RE100 컨트롤타워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대전환을 위해 본부 단위로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[본사]기후탄소사업처 / [본부]각 유역사업처 / [현장]각 지사 → 개편 재생에너지본부(에너지기획처(유지), 에너지사업처(신설), 시화조력관리단(조정))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기획-개발-운영조직 일원화를 통해 재생에너지 컨트롤타워 기능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에너지기획처(탄소중립, 신사업 전략 정책지원 등) ↔ 에너지사업처(태양광, 수열 등 사업개발/관리) ↔ 현장부서(시화조력, 댐/수도지사) 재생e 설비운영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8959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6489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6873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6873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6654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기업 RE100 지원(삼성전자 등 6개) 및 신규 재생e 8.5GW 구체적 실행계획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국가 전략산업 지원 전담조직(산업용수 활성화: 첨단용수 공급관리 → 첨단수처리 전담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419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국가 전략산업 지원 전담조직 구성, 반도체 강국 및 기술 자립 견인</a:t>
            </a:r>
          </a:p>
        </p:txBody>
      </p:sp>
      <p:sp>
        <p:nvSpPr>
          <p:cNvPr id="11" name="태그칩"/>
          <p:cNvSpPr/>
          <p:nvPr/>
        </p:nvSpPr>
        <p:spPr>
          <a:xfrm>
            <a:off x="486363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6363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6" name="태그"/>
          <p:cNvSpPr/>
          <p:nvPr/>
        </p:nvSpPr>
        <p:spPr>
          <a:xfrm>
            <a:off x="1347652" y="1123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347652" y="1123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753450" y="1112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초혁신 기술선도 성장 ➡ 전략 첨단산업 물수요 대응(물분야 Hi-Tech 기술력 완성)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336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첨단용수 공급관리 전담조직 신설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336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전담부서 최초 운영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용수공급 사업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유역거점 특화사업단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한강본부 첨단용수사업단(사업·공사관리)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8869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SK하이닉스 초순수 운영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시설운영 전담부서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조직운영 자율성·독립성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금강본부 SKH관리단(시설운영·관리)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62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핵심성과 박스"/>
          <p:cNvSpPr/>
          <p:nvPr/>
        </p:nvSpPr>
        <p:spPr>
          <a:xfrm>
            <a:off x="723130" y="2410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핵심성과 라벨"/>
          <p:cNvSpPr/>
          <p:nvPr/>
        </p:nvSpPr>
        <p:spPr>
          <a:xfrm>
            <a:off x="756000" y="2448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9" name="핵심성과 라벨"/>
          <p:cNvSpPr>
            <a:spLocks noGrp="1"/>
          </p:cNvSpPr>
          <p:nvPr>
            <p:ph type="body" sz="quarter" idx="29"/>
          </p:nvPr>
        </p:nvSpPr>
        <p:spPr>
          <a:xfrm>
            <a:off x="756000" y="2448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0"/>
          </p:nvPr>
        </p:nvSpPr>
        <p:spPr>
          <a:xfrm>
            <a:off x="1501043" y="2426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국가전략 사업 실행력 제고 및 첨단용수의 안정적 공급을 위한 조직 구축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정책-전략 연계 조직 재배치 도입(추진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실행이 곧 성과로 이어지는 정책-전략 연계 조직 재배치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新정부 핵심정책 기반, 지속가능한 물관리 성과창출을 위한 전략체계 정렬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성과창출의 골든타임 확보를 위해 핵심 과제 중심으로 실행체계 강화 필요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생명존중 안전사회(안전 최우선 실현: 총괄기능 강화 · 건설 패러다임 전환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13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‘생명존중 안전사회’ 정책 이행 가속화를 위한 안전 실행체계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3483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3483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3859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859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최우선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18" name="태그"/>
          <p:cNvSpPr/>
          <p:nvPr/>
        </p:nvSpPr>
        <p:spPr>
          <a:xfrm>
            <a:off x="1347652" y="1123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23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1753450" y="1112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생명과 안전이 우선인 사회 ➡ 전략 안전 최우선 경영(안전한 일터 조성)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336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안전관리체계 확립을 위한 총괄기능 강화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336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전환(운영-건설 분리)의 확산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‘안전이 최우선 가치’ CEO 의지 반영, 연중 안전본부 신설(’25.9) 및 조직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건설안전기능 강화: 부(部) → 부서 격상 + 현장작동성 점검 강화: 안전기동센터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 → 안전본부(신설) 아래 재난안전·산업안전·안전문화·건강센터 / 건설안전처 아래 예방안전·품질관리·안전기동센터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8869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 낙동강동부지역 기존건설(4개 사업) 및 신규건설(항사댐) 통합, 건설전담조직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성과확인 국토부 건설안전 수준평가 ‘우수’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건설전담 전국 확대 5개 사업단 신설 + 시설운영조직 개편 소규모 개대체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한강서부 · 금강북부 · 영·섬 · 낙동강동부 / 추가 한강동부 · 금강남부 · 낙동강북부 · 낙동강남부 · 첨단용수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4171696" y="1621565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30678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1061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1061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842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안전실행조직 정비 및 현장 최일선 안전활동 강화로 건설안전 리스크 구조적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글로벌 기후 리더십(해외사업 R&amp;R 정립: 리스크·사업성 분석기능 강화 → 물산업 선도기업 성과를 기후테크로 확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776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‘글로벌 기후 리더십 강화’ 정책에 발맞춰 해외사업 R&amp;R 정립</a:t>
            </a:r>
          </a:p>
        </p:txBody>
      </p:sp>
      <p:sp>
        <p:nvSpPr>
          <p:cNvPr id="12" name="태그칩"/>
          <p:cNvSpPr/>
          <p:nvPr/>
        </p:nvSpPr>
        <p:spPr>
          <a:xfrm>
            <a:off x="44131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131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75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72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7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4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육성 및 산업화 ➡ 전략 K-물관리 해외수출 활성화 및 기후테크 육성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 및 사업성 분석기능 강화</a:t>
            </a:r>
          </a:p>
        </p:txBody>
      </p:sp>
      <p:sp>
        <p:nvSpPr>
          <p:cNvPr id="22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선도기업 성과를 기후테크로 확장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77739"/>
            <a:ext cx="2802130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단계별(프로세스별) 업무 분담, 全주기(발굴~운영) 실행체계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글로벌사업처 개편: 글로벌경영부 사업전략 제도관리 / PF분석부(신설) 재무분석 리스크관리 / 글로벌개발부(초기) → 글로벌사업부(중기) → 글로벌관리부(운영)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77739"/>
            <a:ext cx="2802130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동반성장 프로세스 기반 NDC(온실가스감축)·기후테크 국제협력 업역으로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정책실행 강화를 위한 NDC 조직 재정립: ODA사업처 ➡ 기후협력개발처 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육성 및 해외수출 지원기능 강조: 물산업혁신처 ➡ 기후테크혁신처 개편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985435" y="1610609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536870" y="289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569739" y="293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29"/>
          </p:nvPr>
        </p:nvSpPr>
        <p:spPr>
          <a:xfrm>
            <a:off x="569739" y="293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0"/>
          </p:nvPr>
        </p:nvSpPr>
        <p:spPr>
          <a:xfrm>
            <a:off x="1314783" y="290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CES 4년 연속 참여, 첨단 물관리 기술을 미국·일본 등 IoT 선진국에 역수출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수자원 관리 정책 선도 및 ESG 경영 강화(전담조직 신설: 수자원 정책지원 강화 · 노란봉투법 컨트롤타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905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수자원 관리 정책 선도 및 ESG 경영 강화를 위한 전담조직 신설</a:t>
            </a:r>
          </a:p>
        </p:txBody>
      </p:sp>
      <p:sp>
        <p:nvSpPr>
          <p:cNvPr id="11" name="태그칩"/>
          <p:cNvSpPr/>
          <p:nvPr/>
        </p:nvSpPr>
        <p:spPr>
          <a:xfrm>
            <a:off x="472693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72693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9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665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16" name="태그"/>
          <p:cNvSpPr/>
          <p:nvPr/>
        </p:nvSpPr>
        <p:spPr>
          <a:xfrm>
            <a:off x="1347652" y="1123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347652" y="1123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753450" y="1112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보·하천 환경정책 다변화 및 노동자 권리보장 ➡ 전략 글로벌 수준의 ESG 경영 선도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336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수자원(취·양수) 관리 정책지원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336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노란봉투법 시행에 따른 컨트롤타워 정비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보·하천 정책대응·지원 속도 향상 및 정책-사업 정합성 확보를 위해 기능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수자원관리처(양수장 개선 총괄) + 수도관리처(취수장 개선 총괄) ➡ 수자원정책지원단(신설): 취·양수장 개선사업 총괄 / 보 관련 수자원 정책지원 / 국가 지하수 정보관리 / 보 운영 관련 지하수 조사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88696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 근로자와의 소통채널 확대 및 모범적 노사거버넌스 위한 전담조직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인재경영실 노사협력단 → 개편 노사협력처(독립 편제) / 유지 노사협력부(일반직 교섭) / 신설 노무관리부(자회사 등 교섭)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621565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핵심성과 박스"/>
          <p:cNvSpPr/>
          <p:nvPr/>
        </p:nvSpPr>
        <p:spPr>
          <a:xfrm>
            <a:off x="723130" y="28486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핵심성과 라벨"/>
          <p:cNvSpPr/>
          <p:nvPr/>
        </p:nvSpPr>
        <p:spPr>
          <a:xfrm>
            <a:off x="756000" y="28870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9" name="핵심성과 라벨"/>
          <p:cNvSpPr>
            <a:spLocks noGrp="1"/>
          </p:cNvSpPr>
          <p:nvPr>
            <p:ph type="body" sz="quarter" idx="29"/>
          </p:nvPr>
        </p:nvSpPr>
        <p:spPr>
          <a:xfrm>
            <a:off x="756000" y="28870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0"/>
          </p:nvPr>
        </p:nvSpPr>
        <p:spPr>
          <a:xfrm>
            <a:off x="1501043" y="28651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발 빠른 전담 실행조직 구축을 통해 정책 이행 속도를 올리고, 실행 역량은 강화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0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1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2.xml"/><Relationship Id="rId2" Type="http://schemas.openxmlformats.org/officeDocument/2006/relationships/notesSlide" Target="../notesSlides/notesSlide11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3.xml"/><Relationship Id="rId2" Type="http://schemas.openxmlformats.org/officeDocument/2006/relationships/notesSlide" Target="../notesSlides/notesSlide11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4.xml"/><Relationship Id="rId2" Type="http://schemas.openxmlformats.org/officeDocument/2006/relationships/notesSlide" Target="../notesSlides/notesSlide11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notesSlide" Target="../notesSlides/notesSlide11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6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8.xml"/><Relationship Id="rId2" Type="http://schemas.openxmlformats.org/officeDocument/2006/relationships/notesSlide" Target="../notesSlides/notesSlide122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9.xml"/><Relationship Id="rId2" Type="http://schemas.openxmlformats.org/officeDocument/2006/relationships/notesSlide" Target="../notesSlides/notesSlide12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0.xml"/><Relationship Id="rId2" Type="http://schemas.openxmlformats.org/officeDocument/2006/relationships/notesSlide" Target="../notesSlides/notesSlide12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1.xml"/><Relationship Id="rId2" Type="http://schemas.openxmlformats.org/officeDocument/2006/relationships/notesSlide" Target="../notesSlides/notesSlide12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2.xml"/><Relationship Id="rId2" Type="http://schemas.openxmlformats.org/officeDocument/2006/relationships/notesSlide" Target="../notesSlides/notesSlide12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3.xml"/><Relationship Id="rId2" Type="http://schemas.openxmlformats.org/officeDocument/2006/relationships/notesSlide" Target="../notesSlides/notesSlide12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4.xml"/><Relationship Id="rId2" Type="http://schemas.openxmlformats.org/officeDocument/2006/relationships/notesSlide" Target="../notesSlides/notesSlide12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5.xml"/><Relationship Id="rId2" Type="http://schemas.openxmlformats.org/officeDocument/2006/relationships/notesSlide" Target="../notesSlides/notesSlide12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6.xml"/><Relationship Id="rId2" Type="http://schemas.openxmlformats.org/officeDocument/2006/relationships/notesSlide" Target="../notesSlides/notesSlide13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7.xml"/><Relationship Id="rId2" Type="http://schemas.openxmlformats.org/officeDocument/2006/relationships/notesSlide" Target="../notesSlides/notesSlide13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notesSlide" Target="../notesSlides/notesSlide13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9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0.xml"/><Relationship Id="rId2" Type="http://schemas.openxmlformats.org/officeDocument/2006/relationships/notesSlide" Target="../notesSlides/notesSlide13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1.xml"/><Relationship Id="rId2" Type="http://schemas.openxmlformats.org/officeDocument/2006/relationships/notesSlide" Target="../notesSlides/notesSlide13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2.xml"/><Relationship Id="rId2" Type="http://schemas.openxmlformats.org/officeDocument/2006/relationships/notesSlide" Target="../notesSlides/notesSlide136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3.xml"/><Relationship Id="rId2" Type="http://schemas.openxmlformats.org/officeDocument/2006/relationships/notesSlide" Target="../notesSlides/notesSlide13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4.xml"/><Relationship Id="rId2" Type="http://schemas.openxmlformats.org/officeDocument/2006/relationships/notesSlide" Target="../notesSlides/notesSlide13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5.xml"/><Relationship Id="rId2" Type="http://schemas.openxmlformats.org/officeDocument/2006/relationships/notesSlide" Target="../notesSlides/notesSlide13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6.xml"/><Relationship Id="rId2" Type="http://schemas.openxmlformats.org/officeDocument/2006/relationships/notesSlide" Target="../notesSlides/notesSlide14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7.xml"/><Relationship Id="rId2" Type="http://schemas.openxmlformats.org/officeDocument/2006/relationships/notesSlide" Target="../notesSlides/notesSlide14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8.xml"/><Relationship Id="rId2" Type="http://schemas.openxmlformats.org/officeDocument/2006/relationships/notesSlide" Target="../notesSlides/notesSlide14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0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2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3.xml"/><Relationship Id="rId2" Type="http://schemas.openxmlformats.org/officeDocument/2006/relationships/notesSlide" Target="../notesSlides/notesSlide14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4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14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6.xml"/><Relationship Id="rId2" Type="http://schemas.openxmlformats.org/officeDocument/2006/relationships/notesSlide" Target="../notesSlides/notesSlide150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7.xml"/><Relationship Id="rId2" Type="http://schemas.openxmlformats.org/officeDocument/2006/relationships/notesSlide" Target="../notesSlides/notesSlide15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8.xml"/><Relationship Id="rId2" Type="http://schemas.openxmlformats.org/officeDocument/2006/relationships/notesSlide" Target="../notesSlides/notesSlide1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주민과 함께하는 터전·소득·사람 솔루션으로 지역 가치 재조명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농산물 판로확대 등 지역소멸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재난피해·취약계층가구 노후 물이용공간 개선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‘이음장날’ 전국 판로확대 및 온라인몰 입점 지원, 마케팅 코칭·크라우드펀딩 연계 ▶ p.67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지자체·주민 협업 기반 소멸위험마을의 빈집을 지역거점공간으로 재생 ▶ p.66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농가 소득 3.6억원 창출, 코칭 만족도(성장체감) 97%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복지서비스 참여자 500명, 이용만족도 97% 달성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문화관 시설개선·지역연계 프로그램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강변 자전거길을 이용한 대국민 러닝코스 및 인증제 개발·운영(RiverRun) ▶ p.68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체감형 서비스 개선과제 선정(’25.9, 재경부)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1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31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sp>
        <p:nvSpPr>
          <p:cNvPr id="43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sp>
        <p:nvSpPr>
          <p:cNvPr id="6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sp>
        <p:nvSpPr>
          <p:cNvPr id="56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57" name="배너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70" name="배너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73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56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57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sp>
        <p:nvSpPr>
          <p:cNvPr id="36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sp>
        <p:nvSpPr>
          <p:cNvPr id="48" name="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9" name="성과 띠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51" name="카드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9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6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70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72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78" name="카드 문구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83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86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sp>
        <p:nvSpPr>
          <p:cNvPr id="39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sp>
        <p:nvSpPr>
          <p:cNvPr id="60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sp>
        <p:nvSpPr>
          <p:cNvPr id="53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sp>
        <p:nvSpPr>
          <p:cNvPr id="20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sp>
        <p:nvSpPr>
          <p:cNvPr id="27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sp>
        <p:nvSpPr>
          <p:cNvPr id="34" name="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37" name="카드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42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63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6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sp>
        <p:nvSpPr>
          <p:cNvPr id="23" name="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24" name="성과 띠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26" name="카드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28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29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1" name="값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32" name="연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34" name="카드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36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9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2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0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52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53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5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34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138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sp>
        <p:nvSpPr>
          <p:cNvPr id="35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미래성장과 현장실행력 확보를 결합한 조직설계와 최적 인력배분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가변통합정원제 도입을 통해 정책사업, 안전 등 적시 인력배치(123명)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성장동력 확보를 위한 선제적 조직정비 ▶ p.90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가변통합정원제 등 지속 혁신으로 역대 최대 재배치 자원(전년대비 118%) 발굴 ▶ p.92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AI·안전·녹색전환 3대 과제 수행 조직 구축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 소요분야 적시 배치로 실행체계 강화(145명)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교육-역량-성과-보상이 연계되는 HRD &amp; HRM 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직무와 연계한 교육과정 자동 추천 및 직무역량 중심 인사관리 구축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 모델 개발하여 맞춤형 교육 실시 ▶ p.95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승진시험제 도입, 직무 중심 배치 강화 등 역량·성과 중심 인사문화 고도화 ▶ p.96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교육만족도 상승(’25년 96.3점)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종합청렴도(인사) 상승 * 인사부문 73.1 → 89.9점(16.8점↑)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출산~육아 全주기 지원형 가족친화제도 완성을 통한 행복한 일터 조성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TF를 통한 생애주기별 지원체계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 높은 가족친화제도 운영성과(육아휴직 중 승진 등) 창출로 구성원 인식변화 유도 ▶ p.98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획득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sp>
        <p:nvSpPr>
          <p:cNvPr id="60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62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4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0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1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2030년 재생에너지 10GW(국가목표의 10%) 확보를 위한 실행구조 재정비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탈탄소·녹색전환 ➡ 전략 기후위기대응 에너지 대전환(국가 NDC·RE100 달성 지원)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이행조직 재편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NDC·RE100 컨트롤타워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대전환을 위해 본부 단위로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[본사]기후탄소사업처 / [본부]각 유역사업처 / [현장]각 지사 → 개편 재생에너지본부(에너지기획처(유지), 에너지사업처(신설), 시화조력관리단(조정))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기획-개발-운영조직 일원화를 통해 재생에너지 컨트롤타워 기능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에너지기획처(탄소중립, 신사업 전략 정책지원 등) ↔ 에너지사업처(태양광, 수열 등 사업개발/관리) ↔ 현장부서(시화조력, 댐/수도지사) 재생e 설비운영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기업 RE100 지원(삼성전자 등 6개) 및 신규 재생e 8.5GW 구체적 실행계획 마련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국가 전략산업 지원 전담조직 구성, 반도체 강국 및 기술 자립 견인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초혁신 기술선도 성장 ➡ 전략 첨단산업 물수요 대응(물분야 Hi-Tech 기술력 완성)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첨단용수 공급관리 전담조직 신설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전담부서 최초 운영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용수공급 사업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유역거점 특화사업단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한강본부 첨단용수사업단(사업·공사관리)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SK하이닉스 초순수 운영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시설운영 전담부서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조직운영 자율성·독립성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금강본부 SKH관리단(시설운영·관리)</a:t>
            </a:r>
          </a:p>
        </p:txBody>
      </p:sp>
      <p:sp>
        <p:nvSpPr>
          <p:cNvPr id="18" name="핵심성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9" name="핵심성과 문구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국가전략 사업 실행력 제고 및 첨단용수의 안정적 공급을 위한 조직 구축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실행이 곧 성과로 이어지는 정책-전략 연계 조직 재배치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新정부 핵심정책 기반, 지속가능한 물관리 성과창출을 위한 전략체계 정렬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성과창출의 골든타임 확보를 위해 핵심 과제 중심으로 실행체계 강화 필요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‘생명존중 안전사회’ 정책 이행 가속화를 위한 안전 실행체계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최우선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10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1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생명과 안전이 우선인 사회 ➡ 전략 안전 최우선 경영(안전한 일터 조성)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안전관리체계 확립을 위한 총괄기능 강화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전환(운영-건설 분리)의 확산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‘안전이 최우선 가치’ CEO 의지 반영, 연중 안전본부 신설(’25.9) 및 조직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건설안전기능 강화: 부(部) → 부서 격상 + 현장작동성 점검 강화: 안전기동센터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 → 안전본부(신설) 아래 재난안전·산업안전·안전문화·건강센터 / 건설안전처 아래 예방안전·품질관리·안전기동센터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 낙동강동부지역 기존건설(4개 사업) 및 신규건설(항사댐) 통합, 건설전담조직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성과확인 국토부 건설안전 수준평가 ‘우수’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건설전담 전국 확대 5개 사업단 신설 + 시설운영조직 개편 소규모 개대체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한강서부 · 금강북부 · 영·섬 · 낙동강동부 / 추가 한강동부 · 금강남부 · 낙동강북부 · 낙동강남부 · 첨단용수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안전실행조직 정비 및 현장 최일선 안전활동 강화로 건설안전 리스크 구조적 해소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‘글로벌 기후 리더십 강화’ 정책에 발맞춰 해외사업 R&amp;R 정립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육성 및 산업화 ➡ 전략 K-물관리 해외수출 활성화 및 기후테크 육성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 및 사업성 분석기능 강화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선도기업 성과를 기후테크로 확장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단계별(프로세스별) 업무 분담, 全주기(발굴~운영) 실행체계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글로벌사업처 개편: 글로벌경영부 사업전략 제도관리 / PF분석부(신설) 재무분석 리스크관리 / 글로벌개발부(초기) → 글로벌사업부(중기) → 글로벌관리부(운영)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동반성장 프로세스 기반 NDC(온실가스감축)·기후테크 국제협력 업역으로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정책실행 강화를 위한 NDC 조직 재정립: ODA사업처 ➡ 기후협력개발처 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육성 및 해외수출 지원기능 강조: 물산업혁신처 ➡ 기후테크혁신처 개편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CES 4년 연속 참여, 첨단 물관리 기술을 미국·일본 등 IoT 선진국에 역수출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152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수자원 관리 정책 선도 및 ESG 경영 강화를 위한 전담조직 신설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보·하천 환경정책 다변화 및 노동자 권리보장 ➡ 전략 글로벌 수준의 ESG 경영 선도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수자원(취·양수) 관리 정책지원 강화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노란봉투법 시행에 따른 컨트롤타워 정비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보·하천 정책대응·지원 속도 향상 및 정책-사업 정합성 확보를 위해 기능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수자원관리처(양수장 개선 총괄) + 수도관리처(취수장 개선 총괄) ➡ 수자원정책지원단(신설): 취·양수장 개선사업 총괄 / 보 관련 수자원 정책지원 / 국가 지하수 정보관리 / 보 운영 관련 지하수 조사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 근로자와의 소통채널 확대 및 모범적 노사거버넌스 위한 전담조직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인재경영실 노사협력단 → 개편 노사협력처(독립 편제) / 유지 노사협력부(일반직 교섭) / 신설 노무관리부(자회사 등 교섭)</a:t>
            </a:r>
          </a:p>
        </p:txBody>
      </p:sp>
      <p:sp>
        <p:nvSpPr>
          <p:cNvPr id="18" name="핵심성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9" name="핵심성과 문구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발 빠른 전담 실행조직 구축을 통해 정책 이행 속도를 올리고, 실행 역량은 강화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