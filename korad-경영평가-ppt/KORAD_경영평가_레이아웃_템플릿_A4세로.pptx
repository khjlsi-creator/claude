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방향 → 프로세스 4단 → 목표 재설계 → 30개 지표 목표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380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6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6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27043"/>
            <a:ext cx="580696" cy="1281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128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16489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25" name="단계"/>
          <p:cNvSpPr/>
          <p:nvPr/>
        </p:nvSpPr>
        <p:spPr>
          <a:xfrm>
            <a:off x="2759674" y="16489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27" name="단계"/>
          <p:cNvSpPr/>
          <p:nvPr/>
        </p:nvSpPr>
        <p:spPr>
          <a:xfrm>
            <a:off x="4171696" y="16489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29" name="단계"/>
          <p:cNvSpPr/>
          <p:nvPr/>
        </p:nvSpPr>
        <p:spPr>
          <a:xfrm>
            <a:off x="5583717" y="16489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759673" y="1648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171695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583717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2759674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583717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2770630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2759674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171696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5594674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5583717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925391"/>
            <a:ext cx="580696" cy="199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925391"/>
            <a:ext cx="580696" cy="199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92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2759674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4171696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5583717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머리칸"/>
          <p:cNvSpPr/>
          <p:nvPr/>
        </p:nvSpPr>
        <p:spPr>
          <a:xfrm>
            <a:off x="1347652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0" name="머리칸"/>
          <p:cNvSpPr/>
          <p:nvPr/>
        </p:nvSpPr>
        <p:spPr>
          <a:xfrm>
            <a:off x="2759674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2759674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2" name="머리칸"/>
          <p:cNvSpPr/>
          <p:nvPr/>
        </p:nvSpPr>
        <p:spPr>
          <a:xfrm>
            <a:off x="4171696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4" name="머리칸"/>
          <p:cNvSpPr/>
          <p:nvPr/>
        </p:nvSpPr>
        <p:spPr>
          <a:xfrm>
            <a:off x="5583717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5583717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70630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cxnSp>
        <p:nvCxnSpPr>
          <p:cNvPr id="68" name="Connector 50"/>
          <p:cNvCxnSpPr/>
          <p:nvPr/>
        </p:nvCxnSpPr>
        <p:spPr>
          <a:xfrm>
            <a:off x="2759674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82652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cxnSp>
        <p:nvCxnSpPr>
          <p:cNvPr id="70" name="Connector 52"/>
          <p:cNvCxnSpPr/>
          <p:nvPr/>
        </p:nvCxnSpPr>
        <p:spPr>
          <a:xfrm>
            <a:off x="4171696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594674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cxnSp>
        <p:nvCxnSpPr>
          <p:cNvPr id="72" name="Connector 54"/>
          <p:cNvCxnSpPr/>
          <p:nvPr/>
        </p:nvCxnSpPr>
        <p:spPr>
          <a:xfrm>
            <a:off x="5583717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배너"/>
          <p:cNvSpPr/>
          <p:nvPr/>
        </p:nvSpPr>
        <p:spPr>
          <a:xfrm>
            <a:off x="723130" y="4990696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4" name="Connector 56"/>
          <p:cNvCxnSpPr/>
          <p:nvPr/>
        </p:nvCxnSpPr>
        <p:spPr>
          <a:xfrm>
            <a:off x="723130" y="4990696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5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5045478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76" name="표 외곽"/>
          <p:cNvSpPr/>
          <p:nvPr/>
        </p:nvSpPr>
        <p:spPr>
          <a:xfrm>
            <a:off x="723130" y="5363217"/>
            <a:ext cx="6300000" cy="30570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5379652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55766" y="5423478"/>
            <a:ext cx="113733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2"/>
          </p:nvPr>
        </p:nvSpPr>
        <p:spPr>
          <a:xfrm>
            <a:off x="455766" y="5423478"/>
            <a:ext cx="113733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609739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81" name="머리칸"/>
          <p:cNvSpPr/>
          <p:nvPr/>
        </p:nvSpPr>
        <p:spPr>
          <a:xfrm>
            <a:off x="1347652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2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83" name="머리칸"/>
          <p:cNvSpPr/>
          <p:nvPr/>
        </p:nvSpPr>
        <p:spPr>
          <a:xfrm>
            <a:off x="3230348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4" name="머리칸"/>
          <p:cNvSpPr>
            <a:spLocks noGrp="1"/>
          </p:cNvSpPr>
          <p:nvPr>
            <p:ph type="body" sz="quarter" idx="55"/>
          </p:nvPr>
        </p:nvSpPr>
        <p:spPr>
          <a:xfrm>
            <a:off x="3230348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85" name="머리칸"/>
          <p:cNvSpPr/>
          <p:nvPr/>
        </p:nvSpPr>
        <p:spPr>
          <a:xfrm>
            <a:off x="5113043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6"/>
          </p:nvPr>
        </p:nvSpPr>
        <p:spPr>
          <a:xfrm>
            <a:off x="5113043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cxnSp>
        <p:nvCxnSpPr>
          <p:cNvPr id="89" name="Connector 67"/>
          <p:cNvCxnSpPr/>
          <p:nvPr/>
        </p:nvCxnSpPr>
        <p:spPr>
          <a:xfrm>
            <a:off x="3230348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113043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6102783"/>
            <a:ext cx="580696" cy="7807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438834" y="6267130"/>
            <a:ext cx="117120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4" name="레일 태그"/>
          <p:cNvSpPr>
            <a:spLocks noGrp="1"/>
          </p:cNvSpPr>
          <p:nvPr>
            <p:ph type="body" sz="quarter" idx="60"/>
          </p:nvPr>
        </p:nvSpPr>
        <p:spPr>
          <a:xfrm>
            <a:off x="438834" y="6267130"/>
            <a:ext cx="117120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95" name="레일 라벨"/>
          <p:cNvSpPr>
            <a:spLocks noGrp="1"/>
          </p:cNvSpPr>
          <p:nvPr>
            <p:ph type="body" sz="quarter" idx="61"/>
          </p:nvPr>
        </p:nvSpPr>
        <p:spPr>
          <a:xfrm>
            <a:off x="734087" y="64533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610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347652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1347652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99" name="머리칸"/>
          <p:cNvSpPr/>
          <p:nvPr/>
        </p:nvSpPr>
        <p:spPr>
          <a:xfrm>
            <a:off x="3230348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3"/>
          </p:nvPr>
        </p:nvSpPr>
        <p:spPr>
          <a:xfrm>
            <a:off x="3230348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101" name="머리칸"/>
          <p:cNvSpPr/>
          <p:nvPr/>
        </p:nvSpPr>
        <p:spPr>
          <a:xfrm>
            <a:off x="5113043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4"/>
          </p:nvPr>
        </p:nvSpPr>
        <p:spPr>
          <a:xfrm>
            <a:off x="5113043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cxnSp>
        <p:nvCxnSpPr>
          <p:cNvPr id="105" name="Connector 79"/>
          <p:cNvCxnSpPr/>
          <p:nvPr/>
        </p:nvCxnSpPr>
        <p:spPr>
          <a:xfrm>
            <a:off x="3230348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cxnSp>
        <p:nvCxnSpPr>
          <p:cNvPr id="107" name="Connector 81"/>
          <p:cNvCxnSpPr/>
          <p:nvPr/>
        </p:nvCxnSpPr>
        <p:spPr>
          <a:xfrm>
            <a:off x="5113043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레일"/>
          <p:cNvSpPr/>
          <p:nvPr/>
        </p:nvSpPr>
        <p:spPr>
          <a:xfrm>
            <a:off x="734087" y="6899948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 태그"/>
          <p:cNvSpPr/>
          <p:nvPr/>
        </p:nvSpPr>
        <p:spPr>
          <a:xfrm>
            <a:off x="433440" y="6943774"/>
            <a:ext cx="118198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레일 태그"/>
          <p:cNvSpPr>
            <a:spLocks noGrp="1"/>
          </p:cNvSpPr>
          <p:nvPr>
            <p:ph type="body" sz="quarter" idx="68"/>
          </p:nvPr>
        </p:nvSpPr>
        <p:spPr>
          <a:xfrm>
            <a:off x="433440" y="6943774"/>
            <a:ext cx="118198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111" name="레일 라벨"/>
          <p:cNvSpPr>
            <a:spLocks noGrp="1"/>
          </p:cNvSpPr>
          <p:nvPr>
            <p:ph type="body" sz="quarter" idx="69"/>
          </p:nvPr>
        </p:nvSpPr>
        <p:spPr>
          <a:xfrm>
            <a:off x="734087" y="7130035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112" name="머리칸"/>
          <p:cNvSpPr/>
          <p:nvPr/>
        </p:nvSpPr>
        <p:spPr>
          <a:xfrm>
            <a:off x="1347652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114" name="머리칸"/>
          <p:cNvSpPr/>
          <p:nvPr/>
        </p:nvSpPr>
        <p:spPr>
          <a:xfrm>
            <a:off x="3230348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5" name="머리칸"/>
          <p:cNvSpPr>
            <a:spLocks noGrp="1"/>
          </p:cNvSpPr>
          <p:nvPr>
            <p:ph type="body" sz="quarter" idx="71"/>
          </p:nvPr>
        </p:nvSpPr>
        <p:spPr>
          <a:xfrm>
            <a:off x="3230348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116" name="머리칸"/>
          <p:cNvSpPr/>
          <p:nvPr/>
        </p:nvSpPr>
        <p:spPr>
          <a:xfrm>
            <a:off x="5113043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2"/>
          </p:nvPr>
        </p:nvSpPr>
        <p:spPr>
          <a:xfrm>
            <a:off x="5113043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3"/>
          </p:nvPr>
        </p:nvSpPr>
        <p:spPr>
          <a:xfrm>
            <a:off x="1358609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119" name="칸 본문"/>
          <p:cNvSpPr>
            <a:spLocks noGrp="1"/>
          </p:cNvSpPr>
          <p:nvPr>
            <p:ph type="body" sz="quarter" idx="74"/>
          </p:nvPr>
        </p:nvSpPr>
        <p:spPr>
          <a:xfrm>
            <a:off x="3241304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cxnSp>
        <p:nvCxnSpPr>
          <p:cNvPr id="120" name="Connector 90"/>
          <p:cNvCxnSpPr/>
          <p:nvPr/>
        </p:nvCxnSpPr>
        <p:spPr>
          <a:xfrm>
            <a:off x="3230348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칸 본문"/>
          <p:cNvSpPr>
            <a:spLocks noGrp="1"/>
          </p:cNvSpPr>
          <p:nvPr>
            <p:ph type="body" sz="quarter" idx="75"/>
          </p:nvPr>
        </p:nvSpPr>
        <p:spPr>
          <a:xfrm>
            <a:off x="5124000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cxnSp>
        <p:nvCxnSpPr>
          <p:cNvPr id="122" name="Connector 92"/>
          <p:cNvCxnSpPr/>
          <p:nvPr/>
        </p:nvCxnSpPr>
        <p:spPr>
          <a:xfrm>
            <a:off x="5113043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레일"/>
          <p:cNvSpPr/>
          <p:nvPr/>
        </p:nvSpPr>
        <p:spPr>
          <a:xfrm>
            <a:off x="734087" y="7623078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 태그"/>
          <p:cNvSpPr/>
          <p:nvPr/>
        </p:nvSpPr>
        <p:spPr>
          <a:xfrm>
            <a:off x="617876" y="7787426"/>
            <a:ext cx="81311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5" name="레일 태그"/>
          <p:cNvSpPr>
            <a:spLocks noGrp="1"/>
          </p:cNvSpPr>
          <p:nvPr>
            <p:ph type="body" sz="quarter" idx="76"/>
          </p:nvPr>
        </p:nvSpPr>
        <p:spPr>
          <a:xfrm>
            <a:off x="617876" y="7787426"/>
            <a:ext cx="81311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126" name="레일 라벨"/>
          <p:cNvSpPr>
            <a:spLocks noGrp="1"/>
          </p:cNvSpPr>
          <p:nvPr>
            <p:ph type="body" sz="quarter" idx="77"/>
          </p:nvPr>
        </p:nvSpPr>
        <p:spPr>
          <a:xfrm>
            <a:off x="734087" y="7973687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127" name="레일 삼각형"/>
          <p:cNvSpPr/>
          <p:nvPr/>
        </p:nvSpPr>
        <p:spPr>
          <a:xfrm>
            <a:off x="734086" y="7623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머리칸"/>
          <p:cNvSpPr/>
          <p:nvPr/>
        </p:nvSpPr>
        <p:spPr>
          <a:xfrm>
            <a:off x="1347652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8"/>
          </p:nvPr>
        </p:nvSpPr>
        <p:spPr>
          <a:xfrm>
            <a:off x="1347652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130" name="머리칸"/>
          <p:cNvSpPr/>
          <p:nvPr/>
        </p:nvSpPr>
        <p:spPr>
          <a:xfrm>
            <a:off x="4171696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9"/>
          </p:nvPr>
        </p:nvSpPr>
        <p:spPr>
          <a:xfrm>
            <a:off x="4171696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80"/>
          </p:nvPr>
        </p:nvSpPr>
        <p:spPr>
          <a:xfrm>
            <a:off x="1358609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81"/>
          </p:nvPr>
        </p:nvSpPr>
        <p:spPr>
          <a:xfrm>
            <a:off x="4182652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  <p:cxnSp>
        <p:nvCxnSpPr>
          <p:cNvPr id="134" name="Connector 101"/>
          <p:cNvCxnSpPr/>
          <p:nvPr/>
        </p:nvCxnSpPr>
        <p:spPr>
          <a:xfrm>
            <a:off x="4171696" y="791890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전략목표 → 전략방향·과제 → 70개 세부과제 → CSF · PI · KPI ·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32489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944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668144" y="11778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3"/>
          </p:nvPr>
        </p:nvSpPr>
        <p:spPr>
          <a:xfrm>
            <a:off x="668144" y="11778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364087"/>
            <a:ext cx="580696" cy="2424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413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413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567189" y="1402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644887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4488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44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592957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582000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6013565" y="1666800"/>
            <a:ext cx="7849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6002609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214626"/>
            <a:ext cx="580696" cy="49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14626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37" name="단계"/>
          <p:cNvSpPr/>
          <p:nvPr/>
        </p:nvSpPr>
        <p:spPr>
          <a:xfrm>
            <a:off x="1161391" y="2236539"/>
            <a:ext cx="161373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36539"/>
            <a:ext cx="16137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39" name="단계"/>
          <p:cNvSpPr/>
          <p:nvPr/>
        </p:nvSpPr>
        <p:spPr>
          <a:xfrm>
            <a:off x="2775130" y="2236539"/>
            <a:ext cx="4034348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75130" y="2236539"/>
            <a:ext cx="4034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775130" y="22365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88539"/>
            <a:ext cx="1591826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2786087" y="2488539"/>
            <a:ext cx="4012435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2775130" y="25214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72958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7295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2301965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2291009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431583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cxnSp>
        <p:nvCxnSpPr>
          <p:cNvPr id="52" name="Connector 39"/>
          <p:cNvCxnSpPr/>
          <p:nvPr/>
        </p:nvCxnSpPr>
        <p:spPr>
          <a:xfrm>
            <a:off x="3420626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561200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cxnSp>
        <p:nvCxnSpPr>
          <p:cNvPr id="54" name="Connector 41"/>
          <p:cNvCxnSpPr/>
          <p:nvPr/>
        </p:nvCxnSpPr>
        <p:spPr>
          <a:xfrm>
            <a:off x="4550243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5690817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cxnSp>
        <p:nvCxnSpPr>
          <p:cNvPr id="56" name="Connector 43"/>
          <p:cNvCxnSpPr/>
          <p:nvPr/>
        </p:nvCxnSpPr>
        <p:spPr>
          <a:xfrm>
            <a:off x="5679861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285704"/>
            <a:ext cx="580696" cy="106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285704"/>
            <a:ext cx="580696" cy="10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59" name="배너"/>
          <p:cNvSpPr/>
          <p:nvPr/>
        </p:nvSpPr>
        <p:spPr>
          <a:xfrm>
            <a:off x="1161391" y="33076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076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2301965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431583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4561200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690817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캡션 띠"/>
          <p:cNvSpPr/>
          <p:nvPr/>
        </p:nvSpPr>
        <p:spPr>
          <a:xfrm>
            <a:off x="536869" y="438840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캡션"/>
          <p:cNvSpPr>
            <a:spLocks noGrp="1"/>
          </p:cNvSpPr>
          <p:nvPr>
            <p:ph type="body" sz="quarter" idx="50"/>
          </p:nvPr>
        </p:nvSpPr>
        <p:spPr>
          <a:xfrm>
            <a:off x="756000" y="438840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72" name="머리칸"/>
          <p:cNvSpPr/>
          <p:nvPr/>
        </p:nvSpPr>
        <p:spPr>
          <a:xfrm>
            <a:off x="536870" y="4728052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1"/>
          </p:nvPr>
        </p:nvSpPr>
        <p:spPr>
          <a:xfrm>
            <a:off x="536870" y="4728052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74" name="머리칸"/>
          <p:cNvSpPr/>
          <p:nvPr/>
        </p:nvSpPr>
        <p:spPr>
          <a:xfrm>
            <a:off x="1172348" y="4728052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172348" y="4728052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76" name="머리칸"/>
          <p:cNvSpPr/>
          <p:nvPr/>
        </p:nvSpPr>
        <p:spPr>
          <a:xfrm>
            <a:off x="3052816" y="4728052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052816" y="4728052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78" name="머리칸"/>
          <p:cNvSpPr/>
          <p:nvPr/>
        </p:nvSpPr>
        <p:spPr>
          <a:xfrm>
            <a:off x="4821308" y="4728052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4821308" y="4728052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80" name="레일"/>
          <p:cNvSpPr/>
          <p:nvPr/>
        </p:nvSpPr>
        <p:spPr>
          <a:xfrm>
            <a:off x="536870" y="4969096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4969096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82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4969096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83" name="KPI 칸"/>
          <p:cNvSpPr/>
          <p:nvPr/>
        </p:nvSpPr>
        <p:spPr>
          <a:xfrm>
            <a:off x="3052816" y="4969096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태그"/>
          <p:cNvSpPr/>
          <p:nvPr/>
        </p:nvSpPr>
        <p:spPr>
          <a:xfrm>
            <a:off x="3096642" y="502387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502387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86" name="KPI 글"/>
          <p:cNvSpPr>
            <a:spLocks noGrp="1"/>
          </p:cNvSpPr>
          <p:nvPr>
            <p:ph type="body" sz="quarter" idx="58"/>
          </p:nvPr>
        </p:nvSpPr>
        <p:spPr>
          <a:xfrm>
            <a:off x="3568382" y="500196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87" name="KPI 결과"/>
          <p:cNvSpPr/>
          <p:nvPr/>
        </p:nvSpPr>
        <p:spPr>
          <a:xfrm>
            <a:off x="3063772" y="536353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536353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89" name="로드맵 칸"/>
          <p:cNvSpPr/>
          <p:nvPr/>
        </p:nvSpPr>
        <p:spPr>
          <a:xfrm>
            <a:off x="4821308" y="4969096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498005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cxnSp>
        <p:nvCxnSpPr>
          <p:cNvPr id="91" name="Connector 69"/>
          <p:cNvCxnSpPr/>
          <p:nvPr/>
        </p:nvCxnSpPr>
        <p:spPr>
          <a:xfrm flipV="1">
            <a:off x="4898003" y="5264922"/>
            <a:ext cx="465543" cy="76695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0"/>
          <p:cNvCxnSpPr/>
          <p:nvPr/>
        </p:nvCxnSpPr>
        <p:spPr>
          <a:xfrm>
            <a:off x="5363546" y="5264922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3" name="Connector 71"/>
          <p:cNvCxnSpPr/>
          <p:nvPr/>
        </p:nvCxnSpPr>
        <p:spPr>
          <a:xfrm flipV="1">
            <a:off x="5829089" y="5188226"/>
            <a:ext cx="465542" cy="7669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4" name="Connector 72"/>
          <p:cNvCxnSpPr/>
          <p:nvPr/>
        </p:nvCxnSpPr>
        <p:spPr>
          <a:xfrm>
            <a:off x="6294631" y="5188226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5" name="점"/>
          <p:cNvSpPr/>
          <p:nvPr/>
        </p:nvSpPr>
        <p:spPr>
          <a:xfrm>
            <a:off x="4876090" y="531970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1"/>
          </p:nvPr>
        </p:nvSpPr>
        <p:spPr>
          <a:xfrm>
            <a:off x="4733656" y="514440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98" name="점"/>
          <p:cNvSpPr/>
          <p:nvPr/>
        </p:nvSpPr>
        <p:spPr>
          <a:xfrm>
            <a:off x="5341633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값"/>
          <p:cNvSpPr>
            <a:spLocks noGrp="1"/>
          </p:cNvSpPr>
          <p:nvPr>
            <p:ph type="body" sz="quarter" idx="63"/>
          </p:nvPr>
        </p:nvSpPr>
        <p:spPr>
          <a:xfrm>
            <a:off x="5199198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64"/>
          </p:nvPr>
        </p:nvSpPr>
        <p:spPr>
          <a:xfrm>
            <a:off x="5221111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1" name="점"/>
          <p:cNvSpPr/>
          <p:nvPr/>
        </p:nvSpPr>
        <p:spPr>
          <a:xfrm>
            <a:off x="5807176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65"/>
          </p:nvPr>
        </p:nvSpPr>
        <p:spPr>
          <a:xfrm>
            <a:off x="5664741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66"/>
          </p:nvPr>
        </p:nvSpPr>
        <p:spPr>
          <a:xfrm>
            <a:off x="5686654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04" name="점"/>
          <p:cNvSpPr/>
          <p:nvPr/>
        </p:nvSpPr>
        <p:spPr>
          <a:xfrm>
            <a:off x="6272718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67"/>
          </p:nvPr>
        </p:nvSpPr>
        <p:spPr>
          <a:xfrm>
            <a:off x="6130283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68"/>
          </p:nvPr>
        </p:nvSpPr>
        <p:spPr>
          <a:xfrm>
            <a:off x="6152197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07" name="점"/>
          <p:cNvSpPr/>
          <p:nvPr/>
        </p:nvSpPr>
        <p:spPr>
          <a:xfrm>
            <a:off x="6738261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69"/>
          </p:nvPr>
        </p:nvSpPr>
        <p:spPr>
          <a:xfrm>
            <a:off x="6595826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0"/>
          </p:nvPr>
        </p:nvSpPr>
        <p:spPr>
          <a:xfrm>
            <a:off x="661773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10" name="Connector 88"/>
          <p:cNvCxnSpPr/>
          <p:nvPr/>
        </p:nvCxnSpPr>
        <p:spPr>
          <a:xfrm>
            <a:off x="4854177" y="537448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36870" y="561553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71"/>
          </p:nvPr>
        </p:nvSpPr>
        <p:spPr>
          <a:xfrm>
            <a:off x="536870" y="561553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113" name="PI 글"/>
          <p:cNvSpPr>
            <a:spLocks noGrp="1"/>
          </p:cNvSpPr>
          <p:nvPr>
            <p:ph type="body" sz="quarter" idx="72"/>
          </p:nvPr>
        </p:nvSpPr>
        <p:spPr>
          <a:xfrm>
            <a:off x="1172348" y="561553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114" name="KPI 칸"/>
          <p:cNvSpPr/>
          <p:nvPr/>
        </p:nvSpPr>
        <p:spPr>
          <a:xfrm>
            <a:off x="3052816" y="561553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태그"/>
          <p:cNvSpPr/>
          <p:nvPr/>
        </p:nvSpPr>
        <p:spPr>
          <a:xfrm>
            <a:off x="3096642" y="567031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6" name="태그"/>
          <p:cNvSpPr>
            <a:spLocks noGrp="1"/>
          </p:cNvSpPr>
          <p:nvPr>
            <p:ph type="body" sz="quarter" idx="73"/>
          </p:nvPr>
        </p:nvSpPr>
        <p:spPr>
          <a:xfrm>
            <a:off x="3096642" y="567031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117" name="KPI 글"/>
          <p:cNvSpPr>
            <a:spLocks noGrp="1"/>
          </p:cNvSpPr>
          <p:nvPr>
            <p:ph type="body" sz="quarter" idx="74"/>
          </p:nvPr>
        </p:nvSpPr>
        <p:spPr>
          <a:xfrm>
            <a:off x="3458614" y="564840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118" name="KPI 결과"/>
          <p:cNvSpPr/>
          <p:nvPr/>
        </p:nvSpPr>
        <p:spPr>
          <a:xfrm>
            <a:off x="3063772" y="600996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9" name="KPI 결과"/>
          <p:cNvSpPr>
            <a:spLocks noGrp="1"/>
          </p:cNvSpPr>
          <p:nvPr>
            <p:ph type="body" sz="quarter" idx="75"/>
          </p:nvPr>
        </p:nvSpPr>
        <p:spPr>
          <a:xfrm>
            <a:off x="3063772" y="600996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120" name="로드맵 칸"/>
          <p:cNvSpPr/>
          <p:nvPr/>
        </p:nvSpPr>
        <p:spPr>
          <a:xfrm>
            <a:off x="4821308" y="561553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단위"/>
          <p:cNvSpPr>
            <a:spLocks noGrp="1"/>
          </p:cNvSpPr>
          <p:nvPr>
            <p:ph type="body" sz="quarter" idx="76"/>
          </p:nvPr>
        </p:nvSpPr>
        <p:spPr>
          <a:xfrm>
            <a:off x="4843221" y="562648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cxnSp>
        <p:nvCxnSpPr>
          <p:cNvPr id="122" name="Connector 97"/>
          <p:cNvCxnSpPr/>
          <p:nvPr/>
        </p:nvCxnSpPr>
        <p:spPr>
          <a:xfrm flipV="1">
            <a:off x="4898003" y="5850000"/>
            <a:ext cx="465543" cy="1380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3" name="Connector 98"/>
          <p:cNvCxnSpPr/>
          <p:nvPr/>
        </p:nvCxnSpPr>
        <p:spPr>
          <a:xfrm flipV="1">
            <a:off x="5363546" y="5834661"/>
            <a:ext cx="465543" cy="153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4" name="Connector 99"/>
          <p:cNvCxnSpPr/>
          <p:nvPr/>
        </p:nvCxnSpPr>
        <p:spPr>
          <a:xfrm>
            <a:off x="5829089" y="5834661"/>
            <a:ext cx="465542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5" name="Connector 100"/>
          <p:cNvCxnSpPr/>
          <p:nvPr/>
        </p:nvCxnSpPr>
        <p:spPr>
          <a:xfrm flipV="1">
            <a:off x="6294631" y="5834661"/>
            <a:ext cx="465543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26" name="점"/>
          <p:cNvSpPr/>
          <p:nvPr/>
        </p:nvSpPr>
        <p:spPr>
          <a:xfrm>
            <a:off x="4876090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7"/>
          </p:nvPr>
        </p:nvSpPr>
        <p:spPr>
          <a:xfrm>
            <a:off x="4733656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8"/>
          </p:nvPr>
        </p:nvSpPr>
        <p:spPr>
          <a:xfrm>
            <a:off x="475556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29" name="점"/>
          <p:cNvSpPr/>
          <p:nvPr/>
        </p:nvSpPr>
        <p:spPr>
          <a:xfrm>
            <a:off x="5341633" y="582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값"/>
          <p:cNvSpPr>
            <a:spLocks noGrp="1"/>
          </p:cNvSpPr>
          <p:nvPr>
            <p:ph type="body" sz="quarter" idx="79"/>
          </p:nvPr>
        </p:nvSpPr>
        <p:spPr>
          <a:xfrm>
            <a:off x="5199198" y="565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연도"/>
          <p:cNvSpPr>
            <a:spLocks noGrp="1"/>
          </p:cNvSpPr>
          <p:nvPr>
            <p:ph type="body" sz="quarter" idx="80"/>
          </p:nvPr>
        </p:nvSpPr>
        <p:spPr>
          <a:xfrm>
            <a:off x="5221111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2" name="점"/>
          <p:cNvSpPr/>
          <p:nvPr/>
        </p:nvSpPr>
        <p:spPr>
          <a:xfrm>
            <a:off x="5807176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값"/>
          <p:cNvSpPr>
            <a:spLocks noGrp="1"/>
          </p:cNvSpPr>
          <p:nvPr>
            <p:ph type="body" sz="quarter" idx="81"/>
          </p:nvPr>
        </p:nvSpPr>
        <p:spPr>
          <a:xfrm>
            <a:off x="5664741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34" name="연도"/>
          <p:cNvSpPr>
            <a:spLocks noGrp="1"/>
          </p:cNvSpPr>
          <p:nvPr>
            <p:ph type="body" sz="quarter" idx="82"/>
          </p:nvPr>
        </p:nvSpPr>
        <p:spPr>
          <a:xfrm>
            <a:off x="5686654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35" name="점"/>
          <p:cNvSpPr/>
          <p:nvPr/>
        </p:nvSpPr>
        <p:spPr>
          <a:xfrm>
            <a:off x="6272718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값"/>
          <p:cNvSpPr>
            <a:spLocks noGrp="1"/>
          </p:cNvSpPr>
          <p:nvPr>
            <p:ph type="body" sz="quarter" idx="83"/>
          </p:nvPr>
        </p:nvSpPr>
        <p:spPr>
          <a:xfrm>
            <a:off x="6130283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7" name="연도"/>
          <p:cNvSpPr>
            <a:spLocks noGrp="1"/>
          </p:cNvSpPr>
          <p:nvPr>
            <p:ph type="body" sz="quarter" idx="84"/>
          </p:nvPr>
        </p:nvSpPr>
        <p:spPr>
          <a:xfrm>
            <a:off x="6152197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38" name="점"/>
          <p:cNvSpPr/>
          <p:nvPr/>
        </p:nvSpPr>
        <p:spPr>
          <a:xfrm>
            <a:off x="6738261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9" name="값"/>
          <p:cNvSpPr>
            <a:spLocks noGrp="1"/>
          </p:cNvSpPr>
          <p:nvPr>
            <p:ph type="body" sz="quarter" idx="85"/>
          </p:nvPr>
        </p:nvSpPr>
        <p:spPr>
          <a:xfrm>
            <a:off x="6595826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40" name="연도"/>
          <p:cNvSpPr>
            <a:spLocks noGrp="1"/>
          </p:cNvSpPr>
          <p:nvPr>
            <p:ph type="body" sz="quarter" idx="86"/>
          </p:nvPr>
        </p:nvSpPr>
        <p:spPr>
          <a:xfrm>
            <a:off x="661773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41" name="Connector 116"/>
          <p:cNvCxnSpPr/>
          <p:nvPr/>
        </p:nvCxnSpPr>
        <p:spPr>
          <a:xfrm>
            <a:off x="4854177" y="6020922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36870" y="626196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87"/>
          </p:nvPr>
        </p:nvSpPr>
        <p:spPr>
          <a:xfrm>
            <a:off x="536870" y="626196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44" name="PI 글"/>
          <p:cNvSpPr>
            <a:spLocks noGrp="1"/>
          </p:cNvSpPr>
          <p:nvPr>
            <p:ph type="body" sz="quarter" idx="88"/>
          </p:nvPr>
        </p:nvSpPr>
        <p:spPr>
          <a:xfrm>
            <a:off x="1172348" y="626196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45" name="KPI 칸"/>
          <p:cNvSpPr/>
          <p:nvPr/>
        </p:nvSpPr>
        <p:spPr>
          <a:xfrm>
            <a:off x="3052816" y="626196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6" name="태그"/>
          <p:cNvSpPr/>
          <p:nvPr/>
        </p:nvSpPr>
        <p:spPr>
          <a:xfrm>
            <a:off x="3096642" y="631674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9"/>
          </p:nvPr>
        </p:nvSpPr>
        <p:spPr>
          <a:xfrm>
            <a:off x="3096642" y="631674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48" name="KPI 글"/>
          <p:cNvSpPr>
            <a:spLocks noGrp="1"/>
          </p:cNvSpPr>
          <p:nvPr>
            <p:ph type="body" sz="quarter" idx="90"/>
          </p:nvPr>
        </p:nvSpPr>
        <p:spPr>
          <a:xfrm>
            <a:off x="3568382" y="629483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49" name="KPI 결과"/>
          <p:cNvSpPr/>
          <p:nvPr/>
        </p:nvSpPr>
        <p:spPr>
          <a:xfrm>
            <a:off x="3063772" y="665640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0" name="KPI 결과"/>
          <p:cNvSpPr>
            <a:spLocks noGrp="1"/>
          </p:cNvSpPr>
          <p:nvPr>
            <p:ph type="body" sz="quarter" idx="91"/>
          </p:nvPr>
        </p:nvSpPr>
        <p:spPr>
          <a:xfrm>
            <a:off x="3063772" y="665640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51" name="로드맵 칸"/>
          <p:cNvSpPr/>
          <p:nvPr/>
        </p:nvSpPr>
        <p:spPr>
          <a:xfrm>
            <a:off x="4821308" y="626196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단위"/>
          <p:cNvSpPr>
            <a:spLocks noGrp="1"/>
          </p:cNvSpPr>
          <p:nvPr>
            <p:ph type="body" sz="quarter" idx="92"/>
          </p:nvPr>
        </p:nvSpPr>
        <p:spPr>
          <a:xfrm>
            <a:off x="4843221" y="627292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cxnSp>
        <p:nvCxnSpPr>
          <p:cNvPr id="153" name="Connector 125"/>
          <p:cNvCxnSpPr/>
          <p:nvPr/>
        </p:nvCxnSpPr>
        <p:spPr>
          <a:xfrm flipV="1">
            <a:off x="4898003" y="6630239"/>
            <a:ext cx="465543" cy="42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4" name="Connector 126"/>
          <p:cNvCxnSpPr/>
          <p:nvPr/>
        </p:nvCxnSpPr>
        <p:spPr>
          <a:xfrm flipV="1">
            <a:off x="5363546" y="6582925"/>
            <a:ext cx="465543" cy="47314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5" name="Connector 127"/>
          <p:cNvCxnSpPr/>
          <p:nvPr/>
        </p:nvCxnSpPr>
        <p:spPr>
          <a:xfrm flipV="1">
            <a:off x="5829089" y="6531908"/>
            <a:ext cx="465542" cy="51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6" name="Connector 128"/>
          <p:cNvCxnSpPr/>
          <p:nvPr/>
        </p:nvCxnSpPr>
        <p:spPr>
          <a:xfrm flipV="1">
            <a:off x="6294631" y="6481096"/>
            <a:ext cx="465543" cy="5081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57" name="점"/>
          <p:cNvSpPr/>
          <p:nvPr/>
        </p:nvSpPr>
        <p:spPr>
          <a:xfrm>
            <a:off x="4876090" y="661257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값"/>
          <p:cNvSpPr>
            <a:spLocks noGrp="1"/>
          </p:cNvSpPr>
          <p:nvPr>
            <p:ph type="body" sz="quarter" idx="93"/>
          </p:nvPr>
        </p:nvSpPr>
        <p:spPr>
          <a:xfrm>
            <a:off x="4733656" y="643727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59" name="연도"/>
          <p:cNvSpPr>
            <a:spLocks noGrp="1"/>
          </p:cNvSpPr>
          <p:nvPr>
            <p:ph type="body" sz="quarter" idx="94"/>
          </p:nvPr>
        </p:nvSpPr>
        <p:spPr>
          <a:xfrm>
            <a:off x="475556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0" name="점"/>
          <p:cNvSpPr/>
          <p:nvPr/>
        </p:nvSpPr>
        <p:spPr>
          <a:xfrm>
            <a:off x="5341633" y="66083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1" name="값"/>
          <p:cNvSpPr>
            <a:spLocks noGrp="1"/>
          </p:cNvSpPr>
          <p:nvPr>
            <p:ph type="body" sz="quarter" idx="95"/>
          </p:nvPr>
        </p:nvSpPr>
        <p:spPr>
          <a:xfrm>
            <a:off x="5199198" y="64330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62" name="연도"/>
          <p:cNvSpPr>
            <a:spLocks noGrp="1"/>
          </p:cNvSpPr>
          <p:nvPr>
            <p:ph type="body" sz="quarter" idx="96"/>
          </p:nvPr>
        </p:nvSpPr>
        <p:spPr>
          <a:xfrm>
            <a:off x="5221111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3" name="점"/>
          <p:cNvSpPr/>
          <p:nvPr/>
        </p:nvSpPr>
        <p:spPr>
          <a:xfrm>
            <a:off x="5807176" y="656101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값"/>
          <p:cNvSpPr>
            <a:spLocks noGrp="1"/>
          </p:cNvSpPr>
          <p:nvPr>
            <p:ph type="body" sz="quarter" idx="97"/>
          </p:nvPr>
        </p:nvSpPr>
        <p:spPr>
          <a:xfrm>
            <a:off x="5664741" y="638570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65" name="연도"/>
          <p:cNvSpPr>
            <a:spLocks noGrp="1"/>
          </p:cNvSpPr>
          <p:nvPr>
            <p:ph type="body" sz="quarter" idx="98"/>
          </p:nvPr>
        </p:nvSpPr>
        <p:spPr>
          <a:xfrm>
            <a:off x="5686654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6" name="점"/>
          <p:cNvSpPr/>
          <p:nvPr/>
        </p:nvSpPr>
        <p:spPr>
          <a:xfrm>
            <a:off x="6272718" y="650999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값"/>
          <p:cNvSpPr>
            <a:spLocks noGrp="1"/>
          </p:cNvSpPr>
          <p:nvPr>
            <p:ph type="body" sz="quarter" idx="99"/>
          </p:nvPr>
        </p:nvSpPr>
        <p:spPr>
          <a:xfrm>
            <a:off x="6130283" y="63346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68" name="연도"/>
          <p:cNvSpPr>
            <a:spLocks noGrp="1"/>
          </p:cNvSpPr>
          <p:nvPr>
            <p:ph type="body" sz="quarter" idx="100"/>
          </p:nvPr>
        </p:nvSpPr>
        <p:spPr>
          <a:xfrm>
            <a:off x="6152197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69" name="점"/>
          <p:cNvSpPr/>
          <p:nvPr/>
        </p:nvSpPr>
        <p:spPr>
          <a:xfrm>
            <a:off x="6738261" y="64591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0" name="값"/>
          <p:cNvSpPr>
            <a:spLocks noGrp="1"/>
          </p:cNvSpPr>
          <p:nvPr>
            <p:ph type="body" sz="quarter" idx="101"/>
          </p:nvPr>
        </p:nvSpPr>
        <p:spPr>
          <a:xfrm>
            <a:off x="6595826" y="628387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71" name="연도"/>
          <p:cNvSpPr>
            <a:spLocks noGrp="1"/>
          </p:cNvSpPr>
          <p:nvPr>
            <p:ph type="body" sz="quarter" idx="102"/>
          </p:nvPr>
        </p:nvSpPr>
        <p:spPr>
          <a:xfrm>
            <a:off x="661773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72" name="Connector 144"/>
          <p:cNvCxnSpPr/>
          <p:nvPr/>
        </p:nvCxnSpPr>
        <p:spPr>
          <a:xfrm>
            <a:off x="4854177" y="666735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3" name="레일"/>
          <p:cNvSpPr/>
          <p:nvPr/>
        </p:nvSpPr>
        <p:spPr>
          <a:xfrm>
            <a:off x="536870" y="69084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4" name="레일"/>
          <p:cNvSpPr>
            <a:spLocks noGrp="1"/>
          </p:cNvSpPr>
          <p:nvPr>
            <p:ph type="body" sz="quarter" idx="103"/>
          </p:nvPr>
        </p:nvSpPr>
        <p:spPr>
          <a:xfrm>
            <a:off x="536870" y="69084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04"/>
          </p:nvPr>
        </p:nvSpPr>
        <p:spPr>
          <a:xfrm>
            <a:off x="1172348" y="69084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76" name="KPI 칸"/>
          <p:cNvSpPr/>
          <p:nvPr/>
        </p:nvSpPr>
        <p:spPr>
          <a:xfrm>
            <a:off x="3052816" y="69084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7" name="태그"/>
          <p:cNvSpPr/>
          <p:nvPr/>
        </p:nvSpPr>
        <p:spPr>
          <a:xfrm>
            <a:off x="3096642" y="6963183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8" name="태그"/>
          <p:cNvSpPr>
            <a:spLocks noGrp="1"/>
          </p:cNvSpPr>
          <p:nvPr>
            <p:ph type="body" sz="quarter" idx="105"/>
          </p:nvPr>
        </p:nvSpPr>
        <p:spPr>
          <a:xfrm>
            <a:off x="3096642" y="6963183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79" name="KPI 글"/>
          <p:cNvSpPr>
            <a:spLocks noGrp="1"/>
          </p:cNvSpPr>
          <p:nvPr>
            <p:ph type="body" sz="quarter" idx="106"/>
          </p:nvPr>
        </p:nvSpPr>
        <p:spPr>
          <a:xfrm>
            <a:off x="3568382" y="6941270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80" name="KPI 결과"/>
          <p:cNvSpPr/>
          <p:nvPr/>
        </p:nvSpPr>
        <p:spPr>
          <a:xfrm>
            <a:off x="3063772" y="73028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1" name="KPI 결과"/>
          <p:cNvSpPr>
            <a:spLocks noGrp="1"/>
          </p:cNvSpPr>
          <p:nvPr>
            <p:ph type="body" sz="quarter" idx="107"/>
          </p:nvPr>
        </p:nvSpPr>
        <p:spPr>
          <a:xfrm>
            <a:off x="3063772" y="73028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82" name="로드맵 칸"/>
          <p:cNvSpPr/>
          <p:nvPr/>
        </p:nvSpPr>
        <p:spPr>
          <a:xfrm>
            <a:off x="4821308" y="69084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3" name="단위"/>
          <p:cNvSpPr>
            <a:spLocks noGrp="1"/>
          </p:cNvSpPr>
          <p:nvPr>
            <p:ph type="body" sz="quarter" idx="108"/>
          </p:nvPr>
        </p:nvSpPr>
        <p:spPr>
          <a:xfrm>
            <a:off x="4843221" y="69193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184" name="Connector 153"/>
          <p:cNvCxnSpPr/>
          <p:nvPr/>
        </p:nvCxnSpPr>
        <p:spPr>
          <a:xfrm flipV="1">
            <a:off x="4898003" y="7250243"/>
            <a:ext cx="465543" cy="3067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5" name="Connector 154"/>
          <p:cNvCxnSpPr/>
          <p:nvPr/>
        </p:nvCxnSpPr>
        <p:spPr>
          <a:xfrm flipV="1">
            <a:off x="5363546" y="7219565"/>
            <a:ext cx="465543" cy="3067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6" name="Connector 155"/>
          <p:cNvCxnSpPr/>
          <p:nvPr/>
        </p:nvCxnSpPr>
        <p:spPr>
          <a:xfrm flipV="1">
            <a:off x="5829089" y="7173548"/>
            <a:ext cx="465542" cy="46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7" name="Connector 156"/>
          <p:cNvCxnSpPr/>
          <p:nvPr/>
        </p:nvCxnSpPr>
        <p:spPr>
          <a:xfrm flipV="1">
            <a:off x="6294631" y="7127530"/>
            <a:ext cx="465543" cy="4601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88" name="점"/>
          <p:cNvSpPr/>
          <p:nvPr/>
        </p:nvSpPr>
        <p:spPr>
          <a:xfrm>
            <a:off x="4876090" y="7259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9" name="값"/>
          <p:cNvSpPr>
            <a:spLocks noGrp="1"/>
          </p:cNvSpPr>
          <p:nvPr>
            <p:ph type="body" sz="quarter" idx="109"/>
          </p:nvPr>
        </p:nvSpPr>
        <p:spPr>
          <a:xfrm>
            <a:off x="4733656" y="7083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90" name="연도"/>
          <p:cNvSpPr>
            <a:spLocks noGrp="1"/>
          </p:cNvSpPr>
          <p:nvPr>
            <p:ph type="body" sz="quarter" idx="110"/>
          </p:nvPr>
        </p:nvSpPr>
        <p:spPr>
          <a:xfrm>
            <a:off x="475556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1" name="점"/>
          <p:cNvSpPr/>
          <p:nvPr/>
        </p:nvSpPr>
        <p:spPr>
          <a:xfrm>
            <a:off x="5341633" y="72283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2" name="값"/>
          <p:cNvSpPr>
            <a:spLocks noGrp="1"/>
          </p:cNvSpPr>
          <p:nvPr>
            <p:ph type="body" sz="quarter" idx="111"/>
          </p:nvPr>
        </p:nvSpPr>
        <p:spPr>
          <a:xfrm>
            <a:off x="5199198" y="70530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93" name="연도"/>
          <p:cNvSpPr>
            <a:spLocks noGrp="1"/>
          </p:cNvSpPr>
          <p:nvPr>
            <p:ph type="body" sz="quarter" idx="112"/>
          </p:nvPr>
        </p:nvSpPr>
        <p:spPr>
          <a:xfrm>
            <a:off x="5221111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4" name="점"/>
          <p:cNvSpPr/>
          <p:nvPr/>
        </p:nvSpPr>
        <p:spPr>
          <a:xfrm>
            <a:off x="5807176" y="7197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5" name="값"/>
          <p:cNvSpPr>
            <a:spLocks noGrp="1"/>
          </p:cNvSpPr>
          <p:nvPr>
            <p:ph type="body" sz="quarter" idx="113"/>
          </p:nvPr>
        </p:nvSpPr>
        <p:spPr>
          <a:xfrm>
            <a:off x="5664741" y="7022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96" name="연도"/>
          <p:cNvSpPr>
            <a:spLocks noGrp="1"/>
          </p:cNvSpPr>
          <p:nvPr>
            <p:ph type="body" sz="quarter" idx="114"/>
          </p:nvPr>
        </p:nvSpPr>
        <p:spPr>
          <a:xfrm>
            <a:off x="5686654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7" name="점"/>
          <p:cNvSpPr/>
          <p:nvPr/>
        </p:nvSpPr>
        <p:spPr>
          <a:xfrm>
            <a:off x="6272718" y="71516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8" name="값"/>
          <p:cNvSpPr>
            <a:spLocks noGrp="1"/>
          </p:cNvSpPr>
          <p:nvPr>
            <p:ph type="body" sz="quarter" idx="115"/>
          </p:nvPr>
        </p:nvSpPr>
        <p:spPr>
          <a:xfrm>
            <a:off x="6130283" y="697633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99" name="연도"/>
          <p:cNvSpPr>
            <a:spLocks noGrp="1"/>
          </p:cNvSpPr>
          <p:nvPr>
            <p:ph type="body" sz="quarter" idx="116"/>
          </p:nvPr>
        </p:nvSpPr>
        <p:spPr>
          <a:xfrm>
            <a:off x="6152197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00" name="점"/>
          <p:cNvSpPr/>
          <p:nvPr/>
        </p:nvSpPr>
        <p:spPr>
          <a:xfrm>
            <a:off x="6738261" y="71056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1" name="값"/>
          <p:cNvSpPr>
            <a:spLocks noGrp="1"/>
          </p:cNvSpPr>
          <p:nvPr>
            <p:ph type="body" sz="quarter" idx="117"/>
          </p:nvPr>
        </p:nvSpPr>
        <p:spPr>
          <a:xfrm>
            <a:off x="6595826" y="69303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02" name="연도"/>
          <p:cNvSpPr>
            <a:spLocks noGrp="1"/>
          </p:cNvSpPr>
          <p:nvPr>
            <p:ph type="body" sz="quarter" idx="118"/>
          </p:nvPr>
        </p:nvSpPr>
        <p:spPr>
          <a:xfrm>
            <a:off x="661773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03" name="Connector 172"/>
          <p:cNvCxnSpPr/>
          <p:nvPr/>
        </p:nvCxnSpPr>
        <p:spPr>
          <a:xfrm>
            <a:off x="4854177" y="73137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204" name="레일"/>
          <p:cNvSpPr/>
          <p:nvPr/>
        </p:nvSpPr>
        <p:spPr>
          <a:xfrm>
            <a:off x="536870" y="75548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5" name="레일"/>
          <p:cNvSpPr>
            <a:spLocks noGrp="1"/>
          </p:cNvSpPr>
          <p:nvPr>
            <p:ph type="body" sz="quarter" idx="119"/>
          </p:nvPr>
        </p:nvSpPr>
        <p:spPr>
          <a:xfrm>
            <a:off x="536870" y="75548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206" name="PI 글"/>
          <p:cNvSpPr>
            <a:spLocks noGrp="1"/>
          </p:cNvSpPr>
          <p:nvPr>
            <p:ph type="body" sz="quarter" idx="120"/>
          </p:nvPr>
        </p:nvSpPr>
        <p:spPr>
          <a:xfrm>
            <a:off x="1172348" y="75548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207" name="KPI 칸"/>
          <p:cNvSpPr/>
          <p:nvPr/>
        </p:nvSpPr>
        <p:spPr>
          <a:xfrm>
            <a:off x="3052816" y="75548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8" name="태그"/>
          <p:cNvSpPr/>
          <p:nvPr/>
        </p:nvSpPr>
        <p:spPr>
          <a:xfrm>
            <a:off x="3096642" y="7609617"/>
            <a:ext cx="548640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9" name="태그"/>
          <p:cNvSpPr>
            <a:spLocks noGrp="1"/>
          </p:cNvSpPr>
          <p:nvPr>
            <p:ph type="body" sz="quarter" idx="121"/>
          </p:nvPr>
        </p:nvSpPr>
        <p:spPr>
          <a:xfrm>
            <a:off x="3096642" y="7609617"/>
            <a:ext cx="548640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210" name="KPI 글"/>
          <p:cNvSpPr>
            <a:spLocks noGrp="1"/>
          </p:cNvSpPr>
          <p:nvPr>
            <p:ph type="body" sz="quarter" idx="122"/>
          </p:nvPr>
        </p:nvSpPr>
        <p:spPr>
          <a:xfrm>
            <a:off x="3678151" y="7587704"/>
            <a:ext cx="1077418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211" name="KPI 결과"/>
          <p:cNvSpPr/>
          <p:nvPr/>
        </p:nvSpPr>
        <p:spPr>
          <a:xfrm>
            <a:off x="3063772" y="79492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12" name="KPI 결과"/>
          <p:cNvSpPr>
            <a:spLocks noGrp="1"/>
          </p:cNvSpPr>
          <p:nvPr>
            <p:ph type="body" sz="quarter" idx="123"/>
          </p:nvPr>
        </p:nvSpPr>
        <p:spPr>
          <a:xfrm>
            <a:off x="3063772" y="79492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213" name="로드맵 칸"/>
          <p:cNvSpPr/>
          <p:nvPr/>
        </p:nvSpPr>
        <p:spPr>
          <a:xfrm>
            <a:off x="4821308" y="75548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4" name="단위"/>
          <p:cNvSpPr>
            <a:spLocks noGrp="1"/>
          </p:cNvSpPr>
          <p:nvPr>
            <p:ph type="body" sz="quarter" idx="124"/>
          </p:nvPr>
        </p:nvSpPr>
        <p:spPr>
          <a:xfrm>
            <a:off x="4843221" y="75657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cxnSp>
        <p:nvCxnSpPr>
          <p:cNvPr id="215" name="Connector 181"/>
          <p:cNvCxnSpPr/>
          <p:nvPr/>
        </p:nvCxnSpPr>
        <p:spPr>
          <a:xfrm>
            <a:off x="4898003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6" name="Connector 182"/>
          <p:cNvCxnSpPr/>
          <p:nvPr/>
        </p:nvCxnSpPr>
        <p:spPr>
          <a:xfrm>
            <a:off x="5363546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7" name="Connector 183"/>
          <p:cNvCxnSpPr/>
          <p:nvPr/>
        </p:nvCxnSpPr>
        <p:spPr>
          <a:xfrm>
            <a:off x="5829089" y="7850661"/>
            <a:ext cx="465542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8" name="Connector 184"/>
          <p:cNvCxnSpPr/>
          <p:nvPr/>
        </p:nvCxnSpPr>
        <p:spPr>
          <a:xfrm>
            <a:off x="6294631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219" name="점"/>
          <p:cNvSpPr/>
          <p:nvPr/>
        </p:nvSpPr>
        <p:spPr>
          <a:xfrm>
            <a:off x="4876090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0" name="값"/>
          <p:cNvSpPr>
            <a:spLocks noGrp="1"/>
          </p:cNvSpPr>
          <p:nvPr>
            <p:ph type="body" sz="quarter" idx="125"/>
          </p:nvPr>
        </p:nvSpPr>
        <p:spPr>
          <a:xfrm>
            <a:off x="473365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1" name="연도"/>
          <p:cNvSpPr>
            <a:spLocks noGrp="1"/>
          </p:cNvSpPr>
          <p:nvPr>
            <p:ph type="body" sz="quarter" idx="126"/>
          </p:nvPr>
        </p:nvSpPr>
        <p:spPr>
          <a:xfrm>
            <a:off x="475556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222" name="점"/>
          <p:cNvSpPr/>
          <p:nvPr/>
        </p:nvSpPr>
        <p:spPr>
          <a:xfrm>
            <a:off x="5341633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3" name="값"/>
          <p:cNvSpPr>
            <a:spLocks noGrp="1"/>
          </p:cNvSpPr>
          <p:nvPr>
            <p:ph type="body" sz="quarter" idx="127"/>
          </p:nvPr>
        </p:nvSpPr>
        <p:spPr>
          <a:xfrm>
            <a:off x="5199198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4" name="연도"/>
          <p:cNvSpPr>
            <a:spLocks noGrp="1"/>
          </p:cNvSpPr>
          <p:nvPr>
            <p:ph type="body" sz="quarter" idx="128"/>
          </p:nvPr>
        </p:nvSpPr>
        <p:spPr>
          <a:xfrm>
            <a:off x="5221111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225" name="점"/>
          <p:cNvSpPr/>
          <p:nvPr/>
        </p:nvSpPr>
        <p:spPr>
          <a:xfrm>
            <a:off x="5807176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6" name="값"/>
          <p:cNvSpPr>
            <a:spLocks noGrp="1"/>
          </p:cNvSpPr>
          <p:nvPr>
            <p:ph type="body" sz="quarter" idx="129"/>
          </p:nvPr>
        </p:nvSpPr>
        <p:spPr>
          <a:xfrm>
            <a:off x="5664741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7" name="연도"/>
          <p:cNvSpPr>
            <a:spLocks noGrp="1"/>
          </p:cNvSpPr>
          <p:nvPr>
            <p:ph type="body" sz="quarter" idx="130"/>
          </p:nvPr>
        </p:nvSpPr>
        <p:spPr>
          <a:xfrm>
            <a:off x="5686654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228" name="점"/>
          <p:cNvSpPr/>
          <p:nvPr/>
        </p:nvSpPr>
        <p:spPr>
          <a:xfrm>
            <a:off x="6272718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9" name="값"/>
          <p:cNvSpPr>
            <a:spLocks noGrp="1"/>
          </p:cNvSpPr>
          <p:nvPr>
            <p:ph type="body" sz="quarter" idx="131"/>
          </p:nvPr>
        </p:nvSpPr>
        <p:spPr>
          <a:xfrm>
            <a:off x="6130283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0" name="연도"/>
          <p:cNvSpPr>
            <a:spLocks noGrp="1"/>
          </p:cNvSpPr>
          <p:nvPr>
            <p:ph type="body" sz="quarter" idx="132"/>
          </p:nvPr>
        </p:nvSpPr>
        <p:spPr>
          <a:xfrm>
            <a:off x="6152197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31" name="점"/>
          <p:cNvSpPr/>
          <p:nvPr/>
        </p:nvSpPr>
        <p:spPr>
          <a:xfrm>
            <a:off x="6738261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2" name="값"/>
          <p:cNvSpPr>
            <a:spLocks noGrp="1"/>
          </p:cNvSpPr>
          <p:nvPr>
            <p:ph type="body" sz="quarter" idx="133"/>
          </p:nvPr>
        </p:nvSpPr>
        <p:spPr>
          <a:xfrm>
            <a:off x="659582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3" name="연도"/>
          <p:cNvSpPr>
            <a:spLocks noGrp="1"/>
          </p:cNvSpPr>
          <p:nvPr>
            <p:ph type="body" sz="quarter" idx="134"/>
          </p:nvPr>
        </p:nvSpPr>
        <p:spPr>
          <a:xfrm>
            <a:off x="661773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34" name="Connector 200"/>
          <p:cNvCxnSpPr/>
          <p:nvPr/>
        </p:nvCxnSpPr>
        <p:spPr>
          <a:xfrm>
            <a:off x="4854177" y="79602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이행체계 → 이행관리 → 성과환류 → 선순환 환류 성과(분야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80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04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402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6873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02261"/>
            <a:ext cx="580696" cy="1101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202261"/>
            <a:ext cx="580696" cy="1101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0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34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4171696" y="2509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319826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319826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31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347652" y="3341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3341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334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3626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캡션 띠"/>
          <p:cNvSpPr/>
          <p:nvPr/>
        </p:nvSpPr>
        <p:spPr>
          <a:xfrm>
            <a:off x="723130" y="4130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캡션"/>
          <p:cNvSpPr>
            <a:spLocks noGrp="1"/>
          </p:cNvSpPr>
          <p:nvPr>
            <p:ph type="body" sz="quarter" idx="39"/>
          </p:nvPr>
        </p:nvSpPr>
        <p:spPr>
          <a:xfrm>
            <a:off x="942261" y="413060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53" name="표 외곽"/>
          <p:cNvSpPr/>
          <p:nvPr/>
        </p:nvSpPr>
        <p:spPr>
          <a:xfrm>
            <a:off x="723130" y="4437391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"/>
          <p:cNvSpPr/>
          <p:nvPr/>
        </p:nvSpPr>
        <p:spPr>
          <a:xfrm>
            <a:off x="734087" y="4453826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4453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75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57" name="사진 칸"/>
          <p:cNvSpPr/>
          <p:nvPr/>
        </p:nvSpPr>
        <p:spPr>
          <a:xfrm>
            <a:off x="5916522" y="4481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8" name="사진 칸"/>
          <p:cNvSpPr>
            <a:spLocks noGrp="1"/>
          </p:cNvSpPr>
          <p:nvPr>
            <p:ph type="body" sz="quarter" idx="42"/>
          </p:nvPr>
        </p:nvSpPr>
        <p:spPr>
          <a:xfrm>
            <a:off x="5916522" y="4481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59" name="레일"/>
          <p:cNvSpPr/>
          <p:nvPr/>
        </p:nvSpPr>
        <p:spPr>
          <a:xfrm>
            <a:off x="734087" y="4957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957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495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979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63" name="사진 칸"/>
          <p:cNvSpPr/>
          <p:nvPr/>
        </p:nvSpPr>
        <p:spPr>
          <a:xfrm>
            <a:off x="5916522" y="4985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사진 칸"/>
          <p:cNvSpPr>
            <a:spLocks noGrp="1"/>
          </p:cNvSpPr>
          <p:nvPr>
            <p:ph type="body" sz="quarter" idx="45"/>
          </p:nvPr>
        </p:nvSpPr>
        <p:spPr>
          <a:xfrm>
            <a:off x="5916522" y="4985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65" name="레일"/>
          <p:cNvSpPr/>
          <p:nvPr/>
        </p:nvSpPr>
        <p:spPr>
          <a:xfrm>
            <a:off x="734087" y="5461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461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5483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68" name="사진 칸"/>
          <p:cNvSpPr/>
          <p:nvPr/>
        </p:nvSpPr>
        <p:spPr>
          <a:xfrm>
            <a:off x="5916522" y="5489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9" name="사진 칸"/>
          <p:cNvSpPr>
            <a:spLocks noGrp="1"/>
          </p:cNvSpPr>
          <p:nvPr>
            <p:ph type="body" sz="quarter" idx="48"/>
          </p:nvPr>
        </p:nvSpPr>
        <p:spPr>
          <a:xfrm>
            <a:off x="5916522" y="5489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70" name="레일"/>
          <p:cNvSpPr/>
          <p:nvPr/>
        </p:nvSpPr>
        <p:spPr>
          <a:xfrm>
            <a:off x="734087" y="5965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5965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96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5987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74" name="사진 칸"/>
          <p:cNvSpPr/>
          <p:nvPr/>
        </p:nvSpPr>
        <p:spPr>
          <a:xfrm>
            <a:off x="5916522" y="5993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51"/>
          </p:nvPr>
        </p:nvSpPr>
        <p:spPr>
          <a:xfrm>
            <a:off x="5916522" y="5993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76" name="레일"/>
          <p:cNvSpPr/>
          <p:nvPr/>
        </p:nvSpPr>
        <p:spPr>
          <a:xfrm>
            <a:off x="734087" y="6521948"/>
            <a:ext cx="580696" cy="487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6521948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6543861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79" name="사진 칸"/>
          <p:cNvSpPr/>
          <p:nvPr/>
        </p:nvSpPr>
        <p:spPr>
          <a:xfrm>
            <a:off x="5916522" y="6549339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4"/>
          </p:nvPr>
        </p:nvSpPr>
        <p:spPr>
          <a:xfrm>
            <a:off x="5916522" y="6549339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추진배경 → 방향설정 → 3대 분야 10대 과제 → 특화 조직 · 플랫폼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56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1112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38035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838035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8"/>
          </p:nvPr>
        </p:nvSpPr>
        <p:spPr>
          <a:xfrm>
            <a:off x="2197893" y="1827078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35252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035252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97893" y="2024296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32" name="태그"/>
          <p:cNvSpPr/>
          <p:nvPr/>
        </p:nvSpPr>
        <p:spPr>
          <a:xfrm>
            <a:off x="1161391" y="2232470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232470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2197893" y="2221513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35" name="배너"/>
          <p:cNvSpPr/>
          <p:nvPr/>
        </p:nvSpPr>
        <p:spPr>
          <a:xfrm>
            <a:off x="1161391" y="2446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446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37" name="배너"/>
          <p:cNvSpPr/>
          <p:nvPr/>
        </p:nvSpPr>
        <p:spPr>
          <a:xfrm>
            <a:off x="536870" y="274194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8" name="Connector 26"/>
          <p:cNvCxnSpPr/>
          <p:nvPr/>
        </p:nvCxnSpPr>
        <p:spPr>
          <a:xfrm>
            <a:off x="536870" y="274194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9" name="배너 글"/>
          <p:cNvSpPr>
            <a:spLocks noGrp="1"/>
          </p:cNvSpPr>
          <p:nvPr>
            <p:ph type="body" sz="quarter" idx="34"/>
          </p:nvPr>
        </p:nvSpPr>
        <p:spPr>
          <a:xfrm>
            <a:off x="536870" y="2796730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40" name="표 외곽"/>
          <p:cNvSpPr/>
          <p:nvPr/>
        </p:nvSpPr>
        <p:spPr>
          <a:xfrm>
            <a:off x="536870" y="3114470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547826" y="3130904"/>
            <a:ext cx="580696" cy="123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30904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머리칸"/>
          <p:cNvSpPr/>
          <p:nvPr/>
        </p:nvSpPr>
        <p:spPr>
          <a:xfrm>
            <a:off x="1161391" y="3152817"/>
            <a:ext cx="23092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1161391" y="3152817"/>
            <a:ext cx="23092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45" name="머리칸"/>
          <p:cNvSpPr/>
          <p:nvPr/>
        </p:nvSpPr>
        <p:spPr>
          <a:xfrm>
            <a:off x="3487074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3487074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47" name="머리칸"/>
          <p:cNvSpPr/>
          <p:nvPr/>
        </p:nvSpPr>
        <p:spPr>
          <a:xfrm>
            <a:off x="5148276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5148276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93861"/>
            <a:ext cx="230377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498031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3487074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59233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5148276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379948"/>
            <a:ext cx="580696" cy="136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4379948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547826" y="4379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머리칸"/>
          <p:cNvSpPr/>
          <p:nvPr/>
        </p:nvSpPr>
        <p:spPr>
          <a:xfrm>
            <a:off x="1161391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59" name="머리칸"/>
          <p:cNvSpPr/>
          <p:nvPr/>
        </p:nvSpPr>
        <p:spPr>
          <a:xfrm>
            <a:off x="3985435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3985435" y="4675774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5760470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760470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547826" y="5760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1161391" y="580429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80429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5793339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70" name="태그"/>
          <p:cNvSpPr/>
          <p:nvPr/>
        </p:nvSpPr>
        <p:spPr>
          <a:xfrm>
            <a:off x="1161391" y="600151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60015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72" name="태그 설명"/>
          <p:cNvSpPr>
            <a:spLocks noGrp="1"/>
          </p:cNvSpPr>
          <p:nvPr>
            <p:ph type="body" sz="quarter" idx="51"/>
          </p:nvPr>
        </p:nvSpPr>
        <p:spPr>
          <a:xfrm>
            <a:off x="1786727" y="59905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73" name="태그"/>
          <p:cNvSpPr/>
          <p:nvPr/>
        </p:nvSpPr>
        <p:spPr>
          <a:xfrm>
            <a:off x="1161391" y="619873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98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53"/>
          </p:nvPr>
        </p:nvSpPr>
        <p:spPr>
          <a:xfrm>
            <a:off x="1786727" y="6187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76" name="행 틀"/>
          <p:cNvSpPr/>
          <p:nvPr/>
        </p:nvSpPr>
        <p:spPr>
          <a:xfrm>
            <a:off x="536870" y="6483600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547826" y="6494557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494557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사진 칸"/>
          <p:cNvSpPr/>
          <p:nvPr/>
        </p:nvSpPr>
        <p:spPr>
          <a:xfrm>
            <a:off x="1172348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5"/>
          </p:nvPr>
        </p:nvSpPr>
        <p:spPr>
          <a:xfrm>
            <a:off x="1172348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1" name="카드 제목"/>
          <p:cNvSpPr>
            <a:spLocks noGrp="1"/>
          </p:cNvSpPr>
          <p:nvPr>
            <p:ph type="body" sz="quarter" idx="56"/>
          </p:nvPr>
        </p:nvSpPr>
        <p:spPr>
          <a:xfrm>
            <a:off x="1172348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82" name="카드 설명"/>
          <p:cNvSpPr>
            <a:spLocks noGrp="1"/>
          </p:cNvSpPr>
          <p:nvPr>
            <p:ph type="body" sz="quarter" idx="57"/>
          </p:nvPr>
        </p:nvSpPr>
        <p:spPr>
          <a:xfrm>
            <a:off x="1172348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83" name="사진 칸"/>
          <p:cNvSpPr/>
          <p:nvPr/>
        </p:nvSpPr>
        <p:spPr>
          <a:xfrm>
            <a:off x="2303061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4" name="사진 칸"/>
          <p:cNvSpPr>
            <a:spLocks noGrp="1"/>
          </p:cNvSpPr>
          <p:nvPr>
            <p:ph type="body" sz="quarter" idx="58"/>
          </p:nvPr>
        </p:nvSpPr>
        <p:spPr>
          <a:xfrm>
            <a:off x="2303061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59"/>
          </p:nvPr>
        </p:nvSpPr>
        <p:spPr>
          <a:xfrm>
            <a:off x="2303061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86" name="카드 설명"/>
          <p:cNvSpPr>
            <a:spLocks noGrp="1"/>
          </p:cNvSpPr>
          <p:nvPr>
            <p:ph type="body" sz="quarter" idx="60"/>
          </p:nvPr>
        </p:nvSpPr>
        <p:spPr>
          <a:xfrm>
            <a:off x="2303061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87" name="사진 칸"/>
          <p:cNvSpPr/>
          <p:nvPr/>
        </p:nvSpPr>
        <p:spPr>
          <a:xfrm>
            <a:off x="3433774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8" name="사진 칸"/>
          <p:cNvSpPr>
            <a:spLocks noGrp="1"/>
          </p:cNvSpPr>
          <p:nvPr>
            <p:ph type="body" sz="quarter" idx="61"/>
          </p:nvPr>
        </p:nvSpPr>
        <p:spPr>
          <a:xfrm>
            <a:off x="3433774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9" name="카드 제목"/>
          <p:cNvSpPr>
            <a:spLocks noGrp="1"/>
          </p:cNvSpPr>
          <p:nvPr>
            <p:ph type="body" sz="quarter" idx="62"/>
          </p:nvPr>
        </p:nvSpPr>
        <p:spPr>
          <a:xfrm>
            <a:off x="3433774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90" name="카드 설명"/>
          <p:cNvSpPr>
            <a:spLocks noGrp="1"/>
          </p:cNvSpPr>
          <p:nvPr>
            <p:ph type="body" sz="quarter" idx="63"/>
          </p:nvPr>
        </p:nvSpPr>
        <p:spPr>
          <a:xfrm>
            <a:off x="3433774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91" name="사진 칸"/>
          <p:cNvSpPr/>
          <p:nvPr/>
        </p:nvSpPr>
        <p:spPr>
          <a:xfrm>
            <a:off x="4564487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2" name="사진 칸"/>
          <p:cNvSpPr>
            <a:spLocks noGrp="1"/>
          </p:cNvSpPr>
          <p:nvPr>
            <p:ph type="body" sz="quarter" idx="64"/>
          </p:nvPr>
        </p:nvSpPr>
        <p:spPr>
          <a:xfrm>
            <a:off x="4564487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3" name="카드 제목"/>
          <p:cNvSpPr>
            <a:spLocks noGrp="1"/>
          </p:cNvSpPr>
          <p:nvPr>
            <p:ph type="body" sz="quarter" idx="65"/>
          </p:nvPr>
        </p:nvSpPr>
        <p:spPr>
          <a:xfrm>
            <a:off x="4564487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94" name="카드 설명"/>
          <p:cNvSpPr>
            <a:spLocks noGrp="1"/>
          </p:cNvSpPr>
          <p:nvPr>
            <p:ph type="body" sz="quarter" idx="66"/>
          </p:nvPr>
        </p:nvSpPr>
        <p:spPr>
          <a:xfrm>
            <a:off x="4564487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95" name="사진 칸"/>
          <p:cNvSpPr/>
          <p:nvPr/>
        </p:nvSpPr>
        <p:spPr>
          <a:xfrm>
            <a:off x="5695200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사진 칸"/>
          <p:cNvSpPr>
            <a:spLocks noGrp="1"/>
          </p:cNvSpPr>
          <p:nvPr>
            <p:ph type="body" sz="quarter" idx="67"/>
          </p:nvPr>
        </p:nvSpPr>
        <p:spPr>
          <a:xfrm>
            <a:off x="5695200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7" name="카드 제목"/>
          <p:cNvSpPr>
            <a:spLocks noGrp="1"/>
          </p:cNvSpPr>
          <p:nvPr>
            <p:ph type="body" sz="quarter" idx="68"/>
          </p:nvPr>
        </p:nvSpPr>
        <p:spPr>
          <a:xfrm>
            <a:off x="5695200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98" name="카드 설명"/>
          <p:cNvSpPr>
            <a:spLocks noGrp="1"/>
          </p:cNvSpPr>
          <p:nvPr>
            <p:ph type="body" sz="quarter" idx="69"/>
          </p:nvPr>
        </p:nvSpPr>
        <p:spPr>
          <a:xfrm>
            <a:off x="5695200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적극행정 혁신(추진배경 → 참여자 니즈 → 국민의 문제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106738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10673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208577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2085776" y="1205217"/>
            <a:ext cx="493735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519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38519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34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2939165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39165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2939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2961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2961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2961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2961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2961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주요성과 박스"/>
          <p:cNvSpPr/>
          <p:nvPr/>
        </p:nvSpPr>
        <p:spPr>
          <a:xfrm>
            <a:off x="723130" y="3914296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주요성과 라벨"/>
          <p:cNvSpPr/>
          <p:nvPr/>
        </p:nvSpPr>
        <p:spPr>
          <a:xfrm>
            <a:off x="756000" y="394716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94716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2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93073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신 공공서비스(추진배경 → 하천 러닝코스 → 댐 관광 스펙트럼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41084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5" name="태그칩"/>
          <p:cNvSpPr/>
          <p:nvPr/>
        </p:nvSpPr>
        <p:spPr>
          <a:xfrm>
            <a:off x="585117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85117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6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238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1843513"/>
            <a:ext cx="580696" cy="865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주요성과 박스"/>
          <p:cNvSpPr/>
          <p:nvPr/>
        </p:nvSpPr>
        <p:spPr>
          <a:xfrm>
            <a:off x="536870" y="2824122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주요성과 라벨"/>
          <p:cNvSpPr/>
          <p:nvPr/>
        </p:nvSpPr>
        <p:spPr>
          <a:xfrm>
            <a:off x="569739" y="285699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주요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85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4" name="주요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840557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392296"/>
            <a:ext cx="6300000" cy="149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408730"/>
            <a:ext cx="580696" cy="145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 태그"/>
          <p:cNvSpPr/>
          <p:nvPr/>
        </p:nvSpPr>
        <p:spPr>
          <a:xfrm>
            <a:off x="598624" y="3452557"/>
            <a:ext cx="47909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레일 태그"/>
          <p:cNvSpPr>
            <a:spLocks noGrp="1"/>
          </p:cNvSpPr>
          <p:nvPr>
            <p:ph type="body" sz="quarter" idx="37"/>
          </p:nvPr>
        </p:nvSpPr>
        <p:spPr>
          <a:xfrm>
            <a:off x="598624" y="3452557"/>
            <a:ext cx="47909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638817"/>
            <a:ext cx="580696" cy="12052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50" name="단계"/>
          <p:cNvSpPr/>
          <p:nvPr/>
        </p:nvSpPr>
        <p:spPr>
          <a:xfrm>
            <a:off x="1161391" y="3430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52" name="단계"/>
          <p:cNvSpPr/>
          <p:nvPr/>
        </p:nvSpPr>
        <p:spPr>
          <a:xfrm>
            <a:off x="3044087" y="3430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54" name="단계"/>
          <p:cNvSpPr/>
          <p:nvPr/>
        </p:nvSpPr>
        <p:spPr>
          <a:xfrm>
            <a:off x="4926783" y="3430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044086" y="3430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926782" y="3430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044087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4926783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주요성과 박스"/>
          <p:cNvSpPr/>
          <p:nvPr/>
        </p:nvSpPr>
        <p:spPr>
          <a:xfrm>
            <a:off x="536870" y="495907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주요성과 라벨"/>
          <p:cNvSpPr/>
          <p:nvPr/>
        </p:nvSpPr>
        <p:spPr>
          <a:xfrm>
            <a:off x="569739" y="4991948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991948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6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975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723130" y="1512000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22957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22957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1" name="소제목 띠"/>
          <p:cNvSpPr/>
          <p:nvPr/>
        </p:nvSpPr>
        <p:spPr>
          <a:xfrm>
            <a:off x="1369565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띠 제목"/>
          <p:cNvSpPr>
            <a:spLocks noGrp="1"/>
          </p:cNvSpPr>
          <p:nvPr>
            <p:ph type="body" sz="quarter" idx="25"/>
          </p:nvPr>
        </p:nvSpPr>
        <p:spPr>
          <a:xfrm>
            <a:off x="1643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3" name="아이콘 칸"/>
          <p:cNvSpPr/>
          <p:nvPr/>
        </p:nvSpPr>
        <p:spPr>
          <a:xfrm>
            <a:off x="1391478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4" name="소제목 띠"/>
          <p:cNvSpPr/>
          <p:nvPr/>
        </p:nvSpPr>
        <p:spPr>
          <a:xfrm>
            <a:off x="4886609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띠 제목"/>
          <p:cNvSpPr>
            <a:spLocks noGrp="1"/>
          </p:cNvSpPr>
          <p:nvPr>
            <p:ph type="body" sz="quarter" idx="26"/>
          </p:nvPr>
        </p:nvSpPr>
        <p:spPr>
          <a:xfrm>
            <a:off x="4919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6" name="아이콘 칸"/>
          <p:cNvSpPr/>
          <p:nvPr/>
        </p:nvSpPr>
        <p:spPr>
          <a:xfrm>
            <a:off x="6771130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886609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9" name="사진 칸"/>
          <p:cNvSpPr/>
          <p:nvPr/>
        </p:nvSpPr>
        <p:spPr>
          <a:xfrm>
            <a:off x="3506087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3506087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태그"/>
          <p:cNvSpPr/>
          <p:nvPr/>
        </p:nvSpPr>
        <p:spPr>
          <a:xfrm>
            <a:off x="3571826" y="157773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3571826" y="157773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3" name="사진 칸"/>
          <p:cNvSpPr/>
          <p:nvPr/>
        </p:nvSpPr>
        <p:spPr>
          <a:xfrm>
            <a:off x="4190870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4" name="사진 칸"/>
          <p:cNvSpPr>
            <a:spLocks noGrp="1"/>
          </p:cNvSpPr>
          <p:nvPr>
            <p:ph type="body" sz="quarter" idx="31"/>
          </p:nvPr>
        </p:nvSpPr>
        <p:spPr>
          <a:xfrm>
            <a:off x="4190870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5" name="태그"/>
          <p:cNvSpPr/>
          <p:nvPr/>
        </p:nvSpPr>
        <p:spPr>
          <a:xfrm>
            <a:off x="4256609" y="1577739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4256609" y="1577739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1369565" y="2793913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2366608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삼각 화살표"/>
          <p:cNvSpPr/>
          <p:nvPr/>
        </p:nvSpPr>
        <p:spPr>
          <a:xfrm>
            <a:off x="5861739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소제목 띠"/>
          <p:cNvSpPr/>
          <p:nvPr/>
        </p:nvSpPr>
        <p:spPr>
          <a:xfrm>
            <a:off x="1369565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띠 제목"/>
          <p:cNvSpPr>
            <a:spLocks noGrp="1"/>
          </p:cNvSpPr>
          <p:nvPr>
            <p:ph type="body" sz="quarter" idx="33"/>
          </p:nvPr>
        </p:nvSpPr>
        <p:spPr>
          <a:xfrm>
            <a:off x="1643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2" name="아이콘 칸"/>
          <p:cNvSpPr/>
          <p:nvPr/>
        </p:nvSpPr>
        <p:spPr>
          <a:xfrm>
            <a:off x="1391478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소제목 띠"/>
          <p:cNvSpPr/>
          <p:nvPr/>
        </p:nvSpPr>
        <p:spPr>
          <a:xfrm>
            <a:off x="4886609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띠 제목"/>
          <p:cNvSpPr>
            <a:spLocks noGrp="1"/>
          </p:cNvSpPr>
          <p:nvPr>
            <p:ph type="body" sz="quarter" idx="34"/>
          </p:nvPr>
        </p:nvSpPr>
        <p:spPr>
          <a:xfrm>
            <a:off x="4919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5" name="아이콘 칸"/>
          <p:cNvSpPr/>
          <p:nvPr/>
        </p:nvSpPr>
        <p:spPr>
          <a:xfrm>
            <a:off x="6771130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4886609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8" name="사진 칸"/>
          <p:cNvSpPr/>
          <p:nvPr/>
        </p:nvSpPr>
        <p:spPr>
          <a:xfrm>
            <a:off x="3506087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9" name="사진 칸"/>
          <p:cNvSpPr>
            <a:spLocks noGrp="1"/>
          </p:cNvSpPr>
          <p:nvPr>
            <p:ph type="body" sz="quarter" idx="37"/>
          </p:nvPr>
        </p:nvSpPr>
        <p:spPr>
          <a:xfrm>
            <a:off x="3506087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0" name="태그"/>
          <p:cNvSpPr/>
          <p:nvPr/>
        </p:nvSpPr>
        <p:spPr>
          <a:xfrm>
            <a:off x="3571826" y="287060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8"/>
          </p:nvPr>
        </p:nvSpPr>
        <p:spPr>
          <a:xfrm>
            <a:off x="3571826" y="287060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2" name="사진 칸"/>
          <p:cNvSpPr/>
          <p:nvPr/>
        </p:nvSpPr>
        <p:spPr>
          <a:xfrm>
            <a:off x="4190870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사진 칸"/>
          <p:cNvSpPr>
            <a:spLocks noGrp="1"/>
          </p:cNvSpPr>
          <p:nvPr>
            <p:ph type="body" sz="quarter" idx="39"/>
          </p:nvPr>
        </p:nvSpPr>
        <p:spPr>
          <a:xfrm>
            <a:off x="4190870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/>
          <p:nvPr/>
        </p:nvSpPr>
        <p:spPr>
          <a:xfrm>
            <a:off x="4256609" y="2870609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0"/>
          </p:nvPr>
        </p:nvSpPr>
        <p:spPr>
          <a:xfrm>
            <a:off x="4256609" y="2870609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6" name="배너"/>
          <p:cNvSpPr/>
          <p:nvPr/>
        </p:nvSpPr>
        <p:spPr>
          <a:xfrm>
            <a:off x="723130" y="4196347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942261" y="4251130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1"/>
          </p:nvPr>
        </p:nvSpPr>
        <p:spPr>
          <a:xfrm>
            <a:off x="942261" y="4251130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59" name="배너 글"/>
          <p:cNvSpPr>
            <a:spLocks noGrp="1"/>
          </p:cNvSpPr>
          <p:nvPr>
            <p:ph type="body" sz="quarter" idx="42"/>
          </p:nvPr>
        </p:nvSpPr>
        <p:spPr>
          <a:xfrm>
            <a:off x="1517775" y="4196348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0" name="틀"/>
          <p:cNvSpPr/>
          <p:nvPr/>
        </p:nvSpPr>
        <p:spPr>
          <a:xfrm>
            <a:off x="723130" y="4536000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상단 칸"/>
          <p:cNvSpPr/>
          <p:nvPr/>
        </p:nvSpPr>
        <p:spPr>
          <a:xfrm>
            <a:off x="1369565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상단 칸"/>
          <p:cNvSpPr>
            <a:spLocks noGrp="1"/>
          </p:cNvSpPr>
          <p:nvPr>
            <p:ph type="body" sz="quarter" idx="43"/>
          </p:nvPr>
        </p:nvSpPr>
        <p:spPr>
          <a:xfrm>
            <a:off x="1369565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3" name="상단 칸"/>
          <p:cNvSpPr/>
          <p:nvPr/>
        </p:nvSpPr>
        <p:spPr>
          <a:xfrm>
            <a:off x="4289478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4" name="상단 칸"/>
          <p:cNvSpPr>
            <a:spLocks noGrp="1"/>
          </p:cNvSpPr>
          <p:nvPr>
            <p:ph type="body" sz="quarter" idx="44"/>
          </p:nvPr>
        </p:nvSpPr>
        <p:spPr>
          <a:xfrm>
            <a:off x="4289478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5" name="더하기"/>
          <p:cNvSpPr/>
          <p:nvPr/>
        </p:nvSpPr>
        <p:spPr>
          <a:xfrm>
            <a:off x="4081304" y="4579826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더하기"/>
          <p:cNvSpPr>
            <a:spLocks noGrp="1"/>
          </p:cNvSpPr>
          <p:nvPr>
            <p:ph type="body" sz="quarter" idx="45"/>
          </p:nvPr>
        </p:nvSpPr>
        <p:spPr>
          <a:xfrm>
            <a:off x="4081304" y="4579826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7" name="레일"/>
          <p:cNvSpPr/>
          <p:nvPr/>
        </p:nvSpPr>
        <p:spPr>
          <a:xfrm>
            <a:off x="734087" y="4809913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809913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69" name="카드"/>
          <p:cNvSpPr/>
          <p:nvPr/>
        </p:nvSpPr>
        <p:spPr>
          <a:xfrm>
            <a:off x="136956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아이콘 칸"/>
          <p:cNvSpPr/>
          <p:nvPr/>
        </p:nvSpPr>
        <p:spPr>
          <a:xfrm>
            <a:off x="1402435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1" name="카드 글"/>
          <p:cNvSpPr>
            <a:spLocks noGrp="1"/>
          </p:cNvSpPr>
          <p:nvPr>
            <p:ph type="body" sz="quarter" idx="47"/>
          </p:nvPr>
        </p:nvSpPr>
        <p:spPr>
          <a:xfrm>
            <a:off x="185165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2" name="카드"/>
          <p:cNvSpPr/>
          <p:nvPr/>
        </p:nvSpPr>
        <p:spPr>
          <a:xfrm>
            <a:off x="325043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아이콘 칸"/>
          <p:cNvSpPr/>
          <p:nvPr/>
        </p:nvSpPr>
        <p:spPr>
          <a:xfrm>
            <a:off x="328330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4" name="카드 글"/>
          <p:cNvSpPr>
            <a:spLocks noGrp="1"/>
          </p:cNvSpPr>
          <p:nvPr>
            <p:ph type="body" sz="quarter" idx="48"/>
          </p:nvPr>
        </p:nvSpPr>
        <p:spPr>
          <a:xfrm>
            <a:off x="373252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5" name="카드"/>
          <p:cNvSpPr/>
          <p:nvPr/>
        </p:nvSpPr>
        <p:spPr>
          <a:xfrm>
            <a:off x="5131304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아이콘 칸"/>
          <p:cNvSpPr/>
          <p:nvPr/>
        </p:nvSpPr>
        <p:spPr>
          <a:xfrm>
            <a:off x="516417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7" name="카드 글"/>
          <p:cNvSpPr>
            <a:spLocks noGrp="1"/>
          </p:cNvSpPr>
          <p:nvPr>
            <p:ph type="body" sz="quarter" idx="49"/>
          </p:nvPr>
        </p:nvSpPr>
        <p:spPr>
          <a:xfrm>
            <a:off x="5613391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8" name="설명 글"/>
          <p:cNvSpPr>
            <a:spLocks noGrp="1"/>
          </p:cNvSpPr>
          <p:nvPr>
            <p:ph type="body" sz="quarter" idx="50"/>
          </p:nvPr>
        </p:nvSpPr>
        <p:spPr>
          <a:xfrm>
            <a:off x="136956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1"/>
          </p:nvPr>
        </p:nvSpPr>
        <p:spPr>
          <a:xfrm>
            <a:off x="325043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0" name="Connector 59"/>
          <p:cNvCxnSpPr/>
          <p:nvPr/>
        </p:nvCxnSpPr>
        <p:spPr>
          <a:xfrm>
            <a:off x="323947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설명 글"/>
          <p:cNvSpPr>
            <a:spLocks noGrp="1"/>
          </p:cNvSpPr>
          <p:nvPr>
            <p:ph type="body" sz="quarter" idx="52"/>
          </p:nvPr>
        </p:nvSpPr>
        <p:spPr>
          <a:xfrm>
            <a:off x="5131304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2" name="Connector 61"/>
          <p:cNvCxnSpPr/>
          <p:nvPr/>
        </p:nvCxnSpPr>
        <p:spPr>
          <a:xfrm>
            <a:off x="512034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5927478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927478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5" name="열 머리"/>
          <p:cNvSpPr/>
          <p:nvPr/>
        </p:nvSpPr>
        <p:spPr>
          <a:xfrm>
            <a:off x="136956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6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7" name="열 머리"/>
          <p:cNvSpPr/>
          <p:nvPr/>
        </p:nvSpPr>
        <p:spPr>
          <a:xfrm>
            <a:off x="325043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열 머리"/>
          <p:cNvSpPr>
            <a:spLocks noGrp="1"/>
          </p:cNvSpPr>
          <p:nvPr>
            <p:ph type="body" sz="quarter" idx="55"/>
          </p:nvPr>
        </p:nvSpPr>
        <p:spPr>
          <a:xfrm>
            <a:off x="325043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89" name="열 머리"/>
          <p:cNvSpPr/>
          <p:nvPr/>
        </p:nvSpPr>
        <p:spPr>
          <a:xfrm>
            <a:off x="5131304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0" name="열 머리"/>
          <p:cNvSpPr>
            <a:spLocks noGrp="1"/>
          </p:cNvSpPr>
          <p:nvPr>
            <p:ph type="body" sz="quarter" idx="56"/>
          </p:nvPr>
        </p:nvSpPr>
        <p:spPr>
          <a:xfrm>
            <a:off x="5131304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1" name="설명 글"/>
          <p:cNvSpPr>
            <a:spLocks noGrp="1"/>
          </p:cNvSpPr>
          <p:nvPr>
            <p:ph type="body" sz="quarter" idx="57"/>
          </p:nvPr>
        </p:nvSpPr>
        <p:spPr>
          <a:xfrm>
            <a:off x="136956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8"/>
          </p:nvPr>
        </p:nvSpPr>
        <p:spPr>
          <a:xfrm>
            <a:off x="325043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947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설명 글"/>
          <p:cNvSpPr>
            <a:spLocks noGrp="1"/>
          </p:cNvSpPr>
          <p:nvPr>
            <p:ph type="body" sz="quarter" idx="59"/>
          </p:nvPr>
        </p:nvSpPr>
        <p:spPr>
          <a:xfrm>
            <a:off x="5131304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2034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6661565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661565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8" name="카드"/>
          <p:cNvSpPr/>
          <p:nvPr/>
        </p:nvSpPr>
        <p:spPr>
          <a:xfrm>
            <a:off x="136956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아이콘 칸"/>
          <p:cNvSpPr/>
          <p:nvPr/>
        </p:nvSpPr>
        <p:spPr>
          <a:xfrm>
            <a:off x="1402435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0" name="카드 글"/>
          <p:cNvSpPr>
            <a:spLocks noGrp="1"/>
          </p:cNvSpPr>
          <p:nvPr>
            <p:ph type="body" sz="quarter" idx="61"/>
          </p:nvPr>
        </p:nvSpPr>
        <p:spPr>
          <a:xfrm>
            <a:off x="185165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1" name="카드"/>
          <p:cNvSpPr/>
          <p:nvPr/>
        </p:nvSpPr>
        <p:spPr>
          <a:xfrm>
            <a:off x="325043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아이콘 칸"/>
          <p:cNvSpPr/>
          <p:nvPr/>
        </p:nvSpPr>
        <p:spPr>
          <a:xfrm>
            <a:off x="328330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3" name="카드 글"/>
          <p:cNvSpPr>
            <a:spLocks noGrp="1"/>
          </p:cNvSpPr>
          <p:nvPr>
            <p:ph type="body" sz="quarter" idx="62"/>
          </p:nvPr>
        </p:nvSpPr>
        <p:spPr>
          <a:xfrm>
            <a:off x="373252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4" name="카드"/>
          <p:cNvSpPr/>
          <p:nvPr/>
        </p:nvSpPr>
        <p:spPr>
          <a:xfrm>
            <a:off x="5131304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아이콘 칸"/>
          <p:cNvSpPr/>
          <p:nvPr/>
        </p:nvSpPr>
        <p:spPr>
          <a:xfrm>
            <a:off x="516417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6" name="카드 글"/>
          <p:cNvSpPr>
            <a:spLocks noGrp="1"/>
          </p:cNvSpPr>
          <p:nvPr>
            <p:ph type="body" sz="quarter" idx="63"/>
          </p:nvPr>
        </p:nvSpPr>
        <p:spPr>
          <a:xfrm>
            <a:off x="5613391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7" name="요약 바"/>
          <p:cNvSpPr/>
          <p:nvPr/>
        </p:nvSpPr>
        <p:spPr>
          <a:xfrm>
            <a:off x="1369565" y="7340870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8" name="요약 바"/>
          <p:cNvSpPr>
            <a:spLocks noGrp="1"/>
          </p:cNvSpPr>
          <p:nvPr>
            <p:ph type="body" sz="quarter" idx="64"/>
          </p:nvPr>
        </p:nvSpPr>
        <p:spPr>
          <a:xfrm>
            <a:off x="1369565" y="7340870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536870" y="1073739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84696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84696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5" name="배너"/>
          <p:cNvSpPr/>
          <p:nvPr/>
        </p:nvSpPr>
        <p:spPr>
          <a:xfrm>
            <a:off x="1183304" y="1106609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배너"/>
          <p:cNvSpPr>
            <a:spLocks noGrp="1"/>
          </p:cNvSpPr>
          <p:nvPr>
            <p:ph type="body" sz="quarter" idx="22"/>
          </p:nvPr>
        </p:nvSpPr>
        <p:spPr>
          <a:xfrm>
            <a:off x="1183304" y="1106609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7" name="단계"/>
          <p:cNvSpPr/>
          <p:nvPr/>
        </p:nvSpPr>
        <p:spPr>
          <a:xfrm>
            <a:off x="1183304" y="1358609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83304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9" name="단계"/>
          <p:cNvSpPr/>
          <p:nvPr/>
        </p:nvSpPr>
        <p:spPr>
          <a:xfrm>
            <a:off x="2588478" y="1358609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88478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1" name="단계"/>
          <p:cNvSpPr/>
          <p:nvPr/>
        </p:nvSpPr>
        <p:spPr>
          <a:xfrm>
            <a:off x="3993652" y="1358609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93652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3" name="단계"/>
          <p:cNvSpPr/>
          <p:nvPr/>
        </p:nvSpPr>
        <p:spPr>
          <a:xfrm>
            <a:off x="5398826" y="1358609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8826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88478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93652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8826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카드"/>
          <p:cNvSpPr/>
          <p:nvPr/>
        </p:nvSpPr>
        <p:spPr>
          <a:xfrm>
            <a:off x="1183304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아이콘 칸"/>
          <p:cNvSpPr/>
          <p:nvPr/>
        </p:nvSpPr>
        <p:spPr>
          <a:xfrm>
            <a:off x="1216174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0" name="아이콘 칸"/>
          <p:cNvSpPr>
            <a:spLocks noGrp="1"/>
          </p:cNvSpPr>
          <p:nvPr>
            <p:ph type="body" sz="quarter" idx="27"/>
          </p:nvPr>
        </p:nvSpPr>
        <p:spPr>
          <a:xfrm>
            <a:off x="1216174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1" name="구분 칩"/>
          <p:cNvSpPr/>
          <p:nvPr/>
        </p:nvSpPr>
        <p:spPr>
          <a:xfrm>
            <a:off x="1687304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구분 칩"/>
          <p:cNvSpPr>
            <a:spLocks noGrp="1"/>
          </p:cNvSpPr>
          <p:nvPr>
            <p:ph type="body" sz="quarter" idx="28"/>
          </p:nvPr>
        </p:nvSpPr>
        <p:spPr>
          <a:xfrm>
            <a:off x="1687304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29"/>
          </p:nvPr>
        </p:nvSpPr>
        <p:spPr>
          <a:xfrm>
            <a:off x="2005043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4" name="구분 칩"/>
          <p:cNvSpPr/>
          <p:nvPr/>
        </p:nvSpPr>
        <p:spPr>
          <a:xfrm>
            <a:off x="1687304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구분 칩"/>
          <p:cNvSpPr>
            <a:spLocks noGrp="1"/>
          </p:cNvSpPr>
          <p:nvPr>
            <p:ph type="body" sz="quarter" idx="30"/>
          </p:nvPr>
        </p:nvSpPr>
        <p:spPr>
          <a:xfrm>
            <a:off x="1687304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31"/>
          </p:nvPr>
        </p:nvSpPr>
        <p:spPr>
          <a:xfrm>
            <a:off x="2005043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7" name="카드 요약"/>
          <p:cNvSpPr/>
          <p:nvPr/>
        </p:nvSpPr>
        <p:spPr>
          <a:xfrm>
            <a:off x="1205217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카드 요약"/>
          <p:cNvSpPr>
            <a:spLocks noGrp="1"/>
          </p:cNvSpPr>
          <p:nvPr>
            <p:ph type="body" sz="quarter" idx="32"/>
          </p:nvPr>
        </p:nvSpPr>
        <p:spPr>
          <a:xfrm>
            <a:off x="1205217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9" name="카드"/>
          <p:cNvSpPr/>
          <p:nvPr/>
        </p:nvSpPr>
        <p:spPr>
          <a:xfrm>
            <a:off x="4015565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아이콘 칸"/>
          <p:cNvSpPr/>
          <p:nvPr/>
        </p:nvSpPr>
        <p:spPr>
          <a:xfrm>
            <a:off x="4048435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1" name="아이콘 칸"/>
          <p:cNvSpPr>
            <a:spLocks noGrp="1"/>
          </p:cNvSpPr>
          <p:nvPr>
            <p:ph type="body" sz="quarter" idx="33"/>
          </p:nvPr>
        </p:nvSpPr>
        <p:spPr>
          <a:xfrm>
            <a:off x="4048435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2" name="구분 칩"/>
          <p:cNvSpPr/>
          <p:nvPr/>
        </p:nvSpPr>
        <p:spPr>
          <a:xfrm>
            <a:off x="4519565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구분 칩"/>
          <p:cNvSpPr>
            <a:spLocks noGrp="1"/>
          </p:cNvSpPr>
          <p:nvPr>
            <p:ph type="body" sz="quarter" idx="34"/>
          </p:nvPr>
        </p:nvSpPr>
        <p:spPr>
          <a:xfrm>
            <a:off x="4519565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35"/>
          </p:nvPr>
        </p:nvSpPr>
        <p:spPr>
          <a:xfrm>
            <a:off x="4837304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5" name="구분 칩"/>
          <p:cNvSpPr/>
          <p:nvPr/>
        </p:nvSpPr>
        <p:spPr>
          <a:xfrm>
            <a:off x="4519565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구분 칩"/>
          <p:cNvSpPr>
            <a:spLocks noGrp="1"/>
          </p:cNvSpPr>
          <p:nvPr>
            <p:ph type="body" sz="quarter" idx="36"/>
          </p:nvPr>
        </p:nvSpPr>
        <p:spPr>
          <a:xfrm>
            <a:off x="4519565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7"/>
          </p:nvPr>
        </p:nvSpPr>
        <p:spPr>
          <a:xfrm>
            <a:off x="4837304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8" name="카드 요약"/>
          <p:cNvSpPr/>
          <p:nvPr/>
        </p:nvSpPr>
        <p:spPr>
          <a:xfrm>
            <a:off x="4037478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9" name="카드 요약"/>
          <p:cNvSpPr>
            <a:spLocks noGrp="1"/>
          </p:cNvSpPr>
          <p:nvPr>
            <p:ph type="body" sz="quarter" idx="38"/>
          </p:nvPr>
        </p:nvSpPr>
        <p:spPr>
          <a:xfrm>
            <a:off x="4037478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50" name="카드"/>
          <p:cNvSpPr/>
          <p:nvPr/>
        </p:nvSpPr>
        <p:spPr>
          <a:xfrm>
            <a:off x="1183304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아이콘 칸"/>
          <p:cNvSpPr/>
          <p:nvPr/>
        </p:nvSpPr>
        <p:spPr>
          <a:xfrm>
            <a:off x="1216174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2" name="아이콘 칸"/>
          <p:cNvSpPr>
            <a:spLocks noGrp="1"/>
          </p:cNvSpPr>
          <p:nvPr>
            <p:ph type="body" sz="quarter" idx="39"/>
          </p:nvPr>
        </p:nvSpPr>
        <p:spPr>
          <a:xfrm>
            <a:off x="1216174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3" name="구분 칩"/>
          <p:cNvSpPr/>
          <p:nvPr/>
        </p:nvSpPr>
        <p:spPr>
          <a:xfrm>
            <a:off x="1687304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구분 칩"/>
          <p:cNvSpPr>
            <a:spLocks noGrp="1"/>
          </p:cNvSpPr>
          <p:nvPr>
            <p:ph type="body" sz="quarter" idx="40"/>
          </p:nvPr>
        </p:nvSpPr>
        <p:spPr>
          <a:xfrm>
            <a:off x="1687304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5" name="칩 줄 글"/>
          <p:cNvSpPr>
            <a:spLocks noGrp="1"/>
          </p:cNvSpPr>
          <p:nvPr>
            <p:ph type="body" sz="quarter" idx="41"/>
          </p:nvPr>
        </p:nvSpPr>
        <p:spPr>
          <a:xfrm>
            <a:off x="2005043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6" name="구분 칩"/>
          <p:cNvSpPr/>
          <p:nvPr/>
        </p:nvSpPr>
        <p:spPr>
          <a:xfrm>
            <a:off x="1687304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구분 칩"/>
          <p:cNvSpPr>
            <a:spLocks noGrp="1"/>
          </p:cNvSpPr>
          <p:nvPr>
            <p:ph type="body" sz="quarter" idx="42"/>
          </p:nvPr>
        </p:nvSpPr>
        <p:spPr>
          <a:xfrm>
            <a:off x="1687304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43"/>
          </p:nvPr>
        </p:nvSpPr>
        <p:spPr>
          <a:xfrm>
            <a:off x="2005043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9" name="카드 요약"/>
          <p:cNvSpPr/>
          <p:nvPr/>
        </p:nvSpPr>
        <p:spPr>
          <a:xfrm>
            <a:off x="1205217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카드 요약"/>
          <p:cNvSpPr>
            <a:spLocks noGrp="1"/>
          </p:cNvSpPr>
          <p:nvPr>
            <p:ph type="body" sz="quarter" idx="44"/>
          </p:nvPr>
        </p:nvSpPr>
        <p:spPr>
          <a:xfrm>
            <a:off x="1205217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1" name="카드"/>
          <p:cNvSpPr/>
          <p:nvPr/>
        </p:nvSpPr>
        <p:spPr>
          <a:xfrm>
            <a:off x="4015565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아이콘 칸"/>
          <p:cNvSpPr/>
          <p:nvPr/>
        </p:nvSpPr>
        <p:spPr>
          <a:xfrm>
            <a:off x="4048435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3" name="아이콘 칸"/>
          <p:cNvSpPr>
            <a:spLocks noGrp="1"/>
          </p:cNvSpPr>
          <p:nvPr>
            <p:ph type="body" sz="quarter" idx="45"/>
          </p:nvPr>
        </p:nvSpPr>
        <p:spPr>
          <a:xfrm>
            <a:off x="4048435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4" name="구분 칩"/>
          <p:cNvSpPr/>
          <p:nvPr/>
        </p:nvSpPr>
        <p:spPr>
          <a:xfrm>
            <a:off x="4519565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구분 칩"/>
          <p:cNvSpPr>
            <a:spLocks noGrp="1"/>
          </p:cNvSpPr>
          <p:nvPr>
            <p:ph type="body" sz="quarter" idx="46"/>
          </p:nvPr>
        </p:nvSpPr>
        <p:spPr>
          <a:xfrm>
            <a:off x="4519565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47"/>
          </p:nvPr>
        </p:nvSpPr>
        <p:spPr>
          <a:xfrm>
            <a:off x="4837304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7" name="구분 칩"/>
          <p:cNvSpPr/>
          <p:nvPr/>
        </p:nvSpPr>
        <p:spPr>
          <a:xfrm>
            <a:off x="4519565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구분 칩"/>
          <p:cNvSpPr>
            <a:spLocks noGrp="1"/>
          </p:cNvSpPr>
          <p:nvPr>
            <p:ph type="body" sz="quarter" idx="48"/>
          </p:nvPr>
        </p:nvSpPr>
        <p:spPr>
          <a:xfrm>
            <a:off x="4519565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9" name="칩 줄 글"/>
          <p:cNvSpPr>
            <a:spLocks noGrp="1"/>
          </p:cNvSpPr>
          <p:nvPr>
            <p:ph type="body" sz="quarter" idx="49"/>
          </p:nvPr>
        </p:nvSpPr>
        <p:spPr>
          <a:xfrm>
            <a:off x="4837304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70" name="카드 요약"/>
          <p:cNvSpPr/>
          <p:nvPr/>
        </p:nvSpPr>
        <p:spPr>
          <a:xfrm>
            <a:off x="4037478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카드 요약"/>
          <p:cNvSpPr>
            <a:spLocks noGrp="1"/>
          </p:cNvSpPr>
          <p:nvPr>
            <p:ph type="body" sz="quarter" idx="50"/>
          </p:nvPr>
        </p:nvSpPr>
        <p:spPr>
          <a:xfrm>
            <a:off x="4037478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2" name="캡션 띠"/>
          <p:cNvSpPr/>
          <p:nvPr/>
        </p:nvSpPr>
        <p:spPr>
          <a:xfrm>
            <a:off x="536869" y="35937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캡션"/>
          <p:cNvSpPr>
            <a:spLocks noGrp="1"/>
          </p:cNvSpPr>
          <p:nvPr>
            <p:ph type="body" sz="quarter" idx="51"/>
          </p:nvPr>
        </p:nvSpPr>
        <p:spPr>
          <a:xfrm>
            <a:off x="756000" y="359373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4" name="패널 외곽"/>
          <p:cNvSpPr/>
          <p:nvPr/>
        </p:nvSpPr>
        <p:spPr>
          <a:xfrm>
            <a:off x="536870" y="3922435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3933391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3933391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7" name="도입 글"/>
          <p:cNvSpPr>
            <a:spLocks noGrp="1"/>
          </p:cNvSpPr>
          <p:nvPr>
            <p:ph type="body" sz="quarter" idx="53"/>
          </p:nvPr>
        </p:nvSpPr>
        <p:spPr>
          <a:xfrm>
            <a:off x="1183304" y="3944348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8" name="열 머리"/>
          <p:cNvSpPr/>
          <p:nvPr/>
        </p:nvSpPr>
        <p:spPr>
          <a:xfrm>
            <a:off x="118330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9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80" name="열 본문"/>
          <p:cNvSpPr>
            <a:spLocks noGrp="1"/>
          </p:cNvSpPr>
          <p:nvPr>
            <p:ph type="body" sz="quarter" idx="55"/>
          </p:nvPr>
        </p:nvSpPr>
        <p:spPr>
          <a:xfrm>
            <a:off x="118330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1" name="열 머리"/>
          <p:cNvSpPr/>
          <p:nvPr/>
        </p:nvSpPr>
        <p:spPr>
          <a:xfrm>
            <a:off x="306417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2" name="열 머리"/>
          <p:cNvSpPr>
            <a:spLocks noGrp="1"/>
          </p:cNvSpPr>
          <p:nvPr>
            <p:ph type="body" sz="quarter" idx="56"/>
          </p:nvPr>
        </p:nvSpPr>
        <p:spPr>
          <a:xfrm>
            <a:off x="306417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3" name="열 본문"/>
          <p:cNvSpPr>
            <a:spLocks noGrp="1"/>
          </p:cNvSpPr>
          <p:nvPr>
            <p:ph type="body" sz="quarter" idx="57"/>
          </p:nvPr>
        </p:nvSpPr>
        <p:spPr>
          <a:xfrm>
            <a:off x="306417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4" name="열 머리"/>
          <p:cNvSpPr/>
          <p:nvPr/>
        </p:nvSpPr>
        <p:spPr>
          <a:xfrm>
            <a:off x="4945043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5" name="열 머리"/>
          <p:cNvSpPr>
            <a:spLocks noGrp="1"/>
          </p:cNvSpPr>
          <p:nvPr>
            <p:ph type="body" sz="quarter" idx="58"/>
          </p:nvPr>
        </p:nvSpPr>
        <p:spPr>
          <a:xfrm>
            <a:off x="4945043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6" name="열 본문"/>
          <p:cNvSpPr>
            <a:spLocks noGrp="1"/>
          </p:cNvSpPr>
          <p:nvPr>
            <p:ph type="body" sz="quarter" idx="59"/>
          </p:nvPr>
        </p:nvSpPr>
        <p:spPr>
          <a:xfrm>
            <a:off x="4945043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7" name="강조 띠"/>
          <p:cNvSpPr/>
          <p:nvPr/>
        </p:nvSpPr>
        <p:spPr>
          <a:xfrm>
            <a:off x="1183304" y="5029043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8" name="강조 띠"/>
          <p:cNvSpPr>
            <a:spLocks noGrp="1"/>
          </p:cNvSpPr>
          <p:nvPr>
            <p:ph type="body" sz="quarter" idx="60"/>
          </p:nvPr>
        </p:nvSpPr>
        <p:spPr>
          <a:xfrm>
            <a:off x="1183304" y="5029043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9" name="행 라벨"/>
          <p:cNvSpPr/>
          <p:nvPr/>
        </p:nvSpPr>
        <p:spPr>
          <a:xfrm>
            <a:off x="1183304" y="5281043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0" name="행 라벨"/>
          <p:cNvSpPr>
            <a:spLocks noGrp="1"/>
          </p:cNvSpPr>
          <p:nvPr>
            <p:ph type="body" sz="quarter" idx="61"/>
          </p:nvPr>
        </p:nvSpPr>
        <p:spPr>
          <a:xfrm>
            <a:off x="1183304" y="5281043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1" name="지표"/>
          <p:cNvSpPr>
            <a:spLocks noGrp="1"/>
          </p:cNvSpPr>
          <p:nvPr>
            <p:ph type="body" sz="quarter" idx="62"/>
          </p:nvPr>
        </p:nvSpPr>
        <p:spPr>
          <a:xfrm>
            <a:off x="1566783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2" name="수치"/>
          <p:cNvSpPr>
            <a:spLocks noGrp="1"/>
          </p:cNvSpPr>
          <p:nvPr>
            <p:ph type="body" sz="quarter" idx="63"/>
          </p:nvPr>
        </p:nvSpPr>
        <p:spPr>
          <a:xfrm>
            <a:off x="1566783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3" name="지표"/>
          <p:cNvSpPr>
            <a:spLocks noGrp="1"/>
          </p:cNvSpPr>
          <p:nvPr>
            <p:ph type="body" sz="quarter" idx="64"/>
          </p:nvPr>
        </p:nvSpPr>
        <p:spPr>
          <a:xfrm>
            <a:off x="275045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4" name="수치"/>
          <p:cNvSpPr>
            <a:spLocks noGrp="1"/>
          </p:cNvSpPr>
          <p:nvPr>
            <p:ph type="body" sz="quarter" idx="65"/>
          </p:nvPr>
        </p:nvSpPr>
        <p:spPr>
          <a:xfrm>
            <a:off x="275045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5" name="지표"/>
          <p:cNvSpPr>
            <a:spLocks noGrp="1"/>
          </p:cNvSpPr>
          <p:nvPr>
            <p:ph type="body" sz="quarter" idx="66"/>
          </p:nvPr>
        </p:nvSpPr>
        <p:spPr>
          <a:xfrm>
            <a:off x="393412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6" name="수치"/>
          <p:cNvSpPr>
            <a:spLocks noGrp="1"/>
          </p:cNvSpPr>
          <p:nvPr>
            <p:ph type="body" sz="quarter" idx="67"/>
          </p:nvPr>
        </p:nvSpPr>
        <p:spPr>
          <a:xfrm>
            <a:off x="393412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7" name="Connector 65"/>
          <p:cNvCxnSpPr/>
          <p:nvPr/>
        </p:nvCxnSpPr>
        <p:spPr>
          <a:xfrm>
            <a:off x="1566783" y="5472783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행 라벨"/>
          <p:cNvSpPr/>
          <p:nvPr/>
        </p:nvSpPr>
        <p:spPr>
          <a:xfrm>
            <a:off x="1183304" y="5697391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행 라벨"/>
          <p:cNvSpPr>
            <a:spLocks noGrp="1"/>
          </p:cNvSpPr>
          <p:nvPr>
            <p:ph type="body" sz="quarter" idx="68"/>
          </p:nvPr>
        </p:nvSpPr>
        <p:spPr>
          <a:xfrm>
            <a:off x="1183304" y="5697391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100" name="지표"/>
          <p:cNvSpPr>
            <a:spLocks noGrp="1"/>
          </p:cNvSpPr>
          <p:nvPr>
            <p:ph type="body" sz="quarter" idx="69"/>
          </p:nvPr>
        </p:nvSpPr>
        <p:spPr>
          <a:xfrm>
            <a:off x="1566783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1" name="수치"/>
          <p:cNvSpPr>
            <a:spLocks noGrp="1"/>
          </p:cNvSpPr>
          <p:nvPr>
            <p:ph type="body" sz="quarter" idx="70"/>
          </p:nvPr>
        </p:nvSpPr>
        <p:spPr>
          <a:xfrm>
            <a:off x="1566783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2" name="지표"/>
          <p:cNvSpPr>
            <a:spLocks noGrp="1"/>
          </p:cNvSpPr>
          <p:nvPr>
            <p:ph type="body" sz="quarter" idx="71"/>
          </p:nvPr>
        </p:nvSpPr>
        <p:spPr>
          <a:xfrm>
            <a:off x="275045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3" name="수치"/>
          <p:cNvSpPr>
            <a:spLocks noGrp="1"/>
          </p:cNvSpPr>
          <p:nvPr>
            <p:ph type="body" sz="quarter" idx="72"/>
          </p:nvPr>
        </p:nvSpPr>
        <p:spPr>
          <a:xfrm>
            <a:off x="275045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4" name="지표"/>
          <p:cNvSpPr>
            <a:spLocks noGrp="1"/>
          </p:cNvSpPr>
          <p:nvPr>
            <p:ph type="body" sz="quarter" idx="73"/>
          </p:nvPr>
        </p:nvSpPr>
        <p:spPr>
          <a:xfrm>
            <a:off x="393412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5" name="수치"/>
          <p:cNvSpPr>
            <a:spLocks noGrp="1"/>
          </p:cNvSpPr>
          <p:nvPr>
            <p:ph type="body" sz="quarter" idx="74"/>
          </p:nvPr>
        </p:nvSpPr>
        <p:spPr>
          <a:xfrm>
            <a:off x="393412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6" name="Connector 73"/>
          <p:cNvCxnSpPr/>
          <p:nvPr/>
        </p:nvCxnSpPr>
        <p:spPr>
          <a:xfrm>
            <a:off x="1566783" y="5889130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판단 글"/>
          <p:cNvSpPr>
            <a:spLocks noGrp="1"/>
          </p:cNvSpPr>
          <p:nvPr>
            <p:ph type="body" sz="quarter" idx="75"/>
          </p:nvPr>
        </p:nvSpPr>
        <p:spPr>
          <a:xfrm>
            <a:off x="5161617" y="5281043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8" name="판단 글"/>
          <p:cNvSpPr>
            <a:spLocks noGrp="1"/>
          </p:cNvSpPr>
          <p:nvPr>
            <p:ph type="body" sz="quarter" idx="76"/>
          </p:nvPr>
        </p:nvSpPr>
        <p:spPr>
          <a:xfrm>
            <a:off x="5161617" y="5697391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9" name="캡션 띠"/>
          <p:cNvSpPr/>
          <p:nvPr/>
        </p:nvSpPr>
        <p:spPr>
          <a:xfrm>
            <a:off x="536869" y="61904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캡션"/>
          <p:cNvSpPr>
            <a:spLocks noGrp="1"/>
          </p:cNvSpPr>
          <p:nvPr>
            <p:ph type="body" sz="quarter" idx="77"/>
          </p:nvPr>
        </p:nvSpPr>
        <p:spPr>
          <a:xfrm>
            <a:off x="756000" y="6190435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1" name="틀"/>
          <p:cNvSpPr/>
          <p:nvPr/>
        </p:nvSpPr>
        <p:spPr>
          <a:xfrm>
            <a:off x="536870" y="6519130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단계"/>
          <p:cNvSpPr/>
          <p:nvPr/>
        </p:nvSpPr>
        <p:spPr>
          <a:xfrm>
            <a:off x="536870" y="6519130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78"/>
          </p:nvPr>
        </p:nvSpPr>
        <p:spPr>
          <a:xfrm>
            <a:off x="5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4" name="단계"/>
          <p:cNvSpPr/>
          <p:nvPr/>
        </p:nvSpPr>
        <p:spPr>
          <a:xfrm>
            <a:off x="2636870" y="6519130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5" name="단계"/>
          <p:cNvSpPr>
            <a:spLocks noGrp="1"/>
          </p:cNvSpPr>
          <p:nvPr>
            <p:ph type="body" sz="quarter" idx="79"/>
          </p:nvPr>
        </p:nvSpPr>
        <p:spPr>
          <a:xfrm>
            <a:off x="26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6" name="단계"/>
          <p:cNvSpPr/>
          <p:nvPr/>
        </p:nvSpPr>
        <p:spPr>
          <a:xfrm>
            <a:off x="4736870" y="6519130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7" name="단계"/>
          <p:cNvSpPr>
            <a:spLocks noGrp="1"/>
          </p:cNvSpPr>
          <p:nvPr>
            <p:ph type="body" sz="quarter" idx="80"/>
          </p:nvPr>
        </p:nvSpPr>
        <p:spPr>
          <a:xfrm>
            <a:off x="47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8" name="단계 삼각형"/>
          <p:cNvSpPr/>
          <p:nvPr/>
        </p:nvSpPr>
        <p:spPr>
          <a:xfrm>
            <a:off x="26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47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아이콘 칸"/>
          <p:cNvSpPr/>
          <p:nvPr/>
        </p:nvSpPr>
        <p:spPr>
          <a:xfrm>
            <a:off x="5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1" name="큰 문구"/>
          <p:cNvSpPr>
            <a:spLocks noGrp="1"/>
          </p:cNvSpPr>
          <p:nvPr>
            <p:ph type="body" sz="quarter" idx="81"/>
          </p:nvPr>
        </p:nvSpPr>
        <p:spPr>
          <a:xfrm>
            <a:off x="10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2" name="요약 줄"/>
          <p:cNvSpPr/>
          <p:nvPr/>
        </p:nvSpPr>
        <p:spPr>
          <a:xfrm>
            <a:off x="5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3" name="요약 줄"/>
          <p:cNvSpPr>
            <a:spLocks noGrp="1"/>
          </p:cNvSpPr>
          <p:nvPr>
            <p:ph type="body" sz="quarter" idx="82"/>
          </p:nvPr>
        </p:nvSpPr>
        <p:spPr>
          <a:xfrm>
            <a:off x="5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4" name="불릿"/>
          <p:cNvSpPr>
            <a:spLocks noGrp="1"/>
          </p:cNvSpPr>
          <p:nvPr>
            <p:ph type="body" sz="quarter" idx="83"/>
          </p:nvPr>
        </p:nvSpPr>
        <p:spPr>
          <a:xfrm>
            <a:off x="5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5" name="아이콘 칸"/>
          <p:cNvSpPr/>
          <p:nvPr/>
        </p:nvSpPr>
        <p:spPr>
          <a:xfrm>
            <a:off x="26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6" name="큰 문구"/>
          <p:cNvSpPr>
            <a:spLocks noGrp="1"/>
          </p:cNvSpPr>
          <p:nvPr>
            <p:ph type="body" sz="quarter" idx="84"/>
          </p:nvPr>
        </p:nvSpPr>
        <p:spPr>
          <a:xfrm>
            <a:off x="31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7" name="요약 줄"/>
          <p:cNvSpPr/>
          <p:nvPr/>
        </p:nvSpPr>
        <p:spPr>
          <a:xfrm>
            <a:off x="26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8" name="요약 줄"/>
          <p:cNvSpPr>
            <a:spLocks noGrp="1"/>
          </p:cNvSpPr>
          <p:nvPr>
            <p:ph type="body" sz="quarter" idx="85"/>
          </p:nvPr>
        </p:nvSpPr>
        <p:spPr>
          <a:xfrm>
            <a:off x="26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9" name="불릿"/>
          <p:cNvSpPr>
            <a:spLocks noGrp="1"/>
          </p:cNvSpPr>
          <p:nvPr>
            <p:ph type="body" sz="quarter" idx="86"/>
          </p:nvPr>
        </p:nvSpPr>
        <p:spPr>
          <a:xfrm>
            <a:off x="26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30" name="Connector 92"/>
          <p:cNvCxnSpPr/>
          <p:nvPr/>
        </p:nvCxnSpPr>
        <p:spPr>
          <a:xfrm>
            <a:off x="26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아이콘 칸"/>
          <p:cNvSpPr/>
          <p:nvPr/>
        </p:nvSpPr>
        <p:spPr>
          <a:xfrm>
            <a:off x="47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2" name="큰 문구"/>
          <p:cNvSpPr>
            <a:spLocks noGrp="1"/>
          </p:cNvSpPr>
          <p:nvPr>
            <p:ph type="body" sz="quarter" idx="87"/>
          </p:nvPr>
        </p:nvSpPr>
        <p:spPr>
          <a:xfrm>
            <a:off x="52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3" name="요약 줄"/>
          <p:cNvSpPr/>
          <p:nvPr/>
        </p:nvSpPr>
        <p:spPr>
          <a:xfrm>
            <a:off x="47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4" name="요약 줄"/>
          <p:cNvSpPr>
            <a:spLocks noGrp="1"/>
          </p:cNvSpPr>
          <p:nvPr>
            <p:ph type="body" sz="quarter" idx="88"/>
          </p:nvPr>
        </p:nvSpPr>
        <p:spPr>
          <a:xfrm>
            <a:off x="47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5" name="불릿"/>
          <p:cNvSpPr>
            <a:spLocks noGrp="1"/>
          </p:cNvSpPr>
          <p:nvPr>
            <p:ph type="body" sz="quarter" idx="89"/>
          </p:nvPr>
        </p:nvSpPr>
        <p:spPr>
          <a:xfrm>
            <a:off x="47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6" name="Connector 97"/>
          <p:cNvCxnSpPr/>
          <p:nvPr/>
        </p:nvCxnSpPr>
        <p:spPr>
          <a:xfrm>
            <a:off x="47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1" name="분류 패널"/>
          <p:cNvSpPr/>
          <p:nvPr/>
        </p:nvSpPr>
        <p:spPr>
          <a:xfrm>
            <a:off x="723130" y="1084696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4분면"/>
          <p:cNvSpPr/>
          <p:nvPr/>
        </p:nvSpPr>
        <p:spPr>
          <a:xfrm>
            <a:off x="887478" y="1139478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3" name="Connector 7"/>
          <p:cNvCxnSpPr/>
          <p:nvPr/>
        </p:nvCxnSpPr>
        <p:spPr>
          <a:xfrm>
            <a:off x="1848913" y="1139478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4" name="Connector 8"/>
          <p:cNvCxnSpPr/>
          <p:nvPr/>
        </p:nvCxnSpPr>
        <p:spPr>
          <a:xfrm>
            <a:off x="887478" y="2010522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5" name="분면 이름"/>
          <p:cNvSpPr/>
          <p:nvPr/>
        </p:nvSpPr>
        <p:spPr>
          <a:xfrm>
            <a:off x="909391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분면 이름"/>
          <p:cNvSpPr>
            <a:spLocks noGrp="1"/>
          </p:cNvSpPr>
          <p:nvPr>
            <p:ph type="body" sz="quarter" idx="21"/>
          </p:nvPr>
        </p:nvSpPr>
        <p:spPr>
          <a:xfrm>
            <a:off x="909391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2"/>
          </p:nvPr>
        </p:nvSpPr>
        <p:spPr>
          <a:xfrm>
            <a:off x="909391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8" name="분면 이름"/>
          <p:cNvSpPr/>
          <p:nvPr/>
        </p:nvSpPr>
        <p:spPr>
          <a:xfrm>
            <a:off x="1870826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분면 이름"/>
          <p:cNvSpPr>
            <a:spLocks noGrp="1"/>
          </p:cNvSpPr>
          <p:nvPr>
            <p:ph type="body" sz="quarter" idx="23"/>
          </p:nvPr>
        </p:nvSpPr>
        <p:spPr>
          <a:xfrm>
            <a:off x="1870826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4"/>
          </p:nvPr>
        </p:nvSpPr>
        <p:spPr>
          <a:xfrm>
            <a:off x="1870826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1" name="분면 이름"/>
          <p:cNvSpPr/>
          <p:nvPr/>
        </p:nvSpPr>
        <p:spPr>
          <a:xfrm>
            <a:off x="909391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분면 이름"/>
          <p:cNvSpPr>
            <a:spLocks noGrp="1"/>
          </p:cNvSpPr>
          <p:nvPr>
            <p:ph type="body" sz="quarter" idx="25"/>
          </p:nvPr>
        </p:nvSpPr>
        <p:spPr>
          <a:xfrm>
            <a:off x="909391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3" name="분면 글"/>
          <p:cNvSpPr>
            <a:spLocks noGrp="1"/>
          </p:cNvSpPr>
          <p:nvPr>
            <p:ph type="body" sz="quarter" idx="26"/>
          </p:nvPr>
        </p:nvSpPr>
        <p:spPr>
          <a:xfrm>
            <a:off x="909391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4" name="분면 이름"/>
          <p:cNvSpPr/>
          <p:nvPr/>
        </p:nvSpPr>
        <p:spPr>
          <a:xfrm>
            <a:off x="1870826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분면 이름"/>
          <p:cNvSpPr>
            <a:spLocks noGrp="1"/>
          </p:cNvSpPr>
          <p:nvPr>
            <p:ph type="body" sz="quarter" idx="27"/>
          </p:nvPr>
        </p:nvSpPr>
        <p:spPr>
          <a:xfrm>
            <a:off x="1870826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6" name="분면 글"/>
          <p:cNvSpPr>
            <a:spLocks noGrp="1"/>
          </p:cNvSpPr>
          <p:nvPr>
            <p:ph type="body" sz="quarter" idx="28"/>
          </p:nvPr>
        </p:nvSpPr>
        <p:spPr>
          <a:xfrm>
            <a:off x="1870826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7" name="세로축"/>
          <p:cNvSpPr>
            <a:spLocks noGrp="1"/>
          </p:cNvSpPr>
          <p:nvPr>
            <p:ph type="body" sz="quarter" idx="29"/>
          </p:nvPr>
        </p:nvSpPr>
        <p:spPr>
          <a:xfrm>
            <a:off x="734087" y="1139478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8" name="가로축"/>
          <p:cNvSpPr>
            <a:spLocks noGrp="1"/>
          </p:cNvSpPr>
          <p:nvPr>
            <p:ph type="body" sz="quarter" idx="30"/>
          </p:nvPr>
        </p:nvSpPr>
        <p:spPr>
          <a:xfrm>
            <a:off x="887478" y="2892522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9" name="분류 설명"/>
          <p:cNvSpPr/>
          <p:nvPr/>
        </p:nvSpPr>
        <p:spPr>
          <a:xfrm>
            <a:off x="756000" y="3045913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0" name="분류 설명"/>
          <p:cNvSpPr>
            <a:spLocks noGrp="1"/>
          </p:cNvSpPr>
          <p:nvPr>
            <p:ph type="body" sz="quarter" idx="31"/>
          </p:nvPr>
        </p:nvSpPr>
        <p:spPr>
          <a:xfrm>
            <a:off x="756000" y="3045913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1" name="소통 패널"/>
          <p:cNvSpPr/>
          <p:nvPr/>
        </p:nvSpPr>
        <p:spPr>
          <a:xfrm>
            <a:off x="2908957" y="1084696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2908957" y="1084696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2"/>
          </p:nvPr>
        </p:nvSpPr>
        <p:spPr>
          <a:xfrm>
            <a:off x="2908957" y="1084696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4" name="패널 머리"/>
          <p:cNvSpPr/>
          <p:nvPr/>
        </p:nvSpPr>
        <p:spPr>
          <a:xfrm>
            <a:off x="5410330" y="1084696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패널 머리"/>
          <p:cNvSpPr>
            <a:spLocks noGrp="1"/>
          </p:cNvSpPr>
          <p:nvPr>
            <p:ph type="body" sz="quarter" idx="33"/>
          </p:nvPr>
        </p:nvSpPr>
        <p:spPr>
          <a:xfrm>
            <a:off x="5410330" y="1084696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34"/>
          </p:nvPr>
        </p:nvSpPr>
        <p:spPr>
          <a:xfrm>
            <a:off x="2919913" y="1358609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35"/>
          </p:nvPr>
        </p:nvSpPr>
        <p:spPr>
          <a:xfrm>
            <a:off x="3117130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8" name="소통 칩"/>
          <p:cNvSpPr/>
          <p:nvPr/>
        </p:nvSpPr>
        <p:spPr>
          <a:xfrm>
            <a:off x="3117130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소통 칩"/>
          <p:cNvSpPr>
            <a:spLocks noGrp="1"/>
          </p:cNvSpPr>
          <p:nvPr>
            <p:ph type="body" sz="quarter" idx="36"/>
          </p:nvPr>
        </p:nvSpPr>
        <p:spPr>
          <a:xfrm>
            <a:off x="3117130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37"/>
          </p:nvPr>
        </p:nvSpPr>
        <p:spPr>
          <a:xfrm>
            <a:off x="4241817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1" name="소통 칩"/>
          <p:cNvSpPr/>
          <p:nvPr/>
        </p:nvSpPr>
        <p:spPr>
          <a:xfrm>
            <a:off x="4241817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소통 칩"/>
          <p:cNvSpPr>
            <a:spLocks noGrp="1"/>
          </p:cNvSpPr>
          <p:nvPr>
            <p:ph type="body" sz="quarter" idx="38"/>
          </p:nvPr>
        </p:nvSpPr>
        <p:spPr>
          <a:xfrm>
            <a:off x="4241817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2919913" y="1848913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4" name="소통 이름"/>
          <p:cNvSpPr>
            <a:spLocks noGrp="1"/>
          </p:cNvSpPr>
          <p:nvPr>
            <p:ph type="body" sz="quarter" idx="40"/>
          </p:nvPr>
        </p:nvSpPr>
        <p:spPr>
          <a:xfrm>
            <a:off x="3117130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5" name="소통 칩"/>
          <p:cNvSpPr/>
          <p:nvPr/>
        </p:nvSpPr>
        <p:spPr>
          <a:xfrm>
            <a:off x="3117130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소통 칩"/>
          <p:cNvSpPr>
            <a:spLocks noGrp="1"/>
          </p:cNvSpPr>
          <p:nvPr>
            <p:ph type="body" sz="quarter" idx="41"/>
          </p:nvPr>
        </p:nvSpPr>
        <p:spPr>
          <a:xfrm>
            <a:off x="3117130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7" name="소통 이름"/>
          <p:cNvSpPr>
            <a:spLocks noGrp="1"/>
          </p:cNvSpPr>
          <p:nvPr>
            <p:ph type="body" sz="quarter" idx="42"/>
          </p:nvPr>
        </p:nvSpPr>
        <p:spPr>
          <a:xfrm>
            <a:off x="4241817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8" name="소통 칩"/>
          <p:cNvSpPr/>
          <p:nvPr/>
        </p:nvSpPr>
        <p:spPr>
          <a:xfrm>
            <a:off x="4241817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소통 칩"/>
          <p:cNvSpPr>
            <a:spLocks noGrp="1"/>
          </p:cNvSpPr>
          <p:nvPr>
            <p:ph type="body" sz="quarter" idx="43"/>
          </p:nvPr>
        </p:nvSpPr>
        <p:spPr>
          <a:xfrm>
            <a:off x="4241817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2919913" y="233921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1" name="소통 이름"/>
          <p:cNvSpPr>
            <a:spLocks noGrp="1"/>
          </p:cNvSpPr>
          <p:nvPr>
            <p:ph type="body" sz="quarter" idx="45"/>
          </p:nvPr>
        </p:nvSpPr>
        <p:spPr>
          <a:xfrm>
            <a:off x="3117130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2" name="소통 칩"/>
          <p:cNvSpPr/>
          <p:nvPr/>
        </p:nvSpPr>
        <p:spPr>
          <a:xfrm>
            <a:off x="3117130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소통 칩"/>
          <p:cNvSpPr>
            <a:spLocks noGrp="1"/>
          </p:cNvSpPr>
          <p:nvPr>
            <p:ph type="body" sz="quarter" idx="46"/>
          </p:nvPr>
        </p:nvSpPr>
        <p:spPr>
          <a:xfrm>
            <a:off x="3117130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4" name="소통 이름"/>
          <p:cNvSpPr>
            <a:spLocks noGrp="1"/>
          </p:cNvSpPr>
          <p:nvPr>
            <p:ph type="body" sz="quarter" idx="47"/>
          </p:nvPr>
        </p:nvSpPr>
        <p:spPr>
          <a:xfrm>
            <a:off x="4241817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5" name="소통 칩"/>
          <p:cNvSpPr/>
          <p:nvPr/>
        </p:nvSpPr>
        <p:spPr>
          <a:xfrm>
            <a:off x="4241817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소통 칩"/>
          <p:cNvSpPr>
            <a:spLocks noGrp="1"/>
          </p:cNvSpPr>
          <p:nvPr>
            <p:ph type="body" sz="quarter" idx="48"/>
          </p:nvPr>
        </p:nvSpPr>
        <p:spPr>
          <a:xfrm>
            <a:off x="4241817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7" name="번호"/>
          <p:cNvSpPr>
            <a:spLocks noGrp="1"/>
          </p:cNvSpPr>
          <p:nvPr>
            <p:ph type="body" sz="quarter" idx="49"/>
          </p:nvPr>
        </p:nvSpPr>
        <p:spPr>
          <a:xfrm>
            <a:off x="2919913" y="282952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8" name="소통 이름"/>
          <p:cNvSpPr>
            <a:spLocks noGrp="1"/>
          </p:cNvSpPr>
          <p:nvPr>
            <p:ph type="body" sz="quarter" idx="50"/>
          </p:nvPr>
        </p:nvSpPr>
        <p:spPr>
          <a:xfrm>
            <a:off x="3117130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59" name="소통 칩"/>
          <p:cNvSpPr/>
          <p:nvPr/>
        </p:nvSpPr>
        <p:spPr>
          <a:xfrm>
            <a:off x="3117130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0" name="소통 칩"/>
          <p:cNvSpPr>
            <a:spLocks noGrp="1"/>
          </p:cNvSpPr>
          <p:nvPr>
            <p:ph type="body" sz="quarter" idx="51"/>
          </p:nvPr>
        </p:nvSpPr>
        <p:spPr>
          <a:xfrm>
            <a:off x="3117130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1" name="소통 이름"/>
          <p:cNvSpPr>
            <a:spLocks noGrp="1"/>
          </p:cNvSpPr>
          <p:nvPr>
            <p:ph type="body" sz="quarter" idx="52"/>
          </p:nvPr>
        </p:nvSpPr>
        <p:spPr>
          <a:xfrm>
            <a:off x="4241817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2" name="소통 칩"/>
          <p:cNvSpPr/>
          <p:nvPr/>
        </p:nvSpPr>
        <p:spPr>
          <a:xfrm>
            <a:off x="4241817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소통 칩"/>
          <p:cNvSpPr>
            <a:spLocks noGrp="1"/>
          </p:cNvSpPr>
          <p:nvPr>
            <p:ph type="body" sz="quarter" idx="53"/>
          </p:nvPr>
        </p:nvSpPr>
        <p:spPr>
          <a:xfrm>
            <a:off x="4241817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4" name="사진 칸"/>
          <p:cNvSpPr/>
          <p:nvPr/>
        </p:nvSpPr>
        <p:spPr>
          <a:xfrm>
            <a:off x="5421287" y="1358609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5" name="사진 칸"/>
          <p:cNvSpPr>
            <a:spLocks noGrp="1"/>
          </p:cNvSpPr>
          <p:nvPr>
            <p:ph type="body" sz="quarter" idx="54"/>
          </p:nvPr>
        </p:nvSpPr>
        <p:spPr>
          <a:xfrm>
            <a:off x="5421287" y="1358609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태그"/>
          <p:cNvSpPr/>
          <p:nvPr/>
        </p:nvSpPr>
        <p:spPr>
          <a:xfrm>
            <a:off x="6087706" y="1380522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55"/>
          </p:nvPr>
        </p:nvSpPr>
        <p:spPr>
          <a:xfrm>
            <a:off x="6087706" y="1380522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8" name="확산 글"/>
          <p:cNvSpPr>
            <a:spLocks noGrp="1"/>
          </p:cNvSpPr>
          <p:nvPr>
            <p:ph type="body" sz="quarter" idx="56"/>
          </p:nvPr>
        </p:nvSpPr>
        <p:spPr>
          <a:xfrm>
            <a:off x="6087706" y="1522957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69" name="사진 칸"/>
          <p:cNvSpPr/>
          <p:nvPr/>
        </p:nvSpPr>
        <p:spPr>
          <a:xfrm>
            <a:off x="5421287" y="2012348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0" name="사진 칸"/>
          <p:cNvSpPr>
            <a:spLocks noGrp="1"/>
          </p:cNvSpPr>
          <p:nvPr>
            <p:ph type="body" sz="quarter" idx="57"/>
          </p:nvPr>
        </p:nvSpPr>
        <p:spPr>
          <a:xfrm>
            <a:off x="5421287" y="2012348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1" name="태그"/>
          <p:cNvSpPr/>
          <p:nvPr/>
        </p:nvSpPr>
        <p:spPr>
          <a:xfrm>
            <a:off x="6087706" y="2034261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58"/>
          </p:nvPr>
        </p:nvSpPr>
        <p:spPr>
          <a:xfrm>
            <a:off x="6087706" y="2034261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3" name="확산 글"/>
          <p:cNvSpPr>
            <a:spLocks noGrp="1"/>
          </p:cNvSpPr>
          <p:nvPr>
            <p:ph type="body" sz="quarter" idx="59"/>
          </p:nvPr>
        </p:nvSpPr>
        <p:spPr>
          <a:xfrm>
            <a:off x="6087706" y="2176696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4" name="사진 칸"/>
          <p:cNvSpPr/>
          <p:nvPr/>
        </p:nvSpPr>
        <p:spPr>
          <a:xfrm>
            <a:off x="5421287" y="2666087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60"/>
          </p:nvPr>
        </p:nvSpPr>
        <p:spPr>
          <a:xfrm>
            <a:off x="5421287" y="2666087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태그"/>
          <p:cNvSpPr/>
          <p:nvPr/>
        </p:nvSpPr>
        <p:spPr>
          <a:xfrm>
            <a:off x="6087706" y="2688000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61"/>
          </p:nvPr>
        </p:nvSpPr>
        <p:spPr>
          <a:xfrm>
            <a:off x="6087706" y="2688000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8" name="확산 글"/>
          <p:cNvSpPr>
            <a:spLocks noGrp="1"/>
          </p:cNvSpPr>
          <p:nvPr>
            <p:ph type="body" sz="quarter" idx="62"/>
          </p:nvPr>
        </p:nvSpPr>
        <p:spPr>
          <a:xfrm>
            <a:off x="6087706" y="2830435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91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4" name="단계"/>
          <p:cNvSpPr/>
          <p:nvPr/>
        </p:nvSpPr>
        <p:spPr>
          <a:xfrm>
            <a:off x="3044087" y="1391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6" name="단계"/>
          <p:cNvSpPr/>
          <p:nvPr/>
        </p:nvSpPr>
        <p:spPr>
          <a:xfrm>
            <a:off x="4926783" y="1391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044086" y="1391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4926782" y="1391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캡션 띠"/>
          <p:cNvSpPr/>
          <p:nvPr/>
        </p:nvSpPr>
        <p:spPr>
          <a:xfrm>
            <a:off x="536869" y="2029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태그"/>
          <p:cNvSpPr/>
          <p:nvPr/>
        </p:nvSpPr>
        <p:spPr>
          <a:xfrm>
            <a:off x="865565" y="2073600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1"/>
          </p:nvPr>
        </p:nvSpPr>
        <p:spPr>
          <a:xfrm>
            <a:off x="865565" y="2073600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2"/>
          </p:nvPr>
        </p:nvSpPr>
        <p:spPr>
          <a:xfrm>
            <a:off x="1403622" y="2029774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9" name="표 외곽"/>
          <p:cNvSpPr/>
          <p:nvPr/>
        </p:nvSpPr>
        <p:spPr>
          <a:xfrm>
            <a:off x="536870" y="2336557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352991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352991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7" name="Connector 42"/>
          <p:cNvCxnSpPr/>
          <p:nvPr/>
        </p:nvCxnSpPr>
        <p:spPr>
          <a:xfrm>
            <a:off x="3044087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4926783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3339235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39235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33392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배너"/>
          <p:cNvSpPr/>
          <p:nvPr/>
        </p:nvSpPr>
        <p:spPr>
          <a:xfrm>
            <a:off x="1161391" y="33611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4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611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5" name="단계"/>
          <p:cNvSpPr/>
          <p:nvPr/>
        </p:nvSpPr>
        <p:spPr>
          <a:xfrm>
            <a:off x="1161391" y="35967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5"/>
          </p:nvPr>
        </p:nvSpPr>
        <p:spPr>
          <a:xfrm>
            <a:off x="1161391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7" name="단계"/>
          <p:cNvSpPr/>
          <p:nvPr/>
        </p:nvSpPr>
        <p:spPr>
          <a:xfrm>
            <a:off x="3044087" y="35967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6"/>
          </p:nvPr>
        </p:nvSpPr>
        <p:spPr>
          <a:xfrm>
            <a:off x="3044087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9" name="단계"/>
          <p:cNvSpPr/>
          <p:nvPr/>
        </p:nvSpPr>
        <p:spPr>
          <a:xfrm>
            <a:off x="4926783" y="35967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7"/>
          </p:nvPr>
        </p:nvSpPr>
        <p:spPr>
          <a:xfrm>
            <a:off x="4926783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3044086" y="35967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4926782" y="35967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3044087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7" name="Connector 57"/>
          <p:cNvCxnSpPr/>
          <p:nvPr/>
        </p:nvCxnSpPr>
        <p:spPr>
          <a:xfrm>
            <a:off x="4926783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캡션 띠"/>
          <p:cNvSpPr/>
          <p:nvPr/>
        </p:nvSpPr>
        <p:spPr>
          <a:xfrm>
            <a:off x="536869" y="43898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태그"/>
          <p:cNvSpPr/>
          <p:nvPr/>
        </p:nvSpPr>
        <p:spPr>
          <a:xfrm>
            <a:off x="865565" y="4433635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태그"/>
          <p:cNvSpPr>
            <a:spLocks noGrp="1"/>
          </p:cNvSpPr>
          <p:nvPr>
            <p:ph type="body" sz="quarter" idx="51"/>
          </p:nvPr>
        </p:nvSpPr>
        <p:spPr>
          <a:xfrm>
            <a:off x="865565" y="4433635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1" name="캡션"/>
          <p:cNvSpPr>
            <a:spLocks noGrp="1"/>
          </p:cNvSpPr>
          <p:nvPr>
            <p:ph type="body" sz="quarter" idx="52"/>
          </p:nvPr>
        </p:nvSpPr>
        <p:spPr>
          <a:xfrm>
            <a:off x="1322381" y="4389809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2" name="표 외곽"/>
          <p:cNvSpPr/>
          <p:nvPr/>
        </p:nvSpPr>
        <p:spPr>
          <a:xfrm>
            <a:off x="536870" y="4696591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4713026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4713026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5" name="단계"/>
          <p:cNvSpPr/>
          <p:nvPr/>
        </p:nvSpPr>
        <p:spPr>
          <a:xfrm>
            <a:off x="1161391" y="473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7" name="단계"/>
          <p:cNvSpPr/>
          <p:nvPr/>
        </p:nvSpPr>
        <p:spPr>
          <a:xfrm>
            <a:off x="3044087" y="473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9" name="단계"/>
          <p:cNvSpPr/>
          <p:nvPr/>
        </p:nvSpPr>
        <p:spPr>
          <a:xfrm>
            <a:off x="4926783" y="473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044086" y="473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단계 삼각형"/>
          <p:cNvSpPr/>
          <p:nvPr/>
        </p:nvSpPr>
        <p:spPr>
          <a:xfrm>
            <a:off x="4926782" y="473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3044087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7" name="Connector 72"/>
          <p:cNvCxnSpPr/>
          <p:nvPr/>
        </p:nvCxnSpPr>
        <p:spPr>
          <a:xfrm>
            <a:off x="4926783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3055043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레일"/>
          <p:cNvSpPr/>
          <p:nvPr/>
        </p:nvSpPr>
        <p:spPr>
          <a:xfrm>
            <a:off x="547826" y="5595026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5595026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5" name="레일 삼각형"/>
          <p:cNvSpPr/>
          <p:nvPr/>
        </p:nvSpPr>
        <p:spPr>
          <a:xfrm>
            <a:off x="547826" y="5595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배너"/>
          <p:cNvSpPr/>
          <p:nvPr/>
        </p:nvSpPr>
        <p:spPr>
          <a:xfrm>
            <a:off x="1161391" y="5616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7" name="배너"/>
          <p:cNvSpPr>
            <a:spLocks noGrp="1"/>
          </p:cNvSpPr>
          <p:nvPr>
            <p:ph type="body" sz="quarter" idx="64"/>
          </p:nvPr>
        </p:nvSpPr>
        <p:spPr>
          <a:xfrm>
            <a:off x="1161391" y="5616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8" name="머리칸"/>
          <p:cNvSpPr/>
          <p:nvPr/>
        </p:nvSpPr>
        <p:spPr>
          <a:xfrm>
            <a:off x="1161391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10" name="머리칸"/>
          <p:cNvSpPr/>
          <p:nvPr/>
        </p:nvSpPr>
        <p:spPr>
          <a:xfrm>
            <a:off x="3044087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66"/>
          </p:nvPr>
        </p:nvSpPr>
        <p:spPr>
          <a:xfrm>
            <a:off x="3044087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2" name="머리칸"/>
          <p:cNvSpPr/>
          <p:nvPr/>
        </p:nvSpPr>
        <p:spPr>
          <a:xfrm>
            <a:off x="4926783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67"/>
          </p:nvPr>
        </p:nvSpPr>
        <p:spPr>
          <a:xfrm>
            <a:off x="4926783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5" name="칸 본문"/>
          <p:cNvSpPr>
            <a:spLocks noGrp="1"/>
          </p:cNvSpPr>
          <p:nvPr>
            <p:ph type="body" sz="quarter" idx="69"/>
          </p:nvPr>
        </p:nvSpPr>
        <p:spPr>
          <a:xfrm>
            <a:off x="3055043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6" name="Connector 86"/>
          <p:cNvCxnSpPr/>
          <p:nvPr/>
        </p:nvCxnSpPr>
        <p:spPr>
          <a:xfrm>
            <a:off x="3044087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칸 본문"/>
          <p:cNvSpPr>
            <a:spLocks noGrp="1"/>
          </p:cNvSpPr>
          <p:nvPr>
            <p:ph type="body" sz="quarter" idx="70"/>
          </p:nvPr>
        </p:nvSpPr>
        <p:spPr>
          <a:xfrm>
            <a:off x="4937739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8" name="Connector 88"/>
          <p:cNvCxnSpPr/>
          <p:nvPr/>
        </p:nvCxnSpPr>
        <p:spPr>
          <a:xfrm>
            <a:off x="4926783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9" name="캡션 띠"/>
          <p:cNvSpPr/>
          <p:nvPr/>
        </p:nvSpPr>
        <p:spPr>
          <a:xfrm>
            <a:off x="536869" y="646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태그"/>
          <p:cNvSpPr/>
          <p:nvPr/>
        </p:nvSpPr>
        <p:spPr>
          <a:xfrm>
            <a:off x="865565" y="6509896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1" name="태그"/>
          <p:cNvSpPr>
            <a:spLocks noGrp="1"/>
          </p:cNvSpPr>
          <p:nvPr>
            <p:ph type="body" sz="quarter" idx="71"/>
          </p:nvPr>
        </p:nvSpPr>
        <p:spPr>
          <a:xfrm>
            <a:off x="865565" y="6509896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2" name="캡션"/>
          <p:cNvSpPr>
            <a:spLocks noGrp="1"/>
          </p:cNvSpPr>
          <p:nvPr>
            <p:ph type="body" sz="quarter" idx="72"/>
          </p:nvPr>
        </p:nvSpPr>
        <p:spPr>
          <a:xfrm>
            <a:off x="1468988" y="6466070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3" name="표 외곽"/>
          <p:cNvSpPr/>
          <p:nvPr/>
        </p:nvSpPr>
        <p:spPr>
          <a:xfrm>
            <a:off x="536870" y="6772852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547826" y="678928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678928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6" name="단계"/>
          <p:cNvSpPr/>
          <p:nvPr/>
        </p:nvSpPr>
        <p:spPr>
          <a:xfrm>
            <a:off x="1161391" y="68112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7" name="단계"/>
          <p:cNvSpPr>
            <a:spLocks noGrp="1"/>
          </p:cNvSpPr>
          <p:nvPr>
            <p:ph type="body" sz="quarter" idx="74"/>
          </p:nvPr>
        </p:nvSpPr>
        <p:spPr>
          <a:xfrm>
            <a:off x="1161391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8" name="단계"/>
          <p:cNvSpPr/>
          <p:nvPr/>
        </p:nvSpPr>
        <p:spPr>
          <a:xfrm>
            <a:off x="3044087" y="68112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9" name="단계"/>
          <p:cNvSpPr>
            <a:spLocks noGrp="1"/>
          </p:cNvSpPr>
          <p:nvPr>
            <p:ph type="body" sz="quarter" idx="75"/>
          </p:nvPr>
        </p:nvSpPr>
        <p:spPr>
          <a:xfrm>
            <a:off x="3044087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30" name="단계"/>
          <p:cNvSpPr/>
          <p:nvPr/>
        </p:nvSpPr>
        <p:spPr>
          <a:xfrm>
            <a:off x="4926783" y="68112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1" name="단계"/>
          <p:cNvSpPr>
            <a:spLocks noGrp="1"/>
          </p:cNvSpPr>
          <p:nvPr>
            <p:ph type="body" sz="quarter" idx="76"/>
          </p:nvPr>
        </p:nvSpPr>
        <p:spPr>
          <a:xfrm>
            <a:off x="4926783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2" name="단계 삼각형"/>
          <p:cNvSpPr/>
          <p:nvPr/>
        </p:nvSpPr>
        <p:spPr>
          <a:xfrm>
            <a:off x="3044086" y="68112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단계 삼각형"/>
          <p:cNvSpPr/>
          <p:nvPr/>
        </p:nvSpPr>
        <p:spPr>
          <a:xfrm>
            <a:off x="4926782" y="68112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7"/>
          </p:nvPr>
        </p:nvSpPr>
        <p:spPr>
          <a:xfrm>
            <a:off x="1172348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78"/>
          </p:nvPr>
        </p:nvSpPr>
        <p:spPr>
          <a:xfrm>
            <a:off x="3055043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79"/>
          </p:nvPr>
        </p:nvSpPr>
        <p:spPr>
          <a:xfrm>
            <a:off x="4937739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547826" y="7391896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80"/>
          </p:nvPr>
        </p:nvSpPr>
        <p:spPr>
          <a:xfrm>
            <a:off x="547826" y="7391896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1" name="레일 삼각형"/>
          <p:cNvSpPr/>
          <p:nvPr/>
        </p:nvSpPr>
        <p:spPr>
          <a:xfrm>
            <a:off x="547826" y="73918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배너"/>
          <p:cNvSpPr/>
          <p:nvPr/>
        </p:nvSpPr>
        <p:spPr>
          <a:xfrm>
            <a:off x="1161391" y="74138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3" name="배너"/>
          <p:cNvSpPr>
            <a:spLocks noGrp="1"/>
          </p:cNvSpPr>
          <p:nvPr>
            <p:ph type="body" sz="quarter" idx="81"/>
          </p:nvPr>
        </p:nvSpPr>
        <p:spPr>
          <a:xfrm>
            <a:off x="1161391" y="74138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4" name="태그"/>
          <p:cNvSpPr/>
          <p:nvPr/>
        </p:nvSpPr>
        <p:spPr>
          <a:xfrm>
            <a:off x="1161391" y="76712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2"/>
          </p:nvPr>
        </p:nvSpPr>
        <p:spPr>
          <a:xfrm>
            <a:off x="1161391" y="76712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6" name="태그 설명"/>
          <p:cNvSpPr>
            <a:spLocks noGrp="1"/>
          </p:cNvSpPr>
          <p:nvPr>
            <p:ph type="body" sz="quarter" idx="83"/>
          </p:nvPr>
        </p:nvSpPr>
        <p:spPr>
          <a:xfrm>
            <a:off x="1786727" y="76603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7" name="태그"/>
          <p:cNvSpPr/>
          <p:nvPr/>
        </p:nvSpPr>
        <p:spPr>
          <a:xfrm>
            <a:off x="1161391" y="78685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8" name="태그"/>
          <p:cNvSpPr>
            <a:spLocks noGrp="1"/>
          </p:cNvSpPr>
          <p:nvPr>
            <p:ph type="body" sz="quarter" idx="84"/>
          </p:nvPr>
        </p:nvSpPr>
        <p:spPr>
          <a:xfrm>
            <a:off x="1161391" y="78685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9" name="태그 설명"/>
          <p:cNvSpPr>
            <a:spLocks noGrp="1"/>
          </p:cNvSpPr>
          <p:nvPr>
            <p:ph type="body" sz="quarter" idx="85"/>
          </p:nvPr>
        </p:nvSpPr>
        <p:spPr>
          <a:xfrm>
            <a:off x="1786727" y="78575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12852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83304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3"/>
          </p:nvPr>
        </p:nvSpPr>
        <p:spPr>
          <a:xfrm>
            <a:off x="942261" y="1183304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1545683" y="1128522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0" name="주체 박스"/>
          <p:cNvSpPr/>
          <p:nvPr/>
        </p:nvSpPr>
        <p:spPr>
          <a:xfrm>
            <a:off x="723130" y="1457217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1" name="주체 박스"/>
          <p:cNvSpPr>
            <a:spLocks noGrp="1"/>
          </p:cNvSpPr>
          <p:nvPr>
            <p:ph type="body" sz="quarter" idx="25"/>
          </p:nvPr>
        </p:nvSpPr>
        <p:spPr>
          <a:xfrm>
            <a:off x="723130" y="1457217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2" name="시작"/>
          <p:cNvSpPr>
            <a:spLocks noGrp="1"/>
          </p:cNvSpPr>
          <p:nvPr>
            <p:ph type="body" sz="quarter" idx="26"/>
          </p:nvPr>
        </p:nvSpPr>
        <p:spPr>
          <a:xfrm>
            <a:off x="1942043" y="2016000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3" name="로드맵 선"/>
          <p:cNvSpPr/>
          <p:nvPr/>
        </p:nvSpPr>
        <p:spPr>
          <a:xfrm>
            <a:off x="2413174" y="2076261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위 마디"/>
          <p:cNvSpPr/>
          <p:nvPr/>
        </p:nvSpPr>
        <p:spPr>
          <a:xfrm>
            <a:off x="242413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위 마디"/>
          <p:cNvSpPr>
            <a:spLocks noGrp="1"/>
          </p:cNvSpPr>
          <p:nvPr>
            <p:ph type="body" sz="quarter" idx="27"/>
          </p:nvPr>
        </p:nvSpPr>
        <p:spPr>
          <a:xfrm>
            <a:off x="242413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821578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날짜"/>
          <p:cNvSpPr>
            <a:spLocks noGrp="1"/>
          </p:cNvSpPr>
          <p:nvPr>
            <p:ph type="body" sz="quarter" idx="28"/>
          </p:nvPr>
        </p:nvSpPr>
        <p:spPr>
          <a:xfrm>
            <a:off x="2413174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8" name="마디 점"/>
          <p:cNvSpPr/>
          <p:nvPr/>
        </p:nvSpPr>
        <p:spPr>
          <a:xfrm>
            <a:off x="283253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위 마디"/>
          <p:cNvSpPr/>
          <p:nvPr/>
        </p:nvSpPr>
        <p:spPr>
          <a:xfrm>
            <a:off x="3339548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위 마디"/>
          <p:cNvSpPr>
            <a:spLocks noGrp="1"/>
          </p:cNvSpPr>
          <p:nvPr>
            <p:ph type="body" sz="quarter" idx="29"/>
          </p:nvPr>
        </p:nvSpPr>
        <p:spPr>
          <a:xfrm>
            <a:off x="3339548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736995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날짜"/>
          <p:cNvSpPr>
            <a:spLocks noGrp="1"/>
          </p:cNvSpPr>
          <p:nvPr>
            <p:ph type="body" sz="quarter" idx="30"/>
          </p:nvPr>
        </p:nvSpPr>
        <p:spPr>
          <a:xfrm>
            <a:off x="3328591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3" name="마디 점"/>
          <p:cNvSpPr/>
          <p:nvPr/>
        </p:nvSpPr>
        <p:spPr>
          <a:xfrm>
            <a:off x="374795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위 마디"/>
          <p:cNvSpPr/>
          <p:nvPr/>
        </p:nvSpPr>
        <p:spPr>
          <a:xfrm>
            <a:off x="4254965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위 마디"/>
          <p:cNvSpPr>
            <a:spLocks noGrp="1"/>
          </p:cNvSpPr>
          <p:nvPr>
            <p:ph type="body" sz="quarter" idx="31"/>
          </p:nvPr>
        </p:nvSpPr>
        <p:spPr>
          <a:xfrm>
            <a:off x="4254965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4652413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날짜"/>
          <p:cNvSpPr>
            <a:spLocks noGrp="1"/>
          </p:cNvSpPr>
          <p:nvPr>
            <p:ph type="body" sz="quarter" idx="32"/>
          </p:nvPr>
        </p:nvSpPr>
        <p:spPr>
          <a:xfrm>
            <a:off x="4244009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8" name="마디 점"/>
          <p:cNvSpPr/>
          <p:nvPr/>
        </p:nvSpPr>
        <p:spPr>
          <a:xfrm>
            <a:off x="4663370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위 마디"/>
          <p:cNvSpPr/>
          <p:nvPr/>
        </p:nvSpPr>
        <p:spPr>
          <a:xfrm>
            <a:off x="5170383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위 마디"/>
          <p:cNvSpPr>
            <a:spLocks noGrp="1"/>
          </p:cNvSpPr>
          <p:nvPr>
            <p:ph type="body" sz="quarter" idx="33"/>
          </p:nvPr>
        </p:nvSpPr>
        <p:spPr>
          <a:xfrm>
            <a:off x="5170383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5567830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날짜"/>
          <p:cNvSpPr>
            <a:spLocks noGrp="1"/>
          </p:cNvSpPr>
          <p:nvPr>
            <p:ph type="body" sz="quarter" idx="34"/>
          </p:nvPr>
        </p:nvSpPr>
        <p:spPr>
          <a:xfrm>
            <a:off x="5159426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3" name="마디 점"/>
          <p:cNvSpPr/>
          <p:nvPr/>
        </p:nvSpPr>
        <p:spPr>
          <a:xfrm>
            <a:off x="557878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위 마디"/>
          <p:cNvSpPr/>
          <p:nvPr/>
        </p:nvSpPr>
        <p:spPr>
          <a:xfrm>
            <a:off x="608580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위 마디"/>
          <p:cNvSpPr>
            <a:spLocks noGrp="1"/>
          </p:cNvSpPr>
          <p:nvPr>
            <p:ph type="body" sz="quarter" idx="35"/>
          </p:nvPr>
        </p:nvSpPr>
        <p:spPr>
          <a:xfrm>
            <a:off x="608580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6" name="삼각 화살표"/>
          <p:cNvSpPr/>
          <p:nvPr/>
        </p:nvSpPr>
        <p:spPr>
          <a:xfrm>
            <a:off x="6483247" y="1827000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날짜"/>
          <p:cNvSpPr>
            <a:spLocks noGrp="1"/>
          </p:cNvSpPr>
          <p:nvPr>
            <p:ph type="body" sz="quarter" idx="36"/>
          </p:nvPr>
        </p:nvSpPr>
        <p:spPr>
          <a:xfrm>
            <a:off x="6074843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8" name="마디 점"/>
          <p:cNvSpPr/>
          <p:nvPr/>
        </p:nvSpPr>
        <p:spPr>
          <a:xfrm>
            <a:off x="649420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마디 점"/>
          <p:cNvSpPr/>
          <p:nvPr/>
        </p:nvSpPr>
        <p:spPr>
          <a:xfrm>
            <a:off x="294696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날짜"/>
          <p:cNvSpPr>
            <a:spLocks noGrp="1"/>
          </p:cNvSpPr>
          <p:nvPr>
            <p:ph type="body" sz="quarter" idx="37"/>
          </p:nvPr>
        </p:nvSpPr>
        <p:spPr>
          <a:xfrm>
            <a:off x="2413174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1" name="아래 마디"/>
          <p:cNvSpPr/>
          <p:nvPr/>
        </p:nvSpPr>
        <p:spPr>
          <a:xfrm>
            <a:off x="2424130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아래 마디"/>
          <p:cNvSpPr>
            <a:spLocks noGrp="1"/>
          </p:cNvSpPr>
          <p:nvPr>
            <p:ph type="body" sz="quarter" idx="38"/>
          </p:nvPr>
        </p:nvSpPr>
        <p:spPr>
          <a:xfrm>
            <a:off x="2424130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3" name="마디 점"/>
          <p:cNvSpPr/>
          <p:nvPr/>
        </p:nvSpPr>
        <p:spPr>
          <a:xfrm>
            <a:off x="409123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날짜"/>
          <p:cNvSpPr>
            <a:spLocks noGrp="1"/>
          </p:cNvSpPr>
          <p:nvPr>
            <p:ph type="body" sz="quarter" idx="39"/>
          </p:nvPr>
        </p:nvSpPr>
        <p:spPr>
          <a:xfrm>
            <a:off x="3557446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5" name="아래 마디"/>
          <p:cNvSpPr/>
          <p:nvPr/>
        </p:nvSpPr>
        <p:spPr>
          <a:xfrm>
            <a:off x="3568402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아래 마디"/>
          <p:cNvSpPr>
            <a:spLocks noGrp="1"/>
          </p:cNvSpPr>
          <p:nvPr>
            <p:ph type="body" sz="quarter" idx="40"/>
          </p:nvPr>
        </p:nvSpPr>
        <p:spPr>
          <a:xfrm>
            <a:off x="3568402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7" name="마디 점"/>
          <p:cNvSpPr/>
          <p:nvPr/>
        </p:nvSpPr>
        <p:spPr>
          <a:xfrm>
            <a:off x="523550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날짜"/>
          <p:cNvSpPr>
            <a:spLocks noGrp="1"/>
          </p:cNvSpPr>
          <p:nvPr>
            <p:ph type="body" sz="quarter" idx="41"/>
          </p:nvPr>
        </p:nvSpPr>
        <p:spPr>
          <a:xfrm>
            <a:off x="4701717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59" name="아래 마디"/>
          <p:cNvSpPr/>
          <p:nvPr/>
        </p:nvSpPr>
        <p:spPr>
          <a:xfrm>
            <a:off x="4712674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아래 마디"/>
          <p:cNvSpPr>
            <a:spLocks noGrp="1"/>
          </p:cNvSpPr>
          <p:nvPr>
            <p:ph type="body" sz="quarter" idx="42"/>
          </p:nvPr>
        </p:nvSpPr>
        <p:spPr>
          <a:xfrm>
            <a:off x="4712674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1" name="마디 점"/>
          <p:cNvSpPr/>
          <p:nvPr/>
        </p:nvSpPr>
        <p:spPr>
          <a:xfrm>
            <a:off x="637977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날짜"/>
          <p:cNvSpPr>
            <a:spLocks noGrp="1"/>
          </p:cNvSpPr>
          <p:nvPr>
            <p:ph type="body" sz="quarter" idx="43"/>
          </p:nvPr>
        </p:nvSpPr>
        <p:spPr>
          <a:xfrm>
            <a:off x="5845989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3" name="아래 마디"/>
          <p:cNvSpPr/>
          <p:nvPr/>
        </p:nvSpPr>
        <p:spPr>
          <a:xfrm>
            <a:off x="5856946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아래 마디"/>
          <p:cNvSpPr>
            <a:spLocks noGrp="1"/>
          </p:cNvSpPr>
          <p:nvPr>
            <p:ph type="body" sz="quarter" idx="44"/>
          </p:nvPr>
        </p:nvSpPr>
        <p:spPr>
          <a:xfrm>
            <a:off x="5856946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5" name="배너"/>
          <p:cNvSpPr/>
          <p:nvPr/>
        </p:nvSpPr>
        <p:spPr>
          <a:xfrm>
            <a:off x="723130" y="278295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942261" y="2837739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5"/>
          </p:nvPr>
        </p:nvSpPr>
        <p:spPr>
          <a:xfrm>
            <a:off x="942261" y="2837739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8" name="배너 글"/>
          <p:cNvSpPr>
            <a:spLocks noGrp="1"/>
          </p:cNvSpPr>
          <p:nvPr>
            <p:ph type="body" sz="quarter" idx="46"/>
          </p:nvPr>
        </p:nvSpPr>
        <p:spPr>
          <a:xfrm>
            <a:off x="1574955" y="2782957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69" name="머리"/>
          <p:cNvSpPr/>
          <p:nvPr/>
        </p:nvSpPr>
        <p:spPr>
          <a:xfrm>
            <a:off x="7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777913" y="3139043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47"/>
          </p:nvPr>
        </p:nvSpPr>
        <p:spPr>
          <a:xfrm>
            <a:off x="777913" y="3139043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2" name="머리 글"/>
          <p:cNvSpPr>
            <a:spLocks noGrp="1"/>
          </p:cNvSpPr>
          <p:nvPr>
            <p:ph type="body" sz="quarter" idx="48"/>
          </p:nvPr>
        </p:nvSpPr>
        <p:spPr>
          <a:xfrm>
            <a:off x="1103172" y="3100696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3" name="본문"/>
          <p:cNvSpPr>
            <a:spLocks noGrp="1"/>
          </p:cNvSpPr>
          <p:nvPr>
            <p:ph type="body" sz="quarter" idx="49"/>
          </p:nvPr>
        </p:nvSpPr>
        <p:spPr>
          <a:xfrm>
            <a:off x="7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4" name="머리"/>
          <p:cNvSpPr/>
          <p:nvPr/>
        </p:nvSpPr>
        <p:spPr>
          <a:xfrm>
            <a:off x="28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2877913" y="3139043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50"/>
          </p:nvPr>
        </p:nvSpPr>
        <p:spPr>
          <a:xfrm>
            <a:off x="2877913" y="3139043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7" name="머리 글"/>
          <p:cNvSpPr>
            <a:spLocks noGrp="1"/>
          </p:cNvSpPr>
          <p:nvPr>
            <p:ph type="body" sz="quarter" idx="51"/>
          </p:nvPr>
        </p:nvSpPr>
        <p:spPr>
          <a:xfrm>
            <a:off x="3211854" y="3100696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8" name="본문"/>
          <p:cNvSpPr>
            <a:spLocks noGrp="1"/>
          </p:cNvSpPr>
          <p:nvPr>
            <p:ph type="body" sz="quarter" idx="52"/>
          </p:nvPr>
        </p:nvSpPr>
        <p:spPr>
          <a:xfrm>
            <a:off x="28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28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"/>
          <p:cNvSpPr/>
          <p:nvPr/>
        </p:nvSpPr>
        <p:spPr>
          <a:xfrm>
            <a:off x="49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태그"/>
          <p:cNvSpPr/>
          <p:nvPr/>
        </p:nvSpPr>
        <p:spPr>
          <a:xfrm>
            <a:off x="4977913" y="3139043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3"/>
          </p:nvPr>
        </p:nvSpPr>
        <p:spPr>
          <a:xfrm>
            <a:off x="4977913" y="3139043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3" name="머리 글"/>
          <p:cNvSpPr>
            <a:spLocks noGrp="1"/>
          </p:cNvSpPr>
          <p:nvPr>
            <p:ph type="body" sz="quarter" idx="54"/>
          </p:nvPr>
        </p:nvSpPr>
        <p:spPr>
          <a:xfrm>
            <a:off x="5311729" y="3100696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4" name="본문"/>
          <p:cNvSpPr>
            <a:spLocks noGrp="1"/>
          </p:cNvSpPr>
          <p:nvPr>
            <p:ph type="body" sz="quarter" idx="55"/>
          </p:nvPr>
        </p:nvSpPr>
        <p:spPr>
          <a:xfrm>
            <a:off x="49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9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단계"/>
          <p:cNvSpPr/>
          <p:nvPr/>
        </p:nvSpPr>
        <p:spPr>
          <a:xfrm>
            <a:off x="1249043" y="3812870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6"/>
          </p:nvPr>
        </p:nvSpPr>
        <p:spPr>
          <a:xfrm>
            <a:off x="1249043" y="3812870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8" name="단계"/>
          <p:cNvSpPr/>
          <p:nvPr/>
        </p:nvSpPr>
        <p:spPr>
          <a:xfrm>
            <a:off x="4125130" y="3812870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7"/>
          </p:nvPr>
        </p:nvSpPr>
        <p:spPr>
          <a:xfrm>
            <a:off x="4125130" y="3812870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4125130" y="3812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행 틀"/>
          <p:cNvSpPr/>
          <p:nvPr/>
        </p:nvSpPr>
        <p:spPr>
          <a:xfrm>
            <a:off x="723130" y="4064870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4075826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4075826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4" name="번호 칩"/>
          <p:cNvSpPr/>
          <p:nvPr/>
        </p:nvSpPr>
        <p:spPr>
          <a:xfrm>
            <a:off x="1270957" y="4114174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5" name="번호 칩"/>
          <p:cNvSpPr>
            <a:spLocks noGrp="1"/>
          </p:cNvSpPr>
          <p:nvPr>
            <p:ph type="body" sz="quarter" idx="59"/>
          </p:nvPr>
        </p:nvSpPr>
        <p:spPr>
          <a:xfrm>
            <a:off x="1270957" y="4114174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60"/>
          </p:nvPr>
        </p:nvSpPr>
        <p:spPr>
          <a:xfrm>
            <a:off x="1528653" y="4097739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7" name="번호 칩"/>
          <p:cNvSpPr/>
          <p:nvPr/>
        </p:nvSpPr>
        <p:spPr>
          <a:xfrm>
            <a:off x="1270957" y="4284000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번호 칩"/>
          <p:cNvSpPr>
            <a:spLocks noGrp="1"/>
          </p:cNvSpPr>
          <p:nvPr>
            <p:ph type="body" sz="quarter" idx="61"/>
          </p:nvPr>
        </p:nvSpPr>
        <p:spPr>
          <a:xfrm>
            <a:off x="1270957" y="4284000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62"/>
          </p:nvPr>
        </p:nvSpPr>
        <p:spPr>
          <a:xfrm>
            <a:off x="1517380" y="4267565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0" name="번호 칩"/>
          <p:cNvSpPr/>
          <p:nvPr/>
        </p:nvSpPr>
        <p:spPr>
          <a:xfrm>
            <a:off x="4147043" y="4114174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1" name="번호 칩"/>
          <p:cNvSpPr>
            <a:spLocks noGrp="1"/>
          </p:cNvSpPr>
          <p:nvPr>
            <p:ph type="body" sz="quarter" idx="63"/>
          </p:nvPr>
        </p:nvSpPr>
        <p:spPr>
          <a:xfrm>
            <a:off x="4147043" y="4114174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64"/>
          </p:nvPr>
        </p:nvSpPr>
        <p:spPr>
          <a:xfrm>
            <a:off x="4401504" y="4097739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3" name="번호 칩"/>
          <p:cNvSpPr/>
          <p:nvPr/>
        </p:nvSpPr>
        <p:spPr>
          <a:xfrm>
            <a:off x="4147043" y="4284000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4" name="번호 칩"/>
          <p:cNvSpPr>
            <a:spLocks noGrp="1"/>
          </p:cNvSpPr>
          <p:nvPr>
            <p:ph type="body" sz="quarter" idx="65"/>
          </p:nvPr>
        </p:nvSpPr>
        <p:spPr>
          <a:xfrm>
            <a:off x="4147043" y="4284000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5" name="과제명"/>
          <p:cNvSpPr>
            <a:spLocks noGrp="1"/>
          </p:cNvSpPr>
          <p:nvPr>
            <p:ph type="body" sz="quarter" idx="66"/>
          </p:nvPr>
        </p:nvSpPr>
        <p:spPr>
          <a:xfrm>
            <a:off x="4406862" y="4267565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4114174" y="4086783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7" name="행 틀"/>
          <p:cNvSpPr/>
          <p:nvPr/>
        </p:nvSpPr>
        <p:spPr>
          <a:xfrm>
            <a:off x="723130" y="4470261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레일"/>
          <p:cNvSpPr/>
          <p:nvPr/>
        </p:nvSpPr>
        <p:spPr>
          <a:xfrm>
            <a:off x="734087" y="4481217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4481217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0" name="번호 칩"/>
          <p:cNvSpPr/>
          <p:nvPr/>
        </p:nvSpPr>
        <p:spPr>
          <a:xfrm>
            <a:off x="1270957" y="4519565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번호 칩"/>
          <p:cNvSpPr>
            <a:spLocks noGrp="1"/>
          </p:cNvSpPr>
          <p:nvPr>
            <p:ph type="body" sz="quarter" idx="68"/>
          </p:nvPr>
        </p:nvSpPr>
        <p:spPr>
          <a:xfrm>
            <a:off x="1270957" y="4519565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2" name="과제명"/>
          <p:cNvSpPr>
            <a:spLocks noGrp="1"/>
          </p:cNvSpPr>
          <p:nvPr>
            <p:ph type="body" sz="quarter" idx="69"/>
          </p:nvPr>
        </p:nvSpPr>
        <p:spPr>
          <a:xfrm>
            <a:off x="1503872" y="4503130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3" name="번호 칩"/>
          <p:cNvSpPr/>
          <p:nvPr/>
        </p:nvSpPr>
        <p:spPr>
          <a:xfrm>
            <a:off x="1270957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4" name="번호 칩"/>
          <p:cNvSpPr>
            <a:spLocks noGrp="1"/>
          </p:cNvSpPr>
          <p:nvPr>
            <p:ph type="body" sz="quarter" idx="70"/>
          </p:nvPr>
        </p:nvSpPr>
        <p:spPr>
          <a:xfrm>
            <a:off x="1270957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5" name="과제명"/>
          <p:cNvSpPr>
            <a:spLocks noGrp="1"/>
          </p:cNvSpPr>
          <p:nvPr>
            <p:ph type="body" sz="quarter" idx="71"/>
          </p:nvPr>
        </p:nvSpPr>
        <p:spPr>
          <a:xfrm>
            <a:off x="1516040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6" name="번호 칩"/>
          <p:cNvSpPr/>
          <p:nvPr/>
        </p:nvSpPr>
        <p:spPr>
          <a:xfrm>
            <a:off x="4147043" y="4519565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7" name="번호 칩"/>
          <p:cNvSpPr>
            <a:spLocks noGrp="1"/>
          </p:cNvSpPr>
          <p:nvPr>
            <p:ph type="body" sz="quarter" idx="72"/>
          </p:nvPr>
        </p:nvSpPr>
        <p:spPr>
          <a:xfrm>
            <a:off x="4147043" y="4519565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8" name="과제명"/>
          <p:cNvSpPr>
            <a:spLocks noGrp="1"/>
          </p:cNvSpPr>
          <p:nvPr>
            <p:ph type="body" sz="quarter" idx="73"/>
          </p:nvPr>
        </p:nvSpPr>
        <p:spPr>
          <a:xfrm>
            <a:off x="4405074" y="4503130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19" name="번호 칩"/>
          <p:cNvSpPr/>
          <p:nvPr/>
        </p:nvSpPr>
        <p:spPr>
          <a:xfrm>
            <a:off x="4147043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번호 칩"/>
          <p:cNvSpPr>
            <a:spLocks noGrp="1"/>
          </p:cNvSpPr>
          <p:nvPr>
            <p:ph type="body" sz="quarter" idx="74"/>
          </p:nvPr>
        </p:nvSpPr>
        <p:spPr>
          <a:xfrm>
            <a:off x="4147043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1" name="과제명"/>
          <p:cNvSpPr>
            <a:spLocks noGrp="1"/>
          </p:cNvSpPr>
          <p:nvPr>
            <p:ph type="body" sz="quarter" idx="75"/>
          </p:nvPr>
        </p:nvSpPr>
        <p:spPr>
          <a:xfrm>
            <a:off x="4392127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2" name="Connector 88"/>
          <p:cNvCxnSpPr/>
          <p:nvPr/>
        </p:nvCxnSpPr>
        <p:spPr>
          <a:xfrm>
            <a:off x="4114174" y="4492174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3" name="행 틀"/>
          <p:cNvSpPr/>
          <p:nvPr/>
        </p:nvSpPr>
        <p:spPr>
          <a:xfrm>
            <a:off x="723130" y="4875652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734087" y="4886609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6"/>
          </p:nvPr>
        </p:nvSpPr>
        <p:spPr>
          <a:xfrm>
            <a:off x="734087" y="4886609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6" name="번호 칩"/>
          <p:cNvSpPr/>
          <p:nvPr/>
        </p:nvSpPr>
        <p:spPr>
          <a:xfrm>
            <a:off x="1270957" y="4924957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7" name="번호 칩"/>
          <p:cNvSpPr>
            <a:spLocks noGrp="1"/>
          </p:cNvSpPr>
          <p:nvPr>
            <p:ph type="body" sz="quarter" idx="77"/>
          </p:nvPr>
        </p:nvSpPr>
        <p:spPr>
          <a:xfrm>
            <a:off x="1270957" y="4924957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8" name="과제명"/>
          <p:cNvSpPr>
            <a:spLocks noGrp="1"/>
          </p:cNvSpPr>
          <p:nvPr>
            <p:ph type="body" sz="quarter" idx="78"/>
          </p:nvPr>
        </p:nvSpPr>
        <p:spPr>
          <a:xfrm>
            <a:off x="1526978" y="4908522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29" name="번호 칩"/>
          <p:cNvSpPr/>
          <p:nvPr/>
        </p:nvSpPr>
        <p:spPr>
          <a:xfrm>
            <a:off x="1270957" y="5094783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번호 칩"/>
          <p:cNvSpPr>
            <a:spLocks noGrp="1"/>
          </p:cNvSpPr>
          <p:nvPr>
            <p:ph type="body" sz="quarter" idx="79"/>
          </p:nvPr>
        </p:nvSpPr>
        <p:spPr>
          <a:xfrm>
            <a:off x="1270957" y="5094783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과제명"/>
          <p:cNvSpPr>
            <a:spLocks noGrp="1"/>
          </p:cNvSpPr>
          <p:nvPr>
            <p:ph type="body" sz="quarter" idx="80"/>
          </p:nvPr>
        </p:nvSpPr>
        <p:spPr>
          <a:xfrm>
            <a:off x="1531109" y="5078348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2" name="번호 칩"/>
          <p:cNvSpPr/>
          <p:nvPr/>
        </p:nvSpPr>
        <p:spPr>
          <a:xfrm>
            <a:off x="4147043" y="4924957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3" name="번호 칩"/>
          <p:cNvSpPr>
            <a:spLocks noGrp="1"/>
          </p:cNvSpPr>
          <p:nvPr>
            <p:ph type="body" sz="quarter" idx="81"/>
          </p:nvPr>
        </p:nvSpPr>
        <p:spPr>
          <a:xfrm>
            <a:off x="4147043" y="4924957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4" name="과제명"/>
          <p:cNvSpPr>
            <a:spLocks noGrp="1"/>
          </p:cNvSpPr>
          <p:nvPr>
            <p:ph type="body" sz="quarter" idx="82"/>
          </p:nvPr>
        </p:nvSpPr>
        <p:spPr>
          <a:xfrm>
            <a:off x="4383195" y="4908522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5" name="번호 칩"/>
          <p:cNvSpPr/>
          <p:nvPr/>
        </p:nvSpPr>
        <p:spPr>
          <a:xfrm>
            <a:off x="4147043" y="5094783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6" name="번호 칩"/>
          <p:cNvSpPr>
            <a:spLocks noGrp="1"/>
          </p:cNvSpPr>
          <p:nvPr>
            <p:ph type="body" sz="quarter" idx="83"/>
          </p:nvPr>
        </p:nvSpPr>
        <p:spPr>
          <a:xfrm>
            <a:off x="4147043" y="5094783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7" name="과제명"/>
          <p:cNvSpPr>
            <a:spLocks noGrp="1"/>
          </p:cNvSpPr>
          <p:nvPr>
            <p:ph type="body" sz="quarter" idx="84"/>
          </p:nvPr>
        </p:nvSpPr>
        <p:spPr>
          <a:xfrm>
            <a:off x="4571513" y="5078348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8" name="Connector 99"/>
          <p:cNvCxnSpPr/>
          <p:nvPr/>
        </p:nvCxnSpPr>
        <p:spPr>
          <a:xfrm>
            <a:off x="4114174" y="4897565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39" name="배너"/>
          <p:cNvSpPr/>
          <p:nvPr/>
        </p:nvSpPr>
        <p:spPr>
          <a:xfrm>
            <a:off x="723130" y="5324869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태그"/>
          <p:cNvSpPr/>
          <p:nvPr/>
        </p:nvSpPr>
        <p:spPr>
          <a:xfrm>
            <a:off x="942261" y="5379652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1" name="태그"/>
          <p:cNvSpPr>
            <a:spLocks noGrp="1"/>
          </p:cNvSpPr>
          <p:nvPr>
            <p:ph type="body" sz="quarter" idx="85"/>
          </p:nvPr>
        </p:nvSpPr>
        <p:spPr>
          <a:xfrm>
            <a:off x="942261" y="5379652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2" name="배너 글"/>
          <p:cNvSpPr>
            <a:spLocks noGrp="1"/>
          </p:cNvSpPr>
          <p:nvPr>
            <p:ph type="body" sz="quarter" idx="86"/>
          </p:nvPr>
        </p:nvSpPr>
        <p:spPr>
          <a:xfrm>
            <a:off x="1574955" y="532487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3" name="머리"/>
          <p:cNvSpPr/>
          <p:nvPr/>
        </p:nvSpPr>
        <p:spPr>
          <a:xfrm>
            <a:off x="72313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4" name="태그"/>
          <p:cNvSpPr/>
          <p:nvPr/>
        </p:nvSpPr>
        <p:spPr>
          <a:xfrm>
            <a:off x="766957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7"/>
          </p:nvPr>
        </p:nvSpPr>
        <p:spPr>
          <a:xfrm>
            <a:off x="766957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6" name="머리 글"/>
          <p:cNvSpPr>
            <a:spLocks noGrp="1"/>
          </p:cNvSpPr>
          <p:nvPr>
            <p:ph type="body" sz="quarter" idx="88"/>
          </p:nvPr>
        </p:nvSpPr>
        <p:spPr>
          <a:xfrm>
            <a:off x="1128929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7" name="삼각 화살표"/>
          <p:cNvSpPr/>
          <p:nvPr/>
        </p:nvSpPr>
        <p:spPr>
          <a:xfrm>
            <a:off x="3747130" y="5697391"/>
            <a:ext cx="76696" cy="131478"/>
          </a:xfrm>
          <a:custGeom>
            <a:avLst/>
            <a:gdLst/>
            <a:ahLst/>
            <a:cxnLst/>
            <a:rect l="l" t="t" r="r" b="b"/>
            <a:pathLst>
              <a:path w="76696" h="131478">
                <a:moveTo>
                  <a:pt x="0" y="0"/>
                </a:moveTo>
                <a:lnTo>
                  <a:pt x="0" y="131478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알약 칸"/>
          <p:cNvSpPr/>
          <p:nvPr/>
        </p:nvSpPr>
        <p:spPr>
          <a:xfrm>
            <a:off x="72313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49" name="알약 칸"/>
          <p:cNvSpPr>
            <a:spLocks noGrp="1"/>
          </p:cNvSpPr>
          <p:nvPr>
            <p:ph type="body" sz="quarter" idx="89"/>
          </p:nvPr>
        </p:nvSpPr>
        <p:spPr>
          <a:xfrm>
            <a:off x="72313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0" name="Connector 108"/>
          <p:cNvCxnSpPr/>
          <p:nvPr/>
        </p:nvCxnSpPr>
        <p:spPr>
          <a:xfrm>
            <a:off x="212583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1" name="연결 점"/>
          <p:cNvSpPr/>
          <p:nvPr/>
        </p:nvSpPr>
        <p:spPr>
          <a:xfrm>
            <a:off x="210392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상자"/>
          <p:cNvSpPr/>
          <p:nvPr/>
        </p:nvSpPr>
        <p:spPr>
          <a:xfrm>
            <a:off x="243755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3" name="상자"/>
          <p:cNvSpPr>
            <a:spLocks noGrp="1"/>
          </p:cNvSpPr>
          <p:nvPr>
            <p:ph type="body" sz="quarter" idx="90"/>
          </p:nvPr>
        </p:nvSpPr>
        <p:spPr>
          <a:xfrm>
            <a:off x="243755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4" name="알약 칸"/>
          <p:cNvSpPr/>
          <p:nvPr/>
        </p:nvSpPr>
        <p:spPr>
          <a:xfrm>
            <a:off x="72313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5" name="알약 칸"/>
          <p:cNvSpPr>
            <a:spLocks noGrp="1"/>
          </p:cNvSpPr>
          <p:nvPr>
            <p:ph type="body" sz="quarter" idx="91"/>
          </p:nvPr>
        </p:nvSpPr>
        <p:spPr>
          <a:xfrm>
            <a:off x="72313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6" name="Connector 112"/>
          <p:cNvCxnSpPr/>
          <p:nvPr/>
        </p:nvCxnSpPr>
        <p:spPr>
          <a:xfrm>
            <a:off x="212583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7" name="연결 점"/>
          <p:cNvSpPr/>
          <p:nvPr/>
        </p:nvSpPr>
        <p:spPr>
          <a:xfrm>
            <a:off x="210392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상자"/>
          <p:cNvSpPr/>
          <p:nvPr/>
        </p:nvSpPr>
        <p:spPr>
          <a:xfrm>
            <a:off x="243755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9" name="상자"/>
          <p:cNvSpPr>
            <a:spLocks noGrp="1"/>
          </p:cNvSpPr>
          <p:nvPr>
            <p:ph type="body" sz="quarter" idx="92"/>
          </p:nvPr>
        </p:nvSpPr>
        <p:spPr>
          <a:xfrm>
            <a:off x="243755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0" name="알약 칸"/>
          <p:cNvSpPr/>
          <p:nvPr/>
        </p:nvSpPr>
        <p:spPr>
          <a:xfrm>
            <a:off x="72313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1" name="알약 칸"/>
          <p:cNvSpPr>
            <a:spLocks noGrp="1"/>
          </p:cNvSpPr>
          <p:nvPr>
            <p:ph type="body" sz="quarter" idx="93"/>
          </p:nvPr>
        </p:nvSpPr>
        <p:spPr>
          <a:xfrm>
            <a:off x="72313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2" name="Connector 116"/>
          <p:cNvCxnSpPr/>
          <p:nvPr/>
        </p:nvCxnSpPr>
        <p:spPr>
          <a:xfrm>
            <a:off x="212583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3" name="연결 점"/>
          <p:cNvSpPr/>
          <p:nvPr/>
        </p:nvSpPr>
        <p:spPr>
          <a:xfrm>
            <a:off x="210392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상자"/>
          <p:cNvSpPr/>
          <p:nvPr/>
        </p:nvSpPr>
        <p:spPr>
          <a:xfrm>
            <a:off x="243755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5" name="상자"/>
          <p:cNvSpPr>
            <a:spLocks noGrp="1"/>
          </p:cNvSpPr>
          <p:nvPr>
            <p:ph type="body" sz="quarter" idx="94"/>
          </p:nvPr>
        </p:nvSpPr>
        <p:spPr>
          <a:xfrm>
            <a:off x="243755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6" name="머리"/>
          <p:cNvSpPr/>
          <p:nvPr/>
        </p:nvSpPr>
        <p:spPr>
          <a:xfrm>
            <a:off x="390600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태그"/>
          <p:cNvSpPr/>
          <p:nvPr/>
        </p:nvSpPr>
        <p:spPr>
          <a:xfrm>
            <a:off x="3949826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8" name="태그"/>
          <p:cNvSpPr>
            <a:spLocks noGrp="1"/>
          </p:cNvSpPr>
          <p:nvPr>
            <p:ph type="body" sz="quarter" idx="95"/>
          </p:nvPr>
        </p:nvSpPr>
        <p:spPr>
          <a:xfrm>
            <a:off x="3949826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69" name="머리 글"/>
          <p:cNvSpPr>
            <a:spLocks noGrp="1"/>
          </p:cNvSpPr>
          <p:nvPr>
            <p:ph type="body" sz="quarter" idx="96"/>
          </p:nvPr>
        </p:nvSpPr>
        <p:spPr>
          <a:xfrm>
            <a:off x="4311798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0" name="삼각 화살표"/>
          <p:cNvSpPr/>
          <p:nvPr/>
        </p:nvSpPr>
        <p:spPr>
          <a:xfrm>
            <a:off x="6930000" y="5697391"/>
            <a:ext cx="76695" cy="131478"/>
          </a:xfrm>
          <a:custGeom>
            <a:avLst/>
            <a:gdLst/>
            <a:ahLst/>
            <a:cxnLst/>
            <a:rect l="l" t="t" r="r" b="b"/>
            <a:pathLst>
              <a:path w="76695" h="131478">
                <a:moveTo>
                  <a:pt x="0" y="0"/>
                </a:moveTo>
                <a:lnTo>
                  <a:pt x="0" y="131478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알약 칸"/>
          <p:cNvSpPr/>
          <p:nvPr/>
        </p:nvSpPr>
        <p:spPr>
          <a:xfrm>
            <a:off x="390600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2" name="알약 칸"/>
          <p:cNvSpPr>
            <a:spLocks noGrp="1"/>
          </p:cNvSpPr>
          <p:nvPr>
            <p:ph type="body" sz="quarter" idx="97"/>
          </p:nvPr>
        </p:nvSpPr>
        <p:spPr>
          <a:xfrm>
            <a:off x="390600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3" name="Connector 124"/>
          <p:cNvCxnSpPr/>
          <p:nvPr/>
        </p:nvCxnSpPr>
        <p:spPr>
          <a:xfrm>
            <a:off x="530870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4" name="연결 점"/>
          <p:cNvSpPr/>
          <p:nvPr/>
        </p:nvSpPr>
        <p:spPr>
          <a:xfrm>
            <a:off x="528679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5" name="상자"/>
          <p:cNvSpPr/>
          <p:nvPr/>
        </p:nvSpPr>
        <p:spPr>
          <a:xfrm>
            <a:off x="562042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6" name="상자"/>
          <p:cNvSpPr>
            <a:spLocks noGrp="1"/>
          </p:cNvSpPr>
          <p:nvPr>
            <p:ph type="body" sz="quarter" idx="98"/>
          </p:nvPr>
        </p:nvSpPr>
        <p:spPr>
          <a:xfrm>
            <a:off x="562042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7" name="알약 칸"/>
          <p:cNvSpPr/>
          <p:nvPr/>
        </p:nvSpPr>
        <p:spPr>
          <a:xfrm>
            <a:off x="390600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8" name="알약 칸"/>
          <p:cNvSpPr>
            <a:spLocks noGrp="1"/>
          </p:cNvSpPr>
          <p:nvPr>
            <p:ph type="body" sz="quarter" idx="99"/>
          </p:nvPr>
        </p:nvSpPr>
        <p:spPr>
          <a:xfrm>
            <a:off x="390600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79" name="Connector 128"/>
          <p:cNvCxnSpPr/>
          <p:nvPr/>
        </p:nvCxnSpPr>
        <p:spPr>
          <a:xfrm>
            <a:off x="530870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0" name="연결 점"/>
          <p:cNvSpPr/>
          <p:nvPr/>
        </p:nvSpPr>
        <p:spPr>
          <a:xfrm>
            <a:off x="528679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1" name="상자"/>
          <p:cNvSpPr/>
          <p:nvPr/>
        </p:nvSpPr>
        <p:spPr>
          <a:xfrm>
            <a:off x="562042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2" name="상자"/>
          <p:cNvSpPr>
            <a:spLocks noGrp="1"/>
          </p:cNvSpPr>
          <p:nvPr>
            <p:ph type="body" sz="quarter" idx="100"/>
          </p:nvPr>
        </p:nvSpPr>
        <p:spPr>
          <a:xfrm>
            <a:off x="562042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3" name="알약 칸"/>
          <p:cNvSpPr/>
          <p:nvPr/>
        </p:nvSpPr>
        <p:spPr>
          <a:xfrm>
            <a:off x="390600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4" name="알약 칸"/>
          <p:cNvSpPr>
            <a:spLocks noGrp="1"/>
          </p:cNvSpPr>
          <p:nvPr>
            <p:ph type="body" sz="quarter" idx="101"/>
          </p:nvPr>
        </p:nvSpPr>
        <p:spPr>
          <a:xfrm>
            <a:off x="390600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5" name="Connector 132"/>
          <p:cNvCxnSpPr/>
          <p:nvPr/>
        </p:nvCxnSpPr>
        <p:spPr>
          <a:xfrm>
            <a:off x="530870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6" name="연결 점"/>
          <p:cNvSpPr/>
          <p:nvPr/>
        </p:nvSpPr>
        <p:spPr>
          <a:xfrm>
            <a:off x="528679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7" name="상자"/>
          <p:cNvSpPr/>
          <p:nvPr/>
        </p:nvSpPr>
        <p:spPr>
          <a:xfrm>
            <a:off x="562042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8" name="상자"/>
          <p:cNvSpPr>
            <a:spLocks noGrp="1"/>
          </p:cNvSpPr>
          <p:nvPr>
            <p:ph type="body" sz="quarter" idx="102"/>
          </p:nvPr>
        </p:nvSpPr>
        <p:spPr>
          <a:xfrm>
            <a:off x="562042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920209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0517" y="2084557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8"/>
          </p:nvPr>
        </p:nvSpPr>
        <p:spPr>
          <a:xfrm>
            <a:off x="740517" y="2084557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2270817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1161391" y="1964035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64035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1"/>
          </p:nvPr>
        </p:nvSpPr>
        <p:spPr>
          <a:xfrm>
            <a:off x="1815998" y="1953078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5" name="태그"/>
          <p:cNvSpPr/>
          <p:nvPr/>
        </p:nvSpPr>
        <p:spPr>
          <a:xfrm>
            <a:off x="1161391" y="2161252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61252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1815998" y="2150296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8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40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2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044087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4926783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47826" y="2991287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737912" y="3035113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737912" y="3035113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221374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5" name="태그"/>
          <p:cNvSpPr/>
          <p:nvPr/>
        </p:nvSpPr>
        <p:spPr>
          <a:xfrm>
            <a:off x="1161391" y="303511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03511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7" name="태그 설명"/>
          <p:cNvSpPr>
            <a:spLocks noGrp="1"/>
          </p:cNvSpPr>
          <p:nvPr>
            <p:ph type="body" sz="quarter" idx="43"/>
          </p:nvPr>
        </p:nvSpPr>
        <p:spPr>
          <a:xfrm>
            <a:off x="1826913" y="302415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8" name="태그"/>
          <p:cNvSpPr/>
          <p:nvPr/>
        </p:nvSpPr>
        <p:spPr>
          <a:xfrm>
            <a:off x="1161391" y="323233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23233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60" name="태그 설명"/>
          <p:cNvSpPr>
            <a:spLocks noGrp="1"/>
          </p:cNvSpPr>
          <p:nvPr>
            <p:ph type="body" sz="quarter" idx="45"/>
          </p:nvPr>
        </p:nvSpPr>
        <p:spPr>
          <a:xfrm>
            <a:off x="1826913" y="3221374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1" name="단계"/>
          <p:cNvSpPr/>
          <p:nvPr/>
        </p:nvSpPr>
        <p:spPr>
          <a:xfrm>
            <a:off x="1161391" y="34459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3" name="단계"/>
          <p:cNvSpPr/>
          <p:nvPr/>
        </p:nvSpPr>
        <p:spPr>
          <a:xfrm>
            <a:off x="3044087" y="34459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5" name="단계"/>
          <p:cNvSpPr/>
          <p:nvPr/>
        </p:nvSpPr>
        <p:spPr>
          <a:xfrm>
            <a:off x="4926783" y="34459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7" name="단계 삼각형"/>
          <p:cNvSpPr/>
          <p:nvPr/>
        </p:nvSpPr>
        <p:spPr>
          <a:xfrm>
            <a:off x="3044086" y="34459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 삼각형"/>
          <p:cNvSpPr/>
          <p:nvPr/>
        </p:nvSpPr>
        <p:spPr>
          <a:xfrm>
            <a:off x="4926782" y="3445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3044087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3" name="Connector 54"/>
          <p:cNvCxnSpPr/>
          <p:nvPr/>
        </p:nvCxnSpPr>
        <p:spPr>
          <a:xfrm>
            <a:off x="4926783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레일"/>
          <p:cNvSpPr/>
          <p:nvPr/>
        </p:nvSpPr>
        <p:spPr>
          <a:xfrm>
            <a:off x="547826" y="4062365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731401" y="4226713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52"/>
          </p:nvPr>
        </p:nvSpPr>
        <p:spPr>
          <a:xfrm>
            <a:off x="731401" y="4226713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3"/>
          </p:nvPr>
        </p:nvSpPr>
        <p:spPr>
          <a:xfrm>
            <a:off x="547826" y="4412974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547826" y="4062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"/>
          <p:cNvSpPr/>
          <p:nvPr/>
        </p:nvSpPr>
        <p:spPr>
          <a:xfrm>
            <a:off x="1161391" y="40842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1" name="단계"/>
          <p:cNvSpPr/>
          <p:nvPr/>
        </p:nvSpPr>
        <p:spPr>
          <a:xfrm>
            <a:off x="3044087" y="40842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3" name="단계"/>
          <p:cNvSpPr/>
          <p:nvPr/>
        </p:nvSpPr>
        <p:spPr>
          <a:xfrm>
            <a:off x="4926783" y="40842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5" name="단계 삼각형"/>
          <p:cNvSpPr/>
          <p:nvPr/>
        </p:nvSpPr>
        <p:spPr>
          <a:xfrm>
            <a:off x="3044086" y="40842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단계 삼각형"/>
          <p:cNvSpPr/>
          <p:nvPr/>
        </p:nvSpPr>
        <p:spPr>
          <a:xfrm>
            <a:off x="4926782" y="40842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9" name="Connector 66"/>
          <p:cNvCxnSpPr/>
          <p:nvPr/>
        </p:nvCxnSpPr>
        <p:spPr>
          <a:xfrm>
            <a:off x="3044087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1" name="Connector 68"/>
          <p:cNvCxnSpPr/>
          <p:nvPr/>
        </p:nvCxnSpPr>
        <p:spPr>
          <a:xfrm>
            <a:off x="4926783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머리칸"/>
          <p:cNvSpPr/>
          <p:nvPr/>
        </p:nvSpPr>
        <p:spPr>
          <a:xfrm>
            <a:off x="1161391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1"/>
          </p:nvPr>
        </p:nvSpPr>
        <p:spPr>
          <a:xfrm>
            <a:off x="3044087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2"/>
          </p:nvPr>
        </p:nvSpPr>
        <p:spPr>
          <a:xfrm>
            <a:off x="4926783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4"/>
          </p:nvPr>
        </p:nvSpPr>
        <p:spPr>
          <a:xfrm>
            <a:off x="3055043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100" name="Connector 74"/>
          <p:cNvCxnSpPr/>
          <p:nvPr/>
        </p:nvCxnSpPr>
        <p:spPr>
          <a:xfrm>
            <a:off x="3044087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5"/>
          </p:nvPr>
        </p:nvSpPr>
        <p:spPr>
          <a:xfrm>
            <a:off x="4937739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2" name="Connector 76"/>
          <p:cNvCxnSpPr/>
          <p:nvPr/>
        </p:nvCxnSpPr>
        <p:spPr>
          <a:xfrm>
            <a:off x="4926783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주요성과 박스"/>
          <p:cNvSpPr/>
          <p:nvPr/>
        </p:nvSpPr>
        <p:spPr>
          <a:xfrm>
            <a:off x="536870" y="5415496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주요성과 라벨"/>
          <p:cNvSpPr/>
          <p:nvPr/>
        </p:nvSpPr>
        <p:spPr>
          <a:xfrm>
            <a:off x="569739" y="5448365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569739" y="5448365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6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314783" y="5431930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55149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55149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태그"/>
          <p:cNvSpPr/>
          <p:nvPr/>
        </p:nvSpPr>
        <p:spPr>
          <a:xfrm>
            <a:off x="1347652" y="1550348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550348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88119" y="1539391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747565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47565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88119" y="1736609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944783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44783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988119" y="1933826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163913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667551" y="2328261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667551" y="2328261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14522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1347652" y="2207739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207739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39" name="태그 설명"/>
          <p:cNvSpPr>
            <a:spLocks noGrp="1"/>
          </p:cNvSpPr>
          <p:nvPr>
            <p:ph type="body" sz="quarter" idx="35"/>
          </p:nvPr>
        </p:nvSpPr>
        <p:spPr>
          <a:xfrm>
            <a:off x="1753450" y="219678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0" name="태그"/>
          <p:cNvSpPr/>
          <p:nvPr/>
        </p:nvSpPr>
        <p:spPr>
          <a:xfrm>
            <a:off x="1347652" y="24049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4049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753450" y="23940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1860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8"/>
          </p:nvPr>
        </p:nvSpPr>
        <p:spPr>
          <a:xfrm>
            <a:off x="1347652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261860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9"/>
          </p:nvPr>
        </p:nvSpPr>
        <p:spPr>
          <a:xfrm>
            <a:off x="4171696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261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2903478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주요성과 박스"/>
          <p:cNvSpPr/>
          <p:nvPr/>
        </p:nvSpPr>
        <p:spPr>
          <a:xfrm>
            <a:off x="723130" y="3311687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주요성과 라벨"/>
          <p:cNvSpPr/>
          <p:nvPr/>
        </p:nvSpPr>
        <p:spPr>
          <a:xfrm>
            <a:off x="756000" y="3344557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3445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4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328122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879861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896296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 태그"/>
          <p:cNvSpPr/>
          <p:nvPr/>
        </p:nvSpPr>
        <p:spPr>
          <a:xfrm>
            <a:off x="620232" y="394012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레일 태그"/>
          <p:cNvSpPr>
            <a:spLocks noGrp="1"/>
          </p:cNvSpPr>
          <p:nvPr>
            <p:ph type="body" sz="quarter" idx="44"/>
          </p:nvPr>
        </p:nvSpPr>
        <p:spPr>
          <a:xfrm>
            <a:off x="620232" y="394012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45"/>
          </p:nvPr>
        </p:nvSpPr>
        <p:spPr>
          <a:xfrm>
            <a:off x="734087" y="4126383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3940122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940122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7"/>
          </p:nvPr>
        </p:nvSpPr>
        <p:spPr>
          <a:xfrm>
            <a:off x="2112028" y="392916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137339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137339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9"/>
          </p:nvPr>
        </p:nvSpPr>
        <p:spPr>
          <a:xfrm>
            <a:off x="2112028" y="4126383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6" name="단계"/>
          <p:cNvSpPr/>
          <p:nvPr/>
        </p:nvSpPr>
        <p:spPr>
          <a:xfrm>
            <a:off x="1347652" y="435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50"/>
          </p:nvPr>
        </p:nvSpPr>
        <p:spPr>
          <a:xfrm>
            <a:off x="1347652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8" name="단계"/>
          <p:cNvSpPr/>
          <p:nvPr/>
        </p:nvSpPr>
        <p:spPr>
          <a:xfrm>
            <a:off x="3230348" y="435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51"/>
          </p:nvPr>
        </p:nvSpPr>
        <p:spPr>
          <a:xfrm>
            <a:off x="3230348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0" name="단계"/>
          <p:cNvSpPr/>
          <p:nvPr/>
        </p:nvSpPr>
        <p:spPr>
          <a:xfrm>
            <a:off x="5113043" y="435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2"/>
          </p:nvPr>
        </p:nvSpPr>
        <p:spPr>
          <a:xfrm>
            <a:off x="5113043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230347" y="435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5113043" y="435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6" name="Connector 52"/>
          <p:cNvCxnSpPr/>
          <p:nvPr/>
        </p:nvCxnSpPr>
        <p:spPr>
          <a:xfrm>
            <a:off x="3230348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8" name="Connector 54"/>
          <p:cNvCxnSpPr/>
          <p:nvPr/>
        </p:nvCxnSpPr>
        <p:spPr>
          <a:xfrm>
            <a:off x="5113043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주요성과 박스"/>
          <p:cNvSpPr/>
          <p:nvPr/>
        </p:nvSpPr>
        <p:spPr>
          <a:xfrm>
            <a:off x="723130" y="5038591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주요성과 라벨"/>
          <p:cNvSpPr/>
          <p:nvPr/>
        </p:nvSpPr>
        <p:spPr>
          <a:xfrm>
            <a:off x="756000" y="507146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756000" y="507146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501043" y="50550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3" name="표 외곽"/>
          <p:cNvSpPr/>
          <p:nvPr/>
        </p:nvSpPr>
        <p:spPr>
          <a:xfrm>
            <a:off x="723130" y="5393896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레일"/>
          <p:cNvSpPr/>
          <p:nvPr/>
        </p:nvSpPr>
        <p:spPr>
          <a:xfrm>
            <a:off x="734087" y="5410330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 태그"/>
          <p:cNvSpPr/>
          <p:nvPr/>
        </p:nvSpPr>
        <p:spPr>
          <a:xfrm>
            <a:off x="510464" y="5454157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6" name="레일 태그"/>
          <p:cNvSpPr>
            <a:spLocks noGrp="1"/>
          </p:cNvSpPr>
          <p:nvPr>
            <p:ph type="body" sz="quarter" idx="58"/>
          </p:nvPr>
        </p:nvSpPr>
        <p:spPr>
          <a:xfrm>
            <a:off x="510464" y="5454157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7" name="레일 라벨"/>
          <p:cNvSpPr>
            <a:spLocks noGrp="1"/>
          </p:cNvSpPr>
          <p:nvPr>
            <p:ph type="body" sz="quarter" idx="59"/>
          </p:nvPr>
        </p:nvSpPr>
        <p:spPr>
          <a:xfrm>
            <a:off x="734087" y="5640417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8" name="태그"/>
          <p:cNvSpPr/>
          <p:nvPr/>
        </p:nvSpPr>
        <p:spPr>
          <a:xfrm>
            <a:off x="1347652" y="54541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60"/>
          </p:nvPr>
        </p:nvSpPr>
        <p:spPr>
          <a:xfrm>
            <a:off x="1347652" y="54541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61"/>
          </p:nvPr>
        </p:nvSpPr>
        <p:spPr>
          <a:xfrm>
            <a:off x="1753450" y="54432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1" name="태그"/>
          <p:cNvSpPr/>
          <p:nvPr/>
        </p:nvSpPr>
        <p:spPr>
          <a:xfrm>
            <a:off x="1347652" y="56513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62"/>
          </p:nvPr>
        </p:nvSpPr>
        <p:spPr>
          <a:xfrm>
            <a:off x="1347652" y="56513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3"/>
          </p:nvPr>
        </p:nvSpPr>
        <p:spPr>
          <a:xfrm>
            <a:off x="1753450" y="56404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4" name="단계"/>
          <p:cNvSpPr/>
          <p:nvPr/>
        </p:nvSpPr>
        <p:spPr>
          <a:xfrm>
            <a:off x="1347652" y="58650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5" name="단계"/>
          <p:cNvSpPr>
            <a:spLocks noGrp="1"/>
          </p:cNvSpPr>
          <p:nvPr>
            <p:ph type="body" sz="quarter" idx="64"/>
          </p:nvPr>
        </p:nvSpPr>
        <p:spPr>
          <a:xfrm>
            <a:off x="1347652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6" name="단계"/>
          <p:cNvSpPr/>
          <p:nvPr/>
        </p:nvSpPr>
        <p:spPr>
          <a:xfrm>
            <a:off x="3230348" y="58650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7" name="단계"/>
          <p:cNvSpPr>
            <a:spLocks noGrp="1"/>
          </p:cNvSpPr>
          <p:nvPr>
            <p:ph type="body" sz="quarter" idx="65"/>
          </p:nvPr>
        </p:nvSpPr>
        <p:spPr>
          <a:xfrm>
            <a:off x="3230348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8" name="단계"/>
          <p:cNvSpPr/>
          <p:nvPr/>
        </p:nvSpPr>
        <p:spPr>
          <a:xfrm>
            <a:off x="5113043" y="58650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9" name="단계"/>
          <p:cNvSpPr>
            <a:spLocks noGrp="1"/>
          </p:cNvSpPr>
          <p:nvPr>
            <p:ph type="body" sz="quarter" idx="66"/>
          </p:nvPr>
        </p:nvSpPr>
        <p:spPr>
          <a:xfrm>
            <a:off x="5113043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0" name="단계 삼각형"/>
          <p:cNvSpPr/>
          <p:nvPr/>
        </p:nvSpPr>
        <p:spPr>
          <a:xfrm>
            <a:off x="3230347" y="5865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단계 삼각형"/>
          <p:cNvSpPr/>
          <p:nvPr/>
        </p:nvSpPr>
        <p:spPr>
          <a:xfrm>
            <a:off x="5113043" y="5865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7"/>
          </p:nvPr>
        </p:nvSpPr>
        <p:spPr>
          <a:xfrm>
            <a:off x="1358609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3241304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4" name="Connector 73"/>
          <p:cNvCxnSpPr/>
          <p:nvPr/>
        </p:nvCxnSpPr>
        <p:spPr>
          <a:xfrm>
            <a:off x="3230348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칸 본문"/>
          <p:cNvSpPr>
            <a:spLocks noGrp="1"/>
          </p:cNvSpPr>
          <p:nvPr>
            <p:ph type="body" sz="quarter" idx="69"/>
          </p:nvPr>
        </p:nvSpPr>
        <p:spPr>
          <a:xfrm>
            <a:off x="5124000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6" name="Connector 75"/>
          <p:cNvCxnSpPr/>
          <p:nvPr/>
        </p:nvCxnSpPr>
        <p:spPr>
          <a:xfrm>
            <a:off x="5113043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주요성과 박스"/>
          <p:cNvSpPr/>
          <p:nvPr/>
        </p:nvSpPr>
        <p:spPr>
          <a:xfrm>
            <a:off x="723130" y="6558104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주요성과 라벨"/>
          <p:cNvSpPr/>
          <p:nvPr/>
        </p:nvSpPr>
        <p:spPr>
          <a:xfrm>
            <a:off x="756000" y="659097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9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756000" y="659097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0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501043" y="6574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022385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022385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2" name="틀"/>
          <p:cNvSpPr/>
          <p:nvPr/>
        </p:nvSpPr>
        <p:spPr>
          <a:xfrm>
            <a:off x="536870" y="1613426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62438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62438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칸 제목 띠"/>
          <p:cNvSpPr/>
          <p:nvPr/>
        </p:nvSpPr>
        <p:spPr>
          <a:xfrm>
            <a:off x="1194261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칸 제목"/>
          <p:cNvSpPr>
            <a:spLocks noGrp="1"/>
          </p:cNvSpPr>
          <p:nvPr>
            <p:ph type="body" sz="quarter" idx="26"/>
          </p:nvPr>
        </p:nvSpPr>
        <p:spPr>
          <a:xfrm>
            <a:off x="1194261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050695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205217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9" name="칸 제목 띠"/>
          <p:cNvSpPr/>
          <p:nvPr/>
        </p:nvSpPr>
        <p:spPr>
          <a:xfrm>
            <a:off x="3071478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칸 제목"/>
          <p:cNvSpPr>
            <a:spLocks noGrp="1"/>
          </p:cNvSpPr>
          <p:nvPr>
            <p:ph type="body" sz="quarter" idx="28"/>
          </p:nvPr>
        </p:nvSpPr>
        <p:spPr>
          <a:xfrm>
            <a:off x="3071478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927913" y="1843513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사진 칸"/>
          <p:cNvSpPr/>
          <p:nvPr/>
        </p:nvSpPr>
        <p:spPr>
          <a:xfrm>
            <a:off x="4025718" y="1920209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사진 칸"/>
          <p:cNvSpPr>
            <a:spLocks noGrp="1"/>
          </p:cNvSpPr>
          <p:nvPr>
            <p:ph type="body" sz="quarter" idx="29"/>
          </p:nvPr>
        </p:nvSpPr>
        <p:spPr>
          <a:xfrm>
            <a:off x="4025718" y="1920209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082435" y="1909252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5" name="Connector 26"/>
          <p:cNvCxnSpPr/>
          <p:nvPr/>
        </p:nvCxnSpPr>
        <p:spPr>
          <a:xfrm>
            <a:off x="3049565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제목 띠"/>
          <p:cNvSpPr/>
          <p:nvPr/>
        </p:nvSpPr>
        <p:spPr>
          <a:xfrm>
            <a:off x="4948696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1"/>
          </p:nvPr>
        </p:nvSpPr>
        <p:spPr>
          <a:xfrm>
            <a:off x="4948696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5805130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959652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배너"/>
          <p:cNvSpPr/>
          <p:nvPr/>
        </p:nvSpPr>
        <p:spPr>
          <a:xfrm>
            <a:off x="536869" y="2807686"/>
            <a:ext cx="6300000" cy="273914"/>
          </a:xfrm>
          <a:custGeom>
            <a:avLst/>
            <a:gdLst/>
            <a:ahLst/>
            <a:cxnLst/>
            <a:rect l="l" t="t" r="r" b="b"/>
            <a:pathLst>
              <a:path w="6300000" h="273914">
                <a:moveTo>
                  <a:pt x="0" y="0"/>
                </a:moveTo>
                <a:lnTo>
                  <a:pt x="6300000" y="0"/>
                </a:lnTo>
                <a:lnTo>
                  <a:pt x="6234261" y="273914"/>
                </a:lnTo>
                <a:lnTo>
                  <a:pt x="65739" y="273914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756000" y="2862470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756000" y="2862470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4" name="배너 글"/>
          <p:cNvSpPr>
            <a:spLocks noGrp="1"/>
          </p:cNvSpPr>
          <p:nvPr>
            <p:ph type="body" sz="quarter" idx="34"/>
          </p:nvPr>
        </p:nvSpPr>
        <p:spPr>
          <a:xfrm>
            <a:off x="1689099" y="2807687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125426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141861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4186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8" name="단계"/>
          <p:cNvSpPr/>
          <p:nvPr/>
        </p:nvSpPr>
        <p:spPr>
          <a:xfrm>
            <a:off x="1161391" y="3163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3163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3163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3163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3163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39349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9349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3934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"/>
          <p:cNvSpPr/>
          <p:nvPr/>
        </p:nvSpPr>
        <p:spPr>
          <a:xfrm>
            <a:off x="1161391" y="3956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56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56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5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5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4087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536869" y="45951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865565" y="463899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9"/>
          </p:nvPr>
        </p:nvSpPr>
        <p:spPr>
          <a:xfrm>
            <a:off x="865565" y="463899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0"/>
          </p:nvPr>
        </p:nvSpPr>
        <p:spPr>
          <a:xfrm>
            <a:off x="1468988" y="4595165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1" name="표 외곽"/>
          <p:cNvSpPr/>
          <p:nvPr/>
        </p:nvSpPr>
        <p:spPr>
          <a:xfrm>
            <a:off x="536870" y="4901948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547826" y="4918383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4918383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4" name="단계"/>
          <p:cNvSpPr/>
          <p:nvPr/>
        </p:nvSpPr>
        <p:spPr>
          <a:xfrm>
            <a:off x="1161391" y="4940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6" name="단계"/>
          <p:cNvSpPr/>
          <p:nvPr/>
        </p:nvSpPr>
        <p:spPr>
          <a:xfrm>
            <a:off x="3044087" y="4940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3"/>
          </p:nvPr>
        </p:nvSpPr>
        <p:spPr>
          <a:xfrm>
            <a:off x="3044087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8" name="단계"/>
          <p:cNvSpPr/>
          <p:nvPr/>
        </p:nvSpPr>
        <p:spPr>
          <a:xfrm>
            <a:off x="4926783" y="4940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4"/>
          </p:nvPr>
        </p:nvSpPr>
        <p:spPr>
          <a:xfrm>
            <a:off x="4926783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044086" y="4940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4926782" y="4940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3055043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44087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26783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706000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8" name="사진 칸"/>
          <p:cNvSpPr/>
          <p:nvPr/>
        </p:nvSpPr>
        <p:spPr>
          <a:xfrm>
            <a:off x="5730261" y="5711478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사진 칸"/>
          <p:cNvSpPr>
            <a:spLocks noGrp="1"/>
          </p:cNvSpPr>
          <p:nvPr>
            <p:ph type="body" sz="quarter" idx="59"/>
          </p:nvPr>
        </p:nvSpPr>
        <p:spPr>
          <a:xfrm>
            <a:off x="5730261" y="5711478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0" name="레일"/>
          <p:cNvSpPr/>
          <p:nvPr/>
        </p:nvSpPr>
        <p:spPr>
          <a:xfrm>
            <a:off x="547826" y="61661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166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2" name="레일 삼각형"/>
          <p:cNvSpPr/>
          <p:nvPr/>
        </p:nvSpPr>
        <p:spPr>
          <a:xfrm>
            <a:off x="547826" y="6166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단계"/>
          <p:cNvSpPr/>
          <p:nvPr/>
        </p:nvSpPr>
        <p:spPr>
          <a:xfrm>
            <a:off x="1161391" y="6188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1"/>
          </p:nvPr>
        </p:nvSpPr>
        <p:spPr>
          <a:xfrm>
            <a:off x="1161391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5" name="단계"/>
          <p:cNvSpPr/>
          <p:nvPr/>
        </p:nvSpPr>
        <p:spPr>
          <a:xfrm>
            <a:off x="3044087" y="6188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6" name="단계"/>
          <p:cNvSpPr>
            <a:spLocks noGrp="1"/>
          </p:cNvSpPr>
          <p:nvPr>
            <p:ph type="body" sz="quarter" idx="62"/>
          </p:nvPr>
        </p:nvSpPr>
        <p:spPr>
          <a:xfrm>
            <a:off x="3044087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7" name="단계"/>
          <p:cNvSpPr/>
          <p:nvPr/>
        </p:nvSpPr>
        <p:spPr>
          <a:xfrm>
            <a:off x="4926783" y="6188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8" name="단계"/>
          <p:cNvSpPr>
            <a:spLocks noGrp="1"/>
          </p:cNvSpPr>
          <p:nvPr>
            <p:ph type="body" sz="quarter" idx="63"/>
          </p:nvPr>
        </p:nvSpPr>
        <p:spPr>
          <a:xfrm>
            <a:off x="4926783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9" name="단계 삼각형"/>
          <p:cNvSpPr/>
          <p:nvPr/>
        </p:nvSpPr>
        <p:spPr>
          <a:xfrm>
            <a:off x="3044086" y="6188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단계 삼각형"/>
          <p:cNvSpPr/>
          <p:nvPr/>
        </p:nvSpPr>
        <p:spPr>
          <a:xfrm>
            <a:off x="4926782" y="6188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4"/>
          </p:nvPr>
        </p:nvSpPr>
        <p:spPr>
          <a:xfrm>
            <a:off x="1172348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65"/>
          </p:nvPr>
        </p:nvSpPr>
        <p:spPr>
          <a:xfrm>
            <a:off x="3055043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3" name="Connector 85"/>
          <p:cNvCxnSpPr/>
          <p:nvPr/>
        </p:nvCxnSpPr>
        <p:spPr>
          <a:xfrm>
            <a:off x="3044087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4" name="칸 본문"/>
          <p:cNvSpPr>
            <a:spLocks noGrp="1"/>
          </p:cNvSpPr>
          <p:nvPr>
            <p:ph type="body" sz="quarter" idx="66"/>
          </p:nvPr>
        </p:nvSpPr>
        <p:spPr>
          <a:xfrm>
            <a:off x="4937739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5" name="Connector 87"/>
          <p:cNvCxnSpPr/>
          <p:nvPr/>
        </p:nvCxnSpPr>
        <p:spPr>
          <a:xfrm>
            <a:off x="4926783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1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1414800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14800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4148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829283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181832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417169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653326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642370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18421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8421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18421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829283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181832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653326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642370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723130" y="24201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051826" y="24639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1051826" y="24639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545480" y="24201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723130" y="2726922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734087" y="274335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74335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0" name="단계"/>
          <p:cNvSpPr/>
          <p:nvPr/>
        </p:nvSpPr>
        <p:spPr>
          <a:xfrm>
            <a:off x="1347652" y="2765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2" name="단계"/>
          <p:cNvSpPr/>
          <p:nvPr/>
        </p:nvSpPr>
        <p:spPr>
          <a:xfrm>
            <a:off x="3230348" y="2765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4" name="단계"/>
          <p:cNvSpPr/>
          <p:nvPr/>
        </p:nvSpPr>
        <p:spPr>
          <a:xfrm>
            <a:off x="5113043" y="2765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230347" y="2765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5113043" y="2765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230348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5113043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삼각 화살표"/>
          <p:cNvSpPr/>
          <p:nvPr/>
        </p:nvSpPr>
        <p:spPr>
          <a:xfrm>
            <a:off x="4010086" y="3389791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표 외곽"/>
          <p:cNvSpPr/>
          <p:nvPr/>
        </p:nvSpPr>
        <p:spPr>
          <a:xfrm>
            <a:off x="723130" y="3603443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"/>
          <p:cNvSpPr/>
          <p:nvPr/>
        </p:nvSpPr>
        <p:spPr>
          <a:xfrm>
            <a:off x="734087" y="36198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6198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7" name="배너"/>
          <p:cNvSpPr/>
          <p:nvPr/>
        </p:nvSpPr>
        <p:spPr>
          <a:xfrm>
            <a:off x="1347652" y="36417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6417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889722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38897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8897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1347652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3230348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0"/>
          </p:nvPr>
        </p:nvSpPr>
        <p:spPr>
          <a:xfrm>
            <a:off x="5113043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3241304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0" name="Connector 57"/>
          <p:cNvCxnSpPr/>
          <p:nvPr/>
        </p:nvCxnSpPr>
        <p:spPr>
          <a:xfrm>
            <a:off x="3230348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3"/>
          </p:nvPr>
        </p:nvSpPr>
        <p:spPr>
          <a:xfrm>
            <a:off x="5124000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2" name="Connector 59"/>
          <p:cNvCxnSpPr/>
          <p:nvPr/>
        </p:nvCxnSpPr>
        <p:spPr>
          <a:xfrm>
            <a:off x="5113043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459093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45909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5" name="머리칸"/>
          <p:cNvSpPr/>
          <p:nvPr/>
        </p:nvSpPr>
        <p:spPr>
          <a:xfrm>
            <a:off x="1347652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5"/>
          </p:nvPr>
        </p:nvSpPr>
        <p:spPr>
          <a:xfrm>
            <a:off x="1347652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7" name="머리칸"/>
          <p:cNvSpPr/>
          <p:nvPr/>
        </p:nvSpPr>
        <p:spPr>
          <a:xfrm>
            <a:off x="3230348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6"/>
          </p:nvPr>
        </p:nvSpPr>
        <p:spPr>
          <a:xfrm>
            <a:off x="3230348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89" name="머리칸"/>
          <p:cNvSpPr/>
          <p:nvPr/>
        </p:nvSpPr>
        <p:spPr>
          <a:xfrm>
            <a:off x="5113043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0" name="머리칸"/>
          <p:cNvSpPr>
            <a:spLocks noGrp="1"/>
          </p:cNvSpPr>
          <p:nvPr>
            <p:ph type="body" sz="quarter" idx="57"/>
          </p:nvPr>
        </p:nvSpPr>
        <p:spPr>
          <a:xfrm>
            <a:off x="5113043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3241304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3" name="Connector 66"/>
          <p:cNvCxnSpPr/>
          <p:nvPr/>
        </p:nvCxnSpPr>
        <p:spPr>
          <a:xfrm>
            <a:off x="3230348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60"/>
          </p:nvPr>
        </p:nvSpPr>
        <p:spPr>
          <a:xfrm>
            <a:off x="5124000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5" name="Connector 68"/>
          <p:cNvCxnSpPr/>
          <p:nvPr/>
        </p:nvCxnSpPr>
        <p:spPr>
          <a:xfrm>
            <a:off x="5113043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52921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1"/>
          </p:nvPr>
        </p:nvSpPr>
        <p:spPr>
          <a:xfrm>
            <a:off x="734087" y="52921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734086" y="52921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347652" y="531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2"/>
          </p:nvPr>
        </p:nvSpPr>
        <p:spPr>
          <a:xfrm>
            <a:off x="1347652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1" name="단계"/>
          <p:cNvSpPr/>
          <p:nvPr/>
        </p:nvSpPr>
        <p:spPr>
          <a:xfrm>
            <a:off x="3230348" y="531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63"/>
          </p:nvPr>
        </p:nvSpPr>
        <p:spPr>
          <a:xfrm>
            <a:off x="3230348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3" name="단계"/>
          <p:cNvSpPr/>
          <p:nvPr/>
        </p:nvSpPr>
        <p:spPr>
          <a:xfrm>
            <a:off x="5113043" y="531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4"/>
          </p:nvPr>
        </p:nvSpPr>
        <p:spPr>
          <a:xfrm>
            <a:off x="5113043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5" name="단계 삼각형"/>
          <p:cNvSpPr/>
          <p:nvPr/>
        </p:nvSpPr>
        <p:spPr>
          <a:xfrm>
            <a:off x="3230347" y="531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단계 삼각형"/>
          <p:cNvSpPr/>
          <p:nvPr/>
        </p:nvSpPr>
        <p:spPr>
          <a:xfrm>
            <a:off x="5113043" y="531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09" name="Connector 78"/>
          <p:cNvCxnSpPr/>
          <p:nvPr/>
        </p:nvCxnSpPr>
        <p:spPr>
          <a:xfrm>
            <a:off x="3230348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1" name="Connector 80"/>
          <p:cNvCxnSpPr/>
          <p:nvPr/>
        </p:nvCxnSpPr>
        <p:spPr>
          <a:xfrm>
            <a:off x="5113043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2" name="틀"/>
          <p:cNvSpPr/>
          <p:nvPr/>
        </p:nvSpPr>
        <p:spPr>
          <a:xfrm>
            <a:off x="723130" y="599619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성과 라벨"/>
          <p:cNvSpPr/>
          <p:nvPr/>
        </p:nvSpPr>
        <p:spPr>
          <a:xfrm>
            <a:off x="734087" y="6007148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4" name="성과 라벨"/>
          <p:cNvSpPr>
            <a:spLocks noGrp="1"/>
          </p:cNvSpPr>
          <p:nvPr>
            <p:ph type="body" sz="quarter" idx="68"/>
          </p:nvPr>
        </p:nvSpPr>
        <p:spPr>
          <a:xfrm>
            <a:off x="734087" y="6007148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5" name="성과 띠"/>
          <p:cNvSpPr/>
          <p:nvPr/>
        </p:nvSpPr>
        <p:spPr>
          <a:xfrm>
            <a:off x="1358609" y="6029061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6" name="성과 띠"/>
          <p:cNvSpPr>
            <a:spLocks noGrp="1"/>
          </p:cNvSpPr>
          <p:nvPr>
            <p:ph type="body" sz="quarter" idx="69"/>
          </p:nvPr>
        </p:nvSpPr>
        <p:spPr>
          <a:xfrm>
            <a:off x="1358609" y="6029061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7" name="카드"/>
          <p:cNvSpPr/>
          <p:nvPr/>
        </p:nvSpPr>
        <p:spPr>
          <a:xfrm>
            <a:off x="1358609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카드 문구"/>
          <p:cNvSpPr>
            <a:spLocks noGrp="1"/>
          </p:cNvSpPr>
          <p:nvPr>
            <p:ph type="body" sz="quarter" idx="70"/>
          </p:nvPr>
        </p:nvSpPr>
        <p:spPr>
          <a:xfrm>
            <a:off x="1380522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19" name="막대"/>
          <p:cNvSpPr/>
          <p:nvPr/>
        </p:nvSpPr>
        <p:spPr>
          <a:xfrm>
            <a:off x="2263471" y="6664063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71"/>
          </p:nvPr>
        </p:nvSpPr>
        <p:spPr>
          <a:xfrm>
            <a:off x="2175819" y="648875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72"/>
          </p:nvPr>
        </p:nvSpPr>
        <p:spPr>
          <a:xfrm>
            <a:off x="2175819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2" name="막대"/>
          <p:cNvSpPr/>
          <p:nvPr/>
        </p:nvSpPr>
        <p:spPr>
          <a:xfrm>
            <a:off x="2559590" y="6652153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73"/>
          </p:nvPr>
        </p:nvSpPr>
        <p:spPr>
          <a:xfrm>
            <a:off x="2471937" y="647684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74"/>
          </p:nvPr>
        </p:nvSpPr>
        <p:spPr>
          <a:xfrm>
            <a:off x="2471937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5" name="막대"/>
          <p:cNvSpPr/>
          <p:nvPr/>
        </p:nvSpPr>
        <p:spPr>
          <a:xfrm>
            <a:off x="2855708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값"/>
          <p:cNvSpPr>
            <a:spLocks noGrp="1"/>
          </p:cNvSpPr>
          <p:nvPr>
            <p:ph type="body" sz="quarter" idx="75"/>
          </p:nvPr>
        </p:nvSpPr>
        <p:spPr>
          <a:xfrm>
            <a:off x="2768056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7" name="연도"/>
          <p:cNvSpPr>
            <a:spLocks noGrp="1"/>
          </p:cNvSpPr>
          <p:nvPr>
            <p:ph type="body" sz="quarter" idx="76"/>
          </p:nvPr>
        </p:nvSpPr>
        <p:spPr>
          <a:xfrm>
            <a:off x="2768056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8" name="카드"/>
          <p:cNvSpPr/>
          <p:nvPr/>
        </p:nvSpPr>
        <p:spPr>
          <a:xfrm>
            <a:off x="3250435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카드 문구"/>
          <p:cNvSpPr>
            <a:spLocks noGrp="1"/>
          </p:cNvSpPr>
          <p:nvPr>
            <p:ph type="body" sz="quarter" idx="77"/>
          </p:nvPr>
        </p:nvSpPr>
        <p:spPr>
          <a:xfrm>
            <a:off x="3272348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0" name="막대"/>
          <p:cNvSpPr/>
          <p:nvPr/>
        </p:nvSpPr>
        <p:spPr>
          <a:xfrm>
            <a:off x="4155297" y="6661681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78"/>
          </p:nvPr>
        </p:nvSpPr>
        <p:spPr>
          <a:xfrm>
            <a:off x="4067645" y="648637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79"/>
          </p:nvPr>
        </p:nvSpPr>
        <p:spPr>
          <a:xfrm>
            <a:off x="4067645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3" name="막대"/>
          <p:cNvSpPr/>
          <p:nvPr/>
        </p:nvSpPr>
        <p:spPr>
          <a:xfrm>
            <a:off x="4451416" y="6659299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80"/>
          </p:nvPr>
        </p:nvSpPr>
        <p:spPr>
          <a:xfrm>
            <a:off x="4363763" y="648399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81"/>
          </p:nvPr>
        </p:nvSpPr>
        <p:spPr>
          <a:xfrm>
            <a:off x="4363763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6" name="막대"/>
          <p:cNvSpPr/>
          <p:nvPr/>
        </p:nvSpPr>
        <p:spPr>
          <a:xfrm>
            <a:off x="4747534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값"/>
          <p:cNvSpPr>
            <a:spLocks noGrp="1"/>
          </p:cNvSpPr>
          <p:nvPr>
            <p:ph type="body" sz="quarter" idx="82"/>
          </p:nvPr>
        </p:nvSpPr>
        <p:spPr>
          <a:xfrm>
            <a:off x="4659882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83"/>
          </p:nvPr>
        </p:nvSpPr>
        <p:spPr>
          <a:xfrm>
            <a:off x="4659882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39" name="카드"/>
          <p:cNvSpPr/>
          <p:nvPr/>
        </p:nvSpPr>
        <p:spPr>
          <a:xfrm>
            <a:off x="5142261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카드 문구"/>
          <p:cNvSpPr>
            <a:spLocks noGrp="1"/>
          </p:cNvSpPr>
          <p:nvPr>
            <p:ph type="body" sz="quarter" idx="84"/>
          </p:nvPr>
        </p:nvSpPr>
        <p:spPr>
          <a:xfrm>
            <a:off x="5164174" y="6281061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20" name="태그칩"/>
          <p:cNvSpPr/>
          <p:nvPr/>
        </p:nvSpPr>
        <p:spPr>
          <a:xfrm>
            <a:off x="5002416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002416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2" name="태그칩"/>
          <p:cNvSpPr/>
          <p:nvPr/>
        </p:nvSpPr>
        <p:spPr>
          <a:xfrm>
            <a:off x="5553537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5553537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4" name="표 외곽"/>
          <p:cNvSpPr/>
          <p:nvPr/>
        </p:nvSpPr>
        <p:spPr>
          <a:xfrm>
            <a:off x="536870" y="1479130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495565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5565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7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913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3985435" y="219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421391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21391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421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443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443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67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67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67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67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67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배너"/>
          <p:cNvSpPr/>
          <p:nvPr/>
        </p:nvSpPr>
        <p:spPr>
          <a:xfrm>
            <a:off x="1161391" y="3254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254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7" name="틀"/>
          <p:cNvSpPr/>
          <p:nvPr/>
        </p:nvSpPr>
        <p:spPr>
          <a:xfrm>
            <a:off x="536870" y="3560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라벨"/>
          <p:cNvSpPr/>
          <p:nvPr/>
        </p:nvSpPr>
        <p:spPr>
          <a:xfrm>
            <a:off x="547826" y="3571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9" name="성과 라벨"/>
          <p:cNvSpPr>
            <a:spLocks noGrp="1"/>
          </p:cNvSpPr>
          <p:nvPr>
            <p:ph type="body" sz="quarter" idx="43"/>
          </p:nvPr>
        </p:nvSpPr>
        <p:spPr>
          <a:xfrm>
            <a:off x="547826" y="3571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0" name="성과 띠"/>
          <p:cNvSpPr/>
          <p:nvPr/>
        </p:nvSpPr>
        <p:spPr>
          <a:xfrm>
            <a:off x="1172348" y="3593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1" name="성과 띠"/>
          <p:cNvSpPr>
            <a:spLocks noGrp="1"/>
          </p:cNvSpPr>
          <p:nvPr>
            <p:ph type="body" sz="quarter" idx="44"/>
          </p:nvPr>
        </p:nvSpPr>
        <p:spPr>
          <a:xfrm>
            <a:off x="1172348" y="3593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2" name="카드"/>
          <p:cNvSpPr/>
          <p:nvPr/>
        </p:nvSpPr>
        <p:spPr>
          <a:xfrm>
            <a:off x="1172348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45"/>
          </p:nvPr>
        </p:nvSpPr>
        <p:spPr>
          <a:xfrm>
            <a:off x="1194261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4" name="막대"/>
          <p:cNvSpPr/>
          <p:nvPr/>
        </p:nvSpPr>
        <p:spPr>
          <a:xfrm>
            <a:off x="2512330" y="4316870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값"/>
          <p:cNvSpPr>
            <a:spLocks noGrp="1"/>
          </p:cNvSpPr>
          <p:nvPr>
            <p:ph type="body" sz="quarter" idx="46"/>
          </p:nvPr>
        </p:nvSpPr>
        <p:spPr>
          <a:xfrm>
            <a:off x="2424678" y="4141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47"/>
          </p:nvPr>
        </p:nvSpPr>
        <p:spPr>
          <a:xfrm>
            <a:off x="2424678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7" name="막대"/>
          <p:cNvSpPr/>
          <p:nvPr/>
        </p:nvSpPr>
        <p:spPr>
          <a:xfrm>
            <a:off x="3211904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값"/>
          <p:cNvSpPr>
            <a:spLocks noGrp="1"/>
          </p:cNvSpPr>
          <p:nvPr>
            <p:ph type="body" sz="quarter" idx="48"/>
          </p:nvPr>
        </p:nvSpPr>
        <p:spPr>
          <a:xfrm>
            <a:off x="3124252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49"/>
          </p:nvPr>
        </p:nvSpPr>
        <p:spPr>
          <a:xfrm>
            <a:off x="3124252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0" name="카드"/>
          <p:cNvSpPr/>
          <p:nvPr/>
        </p:nvSpPr>
        <p:spPr>
          <a:xfrm>
            <a:off x="4010087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4032000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2" name="막대"/>
          <p:cNvSpPr/>
          <p:nvPr/>
        </p:nvSpPr>
        <p:spPr>
          <a:xfrm>
            <a:off x="5350070" y="4262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262417" y="4086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262417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5" name="막대"/>
          <p:cNvSpPr/>
          <p:nvPr/>
        </p:nvSpPr>
        <p:spPr>
          <a:xfrm>
            <a:off x="6049643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5961991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5961991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4" name="태그칩"/>
          <p:cNvSpPr/>
          <p:nvPr/>
        </p:nvSpPr>
        <p:spPr>
          <a:xfrm>
            <a:off x="401836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01836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56948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56948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8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1854470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1" name="단계"/>
          <p:cNvSpPr/>
          <p:nvPr/>
        </p:nvSpPr>
        <p:spPr>
          <a:xfrm>
            <a:off x="1347652" y="1761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761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761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761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761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틀"/>
          <p:cNvSpPr/>
          <p:nvPr/>
        </p:nvSpPr>
        <p:spPr>
          <a:xfrm>
            <a:off x="723130" y="247351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2484470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484470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7" name="칸 제목 띠"/>
          <p:cNvSpPr/>
          <p:nvPr/>
        </p:nvSpPr>
        <p:spPr>
          <a:xfrm>
            <a:off x="1380522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칸 제목"/>
          <p:cNvSpPr>
            <a:spLocks noGrp="1"/>
          </p:cNvSpPr>
          <p:nvPr>
            <p:ph type="body" sz="quarter" idx="38"/>
          </p:nvPr>
        </p:nvSpPr>
        <p:spPr>
          <a:xfrm>
            <a:off x="1380522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49" name="삼각 화살표"/>
          <p:cNvSpPr/>
          <p:nvPr/>
        </p:nvSpPr>
        <p:spPr>
          <a:xfrm>
            <a:off x="2706260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91478" y="2769339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1" name="칸 제목 띠"/>
          <p:cNvSpPr/>
          <p:nvPr/>
        </p:nvSpPr>
        <p:spPr>
          <a:xfrm>
            <a:off x="4196348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칸 제목"/>
          <p:cNvSpPr>
            <a:spLocks noGrp="1"/>
          </p:cNvSpPr>
          <p:nvPr>
            <p:ph type="body" sz="quarter" idx="40"/>
          </p:nvPr>
        </p:nvSpPr>
        <p:spPr>
          <a:xfrm>
            <a:off x="4196348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3" name="삼각 화살표"/>
          <p:cNvSpPr/>
          <p:nvPr/>
        </p:nvSpPr>
        <p:spPr>
          <a:xfrm>
            <a:off x="5522086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사진 칸"/>
          <p:cNvSpPr/>
          <p:nvPr/>
        </p:nvSpPr>
        <p:spPr>
          <a:xfrm>
            <a:off x="5638664" y="2780296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5" name="사진 칸"/>
          <p:cNvSpPr>
            <a:spLocks noGrp="1"/>
          </p:cNvSpPr>
          <p:nvPr>
            <p:ph type="body" sz="quarter" idx="41"/>
          </p:nvPr>
        </p:nvSpPr>
        <p:spPr>
          <a:xfrm>
            <a:off x="5638664" y="2780296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4207304" y="2769339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4174435" y="275838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723130" y="37116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7444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7444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7335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20" name="태그칩"/>
          <p:cNvSpPr/>
          <p:nvPr/>
        </p:nvSpPr>
        <p:spPr>
          <a:xfrm>
            <a:off x="472401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72401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7" name="Connector 20"/>
          <p:cNvCxnSpPr/>
          <p:nvPr/>
        </p:nvCxnSpPr>
        <p:spPr>
          <a:xfrm>
            <a:off x="3985435" y="155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92020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020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161391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3" name="머리칸"/>
          <p:cNvSpPr/>
          <p:nvPr/>
        </p:nvSpPr>
        <p:spPr>
          <a:xfrm>
            <a:off x="3044087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5" name="머리칸"/>
          <p:cNvSpPr/>
          <p:nvPr/>
        </p:nvSpPr>
        <p:spPr>
          <a:xfrm>
            <a:off x="4926783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621426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621426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43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2643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2643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2643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2643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420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420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547826" y="342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1161391" y="3463826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63826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567189" y="345287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3" name="태그"/>
          <p:cNvSpPr/>
          <p:nvPr/>
        </p:nvSpPr>
        <p:spPr>
          <a:xfrm>
            <a:off x="1161391" y="3661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61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567189" y="3650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4" name="태그칩"/>
          <p:cNvSpPr/>
          <p:nvPr/>
        </p:nvSpPr>
        <p:spPr>
          <a:xfrm>
            <a:off x="47434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7434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2945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2945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17565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17565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942261" y="1117565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6"/>
          </p:nvPr>
        </p:nvSpPr>
        <p:spPr>
          <a:xfrm>
            <a:off x="1673767" y="1095652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336696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799826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8"/>
          </p:nvPr>
        </p:nvSpPr>
        <p:spPr>
          <a:xfrm>
            <a:off x="1524219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9"/>
          </p:nvPr>
        </p:nvSpPr>
        <p:spPr>
          <a:xfrm>
            <a:off x="75600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8" name="도표 제목"/>
          <p:cNvSpPr>
            <a:spLocks noGrp="1"/>
          </p:cNvSpPr>
          <p:nvPr>
            <p:ph type="body" sz="quarter" idx="30"/>
          </p:nvPr>
        </p:nvSpPr>
        <p:spPr>
          <a:xfrm>
            <a:off x="2661449" y="1577739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9" name="막대"/>
          <p:cNvSpPr/>
          <p:nvPr/>
        </p:nvSpPr>
        <p:spPr>
          <a:xfrm>
            <a:off x="2738144" y="2182386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595710" y="2007082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595710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2" name="막대"/>
          <p:cNvSpPr/>
          <p:nvPr/>
        </p:nvSpPr>
        <p:spPr>
          <a:xfrm>
            <a:off x="3267290" y="213652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3124855" y="1961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3124855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862174" y="1391478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카드 머리"/>
          <p:cNvSpPr/>
          <p:nvPr/>
        </p:nvSpPr>
        <p:spPr>
          <a:xfrm>
            <a:off x="387313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3916957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41350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0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1" name="요약 칸"/>
          <p:cNvSpPr/>
          <p:nvPr/>
        </p:nvSpPr>
        <p:spPr>
          <a:xfrm>
            <a:off x="5822405" y="1610609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요약 칸"/>
          <p:cNvSpPr>
            <a:spLocks noGrp="1"/>
          </p:cNvSpPr>
          <p:nvPr>
            <p:ph type="body" sz="quarter" idx="38"/>
          </p:nvPr>
        </p:nvSpPr>
        <p:spPr>
          <a:xfrm>
            <a:off x="5822405" y="1610609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3" name="카드 머리"/>
          <p:cNvSpPr/>
          <p:nvPr/>
        </p:nvSpPr>
        <p:spPr>
          <a:xfrm>
            <a:off x="75600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799826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9"/>
          </p:nvPr>
        </p:nvSpPr>
        <p:spPr>
          <a:xfrm>
            <a:off x="799826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6" name="카드 제목"/>
          <p:cNvSpPr>
            <a:spLocks noGrp="1"/>
          </p:cNvSpPr>
          <p:nvPr>
            <p:ph type="body" sz="quarter" idx="40"/>
          </p:nvPr>
        </p:nvSpPr>
        <p:spPr>
          <a:xfrm>
            <a:off x="1524219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7" name="카드 본문"/>
          <p:cNvSpPr>
            <a:spLocks noGrp="1"/>
          </p:cNvSpPr>
          <p:nvPr>
            <p:ph type="body" sz="quarter" idx="41"/>
          </p:nvPr>
        </p:nvSpPr>
        <p:spPr>
          <a:xfrm>
            <a:off x="75600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8" name="도표 제목"/>
          <p:cNvSpPr>
            <a:spLocks noGrp="1"/>
          </p:cNvSpPr>
          <p:nvPr>
            <p:ph type="body" sz="quarter" idx="42"/>
          </p:nvPr>
        </p:nvSpPr>
        <p:spPr>
          <a:xfrm>
            <a:off x="2661449" y="2673391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49" name="막대"/>
          <p:cNvSpPr/>
          <p:nvPr/>
        </p:nvSpPr>
        <p:spPr>
          <a:xfrm>
            <a:off x="2738144" y="3232174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3"/>
          </p:nvPr>
        </p:nvSpPr>
        <p:spPr>
          <a:xfrm>
            <a:off x="2595710" y="305687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4"/>
          </p:nvPr>
        </p:nvSpPr>
        <p:spPr>
          <a:xfrm>
            <a:off x="2595710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막대"/>
          <p:cNvSpPr/>
          <p:nvPr/>
        </p:nvSpPr>
        <p:spPr>
          <a:xfrm>
            <a:off x="3267290" y="3288522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5"/>
          </p:nvPr>
        </p:nvSpPr>
        <p:spPr>
          <a:xfrm>
            <a:off x="3124855" y="3113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6"/>
          </p:nvPr>
        </p:nvSpPr>
        <p:spPr>
          <a:xfrm>
            <a:off x="3124855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862174" y="2487130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카드 머리"/>
          <p:cNvSpPr/>
          <p:nvPr/>
        </p:nvSpPr>
        <p:spPr>
          <a:xfrm>
            <a:off x="387313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3916957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7"/>
          </p:nvPr>
        </p:nvSpPr>
        <p:spPr>
          <a:xfrm>
            <a:off x="3916957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59" name="카드 제목"/>
          <p:cNvSpPr>
            <a:spLocks noGrp="1"/>
          </p:cNvSpPr>
          <p:nvPr>
            <p:ph type="body" sz="quarter" idx="48"/>
          </p:nvPr>
        </p:nvSpPr>
        <p:spPr>
          <a:xfrm>
            <a:off x="4641350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0" name="카드 본문"/>
          <p:cNvSpPr>
            <a:spLocks noGrp="1"/>
          </p:cNvSpPr>
          <p:nvPr>
            <p:ph type="body" sz="quarter" idx="49"/>
          </p:nvPr>
        </p:nvSpPr>
        <p:spPr>
          <a:xfrm>
            <a:off x="387313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1" name="요약 칸"/>
          <p:cNvSpPr/>
          <p:nvPr/>
        </p:nvSpPr>
        <p:spPr>
          <a:xfrm>
            <a:off x="5822405" y="2706261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요약 칸"/>
          <p:cNvSpPr>
            <a:spLocks noGrp="1"/>
          </p:cNvSpPr>
          <p:nvPr>
            <p:ph type="body" sz="quarter" idx="50"/>
          </p:nvPr>
        </p:nvSpPr>
        <p:spPr>
          <a:xfrm>
            <a:off x="5822405" y="2706261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3" name="아이콘 칸"/>
          <p:cNvSpPr/>
          <p:nvPr/>
        </p:nvSpPr>
        <p:spPr>
          <a:xfrm>
            <a:off x="723130" y="3692348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4" name="태그"/>
          <p:cNvSpPr/>
          <p:nvPr/>
        </p:nvSpPr>
        <p:spPr>
          <a:xfrm>
            <a:off x="942261" y="3692348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>
          <a:xfrm>
            <a:off x="942261" y="3692348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>
          <a:xfrm>
            <a:off x="1563998" y="3670435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7" name="그룹 틀"/>
          <p:cNvSpPr/>
          <p:nvPr/>
        </p:nvSpPr>
        <p:spPr>
          <a:xfrm>
            <a:off x="723130" y="3911478"/>
            <a:ext cx="6300000" cy="1172348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카드 머리"/>
          <p:cNvSpPr/>
          <p:nvPr/>
        </p:nvSpPr>
        <p:spPr>
          <a:xfrm>
            <a:off x="75600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태그"/>
          <p:cNvSpPr/>
          <p:nvPr/>
        </p:nvSpPr>
        <p:spPr>
          <a:xfrm>
            <a:off x="799826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3"/>
          </p:nvPr>
        </p:nvSpPr>
        <p:spPr>
          <a:xfrm>
            <a:off x="799826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1" name="카드 제목"/>
          <p:cNvSpPr>
            <a:spLocks noGrp="1"/>
          </p:cNvSpPr>
          <p:nvPr>
            <p:ph type="body" sz="quarter" idx="54"/>
          </p:nvPr>
        </p:nvSpPr>
        <p:spPr>
          <a:xfrm>
            <a:off x="1524219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2" name="카드 본문"/>
          <p:cNvSpPr>
            <a:spLocks noGrp="1"/>
          </p:cNvSpPr>
          <p:nvPr>
            <p:ph type="body" sz="quarter" idx="55"/>
          </p:nvPr>
        </p:nvSpPr>
        <p:spPr>
          <a:xfrm>
            <a:off x="75600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3" name="도표 제목"/>
          <p:cNvSpPr>
            <a:spLocks noGrp="1"/>
          </p:cNvSpPr>
          <p:nvPr>
            <p:ph type="body" sz="quarter" idx="56"/>
          </p:nvPr>
        </p:nvSpPr>
        <p:spPr>
          <a:xfrm>
            <a:off x="266144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4" name="막대"/>
          <p:cNvSpPr/>
          <p:nvPr/>
        </p:nvSpPr>
        <p:spPr>
          <a:xfrm>
            <a:off x="2738144" y="4729883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7"/>
          </p:nvPr>
        </p:nvSpPr>
        <p:spPr>
          <a:xfrm>
            <a:off x="2595710" y="455457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8"/>
          </p:nvPr>
        </p:nvSpPr>
        <p:spPr>
          <a:xfrm>
            <a:off x="259571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7" name="막대"/>
          <p:cNvSpPr/>
          <p:nvPr/>
        </p:nvSpPr>
        <p:spPr>
          <a:xfrm>
            <a:off x="326729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9"/>
          </p:nvPr>
        </p:nvSpPr>
        <p:spPr>
          <a:xfrm>
            <a:off x="312485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0"/>
          </p:nvPr>
        </p:nvSpPr>
        <p:spPr>
          <a:xfrm>
            <a:off x="312485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0" name="Connector 62"/>
          <p:cNvCxnSpPr/>
          <p:nvPr/>
        </p:nvCxnSpPr>
        <p:spPr>
          <a:xfrm>
            <a:off x="3862174" y="3966261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카드 머리"/>
          <p:cNvSpPr/>
          <p:nvPr/>
        </p:nvSpPr>
        <p:spPr>
          <a:xfrm>
            <a:off x="387313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3916957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61"/>
          </p:nvPr>
        </p:nvSpPr>
        <p:spPr>
          <a:xfrm>
            <a:off x="3916957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2"/>
          </p:nvPr>
        </p:nvSpPr>
        <p:spPr>
          <a:xfrm>
            <a:off x="4641350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3"/>
          </p:nvPr>
        </p:nvSpPr>
        <p:spPr>
          <a:xfrm>
            <a:off x="387313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6" name="도표 제목"/>
          <p:cNvSpPr>
            <a:spLocks noGrp="1"/>
          </p:cNvSpPr>
          <p:nvPr>
            <p:ph type="body" sz="quarter" idx="64"/>
          </p:nvPr>
        </p:nvSpPr>
        <p:spPr>
          <a:xfrm>
            <a:off x="577857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7" name="막대"/>
          <p:cNvSpPr/>
          <p:nvPr/>
        </p:nvSpPr>
        <p:spPr>
          <a:xfrm>
            <a:off x="5855275" y="4713988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값"/>
          <p:cNvSpPr>
            <a:spLocks noGrp="1"/>
          </p:cNvSpPr>
          <p:nvPr>
            <p:ph type="body" sz="quarter" idx="65"/>
          </p:nvPr>
        </p:nvSpPr>
        <p:spPr>
          <a:xfrm>
            <a:off x="5712840" y="453868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66"/>
          </p:nvPr>
        </p:nvSpPr>
        <p:spPr>
          <a:xfrm>
            <a:off x="571284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막대"/>
          <p:cNvSpPr/>
          <p:nvPr/>
        </p:nvSpPr>
        <p:spPr>
          <a:xfrm>
            <a:off x="638442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값"/>
          <p:cNvSpPr>
            <a:spLocks noGrp="1"/>
          </p:cNvSpPr>
          <p:nvPr>
            <p:ph type="body" sz="quarter" idx="67"/>
          </p:nvPr>
        </p:nvSpPr>
        <p:spPr>
          <a:xfrm>
            <a:off x="624198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68"/>
          </p:nvPr>
        </p:nvSpPr>
        <p:spPr>
          <a:xfrm>
            <a:off x="624198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20" name="태그칩"/>
          <p:cNvSpPr/>
          <p:nvPr/>
        </p:nvSpPr>
        <p:spPr>
          <a:xfrm>
            <a:off x="498745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98745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5174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985434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삼각 화살표"/>
          <p:cNvSpPr/>
          <p:nvPr/>
        </p:nvSpPr>
        <p:spPr>
          <a:xfrm>
            <a:off x="3823826" y="21776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표 외곽"/>
          <p:cNvSpPr/>
          <p:nvPr/>
        </p:nvSpPr>
        <p:spPr>
          <a:xfrm>
            <a:off x="536870" y="2391339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407774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407774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3985435" y="27036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1447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322643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22643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322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2" name="머리칸"/>
          <p:cNvSpPr/>
          <p:nvPr/>
        </p:nvSpPr>
        <p:spPr>
          <a:xfrm>
            <a:off x="3985435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3985435" y="3618470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3985435" y="40293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536870" y="43251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43580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3580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3470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4" name="태그칩"/>
          <p:cNvSpPr/>
          <p:nvPr/>
        </p:nvSpPr>
        <p:spPr>
          <a:xfrm>
            <a:off x="493662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3662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503861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3861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525774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7" name="머리칸"/>
          <p:cNvSpPr/>
          <p:nvPr/>
        </p:nvSpPr>
        <p:spPr>
          <a:xfrm>
            <a:off x="5382000" y="1525774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382000" y="1525774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392957" y="1766817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382000" y="1799687"/>
            <a:ext cx="0" cy="7738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28313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28313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283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347652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241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52674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55961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55961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548661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7" name="태그칩"/>
          <p:cNvSpPr/>
          <p:nvPr/>
        </p:nvSpPr>
        <p:spPr>
          <a:xfrm>
            <a:off x="447540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47540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643022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163206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398543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467065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4456109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547826" y="1922870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287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2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161391" y="19447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9447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9447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944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944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3044087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4926783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525478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525478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525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"/>
          <p:cNvSpPr/>
          <p:nvPr/>
        </p:nvSpPr>
        <p:spPr>
          <a:xfrm>
            <a:off x="1161391" y="25473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25473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25473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2547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2547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1" name="태그칩"/>
          <p:cNvSpPr/>
          <p:nvPr/>
        </p:nvSpPr>
        <p:spPr>
          <a:xfrm>
            <a:off x="451736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1736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6848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6848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503861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6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7"/>
          </p:nvPr>
        </p:nvSpPr>
        <p:spPr>
          <a:xfrm>
            <a:off x="734087" y="1854470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7996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14643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35847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35847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44730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2610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171696" y="2963896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3983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3583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40"/>
          </p:nvPr>
        </p:nvSpPr>
        <p:spPr>
          <a:xfrm>
            <a:off x="744637" y="33583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5445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193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321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2"/>
          </p:nvPr>
        </p:nvSpPr>
        <p:spPr>
          <a:xfrm>
            <a:off x="1347652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321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3230348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321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5113043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321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321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3241304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230348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5124000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5113043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핵심성과 박스"/>
          <p:cNvSpPr/>
          <p:nvPr/>
        </p:nvSpPr>
        <p:spPr>
          <a:xfrm>
            <a:off x="723130" y="40788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핵심성과 라벨"/>
          <p:cNvSpPr/>
          <p:nvPr/>
        </p:nvSpPr>
        <p:spPr>
          <a:xfrm>
            <a:off x="756000" y="41116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7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41116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8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41007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삼각 화살표"/>
          <p:cNvSpPr/>
          <p:nvPr/>
        </p:nvSpPr>
        <p:spPr>
          <a:xfrm>
            <a:off x="3823826" y="1857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표 외곽"/>
          <p:cNvSpPr/>
          <p:nvPr/>
        </p:nvSpPr>
        <p:spPr>
          <a:xfrm>
            <a:off x="536870" y="2070783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087217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8721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9" name="단계"/>
          <p:cNvSpPr/>
          <p:nvPr/>
        </p:nvSpPr>
        <p:spPr>
          <a:xfrm>
            <a:off x="1161391" y="2109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1" name="단계"/>
          <p:cNvSpPr/>
          <p:nvPr/>
        </p:nvSpPr>
        <p:spPr>
          <a:xfrm>
            <a:off x="3044087" y="2109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3" name="단계"/>
          <p:cNvSpPr/>
          <p:nvPr/>
        </p:nvSpPr>
        <p:spPr>
          <a:xfrm>
            <a:off x="4926783" y="2109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044086" y="2109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926782" y="2109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725513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255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161391" y="27474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5"/>
          </p:nvPr>
        </p:nvSpPr>
        <p:spPr>
          <a:xfrm>
            <a:off x="1161391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7" name="단계"/>
          <p:cNvSpPr/>
          <p:nvPr/>
        </p:nvSpPr>
        <p:spPr>
          <a:xfrm>
            <a:off x="2573413" y="27474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2573413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9" name="단계"/>
          <p:cNvSpPr/>
          <p:nvPr/>
        </p:nvSpPr>
        <p:spPr>
          <a:xfrm>
            <a:off x="3985435" y="27474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985435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1" name="단계"/>
          <p:cNvSpPr/>
          <p:nvPr/>
        </p:nvSpPr>
        <p:spPr>
          <a:xfrm>
            <a:off x="5397457" y="27474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397457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573413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3985434" y="27474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5397456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2584370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2573413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985435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5408413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5397457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547826" y="3363809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638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3363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34076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076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5"/>
          </p:nvPr>
        </p:nvSpPr>
        <p:spPr>
          <a:xfrm>
            <a:off x="1786727" y="33966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9" name="태그"/>
          <p:cNvSpPr/>
          <p:nvPr/>
        </p:nvSpPr>
        <p:spPr>
          <a:xfrm>
            <a:off x="1161391" y="36048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048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47"/>
          </p:nvPr>
        </p:nvSpPr>
        <p:spPr>
          <a:xfrm>
            <a:off x="1786727" y="35938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2" name="태그"/>
          <p:cNvSpPr/>
          <p:nvPr/>
        </p:nvSpPr>
        <p:spPr>
          <a:xfrm>
            <a:off x="1161391" y="38020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3802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3791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6" name="태그칩"/>
          <p:cNvSpPr/>
          <p:nvPr/>
        </p:nvSpPr>
        <p:spPr>
          <a:xfrm>
            <a:off x="48899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899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441105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441105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5" name="레일"/>
          <p:cNvSpPr/>
          <p:nvPr/>
        </p:nvSpPr>
        <p:spPr>
          <a:xfrm>
            <a:off x="734087" y="1931165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347652" y="1953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188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188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188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188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188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0" name="Connector 25"/>
          <p:cNvCxnSpPr/>
          <p:nvPr/>
        </p:nvCxnSpPr>
        <p:spPr>
          <a:xfrm>
            <a:off x="3230348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5113043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723130" y="3052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756000" y="3085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756000" y="3085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501043" y="3074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8983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983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494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494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위 머리"/>
          <p:cNvSpPr/>
          <p:nvPr/>
        </p:nvSpPr>
        <p:spPr>
          <a:xfrm>
            <a:off x="536870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602609" y="16024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602609" y="16024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5" name="위 머리 글"/>
          <p:cNvSpPr>
            <a:spLocks noGrp="1"/>
          </p:cNvSpPr>
          <p:nvPr>
            <p:ph type="body" sz="quarter" idx="27"/>
          </p:nvPr>
        </p:nvSpPr>
        <p:spPr>
          <a:xfrm>
            <a:off x="964581" y="1558643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6" name="위 머리"/>
          <p:cNvSpPr/>
          <p:nvPr/>
        </p:nvSpPr>
        <p:spPr>
          <a:xfrm>
            <a:off x="3796435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3862174" y="1602470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3862174" y="1602470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9" name="위 머리 글"/>
          <p:cNvSpPr>
            <a:spLocks noGrp="1"/>
          </p:cNvSpPr>
          <p:nvPr>
            <p:ph type="body" sz="quarter" idx="29"/>
          </p:nvPr>
        </p:nvSpPr>
        <p:spPr>
          <a:xfrm>
            <a:off x="4333915" y="1558643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0"/>
          </p:nvPr>
        </p:nvSpPr>
        <p:spPr>
          <a:xfrm>
            <a:off x="536870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1"/>
          </p:nvPr>
        </p:nvSpPr>
        <p:spPr>
          <a:xfrm>
            <a:off x="3796435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2"/>
          </p:nvPr>
        </p:nvSpPr>
        <p:spPr>
          <a:xfrm>
            <a:off x="536870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3" name="본문"/>
          <p:cNvSpPr>
            <a:spLocks noGrp="1"/>
          </p:cNvSpPr>
          <p:nvPr>
            <p:ph type="body" sz="quarter" idx="33"/>
          </p:nvPr>
        </p:nvSpPr>
        <p:spPr>
          <a:xfrm>
            <a:off x="3796435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4" name="가운데 띠"/>
          <p:cNvSpPr/>
          <p:nvPr/>
        </p:nvSpPr>
        <p:spPr>
          <a:xfrm>
            <a:off x="536870" y="2741948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아이콘 칸"/>
          <p:cNvSpPr/>
          <p:nvPr/>
        </p:nvSpPr>
        <p:spPr>
          <a:xfrm>
            <a:off x="3500609" y="2632383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6" name="아이콘 칸"/>
          <p:cNvSpPr>
            <a:spLocks noGrp="1"/>
          </p:cNvSpPr>
          <p:nvPr>
            <p:ph type="body" sz="quarter" idx="34"/>
          </p:nvPr>
        </p:nvSpPr>
        <p:spPr>
          <a:xfrm>
            <a:off x="3500609" y="2632383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7" name="아래 머리"/>
          <p:cNvSpPr/>
          <p:nvPr/>
        </p:nvSpPr>
        <p:spPr>
          <a:xfrm>
            <a:off x="536870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602609" y="3738991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602609" y="3738991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40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964581" y="3695165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1" name="아래 머리"/>
          <p:cNvSpPr/>
          <p:nvPr/>
        </p:nvSpPr>
        <p:spPr>
          <a:xfrm>
            <a:off x="3796435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3862174" y="3738991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7"/>
          </p:nvPr>
        </p:nvSpPr>
        <p:spPr>
          <a:xfrm>
            <a:off x="3862174" y="3738991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4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333915" y="3695165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536870" y="4045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4078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4078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4067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4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1" name="태그칩"/>
          <p:cNvSpPr/>
          <p:nvPr/>
        </p:nvSpPr>
        <p:spPr>
          <a:xfrm>
            <a:off x="37882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882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799687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틀"/>
          <p:cNvSpPr/>
          <p:nvPr/>
        </p:nvSpPr>
        <p:spPr>
          <a:xfrm>
            <a:off x="723130" y="2237948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248904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48904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2" name="칸 제목 띠"/>
          <p:cNvSpPr/>
          <p:nvPr/>
        </p:nvSpPr>
        <p:spPr>
          <a:xfrm>
            <a:off x="1380522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1"/>
          </p:nvPr>
        </p:nvSpPr>
        <p:spPr>
          <a:xfrm>
            <a:off x="1380522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4" name="삼각 화살표"/>
          <p:cNvSpPr/>
          <p:nvPr/>
        </p:nvSpPr>
        <p:spPr>
          <a:xfrm>
            <a:off x="2236956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91478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6" name="칸 제목 띠"/>
          <p:cNvSpPr/>
          <p:nvPr/>
        </p:nvSpPr>
        <p:spPr>
          <a:xfrm>
            <a:off x="3257739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3"/>
          </p:nvPr>
        </p:nvSpPr>
        <p:spPr>
          <a:xfrm>
            <a:off x="3257739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4114173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68696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235826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제목 띠"/>
          <p:cNvSpPr/>
          <p:nvPr/>
        </p:nvSpPr>
        <p:spPr>
          <a:xfrm>
            <a:off x="5134957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칸 제목"/>
          <p:cNvSpPr>
            <a:spLocks noGrp="1"/>
          </p:cNvSpPr>
          <p:nvPr>
            <p:ph type="body" sz="quarter" idx="35"/>
          </p:nvPr>
        </p:nvSpPr>
        <p:spPr>
          <a:xfrm>
            <a:off x="5134957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991391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5145913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5" name="Connector 33"/>
          <p:cNvCxnSpPr/>
          <p:nvPr/>
        </p:nvCxnSpPr>
        <p:spPr>
          <a:xfrm>
            <a:off x="5113043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723130" y="3432209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3448643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448643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49" name="배너"/>
          <p:cNvSpPr/>
          <p:nvPr/>
        </p:nvSpPr>
        <p:spPr>
          <a:xfrm>
            <a:off x="1347652" y="347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47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1" name="단계"/>
          <p:cNvSpPr/>
          <p:nvPr/>
        </p:nvSpPr>
        <p:spPr>
          <a:xfrm>
            <a:off x="1347652" y="3706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3" name="단계"/>
          <p:cNvSpPr/>
          <p:nvPr/>
        </p:nvSpPr>
        <p:spPr>
          <a:xfrm>
            <a:off x="3230348" y="3706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5" name="단계"/>
          <p:cNvSpPr/>
          <p:nvPr/>
        </p:nvSpPr>
        <p:spPr>
          <a:xfrm>
            <a:off x="5113043" y="3706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230347" y="3706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113043" y="3706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1" name="Connector 44"/>
          <p:cNvCxnSpPr/>
          <p:nvPr/>
        </p:nvCxnSpPr>
        <p:spPr>
          <a:xfrm>
            <a:off x="3230348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5113043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347652" y="4311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4311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6" name="핵심성과 박스"/>
          <p:cNvSpPr/>
          <p:nvPr/>
        </p:nvSpPr>
        <p:spPr>
          <a:xfrm>
            <a:off x="723130" y="46402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756000" y="46731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46731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46621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5 서사 · 정책기조 → 일자리 환경 → 시사점 → 전략 → 실행체계(PDCA) → 대표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5" name="배너"/>
          <p:cNvSpPr/>
          <p:nvPr/>
        </p:nvSpPr>
        <p:spPr>
          <a:xfrm>
            <a:off x="536870" y="11285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onnector 12"/>
          <p:cNvCxnSpPr/>
          <p:nvPr/>
        </p:nvCxnSpPr>
        <p:spPr>
          <a:xfrm>
            <a:off x="536870" y="11285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1833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501043"/>
            <a:ext cx="6300000" cy="2079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517478"/>
            <a:ext cx="580696" cy="85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517478"/>
            <a:ext cx="580696" cy="85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561304"/>
            <a:ext cx="77400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61304"/>
            <a:ext cx="7740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5"/>
          </p:nvPr>
        </p:nvSpPr>
        <p:spPr>
          <a:xfrm>
            <a:off x="1979223" y="1550348"/>
            <a:ext cx="483025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044087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4926783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3885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85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머리칸"/>
          <p:cNvSpPr/>
          <p:nvPr/>
        </p:nvSpPr>
        <p:spPr>
          <a:xfrm>
            <a:off x="1161391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3044087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4926783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024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24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02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cxnSp>
        <p:nvCxnSpPr>
          <p:cNvPr id="54" name="Connector 40"/>
          <p:cNvCxnSpPr/>
          <p:nvPr/>
        </p:nvCxnSpPr>
        <p:spPr>
          <a:xfrm>
            <a:off x="3044087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4926783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캡션 띠"/>
          <p:cNvSpPr/>
          <p:nvPr/>
        </p:nvSpPr>
        <p:spPr>
          <a:xfrm>
            <a:off x="536869" y="36020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865565" y="364586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3"/>
          </p:nvPr>
        </p:nvSpPr>
        <p:spPr>
          <a:xfrm>
            <a:off x="865565" y="364586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0" name="캡션"/>
          <p:cNvSpPr>
            <a:spLocks noGrp="1"/>
          </p:cNvSpPr>
          <p:nvPr>
            <p:ph type="body" sz="quarter" idx="44"/>
          </p:nvPr>
        </p:nvSpPr>
        <p:spPr>
          <a:xfrm>
            <a:off x="1359219" y="360203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61" name="표 외곽"/>
          <p:cNvSpPr/>
          <p:nvPr/>
        </p:nvSpPr>
        <p:spPr>
          <a:xfrm>
            <a:off x="536870" y="3908817"/>
            <a:ext cx="6300000" cy="197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3925252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925252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64" name="단계"/>
          <p:cNvSpPr/>
          <p:nvPr/>
        </p:nvSpPr>
        <p:spPr>
          <a:xfrm>
            <a:off x="1161391" y="3947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47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47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47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47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547826" y="4462122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462122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547826" y="4462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cxnSp>
        <p:nvCxnSpPr>
          <p:cNvPr id="82" name="Connector 62"/>
          <p:cNvCxnSpPr/>
          <p:nvPr/>
        </p:nvCxnSpPr>
        <p:spPr>
          <a:xfrm>
            <a:off x="3044087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4926783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5031861"/>
            <a:ext cx="580696" cy="838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031861"/>
            <a:ext cx="580696" cy="83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87" name="레일 삼각형"/>
          <p:cNvSpPr/>
          <p:nvPr/>
        </p:nvSpPr>
        <p:spPr>
          <a:xfrm>
            <a:off x="547826" y="503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태그"/>
          <p:cNvSpPr/>
          <p:nvPr/>
        </p:nvSpPr>
        <p:spPr>
          <a:xfrm>
            <a:off x="1161391" y="5075687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57"/>
          </p:nvPr>
        </p:nvSpPr>
        <p:spPr>
          <a:xfrm>
            <a:off x="1161391" y="5075687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58"/>
          </p:nvPr>
        </p:nvSpPr>
        <p:spPr>
          <a:xfrm>
            <a:off x="1781891" y="5064730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91" name="태그"/>
          <p:cNvSpPr/>
          <p:nvPr/>
        </p:nvSpPr>
        <p:spPr>
          <a:xfrm>
            <a:off x="1161391" y="5272904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59"/>
          </p:nvPr>
        </p:nvSpPr>
        <p:spPr>
          <a:xfrm>
            <a:off x="1161391" y="5272904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0"/>
          </p:nvPr>
        </p:nvSpPr>
        <p:spPr>
          <a:xfrm>
            <a:off x="1781891" y="5261948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94" name="태그"/>
          <p:cNvSpPr/>
          <p:nvPr/>
        </p:nvSpPr>
        <p:spPr>
          <a:xfrm>
            <a:off x="1161391" y="5470122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태그"/>
          <p:cNvSpPr>
            <a:spLocks noGrp="1"/>
          </p:cNvSpPr>
          <p:nvPr>
            <p:ph type="body" sz="quarter" idx="61"/>
          </p:nvPr>
        </p:nvSpPr>
        <p:spPr>
          <a:xfrm>
            <a:off x="1161391" y="5470122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96" name="태그 설명"/>
          <p:cNvSpPr>
            <a:spLocks noGrp="1"/>
          </p:cNvSpPr>
          <p:nvPr>
            <p:ph type="body" sz="quarter" idx="62"/>
          </p:nvPr>
        </p:nvSpPr>
        <p:spPr>
          <a:xfrm>
            <a:off x="1781891" y="5459165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97" name="태그"/>
          <p:cNvSpPr/>
          <p:nvPr/>
        </p:nvSpPr>
        <p:spPr>
          <a:xfrm>
            <a:off x="1161391" y="5667339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태그"/>
          <p:cNvSpPr>
            <a:spLocks noGrp="1"/>
          </p:cNvSpPr>
          <p:nvPr>
            <p:ph type="body" sz="quarter" idx="63"/>
          </p:nvPr>
        </p:nvSpPr>
        <p:spPr>
          <a:xfrm>
            <a:off x="1161391" y="5667339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99" name="태그 설명"/>
          <p:cNvSpPr>
            <a:spLocks noGrp="1"/>
          </p:cNvSpPr>
          <p:nvPr>
            <p:ph type="body" sz="quarter" idx="64"/>
          </p:nvPr>
        </p:nvSpPr>
        <p:spPr>
          <a:xfrm>
            <a:off x="1781891" y="5656383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100" name="핵심성과 박스"/>
          <p:cNvSpPr/>
          <p:nvPr/>
        </p:nvSpPr>
        <p:spPr>
          <a:xfrm>
            <a:off x="536870" y="5974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핵심성과 라벨"/>
          <p:cNvSpPr/>
          <p:nvPr/>
        </p:nvSpPr>
        <p:spPr>
          <a:xfrm>
            <a:off x="569739" y="6006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2" name="핵심성과 라벨"/>
          <p:cNvSpPr>
            <a:spLocks noGrp="1"/>
          </p:cNvSpPr>
          <p:nvPr>
            <p:ph type="body" sz="quarter" idx="65"/>
          </p:nvPr>
        </p:nvSpPr>
        <p:spPr>
          <a:xfrm>
            <a:off x="569739" y="600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103" name="핵심성과 문구"/>
          <p:cNvSpPr>
            <a:spLocks noGrp="1"/>
          </p:cNvSpPr>
          <p:nvPr>
            <p:ph type="body" sz="quarter" idx="66"/>
          </p:nvPr>
        </p:nvSpPr>
        <p:spPr>
          <a:xfrm>
            <a:off x="1314783" y="5996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6 서사 · 문제인식 → 시사점 → 채용여력 확보 → 안정적 채용운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082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6" name="태그칩"/>
          <p:cNvSpPr/>
          <p:nvPr/>
        </p:nvSpPr>
        <p:spPr>
          <a:xfrm>
            <a:off x="4529943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29943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081064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81064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923417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1912461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747461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736504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195307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1996904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1996904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1953078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259861"/>
            <a:ext cx="6300000" cy="2076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276296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76296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171696" y="2572122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171696" y="2982991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1165"/>
            <a:ext cx="580696" cy="1128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191165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319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347652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52" name="머리칸"/>
          <p:cNvSpPr/>
          <p:nvPr/>
        </p:nvSpPr>
        <p:spPr>
          <a:xfrm>
            <a:off x="4171696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4171696" y="3486991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단계"/>
          <p:cNvSpPr/>
          <p:nvPr/>
        </p:nvSpPr>
        <p:spPr>
          <a:xfrm>
            <a:off x="1347652" y="3864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1347652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59" name="단계"/>
          <p:cNvSpPr/>
          <p:nvPr/>
        </p:nvSpPr>
        <p:spPr>
          <a:xfrm>
            <a:off x="3230348" y="3864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5"/>
          </p:nvPr>
        </p:nvSpPr>
        <p:spPr>
          <a:xfrm>
            <a:off x="3230348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61" name="단계"/>
          <p:cNvSpPr/>
          <p:nvPr/>
        </p:nvSpPr>
        <p:spPr>
          <a:xfrm>
            <a:off x="5113043" y="3864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5113043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230347" y="3864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5113043" y="3864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723130" y="4423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756000" y="4456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756000" y="4456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4445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7 서사 · 추진배경(현업·채용 담당) → 정밀한 직무검증 → 공정성 강화 → 리스크 예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36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471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71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699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22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2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273478"/>
            <a:ext cx="580696" cy="7602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73478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050139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501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05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cxnSp>
        <p:nvCxnSpPr>
          <p:cNvPr id="58" name="Connector 40"/>
          <p:cNvCxnSpPr/>
          <p:nvPr/>
        </p:nvCxnSpPr>
        <p:spPr>
          <a:xfrm>
            <a:off x="3044087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cxnSp>
        <p:nvCxnSpPr>
          <p:cNvPr id="60" name="Connector 42"/>
          <p:cNvCxnSpPr/>
          <p:nvPr/>
        </p:nvCxnSpPr>
        <p:spPr>
          <a:xfrm>
            <a:off x="4926783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3900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71878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718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6092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8 서사 · 문제인식 → 방향설정 → 재직 단계(탭 카드) → 수료 단계(지속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번호 띠 칩"/>
          <p:cNvSpPr/>
          <p:nvPr/>
        </p:nvSpPr>
        <p:spPr>
          <a:xfrm>
            <a:off x="5086269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번호 띠 칩"/>
          <p:cNvSpPr>
            <a:spLocks noGrp="1"/>
          </p:cNvSpPr>
          <p:nvPr>
            <p:ph type="body" sz="quarter" idx="24"/>
          </p:nvPr>
        </p:nvSpPr>
        <p:spPr>
          <a:xfrm>
            <a:off x="5086269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128522"/>
            <a:ext cx="6300000" cy="1050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144957"/>
            <a:ext cx="580696" cy="616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144957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16687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25" name="단계"/>
          <p:cNvSpPr/>
          <p:nvPr/>
        </p:nvSpPr>
        <p:spPr>
          <a:xfrm>
            <a:off x="4171696" y="116687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4171695" y="116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451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77777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7777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777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7996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17996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171696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4171695" y="1799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 txBox="1"/>
          <p:nvPr/>
        </p:nvSpPr>
        <p:spPr>
          <a:xfrm>
            <a:off x="1358609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0" name="칸 본문"/>
          <p:cNvSpPr txBox="1"/>
          <p:nvPr/>
        </p:nvSpPr>
        <p:spPr>
          <a:xfrm>
            <a:off x="4182652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1" name="Connector 26"/>
          <p:cNvCxnSpPr/>
          <p:nvPr/>
        </p:nvCxnSpPr>
        <p:spPr>
          <a:xfrm flipV="1">
            <a:off x="4171696" y="2062643"/>
            <a:ext cx="0" cy="21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아이콘 칸"/>
          <p:cNvSpPr/>
          <p:nvPr/>
        </p:nvSpPr>
        <p:spPr>
          <a:xfrm>
            <a:off x="723130" y="22777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태그"/>
          <p:cNvSpPr/>
          <p:nvPr/>
        </p:nvSpPr>
        <p:spPr>
          <a:xfrm>
            <a:off x="942261" y="2277704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277704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45" name="그룹 제목"/>
          <p:cNvSpPr>
            <a:spLocks noGrp="1"/>
          </p:cNvSpPr>
          <p:nvPr>
            <p:ph type="body" sz="quarter" idx="34"/>
          </p:nvPr>
        </p:nvSpPr>
        <p:spPr>
          <a:xfrm>
            <a:off x="1563998" y="2255791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46" name="카드 틀"/>
          <p:cNvSpPr/>
          <p:nvPr/>
        </p:nvSpPr>
        <p:spPr>
          <a:xfrm>
            <a:off x="723130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탭"/>
          <p:cNvSpPr/>
          <p:nvPr/>
        </p:nvSpPr>
        <p:spPr>
          <a:xfrm>
            <a:off x="723130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탭"/>
          <p:cNvSpPr>
            <a:spLocks noGrp="1"/>
          </p:cNvSpPr>
          <p:nvPr>
            <p:ph type="body" sz="quarter" idx="35"/>
          </p:nvPr>
        </p:nvSpPr>
        <p:spPr>
          <a:xfrm>
            <a:off x="723130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36"/>
          </p:nvPr>
        </p:nvSpPr>
        <p:spPr>
          <a:xfrm>
            <a:off x="1172348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37"/>
          </p:nvPr>
        </p:nvSpPr>
        <p:spPr>
          <a:xfrm>
            <a:off x="745043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51" name="카드 요약"/>
          <p:cNvSpPr/>
          <p:nvPr/>
        </p:nvSpPr>
        <p:spPr>
          <a:xfrm>
            <a:off x="723130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2" name="카드 요약"/>
          <p:cNvSpPr>
            <a:spLocks noGrp="1"/>
          </p:cNvSpPr>
          <p:nvPr>
            <p:ph type="body" sz="quarter" idx="38"/>
          </p:nvPr>
        </p:nvSpPr>
        <p:spPr>
          <a:xfrm>
            <a:off x="723130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53" name="카드 틀"/>
          <p:cNvSpPr/>
          <p:nvPr/>
        </p:nvSpPr>
        <p:spPr>
          <a:xfrm>
            <a:off x="3895043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탭"/>
          <p:cNvSpPr/>
          <p:nvPr/>
        </p:nvSpPr>
        <p:spPr>
          <a:xfrm>
            <a:off x="3895043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탭"/>
          <p:cNvSpPr>
            <a:spLocks noGrp="1"/>
          </p:cNvSpPr>
          <p:nvPr>
            <p:ph type="body" sz="quarter" idx="39"/>
          </p:nvPr>
        </p:nvSpPr>
        <p:spPr>
          <a:xfrm>
            <a:off x="3895043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56" name="카드 제목"/>
          <p:cNvSpPr>
            <a:spLocks noGrp="1"/>
          </p:cNvSpPr>
          <p:nvPr>
            <p:ph type="body" sz="quarter" idx="40"/>
          </p:nvPr>
        </p:nvSpPr>
        <p:spPr>
          <a:xfrm>
            <a:off x="4344261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57" name="카드 본문"/>
          <p:cNvSpPr>
            <a:spLocks noGrp="1"/>
          </p:cNvSpPr>
          <p:nvPr>
            <p:ph type="body" sz="quarter" idx="41"/>
          </p:nvPr>
        </p:nvSpPr>
        <p:spPr>
          <a:xfrm>
            <a:off x="3916957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3895043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2"/>
          </p:nvPr>
        </p:nvSpPr>
        <p:spPr>
          <a:xfrm>
            <a:off x="3895043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60" name="카드 틀"/>
          <p:cNvSpPr/>
          <p:nvPr/>
        </p:nvSpPr>
        <p:spPr>
          <a:xfrm>
            <a:off x="723130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탭"/>
          <p:cNvSpPr/>
          <p:nvPr/>
        </p:nvSpPr>
        <p:spPr>
          <a:xfrm>
            <a:off x="723130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탭"/>
          <p:cNvSpPr>
            <a:spLocks noGrp="1"/>
          </p:cNvSpPr>
          <p:nvPr>
            <p:ph type="body" sz="quarter" idx="43"/>
          </p:nvPr>
        </p:nvSpPr>
        <p:spPr>
          <a:xfrm>
            <a:off x="723130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44"/>
          </p:nvPr>
        </p:nvSpPr>
        <p:spPr>
          <a:xfrm>
            <a:off x="1172348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64" name="카드 본문"/>
          <p:cNvSpPr>
            <a:spLocks noGrp="1"/>
          </p:cNvSpPr>
          <p:nvPr>
            <p:ph type="body" sz="quarter" idx="45"/>
          </p:nvPr>
        </p:nvSpPr>
        <p:spPr>
          <a:xfrm>
            <a:off x="745043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65" name="카드 요약"/>
          <p:cNvSpPr/>
          <p:nvPr/>
        </p:nvSpPr>
        <p:spPr>
          <a:xfrm>
            <a:off x="723130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6" name="카드 요약"/>
          <p:cNvSpPr>
            <a:spLocks noGrp="1"/>
          </p:cNvSpPr>
          <p:nvPr>
            <p:ph type="body" sz="quarter" idx="46"/>
          </p:nvPr>
        </p:nvSpPr>
        <p:spPr>
          <a:xfrm>
            <a:off x="723130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67" name="카드 틀"/>
          <p:cNvSpPr/>
          <p:nvPr/>
        </p:nvSpPr>
        <p:spPr>
          <a:xfrm>
            <a:off x="3895043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탭"/>
          <p:cNvSpPr/>
          <p:nvPr/>
        </p:nvSpPr>
        <p:spPr>
          <a:xfrm>
            <a:off x="3895043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9" name="탭"/>
          <p:cNvSpPr>
            <a:spLocks noGrp="1"/>
          </p:cNvSpPr>
          <p:nvPr>
            <p:ph type="body" sz="quarter" idx="47"/>
          </p:nvPr>
        </p:nvSpPr>
        <p:spPr>
          <a:xfrm>
            <a:off x="3895043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48"/>
          </p:nvPr>
        </p:nvSpPr>
        <p:spPr>
          <a:xfrm>
            <a:off x="4344261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49"/>
          </p:nvPr>
        </p:nvSpPr>
        <p:spPr>
          <a:xfrm>
            <a:off x="3916957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72" name="카드 요약"/>
          <p:cNvSpPr/>
          <p:nvPr/>
        </p:nvSpPr>
        <p:spPr>
          <a:xfrm>
            <a:off x="3895043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3" name="카드 요약"/>
          <p:cNvSpPr>
            <a:spLocks noGrp="1"/>
          </p:cNvSpPr>
          <p:nvPr>
            <p:ph type="body" sz="quarter" idx="50"/>
          </p:nvPr>
        </p:nvSpPr>
        <p:spPr>
          <a:xfrm>
            <a:off x="3895043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74" name="배너"/>
          <p:cNvSpPr/>
          <p:nvPr/>
        </p:nvSpPr>
        <p:spPr>
          <a:xfrm>
            <a:off x="723130" y="47429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5" name="Connector 51"/>
          <p:cNvCxnSpPr/>
          <p:nvPr/>
        </p:nvCxnSpPr>
        <p:spPr>
          <a:xfrm>
            <a:off x="723130" y="47429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6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47977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77" name="표 외곽"/>
          <p:cNvSpPr/>
          <p:nvPr/>
        </p:nvSpPr>
        <p:spPr>
          <a:xfrm>
            <a:off x="723130" y="5115443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734087" y="5131878"/>
            <a:ext cx="580696" cy="832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 태그"/>
          <p:cNvSpPr/>
          <p:nvPr/>
        </p:nvSpPr>
        <p:spPr>
          <a:xfrm>
            <a:off x="730001" y="5175704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레일 태그"/>
          <p:cNvSpPr>
            <a:spLocks noGrp="1"/>
          </p:cNvSpPr>
          <p:nvPr>
            <p:ph type="body" sz="quarter" idx="52"/>
          </p:nvPr>
        </p:nvSpPr>
        <p:spPr>
          <a:xfrm>
            <a:off x="730001" y="5175704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81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361965"/>
            <a:ext cx="580696" cy="580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82" name="머리칸"/>
          <p:cNvSpPr/>
          <p:nvPr/>
        </p:nvSpPr>
        <p:spPr>
          <a:xfrm>
            <a:off x="1347652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84" name="머리칸"/>
          <p:cNvSpPr/>
          <p:nvPr/>
        </p:nvSpPr>
        <p:spPr>
          <a:xfrm>
            <a:off x="4171696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4171696" y="54277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182652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cxnSp>
        <p:nvCxnSpPr>
          <p:cNvPr id="91" name="Connector 64"/>
          <p:cNvCxnSpPr/>
          <p:nvPr/>
        </p:nvCxnSpPr>
        <p:spPr>
          <a:xfrm>
            <a:off x="4171696" y="5794748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5981009"/>
            <a:ext cx="580696" cy="61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5981009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94" name="레일 삼각형"/>
          <p:cNvSpPr/>
          <p:nvPr/>
        </p:nvSpPr>
        <p:spPr>
          <a:xfrm>
            <a:off x="734086" y="5981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머리칸"/>
          <p:cNvSpPr/>
          <p:nvPr/>
        </p:nvSpPr>
        <p:spPr>
          <a:xfrm>
            <a:off x="1347652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1"/>
          </p:nvPr>
        </p:nvSpPr>
        <p:spPr>
          <a:xfrm>
            <a:off x="1347652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97" name="머리칸"/>
          <p:cNvSpPr/>
          <p:nvPr/>
        </p:nvSpPr>
        <p:spPr>
          <a:xfrm>
            <a:off x="4171696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4171696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4"/>
          </p:nvPr>
        </p:nvSpPr>
        <p:spPr>
          <a:xfrm>
            <a:off x="4182652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cxnSp>
        <p:nvCxnSpPr>
          <p:cNvPr id="101" name="Connector 71"/>
          <p:cNvCxnSpPr/>
          <p:nvPr/>
        </p:nvCxnSpPr>
        <p:spPr>
          <a:xfrm>
            <a:off x="4171696" y="6276835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틀"/>
          <p:cNvSpPr/>
          <p:nvPr/>
        </p:nvSpPr>
        <p:spPr>
          <a:xfrm>
            <a:off x="723130" y="66822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성과 라벨"/>
          <p:cNvSpPr/>
          <p:nvPr/>
        </p:nvSpPr>
        <p:spPr>
          <a:xfrm>
            <a:off x="734087" y="66931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04" name="성과 라벨"/>
          <p:cNvSpPr>
            <a:spLocks noGrp="1"/>
          </p:cNvSpPr>
          <p:nvPr>
            <p:ph type="body" sz="quarter" idx="65"/>
          </p:nvPr>
        </p:nvSpPr>
        <p:spPr>
          <a:xfrm>
            <a:off x="734087" y="66931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05" name="성과 띠"/>
          <p:cNvSpPr/>
          <p:nvPr/>
        </p:nvSpPr>
        <p:spPr>
          <a:xfrm>
            <a:off x="1358609" y="67150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6" name="성과 띠"/>
          <p:cNvSpPr>
            <a:spLocks noGrp="1"/>
          </p:cNvSpPr>
          <p:nvPr>
            <p:ph type="body" sz="quarter" idx="66"/>
          </p:nvPr>
        </p:nvSpPr>
        <p:spPr>
          <a:xfrm>
            <a:off x="1358609" y="67150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107" name="카드"/>
          <p:cNvSpPr/>
          <p:nvPr/>
        </p:nvSpPr>
        <p:spPr>
          <a:xfrm>
            <a:off x="1358609" y="6956139"/>
            <a:ext cx="5631652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67"/>
          </p:nvPr>
        </p:nvSpPr>
        <p:spPr>
          <a:xfrm>
            <a:off x="1380522" y="6967096"/>
            <a:ext cx="256864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109" name="막대"/>
          <p:cNvSpPr/>
          <p:nvPr/>
        </p:nvSpPr>
        <p:spPr>
          <a:xfrm>
            <a:off x="4003951" y="7471096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0" name="값"/>
          <p:cNvSpPr>
            <a:spLocks noGrp="1"/>
          </p:cNvSpPr>
          <p:nvPr>
            <p:ph type="body" sz="quarter" idx="68"/>
          </p:nvPr>
        </p:nvSpPr>
        <p:spPr>
          <a:xfrm>
            <a:off x="3916299" y="7295791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111" name="연도"/>
          <p:cNvSpPr>
            <a:spLocks noGrp="1"/>
          </p:cNvSpPr>
          <p:nvPr>
            <p:ph type="body" sz="quarter" idx="69"/>
          </p:nvPr>
        </p:nvSpPr>
        <p:spPr>
          <a:xfrm>
            <a:off x="3916299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112" name="막대"/>
          <p:cNvSpPr/>
          <p:nvPr/>
        </p:nvSpPr>
        <p:spPr>
          <a:xfrm>
            <a:off x="4981127" y="7394400"/>
            <a:ext cx="164348" cy="153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값"/>
          <p:cNvSpPr>
            <a:spLocks noGrp="1"/>
          </p:cNvSpPr>
          <p:nvPr>
            <p:ph type="body" sz="quarter" idx="70"/>
          </p:nvPr>
        </p:nvSpPr>
        <p:spPr>
          <a:xfrm>
            <a:off x="4893475" y="72190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114" name="연도"/>
          <p:cNvSpPr>
            <a:spLocks noGrp="1"/>
          </p:cNvSpPr>
          <p:nvPr>
            <p:ph type="body" sz="quarter" idx="71"/>
          </p:nvPr>
        </p:nvSpPr>
        <p:spPr>
          <a:xfrm>
            <a:off x="4893475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15" name="막대"/>
          <p:cNvSpPr/>
          <p:nvPr/>
        </p:nvSpPr>
        <p:spPr>
          <a:xfrm>
            <a:off x="5958303" y="73286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값"/>
          <p:cNvSpPr>
            <a:spLocks noGrp="1"/>
          </p:cNvSpPr>
          <p:nvPr>
            <p:ph type="body" sz="quarter" idx="72"/>
          </p:nvPr>
        </p:nvSpPr>
        <p:spPr>
          <a:xfrm>
            <a:off x="5870650" y="71533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117" name="연도"/>
          <p:cNvSpPr>
            <a:spLocks noGrp="1"/>
          </p:cNvSpPr>
          <p:nvPr>
            <p:ph type="body" sz="quarter" idx="73"/>
          </p:nvPr>
        </p:nvSpPr>
        <p:spPr>
          <a:xfrm>
            <a:off x="5870650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9 서사 · 현황진단 → 의견수렴 → 진단형·코칭형 피드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761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58643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58643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194122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13260" y="2237948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3"/>
          </p:nvPr>
        </p:nvSpPr>
        <p:spPr>
          <a:xfrm>
            <a:off x="613260" y="2237948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424209"/>
            <a:ext cx="580696" cy="542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489948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004904"/>
            <a:ext cx="580696" cy="857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668144" y="316925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9"/>
          </p:nvPr>
        </p:nvSpPr>
        <p:spPr>
          <a:xfrm>
            <a:off x="668144" y="316925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355513"/>
            <a:ext cx="580696" cy="484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004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3026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3026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3262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3262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3262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3547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3966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982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0 서사 · 직원 니즈 → 추진실적 → 추진성과(행별 대응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단계"/>
          <p:cNvSpPr/>
          <p:nvPr/>
        </p:nvSpPr>
        <p:spPr>
          <a:xfrm>
            <a:off x="1358609" y="1150435"/>
            <a:ext cx="1576863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58609" y="1150435"/>
            <a:ext cx="1576863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8" name="단계"/>
          <p:cNvSpPr/>
          <p:nvPr/>
        </p:nvSpPr>
        <p:spPr>
          <a:xfrm>
            <a:off x="2935471" y="1150435"/>
            <a:ext cx="242161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935471" y="1150435"/>
            <a:ext cx="242161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0" name="단계"/>
          <p:cNvSpPr/>
          <p:nvPr/>
        </p:nvSpPr>
        <p:spPr>
          <a:xfrm>
            <a:off x="5357082" y="1150435"/>
            <a:ext cx="1633179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357082" y="1150435"/>
            <a:ext cx="1633179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93547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35708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행 틀"/>
          <p:cNvSpPr/>
          <p:nvPr/>
        </p:nvSpPr>
        <p:spPr>
          <a:xfrm>
            <a:off x="723130" y="1413391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1424348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24348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7" name="니즈"/>
          <p:cNvSpPr>
            <a:spLocks noGrp="1"/>
          </p:cNvSpPr>
          <p:nvPr>
            <p:ph type="body" sz="quarter" idx="27"/>
          </p:nvPr>
        </p:nvSpPr>
        <p:spPr>
          <a:xfrm>
            <a:off x="1358609" y="1413391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8" name="실적 머리"/>
          <p:cNvSpPr>
            <a:spLocks noGrp="1"/>
          </p:cNvSpPr>
          <p:nvPr>
            <p:ph type="body" sz="quarter" idx="28"/>
          </p:nvPr>
        </p:nvSpPr>
        <p:spPr>
          <a:xfrm>
            <a:off x="2935471" y="1424348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29" name="태그"/>
          <p:cNvSpPr/>
          <p:nvPr/>
        </p:nvSpPr>
        <p:spPr>
          <a:xfrm>
            <a:off x="2979297" y="167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2979297" y="167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0"/>
          </p:nvPr>
        </p:nvSpPr>
        <p:spPr>
          <a:xfrm>
            <a:off x="3341269" y="165443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32" name="태그"/>
          <p:cNvSpPr/>
          <p:nvPr/>
        </p:nvSpPr>
        <p:spPr>
          <a:xfrm>
            <a:off x="2979297" y="1906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2979297" y="1906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32"/>
          </p:nvPr>
        </p:nvSpPr>
        <p:spPr>
          <a:xfrm>
            <a:off x="3341269" y="1884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35" name="성과 머리"/>
          <p:cNvSpPr/>
          <p:nvPr/>
        </p:nvSpPr>
        <p:spPr>
          <a:xfrm>
            <a:off x="5378995" y="1446261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머리"/>
          <p:cNvSpPr>
            <a:spLocks noGrp="1"/>
          </p:cNvSpPr>
          <p:nvPr>
            <p:ph type="body" sz="quarter" idx="33"/>
          </p:nvPr>
        </p:nvSpPr>
        <p:spPr>
          <a:xfrm>
            <a:off x="5378995" y="1446261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37" name="성과 글"/>
          <p:cNvSpPr>
            <a:spLocks noGrp="1"/>
          </p:cNvSpPr>
          <p:nvPr>
            <p:ph type="body" sz="quarter" idx="34"/>
          </p:nvPr>
        </p:nvSpPr>
        <p:spPr>
          <a:xfrm>
            <a:off x="5378995" y="1687304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292451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39" name="Connector 25"/>
          <p:cNvCxnSpPr/>
          <p:nvPr/>
        </p:nvCxnSpPr>
        <p:spPr>
          <a:xfrm>
            <a:off x="534612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행 틀"/>
          <p:cNvSpPr/>
          <p:nvPr/>
        </p:nvSpPr>
        <p:spPr>
          <a:xfrm>
            <a:off x="723130" y="2147478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34087" y="2158435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158435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43" name="니즈"/>
          <p:cNvSpPr>
            <a:spLocks noGrp="1"/>
          </p:cNvSpPr>
          <p:nvPr>
            <p:ph type="body" sz="quarter" idx="36"/>
          </p:nvPr>
        </p:nvSpPr>
        <p:spPr>
          <a:xfrm>
            <a:off x="1358609" y="2147478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44" name="실적 머리"/>
          <p:cNvSpPr>
            <a:spLocks noGrp="1"/>
          </p:cNvSpPr>
          <p:nvPr>
            <p:ph type="body" sz="quarter" idx="37"/>
          </p:nvPr>
        </p:nvSpPr>
        <p:spPr>
          <a:xfrm>
            <a:off x="2935471" y="2158435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45" name="태그"/>
          <p:cNvSpPr/>
          <p:nvPr/>
        </p:nvSpPr>
        <p:spPr>
          <a:xfrm>
            <a:off x="2979297" y="2410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2979297" y="2410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9"/>
          </p:nvPr>
        </p:nvSpPr>
        <p:spPr>
          <a:xfrm>
            <a:off x="3341269" y="2388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48" name="태그"/>
          <p:cNvSpPr/>
          <p:nvPr/>
        </p:nvSpPr>
        <p:spPr>
          <a:xfrm>
            <a:off x="2979297" y="2640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40"/>
          </p:nvPr>
        </p:nvSpPr>
        <p:spPr>
          <a:xfrm>
            <a:off x="2979297" y="2640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0" name="칩 줄 글"/>
          <p:cNvSpPr>
            <a:spLocks noGrp="1"/>
          </p:cNvSpPr>
          <p:nvPr>
            <p:ph type="body" sz="quarter" idx="41"/>
          </p:nvPr>
        </p:nvSpPr>
        <p:spPr>
          <a:xfrm>
            <a:off x="3341269" y="2618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51" name="성과 머리"/>
          <p:cNvSpPr/>
          <p:nvPr/>
        </p:nvSpPr>
        <p:spPr>
          <a:xfrm>
            <a:off x="5378995" y="2180348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2" name="성과 머리"/>
          <p:cNvSpPr>
            <a:spLocks noGrp="1"/>
          </p:cNvSpPr>
          <p:nvPr>
            <p:ph type="body" sz="quarter" idx="42"/>
          </p:nvPr>
        </p:nvSpPr>
        <p:spPr>
          <a:xfrm>
            <a:off x="5378995" y="2180348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53" name="성과 글"/>
          <p:cNvSpPr>
            <a:spLocks noGrp="1"/>
          </p:cNvSpPr>
          <p:nvPr>
            <p:ph type="body" sz="quarter" idx="43"/>
          </p:nvPr>
        </p:nvSpPr>
        <p:spPr>
          <a:xfrm>
            <a:off x="5378995" y="2421391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292451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55" name="Connector 37"/>
          <p:cNvCxnSpPr/>
          <p:nvPr/>
        </p:nvCxnSpPr>
        <p:spPr>
          <a:xfrm>
            <a:off x="534612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행 틀"/>
          <p:cNvSpPr/>
          <p:nvPr/>
        </p:nvSpPr>
        <p:spPr>
          <a:xfrm>
            <a:off x="723130" y="2881565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2892522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2892522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59" name="니즈"/>
          <p:cNvSpPr>
            <a:spLocks noGrp="1"/>
          </p:cNvSpPr>
          <p:nvPr>
            <p:ph type="body" sz="quarter" idx="45"/>
          </p:nvPr>
        </p:nvSpPr>
        <p:spPr>
          <a:xfrm>
            <a:off x="1358609" y="2881565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60" name="실적 머리"/>
          <p:cNvSpPr>
            <a:spLocks noGrp="1"/>
          </p:cNvSpPr>
          <p:nvPr>
            <p:ph type="body" sz="quarter" idx="46"/>
          </p:nvPr>
        </p:nvSpPr>
        <p:spPr>
          <a:xfrm>
            <a:off x="2935471" y="2892522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61" name="태그"/>
          <p:cNvSpPr/>
          <p:nvPr/>
        </p:nvSpPr>
        <p:spPr>
          <a:xfrm>
            <a:off x="2979297" y="3144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7"/>
          </p:nvPr>
        </p:nvSpPr>
        <p:spPr>
          <a:xfrm>
            <a:off x="2979297" y="3144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63" name="칩 줄 글"/>
          <p:cNvSpPr>
            <a:spLocks noGrp="1"/>
          </p:cNvSpPr>
          <p:nvPr>
            <p:ph type="body" sz="quarter" idx="48"/>
          </p:nvPr>
        </p:nvSpPr>
        <p:spPr>
          <a:xfrm>
            <a:off x="3341269" y="3122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64" name="태그"/>
          <p:cNvSpPr/>
          <p:nvPr/>
        </p:nvSpPr>
        <p:spPr>
          <a:xfrm>
            <a:off x="2979297" y="3374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9"/>
          </p:nvPr>
        </p:nvSpPr>
        <p:spPr>
          <a:xfrm>
            <a:off x="2979297" y="3374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50"/>
          </p:nvPr>
        </p:nvSpPr>
        <p:spPr>
          <a:xfrm>
            <a:off x="3341269" y="3352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67" name="성과 머리"/>
          <p:cNvSpPr/>
          <p:nvPr/>
        </p:nvSpPr>
        <p:spPr>
          <a:xfrm>
            <a:off x="5378995" y="2914435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성과 머리"/>
          <p:cNvSpPr>
            <a:spLocks noGrp="1"/>
          </p:cNvSpPr>
          <p:nvPr>
            <p:ph type="body" sz="quarter" idx="51"/>
          </p:nvPr>
        </p:nvSpPr>
        <p:spPr>
          <a:xfrm>
            <a:off x="5378995" y="2914435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69" name="성과 글"/>
          <p:cNvSpPr>
            <a:spLocks noGrp="1"/>
          </p:cNvSpPr>
          <p:nvPr>
            <p:ph type="body" sz="quarter" idx="52"/>
          </p:nvPr>
        </p:nvSpPr>
        <p:spPr>
          <a:xfrm>
            <a:off x="5378995" y="3155478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cxnSp>
        <p:nvCxnSpPr>
          <p:cNvPr id="70" name="Connector 48"/>
          <p:cNvCxnSpPr/>
          <p:nvPr/>
        </p:nvCxnSpPr>
        <p:spPr>
          <a:xfrm>
            <a:off x="292451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1" name="Connector 49"/>
          <p:cNvCxnSpPr/>
          <p:nvPr/>
        </p:nvCxnSpPr>
        <p:spPr>
          <a:xfrm>
            <a:off x="534612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행 틀"/>
          <p:cNvSpPr/>
          <p:nvPr/>
        </p:nvSpPr>
        <p:spPr>
          <a:xfrm>
            <a:off x="723130" y="3615652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734087" y="3626609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3626609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75" name="니즈"/>
          <p:cNvSpPr>
            <a:spLocks noGrp="1"/>
          </p:cNvSpPr>
          <p:nvPr>
            <p:ph type="body" sz="quarter" idx="54"/>
          </p:nvPr>
        </p:nvSpPr>
        <p:spPr>
          <a:xfrm>
            <a:off x="1358609" y="3615652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76" name="실적 머리"/>
          <p:cNvSpPr>
            <a:spLocks noGrp="1"/>
          </p:cNvSpPr>
          <p:nvPr>
            <p:ph type="body" sz="quarter" idx="55"/>
          </p:nvPr>
        </p:nvSpPr>
        <p:spPr>
          <a:xfrm>
            <a:off x="2935471" y="3626609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77" name="태그"/>
          <p:cNvSpPr/>
          <p:nvPr/>
        </p:nvSpPr>
        <p:spPr>
          <a:xfrm>
            <a:off x="2979297" y="3878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56"/>
          </p:nvPr>
        </p:nvSpPr>
        <p:spPr>
          <a:xfrm>
            <a:off x="2979297" y="3878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79" name="칩 줄 글"/>
          <p:cNvSpPr>
            <a:spLocks noGrp="1"/>
          </p:cNvSpPr>
          <p:nvPr>
            <p:ph type="body" sz="quarter" idx="57"/>
          </p:nvPr>
        </p:nvSpPr>
        <p:spPr>
          <a:xfrm>
            <a:off x="3341269" y="3856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80" name="태그"/>
          <p:cNvSpPr/>
          <p:nvPr/>
        </p:nvSpPr>
        <p:spPr>
          <a:xfrm>
            <a:off x="2979297" y="4108696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8"/>
          </p:nvPr>
        </p:nvSpPr>
        <p:spPr>
          <a:xfrm>
            <a:off x="2979297" y="4108696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2" name="칩 줄 글"/>
          <p:cNvSpPr>
            <a:spLocks noGrp="1"/>
          </p:cNvSpPr>
          <p:nvPr>
            <p:ph type="body" sz="quarter" idx="59"/>
          </p:nvPr>
        </p:nvSpPr>
        <p:spPr>
          <a:xfrm>
            <a:off x="3341269" y="4086783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83" name="성과 머리"/>
          <p:cNvSpPr/>
          <p:nvPr/>
        </p:nvSpPr>
        <p:spPr>
          <a:xfrm>
            <a:off x="5378995" y="3648522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머리"/>
          <p:cNvSpPr>
            <a:spLocks noGrp="1"/>
          </p:cNvSpPr>
          <p:nvPr>
            <p:ph type="body" sz="quarter" idx="60"/>
          </p:nvPr>
        </p:nvSpPr>
        <p:spPr>
          <a:xfrm>
            <a:off x="5378995" y="3648522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85" name="성과 글"/>
          <p:cNvSpPr>
            <a:spLocks noGrp="1"/>
          </p:cNvSpPr>
          <p:nvPr>
            <p:ph type="body" sz="quarter" idx="61"/>
          </p:nvPr>
        </p:nvSpPr>
        <p:spPr>
          <a:xfrm>
            <a:off x="5378995" y="3889565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292451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87" name="Connector 61"/>
          <p:cNvCxnSpPr/>
          <p:nvPr/>
        </p:nvCxnSpPr>
        <p:spPr>
          <a:xfrm>
            <a:off x="534612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1 서사 · 환경분석 → 성과환류 → 목표 → 추진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27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3521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3521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985435" y="1890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배너"/>
          <p:cNvSpPr/>
          <p:nvPr/>
        </p:nvSpPr>
        <p:spPr>
          <a:xfrm>
            <a:off x="536870" y="24461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2" name="Connector 24"/>
          <p:cNvCxnSpPr/>
          <p:nvPr/>
        </p:nvCxnSpPr>
        <p:spPr>
          <a:xfrm>
            <a:off x="536870" y="24461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3" name="배너 글"/>
          <p:cNvSpPr>
            <a:spLocks noGrp="1"/>
          </p:cNvSpPr>
          <p:nvPr>
            <p:ph type="body" sz="quarter" idx="30"/>
          </p:nvPr>
        </p:nvSpPr>
        <p:spPr>
          <a:xfrm>
            <a:off x="536870" y="25009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818643"/>
            <a:ext cx="6300000" cy="987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8350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350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28569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569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310492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1049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1049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985435" y="34007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2 서사 · 추진배경 → 시사점 → 추진노력 3단(현 수준 파악 · 제도 개선 · 성과 견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37778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24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8724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454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2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2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1539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158321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158321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153939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1846174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1862609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862609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884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884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884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88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88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1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3193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3 서사 · 아쉬운 점 → 개선방향 → 추진노력 3갈래(기대효과 · 고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4254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5" name="태그칩"/>
          <p:cNvSpPr/>
          <p:nvPr/>
        </p:nvSpPr>
        <p:spPr>
          <a:xfrm>
            <a:off x="55582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82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77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53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53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353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375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375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375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375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375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3055043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 flipV="1">
            <a:off x="3044087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4937739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 flipV="1">
            <a:off x="4926783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1754452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54452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1754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머리칸"/>
          <p:cNvSpPr/>
          <p:nvPr/>
        </p:nvSpPr>
        <p:spPr>
          <a:xfrm>
            <a:off x="1161391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42" name="머리칸"/>
          <p:cNvSpPr/>
          <p:nvPr/>
        </p:nvSpPr>
        <p:spPr>
          <a:xfrm>
            <a:off x="3044087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44" name="머리칸"/>
          <p:cNvSpPr/>
          <p:nvPr/>
        </p:nvSpPr>
        <p:spPr>
          <a:xfrm>
            <a:off x="4926783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044087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4926783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cxnSp>
        <p:nvCxnSpPr>
          <p:cNvPr id="53" name="Connector 38"/>
          <p:cNvCxnSpPr/>
          <p:nvPr/>
        </p:nvCxnSpPr>
        <p:spPr>
          <a:xfrm>
            <a:off x="3044087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cxnSp>
        <p:nvCxnSpPr>
          <p:cNvPr id="55" name="Connector 40"/>
          <p:cNvCxnSpPr/>
          <p:nvPr/>
        </p:nvCxnSpPr>
        <p:spPr>
          <a:xfrm>
            <a:off x="4926783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핵심성과 박스"/>
          <p:cNvSpPr/>
          <p:nvPr/>
        </p:nvSpPr>
        <p:spPr>
          <a:xfrm>
            <a:off x="536870" y="32171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핵심성과 라벨"/>
          <p:cNvSpPr/>
          <p:nvPr/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8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23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4 서사 · 추진배경 → 성장 사다리(성장 → 스케일업) → 실행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28312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2831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46702" y="931304"/>
            <a:ext cx="33480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46702" y="777913"/>
            <a:ext cx="5376429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09332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9332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64444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64444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881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142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03861"/>
            <a:ext cx="580696" cy="142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4171696" y="17942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단계"/>
          <p:cNvSpPr/>
          <p:nvPr/>
        </p:nvSpPr>
        <p:spPr>
          <a:xfrm>
            <a:off x="1347652" y="1996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34" name="단계"/>
          <p:cNvSpPr/>
          <p:nvPr/>
        </p:nvSpPr>
        <p:spPr>
          <a:xfrm>
            <a:off x="3230348" y="1996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36" name="단계"/>
          <p:cNvSpPr/>
          <p:nvPr/>
        </p:nvSpPr>
        <p:spPr>
          <a:xfrm>
            <a:off x="5113043" y="1996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230347" y="1996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5113043" y="1996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230348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5113043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171696" y="2604991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723130" y="3032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48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5 서사 · 추진배경 → 매칭 페어 · 로컬 공동체 → 지역 자생 일자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5" name="태그칩"/>
          <p:cNvSpPr/>
          <p:nvPr/>
        </p:nvSpPr>
        <p:spPr>
          <a:xfrm>
            <a:off x="492452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2452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47564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47564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641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492904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30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985435" y="1788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161391" y="2374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74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536870" y="27036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7200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6 서사 · 돌아보기 → 원인 → 시사점 → 환경 · 직무 · 성장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501087" y="931304"/>
            <a:ext cx="304408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501087" y="777913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14" name="태그칩"/>
          <p:cNvSpPr/>
          <p:nvPr/>
        </p:nvSpPr>
        <p:spPr>
          <a:xfrm>
            <a:off x="464377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64377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194900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194900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965559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5"/>
          </p:nvPr>
        </p:nvSpPr>
        <p:spPr>
          <a:xfrm>
            <a:off x="5965559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062783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818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125722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3"/>
          </p:nvPr>
        </p:nvSpPr>
        <p:spPr>
          <a:xfrm>
            <a:off x="1051826" y="2125722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4"/>
          </p:nvPr>
        </p:nvSpPr>
        <p:spPr>
          <a:xfrm>
            <a:off x="1545480" y="2081896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88678"/>
            <a:ext cx="6300000" cy="2424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405113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 태그"/>
          <p:cNvSpPr/>
          <p:nvPr/>
        </p:nvSpPr>
        <p:spPr>
          <a:xfrm>
            <a:off x="854405" y="24489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1" name="레일 태그"/>
          <p:cNvSpPr>
            <a:spLocks noGrp="1"/>
          </p:cNvSpPr>
          <p:nvPr>
            <p:ph type="body" sz="quarter" idx="35"/>
          </p:nvPr>
        </p:nvSpPr>
        <p:spPr>
          <a:xfrm>
            <a:off x="854405" y="24489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2635200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43" name="머리칸"/>
          <p:cNvSpPr/>
          <p:nvPr/>
        </p:nvSpPr>
        <p:spPr>
          <a:xfrm>
            <a:off x="1347652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347652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4171696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700939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128243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854405" y="3292591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1"/>
          </p:nvPr>
        </p:nvSpPr>
        <p:spPr>
          <a:xfrm>
            <a:off x="854405" y="3292591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2"/>
          </p:nvPr>
        </p:nvSpPr>
        <p:spPr>
          <a:xfrm>
            <a:off x="734087" y="3478852"/>
            <a:ext cx="580696" cy="498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3128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347652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57" name="머리칸"/>
          <p:cNvSpPr/>
          <p:nvPr/>
        </p:nvSpPr>
        <p:spPr>
          <a:xfrm>
            <a:off x="4171696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4"/>
          </p:nvPr>
        </p:nvSpPr>
        <p:spPr>
          <a:xfrm>
            <a:off x="4171696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4171696" y="34240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015722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1800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1800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36633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01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cxnSp>
        <p:nvCxnSpPr>
          <p:cNvPr id="73" name="Connector 51"/>
          <p:cNvCxnSpPr/>
          <p:nvPr/>
        </p:nvCxnSpPr>
        <p:spPr>
          <a:xfrm>
            <a:off x="4171696" y="4311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49005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501043" y="49169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7 서사 · 정부 정책 변화 → 이행 노력 → 성과 창출(3단 흐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243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5" name="태그칩"/>
          <p:cNvSpPr/>
          <p:nvPr/>
        </p:nvSpPr>
        <p:spPr>
          <a:xfrm>
            <a:off x="47963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963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48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48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22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24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044087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4926783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8 서사 · 추진배경 → 시사점 → 추진방향 3축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20624" y="931304"/>
            <a:ext cx="35257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20624" y="777913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14" name="태그칩"/>
          <p:cNvSpPr/>
          <p:nvPr/>
        </p:nvSpPr>
        <p:spPr>
          <a:xfrm>
            <a:off x="534495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4495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611561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1561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1525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156960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156960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9"/>
          </p:nvPr>
        </p:nvSpPr>
        <p:spPr>
          <a:xfrm>
            <a:off x="1545480" y="152577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1832557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1848991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48991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1" name="배너"/>
          <p:cNvSpPr/>
          <p:nvPr/>
        </p:nvSpPr>
        <p:spPr>
          <a:xfrm>
            <a:off x="1347652" y="1870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70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cxnSp>
        <p:nvCxnSpPr>
          <p:cNvPr id="43" name="Connector 27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2788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2952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9 서사 · 추진배경 → 광역 거버넌스 → 지역인재 육성체계 → 종합실적(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5" name="태그칩"/>
          <p:cNvSpPr/>
          <p:nvPr/>
        </p:nvSpPr>
        <p:spPr>
          <a:xfrm>
            <a:off x="47240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240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151481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155864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55864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51481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1821600"/>
            <a:ext cx="6300000" cy="195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1838035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 태그"/>
          <p:cNvSpPr/>
          <p:nvPr/>
        </p:nvSpPr>
        <p:spPr>
          <a:xfrm>
            <a:off x="558376" y="1881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레일 태그"/>
          <p:cNvSpPr>
            <a:spLocks noGrp="1"/>
          </p:cNvSpPr>
          <p:nvPr>
            <p:ph type="body" sz="quarter" idx="29"/>
          </p:nvPr>
        </p:nvSpPr>
        <p:spPr>
          <a:xfrm>
            <a:off x="558376" y="1881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31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20681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72551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레일 태그"/>
          <p:cNvSpPr/>
          <p:nvPr/>
        </p:nvSpPr>
        <p:spPr>
          <a:xfrm>
            <a:off x="558376" y="2889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레일 태그"/>
          <p:cNvSpPr>
            <a:spLocks noGrp="1"/>
          </p:cNvSpPr>
          <p:nvPr>
            <p:ph type="body" sz="quarter" idx="37"/>
          </p:nvPr>
        </p:nvSpPr>
        <p:spPr>
          <a:xfrm>
            <a:off x="558376" y="2889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076122"/>
            <a:ext cx="580696" cy="657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161391" y="27474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7474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50" name="머리칸"/>
          <p:cNvSpPr/>
          <p:nvPr/>
        </p:nvSpPr>
        <p:spPr>
          <a:xfrm>
            <a:off x="1161391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3044087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926783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595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923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923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814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65" name="틀"/>
          <p:cNvSpPr/>
          <p:nvPr/>
        </p:nvSpPr>
        <p:spPr>
          <a:xfrm>
            <a:off x="536870" y="444960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성과 라벨"/>
          <p:cNvSpPr/>
          <p:nvPr/>
        </p:nvSpPr>
        <p:spPr>
          <a:xfrm>
            <a:off x="547826" y="446055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성과 라벨"/>
          <p:cNvSpPr>
            <a:spLocks noGrp="1"/>
          </p:cNvSpPr>
          <p:nvPr>
            <p:ph type="body" sz="quarter" idx="48"/>
          </p:nvPr>
        </p:nvSpPr>
        <p:spPr>
          <a:xfrm>
            <a:off x="547826" y="446055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68" name="성과 띠"/>
          <p:cNvSpPr/>
          <p:nvPr/>
        </p:nvSpPr>
        <p:spPr>
          <a:xfrm>
            <a:off x="1172348" y="448247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9" name="성과 띠"/>
          <p:cNvSpPr>
            <a:spLocks noGrp="1"/>
          </p:cNvSpPr>
          <p:nvPr>
            <p:ph type="body" sz="quarter" idx="49"/>
          </p:nvPr>
        </p:nvSpPr>
        <p:spPr>
          <a:xfrm>
            <a:off x="1172348" y="448247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70" name="카드"/>
          <p:cNvSpPr/>
          <p:nvPr/>
        </p:nvSpPr>
        <p:spPr>
          <a:xfrm>
            <a:off x="1172348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1194261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2" name="막대"/>
          <p:cNvSpPr/>
          <p:nvPr/>
        </p:nvSpPr>
        <p:spPr>
          <a:xfrm>
            <a:off x="1249043" y="5221252"/>
            <a:ext cx="164348" cy="93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1161391" y="5045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116139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5" name="막대"/>
          <p:cNvSpPr/>
          <p:nvPr/>
        </p:nvSpPr>
        <p:spPr>
          <a:xfrm>
            <a:off x="149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141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141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8" name="막대"/>
          <p:cNvSpPr/>
          <p:nvPr/>
        </p:nvSpPr>
        <p:spPr>
          <a:xfrm>
            <a:off x="1748174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5"/>
          </p:nvPr>
        </p:nvSpPr>
        <p:spPr>
          <a:xfrm>
            <a:off x="166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6"/>
          </p:nvPr>
        </p:nvSpPr>
        <p:spPr>
          <a:xfrm>
            <a:off x="166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카드"/>
          <p:cNvSpPr/>
          <p:nvPr/>
        </p:nvSpPr>
        <p:spPr>
          <a:xfrm>
            <a:off x="2118261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카드 문구"/>
          <p:cNvSpPr>
            <a:spLocks noGrp="1"/>
          </p:cNvSpPr>
          <p:nvPr>
            <p:ph type="body" sz="quarter" idx="57"/>
          </p:nvPr>
        </p:nvSpPr>
        <p:spPr>
          <a:xfrm>
            <a:off x="2140174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83" name="막대"/>
          <p:cNvSpPr/>
          <p:nvPr/>
        </p:nvSpPr>
        <p:spPr>
          <a:xfrm>
            <a:off x="2194957" y="5224774"/>
            <a:ext cx="164348" cy="90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값"/>
          <p:cNvSpPr>
            <a:spLocks noGrp="1"/>
          </p:cNvSpPr>
          <p:nvPr>
            <p:ph type="body" sz="quarter" idx="58"/>
          </p:nvPr>
        </p:nvSpPr>
        <p:spPr>
          <a:xfrm>
            <a:off x="2107304" y="5049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59"/>
          </p:nvPr>
        </p:nvSpPr>
        <p:spPr>
          <a:xfrm>
            <a:off x="210730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6" name="막대"/>
          <p:cNvSpPr/>
          <p:nvPr/>
        </p:nvSpPr>
        <p:spPr>
          <a:xfrm>
            <a:off x="2444522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0"/>
          </p:nvPr>
        </p:nvSpPr>
        <p:spPr>
          <a:xfrm>
            <a:off x="2356870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1"/>
          </p:nvPr>
        </p:nvSpPr>
        <p:spPr>
          <a:xfrm>
            <a:off x="235687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9" name="막대"/>
          <p:cNvSpPr/>
          <p:nvPr/>
        </p:nvSpPr>
        <p:spPr>
          <a:xfrm>
            <a:off x="2694087" y="516725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2"/>
          </p:nvPr>
        </p:nvSpPr>
        <p:spPr>
          <a:xfrm>
            <a:off x="2606435" y="4991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3"/>
          </p:nvPr>
        </p:nvSpPr>
        <p:spPr>
          <a:xfrm>
            <a:off x="2606435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3064174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4"/>
          </p:nvPr>
        </p:nvSpPr>
        <p:spPr>
          <a:xfrm>
            <a:off x="3086087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94" name="막대"/>
          <p:cNvSpPr/>
          <p:nvPr/>
        </p:nvSpPr>
        <p:spPr>
          <a:xfrm>
            <a:off x="3140870" y="523847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5"/>
          </p:nvPr>
        </p:nvSpPr>
        <p:spPr>
          <a:xfrm>
            <a:off x="3053217" y="5063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6"/>
          </p:nvPr>
        </p:nvSpPr>
        <p:spPr>
          <a:xfrm>
            <a:off x="305321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막대"/>
          <p:cNvSpPr/>
          <p:nvPr/>
        </p:nvSpPr>
        <p:spPr>
          <a:xfrm>
            <a:off x="3390435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7"/>
          </p:nvPr>
        </p:nvSpPr>
        <p:spPr>
          <a:xfrm>
            <a:off x="3302783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68"/>
          </p:nvPr>
        </p:nvSpPr>
        <p:spPr>
          <a:xfrm>
            <a:off x="330278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0" name="막대"/>
          <p:cNvSpPr/>
          <p:nvPr/>
        </p:nvSpPr>
        <p:spPr>
          <a:xfrm>
            <a:off x="3640000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값"/>
          <p:cNvSpPr>
            <a:spLocks noGrp="1"/>
          </p:cNvSpPr>
          <p:nvPr>
            <p:ph type="body" sz="quarter" idx="69"/>
          </p:nvPr>
        </p:nvSpPr>
        <p:spPr>
          <a:xfrm>
            <a:off x="3552348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70"/>
          </p:nvPr>
        </p:nvSpPr>
        <p:spPr>
          <a:xfrm>
            <a:off x="3552348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3" name="카드"/>
          <p:cNvSpPr/>
          <p:nvPr/>
        </p:nvSpPr>
        <p:spPr>
          <a:xfrm>
            <a:off x="4010087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카드 문구"/>
          <p:cNvSpPr>
            <a:spLocks noGrp="1"/>
          </p:cNvSpPr>
          <p:nvPr>
            <p:ph type="body" sz="quarter" idx="71"/>
          </p:nvPr>
        </p:nvSpPr>
        <p:spPr>
          <a:xfrm>
            <a:off x="4032000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105" name="막대"/>
          <p:cNvSpPr/>
          <p:nvPr/>
        </p:nvSpPr>
        <p:spPr>
          <a:xfrm>
            <a:off x="4086783" y="520012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값"/>
          <p:cNvSpPr>
            <a:spLocks noGrp="1"/>
          </p:cNvSpPr>
          <p:nvPr>
            <p:ph type="body" sz="quarter" idx="72"/>
          </p:nvPr>
        </p:nvSpPr>
        <p:spPr>
          <a:xfrm>
            <a:off x="3999130" y="50248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73"/>
          </p:nvPr>
        </p:nvSpPr>
        <p:spPr>
          <a:xfrm>
            <a:off x="399913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막대"/>
          <p:cNvSpPr/>
          <p:nvPr/>
        </p:nvSpPr>
        <p:spPr>
          <a:xfrm>
            <a:off x="4336348" y="517547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값"/>
          <p:cNvSpPr>
            <a:spLocks noGrp="1"/>
          </p:cNvSpPr>
          <p:nvPr>
            <p:ph type="body" sz="quarter" idx="74"/>
          </p:nvPr>
        </p:nvSpPr>
        <p:spPr>
          <a:xfrm>
            <a:off x="4248696" y="5000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75"/>
          </p:nvPr>
        </p:nvSpPr>
        <p:spPr>
          <a:xfrm>
            <a:off x="4248696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1" name="막대"/>
          <p:cNvSpPr/>
          <p:nvPr/>
        </p:nvSpPr>
        <p:spPr>
          <a:xfrm>
            <a:off x="4585913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값"/>
          <p:cNvSpPr>
            <a:spLocks noGrp="1"/>
          </p:cNvSpPr>
          <p:nvPr>
            <p:ph type="body" sz="quarter" idx="76"/>
          </p:nvPr>
        </p:nvSpPr>
        <p:spPr>
          <a:xfrm>
            <a:off x="4498261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77"/>
          </p:nvPr>
        </p:nvSpPr>
        <p:spPr>
          <a:xfrm>
            <a:off x="449826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4" name="카드"/>
          <p:cNvSpPr/>
          <p:nvPr/>
        </p:nvSpPr>
        <p:spPr>
          <a:xfrm>
            <a:off x="4956000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카드 문구"/>
          <p:cNvSpPr>
            <a:spLocks noGrp="1"/>
          </p:cNvSpPr>
          <p:nvPr>
            <p:ph type="body" sz="quarter" idx="78"/>
          </p:nvPr>
        </p:nvSpPr>
        <p:spPr>
          <a:xfrm>
            <a:off x="4977913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16" name="막대"/>
          <p:cNvSpPr/>
          <p:nvPr/>
        </p:nvSpPr>
        <p:spPr>
          <a:xfrm>
            <a:off x="5032696" y="5219843"/>
            <a:ext cx="164348" cy="95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값"/>
          <p:cNvSpPr>
            <a:spLocks noGrp="1"/>
          </p:cNvSpPr>
          <p:nvPr>
            <p:ph type="body" sz="quarter" idx="79"/>
          </p:nvPr>
        </p:nvSpPr>
        <p:spPr>
          <a:xfrm>
            <a:off x="4945043" y="5044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118" name="연도"/>
          <p:cNvSpPr>
            <a:spLocks noGrp="1"/>
          </p:cNvSpPr>
          <p:nvPr>
            <p:ph type="body" sz="quarter" idx="80"/>
          </p:nvPr>
        </p:nvSpPr>
        <p:spPr>
          <a:xfrm>
            <a:off x="494504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9" name="막대"/>
          <p:cNvSpPr/>
          <p:nvPr/>
        </p:nvSpPr>
        <p:spPr>
          <a:xfrm>
            <a:off x="5282261" y="5228061"/>
            <a:ext cx="164348" cy="8710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81"/>
          </p:nvPr>
        </p:nvSpPr>
        <p:spPr>
          <a:xfrm>
            <a:off x="5194609" y="50527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82"/>
          </p:nvPr>
        </p:nvSpPr>
        <p:spPr>
          <a:xfrm>
            <a:off x="5194609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22" name="막대"/>
          <p:cNvSpPr/>
          <p:nvPr/>
        </p:nvSpPr>
        <p:spPr>
          <a:xfrm>
            <a:off x="5531826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83"/>
          </p:nvPr>
        </p:nvSpPr>
        <p:spPr>
          <a:xfrm>
            <a:off x="5444174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84"/>
          </p:nvPr>
        </p:nvSpPr>
        <p:spPr>
          <a:xfrm>
            <a:off x="544417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5" name="카드"/>
          <p:cNvSpPr/>
          <p:nvPr/>
        </p:nvSpPr>
        <p:spPr>
          <a:xfrm>
            <a:off x="5901913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카드 문구"/>
          <p:cNvSpPr>
            <a:spLocks noGrp="1"/>
          </p:cNvSpPr>
          <p:nvPr>
            <p:ph type="body" sz="quarter" idx="85"/>
          </p:nvPr>
        </p:nvSpPr>
        <p:spPr>
          <a:xfrm>
            <a:off x="5923826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27" name="막대"/>
          <p:cNvSpPr/>
          <p:nvPr/>
        </p:nvSpPr>
        <p:spPr>
          <a:xfrm>
            <a:off x="597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8" name="값"/>
          <p:cNvSpPr>
            <a:spLocks noGrp="1"/>
          </p:cNvSpPr>
          <p:nvPr>
            <p:ph type="body" sz="quarter" idx="86"/>
          </p:nvPr>
        </p:nvSpPr>
        <p:spPr>
          <a:xfrm>
            <a:off x="589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29" name="연도"/>
          <p:cNvSpPr>
            <a:spLocks noGrp="1"/>
          </p:cNvSpPr>
          <p:nvPr>
            <p:ph type="body" sz="quarter" idx="87"/>
          </p:nvPr>
        </p:nvSpPr>
        <p:spPr>
          <a:xfrm>
            <a:off x="589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0" name="막대"/>
          <p:cNvSpPr/>
          <p:nvPr/>
        </p:nvSpPr>
        <p:spPr>
          <a:xfrm>
            <a:off x="6228174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88"/>
          </p:nvPr>
        </p:nvSpPr>
        <p:spPr>
          <a:xfrm>
            <a:off x="614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89"/>
          </p:nvPr>
        </p:nvSpPr>
        <p:spPr>
          <a:xfrm>
            <a:off x="614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33" name="막대"/>
          <p:cNvSpPr/>
          <p:nvPr/>
        </p:nvSpPr>
        <p:spPr>
          <a:xfrm>
            <a:off x="6477739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90"/>
          </p:nvPr>
        </p:nvSpPr>
        <p:spPr>
          <a:xfrm>
            <a:off x="639008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1"/>
          </p:nvPr>
        </p:nvSpPr>
        <p:spPr>
          <a:xfrm>
            <a:off x="639008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0 서사 · 성과환류 → 시사점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56130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60513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60513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45480" y="156130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1 서사 · 조직문화 → 공정한 인사관리 → 여성임원 확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048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44027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4027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태그칩"/>
          <p:cNvSpPr/>
          <p:nvPr/>
        </p:nvSpPr>
        <p:spPr>
          <a:xfrm>
            <a:off x="521093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1093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태그칩"/>
          <p:cNvSpPr/>
          <p:nvPr/>
        </p:nvSpPr>
        <p:spPr>
          <a:xfrm>
            <a:off x="573836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73836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887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805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80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90000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90000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9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161391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985435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547826" y="2941826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941826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547826" y="2941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머리칸"/>
          <p:cNvSpPr/>
          <p:nvPr/>
        </p:nvSpPr>
        <p:spPr>
          <a:xfrm>
            <a:off x="1161391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985435" y="32376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2 서사 · 우수인재 채용 → 미래리더 육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2628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5480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480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991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991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11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734087" y="1890000"/>
            <a:ext cx="580696" cy="127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890000"/>
            <a:ext cx="580696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890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347652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30" name="머리칸"/>
          <p:cNvSpPr/>
          <p:nvPr/>
        </p:nvSpPr>
        <p:spPr>
          <a:xfrm>
            <a:off x="4171696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cxnSp>
        <p:nvCxnSpPr>
          <p:cNvPr id="34" name="Connector 20"/>
          <p:cNvCxnSpPr/>
          <p:nvPr/>
        </p:nvCxnSpPr>
        <p:spPr>
          <a:xfrm>
            <a:off x="4171696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347652" y="2936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936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723130" y="3265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3297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297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286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3 서사 · 현주소 → 환경분석 · CEO 의지 → 시사점 → 방향 4축 →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558376" y="1177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2"/>
          </p:nvPr>
        </p:nvSpPr>
        <p:spPr>
          <a:xfrm>
            <a:off x="558376" y="1177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3"/>
          </p:nvPr>
        </p:nvSpPr>
        <p:spPr>
          <a:xfrm>
            <a:off x="547826" y="1364087"/>
            <a:ext cx="580696" cy="706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cxnSp>
        <p:nvCxnSpPr>
          <p:cNvPr id="22" name="Connector 17"/>
          <p:cNvCxnSpPr/>
          <p:nvPr/>
        </p:nvCxnSpPr>
        <p:spPr>
          <a:xfrm>
            <a:off x="3985435" y="118878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7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2437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2454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454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cxnSp>
        <p:nvCxnSpPr>
          <p:cNvPr id="32" name="Connector 25"/>
          <p:cNvCxnSpPr/>
          <p:nvPr/>
        </p:nvCxnSpPr>
        <p:spPr>
          <a:xfrm>
            <a:off x="3985435" y="2509043"/>
            <a:ext cx="0" cy="701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2650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2650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3265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286957"/>
            <a:ext cx="5626174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7" name="캡션 띠"/>
          <p:cNvSpPr/>
          <p:nvPr/>
        </p:nvSpPr>
        <p:spPr>
          <a:xfrm>
            <a:off x="536869" y="3878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392243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392243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387860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4185391"/>
            <a:ext cx="6300000" cy="23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4201826"/>
            <a:ext cx="580696" cy="323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201826"/>
            <a:ext cx="580696" cy="32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422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46" name="단계"/>
          <p:cNvSpPr/>
          <p:nvPr/>
        </p:nvSpPr>
        <p:spPr>
          <a:xfrm>
            <a:off x="2573413" y="422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573413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48" name="단계"/>
          <p:cNvSpPr/>
          <p:nvPr/>
        </p:nvSpPr>
        <p:spPr>
          <a:xfrm>
            <a:off x="3985435" y="422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985435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50" name="단계"/>
          <p:cNvSpPr/>
          <p:nvPr/>
        </p:nvSpPr>
        <p:spPr>
          <a:xfrm>
            <a:off x="5397457" y="422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397457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573413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3985434" y="422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397456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172348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 txBox="1"/>
          <p:nvPr/>
        </p:nvSpPr>
        <p:spPr>
          <a:xfrm>
            <a:off x="2584370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7" name="Connector 43"/>
          <p:cNvCxnSpPr/>
          <p:nvPr/>
        </p:nvCxnSpPr>
        <p:spPr>
          <a:xfrm flipV="1">
            <a:off x="2573413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 txBox="1"/>
          <p:nvPr/>
        </p:nvSpPr>
        <p:spPr>
          <a:xfrm>
            <a:off x="3996391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5"/>
          <p:cNvCxnSpPr/>
          <p:nvPr/>
        </p:nvCxnSpPr>
        <p:spPr>
          <a:xfrm flipV="1">
            <a:off x="3985435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408413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7"/>
          <p:cNvCxnSpPr/>
          <p:nvPr/>
        </p:nvCxnSpPr>
        <p:spPr>
          <a:xfrm flipV="1">
            <a:off x="5397457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4541478"/>
            <a:ext cx="580696" cy="969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541478"/>
            <a:ext cx="580696" cy="96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4541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2573413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3985435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cxnSp>
        <p:nvCxnSpPr>
          <p:cNvPr id="71" name="Connector 56"/>
          <p:cNvCxnSpPr/>
          <p:nvPr/>
        </p:nvCxnSpPr>
        <p:spPr>
          <a:xfrm>
            <a:off x="5397457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5527565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27565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547826" y="5527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1161391" y="557139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7139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77" name="태그 설명"/>
          <p:cNvSpPr>
            <a:spLocks noGrp="1"/>
          </p:cNvSpPr>
          <p:nvPr>
            <p:ph type="body" sz="quarter" idx="47"/>
          </p:nvPr>
        </p:nvSpPr>
        <p:spPr>
          <a:xfrm>
            <a:off x="1833859" y="5560435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78" name="태그"/>
          <p:cNvSpPr/>
          <p:nvPr/>
        </p:nvSpPr>
        <p:spPr>
          <a:xfrm>
            <a:off x="1161391" y="5768609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768609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80" name="태그 설명"/>
          <p:cNvSpPr>
            <a:spLocks noGrp="1"/>
          </p:cNvSpPr>
          <p:nvPr>
            <p:ph type="body" sz="quarter" idx="49"/>
          </p:nvPr>
        </p:nvSpPr>
        <p:spPr>
          <a:xfrm>
            <a:off x="1833859" y="5757652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81" name="태그"/>
          <p:cNvSpPr/>
          <p:nvPr/>
        </p:nvSpPr>
        <p:spPr>
          <a:xfrm>
            <a:off x="1161391" y="5965826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5965826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83" name="태그 설명"/>
          <p:cNvSpPr>
            <a:spLocks noGrp="1"/>
          </p:cNvSpPr>
          <p:nvPr>
            <p:ph type="body" sz="quarter" idx="51"/>
          </p:nvPr>
        </p:nvSpPr>
        <p:spPr>
          <a:xfrm>
            <a:off x="1833859" y="5954870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84" name="태그"/>
          <p:cNvSpPr/>
          <p:nvPr/>
        </p:nvSpPr>
        <p:spPr>
          <a:xfrm>
            <a:off x="1161391" y="6163043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63043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86" name="태그 설명"/>
          <p:cNvSpPr>
            <a:spLocks noGrp="1"/>
          </p:cNvSpPr>
          <p:nvPr>
            <p:ph type="body" sz="quarter" idx="53"/>
          </p:nvPr>
        </p:nvSpPr>
        <p:spPr>
          <a:xfrm>
            <a:off x="1833859" y="6152087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87" name="태그"/>
          <p:cNvSpPr/>
          <p:nvPr/>
        </p:nvSpPr>
        <p:spPr>
          <a:xfrm>
            <a:off x="1161391" y="636026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4"/>
          </p:nvPr>
        </p:nvSpPr>
        <p:spPr>
          <a:xfrm>
            <a:off x="1161391" y="636026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5"/>
          </p:nvPr>
        </p:nvSpPr>
        <p:spPr>
          <a:xfrm>
            <a:off x="1833859" y="6349304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536870" y="666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569739" y="669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69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68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4 서사 · 안전경영체계 PDCA 도입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2770630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2759674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4171696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594674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cxnSp>
        <p:nvCxnSpPr>
          <p:cNvPr id="23" name="Connector 16"/>
          <p:cNvCxnSpPr/>
          <p:nvPr/>
        </p:nvCxnSpPr>
        <p:spPr>
          <a:xfrm>
            <a:off x="5583717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037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037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5 서사 · 조직 강화·인력 확충 → 건설사업 수행체계 개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478548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8548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5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4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298348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185286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18528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24" name="머리칸"/>
          <p:cNvSpPr/>
          <p:nvPr/>
        </p:nvSpPr>
        <p:spPr>
          <a:xfrm>
            <a:off x="2363112" y="1090174"/>
            <a:ext cx="286769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2363112" y="1090174"/>
            <a:ext cx="286769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26" name="머리칸"/>
          <p:cNvSpPr/>
          <p:nvPr/>
        </p:nvSpPr>
        <p:spPr>
          <a:xfrm>
            <a:off x="5247241" y="1090174"/>
            <a:ext cx="15458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247241" y="1090174"/>
            <a:ext cx="15458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179808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2374068" y="1331217"/>
            <a:ext cx="286221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2363112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258198" y="1331217"/>
            <a:ext cx="154032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5247241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229652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558376" y="2394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558376" y="2394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80261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229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"/>
          <p:cNvSpPr/>
          <p:nvPr/>
        </p:nvSpPr>
        <p:spPr>
          <a:xfrm>
            <a:off x="1161391" y="225156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40" name="단계"/>
          <p:cNvSpPr/>
          <p:nvPr/>
        </p:nvSpPr>
        <p:spPr>
          <a:xfrm>
            <a:off x="3985435" y="225156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985434" y="2251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3985435" y="2536435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6 서사 · 추진배경 → CEO 중심 활동(정책·니즈 → 리더십 강화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3959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3959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57988" y="931304"/>
            <a:ext cx="2619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57988" y="777913"/>
            <a:ext cx="53651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43764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3764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92761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92761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405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94174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94174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94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29" name="머리칸"/>
          <p:cNvSpPr/>
          <p:nvPr/>
        </p:nvSpPr>
        <p:spPr>
          <a:xfrm>
            <a:off x="4171696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89000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7 서사 · 추진배경 → 정확한 수준진단(진단체계 신뢰성 · 참여 제약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33052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5" name="태그칩"/>
          <p:cNvSpPr/>
          <p:nvPr/>
        </p:nvSpPr>
        <p:spPr>
          <a:xfrm>
            <a:off x="460896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60896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60084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60084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731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2737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433971" y="165725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433971" y="165725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901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3985435" y="178873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985435" y="2221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161391" y="25420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5420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8 서사 · 현장작동성 강화 추진배경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58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9 서사 · 제도 활성화(선제적 제도 보완 · 홍보·인식 제고 · 손실비용 보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339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36943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6943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92055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92055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92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87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87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0 서사 · TBM 강화(절차 중심 형식 → 쉽게 이해되는 스마트 TB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353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11" name="태그칩"/>
          <p:cNvSpPr/>
          <p:nvPr/>
        </p:nvSpPr>
        <p:spPr>
          <a:xfrm>
            <a:off x="455710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5710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08224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08224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1 서사 · 위험성평가 표준모델(벤치마킹 → 대표공종 → 위험요인·저감대책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034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1581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1581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6693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6693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33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298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298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32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32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32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161391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2 서사 · 감리 확대(문제 → 현실화 → 인력 확대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932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06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06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6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8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20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3230348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5113043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723130" y="273913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77200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7720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76104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3 서사 · 현황진단 → 시사점 → AI·스마트 전환 → 현장작동 확립 → 기대효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1377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558643"/>
            <a:ext cx="580696" cy="920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4087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536869" y="25173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865565" y="25611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5611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5173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536870" y="2824122"/>
            <a:ext cx="6300000" cy="32473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547826" y="2840557"/>
            <a:ext cx="580696" cy="8040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558376" y="28843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8"/>
          </p:nvPr>
        </p:nvSpPr>
        <p:spPr>
          <a:xfrm>
            <a:off x="558376" y="28843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070643"/>
            <a:ext cx="580696" cy="5520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52" name="배너"/>
          <p:cNvSpPr/>
          <p:nvPr/>
        </p:nvSpPr>
        <p:spPr>
          <a:xfrm>
            <a:off x="1161391" y="28624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161391" y="28624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044087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4926783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547826" y="3661043"/>
            <a:ext cx="580696" cy="239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661043"/>
            <a:ext cx="580696" cy="239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547826" y="366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머리칸"/>
          <p:cNvSpPr/>
          <p:nvPr/>
        </p:nvSpPr>
        <p:spPr>
          <a:xfrm>
            <a:off x="1161391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64" name="머리칸"/>
          <p:cNvSpPr/>
          <p:nvPr/>
        </p:nvSpPr>
        <p:spPr>
          <a:xfrm>
            <a:off x="3985435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985435" y="3956870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배너"/>
          <p:cNvSpPr/>
          <p:nvPr/>
        </p:nvSpPr>
        <p:spPr>
          <a:xfrm>
            <a:off x="1161391" y="50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9"/>
          </p:nvPr>
        </p:nvSpPr>
        <p:spPr>
          <a:xfrm>
            <a:off x="1161391" y="50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71" name="단계"/>
          <p:cNvSpPr/>
          <p:nvPr/>
        </p:nvSpPr>
        <p:spPr>
          <a:xfrm>
            <a:off x="1161391" y="52716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73" name="단계"/>
          <p:cNvSpPr/>
          <p:nvPr/>
        </p:nvSpPr>
        <p:spPr>
          <a:xfrm>
            <a:off x="3044087" y="52716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75" name="단계"/>
          <p:cNvSpPr/>
          <p:nvPr/>
        </p:nvSpPr>
        <p:spPr>
          <a:xfrm>
            <a:off x="4926783" y="52716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77" name="단계 삼각형"/>
          <p:cNvSpPr/>
          <p:nvPr/>
        </p:nvSpPr>
        <p:spPr>
          <a:xfrm>
            <a:off x="3044086" y="5271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 삼각형"/>
          <p:cNvSpPr/>
          <p:nvPr/>
        </p:nvSpPr>
        <p:spPr>
          <a:xfrm>
            <a:off x="4926782" y="5271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3044087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cxnSp>
        <p:nvCxnSpPr>
          <p:cNvPr id="83" name="Connector 60"/>
          <p:cNvCxnSpPr/>
          <p:nvPr/>
        </p:nvCxnSpPr>
        <p:spPr>
          <a:xfrm>
            <a:off x="4926783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핵심성과 박스"/>
          <p:cNvSpPr/>
          <p:nvPr/>
        </p:nvSpPr>
        <p:spPr>
          <a:xfrm>
            <a:off x="536870" y="6159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핵심성과 라벨"/>
          <p:cNvSpPr/>
          <p:nvPr/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6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87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175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4 서사 · 왜 문화인가 → 인식전환 → 문화 기틀 → 참여 · 지원 ·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39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6" name="태그칩"/>
          <p:cNvSpPr/>
          <p:nvPr/>
        </p:nvSpPr>
        <p:spPr>
          <a:xfrm>
            <a:off x="438564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564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676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676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23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1802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222965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227347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27347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655249" y="222965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536435"/>
            <a:ext cx="6300000" cy="285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55287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259669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59669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782957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39" name="머리칸"/>
          <p:cNvSpPr/>
          <p:nvPr/>
        </p:nvSpPr>
        <p:spPr>
          <a:xfrm>
            <a:off x="1347652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4171696" y="2848696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254087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2540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25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2760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2760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2760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27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27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3230348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5113043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3966261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966261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988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988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988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988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988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cxnSp>
        <p:nvCxnSpPr>
          <p:cNvPr id="74" name="Connector 51"/>
          <p:cNvCxnSpPr/>
          <p:nvPr/>
        </p:nvCxnSpPr>
        <p:spPr>
          <a:xfrm>
            <a:off x="3230348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cxnSp>
        <p:nvCxnSpPr>
          <p:cNvPr id="76" name="Connector 53"/>
          <p:cNvCxnSpPr/>
          <p:nvPr/>
        </p:nvCxnSpPr>
        <p:spPr>
          <a:xfrm>
            <a:off x="5113043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4678435"/>
            <a:ext cx="580696" cy="695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67843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46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"/>
          <p:cNvSpPr/>
          <p:nvPr/>
        </p:nvSpPr>
        <p:spPr>
          <a:xfrm>
            <a:off x="1347652" y="470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3"/>
          </p:nvPr>
        </p:nvSpPr>
        <p:spPr>
          <a:xfrm>
            <a:off x="1347652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82" name="단계"/>
          <p:cNvSpPr/>
          <p:nvPr/>
        </p:nvSpPr>
        <p:spPr>
          <a:xfrm>
            <a:off x="3230348" y="470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4"/>
          </p:nvPr>
        </p:nvSpPr>
        <p:spPr>
          <a:xfrm>
            <a:off x="3230348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84" name="단계"/>
          <p:cNvSpPr/>
          <p:nvPr/>
        </p:nvSpPr>
        <p:spPr>
          <a:xfrm>
            <a:off x="5113043" y="470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5"/>
          </p:nvPr>
        </p:nvSpPr>
        <p:spPr>
          <a:xfrm>
            <a:off x="5113043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86" name="단계 삼각형"/>
          <p:cNvSpPr/>
          <p:nvPr/>
        </p:nvSpPr>
        <p:spPr>
          <a:xfrm>
            <a:off x="3230347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단계 삼각형"/>
          <p:cNvSpPr/>
          <p:nvPr/>
        </p:nvSpPr>
        <p:spPr>
          <a:xfrm>
            <a:off x="5113043" y="470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7"/>
          </p:nvPr>
        </p:nvSpPr>
        <p:spPr>
          <a:xfrm>
            <a:off x="3241304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cxnSp>
        <p:nvCxnSpPr>
          <p:cNvPr id="90" name="Connector 63"/>
          <p:cNvCxnSpPr/>
          <p:nvPr/>
        </p:nvCxnSpPr>
        <p:spPr>
          <a:xfrm>
            <a:off x="3230348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5124000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  <p:cxnSp>
        <p:nvCxnSpPr>
          <p:cNvPr id="92" name="Connector 65"/>
          <p:cNvCxnSpPr/>
          <p:nvPr/>
        </p:nvCxnSpPr>
        <p:spPr>
          <a:xfrm>
            <a:off x="5113043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5 서사 · 안전보건문화제 → Safety Super Week → 안전문화 축제의 장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8000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1548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1548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5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5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1835217"/>
            <a:ext cx="580696" cy="1139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35217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11935" y="1857130"/>
            <a:ext cx="154700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00978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7808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769891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161391" y="2750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750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40" name="핵심성과 박스"/>
          <p:cNvSpPr/>
          <p:nvPr/>
        </p:nvSpPr>
        <p:spPr>
          <a:xfrm>
            <a:off x="536870" y="307878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3111652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3111652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310069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6 서사 · 재난대응체계(K-water 여건 → 환경분석 → 시사점 → 목표·과제 → 실행기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84617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84617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84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347652" y="189000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8900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72988" y="18790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20872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20872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20762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9" name="캡션 띠"/>
          <p:cNvSpPr/>
          <p:nvPr/>
        </p:nvSpPr>
        <p:spPr>
          <a:xfrm>
            <a:off x="723130" y="2328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051826" y="237208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37208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232826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635043"/>
            <a:ext cx="6300000" cy="287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6514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514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38" name="레일"/>
          <p:cNvSpPr/>
          <p:nvPr/>
        </p:nvSpPr>
        <p:spPr>
          <a:xfrm>
            <a:off x="734087" y="2921322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921322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2921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2943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943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230348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943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113043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943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943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241304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734087" y="4258017"/>
            <a:ext cx="580696" cy="1232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258017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734086" y="4258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1347652" y="430184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430184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3"/>
          </p:nvPr>
        </p:nvSpPr>
        <p:spPr>
          <a:xfrm>
            <a:off x="1863219" y="429088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4499061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499061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863219" y="448810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69627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469627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863219" y="4685322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4893496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893496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9"/>
          </p:nvPr>
        </p:nvSpPr>
        <p:spPr>
          <a:xfrm>
            <a:off x="1863219" y="488253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69" name="태그"/>
          <p:cNvSpPr/>
          <p:nvPr/>
        </p:nvSpPr>
        <p:spPr>
          <a:xfrm>
            <a:off x="1347652" y="509071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509071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51"/>
          </p:nvPr>
        </p:nvSpPr>
        <p:spPr>
          <a:xfrm>
            <a:off x="1863219" y="507975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72" name="태그"/>
          <p:cNvSpPr/>
          <p:nvPr/>
        </p:nvSpPr>
        <p:spPr>
          <a:xfrm>
            <a:off x="1347652" y="5287930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2"/>
          </p:nvPr>
        </p:nvSpPr>
        <p:spPr>
          <a:xfrm>
            <a:off x="1347652" y="5287930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3"/>
          </p:nvPr>
        </p:nvSpPr>
        <p:spPr>
          <a:xfrm>
            <a:off x="1863219" y="527697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75" name="핵심성과 박스"/>
          <p:cNvSpPr/>
          <p:nvPr/>
        </p:nvSpPr>
        <p:spPr>
          <a:xfrm>
            <a:off x="723130" y="5594713"/>
            <a:ext cx="6300000" cy="9500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핵심성과 라벨"/>
          <p:cNvSpPr/>
          <p:nvPr/>
        </p:nvSpPr>
        <p:spPr>
          <a:xfrm>
            <a:off x="756000" y="5627583"/>
            <a:ext cx="657391" cy="8843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핵심성과 라벨"/>
          <p:cNvSpPr>
            <a:spLocks noGrp="1"/>
          </p:cNvSpPr>
          <p:nvPr>
            <p:ph type="body" sz="quarter" idx="54"/>
          </p:nvPr>
        </p:nvSpPr>
        <p:spPr>
          <a:xfrm>
            <a:off x="756000" y="5627583"/>
            <a:ext cx="657391" cy="88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55"/>
          </p:nvPr>
        </p:nvSpPr>
        <p:spPr>
          <a:xfrm>
            <a:off x="1501043" y="5616626"/>
            <a:ext cx="5456348" cy="90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7 서사 · 여건 → 매뉴얼 최적화 → 시스템 고도화 → 인프라 강화 → 교육훈련 내실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702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692783"/>
            <a:ext cx="580696" cy="1079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2783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692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714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1714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171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3985435" y="1999565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788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788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6" name="배너"/>
          <p:cNvSpPr/>
          <p:nvPr/>
        </p:nvSpPr>
        <p:spPr>
          <a:xfrm>
            <a:off x="1161391" y="281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1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045913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937375" y="3045913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2926418" y="3078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4108696"/>
            <a:ext cx="580696" cy="1079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108696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41086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4130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4130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4130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4130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4130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5204348"/>
            <a:ext cx="580696" cy="291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5204348"/>
            <a:ext cx="580696" cy="291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59" name="단계"/>
          <p:cNvSpPr/>
          <p:nvPr/>
        </p:nvSpPr>
        <p:spPr>
          <a:xfrm>
            <a:off x="1161391" y="522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61" name="단계"/>
          <p:cNvSpPr/>
          <p:nvPr/>
        </p:nvSpPr>
        <p:spPr>
          <a:xfrm>
            <a:off x="3044087" y="522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63" name="단계"/>
          <p:cNvSpPr/>
          <p:nvPr/>
        </p:nvSpPr>
        <p:spPr>
          <a:xfrm>
            <a:off x="4926783" y="522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3044086" y="522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4926782" y="522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6480783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2937375" y="6480783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2926418" y="6513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단계"/>
          <p:cNvSpPr/>
          <p:nvPr/>
        </p:nvSpPr>
        <p:spPr>
          <a:xfrm>
            <a:off x="1161391" y="737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77" name="단계"/>
          <p:cNvSpPr/>
          <p:nvPr/>
        </p:nvSpPr>
        <p:spPr>
          <a:xfrm>
            <a:off x="2573413" y="737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79" name="단계"/>
          <p:cNvSpPr/>
          <p:nvPr/>
        </p:nvSpPr>
        <p:spPr>
          <a:xfrm>
            <a:off x="3985435" y="737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81" name="단계"/>
          <p:cNvSpPr/>
          <p:nvPr/>
        </p:nvSpPr>
        <p:spPr>
          <a:xfrm>
            <a:off x="5397457" y="737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83" name="단계 삼각형"/>
          <p:cNvSpPr/>
          <p:nvPr/>
        </p:nvSpPr>
        <p:spPr>
          <a:xfrm>
            <a:off x="2573413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단계 삼각형"/>
          <p:cNvSpPr/>
          <p:nvPr/>
        </p:nvSpPr>
        <p:spPr>
          <a:xfrm>
            <a:off x="3985434" y="737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5397456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칸 본문"/>
          <p:cNvSpPr txBox="1"/>
          <p:nvPr/>
        </p:nvSpPr>
        <p:spPr>
          <a:xfrm>
            <a:off x="1172348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7" name="칸 본문"/>
          <p:cNvSpPr txBox="1"/>
          <p:nvPr/>
        </p:nvSpPr>
        <p:spPr>
          <a:xfrm>
            <a:off x="2584370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8" name="Connector 65"/>
          <p:cNvCxnSpPr/>
          <p:nvPr/>
        </p:nvCxnSpPr>
        <p:spPr>
          <a:xfrm>
            <a:off x="2573413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 txBox="1"/>
          <p:nvPr/>
        </p:nvSpPr>
        <p:spPr>
          <a:xfrm>
            <a:off x="3996391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0" name="Connector 67"/>
          <p:cNvCxnSpPr/>
          <p:nvPr/>
        </p:nvCxnSpPr>
        <p:spPr>
          <a:xfrm>
            <a:off x="3985435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 txBox="1"/>
          <p:nvPr/>
        </p:nvSpPr>
        <p:spPr>
          <a:xfrm>
            <a:off x="5408413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2" name="Connector 69"/>
          <p:cNvCxnSpPr/>
          <p:nvPr/>
        </p:nvCxnSpPr>
        <p:spPr>
          <a:xfrm>
            <a:off x="5397457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8228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55"/>
          </p:nvPr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56"/>
          </p:nvPr>
        </p:nvSpPr>
        <p:spPr>
          <a:xfrm>
            <a:off x="1314783" y="8244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8 서사 · 관리여건 → 과학적 댐 운영 → 스마트 댐 안전 → 수도시설 안전강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1854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1854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36933" y="1358609"/>
            <a:ext cx="33856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36933" y="1205217"/>
            <a:ext cx="548619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9" name="태그칩"/>
          <p:cNvSpPr/>
          <p:nvPr/>
        </p:nvSpPr>
        <p:spPr>
          <a:xfrm>
            <a:off x="502121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02121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/>
          <p:nvPr/>
        </p:nvSpPr>
        <p:spPr>
          <a:xfrm>
            <a:off x="557233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7233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4127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55034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55034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863219" y="153939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747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747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863219" y="1736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1966696"/>
            <a:ext cx="580696" cy="13942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909290" y="2131043"/>
            <a:ext cx="23029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909290" y="2131043"/>
            <a:ext cx="23029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317304"/>
            <a:ext cx="580696" cy="102177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196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347652" y="19886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19886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39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09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30513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377426"/>
            <a:ext cx="580696" cy="122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3774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52" name="배너"/>
          <p:cNvSpPr/>
          <p:nvPr/>
        </p:nvSpPr>
        <p:spPr>
          <a:xfrm>
            <a:off x="1347652" y="33993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33993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54" name="단계"/>
          <p:cNvSpPr/>
          <p:nvPr/>
        </p:nvSpPr>
        <p:spPr>
          <a:xfrm>
            <a:off x="1347652" y="36349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1347652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56" name="단계"/>
          <p:cNvSpPr/>
          <p:nvPr/>
        </p:nvSpPr>
        <p:spPr>
          <a:xfrm>
            <a:off x="4171696" y="36349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4171696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4171695" y="363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4171696" y="39197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62099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7853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7853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971600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620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  <p:cxnSp>
        <p:nvCxnSpPr>
          <p:cNvPr id="73" name="Connector 50"/>
          <p:cNvCxnSpPr/>
          <p:nvPr/>
        </p:nvCxnSpPr>
        <p:spPr>
          <a:xfrm>
            <a:off x="4171696" y="491681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9 서사 · 관리여건 → 국민 안전서비스(시설개선 · 시민 참여 · 방류 경보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299883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5" name="태그칩"/>
          <p:cNvSpPr/>
          <p:nvPr/>
        </p:nvSpPr>
        <p:spPr>
          <a:xfrm>
            <a:off x="474157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4157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29269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29269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57226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72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30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32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2656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2689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689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678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0 서사 · 선제적 용수지원 → 중단없는 수도공급 → 일상 회복지원(위기·대응·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9482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6" name="태그칩"/>
          <p:cNvSpPr/>
          <p:nvPr/>
        </p:nvSpPr>
        <p:spPr>
          <a:xfrm>
            <a:off x="47700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7700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태그칩"/>
          <p:cNvSpPr/>
          <p:nvPr/>
        </p:nvSpPr>
        <p:spPr>
          <a:xfrm>
            <a:off x="532113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32113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36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25" name="단계"/>
          <p:cNvSpPr/>
          <p:nvPr/>
        </p:nvSpPr>
        <p:spPr>
          <a:xfrm>
            <a:off x="1347652" y="1764000"/>
            <a:ext cx="2017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764000"/>
            <a:ext cx="2017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7" name="단계"/>
          <p:cNvSpPr/>
          <p:nvPr/>
        </p:nvSpPr>
        <p:spPr>
          <a:xfrm>
            <a:off x="3364826" y="1764000"/>
            <a:ext cx="363091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364826" y="1764000"/>
            <a:ext cx="3630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364826" y="1764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16000"/>
            <a:ext cx="1995261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375783" y="2016000"/>
            <a:ext cx="360900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364826" y="2048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3078783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078783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3078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3100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3100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333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333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333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333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333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cxnSp>
        <p:nvCxnSpPr>
          <p:cNvPr id="48" name="Connector 31"/>
          <p:cNvCxnSpPr/>
          <p:nvPr/>
        </p:nvCxnSpPr>
        <p:spPr>
          <a:xfrm>
            <a:off x="3230348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5113043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34087" y="4651043"/>
            <a:ext cx="580696" cy="1183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651043"/>
            <a:ext cx="580696" cy="118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734086" y="465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배너"/>
          <p:cNvSpPr/>
          <p:nvPr/>
        </p:nvSpPr>
        <p:spPr>
          <a:xfrm>
            <a:off x="1347652" y="467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67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56" name="머리칸"/>
          <p:cNvSpPr/>
          <p:nvPr/>
        </p:nvSpPr>
        <p:spPr>
          <a:xfrm>
            <a:off x="1347652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58" name="머리칸"/>
          <p:cNvSpPr/>
          <p:nvPr/>
        </p:nvSpPr>
        <p:spPr>
          <a:xfrm>
            <a:off x="3230348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60" name="머리칸"/>
          <p:cNvSpPr/>
          <p:nvPr/>
        </p:nvSpPr>
        <p:spPr>
          <a:xfrm>
            <a:off x="5113043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cxnSp>
        <p:nvCxnSpPr>
          <p:cNvPr id="64" name="Connector 42"/>
          <p:cNvCxnSpPr/>
          <p:nvPr/>
        </p:nvCxnSpPr>
        <p:spPr>
          <a:xfrm>
            <a:off x="3230348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  <p:cxnSp>
        <p:nvCxnSpPr>
          <p:cNvPr id="66" name="Connector 44"/>
          <p:cNvCxnSpPr/>
          <p:nvPr/>
        </p:nvCxnSpPr>
        <p:spPr>
          <a:xfrm>
            <a:off x="5113043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1 서사 · 협력 거버넌스(소방용수 지원강화 · 산불정보 공유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23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12" name="태그칩"/>
          <p:cNvSpPr/>
          <p:nvPr/>
        </p:nvSpPr>
        <p:spPr>
          <a:xfrm>
            <a:off x="453784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784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508896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896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192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38104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613260" y="1502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5"/>
          </p:nvPr>
        </p:nvSpPr>
        <p:spPr>
          <a:xfrm>
            <a:off x="613260" y="1502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6"/>
          </p:nvPr>
        </p:nvSpPr>
        <p:spPr>
          <a:xfrm>
            <a:off x="547826" y="1688713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338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360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60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28" name="단계"/>
          <p:cNvSpPr/>
          <p:nvPr/>
        </p:nvSpPr>
        <p:spPr>
          <a:xfrm>
            <a:off x="2926418" y="1360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2926418" y="1360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2926418" y="1360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12017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2937375" y="1612017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26418" y="16448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46104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13260" y="2510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1"/>
          </p:nvPr>
        </p:nvSpPr>
        <p:spPr>
          <a:xfrm>
            <a:off x="613260" y="2510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2696713"/>
            <a:ext cx="580696" cy="509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346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368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368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41" name="단계"/>
          <p:cNvSpPr/>
          <p:nvPr/>
        </p:nvSpPr>
        <p:spPr>
          <a:xfrm>
            <a:off x="2926418" y="2368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2926418" y="2368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926418" y="236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620017"/>
            <a:ext cx="174311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2937375" y="2620017"/>
            <a:ext cx="386114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2926418" y="26528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33219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36506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36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35410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2 서사 · 환경변화 → 기본책무 → 역할확장 → 3대 방향 · 실행과제 ·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24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49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49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51478"/>
            <a:ext cx="580696" cy="13849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51478"/>
            <a:ext cx="580696" cy="1384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5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2770630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2759674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594674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5583717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캡션 띠"/>
          <p:cNvSpPr/>
          <p:nvPr/>
        </p:nvSpPr>
        <p:spPr>
          <a:xfrm>
            <a:off x="723130" y="4074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캡션"/>
          <p:cNvSpPr>
            <a:spLocks noGrp="1"/>
          </p:cNvSpPr>
          <p:nvPr>
            <p:ph type="body" sz="quarter" idx="37"/>
          </p:nvPr>
        </p:nvSpPr>
        <p:spPr>
          <a:xfrm>
            <a:off x="942261" y="407473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46" name="표 외곽"/>
          <p:cNvSpPr/>
          <p:nvPr/>
        </p:nvSpPr>
        <p:spPr>
          <a:xfrm>
            <a:off x="723130" y="4381513"/>
            <a:ext cx="6300000" cy="382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4397948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9794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9" name="단계"/>
          <p:cNvSpPr/>
          <p:nvPr/>
        </p:nvSpPr>
        <p:spPr>
          <a:xfrm>
            <a:off x="1347652" y="4419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4419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4419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4419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4419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 txBox="1"/>
          <p:nvPr/>
        </p:nvSpPr>
        <p:spPr>
          <a:xfrm>
            <a:off x="1358609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8" name="칸 본문"/>
          <p:cNvSpPr txBox="1"/>
          <p:nvPr/>
        </p:nvSpPr>
        <p:spPr>
          <a:xfrm>
            <a:off x="3241304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1"/>
          <p:cNvCxnSpPr/>
          <p:nvPr/>
        </p:nvCxnSpPr>
        <p:spPr>
          <a:xfrm>
            <a:off x="3230348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124000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3"/>
          <p:cNvCxnSpPr/>
          <p:nvPr/>
        </p:nvCxnSpPr>
        <p:spPr>
          <a:xfrm>
            <a:off x="5113043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52963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296383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734086" y="52963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6381078"/>
            <a:ext cx="580696" cy="761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6381078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cxnSp>
        <p:nvCxnSpPr>
          <p:cNvPr id="74" name="Connector 54"/>
          <p:cNvCxnSpPr/>
          <p:nvPr/>
        </p:nvCxnSpPr>
        <p:spPr>
          <a:xfrm>
            <a:off x="3230348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cxnSp>
        <p:nvCxnSpPr>
          <p:cNvPr id="76" name="Connector 56"/>
          <p:cNvCxnSpPr/>
          <p:nvPr/>
        </p:nvCxnSpPr>
        <p:spPr>
          <a:xfrm>
            <a:off x="5113043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7158991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0"/>
          </p:nvPr>
        </p:nvSpPr>
        <p:spPr>
          <a:xfrm>
            <a:off x="734087" y="7158991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7158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태그"/>
          <p:cNvSpPr/>
          <p:nvPr/>
        </p:nvSpPr>
        <p:spPr>
          <a:xfrm>
            <a:off x="1347652" y="72028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1"/>
          </p:nvPr>
        </p:nvSpPr>
        <p:spPr>
          <a:xfrm>
            <a:off x="1347652" y="72028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82" name="태그 설명"/>
          <p:cNvSpPr>
            <a:spLocks noGrp="1"/>
          </p:cNvSpPr>
          <p:nvPr>
            <p:ph type="body" sz="quarter" idx="52"/>
          </p:nvPr>
        </p:nvSpPr>
        <p:spPr>
          <a:xfrm>
            <a:off x="1972988" y="71918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83" name="태그"/>
          <p:cNvSpPr/>
          <p:nvPr/>
        </p:nvSpPr>
        <p:spPr>
          <a:xfrm>
            <a:off x="1347652" y="74000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3"/>
          </p:nvPr>
        </p:nvSpPr>
        <p:spPr>
          <a:xfrm>
            <a:off x="1347652" y="74000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85" name="태그 설명"/>
          <p:cNvSpPr>
            <a:spLocks noGrp="1"/>
          </p:cNvSpPr>
          <p:nvPr>
            <p:ph type="body" sz="quarter" idx="54"/>
          </p:nvPr>
        </p:nvSpPr>
        <p:spPr>
          <a:xfrm>
            <a:off x="1972988" y="73890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86" name="태그"/>
          <p:cNvSpPr/>
          <p:nvPr/>
        </p:nvSpPr>
        <p:spPr>
          <a:xfrm>
            <a:off x="1347652" y="75972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태그"/>
          <p:cNvSpPr>
            <a:spLocks noGrp="1"/>
          </p:cNvSpPr>
          <p:nvPr>
            <p:ph type="body" sz="quarter" idx="55"/>
          </p:nvPr>
        </p:nvSpPr>
        <p:spPr>
          <a:xfrm>
            <a:off x="1347652" y="75972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88" name="태그 설명"/>
          <p:cNvSpPr>
            <a:spLocks noGrp="1"/>
          </p:cNvSpPr>
          <p:nvPr>
            <p:ph type="body" sz="quarter" idx="56"/>
          </p:nvPr>
        </p:nvSpPr>
        <p:spPr>
          <a:xfrm>
            <a:off x="1972988" y="75862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89" name="태그"/>
          <p:cNvSpPr/>
          <p:nvPr/>
        </p:nvSpPr>
        <p:spPr>
          <a:xfrm>
            <a:off x="1347652" y="77944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"/>
          <p:cNvSpPr>
            <a:spLocks noGrp="1"/>
          </p:cNvSpPr>
          <p:nvPr>
            <p:ph type="body" sz="quarter" idx="57"/>
          </p:nvPr>
        </p:nvSpPr>
        <p:spPr>
          <a:xfrm>
            <a:off x="1347652" y="77944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91" name="태그 설명"/>
          <p:cNvSpPr>
            <a:spLocks noGrp="1"/>
          </p:cNvSpPr>
          <p:nvPr>
            <p:ph type="body" sz="quarter" idx="58"/>
          </p:nvPr>
        </p:nvSpPr>
        <p:spPr>
          <a:xfrm>
            <a:off x="1972988" y="77835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92" name="태그"/>
          <p:cNvSpPr/>
          <p:nvPr/>
        </p:nvSpPr>
        <p:spPr>
          <a:xfrm>
            <a:off x="1347652" y="79916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9"/>
          </p:nvPr>
        </p:nvSpPr>
        <p:spPr>
          <a:xfrm>
            <a:off x="1347652" y="79916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4" name="태그 설명"/>
          <p:cNvSpPr>
            <a:spLocks noGrp="1"/>
          </p:cNvSpPr>
          <p:nvPr>
            <p:ph type="body" sz="quarter" idx="60"/>
          </p:nvPr>
        </p:nvSpPr>
        <p:spPr>
          <a:xfrm>
            <a:off x="1972988" y="79807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3 서사 · 추진배경 → 확산 제약 → 국내도입 주도 → 최초 성공사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55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7" name="태그칩"/>
          <p:cNvSpPr/>
          <p:nvPr/>
        </p:nvSpPr>
        <p:spPr>
          <a:xfrm>
            <a:off x="379134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9134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4342463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4342463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태그칩"/>
          <p:cNvSpPr/>
          <p:nvPr/>
        </p:nvSpPr>
        <p:spPr>
          <a:xfrm>
            <a:off x="5113122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>
          <a:xfrm>
            <a:off x="5113122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536870" y="1479130"/>
            <a:ext cx="6300000" cy="218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495565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55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태그"/>
          <p:cNvSpPr/>
          <p:nvPr/>
        </p:nvSpPr>
        <p:spPr>
          <a:xfrm>
            <a:off x="1161391" y="2410435"/>
            <a:ext cx="89866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410435"/>
            <a:ext cx="89866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03878" y="2399478"/>
            <a:ext cx="470560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629565"/>
            <a:ext cx="580696" cy="1013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29565"/>
            <a:ext cx="580696" cy="101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캡션 띠"/>
          <p:cNvSpPr/>
          <p:nvPr/>
        </p:nvSpPr>
        <p:spPr>
          <a:xfrm>
            <a:off x="536869" y="368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태그"/>
          <p:cNvSpPr/>
          <p:nvPr/>
        </p:nvSpPr>
        <p:spPr>
          <a:xfrm>
            <a:off x="865565" y="3725217"/>
            <a:ext cx="58882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태그"/>
          <p:cNvSpPr>
            <a:spLocks noGrp="1"/>
          </p:cNvSpPr>
          <p:nvPr>
            <p:ph type="body" sz="quarter" idx="38"/>
          </p:nvPr>
        </p:nvSpPr>
        <p:spPr>
          <a:xfrm>
            <a:off x="865565" y="3725217"/>
            <a:ext cx="58882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9" name="캡션"/>
          <p:cNvSpPr>
            <a:spLocks noGrp="1"/>
          </p:cNvSpPr>
          <p:nvPr>
            <p:ph type="body" sz="quarter" idx="39"/>
          </p:nvPr>
        </p:nvSpPr>
        <p:spPr>
          <a:xfrm>
            <a:off x="1509174" y="3681391"/>
            <a:ext cx="5108565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50" name="표 외곽"/>
          <p:cNvSpPr/>
          <p:nvPr/>
        </p:nvSpPr>
        <p:spPr>
          <a:xfrm>
            <a:off x="536870" y="3988174"/>
            <a:ext cx="6300000" cy="261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"/>
          <p:cNvSpPr/>
          <p:nvPr/>
        </p:nvSpPr>
        <p:spPr>
          <a:xfrm>
            <a:off x="547826" y="4004609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004609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53" name="단계"/>
          <p:cNvSpPr/>
          <p:nvPr/>
        </p:nvSpPr>
        <p:spPr>
          <a:xfrm>
            <a:off x="1161391" y="4026522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4026522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985434" y="402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985435" y="43113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341304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341304"/>
            <a:ext cx="580696" cy="124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534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161391" y="536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536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598783"/>
            <a:ext cx="1591826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86087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2775130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30870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119913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475652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cxnSp>
        <p:nvCxnSpPr>
          <p:cNvPr id="72" name="Connector 53"/>
          <p:cNvCxnSpPr/>
          <p:nvPr/>
        </p:nvCxnSpPr>
        <p:spPr>
          <a:xfrm>
            <a:off x="5464696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핵심성과 박스"/>
          <p:cNvSpPr/>
          <p:nvPr/>
        </p:nvSpPr>
        <p:spPr>
          <a:xfrm>
            <a:off x="536870" y="6694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핵심성과 라벨"/>
          <p:cNvSpPr/>
          <p:nvPr/>
        </p:nvSpPr>
        <p:spPr>
          <a:xfrm>
            <a:off x="569739" y="6727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6727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6716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4 서사 · 추진배경 → 추진내용 3단(공동 역량 · 정화 인프라 · 최고 정화기준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424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464202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464202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77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320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단계"/>
          <p:cNvSpPr/>
          <p:nvPr/>
        </p:nvSpPr>
        <p:spPr>
          <a:xfrm>
            <a:off x="1347652" y="1525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24" name="단계"/>
          <p:cNvSpPr/>
          <p:nvPr/>
        </p:nvSpPr>
        <p:spPr>
          <a:xfrm>
            <a:off x="3230348" y="1525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230348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26" name="단계"/>
          <p:cNvSpPr/>
          <p:nvPr/>
        </p:nvSpPr>
        <p:spPr>
          <a:xfrm>
            <a:off x="5113043" y="1525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5113043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230347" y="1525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113043" y="1525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230348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77774"/>
            <a:ext cx="1860783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622835"/>
            <a:ext cx="1860783" cy="1958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723130" y="292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94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5 서사 · 댐 홍수터 OECM(추진배경 → 시사점 → 목표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706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12" name="태그칩"/>
          <p:cNvSpPr/>
          <p:nvPr/>
        </p:nvSpPr>
        <p:spPr>
          <a:xfrm>
            <a:off x="460615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0615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557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524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536869" y="16312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캡션"/>
          <p:cNvSpPr>
            <a:spLocks noGrp="1"/>
          </p:cNvSpPr>
          <p:nvPr>
            <p:ph type="body" sz="quarter" idx="25"/>
          </p:nvPr>
        </p:nvSpPr>
        <p:spPr>
          <a:xfrm>
            <a:off x="756000" y="16312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938052"/>
            <a:ext cx="6300000" cy="24858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95448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544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5" name="배너"/>
          <p:cNvSpPr/>
          <p:nvPr/>
        </p:nvSpPr>
        <p:spPr>
          <a:xfrm>
            <a:off x="1161391" y="19764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764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7" name="태그"/>
          <p:cNvSpPr/>
          <p:nvPr/>
        </p:nvSpPr>
        <p:spPr>
          <a:xfrm>
            <a:off x="1161391" y="2233878"/>
            <a:ext cx="58523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2233878"/>
            <a:ext cx="58523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1790448" y="2222922"/>
            <a:ext cx="501903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447530"/>
            <a:ext cx="5626174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666661"/>
            <a:ext cx="580696" cy="17408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6661"/>
            <a:ext cx="580696" cy="174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6666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161391" y="26885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36" name="단계"/>
          <p:cNvSpPr/>
          <p:nvPr/>
        </p:nvSpPr>
        <p:spPr>
          <a:xfrm>
            <a:off x="3044087" y="26885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38" name="단계"/>
          <p:cNvSpPr/>
          <p:nvPr/>
        </p:nvSpPr>
        <p:spPr>
          <a:xfrm>
            <a:off x="4926783" y="26885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044086" y="26885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926782" y="26885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배너"/>
          <p:cNvSpPr/>
          <p:nvPr/>
        </p:nvSpPr>
        <p:spPr>
          <a:xfrm>
            <a:off x="1161391" y="3669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669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985435" y="3937617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5115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5280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6 서사 · 꿀벌 식당(추진배경 → 협업체계 → 상생모델 구현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7994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11" name="태그칩"/>
          <p:cNvSpPr/>
          <p:nvPr/>
        </p:nvSpPr>
        <p:spPr>
          <a:xfrm>
            <a:off x="500168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0168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2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60035"/>
            <a:ext cx="580696" cy="59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6003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600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230348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73600"/>
            <a:ext cx="580696" cy="177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073600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07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0955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0955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0955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0955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0955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185687"/>
            <a:ext cx="4514087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50" name="사진 칸"/>
          <p:cNvSpPr/>
          <p:nvPr/>
        </p:nvSpPr>
        <p:spPr>
          <a:xfrm>
            <a:off x="5916522" y="3191165"/>
            <a:ext cx="1079217" cy="646435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1" name="사진 칸"/>
          <p:cNvSpPr>
            <a:spLocks noGrp="1"/>
          </p:cNvSpPr>
          <p:nvPr>
            <p:ph type="body" sz="quarter" idx="40"/>
          </p:nvPr>
        </p:nvSpPr>
        <p:spPr>
          <a:xfrm>
            <a:off x="5916522" y="3191165"/>
            <a:ext cx="1079217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2" name="핵심성과 박스"/>
          <p:cNvSpPr/>
          <p:nvPr/>
        </p:nvSpPr>
        <p:spPr>
          <a:xfrm>
            <a:off x="723130" y="39526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756000" y="39855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9855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9745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7 서사 · 신정부 에너지 정책 → 공존가치 실현(Re:boot 로드맵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4040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7" name="태그칩"/>
          <p:cNvSpPr/>
          <p:nvPr/>
        </p:nvSpPr>
        <p:spPr>
          <a:xfrm>
            <a:off x="503957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503957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14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태그"/>
          <p:cNvSpPr/>
          <p:nvPr/>
        </p:nvSpPr>
        <p:spPr>
          <a:xfrm>
            <a:off x="1161391" y="19721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9721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8"/>
          </p:nvPr>
        </p:nvSpPr>
        <p:spPr>
          <a:xfrm>
            <a:off x="1567189" y="19612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8" name="태그"/>
          <p:cNvSpPr/>
          <p:nvPr/>
        </p:nvSpPr>
        <p:spPr>
          <a:xfrm>
            <a:off x="1161391" y="2169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169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30" name="태그 설명"/>
          <p:cNvSpPr>
            <a:spLocks noGrp="1"/>
          </p:cNvSpPr>
          <p:nvPr>
            <p:ph type="body" sz="quarter" idx="30"/>
          </p:nvPr>
        </p:nvSpPr>
        <p:spPr>
          <a:xfrm>
            <a:off x="1567189" y="2158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388522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88522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8 서사 · 수열 · 수상태양광 · 그린수소 · 국제감축(분야별 단계 전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7258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11" name="태그칩"/>
          <p:cNvSpPr/>
          <p:nvPr/>
        </p:nvSpPr>
        <p:spPr>
          <a:xfrm>
            <a:off x="539432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9432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93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15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903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3230348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5113043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251565"/>
            <a:ext cx="580696" cy="1155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 태그"/>
          <p:cNvSpPr/>
          <p:nvPr/>
        </p:nvSpPr>
        <p:spPr>
          <a:xfrm>
            <a:off x="744637" y="2415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레일 태그"/>
          <p:cNvSpPr>
            <a:spLocks noGrp="1"/>
          </p:cNvSpPr>
          <p:nvPr>
            <p:ph type="body" sz="quarter" idx="30"/>
          </p:nvPr>
        </p:nvSpPr>
        <p:spPr>
          <a:xfrm>
            <a:off x="744637" y="2415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1"/>
          </p:nvPr>
        </p:nvSpPr>
        <p:spPr>
          <a:xfrm>
            <a:off x="734087" y="2602174"/>
            <a:ext cx="580696" cy="78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251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273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273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273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273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230348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5113043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423913"/>
            <a:ext cx="580696" cy="1144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675117" y="3467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8"/>
          </p:nvPr>
        </p:nvSpPr>
        <p:spPr>
          <a:xfrm>
            <a:off x="675117" y="3467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54000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53" name="머리칸"/>
          <p:cNvSpPr/>
          <p:nvPr/>
        </p:nvSpPr>
        <p:spPr>
          <a:xfrm>
            <a:off x="1347652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55" name="머리칸"/>
          <p:cNvSpPr/>
          <p:nvPr/>
        </p:nvSpPr>
        <p:spPr>
          <a:xfrm>
            <a:off x="3230348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57" name="머리칸"/>
          <p:cNvSpPr/>
          <p:nvPr/>
        </p:nvSpPr>
        <p:spPr>
          <a:xfrm>
            <a:off x="5113043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3230348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5113043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734087" y="4585304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744637" y="474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6"/>
          </p:nvPr>
        </p:nvSpPr>
        <p:spPr>
          <a:xfrm>
            <a:off x="744637" y="474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7"/>
          </p:nvPr>
        </p:nvSpPr>
        <p:spPr>
          <a:xfrm>
            <a:off x="734087" y="4935913"/>
            <a:ext cx="580696" cy="1018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458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4607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4607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71" name="단계"/>
          <p:cNvSpPr/>
          <p:nvPr/>
        </p:nvSpPr>
        <p:spPr>
          <a:xfrm>
            <a:off x="1347652" y="48427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73" name="단계"/>
          <p:cNvSpPr/>
          <p:nvPr/>
        </p:nvSpPr>
        <p:spPr>
          <a:xfrm>
            <a:off x="4171696" y="48427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4171696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4171695" y="4842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  <p:cxnSp>
        <p:nvCxnSpPr>
          <p:cNvPr id="78" name="Connector 55"/>
          <p:cNvCxnSpPr/>
          <p:nvPr/>
        </p:nvCxnSpPr>
        <p:spPr>
          <a:xfrm>
            <a:off x="4171696" y="5127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9 서사 · 수력 RE100 인증기준(추진배경 → 용어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49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509047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047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9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23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5626174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588696"/>
            <a:ext cx="1358634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88696"/>
            <a:ext cx="135863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5"/>
          </p:nvPr>
        </p:nvSpPr>
        <p:spPr>
          <a:xfrm>
            <a:off x="2563851" y="1577739"/>
            <a:ext cx="4245627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807826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078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807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829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829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26" name="단계"/>
          <p:cNvSpPr/>
          <p:nvPr/>
        </p:nvSpPr>
        <p:spPr>
          <a:xfrm>
            <a:off x="1161391" y="20653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20653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985435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20653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985435" y="23501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핵심성과 박스"/>
          <p:cNvSpPr/>
          <p:nvPr/>
        </p:nvSpPr>
        <p:spPr>
          <a:xfrm>
            <a:off x="536870" y="3139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핵심성과 라벨"/>
          <p:cNvSpPr/>
          <p:nvPr/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6" name="핵심성과 라벨"/>
          <p:cNvSpPr>
            <a:spLocks noGrp="1"/>
          </p:cNvSpPr>
          <p:nvPr>
            <p:ph type="body" sz="quarter" idx="32"/>
          </p:nvPr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3"/>
          </p:nvPr>
        </p:nvSpPr>
        <p:spPr>
          <a:xfrm>
            <a:off x="1314783" y="3155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0 서사 · 환경경영 취약지점(환경법규 → 인재양성 → 녹색건축물 → 정보공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3434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16521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16521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716336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716336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541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08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31043"/>
            <a:ext cx="580696" cy="1139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31043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3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15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5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230348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286957"/>
            <a:ext cx="580696" cy="1062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286957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38" name="배너"/>
          <p:cNvSpPr/>
          <p:nvPr/>
        </p:nvSpPr>
        <p:spPr>
          <a:xfrm>
            <a:off x="1347652" y="330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330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230348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5113043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66174"/>
            <a:ext cx="580696" cy="144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66174"/>
            <a:ext cx="580696" cy="144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734086" y="436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347652" y="4388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347652" y="4388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4171696" y="4656522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5330348"/>
            <a:ext cx="5626174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54" name="레일"/>
          <p:cNvSpPr/>
          <p:nvPr/>
        </p:nvSpPr>
        <p:spPr>
          <a:xfrm>
            <a:off x="734087" y="5823391"/>
            <a:ext cx="580696" cy="106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823391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56" name="배너"/>
          <p:cNvSpPr/>
          <p:nvPr/>
        </p:nvSpPr>
        <p:spPr>
          <a:xfrm>
            <a:off x="1347652" y="584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84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171696" y="6113739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1 서사 · 해외진출 로드맵(추진배경 → 환경분석 → 시사점 → 목표 · 로드맵 · 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94174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캡션 띠"/>
          <p:cNvSpPr/>
          <p:nvPr/>
        </p:nvSpPr>
        <p:spPr>
          <a:xfrm>
            <a:off x="536869" y="2613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2656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2656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2613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2919913"/>
            <a:ext cx="6300000" cy="1857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293634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36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4" name="배너"/>
          <p:cNvSpPr/>
          <p:nvPr/>
        </p:nvSpPr>
        <p:spPr>
          <a:xfrm>
            <a:off x="1161391" y="295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95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3206191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20619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2061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161391" y="3228104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51" name="단계"/>
          <p:cNvSpPr/>
          <p:nvPr/>
        </p:nvSpPr>
        <p:spPr>
          <a:xfrm>
            <a:off x="2573413" y="3228104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2573413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53" name="단계"/>
          <p:cNvSpPr/>
          <p:nvPr/>
        </p:nvSpPr>
        <p:spPr>
          <a:xfrm>
            <a:off x="3985435" y="3228104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55" name="단계"/>
          <p:cNvSpPr/>
          <p:nvPr/>
        </p:nvSpPr>
        <p:spPr>
          <a:xfrm>
            <a:off x="5397457" y="3228104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397457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573413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985434" y="32281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397456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3"/>
          </p:nvPr>
        </p:nvSpPr>
        <p:spPr>
          <a:xfrm>
            <a:off x="2584370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cxnSp>
        <p:nvCxnSpPr>
          <p:cNvPr id="62" name="Connector 44"/>
          <p:cNvCxnSpPr/>
          <p:nvPr/>
        </p:nvCxnSpPr>
        <p:spPr>
          <a:xfrm>
            <a:off x="2573413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5408413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cxnSp>
        <p:nvCxnSpPr>
          <p:cNvPr id="66" name="Connector 48"/>
          <p:cNvCxnSpPr/>
          <p:nvPr/>
        </p:nvCxnSpPr>
        <p:spPr>
          <a:xfrm>
            <a:off x="5397457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3999287"/>
            <a:ext cx="580696" cy="76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3999287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3999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머리칸"/>
          <p:cNvSpPr/>
          <p:nvPr/>
        </p:nvSpPr>
        <p:spPr>
          <a:xfrm>
            <a:off x="1161391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72" name="머리칸"/>
          <p:cNvSpPr/>
          <p:nvPr/>
        </p:nvSpPr>
        <p:spPr>
          <a:xfrm>
            <a:off x="3044087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74" name="머리칸"/>
          <p:cNvSpPr/>
          <p:nvPr/>
        </p:nvSpPr>
        <p:spPr>
          <a:xfrm>
            <a:off x="4926783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cxnSp>
        <p:nvCxnSpPr>
          <p:cNvPr id="78" name="Connector 56"/>
          <p:cNvCxnSpPr/>
          <p:nvPr/>
        </p:nvCxnSpPr>
        <p:spPr>
          <a:xfrm>
            <a:off x="3044087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4926783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2 서사 · 수출금융지원(지역혁신펀드 · 프로젝트 지원자금 · 녹색인프라 · PIS 펀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34367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6" name="태그칩"/>
          <p:cNvSpPr/>
          <p:nvPr/>
        </p:nvSpPr>
        <p:spPr>
          <a:xfrm>
            <a:off x="5165412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65412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5448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5448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5448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522957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7640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807826"/>
            <a:ext cx="76817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807826"/>
            <a:ext cx="76817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600873" y="1785913"/>
            <a:ext cx="222843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862174" y="18187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807826"/>
            <a:ext cx="10169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807826"/>
            <a:ext cx="10169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966812" y="1785913"/>
            <a:ext cx="1979623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903478"/>
            <a:ext cx="159510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903478"/>
            <a:ext cx="159510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2427796" y="2881565"/>
            <a:ext cx="140150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862174" y="29144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903478"/>
            <a:ext cx="87757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903478"/>
            <a:ext cx="87757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827399" y="2881565"/>
            <a:ext cx="211903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9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3 서사 · 해외진출 컨설팅 · 글로벌 마케팅 · 판로확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89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12" name="태그칩"/>
          <p:cNvSpPr/>
          <p:nvPr/>
        </p:nvSpPr>
        <p:spPr>
          <a:xfrm>
            <a:off x="48044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44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553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553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01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194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379087" y="1112087"/>
            <a:ext cx="91817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379087" y="1112087"/>
            <a:ext cx="91817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942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112087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2145304" y="110113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26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985435" y="1599652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278957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278957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27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36" name="머리칸"/>
          <p:cNvSpPr/>
          <p:nvPr/>
        </p:nvSpPr>
        <p:spPr>
          <a:xfrm>
            <a:off x="3044087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38" name="머리칸"/>
          <p:cNvSpPr/>
          <p:nvPr/>
        </p:nvSpPr>
        <p:spPr>
          <a:xfrm>
            <a:off x="4926783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044087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4926783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330783"/>
            <a:ext cx="580696" cy="71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3078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3330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3985435" y="3385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536870" y="415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16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4 서사 · 해외시장개척단 내실화(성과분석 → 개선방향 → 선발·성과관리 → 맞춤형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87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843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843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9" name="태그"/>
          <p:cNvSpPr/>
          <p:nvPr/>
        </p:nvSpPr>
        <p:spPr>
          <a:xfrm>
            <a:off x="1347652" y="1188783"/>
            <a:ext cx="910815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347652" y="1188783"/>
            <a:ext cx="91081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2302294" y="1177826"/>
            <a:ext cx="4693446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cxnSp>
        <p:nvCxnSpPr>
          <p:cNvPr id="24" name="Connector 15"/>
          <p:cNvCxnSpPr/>
          <p:nvPr/>
        </p:nvCxnSpPr>
        <p:spPr>
          <a:xfrm>
            <a:off x="4171696" y="1435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캡션 띠"/>
          <p:cNvSpPr/>
          <p:nvPr/>
        </p:nvSpPr>
        <p:spPr>
          <a:xfrm>
            <a:off x="723130" y="2026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1051826" y="207078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207078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29"/>
          </p:nvPr>
        </p:nvSpPr>
        <p:spPr>
          <a:xfrm>
            <a:off x="1655249" y="2026957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9" name="표 외곽"/>
          <p:cNvSpPr/>
          <p:nvPr/>
        </p:nvSpPr>
        <p:spPr>
          <a:xfrm>
            <a:off x="723130" y="2333739"/>
            <a:ext cx="6300000" cy="255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350174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0174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64600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621130"/>
            <a:ext cx="580696" cy="1254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21130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62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4171696" y="3916957"/>
            <a:ext cx="0" cy="92034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723130" y="497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499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5 서사 · 해외실증 동반진출(추진배경 → 방향 → 정부지원 → 글로벌 테스트베드 → 초격차 기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035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177826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177826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4"/>
          </p:nvPr>
        </p:nvSpPr>
        <p:spPr>
          <a:xfrm>
            <a:off x="1826913" y="1166870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37504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37504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1826913" y="136408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594174"/>
            <a:ext cx="580696" cy="54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594174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cxnSp>
        <p:nvCxnSpPr>
          <p:cNvPr id="29" name="Connector 21"/>
          <p:cNvCxnSpPr/>
          <p:nvPr/>
        </p:nvCxnSpPr>
        <p:spPr>
          <a:xfrm>
            <a:off x="3985435" y="1648957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형광 밑줄"/>
          <p:cNvSpPr/>
          <p:nvPr/>
        </p:nvSpPr>
        <p:spPr>
          <a:xfrm>
            <a:off x="536870" y="2426870"/>
            <a:ext cx="39847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소제목"/>
          <p:cNvSpPr>
            <a:spLocks noGrp="1"/>
          </p:cNvSpPr>
          <p:nvPr>
            <p:ph type="body" sz="quarter" idx="30"/>
          </p:nvPr>
        </p:nvSpPr>
        <p:spPr>
          <a:xfrm>
            <a:off x="536870" y="22734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32" name="태그칩"/>
          <p:cNvSpPr/>
          <p:nvPr/>
        </p:nvSpPr>
        <p:spPr>
          <a:xfrm>
            <a:off x="4620224" y="2306348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칩"/>
          <p:cNvSpPr>
            <a:spLocks noGrp="1"/>
          </p:cNvSpPr>
          <p:nvPr>
            <p:ph type="body" sz="quarter" idx="31"/>
          </p:nvPr>
        </p:nvSpPr>
        <p:spPr>
          <a:xfrm>
            <a:off x="4620224" y="2306348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558348"/>
            <a:ext cx="6300000" cy="386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574783"/>
            <a:ext cx="580696" cy="903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57478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596696"/>
            <a:ext cx="254539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739660" y="2596696"/>
            <a:ext cx="305886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3728704" y="2629565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495130"/>
            <a:ext cx="580696" cy="184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95130"/>
            <a:ext cx="580696" cy="184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3495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161391" y="3517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517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752609"/>
            <a:ext cx="396497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59233" y="3752609"/>
            <a:ext cx="1639289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5148276" y="3785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단계"/>
          <p:cNvSpPr/>
          <p:nvPr/>
        </p:nvSpPr>
        <p:spPr>
          <a:xfrm>
            <a:off x="1161391" y="470034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50" name="단계"/>
          <p:cNvSpPr/>
          <p:nvPr/>
        </p:nvSpPr>
        <p:spPr>
          <a:xfrm>
            <a:off x="3985435" y="470034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985434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 txBox="1"/>
          <p:nvPr/>
        </p:nvSpPr>
        <p:spPr>
          <a:xfrm>
            <a:off x="1172348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4" name="칸 본문"/>
          <p:cNvSpPr txBox="1"/>
          <p:nvPr/>
        </p:nvSpPr>
        <p:spPr>
          <a:xfrm>
            <a:off x="3996391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5" name="Connector 41"/>
          <p:cNvCxnSpPr/>
          <p:nvPr/>
        </p:nvCxnSpPr>
        <p:spPr>
          <a:xfrm>
            <a:off x="3985435" y="4985217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5357739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5357739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547826" y="535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"/>
          <p:cNvSpPr/>
          <p:nvPr/>
        </p:nvSpPr>
        <p:spPr>
          <a:xfrm>
            <a:off x="1161391" y="5379652"/>
            <a:ext cx="355620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5379652"/>
            <a:ext cx="355620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61" name="단계"/>
          <p:cNvSpPr/>
          <p:nvPr/>
        </p:nvSpPr>
        <p:spPr>
          <a:xfrm>
            <a:off x="4717594" y="5379652"/>
            <a:ext cx="209188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3"/>
          </p:nvPr>
        </p:nvSpPr>
        <p:spPr>
          <a:xfrm>
            <a:off x="4717594" y="5379652"/>
            <a:ext cx="209188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4717594" y="5379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5631652"/>
            <a:ext cx="353429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4728551" y="5631652"/>
            <a:ext cx="2069971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4717594" y="5664522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9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0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6 서사 · 동반진출(투자사업 · 수주사업 · ODA사업 3갈래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7897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60071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0071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15183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5183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80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80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핵심성과 박스"/>
          <p:cNvSpPr/>
          <p:nvPr/>
        </p:nvSpPr>
        <p:spPr>
          <a:xfrm>
            <a:off x="723130" y="2985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핵심성과 라벨"/>
          <p:cNvSpPr/>
          <p:nvPr/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1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3002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7 서사 · 수요 중심 데이터 개방 → 데이터 정비 → 활용도 편의성 개선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태그"/>
          <p:cNvSpPr/>
          <p:nvPr/>
        </p:nvSpPr>
        <p:spPr>
          <a:xfrm>
            <a:off x="1161391" y="827217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"/>
          <p:cNvSpPr>
            <a:spLocks noGrp="1"/>
          </p:cNvSpPr>
          <p:nvPr>
            <p:ph type="body" sz="quarter" idx="21"/>
          </p:nvPr>
        </p:nvSpPr>
        <p:spPr>
          <a:xfrm>
            <a:off x="1161391" y="827217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2"/>
          </p:nvPr>
        </p:nvSpPr>
        <p:spPr>
          <a:xfrm>
            <a:off x="1676958" y="81626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6" name="태그"/>
          <p:cNvSpPr/>
          <p:nvPr/>
        </p:nvSpPr>
        <p:spPr>
          <a:xfrm>
            <a:off x="1161391" y="102443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02443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4"/>
          </p:nvPr>
        </p:nvSpPr>
        <p:spPr>
          <a:xfrm>
            <a:off x="1676958" y="1013478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9" name="번호 띠"/>
          <p:cNvSpPr/>
          <p:nvPr/>
        </p:nvSpPr>
        <p:spPr>
          <a:xfrm>
            <a:off x="536870" y="1386000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407913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407913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5"/>
          </p:nvPr>
        </p:nvSpPr>
        <p:spPr>
          <a:xfrm>
            <a:off x="558783" y="1386000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6"/>
          </p:nvPr>
        </p:nvSpPr>
        <p:spPr>
          <a:xfrm>
            <a:off x="1183304" y="1407913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24" name="번호 띠 칩"/>
          <p:cNvSpPr/>
          <p:nvPr/>
        </p:nvSpPr>
        <p:spPr>
          <a:xfrm>
            <a:off x="6022385" y="1451739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번호 띠 칩"/>
          <p:cNvSpPr>
            <a:spLocks noGrp="1"/>
          </p:cNvSpPr>
          <p:nvPr>
            <p:ph type="body" sz="quarter" idx="27"/>
          </p:nvPr>
        </p:nvSpPr>
        <p:spPr>
          <a:xfrm>
            <a:off x="6022385" y="1451739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6" name="번호 띠 칩"/>
          <p:cNvSpPr/>
          <p:nvPr/>
        </p:nvSpPr>
        <p:spPr>
          <a:xfrm>
            <a:off x="5449351" y="1451739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번호 띠 칩"/>
          <p:cNvSpPr>
            <a:spLocks noGrp="1"/>
          </p:cNvSpPr>
          <p:nvPr>
            <p:ph type="body" sz="quarter" idx="28"/>
          </p:nvPr>
        </p:nvSpPr>
        <p:spPr>
          <a:xfrm>
            <a:off x="5449351" y="1451739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736609"/>
            <a:ext cx="6300000" cy="3582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753043"/>
            <a:ext cx="580696" cy="110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 태그"/>
          <p:cNvSpPr/>
          <p:nvPr/>
        </p:nvSpPr>
        <p:spPr>
          <a:xfrm>
            <a:off x="543740" y="1796870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레일 태그"/>
          <p:cNvSpPr>
            <a:spLocks noGrp="1"/>
          </p:cNvSpPr>
          <p:nvPr>
            <p:ph type="body" sz="quarter" idx="29"/>
          </p:nvPr>
        </p:nvSpPr>
        <p:spPr>
          <a:xfrm>
            <a:off x="543740" y="1796870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1983130"/>
            <a:ext cx="580696" cy="84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1774957"/>
            <a:ext cx="3765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1774957"/>
            <a:ext cx="3765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1774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774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4926782" y="1774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26957"/>
            <a:ext cx="3743478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026957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926783" y="205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870609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613260" y="3034957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5"/>
          </p:nvPr>
        </p:nvSpPr>
        <p:spPr>
          <a:xfrm>
            <a:off x="613260" y="3034957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21217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87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161391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48" name="머리칸"/>
          <p:cNvSpPr/>
          <p:nvPr/>
        </p:nvSpPr>
        <p:spPr>
          <a:xfrm>
            <a:off x="3985435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985435" y="3166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레일"/>
          <p:cNvSpPr/>
          <p:nvPr/>
        </p:nvSpPr>
        <p:spPr>
          <a:xfrm>
            <a:off x="547826" y="3867652"/>
            <a:ext cx="580696" cy="1435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 태그"/>
          <p:cNvSpPr/>
          <p:nvPr/>
        </p:nvSpPr>
        <p:spPr>
          <a:xfrm>
            <a:off x="613260" y="4032000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레일 태그"/>
          <p:cNvSpPr>
            <a:spLocks noGrp="1"/>
          </p:cNvSpPr>
          <p:nvPr>
            <p:ph type="body" sz="quarter" idx="41"/>
          </p:nvPr>
        </p:nvSpPr>
        <p:spPr>
          <a:xfrm>
            <a:off x="613260" y="4032000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56" name="레일 라벨"/>
          <p:cNvSpPr>
            <a:spLocks noGrp="1"/>
          </p:cNvSpPr>
          <p:nvPr>
            <p:ph type="body" sz="quarter" idx="42"/>
          </p:nvPr>
        </p:nvSpPr>
        <p:spPr>
          <a:xfrm>
            <a:off x="547826" y="4218261"/>
            <a:ext cx="580696" cy="106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386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머리칸"/>
          <p:cNvSpPr/>
          <p:nvPr/>
        </p:nvSpPr>
        <p:spPr>
          <a:xfrm>
            <a:off x="1161391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60" name="머리칸"/>
          <p:cNvSpPr/>
          <p:nvPr/>
        </p:nvSpPr>
        <p:spPr>
          <a:xfrm>
            <a:off x="3985435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4163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태그"/>
          <p:cNvSpPr/>
          <p:nvPr/>
        </p:nvSpPr>
        <p:spPr>
          <a:xfrm>
            <a:off x="1161391" y="510026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47"/>
          </p:nvPr>
        </p:nvSpPr>
        <p:spPr>
          <a:xfrm>
            <a:off x="1161391" y="510026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48"/>
          </p:nvPr>
        </p:nvSpPr>
        <p:spPr>
          <a:xfrm>
            <a:off x="2145304" y="5089304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68" name="핵심성과 박스"/>
          <p:cNvSpPr/>
          <p:nvPr/>
        </p:nvSpPr>
        <p:spPr>
          <a:xfrm>
            <a:off x="536870" y="5407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5439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5439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5428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8 서사 · 데이터 활용 공공·민간 협업(4개 협업과제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833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8330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8330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16139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402435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446261"/>
            <a:ext cx="9072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446261"/>
            <a:ext cx="9072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739913" y="1424348"/>
            <a:ext cx="208939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3862174" y="1457217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44626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44626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498466" y="1424348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54191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54191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1381335" y="2520000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cxnSp>
        <p:nvCxnSpPr>
          <p:cNvPr id="39" name="Connector 27"/>
          <p:cNvCxnSpPr/>
          <p:nvPr/>
        </p:nvCxnSpPr>
        <p:spPr>
          <a:xfrm>
            <a:off x="3862174" y="2552870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541913"/>
            <a:ext cx="7413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541913"/>
            <a:ext cx="7413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691212" y="2520000"/>
            <a:ext cx="225522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9 서사 · AI 기술마켓(환경분석 → 시사점 → 추진과제 → 추진체계 → 3단 지원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827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5" name="머리칸"/>
          <p:cNvSpPr/>
          <p:nvPr/>
        </p:nvSpPr>
        <p:spPr>
          <a:xfrm>
            <a:off x="3044087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044087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7" name="머리칸"/>
          <p:cNvSpPr/>
          <p:nvPr/>
        </p:nvSpPr>
        <p:spPr>
          <a:xfrm>
            <a:off x="4926783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4926783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055043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044087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937739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926783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536869" y="161608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865565" y="165991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65991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61608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22870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31" name="태그"/>
          <p:cNvSpPr/>
          <p:nvPr/>
        </p:nvSpPr>
        <p:spPr>
          <a:xfrm>
            <a:off x="1161391" y="198313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8313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33" name="태그 설명"/>
          <p:cNvSpPr>
            <a:spLocks noGrp="1"/>
          </p:cNvSpPr>
          <p:nvPr>
            <p:ph type="body" sz="quarter" idx="31"/>
          </p:nvPr>
        </p:nvSpPr>
        <p:spPr>
          <a:xfrm>
            <a:off x="1567189" y="1972174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34" name="태그"/>
          <p:cNvSpPr/>
          <p:nvPr/>
        </p:nvSpPr>
        <p:spPr>
          <a:xfrm>
            <a:off x="1161391" y="2180348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80348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3"/>
          </p:nvPr>
        </p:nvSpPr>
        <p:spPr>
          <a:xfrm>
            <a:off x="1567189" y="216939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37" name="번호 띠"/>
          <p:cNvSpPr/>
          <p:nvPr/>
        </p:nvSpPr>
        <p:spPr>
          <a:xfrm>
            <a:off x="536870" y="2541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번호 탭"/>
          <p:cNvSpPr/>
          <p:nvPr/>
        </p:nvSpPr>
        <p:spPr>
          <a:xfrm>
            <a:off x="558782" y="2563826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번호 탭 빗면"/>
          <p:cNvSpPr/>
          <p:nvPr/>
        </p:nvSpPr>
        <p:spPr>
          <a:xfrm>
            <a:off x="953217" y="2563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번호"/>
          <p:cNvSpPr>
            <a:spLocks noGrp="1"/>
          </p:cNvSpPr>
          <p:nvPr>
            <p:ph type="body" sz="quarter" idx="34"/>
          </p:nvPr>
        </p:nvSpPr>
        <p:spPr>
          <a:xfrm>
            <a:off x="558783" y="2541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41" name="번호 띠 제목"/>
          <p:cNvSpPr>
            <a:spLocks noGrp="1"/>
          </p:cNvSpPr>
          <p:nvPr>
            <p:ph type="body" sz="quarter" idx="35"/>
          </p:nvPr>
        </p:nvSpPr>
        <p:spPr>
          <a:xfrm>
            <a:off x="1183304" y="2563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42" name="번호 띠 칩"/>
          <p:cNvSpPr/>
          <p:nvPr/>
        </p:nvSpPr>
        <p:spPr>
          <a:xfrm>
            <a:off x="6265613" y="2607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번호 띠 칩"/>
          <p:cNvSpPr>
            <a:spLocks noGrp="1"/>
          </p:cNvSpPr>
          <p:nvPr>
            <p:ph type="body" sz="quarter" idx="36"/>
          </p:nvPr>
        </p:nvSpPr>
        <p:spPr>
          <a:xfrm>
            <a:off x="6265613" y="2607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44" name="번호 띠 칩"/>
          <p:cNvSpPr/>
          <p:nvPr/>
        </p:nvSpPr>
        <p:spPr>
          <a:xfrm>
            <a:off x="5692579" y="2607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번호 띠 칩"/>
          <p:cNvSpPr>
            <a:spLocks noGrp="1"/>
          </p:cNvSpPr>
          <p:nvPr>
            <p:ph type="body" sz="quarter" idx="37"/>
          </p:nvPr>
        </p:nvSpPr>
        <p:spPr>
          <a:xfrm>
            <a:off x="5692579" y="2607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46" name="표 외곽"/>
          <p:cNvSpPr/>
          <p:nvPr/>
        </p:nvSpPr>
        <p:spPr>
          <a:xfrm>
            <a:off x="536870" y="2892522"/>
            <a:ext cx="6300000" cy="3681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2908957"/>
            <a:ext cx="580696" cy="62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2908957"/>
            <a:ext cx="580696" cy="62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293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93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51" name="단계"/>
          <p:cNvSpPr/>
          <p:nvPr/>
        </p:nvSpPr>
        <p:spPr>
          <a:xfrm>
            <a:off x="1161391" y="31664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1161391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53" name="단계"/>
          <p:cNvSpPr/>
          <p:nvPr/>
        </p:nvSpPr>
        <p:spPr>
          <a:xfrm>
            <a:off x="2573413" y="31664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2573413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31664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57" name="단계"/>
          <p:cNvSpPr/>
          <p:nvPr/>
        </p:nvSpPr>
        <p:spPr>
          <a:xfrm>
            <a:off x="5397457" y="31664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397457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2573413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3985434" y="3166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 삼각형"/>
          <p:cNvSpPr/>
          <p:nvPr/>
        </p:nvSpPr>
        <p:spPr>
          <a:xfrm>
            <a:off x="5397456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 txBox="1"/>
          <p:nvPr/>
        </p:nvSpPr>
        <p:spPr>
          <a:xfrm>
            <a:off x="1172348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3" name="칸 본문"/>
          <p:cNvSpPr txBox="1"/>
          <p:nvPr/>
        </p:nvSpPr>
        <p:spPr>
          <a:xfrm>
            <a:off x="2584370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4"/>
          <p:cNvCxnSpPr/>
          <p:nvPr/>
        </p:nvCxnSpPr>
        <p:spPr>
          <a:xfrm>
            <a:off x="2573413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 txBox="1"/>
          <p:nvPr/>
        </p:nvSpPr>
        <p:spPr>
          <a:xfrm>
            <a:off x="3996391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6" name="Connector 46"/>
          <p:cNvCxnSpPr/>
          <p:nvPr/>
        </p:nvCxnSpPr>
        <p:spPr>
          <a:xfrm>
            <a:off x="3985435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칸 본문"/>
          <p:cNvSpPr txBox="1"/>
          <p:nvPr/>
        </p:nvSpPr>
        <p:spPr>
          <a:xfrm>
            <a:off x="5408413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8" name="Connector 48"/>
          <p:cNvCxnSpPr/>
          <p:nvPr/>
        </p:nvCxnSpPr>
        <p:spPr>
          <a:xfrm>
            <a:off x="5397457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레일"/>
          <p:cNvSpPr/>
          <p:nvPr/>
        </p:nvSpPr>
        <p:spPr>
          <a:xfrm>
            <a:off x="547826" y="3549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 태그"/>
          <p:cNvSpPr/>
          <p:nvPr/>
        </p:nvSpPr>
        <p:spPr>
          <a:xfrm>
            <a:off x="503491" y="371426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레일 태그"/>
          <p:cNvSpPr>
            <a:spLocks noGrp="1"/>
          </p:cNvSpPr>
          <p:nvPr>
            <p:ph type="body" sz="quarter" idx="44"/>
          </p:nvPr>
        </p:nvSpPr>
        <p:spPr>
          <a:xfrm>
            <a:off x="503491" y="371426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72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3900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547826" y="3549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"/>
          <p:cNvSpPr/>
          <p:nvPr/>
        </p:nvSpPr>
        <p:spPr>
          <a:xfrm>
            <a:off x="1161391" y="3571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571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76" name="단계"/>
          <p:cNvSpPr/>
          <p:nvPr/>
        </p:nvSpPr>
        <p:spPr>
          <a:xfrm>
            <a:off x="5044451" y="3571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7"/>
          </p:nvPr>
        </p:nvSpPr>
        <p:spPr>
          <a:xfrm>
            <a:off x="5044451" y="3571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5044451" y="3571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23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49"/>
          </p:nvPr>
        </p:nvSpPr>
        <p:spPr>
          <a:xfrm>
            <a:off x="5055408" y="3823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044451" y="3856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레일"/>
          <p:cNvSpPr/>
          <p:nvPr/>
        </p:nvSpPr>
        <p:spPr>
          <a:xfrm>
            <a:off x="547826" y="4557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 태그"/>
          <p:cNvSpPr/>
          <p:nvPr/>
        </p:nvSpPr>
        <p:spPr>
          <a:xfrm>
            <a:off x="488856" y="4601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레일 태그"/>
          <p:cNvSpPr>
            <a:spLocks noGrp="1"/>
          </p:cNvSpPr>
          <p:nvPr>
            <p:ph type="body" sz="quarter" idx="50"/>
          </p:nvPr>
        </p:nvSpPr>
        <p:spPr>
          <a:xfrm>
            <a:off x="488856" y="4601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51"/>
          </p:nvPr>
        </p:nvSpPr>
        <p:spPr>
          <a:xfrm>
            <a:off x="547826" y="4788000"/>
            <a:ext cx="580696" cy="739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86" name="단계"/>
          <p:cNvSpPr/>
          <p:nvPr/>
        </p:nvSpPr>
        <p:spPr>
          <a:xfrm>
            <a:off x="1161391" y="4579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579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88" name="단계"/>
          <p:cNvSpPr/>
          <p:nvPr/>
        </p:nvSpPr>
        <p:spPr>
          <a:xfrm>
            <a:off x="5044451" y="4579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3"/>
          </p:nvPr>
        </p:nvSpPr>
        <p:spPr>
          <a:xfrm>
            <a:off x="5044451" y="4579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5044451" y="4579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4831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5055408" y="4831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cxnSp>
        <p:nvCxnSpPr>
          <p:cNvPr id="93" name="Connector 67"/>
          <p:cNvCxnSpPr/>
          <p:nvPr/>
        </p:nvCxnSpPr>
        <p:spPr>
          <a:xfrm>
            <a:off x="5044451" y="4864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레일"/>
          <p:cNvSpPr/>
          <p:nvPr/>
        </p:nvSpPr>
        <p:spPr>
          <a:xfrm>
            <a:off x="547826" y="556591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 태그"/>
          <p:cNvSpPr/>
          <p:nvPr/>
        </p:nvSpPr>
        <p:spPr>
          <a:xfrm>
            <a:off x="488856" y="573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6" name="레일 태그"/>
          <p:cNvSpPr>
            <a:spLocks noGrp="1"/>
          </p:cNvSpPr>
          <p:nvPr>
            <p:ph type="body" sz="quarter" idx="56"/>
          </p:nvPr>
        </p:nvSpPr>
        <p:spPr>
          <a:xfrm>
            <a:off x="488856" y="573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97" name="레일 라벨"/>
          <p:cNvSpPr>
            <a:spLocks noGrp="1"/>
          </p:cNvSpPr>
          <p:nvPr>
            <p:ph type="body" sz="quarter" idx="57"/>
          </p:nvPr>
        </p:nvSpPr>
        <p:spPr>
          <a:xfrm>
            <a:off x="547826" y="5916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547826" y="556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161391" y="5587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58"/>
          </p:nvPr>
        </p:nvSpPr>
        <p:spPr>
          <a:xfrm>
            <a:off x="1161391" y="5587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101" name="단계"/>
          <p:cNvSpPr/>
          <p:nvPr/>
        </p:nvSpPr>
        <p:spPr>
          <a:xfrm>
            <a:off x="5044451" y="5587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59"/>
          </p:nvPr>
        </p:nvSpPr>
        <p:spPr>
          <a:xfrm>
            <a:off x="5044451" y="5587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103" name="단계 삼각형"/>
          <p:cNvSpPr/>
          <p:nvPr/>
        </p:nvSpPr>
        <p:spPr>
          <a:xfrm>
            <a:off x="5044451" y="5587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839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1"/>
          </p:nvPr>
        </p:nvSpPr>
        <p:spPr>
          <a:xfrm>
            <a:off x="5055408" y="5839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5044451" y="5872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핵심성과 박스"/>
          <p:cNvSpPr/>
          <p:nvPr/>
        </p:nvSpPr>
        <p:spPr>
          <a:xfrm>
            <a:off x="536870" y="66615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핵심성과 라벨"/>
          <p:cNvSpPr/>
          <p:nvPr/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9" name="핵심성과 라벨"/>
          <p:cNvSpPr>
            <a:spLocks noGrp="1"/>
          </p:cNvSpPr>
          <p:nvPr>
            <p:ph type="body" sz="quarter" idx="62"/>
          </p:nvPr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0" name="핵심성과 문구"/>
          <p:cNvSpPr>
            <a:spLocks noGrp="1"/>
          </p:cNvSpPr>
          <p:nvPr>
            <p:ph type="body" sz="quarter" idx="63"/>
          </p:nvPr>
        </p:nvSpPr>
        <p:spPr>
          <a:xfrm>
            <a:off x="1314783" y="66780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0 서사 · 전담조직 확대(추진배경 → 추진내용) · 기술개발 · 사업기반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7" name="분야 박스"/>
          <p:cNvSpPr/>
          <p:nvPr/>
        </p:nvSpPr>
        <p:spPr>
          <a:xfrm>
            <a:off x="952651" y="1238087"/>
            <a:ext cx="84784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분야 박스"/>
          <p:cNvSpPr>
            <a:spLocks noGrp="1"/>
          </p:cNvSpPr>
          <p:nvPr>
            <p:ph type="body" sz="quarter" idx="24"/>
          </p:nvPr>
        </p:nvSpPr>
        <p:spPr>
          <a:xfrm>
            <a:off x="952651" y="1238087"/>
            <a:ext cx="8478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1866239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5"/>
          </p:nvPr>
        </p:nvSpPr>
        <p:spPr>
          <a:xfrm>
            <a:off x="1866239" y="1205217"/>
            <a:ext cx="515689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21" name="태그칩"/>
          <p:cNvSpPr/>
          <p:nvPr/>
        </p:nvSpPr>
        <p:spPr>
          <a:xfrm>
            <a:off x="552570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2570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4171696" y="1561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021478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021478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2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043391"/>
            <a:ext cx="33888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2043391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34" name="단계"/>
          <p:cNvSpPr/>
          <p:nvPr/>
        </p:nvSpPr>
        <p:spPr>
          <a:xfrm>
            <a:off x="4736504" y="2043391"/>
            <a:ext cx="225923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4736504" y="2043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736504" y="20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95391"/>
            <a:ext cx="336693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747461" y="2295391"/>
            <a:ext cx="223732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736504" y="2328261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3188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3188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42" name="번호"/>
          <p:cNvSpPr>
            <a:spLocks noGrp="1"/>
          </p:cNvSpPr>
          <p:nvPr>
            <p:ph type="body" sz="quarter" idx="36"/>
          </p:nvPr>
        </p:nvSpPr>
        <p:spPr>
          <a:xfrm>
            <a:off x="723130" y="3549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43" name="분야 박스"/>
          <p:cNvSpPr/>
          <p:nvPr/>
        </p:nvSpPr>
        <p:spPr>
          <a:xfrm>
            <a:off x="952651" y="3582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분야 박스"/>
          <p:cNvSpPr>
            <a:spLocks noGrp="1"/>
          </p:cNvSpPr>
          <p:nvPr>
            <p:ph type="body" sz="quarter" idx="37"/>
          </p:nvPr>
        </p:nvSpPr>
        <p:spPr>
          <a:xfrm>
            <a:off x="952651" y="3582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45" name="형광 밑줄"/>
          <p:cNvSpPr/>
          <p:nvPr/>
        </p:nvSpPr>
        <p:spPr>
          <a:xfrm>
            <a:off x="1610856" y="3703304"/>
            <a:ext cx="32657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소제목"/>
          <p:cNvSpPr>
            <a:spLocks noGrp="1"/>
          </p:cNvSpPr>
          <p:nvPr>
            <p:ph type="body" sz="quarter" idx="38"/>
          </p:nvPr>
        </p:nvSpPr>
        <p:spPr>
          <a:xfrm>
            <a:off x="1610856" y="3549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47" name="태그칩"/>
          <p:cNvSpPr/>
          <p:nvPr/>
        </p:nvSpPr>
        <p:spPr>
          <a:xfrm>
            <a:off x="4975168" y="3582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태그칩"/>
          <p:cNvSpPr>
            <a:spLocks noGrp="1"/>
          </p:cNvSpPr>
          <p:nvPr>
            <p:ph type="body" sz="quarter" idx="39"/>
          </p:nvPr>
        </p:nvSpPr>
        <p:spPr>
          <a:xfrm>
            <a:off x="4975168" y="3582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49" name="태그칩"/>
          <p:cNvSpPr/>
          <p:nvPr/>
        </p:nvSpPr>
        <p:spPr>
          <a:xfrm>
            <a:off x="5526289" y="3582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태그칩"/>
          <p:cNvSpPr>
            <a:spLocks noGrp="1"/>
          </p:cNvSpPr>
          <p:nvPr>
            <p:ph type="body" sz="quarter" idx="40"/>
          </p:nvPr>
        </p:nvSpPr>
        <p:spPr>
          <a:xfrm>
            <a:off x="5526289" y="3582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51" name="표 외곽"/>
          <p:cNvSpPr/>
          <p:nvPr/>
        </p:nvSpPr>
        <p:spPr>
          <a:xfrm>
            <a:off x="723130" y="3834783"/>
            <a:ext cx="6300000" cy="220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734087" y="3851217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851217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4" name="태그"/>
          <p:cNvSpPr/>
          <p:nvPr/>
        </p:nvSpPr>
        <p:spPr>
          <a:xfrm>
            <a:off x="1347652" y="3895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3895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56" name="태그 설명"/>
          <p:cNvSpPr>
            <a:spLocks noGrp="1"/>
          </p:cNvSpPr>
          <p:nvPr>
            <p:ph type="body" sz="quarter" idx="43"/>
          </p:nvPr>
        </p:nvSpPr>
        <p:spPr>
          <a:xfrm>
            <a:off x="1972988" y="3884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57" name="태그"/>
          <p:cNvSpPr/>
          <p:nvPr/>
        </p:nvSpPr>
        <p:spPr>
          <a:xfrm>
            <a:off x="1347652" y="409226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09226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5"/>
          </p:nvPr>
        </p:nvSpPr>
        <p:spPr>
          <a:xfrm>
            <a:off x="1972988" y="408130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60" name="레일"/>
          <p:cNvSpPr/>
          <p:nvPr/>
        </p:nvSpPr>
        <p:spPr>
          <a:xfrm>
            <a:off x="734087" y="4311391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311391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431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1347652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4171696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4182652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cxnSp>
        <p:nvCxnSpPr>
          <p:cNvPr id="69" name="Connector 46"/>
          <p:cNvCxnSpPr/>
          <p:nvPr/>
        </p:nvCxnSpPr>
        <p:spPr>
          <a:xfrm>
            <a:off x="4171696" y="4607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5176957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176957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17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347652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cxnSp>
        <p:nvCxnSpPr>
          <p:cNvPr id="81" name="Connector 54"/>
          <p:cNvCxnSpPr/>
          <p:nvPr/>
        </p:nvCxnSpPr>
        <p:spPr>
          <a:xfrm>
            <a:off x="3230348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cxnSp>
        <p:nvCxnSpPr>
          <p:cNvPr id="83" name="Connector 56"/>
          <p:cNvCxnSpPr/>
          <p:nvPr/>
        </p:nvCxnSpPr>
        <p:spPr>
          <a:xfrm>
            <a:off x="5113043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번호"/>
          <p:cNvSpPr>
            <a:spLocks noGrp="1"/>
          </p:cNvSpPr>
          <p:nvPr>
            <p:ph type="body" sz="quarter" idx="58"/>
          </p:nvPr>
        </p:nvSpPr>
        <p:spPr>
          <a:xfrm>
            <a:off x="723130" y="616304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5" name="분야 박스"/>
          <p:cNvSpPr/>
          <p:nvPr/>
        </p:nvSpPr>
        <p:spPr>
          <a:xfrm>
            <a:off x="952651" y="619591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분야 박스"/>
          <p:cNvSpPr>
            <a:spLocks noGrp="1"/>
          </p:cNvSpPr>
          <p:nvPr>
            <p:ph type="body" sz="quarter" idx="59"/>
          </p:nvPr>
        </p:nvSpPr>
        <p:spPr>
          <a:xfrm>
            <a:off x="952651" y="619591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87" name="형광 밑줄"/>
          <p:cNvSpPr/>
          <p:nvPr/>
        </p:nvSpPr>
        <p:spPr>
          <a:xfrm>
            <a:off x="1610856" y="6316435"/>
            <a:ext cx="37265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소제목"/>
          <p:cNvSpPr>
            <a:spLocks noGrp="1"/>
          </p:cNvSpPr>
          <p:nvPr>
            <p:ph type="body" sz="quarter" idx="60"/>
          </p:nvPr>
        </p:nvSpPr>
        <p:spPr>
          <a:xfrm>
            <a:off x="1610856" y="616304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89" name="태그칩"/>
          <p:cNvSpPr/>
          <p:nvPr/>
        </p:nvSpPr>
        <p:spPr>
          <a:xfrm>
            <a:off x="5435974" y="619591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칩"/>
          <p:cNvSpPr>
            <a:spLocks noGrp="1"/>
          </p:cNvSpPr>
          <p:nvPr>
            <p:ph type="body" sz="quarter" idx="61"/>
          </p:nvPr>
        </p:nvSpPr>
        <p:spPr>
          <a:xfrm>
            <a:off x="5435974" y="619591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1" name="표 외곽"/>
          <p:cNvSpPr/>
          <p:nvPr/>
        </p:nvSpPr>
        <p:spPr>
          <a:xfrm>
            <a:off x="723130" y="6447913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6464348"/>
            <a:ext cx="580696" cy="849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2"/>
          </p:nvPr>
        </p:nvSpPr>
        <p:spPr>
          <a:xfrm>
            <a:off x="734087" y="6464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94" name="머리칸"/>
          <p:cNvSpPr/>
          <p:nvPr/>
        </p:nvSpPr>
        <p:spPr>
          <a:xfrm>
            <a:off x="1347652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3"/>
          </p:nvPr>
        </p:nvSpPr>
        <p:spPr>
          <a:xfrm>
            <a:off x="1347652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96" name="머리칸"/>
          <p:cNvSpPr/>
          <p:nvPr/>
        </p:nvSpPr>
        <p:spPr>
          <a:xfrm>
            <a:off x="3230348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4"/>
          </p:nvPr>
        </p:nvSpPr>
        <p:spPr>
          <a:xfrm>
            <a:off x="3230348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98" name="머리칸"/>
          <p:cNvSpPr/>
          <p:nvPr/>
        </p:nvSpPr>
        <p:spPr>
          <a:xfrm>
            <a:off x="5113043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9" name="머리칸"/>
          <p:cNvSpPr>
            <a:spLocks noGrp="1"/>
          </p:cNvSpPr>
          <p:nvPr>
            <p:ph type="body" sz="quarter" idx="65"/>
          </p:nvPr>
        </p:nvSpPr>
        <p:spPr>
          <a:xfrm>
            <a:off x="5113043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6"/>
          </p:nvPr>
        </p:nvSpPr>
        <p:spPr>
          <a:xfrm>
            <a:off x="1358609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7"/>
          </p:nvPr>
        </p:nvSpPr>
        <p:spPr>
          <a:xfrm>
            <a:off x="3241304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cxnSp>
        <p:nvCxnSpPr>
          <p:cNvPr id="102" name="Connector 69"/>
          <p:cNvCxnSpPr/>
          <p:nvPr/>
        </p:nvCxnSpPr>
        <p:spPr>
          <a:xfrm>
            <a:off x="3230348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5124000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cxnSp>
        <p:nvCxnSpPr>
          <p:cNvPr id="104" name="Connector 71"/>
          <p:cNvCxnSpPr/>
          <p:nvPr/>
        </p:nvCxnSpPr>
        <p:spPr>
          <a:xfrm>
            <a:off x="5113043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레일"/>
          <p:cNvSpPr/>
          <p:nvPr/>
        </p:nvSpPr>
        <p:spPr>
          <a:xfrm>
            <a:off x="734087" y="7329913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6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7329913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107" name="레일 삼각형"/>
          <p:cNvSpPr/>
          <p:nvPr/>
        </p:nvSpPr>
        <p:spPr>
          <a:xfrm>
            <a:off x="734086" y="7329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머리칸"/>
          <p:cNvSpPr/>
          <p:nvPr/>
        </p:nvSpPr>
        <p:spPr>
          <a:xfrm>
            <a:off x="1347652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110" name="머리칸"/>
          <p:cNvSpPr/>
          <p:nvPr/>
        </p:nvSpPr>
        <p:spPr>
          <a:xfrm>
            <a:off x="4171696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71"/>
          </p:nvPr>
        </p:nvSpPr>
        <p:spPr>
          <a:xfrm>
            <a:off x="4171696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72"/>
          </p:nvPr>
        </p:nvSpPr>
        <p:spPr>
          <a:xfrm>
            <a:off x="1358609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113" name="칸 본문"/>
          <p:cNvSpPr>
            <a:spLocks noGrp="1"/>
          </p:cNvSpPr>
          <p:nvPr>
            <p:ph type="body" sz="quarter" idx="73"/>
          </p:nvPr>
        </p:nvSpPr>
        <p:spPr>
          <a:xfrm>
            <a:off x="4182652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cxnSp>
        <p:nvCxnSpPr>
          <p:cNvPr id="114" name="Connector 78"/>
          <p:cNvCxnSpPr/>
          <p:nvPr/>
        </p:nvCxnSpPr>
        <p:spPr>
          <a:xfrm>
            <a:off x="4171696" y="7625739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5" name="주요성과 박스"/>
          <p:cNvSpPr/>
          <p:nvPr/>
        </p:nvSpPr>
        <p:spPr>
          <a:xfrm>
            <a:off x="723130" y="8272174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주요성과 라벨"/>
          <p:cNvSpPr/>
          <p:nvPr/>
        </p:nvSpPr>
        <p:spPr>
          <a:xfrm>
            <a:off x="756000" y="8305043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7" name="주요성과 라벨"/>
          <p:cNvSpPr>
            <a:spLocks noGrp="1"/>
          </p:cNvSpPr>
          <p:nvPr>
            <p:ph type="body" sz="quarter" idx="74"/>
          </p:nvPr>
        </p:nvSpPr>
        <p:spPr>
          <a:xfrm>
            <a:off x="756000" y="8305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118" name="주요성과 문구"/>
          <p:cNvSpPr>
            <a:spLocks noGrp="1"/>
          </p:cNvSpPr>
          <p:nvPr>
            <p:ph type="body" sz="quarter" idx="75"/>
          </p:nvPr>
        </p:nvSpPr>
        <p:spPr>
          <a:xfrm>
            <a:off x="1501043" y="8288609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119" name="주요성과 박스"/>
          <p:cNvSpPr/>
          <p:nvPr/>
        </p:nvSpPr>
        <p:spPr>
          <a:xfrm>
            <a:off x="723130" y="8873217"/>
            <a:ext cx="6300000" cy="70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주요성과 라벨"/>
          <p:cNvSpPr/>
          <p:nvPr/>
        </p:nvSpPr>
        <p:spPr>
          <a:xfrm>
            <a:off x="756000" y="8906087"/>
            <a:ext cx="657391" cy="63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1" name="주요성과 라벨"/>
          <p:cNvSpPr>
            <a:spLocks noGrp="1"/>
          </p:cNvSpPr>
          <p:nvPr>
            <p:ph type="body" sz="quarter" idx="76"/>
          </p:nvPr>
        </p:nvSpPr>
        <p:spPr>
          <a:xfrm>
            <a:off x="756000" y="8906087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122" name="주요성과 문구"/>
          <p:cNvSpPr>
            <a:spLocks noGrp="1"/>
          </p:cNvSpPr>
          <p:nvPr>
            <p:ph type="body" sz="quarter" idx="77"/>
          </p:nvPr>
        </p:nvSpPr>
        <p:spPr>
          <a:xfrm>
            <a:off x="1501043" y="8889652"/>
            <a:ext cx="5456348" cy="67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1 서사 · 보유기술 민간이전(관리체계 → 수요발굴 → 기술이전 → 기술지도 → IP Bridge → 우수사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15591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22" name="단계"/>
          <p:cNvSpPr/>
          <p:nvPr/>
        </p:nvSpPr>
        <p:spPr>
          <a:xfrm>
            <a:off x="2573413" y="115591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15591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26" name="단계"/>
          <p:cNvSpPr/>
          <p:nvPr/>
        </p:nvSpPr>
        <p:spPr>
          <a:xfrm>
            <a:off x="5397457" y="115591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57341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985434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39745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2573413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985435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5408413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5397457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2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1" name="캡션"/>
          <p:cNvSpPr>
            <a:spLocks noGrp="1"/>
          </p:cNvSpPr>
          <p:nvPr>
            <p:ph type="body" sz="quarter" idx="33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42" name="표 외곽"/>
          <p:cNvSpPr/>
          <p:nvPr/>
        </p:nvSpPr>
        <p:spPr>
          <a:xfrm>
            <a:off x="536870" y="2437826"/>
            <a:ext cx="6300000" cy="452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레일"/>
          <p:cNvSpPr/>
          <p:nvPr/>
        </p:nvSpPr>
        <p:spPr>
          <a:xfrm>
            <a:off x="547826" y="2454261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5426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3985435" y="25090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538957"/>
            <a:ext cx="580696" cy="1194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538957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547826" y="353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161391" y="356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56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985435" y="3829304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4749652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474965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4804435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538522"/>
            <a:ext cx="580696" cy="1407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668144" y="57028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4"/>
          </p:nvPr>
        </p:nvSpPr>
        <p:spPr>
          <a:xfrm>
            <a:off x="668144" y="57028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5889130"/>
            <a:ext cx="580696" cy="1035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553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5582348"/>
            <a:ext cx="85351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82348"/>
            <a:ext cx="8535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7"/>
          </p:nvPr>
        </p:nvSpPr>
        <p:spPr>
          <a:xfrm>
            <a:off x="2058728" y="5571391"/>
            <a:ext cx="475075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69" name="단계"/>
          <p:cNvSpPr/>
          <p:nvPr/>
        </p:nvSpPr>
        <p:spPr>
          <a:xfrm>
            <a:off x="1161391" y="5796000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8"/>
          </p:nvPr>
        </p:nvSpPr>
        <p:spPr>
          <a:xfrm>
            <a:off x="116139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71" name="단계"/>
          <p:cNvSpPr/>
          <p:nvPr/>
        </p:nvSpPr>
        <p:spPr>
          <a:xfrm>
            <a:off x="2291009" y="5796000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2291009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73" name="단계"/>
          <p:cNvSpPr/>
          <p:nvPr/>
        </p:nvSpPr>
        <p:spPr>
          <a:xfrm>
            <a:off x="3420626" y="5796000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3420626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75" name="단계"/>
          <p:cNvSpPr/>
          <p:nvPr/>
        </p:nvSpPr>
        <p:spPr>
          <a:xfrm>
            <a:off x="4550243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4550243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77" name="단계"/>
          <p:cNvSpPr/>
          <p:nvPr/>
        </p:nvSpPr>
        <p:spPr>
          <a:xfrm>
            <a:off x="5679861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567986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79" name="단계 삼각형"/>
          <p:cNvSpPr/>
          <p:nvPr/>
        </p:nvSpPr>
        <p:spPr>
          <a:xfrm>
            <a:off x="2291008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3420626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550243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단계 삼각형"/>
          <p:cNvSpPr/>
          <p:nvPr/>
        </p:nvSpPr>
        <p:spPr>
          <a:xfrm>
            <a:off x="5679860" y="579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칸 본문"/>
          <p:cNvSpPr txBox="1"/>
          <p:nvPr/>
        </p:nvSpPr>
        <p:spPr>
          <a:xfrm>
            <a:off x="1172348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4" name="칸 본문"/>
          <p:cNvSpPr>
            <a:spLocks noGrp="1"/>
          </p:cNvSpPr>
          <p:nvPr>
            <p:ph type="body" sz="quarter" idx="53"/>
          </p:nvPr>
        </p:nvSpPr>
        <p:spPr>
          <a:xfrm>
            <a:off x="2301965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2291009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 txBox="1"/>
          <p:nvPr/>
        </p:nvSpPr>
        <p:spPr>
          <a:xfrm>
            <a:off x="3431583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7" name="Connector 65"/>
          <p:cNvCxnSpPr/>
          <p:nvPr/>
        </p:nvCxnSpPr>
        <p:spPr>
          <a:xfrm>
            <a:off x="3420626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8" name="칸 본문"/>
          <p:cNvSpPr txBox="1"/>
          <p:nvPr/>
        </p:nvSpPr>
        <p:spPr>
          <a:xfrm>
            <a:off x="4561200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9" name="Connector 67"/>
          <p:cNvCxnSpPr/>
          <p:nvPr/>
        </p:nvCxnSpPr>
        <p:spPr>
          <a:xfrm>
            <a:off x="4550243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4"/>
          </p:nvPr>
        </p:nvSpPr>
        <p:spPr>
          <a:xfrm>
            <a:off x="5690817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679861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배너"/>
          <p:cNvSpPr/>
          <p:nvPr/>
        </p:nvSpPr>
        <p:spPr>
          <a:xfrm>
            <a:off x="1161391" y="6721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3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6721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94" name="표 외곽"/>
          <p:cNvSpPr/>
          <p:nvPr/>
        </p:nvSpPr>
        <p:spPr>
          <a:xfrm>
            <a:off x="536870" y="7006696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"/>
          <p:cNvSpPr/>
          <p:nvPr/>
        </p:nvSpPr>
        <p:spPr>
          <a:xfrm>
            <a:off x="547826" y="702313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702313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cxnSp>
        <p:nvCxnSpPr>
          <p:cNvPr id="99" name="Connector 75"/>
          <p:cNvCxnSpPr/>
          <p:nvPr/>
        </p:nvCxnSpPr>
        <p:spPr>
          <a:xfrm>
            <a:off x="3044087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cxnSp>
        <p:nvCxnSpPr>
          <p:cNvPr id="101" name="Connector 77"/>
          <p:cNvCxnSpPr/>
          <p:nvPr/>
        </p:nvCxnSpPr>
        <p:spPr>
          <a:xfrm>
            <a:off x="4926783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핵심성과 박스"/>
          <p:cNvSpPr/>
          <p:nvPr/>
        </p:nvSpPr>
        <p:spPr>
          <a:xfrm>
            <a:off x="536870" y="80859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569739" y="81187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4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81187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5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81078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2 서사 · 2024년 지적사항 조치실적(지적사항 | 조치 및 개선실적 |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28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142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142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42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163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898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898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2919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961391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5382000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3654000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654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2972348" y="3675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2961391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392957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5382000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3 서사 · 맞춤형 성장 지원과 상생 성공모델 확산(’24년까지 실적 → ’25년 추진실적 →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93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602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4 서사 · 전년도 성과 환류 → 패러다임 전환 → Pain Point · S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12" name="단계"/>
          <p:cNvSpPr/>
          <p:nvPr/>
        </p:nvSpPr>
        <p:spPr>
          <a:xfrm>
            <a:off x="1347652" y="81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" name="단계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14" name="단계"/>
          <p:cNvSpPr/>
          <p:nvPr/>
        </p:nvSpPr>
        <p:spPr>
          <a:xfrm>
            <a:off x="4171696" y="81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16" name="단계 삼각형"/>
          <p:cNvSpPr/>
          <p:nvPr/>
        </p:nvSpPr>
        <p:spPr>
          <a:xfrm>
            <a:off x="4171695" y="81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4171696" y="110113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824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868087"/>
            <a:ext cx="48538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868087"/>
            <a:ext cx="48538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91991" y="1824261"/>
            <a:ext cx="521200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31043"/>
            <a:ext cx="6300000" cy="1435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47478"/>
            <a:ext cx="580696" cy="739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147478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27" name="머리칸"/>
          <p:cNvSpPr/>
          <p:nvPr/>
        </p:nvSpPr>
        <p:spPr>
          <a:xfrm>
            <a:off x="1347652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29" name="머리칸"/>
          <p:cNvSpPr/>
          <p:nvPr/>
        </p:nvSpPr>
        <p:spPr>
          <a:xfrm>
            <a:off x="2759674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2759674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31" name="머리칸"/>
          <p:cNvSpPr/>
          <p:nvPr/>
        </p:nvSpPr>
        <p:spPr>
          <a:xfrm>
            <a:off x="4171696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33" name="머리칸"/>
          <p:cNvSpPr/>
          <p:nvPr/>
        </p:nvSpPr>
        <p:spPr>
          <a:xfrm>
            <a:off x="5583717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583717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770630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cxnSp>
        <p:nvCxnSpPr>
          <p:cNvPr id="37" name="Connector 22"/>
          <p:cNvCxnSpPr/>
          <p:nvPr/>
        </p:nvCxnSpPr>
        <p:spPr>
          <a:xfrm>
            <a:off x="2759674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cxnSp>
        <p:nvCxnSpPr>
          <p:cNvPr id="39" name="Connector 24"/>
          <p:cNvCxnSpPr/>
          <p:nvPr/>
        </p:nvCxnSpPr>
        <p:spPr>
          <a:xfrm>
            <a:off x="4171696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594674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5583717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903478"/>
            <a:ext cx="580696" cy="646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03478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903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cxnSp>
        <p:nvCxnSpPr>
          <p:cNvPr id="47" name="Connector 31"/>
          <p:cNvCxnSpPr/>
          <p:nvPr/>
        </p:nvCxnSpPr>
        <p:spPr>
          <a:xfrm>
            <a:off x="2759674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5583717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태그"/>
          <p:cNvSpPr/>
          <p:nvPr/>
        </p:nvSpPr>
        <p:spPr>
          <a:xfrm>
            <a:off x="1347652" y="334721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태그"/>
          <p:cNvSpPr>
            <a:spLocks noGrp="1"/>
          </p:cNvSpPr>
          <p:nvPr>
            <p:ph type="body" sz="quarter" idx="41"/>
          </p:nvPr>
        </p:nvSpPr>
        <p:spPr>
          <a:xfrm>
            <a:off x="1347652" y="334721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4" name="태그 설명"/>
          <p:cNvSpPr>
            <a:spLocks noGrp="1"/>
          </p:cNvSpPr>
          <p:nvPr>
            <p:ph type="body" sz="quarter" idx="42"/>
          </p:nvPr>
        </p:nvSpPr>
        <p:spPr>
          <a:xfrm>
            <a:off x="1753450" y="333626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5 서사 · ESG 맞춤형 지원체계 개편(추진배경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8018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7" name="태그칩"/>
          <p:cNvSpPr/>
          <p:nvPr/>
        </p:nvSpPr>
        <p:spPr>
          <a:xfrm>
            <a:off x="451566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1566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066785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066785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2357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9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09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51045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51045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510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9238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9567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9567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9457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6 서사 · 컴퍼니빌더(추진현황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583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8008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8008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7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태그"/>
          <p:cNvSpPr/>
          <p:nvPr/>
        </p:nvSpPr>
        <p:spPr>
          <a:xfrm>
            <a:off x="1347652" y="155582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1347652" y="155582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6"/>
          </p:nvPr>
        </p:nvSpPr>
        <p:spPr>
          <a:xfrm>
            <a:off x="1972988" y="154487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22" name="캡션 띠"/>
          <p:cNvSpPr/>
          <p:nvPr/>
        </p:nvSpPr>
        <p:spPr>
          <a:xfrm>
            <a:off x="723130" y="1796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캡션"/>
          <p:cNvSpPr>
            <a:spLocks noGrp="1"/>
          </p:cNvSpPr>
          <p:nvPr>
            <p:ph type="body" sz="quarter" idx="27"/>
          </p:nvPr>
        </p:nvSpPr>
        <p:spPr>
          <a:xfrm>
            <a:off x="942261" y="17968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03652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20087"/>
            <a:ext cx="580696" cy="48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0087"/>
            <a:ext cx="580696" cy="48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7" name="배너"/>
          <p:cNvSpPr/>
          <p:nvPr/>
        </p:nvSpPr>
        <p:spPr>
          <a:xfrm>
            <a:off x="1347652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2399478"/>
            <a:ext cx="75962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2399478"/>
            <a:ext cx="75962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2151098" y="2388522"/>
            <a:ext cx="484464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618609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18609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18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347652" y="2640522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640522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37" name="단계"/>
          <p:cNvSpPr/>
          <p:nvPr/>
        </p:nvSpPr>
        <p:spPr>
          <a:xfrm>
            <a:off x="3112679" y="2640522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3112679" y="2640522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39" name="단계 삼각형"/>
          <p:cNvSpPr/>
          <p:nvPr/>
        </p:nvSpPr>
        <p:spPr>
          <a:xfrm>
            <a:off x="3112679" y="2640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2522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123636" y="2892522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112679" y="2925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배너"/>
          <p:cNvSpPr/>
          <p:nvPr/>
        </p:nvSpPr>
        <p:spPr>
          <a:xfrm>
            <a:off x="1347652" y="3785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785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41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470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47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7 서사 · 공정거래 · 상생협력 계약제도 혁신(추진배경 → 4개 혁신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13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12" name="태그칩"/>
          <p:cNvSpPr/>
          <p:nvPr/>
        </p:nvSpPr>
        <p:spPr>
          <a:xfrm>
            <a:off x="453687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687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99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799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21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38000"/>
            <a:ext cx="580696" cy="260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38000"/>
            <a:ext cx="580696" cy="260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338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머리칸"/>
          <p:cNvSpPr/>
          <p:nvPr/>
        </p:nvSpPr>
        <p:spPr>
          <a:xfrm>
            <a:off x="1161391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34" name="머리칸"/>
          <p:cNvSpPr/>
          <p:nvPr/>
        </p:nvSpPr>
        <p:spPr>
          <a:xfrm>
            <a:off x="3985435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3985435" y="3232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434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436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8 서사 · 댐잇 프로젝트 진화(추진배경 → 목표 → 연천·포천 / 부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2513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6" name="태그칩"/>
          <p:cNvSpPr/>
          <p:nvPr/>
        </p:nvSpPr>
        <p:spPr>
          <a:xfrm>
            <a:off x="434687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4687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897991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897991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태그칩"/>
          <p:cNvSpPr/>
          <p:nvPr/>
        </p:nvSpPr>
        <p:spPr>
          <a:xfrm>
            <a:off x="5668650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68650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3025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3940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39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39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347652" y="241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241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33" name="레일"/>
          <p:cNvSpPr/>
          <p:nvPr/>
        </p:nvSpPr>
        <p:spPr>
          <a:xfrm>
            <a:off x="734087" y="2795322"/>
            <a:ext cx="580696" cy="170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95322"/>
            <a:ext cx="580696" cy="170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795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8172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38" name="단계"/>
          <p:cNvSpPr/>
          <p:nvPr/>
        </p:nvSpPr>
        <p:spPr>
          <a:xfrm>
            <a:off x="4171696" y="28172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4171696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4171695" y="2817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3102104"/>
            <a:ext cx="0" cy="1358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주요성과 박스"/>
          <p:cNvSpPr/>
          <p:nvPr/>
        </p:nvSpPr>
        <p:spPr>
          <a:xfrm>
            <a:off x="723130" y="4592191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주요성과 라벨"/>
          <p:cNvSpPr/>
          <p:nvPr/>
        </p:nvSpPr>
        <p:spPr>
          <a:xfrm>
            <a:off x="756000" y="462506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주요성과 라벨"/>
          <p:cNvSpPr>
            <a:spLocks noGrp="1"/>
          </p:cNvSpPr>
          <p:nvPr>
            <p:ph type="body" sz="quarter" idx="36"/>
          </p:nvPr>
        </p:nvSpPr>
        <p:spPr>
          <a:xfrm>
            <a:off x="756000" y="462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주요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4608626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9 서사 · 청년기업 성장 절벽 해소(Pain Point → K-water Solution 3영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95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12" name="태그칩"/>
          <p:cNvSpPr/>
          <p:nvPr/>
        </p:nvSpPr>
        <p:spPr>
          <a:xfrm>
            <a:off x="473505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505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3116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49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49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49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470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70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/>
          <p:nvPr/>
        </p:nvSpPr>
        <p:spPr>
          <a:xfrm>
            <a:off x="2822593" y="1470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822593" y="1470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822593" y="147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722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2833550" y="1722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822593" y="1755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457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457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2478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2478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5" name="단계"/>
          <p:cNvSpPr/>
          <p:nvPr/>
        </p:nvSpPr>
        <p:spPr>
          <a:xfrm>
            <a:off x="2822593" y="2478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2822593" y="2478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822593" y="2478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730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833550" y="2730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822593" y="2763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65078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6507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65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3486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486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46" name="단계"/>
          <p:cNvSpPr/>
          <p:nvPr/>
        </p:nvSpPr>
        <p:spPr>
          <a:xfrm>
            <a:off x="2822593" y="3486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822593" y="3486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822593" y="3486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38991"/>
            <a:ext cx="1639289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833550" y="3738991"/>
            <a:ext cx="3964972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2822593" y="3771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4511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44676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0 서사 · 상생가치 재정립(사회공헌 Overview → 사회변화 대응 → 브랜드 rootit 런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6367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810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81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23" name="머리칸"/>
          <p:cNvSpPr/>
          <p:nvPr/>
        </p:nvSpPr>
        <p:spPr>
          <a:xfrm>
            <a:off x="2477270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2477270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25" name="머리칸"/>
          <p:cNvSpPr/>
          <p:nvPr/>
        </p:nvSpPr>
        <p:spPr>
          <a:xfrm>
            <a:off x="3606887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606887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27" name="머리칸"/>
          <p:cNvSpPr/>
          <p:nvPr/>
        </p:nvSpPr>
        <p:spPr>
          <a:xfrm>
            <a:off x="4736504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736504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86612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86612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488226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cxnSp>
        <p:nvCxnSpPr>
          <p:cNvPr id="33" name="Connector 19"/>
          <p:cNvCxnSpPr/>
          <p:nvPr/>
        </p:nvCxnSpPr>
        <p:spPr>
          <a:xfrm>
            <a:off x="2477270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617843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cxnSp>
        <p:nvCxnSpPr>
          <p:cNvPr id="35" name="Connector 21"/>
          <p:cNvCxnSpPr/>
          <p:nvPr/>
        </p:nvCxnSpPr>
        <p:spPr>
          <a:xfrm>
            <a:off x="3606887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36504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877078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866122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173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173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42" name="레일"/>
          <p:cNvSpPr/>
          <p:nvPr/>
        </p:nvSpPr>
        <p:spPr>
          <a:xfrm>
            <a:off x="734087" y="1972174"/>
            <a:ext cx="580696" cy="7766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1972174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1972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347652" y="19940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47" name="단계"/>
          <p:cNvSpPr/>
          <p:nvPr/>
        </p:nvSpPr>
        <p:spPr>
          <a:xfrm>
            <a:off x="4171696" y="19940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8"/>
          </p:nvPr>
        </p:nvSpPr>
        <p:spPr>
          <a:xfrm>
            <a:off x="4171696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49" name="단계 삼각형"/>
          <p:cNvSpPr/>
          <p:nvPr/>
        </p:nvSpPr>
        <p:spPr>
          <a:xfrm>
            <a:off x="4171695" y="1994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cxnSp>
        <p:nvCxnSpPr>
          <p:cNvPr id="52" name="Connector 34"/>
          <p:cNvCxnSpPr/>
          <p:nvPr/>
        </p:nvCxnSpPr>
        <p:spPr>
          <a:xfrm>
            <a:off x="4171696" y="22789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캡션 띠"/>
          <p:cNvSpPr/>
          <p:nvPr/>
        </p:nvSpPr>
        <p:spPr>
          <a:xfrm>
            <a:off x="723130" y="27871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캡션"/>
          <p:cNvSpPr>
            <a:spLocks noGrp="1"/>
          </p:cNvSpPr>
          <p:nvPr>
            <p:ph type="body" sz="quarter" idx="41"/>
          </p:nvPr>
        </p:nvSpPr>
        <p:spPr>
          <a:xfrm>
            <a:off x="942261" y="2787183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093965"/>
            <a:ext cx="6300000" cy="14559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1104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31104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4182652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4171696" y="3165183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734087" y="338024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3802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734086" y="3380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347652" y="34021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4021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3659635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7"/>
          </p:nvPr>
        </p:nvSpPr>
        <p:spPr>
          <a:xfrm>
            <a:off x="1347652" y="3659635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8"/>
          </p:nvPr>
        </p:nvSpPr>
        <p:spPr>
          <a:xfrm>
            <a:off x="1753450" y="3648678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936365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39363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9363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0"/>
          </p:nvPr>
        </p:nvSpPr>
        <p:spPr>
          <a:xfrm>
            <a:off x="1347652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1"/>
          </p:nvPr>
        </p:nvSpPr>
        <p:spPr>
          <a:xfrm>
            <a:off x="3230348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2"/>
          </p:nvPr>
        </p:nvSpPr>
        <p:spPr>
          <a:xfrm>
            <a:off x="5113043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cxnSp>
        <p:nvCxnSpPr>
          <p:cNvPr id="80" name="Connector 54"/>
          <p:cNvCxnSpPr/>
          <p:nvPr/>
        </p:nvCxnSpPr>
        <p:spPr>
          <a:xfrm>
            <a:off x="3230348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5113043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1 서사 · 터전(인구소멸지역 빈집 재생: 추진배경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231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57130"/>
            <a:ext cx="580696" cy="155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5713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57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1879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879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30" name="단계"/>
          <p:cNvSpPr/>
          <p:nvPr/>
        </p:nvSpPr>
        <p:spPr>
          <a:xfrm>
            <a:off x="1161391" y="2114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32" name="단계"/>
          <p:cNvSpPr/>
          <p:nvPr/>
        </p:nvSpPr>
        <p:spPr>
          <a:xfrm>
            <a:off x="3044087" y="2114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34" name="단계"/>
          <p:cNvSpPr/>
          <p:nvPr/>
        </p:nvSpPr>
        <p:spPr>
          <a:xfrm>
            <a:off x="4926783" y="2114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044086" y="2114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4926782" y="2114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517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533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2 서사 · 이음 장날(추진배경 → 판로 확대 3단 → 역량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25774"/>
            <a:ext cx="580696" cy="111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25774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25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47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547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7832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7832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7832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783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7832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659774"/>
            <a:ext cx="580696" cy="104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659774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659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681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2681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47" name="단계"/>
          <p:cNvSpPr/>
          <p:nvPr/>
        </p:nvSpPr>
        <p:spPr>
          <a:xfrm>
            <a:off x="1347652" y="2917252"/>
            <a:ext cx="1486339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17252"/>
            <a:ext cx="14863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49" name="단계"/>
          <p:cNvSpPr/>
          <p:nvPr/>
        </p:nvSpPr>
        <p:spPr>
          <a:xfrm>
            <a:off x="2833991" y="2917252"/>
            <a:ext cx="20808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2833991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51" name="단계"/>
          <p:cNvSpPr/>
          <p:nvPr/>
        </p:nvSpPr>
        <p:spPr>
          <a:xfrm>
            <a:off x="4914865" y="2917252"/>
            <a:ext cx="20808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4914865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833990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4914864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358609" y="3169252"/>
            <a:ext cx="1464426" cy="52591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2844947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cxnSp>
        <p:nvCxnSpPr>
          <p:cNvPr id="57" name="Connector 38"/>
          <p:cNvCxnSpPr/>
          <p:nvPr/>
        </p:nvCxnSpPr>
        <p:spPr>
          <a:xfrm>
            <a:off x="2833991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1"/>
          </p:nvPr>
        </p:nvSpPr>
        <p:spPr>
          <a:xfrm>
            <a:off x="4925822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4914865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38047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8211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3 서사 · 생활인구 확대(사천시 외국 우수인재 정착: 추진배경 → 정착 지원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7" name="태그칩"/>
          <p:cNvSpPr/>
          <p:nvPr/>
        </p:nvSpPr>
        <p:spPr>
          <a:xfrm>
            <a:off x="456820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6820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5119326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119326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443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87638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8763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763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8982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8982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010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314783" y="3026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4 서사 · 배달강좌제 멘토-멘티 지원(추진배경 → 멘토·멘티 3갈래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982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21995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21995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12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64087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64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9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22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24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723130" y="226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27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5 서사 · 안전체험교육관 개방 확대(국민 개방 → 체감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968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7" name="태그칩"/>
          <p:cNvSpPr/>
          <p:nvPr/>
        </p:nvSpPr>
        <p:spPr>
          <a:xfrm>
            <a:off x="483231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83231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3440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383440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528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054348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054348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0543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161391" y="207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32" name="단계"/>
          <p:cNvSpPr/>
          <p:nvPr/>
        </p:nvSpPr>
        <p:spPr>
          <a:xfrm>
            <a:off x="3985435" y="207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985434" y="207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3985435" y="2361130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536870" y="3095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3111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6 서사 · 수변공간 여가와 만남의 장(강변 자전거길 · 아라뱃길 터미널 · 남강댐 물문화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4402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11" name="태그칩"/>
          <p:cNvSpPr/>
          <p:nvPr/>
        </p:nvSpPr>
        <p:spPr>
          <a:xfrm>
            <a:off x="466575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6575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21688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21688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46911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6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634868" y="1123043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3"/>
          </p:nvPr>
        </p:nvSpPr>
        <p:spPr>
          <a:xfrm>
            <a:off x="634868" y="1123043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4"/>
          </p:nvPr>
        </p:nvSpPr>
        <p:spPr>
          <a:xfrm>
            <a:off x="734087" y="1309304"/>
            <a:ext cx="580696" cy="13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20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cxnSp>
        <p:nvCxnSpPr>
          <p:cNvPr id="24" name="Connector 14"/>
          <p:cNvCxnSpPr/>
          <p:nvPr/>
        </p:nvCxnSpPr>
        <p:spPr>
          <a:xfrm>
            <a:off x="4171696" y="136956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단계"/>
          <p:cNvSpPr/>
          <p:nvPr/>
        </p:nvSpPr>
        <p:spPr>
          <a:xfrm>
            <a:off x="1347652" y="1690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27" name="단계"/>
          <p:cNvSpPr/>
          <p:nvPr/>
        </p:nvSpPr>
        <p:spPr>
          <a:xfrm>
            <a:off x="3230348" y="1690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3230348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29" name="단계"/>
          <p:cNvSpPr/>
          <p:nvPr/>
        </p:nvSpPr>
        <p:spPr>
          <a:xfrm>
            <a:off x="5113043" y="1690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5113043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230347" y="1690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113043" y="1690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3230348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5113043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347652" y="2461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2461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40" name="레일"/>
          <p:cNvSpPr/>
          <p:nvPr/>
        </p:nvSpPr>
        <p:spPr>
          <a:xfrm>
            <a:off x="734087" y="2702348"/>
            <a:ext cx="580696" cy="1509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34868" y="2866696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34868" y="2866696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3052957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702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72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272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9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머리칸"/>
          <p:cNvSpPr/>
          <p:nvPr/>
        </p:nvSpPr>
        <p:spPr>
          <a:xfrm>
            <a:off x="1347652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52" name="머리칸"/>
          <p:cNvSpPr/>
          <p:nvPr/>
        </p:nvSpPr>
        <p:spPr>
          <a:xfrm>
            <a:off x="3230348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54" name="머리칸"/>
          <p:cNvSpPr/>
          <p:nvPr/>
        </p:nvSpPr>
        <p:spPr>
          <a:xfrm>
            <a:off x="5113043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cxnSp>
        <p:nvCxnSpPr>
          <p:cNvPr id="58" name="Connector 39"/>
          <p:cNvCxnSpPr/>
          <p:nvPr/>
        </p:nvCxnSpPr>
        <p:spPr>
          <a:xfrm>
            <a:off x="3230348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5113043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배너"/>
          <p:cNvSpPr/>
          <p:nvPr/>
        </p:nvSpPr>
        <p:spPr>
          <a:xfrm>
            <a:off x="1347652" y="3987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987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63" name="레일"/>
          <p:cNvSpPr/>
          <p:nvPr/>
        </p:nvSpPr>
        <p:spPr>
          <a:xfrm>
            <a:off x="734087" y="4228122"/>
            <a:ext cx="580696" cy="15093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레일 태그"/>
          <p:cNvSpPr/>
          <p:nvPr/>
        </p:nvSpPr>
        <p:spPr>
          <a:xfrm>
            <a:off x="525099" y="4392470"/>
            <a:ext cx="99867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레일 태그"/>
          <p:cNvSpPr>
            <a:spLocks noGrp="1"/>
          </p:cNvSpPr>
          <p:nvPr>
            <p:ph type="body" sz="quarter" idx="47"/>
          </p:nvPr>
        </p:nvSpPr>
        <p:spPr>
          <a:xfrm>
            <a:off x="525099" y="4392470"/>
            <a:ext cx="99867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66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578730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42281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배너"/>
          <p:cNvSpPr/>
          <p:nvPr/>
        </p:nvSpPr>
        <p:spPr>
          <a:xfrm>
            <a:off x="1347652" y="42500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9" name="배너"/>
          <p:cNvSpPr>
            <a:spLocks noGrp="1"/>
          </p:cNvSpPr>
          <p:nvPr>
            <p:ph type="body" sz="quarter" idx="49"/>
          </p:nvPr>
        </p:nvSpPr>
        <p:spPr>
          <a:xfrm>
            <a:off x="1347652" y="42500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4182652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cxnSp>
        <p:nvCxnSpPr>
          <p:cNvPr id="72" name="Connector 50"/>
          <p:cNvCxnSpPr/>
          <p:nvPr/>
        </p:nvCxnSpPr>
        <p:spPr>
          <a:xfrm>
            <a:off x="4171696" y="4518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머리칸"/>
          <p:cNvSpPr/>
          <p:nvPr/>
        </p:nvSpPr>
        <p:spPr>
          <a:xfrm>
            <a:off x="1347652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cxnSp>
        <p:nvCxnSpPr>
          <p:cNvPr id="81" name="Connector 56"/>
          <p:cNvCxnSpPr/>
          <p:nvPr/>
        </p:nvCxnSpPr>
        <p:spPr>
          <a:xfrm>
            <a:off x="3230348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cxnSp>
        <p:nvCxnSpPr>
          <p:cNvPr id="83" name="Connector 58"/>
          <p:cNvCxnSpPr/>
          <p:nvPr/>
        </p:nvCxnSpPr>
        <p:spPr>
          <a:xfrm>
            <a:off x="5113043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배너"/>
          <p:cNvSpPr/>
          <p:nvPr/>
        </p:nvSpPr>
        <p:spPr>
          <a:xfrm>
            <a:off x="1347652" y="55128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5" name="배너"/>
          <p:cNvSpPr>
            <a:spLocks noGrp="1"/>
          </p:cNvSpPr>
          <p:nvPr>
            <p:ph type="body" sz="quarter" idx="58"/>
          </p:nvPr>
        </p:nvSpPr>
        <p:spPr>
          <a:xfrm>
            <a:off x="1347652" y="55128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7 서사 · K-water 재무현황 및 재무관리체계(재무현황 · 환경 · 재무관리 · 위험관리 · 사업관리 · 혁신 추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배너"/>
          <p:cNvSpPr/>
          <p:nvPr/>
        </p:nvSpPr>
        <p:spPr>
          <a:xfrm>
            <a:off x="536870" y="766957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1" name="Connector 7"/>
          <p:cNvCxnSpPr/>
          <p:nvPr/>
        </p:nvCxnSpPr>
        <p:spPr>
          <a:xfrm>
            <a:off x="536870" y="766957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2" name="배너 글"/>
          <p:cNvSpPr>
            <a:spLocks noGrp="1"/>
          </p:cNvSpPr>
          <p:nvPr>
            <p:ph type="body" sz="quarter" idx="20"/>
          </p:nvPr>
        </p:nvSpPr>
        <p:spPr>
          <a:xfrm>
            <a:off x="536870" y="821739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3" name="표 외곽"/>
          <p:cNvSpPr/>
          <p:nvPr/>
        </p:nvSpPr>
        <p:spPr>
          <a:xfrm>
            <a:off x="536870" y="1139478"/>
            <a:ext cx="6300000" cy="8830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547826" y="1155913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155913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3055043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cxnSp>
        <p:nvCxnSpPr>
          <p:cNvPr id="18" name="Connector 13"/>
          <p:cNvCxnSpPr/>
          <p:nvPr/>
        </p:nvCxnSpPr>
        <p:spPr>
          <a:xfrm>
            <a:off x="3044087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4937739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cxnSp>
        <p:nvCxnSpPr>
          <p:cNvPr id="20" name="Connector 15"/>
          <p:cNvCxnSpPr/>
          <p:nvPr/>
        </p:nvCxnSpPr>
        <p:spPr>
          <a:xfrm>
            <a:off x="4926783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47826" y="2350174"/>
            <a:ext cx="580696" cy="882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2350174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235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584370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2573413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3985435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408413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cxnSp>
        <p:nvCxnSpPr>
          <p:cNvPr id="30" name="Connector 24"/>
          <p:cNvCxnSpPr/>
          <p:nvPr/>
        </p:nvCxnSpPr>
        <p:spPr>
          <a:xfrm>
            <a:off x="5397457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3248609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248609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3" name="배너"/>
          <p:cNvSpPr/>
          <p:nvPr/>
        </p:nvSpPr>
        <p:spPr>
          <a:xfrm>
            <a:off x="1161391" y="3270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4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3270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506087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937375" y="3506087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cxnSp>
        <p:nvCxnSpPr>
          <p:cNvPr id="37" name="Connector 29"/>
          <p:cNvCxnSpPr/>
          <p:nvPr/>
        </p:nvCxnSpPr>
        <p:spPr>
          <a:xfrm>
            <a:off x="2926418" y="35389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4568870"/>
            <a:ext cx="580696" cy="225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4568870"/>
            <a:ext cx="580696" cy="225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0" name="배너"/>
          <p:cNvSpPr/>
          <p:nvPr/>
        </p:nvSpPr>
        <p:spPr>
          <a:xfrm>
            <a:off x="1161391" y="4590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4590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4826348"/>
            <a:ext cx="110770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2301965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2291009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561200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4550243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단계"/>
          <p:cNvSpPr/>
          <p:nvPr/>
        </p:nvSpPr>
        <p:spPr>
          <a:xfrm>
            <a:off x="1161391" y="5883652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49" name="단계"/>
          <p:cNvSpPr/>
          <p:nvPr/>
        </p:nvSpPr>
        <p:spPr>
          <a:xfrm>
            <a:off x="2291009" y="5883652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40"/>
          </p:nvPr>
        </p:nvSpPr>
        <p:spPr>
          <a:xfrm>
            <a:off x="2291009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51" name="단계"/>
          <p:cNvSpPr/>
          <p:nvPr/>
        </p:nvSpPr>
        <p:spPr>
          <a:xfrm>
            <a:off x="3420626" y="5883652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1"/>
          </p:nvPr>
        </p:nvSpPr>
        <p:spPr>
          <a:xfrm>
            <a:off x="3420626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53" name="단계"/>
          <p:cNvSpPr/>
          <p:nvPr/>
        </p:nvSpPr>
        <p:spPr>
          <a:xfrm>
            <a:off x="4550243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2"/>
          </p:nvPr>
        </p:nvSpPr>
        <p:spPr>
          <a:xfrm>
            <a:off x="4550243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55" name="단계"/>
          <p:cNvSpPr/>
          <p:nvPr/>
        </p:nvSpPr>
        <p:spPr>
          <a:xfrm>
            <a:off x="5679861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3"/>
          </p:nvPr>
        </p:nvSpPr>
        <p:spPr>
          <a:xfrm>
            <a:off x="567986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291008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420626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550243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679860" y="5883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2301965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3431583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4561200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5690817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36870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3687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72" name="배너"/>
          <p:cNvSpPr/>
          <p:nvPr/>
        </p:nvSpPr>
        <p:spPr>
          <a:xfrm>
            <a:off x="1161391" y="6858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배너"/>
          <p:cNvSpPr>
            <a:spLocks noGrp="1"/>
          </p:cNvSpPr>
          <p:nvPr>
            <p:ph type="body" sz="quarter" idx="50"/>
          </p:nvPr>
        </p:nvSpPr>
        <p:spPr>
          <a:xfrm>
            <a:off x="1161391" y="6858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7094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7094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2"/>
          </p:nvPr>
        </p:nvSpPr>
        <p:spPr>
          <a:xfrm>
            <a:off x="3044087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7094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53"/>
          </p:nvPr>
        </p:nvSpPr>
        <p:spPr>
          <a:xfrm>
            <a:off x="4926783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7094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7094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3055043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3044087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4937739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cxnSp>
        <p:nvCxnSpPr>
          <p:cNvPr id="86" name="Connector 66"/>
          <p:cNvCxnSpPr/>
          <p:nvPr/>
        </p:nvCxnSpPr>
        <p:spPr>
          <a:xfrm>
            <a:off x="4926783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8409130"/>
            <a:ext cx="580696" cy="1544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7"/>
          </p:nvPr>
        </p:nvSpPr>
        <p:spPr>
          <a:xfrm>
            <a:off x="547826" y="8409130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89" name="레일 삼각형"/>
          <p:cNvSpPr/>
          <p:nvPr/>
        </p:nvSpPr>
        <p:spPr>
          <a:xfrm>
            <a:off x="547826" y="84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배너"/>
          <p:cNvSpPr/>
          <p:nvPr/>
        </p:nvSpPr>
        <p:spPr>
          <a:xfrm>
            <a:off x="1161391" y="84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1" name="배너"/>
          <p:cNvSpPr>
            <a:spLocks noGrp="1"/>
          </p:cNvSpPr>
          <p:nvPr>
            <p:ph type="body" sz="quarter" idx="58"/>
          </p:nvPr>
        </p:nvSpPr>
        <p:spPr>
          <a:xfrm>
            <a:off x="1161391" y="84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92" name="머리칸"/>
          <p:cNvSpPr/>
          <p:nvPr/>
        </p:nvSpPr>
        <p:spPr>
          <a:xfrm>
            <a:off x="1161391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161391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044087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4926783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172348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055043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4937739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8 서사 · 기관 고유 미래위험 예측(환경분석 → 재무진단 → 시사점 → 위험관리체계 → 3단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6" name="태그칩"/>
          <p:cNvSpPr/>
          <p:nvPr/>
        </p:nvSpPr>
        <p:spPr>
          <a:xfrm>
            <a:off x="4587618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87618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13873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13873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25652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514522"/>
            <a:ext cx="580696" cy="1123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514522"/>
            <a:ext cx="580696" cy="1123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514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230348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5113043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654000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5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347652" y="367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367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45" name="캡션 띠"/>
          <p:cNvSpPr/>
          <p:nvPr/>
        </p:nvSpPr>
        <p:spPr>
          <a:xfrm>
            <a:off x="723130" y="40772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태그"/>
          <p:cNvSpPr/>
          <p:nvPr/>
        </p:nvSpPr>
        <p:spPr>
          <a:xfrm>
            <a:off x="1051826" y="4121061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태그"/>
          <p:cNvSpPr>
            <a:spLocks noGrp="1"/>
          </p:cNvSpPr>
          <p:nvPr>
            <p:ph type="body" sz="quarter" idx="37"/>
          </p:nvPr>
        </p:nvSpPr>
        <p:spPr>
          <a:xfrm>
            <a:off x="1051826" y="4121061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38"/>
          </p:nvPr>
        </p:nvSpPr>
        <p:spPr>
          <a:xfrm>
            <a:off x="1904057" y="4077235"/>
            <a:ext cx="4899943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49" name="표 외곽"/>
          <p:cNvSpPr/>
          <p:nvPr/>
        </p:nvSpPr>
        <p:spPr>
          <a:xfrm>
            <a:off x="723130" y="4384017"/>
            <a:ext cx="6300000" cy="515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"/>
          <p:cNvSpPr/>
          <p:nvPr/>
        </p:nvSpPr>
        <p:spPr>
          <a:xfrm>
            <a:off x="734087" y="4400452"/>
            <a:ext cx="580696" cy="1134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00452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52" name="단계"/>
          <p:cNvSpPr/>
          <p:nvPr/>
        </p:nvSpPr>
        <p:spPr>
          <a:xfrm>
            <a:off x="1347652" y="44223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44223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44223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44223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44223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734087" y="5550887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550887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55508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"/>
          <p:cNvSpPr/>
          <p:nvPr/>
        </p:nvSpPr>
        <p:spPr>
          <a:xfrm>
            <a:off x="1347652" y="5572800"/>
            <a:ext cx="225923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7"/>
          </p:nvPr>
        </p:nvSpPr>
        <p:spPr>
          <a:xfrm>
            <a:off x="1347652" y="5572800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70" name="단계"/>
          <p:cNvSpPr/>
          <p:nvPr/>
        </p:nvSpPr>
        <p:spPr>
          <a:xfrm>
            <a:off x="3606887" y="5572800"/>
            <a:ext cx="338885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48"/>
          </p:nvPr>
        </p:nvSpPr>
        <p:spPr>
          <a:xfrm>
            <a:off x="3606887" y="5572800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606886" y="557279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5824800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0"/>
          </p:nvPr>
        </p:nvSpPr>
        <p:spPr>
          <a:xfrm>
            <a:off x="3617843" y="5824800"/>
            <a:ext cx="336693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cxnSp>
        <p:nvCxnSpPr>
          <p:cNvPr id="75" name="Connector 52"/>
          <p:cNvCxnSpPr/>
          <p:nvPr/>
        </p:nvCxnSpPr>
        <p:spPr>
          <a:xfrm>
            <a:off x="3606887" y="58576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레일"/>
          <p:cNvSpPr/>
          <p:nvPr/>
        </p:nvSpPr>
        <p:spPr>
          <a:xfrm>
            <a:off x="734087" y="6887583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688758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78" name="머리칸"/>
          <p:cNvSpPr/>
          <p:nvPr/>
        </p:nvSpPr>
        <p:spPr>
          <a:xfrm>
            <a:off x="1347652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80" name="머리칸"/>
          <p:cNvSpPr/>
          <p:nvPr/>
        </p:nvSpPr>
        <p:spPr>
          <a:xfrm>
            <a:off x="3230348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82" name="머리칸"/>
          <p:cNvSpPr/>
          <p:nvPr/>
        </p:nvSpPr>
        <p:spPr>
          <a:xfrm>
            <a:off x="5113043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cxnSp>
        <p:nvCxnSpPr>
          <p:cNvPr id="86" name="Connector 59"/>
          <p:cNvCxnSpPr/>
          <p:nvPr/>
        </p:nvCxnSpPr>
        <p:spPr>
          <a:xfrm>
            <a:off x="3230348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5113043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레일"/>
          <p:cNvSpPr/>
          <p:nvPr/>
        </p:nvSpPr>
        <p:spPr>
          <a:xfrm>
            <a:off x="734087" y="821332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821332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91" name="레일 삼각형"/>
          <p:cNvSpPr/>
          <p:nvPr/>
        </p:nvSpPr>
        <p:spPr>
          <a:xfrm>
            <a:off x="734086" y="8213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머리칸"/>
          <p:cNvSpPr/>
          <p:nvPr/>
        </p:nvSpPr>
        <p:spPr>
          <a:xfrm>
            <a:off x="1347652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347652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94" name="머리칸"/>
          <p:cNvSpPr/>
          <p:nvPr/>
        </p:nvSpPr>
        <p:spPr>
          <a:xfrm>
            <a:off x="3230348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230348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96" name="머리칸"/>
          <p:cNvSpPr/>
          <p:nvPr/>
        </p:nvSpPr>
        <p:spPr>
          <a:xfrm>
            <a:off x="5113043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5113043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358609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241304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cxnSp>
        <p:nvCxnSpPr>
          <p:cNvPr id="100" name="Connector 69"/>
          <p:cNvCxnSpPr/>
          <p:nvPr/>
        </p:nvCxnSpPr>
        <p:spPr>
          <a:xfrm>
            <a:off x="3230348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5124000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  <p:cxnSp>
        <p:nvCxnSpPr>
          <p:cNvPr id="102" name="Connector 71"/>
          <p:cNvCxnSpPr/>
          <p:nvPr/>
        </p:nvCxnSpPr>
        <p:spPr>
          <a:xfrm>
            <a:off x="5113043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9 서사 · 안정적 위험관리와 건전성 유지(위기경보 → 즉시대응 → 구조적 위기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5447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12" name="태그칩"/>
          <p:cNvSpPr/>
          <p:nvPr/>
        </p:nvSpPr>
        <p:spPr>
          <a:xfrm>
            <a:off x="518023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8023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88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19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284435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44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44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3504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284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25802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610174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488856" y="3774522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3"/>
          </p:nvPr>
        </p:nvSpPr>
        <p:spPr>
          <a:xfrm>
            <a:off x="488856" y="3774522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396078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61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161391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cxnSp>
        <p:nvCxnSpPr>
          <p:cNvPr id="47" name="Connector 33"/>
          <p:cNvCxnSpPr/>
          <p:nvPr/>
        </p:nvCxnSpPr>
        <p:spPr>
          <a:xfrm>
            <a:off x="3985435" y="390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536870" y="5023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5056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5056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5045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0 서사 · 구분회계 재무정보 활용(운영체계 → 합리적 경영판단 지원 → 효과적 성과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27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11" name="태그칩"/>
          <p:cNvSpPr/>
          <p:nvPr/>
        </p:nvSpPr>
        <p:spPr>
          <a:xfrm>
            <a:off x="514963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4963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3319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931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679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20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22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24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26957"/>
            <a:ext cx="580696" cy="121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191304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191304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377565"/>
            <a:ext cx="580696" cy="843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734086" y="202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배너"/>
          <p:cNvSpPr/>
          <p:nvPr/>
        </p:nvSpPr>
        <p:spPr>
          <a:xfrm>
            <a:off x="1347652" y="204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04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40" name="머리칸"/>
          <p:cNvSpPr/>
          <p:nvPr/>
        </p:nvSpPr>
        <p:spPr>
          <a:xfrm>
            <a:off x="1347652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42" name="머리칸"/>
          <p:cNvSpPr/>
          <p:nvPr/>
        </p:nvSpPr>
        <p:spPr>
          <a:xfrm>
            <a:off x="4171696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259565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423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38"/>
          </p:nvPr>
        </p:nvSpPr>
        <p:spPr>
          <a:xfrm>
            <a:off x="744637" y="3423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10174"/>
            <a:ext cx="580696" cy="734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259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347652" y="3281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3281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54" name="머리칸"/>
          <p:cNvSpPr/>
          <p:nvPr/>
        </p:nvSpPr>
        <p:spPr>
          <a:xfrm>
            <a:off x="1347652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56" name="머리칸"/>
          <p:cNvSpPr/>
          <p:nvPr/>
        </p:nvSpPr>
        <p:spPr>
          <a:xfrm>
            <a:off x="3230348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58" name="머리칸"/>
          <p:cNvSpPr/>
          <p:nvPr/>
        </p:nvSpPr>
        <p:spPr>
          <a:xfrm>
            <a:off x="511304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3230348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5113043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1 서사 · 유동성 관리(자금계획 수립체계 개선 → 유동성 안전성·효율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안정적 유동성 및 부채관리, 금융비용 절감으로 재무건전성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314826" y="1347652"/>
            <a:ext cx="37393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314826" y="1194261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안정성은 높이면서 적기에 필요한 만큼만! 효율적인 유동성 관리</a:t>
            </a:r>
          </a:p>
        </p:txBody>
      </p:sp>
      <p:sp>
        <p:nvSpPr>
          <p:cNvPr id="20" name="태그칩"/>
          <p:cNvSpPr/>
          <p:nvPr/>
        </p:nvSpPr>
        <p:spPr>
          <a:xfrm>
            <a:off x="515274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15274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141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8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8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25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자금계획 수립체계 개선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관리의 안전성·효율성 향상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불필요한 차입 최소화 등 선제적 유동성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‘사업별 자금 실적-예산’ 비교 분석(매월) → 예산 대비 불용자금 예측, 계획 오차 원인 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‘자금 유출입 규모 및 시기’ 예측력↑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과부족 최소화, 변동성↓: ’23년·’24년·’25년 월별 보유 현금 추이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규모 효율화: 유휴자금 305억원↓(금융비용 8억원 절감)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보유자금 최적 운용: 연기금투자풀 62% 예탁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179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태그"/>
          <p:cNvSpPr/>
          <p:nvPr/>
        </p:nvSpPr>
        <p:spPr>
          <a:xfrm>
            <a:off x="1161391" y="2673391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673391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관리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1925767" y="266243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지표(보유현금/적정유동성) 모니터링 결과 매월 ‘정상’ 범위 내 운용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2 서사 · 부채 만기관리(기관 특성 → 맞춤형 부채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9560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기관 특성과 중장기재무계획을 고려한 부채 만기관리로 안정성 향상</a:t>
            </a:r>
          </a:p>
        </p:txBody>
      </p:sp>
      <p:sp>
        <p:nvSpPr>
          <p:cNvPr id="14" name="태그칩"/>
          <p:cNvSpPr/>
          <p:nvPr/>
        </p:nvSpPr>
        <p:spPr>
          <a:xfrm>
            <a:off x="566548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66548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825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기관 특성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0113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기관 특성</a:t>
            </a:r>
          </a:p>
        </p:txBody>
      </p:sp>
      <p:sp>
        <p:nvSpPr>
          <p:cNvPr id="21" name="단계"/>
          <p:cNvSpPr/>
          <p:nvPr/>
        </p:nvSpPr>
        <p:spPr>
          <a:xfrm>
            <a:off x="4171696" y="110113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중장기재무관리계획(’25~’29년)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4171695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 투자 후 장기 회수(광역상수도 내용연수 20년)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 짧은 부채만기(7년), 3년 內 만기 집중(50%)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투자계획, 현금흐름 등 반영 차입규모·만기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금융부채↑, 3년 內 차환부담 증대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4171696" y="1386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791391"/>
            <a:ext cx="580696" cy="108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791391"/>
            <a:ext cx="580696" cy="108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79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만기 집중도 완화</a:t>
            </a:r>
          </a:p>
        </p:txBody>
      </p:sp>
      <p:sp>
        <p:nvSpPr>
          <p:cNvPr id="32" name="머리칸"/>
          <p:cNvSpPr/>
          <p:nvPr/>
        </p:nvSpPr>
        <p:spPr>
          <a:xfrm>
            <a:off x="4171696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금리부담을 낮추며 부채만기 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만기집중 구간(향후 3년)을 피해 신규차입 만기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유동성, 차환 리스크 등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3년내 만기도래 규모 0.2조원↓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장단기 금리차 축소기(0.2%p), 자산 특성 고려 장기채 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 장기물(10y↑) ’24년 0.2조원 → ’25년 0.4조원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신규차입 3.8년 → 6.7년, 전체만기 6.9년 → 7.1년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4171696" y="2087217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3 서사 · 금융비용 절감(추진배경 → 얼어붙은 채권시장 → 활로 → 마중물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7586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관세로 인한 불확실성 극복! 맞춤형 전략으로 금융비용 절감</a:t>
            </a:r>
          </a:p>
        </p:txBody>
      </p:sp>
      <p:sp>
        <p:nvSpPr>
          <p:cNvPr id="15" name="태그칩"/>
          <p:cNvSpPr/>
          <p:nvPr/>
        </p:nvSpPr>
        <p:spPr>
          <a:xfrm>
            <a:off x="4999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99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325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태그"/>
          <p:cNvSpPr/>
          <p:nvPr/>
        </p:nvSpPr>
        <p:spPr>
          <a:xfrm>
            <a:off x="1161391" y="11120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관세충격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26"/>
          </p:nvPr>
        </p:nvSpPr>
        <p:spPr>
          <a:xfrm>
            <a:off x="1786727" y="11011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4월 외화채권 발행 추진 중 美 관세 발표</a:t>
            </a:r>
          </a:p>
        </p:txBody>
      </p:sp>
      <p:sp>
        <p:nvSpPr>
          <p:cNvPr id="23" name="태그"/>
          <p:cNvSpPr/>
          <p:nvPr/>
        </p:nvSpPr>
        <p:spPr>
          <a:xfrm>
            <a:off x="1161391" y="13093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3093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8"/>
          </p:nvPr>
        </p:nvSpPr>
        <p:spPr>
          <a:xfrm>
            <a:off x="1786727" y="12983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미국채 0.5%p↑, 주요기관 발행보류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1528435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528435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얼어붙은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528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시장 불확실성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인지도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투자 의무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변동성 큰 시장이라 투자하기 망설여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만에 공모나선 기관이라 낯설어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044087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투자자의 일정 비중은 ESG 투자여야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926783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22515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2515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 어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273478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273478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철저한 사전 준비, 시장 불확실성 뚫고 발행(3억 $) 결정</a:t>
            </a:r>
          </a:p>
        </p:txBody>
      </p:sp>
      <p:sp>
        <p:nvSpPr>
          <p:cNvPr id="44" name="단계"/>
          <p:cNvSpPr/>
          <p:nvPr/>
        </p:nvSpPr>
        <p:spPr>
          <a:xfrm>
            <a:off x="5044451" y="2273478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8"/>
          </p:nvPr>
        </p:nvSpPr>
        <p:spPr>
          <a:xfrm>
            <a:off x="5044451" y="2273478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전략으로 수요 흡수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5044451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525478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금리 등 시계열 분석, 과거 사례 등 →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구조적 시장위기 아닌 일시 충격 판단 → 냉철한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발행금리 상한 설정, 손실위험 통제 → 리스크 관리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5055408" y="2525478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기업설명회(33개 기관), 상시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물·재생e 등 주요사업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강점 홍보, 그린본드 발행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5044451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3259565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259565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마중물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되 다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25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태그"/>
          <p:cNvSpPr/>
          <p:nvPr/>
        </p:nvSpPr>
        <p:spPr>
          <a:xfrm>
            <a:off x="1161391" y="330339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30339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언론보도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3"/>
          </p:nvPr>
        </p:nvSpPr>
        <p:spPr>
          <a:xfrm>
            <a:off x="1786727" y="3292435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“K-water 사전준비 빛났다.”, “공기업 복귀, 미·중 관세 합의 타이밍 포착”(연합뉴스 등, ’25.5)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수요 압도적 흥행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외화채권 마중물 역할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14배 수요로 투자자 선별, 대형우량기관 중심 발행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 가격 이하로 발행, 원화比 금융비용 22억원 절감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3044087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공기관 발행(9억$) 마중물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절감된 금리 가이드라인 제시</a:t>
            </a:r>
          </a:p>
        </p:txBody>
      </p:sp>
      <p:cxnSp>
        <p:nvCxnSpPr>
          <p:cNvPr id="66" name="Connector 45"/>
          <p:cNvCxnSpPr/>
          <p:nvPr/>
        </p:nvCxnSpPr>
        <p:spPr>
          <a:xfrm>
            <a:off x="4926783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틀"/>
          <p:cNvSpPr/>
          <p:nvPr/>
        </p:nvSpPr>
        <p:spPr>
          <a:xfrm>
            <a:off x="536870" y="4371652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성과 라벨"/>
          <p:cNvSpPr/>
          <p:nvPr/>
        </p:nvSpPr>
        <p:spPr>
          <a:xfrm>
            <a:off x="547826" y="4382609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9" name="성과 라벨"/>
          <p:cNvSpPr>
            <a:spLocks noGrp="1"/>
          </p:cNvSpPr>
          <p:nvPr>
            <p:ph type="body" sz="quarter" idx="50"/>
          </p:nvPr>
        </p:nvSpPr>
        <p:spPr>
          <a:xfrm>
            <a:off x="547826" y="4382609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70" name="성과 띠"/>
          <p:cNvSpPr/>
          <p:nvPr/>
        </p:nvSpPr>
        <p:spPr>
          <a:xfrm>
            <a:off x="1172348" y="4404522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성과 띠"/>
          <p:cNvSpPr>
            <a:spLocks noGrp="1"/>
          </p:cNvSpPr>
          <p:nvPr>
            <p:ph type="body" sz="quarter" idx="51"/>
          </p:nvPr>
        </p:nvSpPr>
        <p:spPr>
          <a:xfrm>
            <a:off x="1172348" y="4404522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 · 금융수익 초과 달성 · 저금리 조달 · 금융비용 절감(42억원)</a:t>
            </a:r>
          </a:p>
        </p:txBody>
      </p:sp>
      <p:sp>
        <p:nvSpPr>
          <p:cNvPr id="72" name="카드"/>
          <p:cNvSpPr/>
          <p:nvPr/>
        </p:nvSpPr>
        <p:spPr>
          <a:xfrm>
            <a:off x="1172348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카드 문구"/>
          <p:cNvSpPr>
            <a:spLocks noGrp="1"/>
          </p:cNvSpPr>
          <p:nvPr>
            <p:ph type="body" sz="quarter" idx="52"/>
          </p:nvPr>
        </p:nvSpPr>
        <p:spPr>
          <a:xfrm>
            <a:off x="1194261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</a:t>
            </a:r>
          </a:p>
        </p:txBody>
      </p:sp>
      <p:sp>
        <p:nvSpPr>
          <p:cNvPr id="74" name="막대"/>
          <p:cNvSpPr/>
          <p:nvPr/>
        </p:nvSpPr>
        <p:spPr>
          <a:xfrm>
            <a:off x="124904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3"/>
          </p:nvPr>
        </p:nvSpPr>
        <p:spPr>
          <a:xfrm>
            <a:off x="1161391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2373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4"/>
          </p:nvPr>
        </p:nvSpPr>
        <p:spPr>
          <a:xfrm>
            <a:off x="116139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77" name="막대"/>
          <p:cNvSpPr/>
          <p:nvPr/>
        </p:nvSpPr>
        <p:spPr>
          <a:xfrm>
            <a:off x="1859870" y="5108087"/>
            <a:ext cx="164348" cy="12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5"/>
          </p:nvPr>
        </p:nvSpPr>
        <p:spPr>
          <a:xfrm>
            <a:off x="1772217" y="493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2068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56"/>
          </p:nvPr>
        </p:nvSpPr>
        <p:spPr>
          <a:xfrm>
            <a:off x="1772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80" name="카드"/>
          <p:cNvSpPr/>
          <p:nvPr/>
        </p:nvSpPr>
        <p:spPr>
          <a:xfrm>
            <a:off x="259121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카드 문구"/>
          <p:cNvSpPr>
            <a:spLocks noGrp="1"/>
          </p:cNvSpPr>
          <p:nvPr>
            <p:ph type="body" sz="quarter" idx="57"/>
          </p:nvPr>
        </p:nvSpPr>
        <p:spPr>
          <a:xfrm>
            <a:off x="261313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금융수익 초과 달성</a:t>
            </a:r>
          </a:p>
        </p:txBody>
      </p:sp>
      <p:sp>
        <p:nvSpPr>
          <p:cNvPr id="82" name="막대"/>
          <p:cNvSpPr/>
          <p:nvPr/>
        </p:nvSpPr>
        <p:spPr>
          <a:xfrm>
            <a:off x="2667913" y="5138609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값"/>
          <p:cNvSpPr>
            <a:spLocks noGrp="1"/>
          </p:cNvSpPr>
          <p:nvPr>
            <p:ph type="body" sz="quarter" idx="58"/>
          </p:nvPr>
        </p:nvSpPr>
        <p:spPr>
          <a:xfrm>
            <a:off x="2580261" y="4963304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2.60%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59"/>
          </p:nvPr>
        </p:nvSpPr>
        <p:spPr>
          <a:xfrm>
            <a:off x="258026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기준</a:t>
            </a:r>
          </a:p>
        </p:txBody>
      </p:sp>
      <p:sp>
        <p:nvSpPr>
          <p:cNvPr id="85" name="막대"/>
          <p:cNvSpPr/>
          <p:nvPr/>
        </p:nvSpPr>
        <p:spPr>
          <a:xfrm>
            <a:off x="3075130" y="5122174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60"/>
          </p:nvPr>
        </p:nvSpPr>
        <p:spPr>
          <a:xfrm>
            <a:off x="2987478" y="49468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2.69%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61"/>
          </p:nvPr>
        </p:nvSpPr>
        <p:spPr>
          <a:xfrm>
            <a:off x="2987478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8" name="막대"/>
          <p:cNvSpPr/>
          <p:nvPr/>
        </p:nvSpPr>
        <p:spPr>
          <a:xfrm>
            <a:off x="3482348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2"/>
          </p:nvPr>
        </p:nvSpPr>
        <p:spPr>
          <a:xfrm>
            <a:off x="3394696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2.78%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3"/>
          </p:nvPr>
        </p:nvSpPr>
        <p:spPr>
          <a:xfrm>
            <a:off x="3394696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4"/>
          </p:nvPr>
        </p:nvSpPr>
        <p:spPr>
          <a:xfrm>
            <a:off x="403200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저금리 조달</a:t>
            </a:r>
          </a:p>
        </p:txBody>
      </p:sp>
      <p:sp>
        <p:nvSpPr>
          <p:cNvPr id="93" name="막대"/>
          <p:cNvSpPr/>
          <p:nvPr/>
        </p:nvSpPr>
        <p:spPr>
          <a:xfrm>
            <a:off x="408678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5"/>
          </p:nvPr>
        </p:nvSpPr>
        <p:spPr>
          <a:xfrm>
            <a:off x="3999130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2.83%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6"/>
          </p:nvPr>
        </p:nvSpPr>
        <p:spPr>
          <a:xfrm>
            <a:off x="399913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시장</a:t>
            </a:r>
          </a:p>
        </p:txBody>
      </p:sp>
      <p:sp>
        <p:nvSpPr>
          <p:cNvPr id="96" name="막대"/>
          <p:cNvSpPr/>
          <p:nvPr/>
        </p:nvSpPr>
        <p:spPr>
          <a:xfrm>
            <a:off x="4697609" y="5089304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7"/>
          </p:nvPr>
        </p:nvSpPr>
        <p:spPr>
          <a:xfrm>
            <a:off x="4609957" y="4914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2.77%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8"/>
          </p:nvPr>
        </p:nvSpPr>
        <p:spPr>
          <a:xfrm>
            <a:off x="460995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조달</a:t>
            </a:r>
          </a:p>
        </p:txBody>
      </p:sp>
      <p:sp>
        <p:nvSpPr>
          <p:cNvPr id="99" name="카드"/>
          <p:cNvSpPr/>
          <p:nvPr/>
        </p:nvSpPr>
        <p:spPr>
          <a:xfrm>
            <a:off x="542895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카드 문구"/>
          <p:cNvSpPr>
            <a:spLocks noGrp="1"/>
          </p:cNvSpPr>
          <p:nvPr>
            <p:ph type="body" sz="quarter" idx="69"/>
          </p:nvPr>
        </p:nvSpPr>
        <p:spPr>
          <a:xfrm>
            <a:off x="545087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절감(42억원)</a:t>
            </a:r>
          </a:p>
        </p:txBody>
      </p:sp>
      <p:sp>
        <p:nvSpPr>
          <p:cNvPr id="101" name="막대"/>
          <p:cNvSpPr/>
          <p:nvPr/>
        </p:nvSpPr>
        <p:spPr>
          <a:xfrm>
            <a:off x="5505652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70"/>
          </p:nvPr>
        </p:nvSpPr>
        <p:spPr>
          <a:xfrm>
            <a:off x="5418000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8억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71"/>
          </p:nvPr>
        </p:nvSpPr>
        <p:spPr>
          <a:xfrm>
            <a:off x="541800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유휴</a:t>
            </a:r>
          </a:p>
        </p:txBody>
      </p:sp>
      <p:sp>
        <p:nvSpPr>
          <p:cNvPr id="104" name="막대"/>
          <p:cNvSpPr/>
          <p:nvPr/>
        </p:nvSpPr>
        <p:spPr>
          <a:xfrm>
            <a:off x="5912870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72"/>
          </p:nvPr>
        </p:nvSpPr>
        <p:spPr>
          <a:xfrm>
            <a:off x="5825217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3억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73"/>
          </p:nvPr>
        </p:nvSpPr>
        <p:spPr>
          <a:xfrm>
            <a:off x="5825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녹색</a:t>
            </a:r>
          </a:p>
        </p:txBody>
      </p:sp>
      <p:sp>
        <p:nvSpPr>
          <p:cNvPr id="107" name="막대"/>
          <p:cNvSpPr/>
          <p:nvPr/>
        </p:nvSpPr>
        <p:spPr>
          <a:xfrm>
            <a:off x="6320087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74"/>
          </p:nvPr>
        </p:nvSpPr>
        <p:spPr>
          <a:xfrm>
            <a:off x="6232435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31억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5"/>
          </p:nvPr>
        </p:nvSpPr>
        <p:spPr>
          <a:xfrm>
            <a:off x="6232435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외화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4 서사 · 맞춤형 자산운영 · AI 자산관리(자산특성 → 수익성 개선 → 자산가치 제고 → 국유재산 관리전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자산운영 및 AI 자산관리로 재무 패러다임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412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자산특성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사용권 등 무형자산(46%), 판매용 토지 등 재고자산(35%)이 대부분을 차지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보유자산 특성상 운영 및 활용에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선택·집중 원칙으로 운영성과 제고 필요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4171696" y="1199739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868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6808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수익성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68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재고자산 토지 판매촉진 통한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조성-수납까지 긴 영업주기 따른 자금수지 일시 적자(~’26, 0.8조원) 해소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분양자 재무부담 완화 서비스 통한 토지 판매 확대로 조성비 조기 회수 ➡ 분양매출 1조 9백억원 달성(전년比 44.3%↑)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무형자산 항만시설관리권 경쟁입찰 매각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관리청의 관리권 매각물량 제한으로 아라뱃길 사업 투자비 회수 차질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신규 고객 유치 및 초과수요 유도, 경쟁률 제고 및 판매단가 상승 ➡ 항만관리권 매각 762억원(전년比 40억원↑)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922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952783"/>
            <a:ext cx="580696" cy="1134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952783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974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 최적활용 제약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974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자산가치 회복방안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974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물그릇 1.3억톤 확대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97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974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안동댐 등 저수구역 내 장기간 불법가옥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댐 低수위 운영 불가피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추진반 운영(’25.3) 통해 전수조사, 유형별 해소방안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취약층 1:1 주거안내, 간접지원 등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47채 철거 ➡ 댐용수 연 매출액 19억원 견인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4103217"/>
            <a:ext cx="580696" cy="113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4103217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국유재산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관리전환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103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4125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국유재산 관리 대전환 필요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4125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AI기반 로드맵·시스템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4125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 효과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4125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4125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광범위한 관리면적으로 무단점유 등 적시 적발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527㎢로 서울시 면적 87% 수준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토지변화 탐지시스템(시범)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캐코-LX 데이터 공유 협약(’25.9)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자산관리로드맵(’25.12)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불법행위 절감비용 △8억원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취득비 △0.2억원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AI자산관리 체계 마련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핵심성과 박스"/>
          <p:cNvSpPr/>
          <p:nvPr/>
        </p:nvSpPr>
        <p:spPr>
          <a:xfrm>
            <a:off x="723130" y="534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535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자산운영 효율화를 통한 총자산회전율 22.6% 달성(전년 대비 1.4%p 상승)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5 서사 · 출자회사 관리 고도화(추진배경 → 경영개선 한 걸음 → 경영 안정화 체질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고도화로 공공분야 자회사 운영 내실화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38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해외SPC 영업손실 지속 등 해외사업 수익성 확대하기 위한 노력 필요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 및 체계적 관리로 해외SPC 수익 확대 등 출자 성과 제고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805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75852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6"/>
          </p:nvPr>
        </p:nvSpPr>
        <p:spPr>
          <a:xfrm>
            <a:off x="558376" y="175852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7"/>
          </p:nvPr>
        </p:nvSpPr>
        <p:spPr>
          <a:xfrm>
            <a:off x="547826" y="1944783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걸음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616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 고도화(’24)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616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내실화(’25)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616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관리선도·확산(’26~)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616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616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 우선과제 실행·관리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포털 구축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관리 프로세스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재무성과 분석·관리 강화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3044087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低성과 자회사 경영진단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경영개선·역량강화 지원</a:t>
            </a:r>
          </a:p>
        </p:txBody>
      </p:sp>
      <p:cxnSp>
        <p:nvCxnSpPr>
          <p:cNvPr id="40" name="Connector 30"/>
          <p:cNvCxnSpPr/>
          <p:nvPr/>
        </p:nvCxnSpPr>
        <p:spPr>
          <a:xfrm>
            <a:off x="4926783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415913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488856" y="258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4"/>
          </p:nvPr>
        </p:nvSpPr>
        <p:spPr>
          <a:xfrm>
            <a:off x="488856" y="258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 안정화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2766522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체질개선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완 성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41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기본에 충실한 자회사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 핵심사업 역량집중, 안정적 경영관리 ➡ 지속적인 수익 발생, 리스크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안전진단 조직 신설 등 개선대책 마련(’25.10)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청렴인권 청렴·인권경영 제고 컨설팅(’25.12) ➡ 내부체감 단계별 개선, 감사조직(3명) 확대 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국가리스크 극복하니 재무성과도 함께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자회사 분기별 재무분석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❶ 외환통제 등 파트린드HPP 사업 지연 ➡ 현지 외교망 활용, 대주단 협상으로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낮은 전력요금, 앙갓댐 발전 매출 정체 ➡ 시설개선·효율적 댐 운영으로 극복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2470696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536870" y="358826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569739" y="362113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62113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61017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자회사 운영관리 실태평가 A등급(전년 B), 자회사 청렴도 평가 결과 평균 4.6점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파트린드HPP 해외사업 최초 133억원 배당, 앙갓 역대 최고 매출 668억원 달성(107억원↑)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6 서사 · 예산편성 및 운용관리(환경분석 → 시사점 → track 1·2·3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시대, 새로운 성장을 견인할 예산편성 및 운용관리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기후변화 등 물관리 투자 필요성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경제성장 둔화로 공공투자 확대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물관리, 정부정책 중점 투자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 지속, 수돗물 품질 투자 등 확대로 영업이익 2년 연속 하락 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수익성 개선 위한 세밀한 원가관리 필요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4171696" y="1440783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캡션 띠"/>
          <p:cNvSpPr/>
          <p:nvPr/>
        </p:nvSpPr>
        <p:spPr>
          <a:xfrm>
            <a:off x="723130" y="2361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051826" y="2404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051826" y="2404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0"/>
          </p:nvPr>
        </p:nvSpPr>
        <p:spPr>
          <a:xfrm>
            <a:off x="1545480" y="2361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투자는 확대하되, 효율적 예산운용으로 지속가능한 재무구조 정착</a:t>
            </a:r>
          </a:p>
        </p:txBody>
      </p:sp>
      <p:sp>
        <p:nvSpPr>
          <p:cNvPr id="32" name="표 외곽"/>
          <p:cNvSpPr/>
          <p:nvPr/>
        </p:nvSpPr>
        <p:spPr>
          <a:xfrm>
            <a:off x="723130" y="2667913"/>
            <a:ext cx="6300000" cy="474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684348"/>
            <a:ext cx="580696" cy="1599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84348"/>
            <a:ext cx="580696" cy="159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정책연계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투자재원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충</a:t>
            </a:r>
          </a:p>
        </p:txBody>
      </p:sp>
      <p:sp>
        <p:nvSpPr>
          <p:cNvPr id="35" name="배너"/>
          <p:cNvSpPr/>
          <p:nvPr/>
        </p:nvSpPr>
        <p:spPr>
          <a:xfrm>
            <a:off x="1347652" y="2706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06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1 정부정책 연계 사업의 재정·투자 기반 강화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K-물관리수출 활성화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위한 기후안전망 강화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 구현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국회·정부 대상 물산업 파급 공유, 정책 공감대 확산 노력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선도기관 선정(’25.10)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’26~’30 955억원 반영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기후 시대 새로운 물 인프라 확대, 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 118억원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46억원/연 증액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3230348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중대재해법 등 제도 강화, 수도 감리요율 상향 先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정부과제 선정 → 全기관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감리비 1,597억원(~’32년) 확충</a:t>
            </a:r>
          </a:p>
        </p:txBody>
      </p:sp>
      <p:cxnSp>
        <p:nvCxnSpPr>
          <p:cNvPr id="47" name="Connector 30"/>
          <p:cNvCxnSpPr/>
          <p:nvPr/>
        </p:nvCxnSpPr>
        <p:spPr>
          <a:xfrm>
            <a:off x="5113043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4300435"/>
            <a:ext cx="580696" cy="172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300435"/>
            <a:ext cx="580696" cy="172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재구조화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430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347652" y="4322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322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2 국정과제 및 중장기 전략과 연계한 사업 포트폴리오 및 투자예산 리밸런싱</a:t>
            </a:r>
          </a:p>
        </p:txBody>
      </p:sp>
      <p:sp>
        <p:nvSpPr>
          <p:cNvPr id="53" name="단계"/>
          <p:cNvSpPr/>
          <p:nvPr/>
        </p:nvSpPr>
        <p:spPr>
          <a:xfrm>
            <a:off x="1347652" y="4557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347652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포트폴리오 선별</a:t>
            </a:r>
          </a:p>
        </p:txBody>
      </p:sp>
      <p:sp>
        <p:nvSpPr>
          <p:cNvPr id="55" name="단계"/>
          <p:cNvSpPr/>
          <p:nvPr/>
        </p:nvSpPr>
        <p:spPr>
          <a:xfrm>
            <a:off x="3230348" y="4557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230348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우선순위 설정</a:t>
            </a:r>
          </a:p>
        </p:txBody>
      </p:sp>
      <p:sp>
        <p:nvSpPr>
          <p:cNvPr id="57" name="단계"/>
          <p:cNvSpPr/>
          <p:nvPr/>
        </p:nvSpPr>
        <p:spPr>
          <a:xfrm>
            <a:off x="5113043" y="4557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113043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 투자 1,744억원 확대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230347" y="4557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113043" y="4557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참여 성장 아이템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적합성·매력도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사업적합성(설립목적 부합성, 기술 경쟁력 등) / 시장매력도(성장잠재력, 사회·환경 수요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육성·유지·축소 분류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연계성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한도 내 우선순위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예산부서 자체 결정 → 개선 사업계획심의위원회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태양광·양수발전 등 신규사업 9건 반영</a:t>
            </a:r>
          </a:p>
        </p:txBody>
      </p:sp>
      <p:cxnSp>
        <p:nvCxnSpPr>
          <p:cNvPr id="63" name="Connector 41"/>
          <p:cNvCxnSpPr/>
          <p:nvPr/>
        </p:nvCxnSpPr>
        <p:spPr>
          <a:xfrm>
            <a:off x="3230348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 안전망 3,434 → 3,974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AI·첨단산업 480 → 1,090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559 → 1,109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물산업·글로벌 802 → 846</a:t>
            </a:r>
          </a:p>
        </p:txBody>
      </p:sp>
      <p:cxnSp>
        <p:nvCxnSpPr>
          <p:cNvPr id="65" name="Connector 43"/>
          <p:cNvCxnSpPr/>
          <p:nvPr/>
        </p:nvCxnSpPr>
        <p:spPr>
          <a:xfrm>
            <a:off x="5113043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레일"/>
          <p:cNvSpPr/>
          <p:nvPr/>
        </p:nvSpPr>
        <p:spPr>
          <a:xfrm>
            <a:off x="734087" y="6037043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6037043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체계개선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603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605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605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3 체계적 경비 관리, 상시 원가점검으로 촘촘한 예산운용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6294522"/>
            <a:ext cx="3743478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경비예산 심의 강화 및 구조조정: 신규 예산편성 심의委(절감요소, 합·목적성 검토 / 집행증가율 높은 5개 항목 / 심의위원 5인 의결), 신규 부문예산 책임운영제(부문·과목별 한도부여 / 일상경비 전체 / 부서→‘부문’(추가)→총괄 심의)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5개 항목 146억원 절감 편성, 부문 책임운영 강화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6294522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원가점검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사업-재무-예산협업체계(재무혁신TF)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핵심원가 성과목표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’26년 수도생산 원가 절감 265억원/연 목표 반영</a:t>
            </a:r>
          </a:p>
        </p:txBody>
      </p:sp>
      <p:cxnSp>
        <p:nvCxnSpPr>
          <p:cNvPr id="73" name="Connector 49"/>
          <p:cNvCxnSpPr/>
          <p:nvPr/>
        </p:nvCxnSpPr>
        <p:spPr>
          <a:xfrm>
            <a:off x="5113043" y="6327391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749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501043" y="751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실행기반 조성, 중장기 재무목표 준수(부채비율 97.9% 대비 △6.1%p) 예산편성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7 서사 · 투자사업 관리체계 정립(관리체계 → 개선방향 → 투자 전 검토 · 심사품질 · 사후 리스크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투자사업 계획·심사 강화, 사후 모니터링 신설 등 관리체계 정립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1223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88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기획단계 사업구상: 사전예비심사 → 예비투자심사 → 본투자심사 / 개선 각 단계별 7개 항목 사전검토(중장기 재무영향 추가)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건설·운영단계: 기존 사업비 관리 / 신규 사업성 점검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5408413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사후관리: 신규 손실사업 분석 / 신규 해외사업 관리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5397457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161391" y="169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69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기존절차 보완 · 신규 全 생애주기 관리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39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사업선정~투자심사 실효성·전문성 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건설·운영단계에서도 사업성 유지·관리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3044087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현안사업(손실, 고위험) 분석과 솔루션 제시</a:t>
            </a:r>
          </a:p>
        </p:txBody>
      </p:sp>
      <p:cxnSp>
        <p:nvCxnSpPr>
          <p:cNvPr id="36" name="Connector 27"/>
          <p:cNvCxnSpPr/>
          <p:nvPr/>
        </p:nvCxnSpPr>
        <p:spPr>
          <a:xfrm>
            <a:off x="4926783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표 외곽"/>
          <p:cNvSpPr/>
          <p:nvPr/>
        </p:nvSpPr>
        <p:spPr>
          <a:xfrm>
            <a:off x="536870" y="2384452"/>
            <a:ext cx="6300000" cy="31529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400887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 태그"/>
          <p:cNvSpPr/>
          <p:nvPr/>
        </p:nvSpPr>
        <p:spPr>
          <a:xfrm>
            <a:off x="558376" y="2444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레일 태그"/>
          <p:cNvSpPr>
            <a:spLocks noGrp="1"/>
          </p:cNvSpPr>
          <p:nvPr>
            <p:ph type="body" sz="quarter" idx="33"/>
          </p:nvPr>
        </p:nvSpPr>
        <p:spPr>
          <a:xfrm>
            <a:off x="558376" y="2444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사업선정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630974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 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2" name="머리칸"/>
          <p:cNvSpPr/>
          <p:nvPr/>
        </p:nvSpPr>
        <p:spPr>
          <a:xfrm>
            <a:off x="1161391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재정사업 심사절차 개선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투자사업 기준수익률 개선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국고 반영 후 투자심사, 실효성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국고 신청 전 ‘적합성 심의’ 신설 → 기본구상 · 예·타 · 사업심의 · 국고신청 · 본심사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사업 다변화, 수주 경쟁사 트렌드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수익률 산정시 고려하는 리스크 세분화(4→13개) 및 가중치 차등 적용(0.25~3.0%)</a:t>
            </a:r>
          </a:p>
        </p:txBody>
      </p:sp>
      <p:cxnSp>
        <p:nvCxnSpPr>
          <p:cNvPr id="48" name="Connector 36"/>
          <p:cNvCxnSpPr/>
          <p:nvPr/>
        </p:nvCxnSpPr>
        <p:spPr>
          <a:xfrm>
            <a:off x="3985435" y="2696713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288365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558376" y="3452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3452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638974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심사품질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도 화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3288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전문성과 신뢰도 제고 ✔평가지적</a:t>
            </a:r>
          </a:p>
        </p:txBody>
      </p:sp>
      <p:sp>
        <p:nvSpPr>
          <p:cNvPr id="56" name="머리칸"/>
          <p:cNvSpPr/>
          <p:nvPr/>
        </p:nvSpPr>
        <p:spPr>
          <a:xfrm>
            <a:off x="3985435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재무검증 강화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후보 확대, 기술분야 세분화 * 후보(55→100명), 디지털·AI등 분야 추가(5→9개)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50% ‘초과’ 참여, 무작위 선정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중장기 재무영향 사전검토 의무화 * 재무관리준칙 관리지표(3개), 매출액 등 영향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해외PF분석팀(8명) 신설 역량 강화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358419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4285409"/>
            <a:ext cx="580696" cy="12355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558376" y="444975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5"/>
          </p:nvPr>
        </p:nvSpPr>
        <p:spPr>
          <a:xfrm>
            <a:off x="558376" y="444975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지속관리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6"/>
          </p:nvPr>
        </p:nvSpPr>
        <p:spPr>
          <a:xfrm>
            <a:off x="547826" y="4636017"/>
            <a:ext cx="580696" cy="8630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상시관리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428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머리칸"/>
          <p:cNvSpPr/>
          <p:nvPr/>
        </p:nvSpPr>
        <p:spPr>
          <a:xfrm>
            <a:off x="1161391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7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 중간평가 강화</a:t>
            </a:r>
          </a:p>
        </p:txBody>
      </p:sp>
      <p:sp>
        <p:nvSpPr>
          <p:cNvPr id="68" name="머리칸"/>
          <p:cNvSpPr/>
          <p:nvPr/>
        </p:nvSpPr>
        <p:spPr>
          <a:xfrm>
            <a:off x="3044087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9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</a:t>
            </a:r>
          </a:p>
        </p:txBody>
      </p:sp>
      <p:sp>
        <p:nvSpPr>
          <p:cNvPr id="70" name="머리칸"/>
          <p:cNvSpPr/>
          <p:nvPr/>
        </p:nvSpPr>
        <p:spPr>
          <a:xfrm>
            <a:off x="4926783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해외사업 분기별 성과분석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사업비조정시 사업성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사업비 30%, 60%, 준공시점 사업성 재분석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IRR 1%p 하락 등 사업성 하락시 보완대책 마련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손실사업의 재무구조를 진단하여 솔루션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재무전략 전담조직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수익성 관리 및 재무건전성 강화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해외 투자사업 재무성과 및 리스크 정기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해외사업리스크관리위원회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저수익·손실 우려 해외사업 조기 식별 및 대응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핵심성과 박스"/>
          <p:cNvSpPr/>
          <p:nvPr/>
        </p:nvSpPr>
        <p:spPr>
          <a:xfrm>
            <a:off x="536870" y="562507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핵심성과 라벨"/>
          <p:cNvSpPr/>
          <p:nvPr/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9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314783" y="5641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투자심사 全과정 고도화 및 강화된 심사 운영으로 요청 대비 566억원 절감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8 서사 · 예산집행관리 강화(추진과제 3칸 → 추진내용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예산집행관리 강화로 투명·신속 집행 및 재정집행 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160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75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투명한 집행 노력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노력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노력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리스크 선제적 관리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재원 효율적 배분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경기회복 위한 투자·집행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36609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36609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36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및 평가 강화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주요경비 심의위원회 운영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프로세스 혁신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교육 시행(9회)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 모니터링 부서평가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권익위 청렴도 결과 ‘예산 부당집행’ 92.3점(11.9점↑)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전문가(30인) 위원회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편성 합목적성, 절감요소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경비절감(’25년 30건 71.6억원) 예산변경 신뢰성 확보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 등 재정집행 체계적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집행목표 101.4% 달성으로 국민경제 활성화 기여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282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283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집행관리 고도화로 집행 투명·공정성 강화하여 ’25년 권익위 청렴도평가 1등급 달성 기여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9 서사 · 재무목표 및 추진과제 선정(환경분석 → 재무특징 → 지표선정 → 목표설정 → 추진과제 → 실행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공사 고유 재무특성을 반영한 재무목표 및 추진과제 선정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577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공적 역할·재무건전성 동시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공공기관 국정과제 선도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재무체력 자구노력으로 재무여력 확충 요구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투자는 늘고 내부조달 여건은 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 물관리 AI 전환, 안전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재무여건 요금동결, 원가상승 등 수익성↓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68087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68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재무특징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680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사업 외부영향多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경기-수변 매출, 유가, 강우량-에너지 매출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변수 극복, 신사업 확대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사업 포트폴리오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요금(물공급), 정책(지방수도 등), 수익(재생e) 등 多사업 병행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사업별 맞춤형 관리 필요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044087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자본투자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선투자·장기회수, 차입의존·4대강 우선상환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 현금흐름 창출 필요</a:t>
            </a:r>
          </a:p>
        </p:txBody>
      </p:sp>
      <p:cxnSp>
        <p:nvCxnSpPr>
          <p:cNvPr id="32" name="Connector 24"/>
          <p:cNvCxnSpPr/>
          <p:nvPr/>
        </p:nvCxnSpPr>
        <p:spPr>
          <a:xfrm>
            <a:off x="4926783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78870"/>
            <a:ext cx="580696" cy="520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78870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 ‘투자 확대와 매출 성장 연계’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 ‘사업별 수익 구조 영향 반영’</a:t>
            </a:r>
          </a:p>
        </p:txBody>
      </p:sp>
      <p:cxnSp>
        <p:nvCxnSpPr>
          <p:cNvPr id="37" name="Connector 28"/>
          <p:cNvCxnSpPr/>
          <p:nvPr/>
        </p:nvCxnSpPr>
        <p:spPr>
          <a:xfrm>
            <a:off x="3044087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부채비율, 순차입금/조정EBITDA ‘재무구조 안정성, 상환능력 반영’</a:t>
            </a:r>
          </a:p>
        </p:txBody>
      </p:sp>
      <p:cxnSp>
        <p:nvCxnSpPr>
          <p:cNvPr id="39" name="Connector 30"/>
          <p:cNvCxnSpPr/>
          <p:nvPr/>
        </p:nvCxnSpPr>
        <p:spPr>
          <a:xfrm>
            <a:off x="4926783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215739"/>
            <a:ext cx="580696" cy="1736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215739"/>
            <a:ext cx="580696" cy="173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목표설정</a:t>
            </a:r>
          </a:p>
        </p:txBody>
      </p:sp>
      <p:sp>
        <p:nvSpPr>
          <p:cNvPr id="42" name="배너"/>
          <p:cNvSpPr/>
          <p:nvPr/>
        </p:nvSpPr>
        <p:spPr>
          <a:xfrm>
            <a:off x="1161391" y="32376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2376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변화된 사업 여건 및 주요 재무지표 장기 추세분석으로 ‘적정 목표 수준’ 도출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cxnSp>
        <p:nvCxnSpPr>
          <p:cNvPr id="46" name="Connector 35"/>
          <p:cNvCxnSpPr/>
          <p:nvPr/>
        </p:nvCxnSpPr>
        <p:spPr>
          <a:xfrm>
            <a:off x="2573413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순차입금/조정EBITDA</a:t>
            </a:r>
          </a:p>
        </p:txBody>
      </p:sp>
      <p:cxnSp>
        <p:nvCxnSpPr>
          <p:cNvPr id="50" name="Connector 39"/>
          <p:cNvCxnSpPr/>
          <p:nvPr/>
        </p:nvCxnSpPr>
        <p:spPr>
          <a:xfrm>
            <a:off x="5397457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 47,929억원: 기존·신규사업 조화 성장 반영 도전적 목표 설정 (’24년 4.5조원 → ’25년 4.8조원)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부채비율 98.1%: 고강도 자구노력 반영 100% 이하 유지 목표 (98.4% → 98.1%)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 1,869억원: 수익성 악화 재무 여건 반영 목표 재설정 (3,662억원 → 1,869억원)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순차입금/조정EBITDA 6.6 이하: 투자 확대 대응 위한 현금 기반 차입 한도 준수 (5.8 → 6.6)</a:t>
            </a:r>
          </a:p>
        </p:txBody>
      </p:sp>
      <p:cxnSp>
        <p:nvCxnSpPr>
          <p:cNvPr id="53" name="Connector 42"/>
          <p:cNvCxnSpPr/>
          <p:nvPr/>
        </p:nvCxnSpPr>
        <p:spPr>
          <a:xfrm>
            <a:off x="3985435" y="410321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968783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4968783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매출 확대 및 다각화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사업별 손익 개선·효율화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현금흐름 안정성 강화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수변·재생e 매출 조기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물관리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용수공급 업역 확대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요금사업 생산원가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정책사업 국고 확보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리스크관리 강화</a:t>
            </a:r>
          </a:p>
        </p:txBody>
      </p:sp>
      <p:cxnSp>
        <p:nvCxnSpPr>
          <p:cNvPr id="64" name="Connector 49"/>
          <p:cNvCxnSpPr/>
          <p:nvPr/>
        </p:nvCxnSpPr>
        <p:spPr>
          <a:xfrm>
            <a:off x="3044087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영향 검토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투자연계 차입 만기 개선</a:t>
            </a:r>
          </a:p>
        </p:txBody>
      </p:sp>
      <p:cxnSp>
        <p:nvCxnSpPr>
          <p:cNvPr id="66" name="Connector 51"/>
          <p:cNvCxnSpPr/>
          <p:nvPr/>
        </p:nvCxnSpPr>
        <p:spPr>
          <a:xfrm>
            <a:off x="4926783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6020609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6020609"/>
            <a:ext cx="580696" cy="86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602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단계"/>
          <p:cNvSpPr/>
          <p:nvPr/>
        </p:nvSpPr>
        <p:spPr>
          <a:xfrm>
            <a:off x="1161391" y="6042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재무목표 수립</a:t>
            </a:r>
          </a:p>
        </p:txBody>
      </p:sp>
      <p:sp>
        <p:nvSpPr>
          <p:cNvPr id="72" name="단계"/>
          <p:cNvSpPr/>
          <p:nvPr/>
        </p:nvSpPr>
        <p:spPr>
          <a:xfrm>
            <a:off x="2573413" y="6042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3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목표달성 이행</a:t>
            </a:r>
          </a:p>
        </p:txBody>
      </p:sp>
      <p:sp>
        <p:nvSpPr>
          <p:cNvPr id="74" name="단계"/>
          <p:cNvSpPr/>
          <p:nvPr/>
        </p:nvSpPr>
        <p:spPr>
          <a:xfrm>
            <a:off x="3985435" y="6042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</a:t>
            </a:r>
          </a:p>
        </p:txBody>
      </p:sp>
      <p:sp>
        <p:nvSpPr>
          <p:cNvPr id="76" name="단계"/>
          <p:cNvSpPr/>
          <p:nvPr/>
        </p:nvSpPr>
        <p:spPr>
          <a:xfrm>
            <a:off x="5397457" y="6042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이행평가·환류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2573413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 삼각형"/>
          <p:cNvSpPr/>
          <p:nvPr/>
        </p:nvSpPr>
        <p:spPr>
          <a:xfrm>
            <a:off x="3985434" y="6042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5397456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사업·본부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이사회, 전사경영회의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6"/>
          </p:nvPr>
        </p:nvSpPr>
        <p:spPr>
          <a:xfrm>
            <a:off x="2584370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 및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부문장회의</a:t>
            </a:r>
          </a:p>
        </p:txBody>
      </p:sp>
      <p:cxnSp>
        <p:nvCxnSpPr>
          <p:cNvPr id="83" name="Connector 63"/>
          <p:cNvCxnSpPr/>
          <p:nvPr/>
        </p:nvCxnSpPr>
        <p:spPr>
          <a:xfrm>
            <a:off x="2573413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칸 본문"/>
          <p:cNvSpPr>
            <a:spLocks noGrp="1"/>
          </p:cNvSpPr>
          <p:nvPr>
            <p:ph type="body" sz="quarter" idx="57"/>
          </p:nvPr>
        </p:nvSpPr>
        <p:spPr>
          <a:xfrm>
            <a:off x="3996391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 이행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부서장회의</a:t>
            </a:r>
          </a:p>
        </p:txBody>
      </p:sp>
      <p:cxnSp>
        <p:nvCxnSpPr>
          <p:cNvPr id="85" name="Connector 65"/>
          <p:cNvCxnSpPr/>
          <p:nvPr/>
        </p:nvCxnSpPr>
        <p:spPr>
          <a:xfrm>
            <a:off x="3985435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>
            <a:spLocks noGrp="1"/>
          </p:cNvSpPr>
          <p:nvPr>
            <p:ph type="body" sz="quarter" idx="58"/>
          </p:nvPr>
        </p:nvSpPr>
        <p:spPr>
          <a:xfrm>
            <a:off x="5408413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</a:t>
            </a:r>
          </a:p>
        </p:txBody>
      </p:sp>
      <p:cxnSp>
        <p:nvCxnSpPr>
          <p:cNvPr id="87" name="Connector 67"/>
          <p:cNvCxnSpPr/>
          <p:nvPr/>
        </p:nvCxnSpPr>
        <p:spPr>
          <a:xfrm>
            <a:off x="5397457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0 서사 · 매출 확대(추진배경 → 기존사업 핵심 강화 → 신규사업 성장사업 확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재무 목표 달성을 위한 맞춤형 개선과제 이행으로 초과 성과 창출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매출확대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610856" y="1358609"/>
            <a:ext cx="3762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610856" y="120521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혁신적 돌파구 마련으로 매출 확대 및 하이테크 수처리 사업 선도</a:t>
            </a:r>
          </a:p>
        </p:txBody>
      </p:sp>
      <p:sp>
        <p:nvSpPr>
          <p:cNvPr id="19" name="태그칩"/>
          <p:cNvSpPr/>
          <p:nvPr/>
        </p:nvSpPr>
        <p:spPr>
          <a:xfrm>
            <a:off x="547229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47229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415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중심으로 지속 성장한 매출액 2년 연속 하락, 매출 정체 고착화 우려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현안진단·개선 통한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高부가가치 미래형 매출 기반 발굴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2065304"/>
            <a:ext cx="580696" cy="903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4637" y="222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9"/>
          </p:nvPr>
        </p:nvSpPr>
        <p:spPr>
          <a:xfrm>
            <a:off x="744637" y="222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기존사업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0"/>
          </p:nvPr>
        </p:nvSpPr>
        <p:spPr>
          <a:xfrm>
            <a:off x="734087" y="2415913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6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고객 니즈 우선 대응으로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맞춤 토지 이용계획 변경으로 사용 촉진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조기 토지 사용시 고객 부담 경감방안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역대 두 번째 최고 매출 1조원 달성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송전망 문제해결로 매출 조기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 수상태양광 국내 최초 교차발전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주간 수상태양광-야간 수력 송전, 발전개시 5년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 490억원(5년) 확보, 타사업 확장기능 모델 마련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120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2985652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3150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3"/>
          </p:nvPr>
        </p:nvSpPr>
        <p:spPr>
          <a:xfrm>
            <a:off x="744637" y="3150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신규사업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4"/>
          </p:nvPr>
        </p:nvSpPr>
        <p:spPr>
          <a:xfrm>
            <a:off x="734087" y="3336261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734086" y="2985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新 비즈니스모델 활용 매출 다각화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디지털 물관리 기술 수출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日 나가이, 美 실리콘밸리 시범사업 개시, 보츠와나 통합물관리 사업 227억원 수주 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고품질 물 시장 新 업역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 기반 물 공급 시장 선점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 초순수 운영 개시(SK하이닉스), 국내 최대 해수담수화 준공(대산임해산업단지)</a:t>
            </a:r>
          </a:p>
        </p:txBody>
      </p:sp>
      <p:cxnSp>
        <p:nvCxnSpPr>
          <p:cNvPr id="42" name="Connector 31"/>
          <p:cNvCxnSpPr/>
          <p:nvPr/>
        </p:nvCxnSpPr>
        <p:spPr>
          <a:xfrm>
            <a:off x="4171696" y="3040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1 서사 · 손익 개선(요금 · 정책 · 수익 3갈래 → 운영혁신 · 재정 확대 · 리스크 관리 → 추진성과 차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손익개선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맞춤형 개선으로 지속적 손익 개선 기반 구축</a:t>
            </a:r>
          </a:p>
        </p:txBody>
      </p:sp>
      <p:sp>
        <p:nvSpPr>
          <p:cNvPr id="15" name="태그칩"/>
          <p:cNvSpPr/>
          <p:nvPr/>
        </p:nvSpPr>
        <p:spPr>
          <a:xfrm>
            <a:off x="455716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55716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08287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08287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요금 광역상수도사업</a:t>
            </a:r>
          </a:p>
        </p:txBody>
      </p:sp>
      <p:sp>
        <p:nvSpPr>
          <p:cNvPr id="24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대행 및 수탁사업</a:t>
            </a:r>
          </a:p>
        </p:txBody>
      </p:sp>
      <p:sp>
        <p:nvSpPr>
          <p:cNvPr id="26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수익 해외사업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동결, 원가급등으로 수익개선 구조적 한계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필수 공공사업 수행 불구 낮은 대가 현실화율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3044087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해외 주요 투자회사 일상적 재무리스크 노출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926783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1769478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17694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1769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운영혁신·원가절감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 재정 확대 반영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리스크 맞춤형 관리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AI물관리 확대(정수장~관망)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도입 원가 절감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현대화사업 수수료율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적정 대가 반영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044087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사업 대상 분기별 재무성과 및 리스크 분석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926783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틀"/>
          <p:cNvSpPr/>
          <p:nvPr/>
        </p:nvSpPr>
        <p:spPr>
          <a:xfrm>
            <a:off x="536870" y="2536435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성과 라벨"/>
          <p:cNvSpPr/>
          <p:nvPr/>
        </p:nvSpPr>
        <p:spPr>
          <a:xfrm>
            <a:off x="547826" y="2547391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9" name="성과 라벨"/>
          <p:cNvSpPr>
            <a:spLocks noGrp="1"/>
          </p:cNvSpPr>
          <p:nvPr>
            <p:ph type="body" sz="quarter" idx="39"/>
          </p:nvPr>
        </p:nvSpPr>
        <p:spPr>
          <a:xfrm>
            <a:off x="547826" y="2547391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성과 띠"/>
          <p:cNvSpPr/>
          <p:nvPr/>
        </p:nvSpPr>
        <p:spPr>
          <a:xfrm>
            <a:off x="1172348" y="2569304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1" name="성과 띠"/>
          <p:cNvSpPr>
            <a:spLocks noGrp="1"/>
          </p:cNvSpPr>
          <p:nvPr>
            <p:ph type="body" sz="quarter" idx="40"/>
          </p:nvPr>
        </p:nvSpPr>
        <p:spPr>
          <a:xfrm>
            <a:off x="1172348" y="2569304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단위당 전력사용 절감 · 생산원가 절감 · 수수료율 · 유지관리비 · 앙갓 흑자 · 파트린드 배당</a:t>
            </a:r>
          </a:p>
        </p:txBody>
      </p:sp>
      <p:sp>
        <p:nvSpPr>
          <p:cNvPr id="52" name="카드"/>
          <p:cNvSpPr/>
          <p:nvPr/>
        </p:nvSpPr>
        <p:spPr>
          <a:xfrm>
            <a:off x="1172348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카드 문구"/>
          <p:cNvSpPr>
            <a:spLocks noGrp="1"/>
          </p:cNvSpPr>
          <p:nvPr>
            <p:ph type="body" sz="quarter" idx="41"/>
          </p:nvPr>
        </p:nvSpPr>
        <p:spPr>
          <a:xfrm>
            <a:off x="1194261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전력사용</a:t>
            </a:r>
          </a:p>
        </p:txBody>
      </p:sp>
      <p:sp>
        <p:nvSpPr>
          <p:cNvPr id="54" name="막대"/>
          <p:cNvSpPr/>
          <p:nvPr/>
        </p:nvSpPr>
        <p:spPr>
          <a:xfrm>
            <a:off x="124904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값"/>
          <p:cNvSpPr>
            <a:spLocks noGrp="1"/>
          </p:cNvSpPr>
          <p:nvPr>
            <p:ph type="body" sz="quarter" idx="42"/>
          </p:nvPr>
        </p:nvSpPr>
        <p:spPr>
          <a:xfrm>
            <a:off x="1161391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26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43"/>
          </p:nvPr>
        </p:nvSpPr>
        <p:spPr>
          <a:xfrm>
            <a:off x="1161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막대"/>
          <p:cNvSpPr/>
          <p:nvPr/>
        </p:nvSpPr>
        <p:spPr>
          <a:xfrm>
            <a:off x="1623391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4"/>
          </p:nvPr>
        </p:nvSpPr>
        <p:spPr>
          <a:xfrm>
            <a:off x="1535739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5"/>
          </p:nvPr>
        </p:nvSpPr>
        <p:spPr>
          <a:xfrm>
            <a:off x="1535739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0" name="카드"/>
          <p:cNvSpPr/>
          <p:nvPr/>
        </p:nvSpPr>
        <p:spPr>
          <a:xfrm>
            <a:off x="2118261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46"/>
          </p:nvPr>
        </p:nvSpPr>
        <p:spPr>
          <a:xfrm>
            <a:off x="2140174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생산원가</a:t>
            </a:r>
          </a:p>
        </p:txBody>
      </p:sp>
      <p:sp>
        <p:nvSpPr>
          <p:cNvPr id="62" name="막대"/>
          <p:cNvSpPr/>
          <p:nvPr/>
        </p:nvSpPr>
        <p:spPr>
          <a:xfrm>
            <a:off x="2194957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값"/>
          <p:cNvSpPr>
            <a:spLocks noGrp="1"/>
          </p:cNvSpPr>
          <p:nvPr>
            <p:ph type="body" sz="quarter" idx="47"/>
          </p:nvPr>
        </p:nvSpPr>
        <p:spPr>
          <a:xfrm>
            <a:off x="2107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48"/>
          </p:nvPr>
        </p:nvSpPr>
        <p:spPr>
          <a:xfrm>
            <a:off x="2107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5" name="막대"/>
          <p:cNvSpPr/>
          <p:nvPr/>
        </p:nvSpPr>
        <p:spPr>
          <a:xfrm>
            <a:off x="2569304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49"/>
          </p:nvPr>
        </p:nvSpPr>
        <p:spPr>
          <a:xfrm>
            <a:off x="2481652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182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0"/>
          </p:nvPr>
        </p:nvSpPr>
        <p:spPr>
          <a:xfrm>
            <a:off x="2481652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8" name="카드"/>
          <p:cNvSpPr/>
          <p:nvPr/>
        </p:nvSpPr>
        <p:spPr>
          <a:xfrm>
            <a:off x="3064174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51"/>
          </p:nvPr>
        </p:nvSpPr>
        <p:spPr>
          <a:xfrm>
            <a:off x="3086087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수수료율</a:t>
            </a:r>
          </a:p>
        </p:txBody>
      </p:sp>
      <p:sp>
        <p:nvSpPr>
          <p:cNvPr id="70" name="막대"/>
          <p:cNvSpPr/>
          <p:nvPr/>
        </p:nvSpPr>
        <p:spPr>
          <a:xfrm>
            <a:off x="3140870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값"/>
          <p:cNvSpPr>
            <a:spLocks noGrp="1"/>
          </p:cNvSpPr>
          <p:nvPr>
            <p:ph type="body" sz="quarter" idx="52"/>
          </p:nvPr>
        </p:nvSpPr>
        <p:spPr>
          <a:xfrm>
            <a:off x="3053217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8%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53"/>
          </p:nvPr>
        </p:nvSpPr>
        <p:spPr>
          <a:xfrm>
            <a:off x="305321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막대"/>
          <p:cNvSpPr/>
          <p:nvPr/>
        </p:nvSpPr>
        <p:spPr>
          <a:xfrm>
            <a:off x="3515217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값"/>
          <p:cNvSpPr>
            <a:spLocks noGrp="1"/>
          </p:cNvSpPr>
          <p:nvPr>
            <p:ph type="body" sz="quarter" idx="54"/>
          </p:nvPr>
        </p:nvSpPr>
        <p:spPr>
          <a:xfrm>
            <a:off x="3427565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12%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55"/>
          </p:nvPr>
        </p:nvSpPr>
        <p:spPr>
          <a:xfrm>
            <a:off x="3427565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6" name="카드"/>
          <p:cNvSpPr/>
          <p:nvPr/>
        </p:nvSpPr>
        <p:spPr>
          <a:xfrm>
            <a:off x="4010087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56"/>
          </p:nvPr>
        </p:nvSpPr>
        <p:spPr>
          <a:xfrm>
            <a:off x="4032000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유지관리비</a:t>
            </a:r>
          </a:p>
        </p:txBody>
      </p:sp>
      <p:sp>
        <p:nvSpPr>
          <p:cNvPr id="78" name="막대"/>
          <p:cNvSpPr/>
          <p:nvPr/>
        </p:nvSpPr>
        <p:spPr>
          <a:xfrm>
            <a:off x="408678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7"/>
          </p:nvPr>
        </p:nvSpPr>
        <p:spPr>
          <a:xfrm>
            <a:off x="3999130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601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8"/>
          </p:nvPr>
        </p:nvSpPr>
        <p:spPr>
          <a:xfrm>
            <a:off x="3999130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막대"/>
          <p:cNvSpPr/>
          <p:nvPr/>
        </p:nvSpPr>
        <p:spPr>
          <a:xfrm>
            <a:off x="4461130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값"/>
          <p:cNvSpPr>
            <a:spLocks noGrp="1"/>
          </p:cNvSpPr>
          <p:nvPr>
            <p:ph type="body" sz="quarter" idx="59"/>
          </p:nvPr>
        </p:nvSpPr>
        <p:spPr>
          <a:xfrm>
            <a:off x="4373478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647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60"/>
          </p:nvPr>
        </p:nvSpPr>
        <p:spPr>
          <a:xfrm>
            <a:off x="4373478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84" name="카드"/>
          <p:cNvSpPr/>
          <p:nvPr/>
        </p:nvSpPr>
        <p:spPr>
          <a:xfrm>
            <a:off x="4956000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61"/>
          </p:nvPr>
        </p:nvSpPr>
        <p:spPr>
          <a:xfrm>
            <a:off x="4977913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앙갓</a:t>
            </a:r>
          </a:p>
        </p:txBody>
      </p:sp>
      <p:sp>
        <p:nvSpPr>
          <p:cNvPr id="86" name="막대"/>
          <p:cNvSpPr/>
          <p:nvPr/>
        </p:nvSpPr>
        <p:spPr>
          <a:xfrm>
            <a:off x="5032696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2"/>
          </p:nvPr>
        </p:nvSpPr>
        <p:spPr>
          <a:xfrm>
            <a:off x="4945043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139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3"/>
          </p:nvPr>
        </p:nvSpPr>
        <p:spPr>
          <a:xfrm>
            <a:off x="4945043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9" name="막대"/>
          <p:cNvSpPr/>
          <p:nvPr/>
        </p:nvSpPr>
        <p:spPr>
          <a:xfrm>
            <a:off x="5407043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4"/>
          </p:nvPr>
        </p:nvSpPr>
        <p:spPr>
          <a:xfrm>
            <a:off x="5319391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207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5"/>
          </p:nvPr>
        </p:nvSpPr>
        <p:spPr>
          <a:xfrm>
            <a:off x="5319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5901913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6"/>
          </p:nvPr>
        </p:nvSpPr>
        <p:spPr>
          <a:xfrm>
            <a:off x="5923826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파트린드</a:t>
            </a:r>
          </a:p>
        </p:txBody>
      </p:sp>
      <p:sp>
        <p:nvSpPr>
          <p:cNvPr id="94" name="막대"/>
          <p:cNvSpPr/>
          <p:nvPr/>
        </p:nvSpPr>
        <p:spPr>
          <a:xfrm>
            <a:off x="5978609" y="3237652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7"/>
          </p:nvPr>
        </p:nvSpPr>
        <p:spPr>
          <a:xfrm>
            <a:off x="5890957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538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8"/>
          </p:nvPr>
        </p:nvSpPr>
        <p:spPr>
          <a:xfrm>
            <a:off x="589095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이익</a:t>
            </a:r>
          </a:p>
        </p:txBody>
      </p:sp>
      <p:sp>
        <p:nvSpPr>
          <p:cNvPr id="97" name="막대"/>
          <p:cNvSpPr/>
          <p:nvPr/>
        </p:nvSpPr>
        <p:spPr>
          <a:xfrm>
            <a:off x="6352957" y="3325304"/>
            <a:ext cx="164348" cy="7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9"/>
          </p:nvPr>
        </p:nvSpPr>
        <p:spPr>
          <a:xfrm>
            <a:off x="6265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133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70"/>
          </p:nvPr>
        </p:nvSpPr>
        <p:spPr>
          <a:xfrm>
            <a:off x="6265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배당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2 서사 · 현금흐름 안정성 제고(추진배경 → 총사업비 · 투자-현금흐름 · 차입 만기 → B.P 재무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현금흐름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현금흐름 안정성 제고로 중장기 재무리스크 선제적 관리</a:t>
            </a:r>
          </a:p>
        </p:txBody>
      </p:sp>
      <p:sp>
        <p:nvSpPr>
          <p:cNvPr id="14" name="태그칩"/>
          <p:cNvSpPr/>
          <p:nvPr/>
        </p:nvSpPr>
        <p:spPr>
          <a:xfrm>
            <a:off x="497174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7174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29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자본 투자·장기 회수로 초기 투자 의사결정 및 자금조달·상환 관리 중요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364087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36408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총사업비 최적화</a:t>
            </a:r>
          </a:p>
        </p:txBody>
      </p:sp>
      <p:sp>
        <p:nvSpPr>
          <p:cNvPr id="25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투자-현금흐름 연계 관리</a:t>
            </a:r>
          </a:p>
        </p:txBody>
      </p:sp>
      <p:sp>
        <p:nvSpPr>
          <p:cNvPr id="27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차입 만기 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 강화를 위해 계획단계부터 사업비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조정심사 566억원 절감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조정 시 중장기 투자계획 연계 현금흐름 영향 분석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 사전 검토항목 제도화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투자~회수 장기간 소요 고려 수공채 장기물 발행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평균만기 3.8년(’24) → 6.9년(’25)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틀"/>
          <p:cNvSpPr/>
          <p:nvPr/>
        </p:nvSpPr>
        <p:spPr>
          <a:xfrm>
            <a:off x="723130" y="2426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성과 라벨"/>
          <p:cNvSpPr/>
          <p:nvPr/>
        </p:nvSpPr>
        <p:spPr>
          <a:xfrm>
            <a:off x="734087" y="2437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라벨"/>
          <p:cNvSpPr>
            <a:spLocks noGrp="1"/>
          </p:cNvSpPr>
          <p:nvPr>
            <p:ph type="body" sz="quarter" idx="33"/>
          </p:nvPr>
        </p:nvSpPr>
        <p:spPr>
          <a:xfrm>
            <a:off x="734087" y="2437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재무성과</a:t>
            </a:r>
          </a:p>
        </p:txBody>
      </p:sp>
      <p:sp>
        <p:nvSpPr>
          <p:cNvPr id="37" name="성과 띠"/>
          <p:cNvSpPr/>
          <p:nvPr/>
        </p:nvSpPr>
        <p:spPr>
          <a:xfrm>
            <a:off x="1358609" y="2459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성과 띠"/>
          <p:cNvSpPr>
            <a:spLocks noGrp="1"/>
          </p:cNvSpPr>
          <p:nvPr>
            <p:ph type="body" sz="quarter" idx="34"/>
          </p:nvPr>
        </p:nvSpPr>
        <p:spPr>
          <a:xfrm>
            <a:off x="1358609" y="2459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전사적 재무개선 노력을 통해 4개 핵심성과 全 재무지표 목표 초과 달성!</a:t>
            </a:r>
          </a:p>
        </p:txBody>
      </p:sp>
      <p:sp>
        <p:nvSpPr>
          <p:cNvPr id="39" name="카드"/>
          <p:cNvSpPr/>
          <p:nvPr/>
        </p:nvSpPr>
        <p:spPr>
          <a:xfrm>
            <a:off x="1358609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카드 문구"/>
          <p:cNvSpPr>
            <a:spLocks noGrp="1"/>
          </p:cNvSpPr>
          <p:nvPr>
            <p:ph type="body" sz="quarter" idx="35"/>
          </p:nvPr>
        </p:nvSpPr>
        <p:spPr>
          <a:xfrm>
            <a:off x="1380522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1" name="막대"/>
          <p:cNvSpPr/>
          <p:nvPr/>
        </p:nvSpPr>
        <p:spPr>
          <a:xfrm>
            <a:off x="1435304" y="3144522"/>
            <a:ext cx="164348" cy="147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값"/>
          <p:cNvSpPr>
            <a:spLocks noGrp="1"/>
          </p:cNvSpPr>
          <p:nvPr>
            <p:ph type="body" sz="quarter" idx="36"/>
          </p:nvPr>
        </p:nvSpPr>
        <p:spPr>
          <a:xfrm>
            <a:off x="1347652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4.8</a:t>
            </a:r>
          </a:p>
        </p:txBody>
      </p:sp>
      <p:sp>
        <p:nvSpPr>
          <p:cNvPr id="43" name="연도"/>
          <p:cNvSpPr>
            <a:spLocks noGrp="1"/>
          </p:cNvSpPr>
          <p:nvPr>
            <p:ph type="body" sz="quarter" idx="37"/>
          </p:nvPr>
        </p:nvSpPr>
        <p:spPr>
          <a:xfrm>
            <a:off x="134765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44" name="막대"/>
          <p:cNvSpPr/>
          <p:nvPr/>
        </p:nvSpPr>
        <p:spPr>
          <a:xfrm>
            <a:off x="204613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값"/>
          <p:cNvSpPr>
            <a:spLocks noGrp="1"/>
          </p:cNvSpPr>
          <p:nvPr>
            <p:ph type="body" sz="quarter" idx="38"/>
          </p:nvPr>
        </p:nvSpPr>
        <p:spPr>
          <a:xfrm>
            <a:off x="195847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4.9</a:t>
            </a:r>
          </a:p>
        </p:txBody>
      </p:sp>
      <p:sp>
        <p:nvSpPr>
          <p:cNvPr id="46" name="연도"/>
          <p:cNvSpPr>
            <a:spLocks noGrp="1"/>
          </p:cNvSpPr>
          <p:nvPr>
            <p:ph type="body" sz="quarter" idx="39"/>
          </p:nvPr>
        </p:nvSpPr>
        <p:spPr>
          <a:xfrm>
            <a:off x="195847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47" name="카드"/>
          <p:cNvSpPr/>
          <p:nvPr/>
        </p:nvSpPr>
        <p:spPr>
          <a:xfrm>
            <a:off x="277747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카드 문구"/>
          <p:cNvSpPr>
            <a:spLocks noGrp="1"/>
          </p:cNvSpPr>
          <p:nvPr>
            <p:ph type="body" sz="quarter" idx="40"/>
          </p:nvPr>
        </p:nvSpPr>
        <p:spPr>
          <a:xfrm>
            <a:off x="279939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49" name="막대"/>
          <p:cNvSpPr/>
          <p:nvPr/>
        </p:nvSpPr>
        <p:spPr>
          <a:xfrm>
            <a:off x="2854174" y="3177391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1"/>
          </p:nvPr>
        </p:nvSpPr>
        <p:spPr>
          <a:xfrm>
            <a:off x="2766522" y="300208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1869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2"/>
          </p:nvPr>
        </p:nvSpPr>
        <p:spPr>
          <a:xfrm>
            <a:off x="276652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52" name="막대"/>
          <p:cNvSpPr/>
          <p:nvPr/>
        </p:nvSpPr>
        <p:spPr>
          <a:xfrm>
            <a:off x="346500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3"/>
          </p:nvPr>
        </p:nvSpPr>
        <p:spPr>
          <a:xfrm>
            <a:off x="337734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2239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4"/>
          </p:nvPr>
        </p:nvSpPr>
        <p:spPr>
          <a:xfrm>
            <a:off x="337734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55" name="카드"/>
          <p:cNvSpPr/>
          <p:nvPr/>
        </p:nvSpPr>
        <p:spPr>
          <a:xfrm>
            <a:off x="419634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카드 문구"/>
          <p:cNvSpPr>
            <a:spLocks noGrp="1"/>
          </p:cNvSpPr>
          <p:nvPr>
            <p:ph type="body" sz="quarter" idx="45"/>
          </p:nvPr>
        </p:nvSpPr>
        <p:spPr>
          <a:xfrm>
            <a:off x="421826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57" name="막대"/>
          <p:cNvSpPr/>
          <p:nvPr/>
        </p:nvSpPr>
        <p:spPr>
          <a:xfrm>
            <a:off x="427304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6"/>
          </p:nvPr>
        </p:nvSpPr>
        <p:spPr>
          <a:xfrm>
            <a:off x="418539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98.1%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7"/>
          </p:nvPr>
        </p:nvSpPr>
        <p:spPr>
          <a:xfrm>
            <a:off x="418539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막대"/>
          <p:cNvSpPr/>
          <p:nvPr/>
        </p:nvSpPr>
        <p:spPr>
          <a:xfrm>
            <a:off x="4883870" y="314452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값"/>
          <p:cNvSpPr>
            <a:spLocks noGrp="1"/>
          </p:cNvSpPr>
          <p:nvPr>
            <p:ph type="body" sz="quarter" idx="48"/>
          </p:nvPr>
        </p:nvSpPr>
        <p:spPr>
          <a:xfrm>
            <a:off x="4796217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92.7%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49"/>
          </p:nvPr>
        </p:nvSpPr>
        <p:spPr>
          <a:xfrm>
            <a:off x="479621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63" name="카드"/>
          <p:cNvSpPr/>
          <p:nvPr/>
        </p:nvSpPr>
        <p:spPr>
          <a:xfrm>
            <a:off x="5615217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카드 문구"/>
          <p:cNvSpPr>
            <a:spLocks noGrp="1"/>
          </p:cNvSpPr>
          <p:nvPr>
            <p:ph type="body" sz="quarter" idx="50"/>
          </p:nvPr>
        </p:nvSpPr>
        <p:spPr>
          <a:xfrm>
            <a:off x="5637130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순차입금/EBITDA</a:t>
            </a:r>
          </a:p>
        </p:txBody>
      </p:sp>
      <p:sp>
        <p:nvSpPr>
          <p:cNvPr id="65" name="막대"/>
          <p:cNvSpPr/>
          <p:nvPr/>
        </p:nvSpPr>
        <p:spPr>
          <a:xfrm>
            <a:off x="569191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51"/>
          </p:nvPr>
        </p:nvSpPr>
        <p:spPr>
          <a:xfrm>
            <a:off x="560426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6.6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2"/>
          </p:nvPr>
        </p:nvSpPr>
        <p:spPr>
          <a:xfrm>
            <a:off x="560426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8" name="막대"/>
          <p:cNvSpPr/>
          <p:nvPr/>
        </p:nvSpPr>
        <p:spPr>
          <a:xfrm>
            <a:off x="6302739" y="3152739"/>
            <a:ext cx="164348" cy="139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53"/>
          </p:nvPr>
        </p:nvSpPr>
        <p:spPr>
          <a:xfrm>
            <a:off x="6215087" y="297743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5.8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4"/>
          </p:nvPr>
        </p:nvSpPr>
        <p:spPr>
          <a:xfrm>
            <a:off x="621508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3 서사 · 중장기(’25~’29) 재무계획 수립(비전 → 환경분석 SWOT → 시사점 → 기본방향 → 중점사항 → 재무목표 → 이행점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전략목표·국정과제 실현을 위한 중장기(’25~’29년) 재무계획 수립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354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 연계 투자, 일정 수준 수익성 및 안정성 구현으로 공기업 책임 실현</a:t>
            </a:r>
          </a:p>
        </p:txBody>
      </p:sp>
      <p:sp>
        <p:nvSpPr>
          <p:cNvPr id="17" name="태그칩"/>
          <p:cNvSpPr/>
          <p:nvPr/>
        </p:nvSpPr>
        <p:spPr>
          <a:xfrm>
            <a:off x="477092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77092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626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51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기후위기를 극복하는 AI 물관리 세계1위 기업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76540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76540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76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17873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7873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2166730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66730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31" name="머리칸"/>
          <p:cNvSpPr/>
          <p:nvPr/>
        </p:nvSpPr>
        <p:spPr>
          <a:xfrm>
            <a:off x="1161391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 · O (강점·기회)</a:t>
            </a:r>
          </a:p>
        </p:txBody>
      </p:sp>
      <p:sp>
        <p:nvSpPr>
          <p:cNvPr id="33" name="머리칸"/>
          <p:cNvSpPr/>
          <p:nvPr/>
        </p:nvSpPr>
        <p:spPr>
          <a:xfrm>
            <a:off x="3985435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 · T (약점·위기)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강점 물관리 역량, AI 물관리 원천 기술 / AI정수장, DT 해외진출 등 글로벌 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기회 정책 투자 마중물 역할 수행 필요 / 첨단산단지원, 재생e, AI 투자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약점 시설 노후화로 투자 수요 증가 및 유지 부담 / 장기 요금동결로 광역(상)사업 손실 전환(’23년~)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 공공부문 재무건전성 확보 요구 / 국민부담 완화를 위한 공공요금 동결 기조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3985435" y="24625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3492470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492470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492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新성장 사업 투자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필수사업 수익성 개선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유지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536870" y="4149861"/>
            <a:ext cx="6300000" cy="39128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4166296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4166296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41882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41882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‘미래성장 투자 확대’ + ‘투자재원 확보를 위한 수익성 강화’ 노력 병행</a:t>
            </a:r>
          </a:p>
        </p:txBody>
      </p:sp>
      <p:sp>
        <p:nvSpPr>
          <p:cNvPr id="51" name="레일"/>
          <p:cNvSpPr/>
          <p:nvPr/>
        </p:nvSpPr>
        <p:spPr>
          <a:xfrm>
            <a:off x="547826" y="4436139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44361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4436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선도적 투자</a:t>
            </a:r>
          </a:p>
        </p:txBody>
      </p:sp>
      <p:sp>
        <p:nvSpPr>
          <p:cNvPr id="56" name="머리칸"/>
          <p:cNvSpPr/>
          <p:nvPr/>
        </p:nvSpPr>
        <p:spPr>
          <a:xfrm>
            <a:off x="3044087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자구노력 신규과제 반영</a:t>
            </a:r>
          </a:p>
        </p:txBody>
      </p:sp>
      <p:sp>
        <p:nvSpPr>
          <p:cNvPr id="58" name="머리칸"/>
          <p:cNvSpPr/>
          <p:nvPr/>
        </p:nvSpPr>
        <p:spPr>
          <a:xfrm>
            <a:off x="4926783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부채관리·재무건전성 유지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전략 연계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첨단산단, AI 등 우선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국정과제·전사전략 연계 5개년 17.7조원 투자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고정단가계약 등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低전력설비 등 원가절감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원가상승 압력 불구 연평균 영업이익 2,214억원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044087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4대강 부채분담 의무이행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한도 내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재무관리계획 5년 全기간 순차입금/조정EBITDA 10 이하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926783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547826" y="5761878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5761878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장 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매출액(조원): ’25년 4.8 → ’29년 6.3 (연평균증가율 6.9%)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영업이익(억원): 1,869 → 3,432 (16.4%)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순차입금/조정EBITDA: 6.6 → 8.1 (全기간 10이하 유지)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투자 순차적 매출 실현, 투자 확대로 인한 민간투자매출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디지털설비 도입 원가절감, 재생e 시장가比 높은 고정단가계약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총부채 증가에도 자구노력 관리 강화 * ’25년말 12.5조원 → ’29년말 18.0조원</a:t>
            </a:r>
          </a:p>
        </p:txBody>
      </p:sp>
      <p:cxnSp>
        <p:nvCxnSpPr>
          <p:cNvPr id="69" name="Connector 49"/>
          <p:cNvCxnSpPr/>
          <p:nvPr/>
        </p:nvCxnSpPr>
        <p:spPr>
          <a:xfrm>
            <a:off x="3985435" y="58166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46574"/>
            <a:ext cx="580696" cy="1199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46574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이행점검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547826" y="6846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161391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0"/>
          </p:nvPr>
        </p:nvSpPr>
        <p:spPr>
          <a:xfrm>
            <a:off x="1161391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예산집행 점검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1"/>
          </p:nvPr>
        </p:nvSpPr>
        <p:spPr>
          <a:xfrm>
            <a:off x="3044087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구분회계 월결산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2"/>
          </p:nvPr>
        </p:nvSpPr>
        <p:spPr>
          <a:xfrm>
            <a:off x="4926783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중장기 위험 점검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기반 연도별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국정과제이행 TF 운영(’26~)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집행점검회의(’25년, 120회)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재무목표 대비 실적점검 * 중장기재무계획 ’25년 전망 기준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부진시 개선과제 이행</a:t>
            </a:r>
          </a:p>
        </p:txBody>
      </p:sp>
      <p:cxnSp>
        <p:nvCxnSpPr>
          <p:cNvPr id="81" name="Connector 57"/>
          <p:cNvCxnSpPr/>
          <p:nvPr/>
        </p:nvCxnSpPr>
        <p:spPr>
          <a:xfrm>
            <a:off x="3044087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중장기 위험지표 설정 * 수도투자, 유가, 금리, 분양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 단위 점검·조치</a:t>
            </a:r>
          </a:p>
        </p:txBody>
      </p:sp>
      <p:cxnSp>
        <p:nvCxnSpPr>
          <p:cNvPr id="83" name="Connector 59"/>
          <p:cNvCxnSpPr/>
          <p:nvPr/>
        </p:nvCxnSpPr>
        <p:spPr>
          <a:xfrm>
            <a:off x="4926783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4 서사 · 확장적 투자계획 수립·확정(국정과제 반영체계 → 투자계획 반영과정 → 반영결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944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 국정과제를 충실히 반영한 확장적 투자계획 수립·확정</a:t>
            </a:r>
          </a:p>
        </p:txBody>
      </p:sp>
      <p:sp>
        <p:nvSpPr>
          <p:cNvPr id="11" name="태그칩"/>
          <p:cNvSpPr/>
          <p:nvPr/>
        </p:nvSpPr>
        <p:spPr>
          <a:xfrm>
            <a:off x="46161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161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673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673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35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반영체계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전략 활동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전략과제 확정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중장기재무관리계획 반영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전략기획단, 에너지 Reboot TF, 산업용수 활성화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제안·전략 반영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국정과제-전략과제 매칭: 39 에너지 / 44 반도체 / 72 노후관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· 산단물공급 · 시설안정화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전략과제별 투자액 부여: 태양광 0.8조원 / 산단물공급 1.0조원 / 시설안정화 3.7조원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977652"/>
            <a:ext cx="580696" cy="7711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77652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반영과정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977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999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최초안 19.0조원</a:t>
            </a:r>
          </a:p>
        </p:txBody>
      </p:sp>
      <p:sp>
        <p:nvSpPr>
          <p:cNvPr id="36" name="단계"/>
          <p:cNvSpPr/>
          <p:nvPr/>
        </p:nvSpPr>
        <p:spPr>
          <a:xfrm>
            <a:off x="3230348" y="1999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안정성 관점 보완</a:t>
            </a:r>
          </a:p>
        </p:txBody>
      </p:sp>
      <p:sp>
        <p:nvSpPr>
          <p:cNvPr id="38" name="단계"/>
          <p:cNvSpPr/>
          <p:nvPr/>
        </p:nvSpPr>
        <p:spPr>
          <a:xfrm>
            <a:off x="5113043" y="1999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최종안 17.7조원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230347" y="199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5113043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최우선 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사업 전년도 규모 유지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최종연도 부채비율(’28년 108.8%) 수준 조정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3230348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중심 투자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 고려 사업조정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5113043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2765270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765270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반영결과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27652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배너"/>
          <p:cNvSpPr/>
          <p:nvPr/>
        </p:nvSpPr>
        <p:spPr>
          <a:xfrm>
            <a:off x="1347652" y="2787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2787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계획(16.7조원) 대비 1.0조원 증가된 선택과 집중의 투자계획 수립</a:t>
            </a:r>
          </a:p>
        </p:txBody>
      </p:sp>
      <p:sp>
        <p:nvSpPr>
          <p:cNvPr id="52" name="머리칸"/>
          <p:cNvSpPr/>
          <p:nvPr/>
        </p:nvSpPr>
        <p:spPr>
          <a:xfrm>
            <a:off x="1347652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39"/>
          </p:nvPr>
        </p:nvSpPr>
        <p:spPr>
          <a:xfrm>
            <a:off x="1347652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물공급·안전 등 9.3조원</a:t>
            </a:r>
          </a:p>
        </p:txBody>
      </p:sp>
      <p:sp>
        <p:nvSpPr>
          <p:cNvPr id="54" name="머리칸"/>
          <p:cNvSpPr/>
          <p:nvPr/>
        </p:nvSpPr>
        <p:spPr>
          <a:xfrm>
            <a:off x="3230348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3230348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2.0조원</a:t>
            </a:r>
          </a:p>
        </p:txBody>
      </p:sp>
      <p:sp>
        <p:nvSpPr>
          <p:cNvPr id="56" name="머리칸"/>
          <p:cNvSpPr/>
          <p:nvPr/>
        </p:nvSpPr>
        <p:spPr>
          <a:xfrm>
            <a:off x="5113043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5113043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수변·해외사업 6.4조원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활용 물관리, 첨단산단 물 공급, 노후 인프라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+0.2조원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댐수면 활용 수상태양광, 지역개발 신규조력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+1.3조원</a:t>
            </a:r>
          </a:p>
        </p:txBody>
      </p:sp>
      <p:cxnSp>
        <p:nvCxnSpPr>
          <p:cNvPr id="60" name="Connector 39"/>
          <p:cNvCxnSpPr/>
          <p:nvPr/>
        </p:nvCxnSpPr>
        <p:spPr>
          <a:xfrm>
            <a:off x="3230348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기술수출 중심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연차별 투자계획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△0.5조원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5113043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5 서사 · 적정 재무목표 수립(변동사항 반영 → 지표별 시나리오 → 재무목표 산출 → 재무목표 활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981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전년도 대비 변동사항 반영 및 시나리오 분석을 통한 적정 재무목표 수립</a:t>
            </a:r>
          </a:p>
        </p:txBody>
      </p:sp>
      <p:sp>
        <p:nvSpPr>
          <p:cNvPr id="12" name="태그칩"/>
          <p:cNvSpPr/>
          <p:nvPr/>
        </p:nvSpPr>
        <p:spPr>
          <a:xfrm>
            <a:off x="503362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3362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4177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변동사항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대비 거시환경 변화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’24년도 계획 대비 실적 차이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 하락 반영 발전판매단가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기준금리 인하 반영 발행금리 조정(0.25%p↓)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차입금 등 총부채 0.3조원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수변매출계획·실적차이 반영 조정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043391"/>
            <a:ext cx="580696" cy="12246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43391"/>
            <a:ext cx="580696" cy="12246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시나리오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2043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206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“거시환경에 따라 재무영향이 큰 핵심 변동지표 도출 및 복합 시나리오 분석”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물가: 전력요금 인상 ➡ 수도생산원가 상승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전력비(원/kW) 낙관 동결 / 현실 동결 / 비관 10%↑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2584370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공공요금: 물요금 동결 지속 ➡ 물공급 매출 정체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수도요금(원/㎥) 낙관 10%↑ / 현실 동결 / 비관 동결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2573413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유가: 발전판매가 하락 ➡ 에너지 수익 감소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국제유가(’26년 $/배럴) 낙관 82 / 현실 64 / 비관 58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408413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경기: 미분양, 연체 증가 ➡ 수변 수납 부진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분양수납액(5년) 낙관 10%↑ / 현실 사업계획 / 비관 10%↓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5397457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284452"/>
            <a:ext cx="580696" cy="958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284452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 출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낙관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044087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현실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4926783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매출액(조원) ’25 4.8 → ’29 6.6 / 영업이익(억원) 1,869 → 5,824 / 순차입금/조정EBITDA 6.6 → 6.5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현실(재무목표) 4.8 → 6.3 / 1,869 → 3,432 / 6.6 → 8.1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044087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비관 4.8 → 6.2 / 1,869 → 1,658 / 6.6 → 9.6</a:t>
            </a:r>
          </a:p>
        </p:txBody>
      </p:sp>
      <p:cxnSp>
        <p:nvCxnSpPr>
          <p:cNvPr id="48" name="Connector 34"/>
          <p:cNvCxnSpPr/>
          <p:nvPr/>
        </p:nvCxnSpPr>
        <p:spPr>
          <a:xfrm>
            <a:off x="4926783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4259583"/>
            <a:ext cx="580696" cy="953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259583"/>
            <a:ext cx="580696" cy="95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 등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425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161391" y="42814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42814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‘고물가 등 악조건에서도 공기업 책임 실현 위한 확장적 투자·매출계획 수립’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계획대비 상향된 재무목표 수립: 매출액(연평균) 5.1조 → 5.6조원, 영업이익(연평균) 1,989 → 2,214억원, 투자금액(5년) 16.7 → 17.7조원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 적정성 증대, 전방위 활용: 성과관리 중장기재무관리계획 수립연도 재무목표 → 관리 목표로 활용 / 계획활용 관리·투자예산, 자금·자산계획 수립 및 요금 원가전망 등 활용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985435" y="454993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6 서사 · 자구노력 발굴 확대(추진배경 → 기본방향 → 매출증대 · 이익개선 · 자산수익 · 사업조정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자구 노력 발굴 확대·중점 이행으로 중장기 재무 목표 실현 촉진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979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실효성 높은 개선 과제 중심 자구계획 수립 및 추가 개선방안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6196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196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3965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43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43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사업조정에 집행예정액 이연과 자체 절감 구분, 이연 시 장기부채 관리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자구계획에 예정액 이연과 자체 절감 분리, 투자재원 확보 위한 추가 노력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339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95573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5573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9557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중장기(’25~’29) 재무관리계획 반영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수익성 추가 개선 노력 + 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10522"/>
            <a:ext cx="0" cy="230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3570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70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매출증대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판매량 증대·고단가 판매 노력 0.2조원: 신규 재생e 고정단가계약(PPA) 체결로 시장거래比 초과 매출 증대 0.1조원↑ / 신규고객 발굴 등 수도매출 728억원↑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매출 확대 노력: 대수력 PPA 최초 체결(1개소), 확대 예정 / 수변 토지계획 변경(원가성 → 수익성)으로 미래 매출 1.3조원 증가(송산GC 등)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411843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3058278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0582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이익개선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생산원가·경상경비 저감 노력 0.1조원: 신규 고효율설비, AI 도입 물원가 △0.1조원 / 목표부여·점검 통한 경상경비 △497억원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원가보전 위한 수탁 대가 증액 노력: 현대화사업 수수료 추가 반영(’24~, 516억원↑) / 댐유지관리비 정부예산 46억원/연 증액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171696" y="3113061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759496"/>
            <a:ext cx="580696" cy="608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759496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자산수익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SOC 투자비 회수 위한 판매 등 0.4조원: 아라뱃길 투자비 보전 위한 항만시설 관리권(666억원/연), 배후부지 분양 회수액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투자 회수 노력: 분기별 재무분석, 국가위험 대응 강화로 파트린드 배당 실현(133억원), 지속 회수 기반 마련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171696" y="3814278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84017"/>
            <a:ext cx="580696" cy="6492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744637" y="44278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9"/>
          </p:nvPr>
        </p:nvSpPr>
        <p:spPr>
          <a:xfrm>
            <a:off x="744637" y="44278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0"/>
          </p:nvPr>
        </p:nvSpPr>
        <p:spPr>
          <a:xfrm>
            <a:off x="734087" y="4614104"/>
            <a:ext cx="580696" cy="397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사업조정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조정심사 통한 사업비 감액 0.6조원: 신규 수변지구(송산) 총사업비 조정심사 감축 반영(요청 11.7조원 → 조정결과 11.1조원)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2"/>
          </p:nvPr>
        </p:nvSpPr>
        <p:spPr>
          <a:xfrm>
            <a:off x="4182652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투자기간·금액 현실화: 수변사업 등 연차별 투자계획 조정(1.3조원) * 순차입금/조정EBITDA 한도 기준 부채관리 중</a:t>
            </a:r>
          </a:p>
        </p:txBody>
      </p:sp>
      <p:cxnSp>
        <p:nvCxnSpPr>
          <p:cNvPr id="51" name="Connector 38"/>
          <p:cNvCxnSpPr/>
          <p:nvPr/>
        </p:nvCxnSpPr>
        <p:spPr>
          <a:xfrm>
            <a:off x="4171696" y="4438800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734087" y="5049704"/>
            <a:ext cx="580696" cy="388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049704"/>
            <a:ext cx="580696" cy="388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50497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자구노력 1.3조원 당기 재무계획 반영, 전략과제 이행 투자 재원으로 활용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5"/>
          </p:nvPr>
        </p:nvSpPr>
        <p:spPr>
          <a:xfrm>
            <a:off x="4182652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차기 중장기 재무계획 수익성·안정성 지표 개선으로 투자 확대 가능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4171696" y="5104487"/>
            <a:ext cx="0" cy="295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7 서사 · 계획대비 실적차이 → 환류(차년도 중장기재무관리계획 피드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632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어려운 대내·외 여건에도 강도 높은 자구노력으로 ’25년 목표 초과 달성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80180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180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292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292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01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계획대비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실적차이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지표명 · ’25(목표)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과제 이행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’25(실적) · 차이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매출액(억원) 47,929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 1,869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 6.6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수익성 용지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강우량 활용 24시간 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관리비 예산 통제 통한 집행관리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49,152 (차이 1,223, 2.6%)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2,239 (차이 370, 19.8%)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5.8 (차이 △0.8, △12.1%)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삼각 화살표"/>
          <p:cNvSpPr/>
          <p:nvPr/>
        </p:nvSpPr>
        <p:spPr>
          <a:xfrm>
            <a:off x="3823826" y="2109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표 외곽"/>
          <p:cNvSpPr/>
          <p:nvPr/>
        </p:nvSpPr>
        <p:spPr>
          <a:xfrm>
            <a:off x="536870" y="2322783"/>
            <a:ext cx="6300000" cy="12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"/>
          <p:cNvSpPr/>
          <p:nvPr/>
        </p:nvSpPr>
        <p:spPr>
          <a:xfrm>
            <a:off x="547826" y="2339217"/>
            <a:ext cx="580696" cy="122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339217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34" name="배너"/>
          <p:cNvSpPr/>
          <p:nvPr/>
        </p:nvSpPr>
        <p:spPr>
          <a:xfrm>
            <a:off x="1161391" y="236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6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계획-실적 차이 분석으로 차년도 중장기재무관리계획 피드백</a:t>
            </a:r>
          </a:p>
        </p:txBody>
      </p:sp>
      <p:sp>
        <p:nvSpPr>
          <p:cNvPr id="36" name="단계"/>
          <p:cNvSpPr/>
          <p:nvPr/>
        </p:nvSpPr>
        <p:spPr>
          <a:xfrm>
            <a:off x="1161391" y="259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차이 원인</a:t>
            </a:r>
          </a:p>
        </p:txBody>
      </p:sp>
      <p:sp>
        <p:nvSpPr>
          <p:cNvPr id="38" name="단계"/>
          <p:cNvSpPr/>
          <p:nvPr/>
        </p:nvSpPr>
        <p:spPr>
          <a:xfrm>
            <a:off x="3044087" y="259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피드백 사항</a:t>
            </a:r>
          </a:p>
        </p:txBody>
      </p:sp>
      <p:sp>
        <p:nvSpPr>
          <p:cNvPr id="40" name="단계"/>
          <p:cNvSpPr/>
          <p:nvPr/>
        </p:nvSpPr>
        <p:spPr>
          <a:xfrm>
            <a:off x="4926783" y="259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차기 재무계획 롤링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044086" y="259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4926782" y="259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재무성과: 수변 매출확대 노력 등으로 1,412억원↑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재무상태: 솔로몬SPC 건설 집행·차입 지연 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필지 조기 인식 → 차기 매출 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댐개발 일부 공정 이연 * 계획-결산 부채 차이 527억원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044087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매출 목표 및 관련 영업부채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공정지연 → 연결기준 차입금 감액 반영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4926783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8 서사 · 2024년 지적사항 조치실적(성과관리 · 교육 · 인사복지 3행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51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성과관리 만족도조사의 대표성 제고 및 종합적 피드백 확보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등을 통해 직원 관심도 제고 및 제도 개선 직원 의견수렴 강화 ▶ p.94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응답률 및 만족도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응답률 27.4 → 33.8%(6.4%p↑)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만족도 80.1 → 81.3점(1.2점↑)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470696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47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정량적 교육성과 측정 기반 경력개발 연계형 성과환류시스템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492609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역량과 수준 진단, 결과에 기반한 맞춤형 경력개발 교육과정 추천체계 마련 ▶ p.95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‘교육 경력개발’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89점 → ’25년 93점, 4점↑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555391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55539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355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정체된 인사·복지 만족도 개선방안 마련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3577304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공정성을 강화한 新승진제도(시험) 도입, 노사공동 전보제도 설계, 가족愛 행복캠프 실시 등 체감형 인사·복지제도 개선 ▶ p.99</a:t>
            </a:r>
          </a:p>
        </p:txBody>
      </p:sp>
      <p:cxnSp>
        <p:nvCxnSpPr>
          <p:cNvPr id="41" name="Connector 29"/>
          <p:cNvCxnSpPr/>
          <p:nvPr/>
        </p:nvCxnSpPr>
        <p:spPr>
          <a:xfrm>
            <a:off x="2961391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역대최고 인사만족도(77.9점), 복지만족도(4.21점)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신뢰경영지수(인사·복지) 상승 * 승진 공정성 7점↑, 인프라 4점↑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5382000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9 서사 · 조직 재정렬(비전 → 전략방향 → 조직진단 → 시사점 → 추진방향 → 중장기 조직·인력 운영방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 강점 기반, 국정목표 달성 리딩을 위한 조직 재정렬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223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403843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3843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배너"/>
          <p:cNvSpPr/>
          <p:nvPr/>
        </p:nvSpPr>
        <p:spPr>
          <a:xfrm>
            <a:off x="1161391" y="14257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4257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구현(2030년 AI 물관리 세계 1위 기업)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805165"/>
            <a:ext cx="580696" cy="519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05165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051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2707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 안전 최우선 경영 + AI First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827078"/>
            <a:ext cx="4214152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국민·자연을 위한 기후안전망 강화 / 하이테크 기반의 물서비스 확대 / 재생에너지 확대 녹색도시 조성 / 물관리 해외수출 기후테크 육성 / 세계 최고 수준의 ESG 혁신경영 구현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2573413" y="1859948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캡션 띠"/>
          <p:cNvSpPr/>
          <p:nvPr/>
        </p:nvSpPr>
        <p:spPr>
          <a:xfrm>
            <a:off x="536869" y="23626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캡션"/>
          <p:cNvSpPr>
            <a:spLocks noGrp="1"/>
          </p:cNvSpPr>
          <p:nvPr>
            <p:ph type="body" sz="quarter" idx="30"/>
          </p:nvPr>
        </p:nvSpPr>
        <p:spPr>
          <a:xfrm>
            <a:off x="756000" y="2362696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【국정과제 중심의 전략체계 재정립을 토대로 조직진단 성과·분석 결과를 반영하여 조직 재설계】 】</a:t>
            </a:r>
          </a:p>
        </p:txBody>
      </p:sp>
      <p:sp>
        <p:nvSpPr>
          <p:cNvPr id="35" name="표 외곽"/>
          <p:cNvSpPr/>
          <p:nvPr/>
        </p:nvSpPr>
        <p:spPr>
          <a:xfrm>
            <a:off x="536870" y="2669478"/>
            <a:ext cx="6300000" cy="14409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"/>
          <p:cNvSpPr/>
          <p:nvPr/>
        </p:nvSpPr>
        <p:spPr>
          <a:xfrm>
            <a:off x="547826" y="2685913"/>
            <a:ext cx="580696" cy="10067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85913"/>
            <a:ext cx="580696" cy="10067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조직진단</a:t>
            </a:r>
          </a:p>
        </p:txBody>
      </p:sp>
      <p:sp>
        <p:nvSpPr>
          <p:cNvPr id="38" name="배너"/>
          <p:cNvSpPr/>
          <p:nvPr/>
        </p:nvSpPr>
        <p:spPr>
          <a:xfrm>
            <a:off x="1161391" y="2707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707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공동으로 건전한 토론과 협의를 통해 최적 조직개편방안 모색</a:t>
            </a:r>
          </a:p>
        </p:txBody>
      </p:sp>
      <p:sp>
        <p:nvSpPr>
          <p:cNvPr id="40" name="단계"/>
          <p:cNvSpPr/>
          <p:nvPr/>
        </p:nvSpPr>
        <p:spPr>
          <a:xfrm>
            <a:off x="1161391" y="294339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 숲부서 방문</a:t>
            </a:r>
          </a:p>
        </p:txBody>
      </p:sp>
      <p:sp>
        <p:nvSpPr>
          <p:cNvPr id="42" name="단계"/>
          <p:cNvSpPr/>
          <p:nvPr/>
        </p:nvSpPr>
        <p:spPr>
          <a:xfrm>
            <a:off x="2573413" y="294339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2573413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조직발전TF 운영</a:t>
            </a:r>
          </a:p>
        </p:txBody>
      </p:sp>
      <p:sp>
        <p:nvSpPr>
          <p:cNvPr id="44" name="단계"/>
          <p:cNvSpPr/>
          <p:nvPr/>
        </p:nvSpPr>
        <p:spPr>
          <a:xfrm>
            <a:off x="3985435" y="294339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</a:t>
            </a:r>
          </a:p>
        </p:txBody>
      </p:sp>
      <p:sp>
        <p:nvSpPr>
          <p:cNvPr id="46" name="단계"/>
          <p:cNvSpPr/>
          <p:nvPr/>
        </p:nvSpPr>
        <p:spPr>
          <a:xfrm>
            <a:off x="5397457" y="294339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5397457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계획수립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573413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3985434" y="2943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단계 삼각형"/>
          <p:cNvSpPr/>
          <p:nvPr/>
        </p:nvSpPr>
        <p:spPr>
          <a:xfrm>
            <a:off x="5397456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방문 진단(87개)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AI·안전·에너지·건설 등 직무 전문가 인터뷰, 심층토론(7회)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2573413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설문(2회)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설명회(5회)</a:t>
            </a:r>
          </a:p>
        </p:txBody>
      </p:sp>
      <p:cxnSp>
        <p:nvCxnSpPr>
          <p:cNvPr id="55" name="Connector 39"/>
          <p:cNvCxnSpPr/>
          <p:nvPr/>
        </p:nvCxnSpPr>
        <p:spPr>
          <a:xfrm>
            <a:off x="3985435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 조직·인력운용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조직개편(안)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5397457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레일"/>
          <p:cNvSpPr/>
          <p:nvPr/>
        </p:nvSpPr>
        <p:spPr>
          <a:xfrm>
            <a:off x="547826" y="3709096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709096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주요의견</a:t>
            </a:r>
          </a:p>
        </p:txBody>
      </p:sp>
      <p:sp>
        <p:nvSpPr>
          <p:cNvPr id="60" name="레일 삼각형"/>
          <p:cNvSpPr/>
          <p:nvPr/>
        </p:nvSpPr>
        <p:spPr>
          <a:xfrm>
            <a:off x="547826" y="37090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발굴·신속 대응(컨트롤타워 구축·역량 집중)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이행 전담조직 권한·역할·책임 명확화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3044087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이행·현장작동성 중심 효율적 인력배분</a:t>
            </a:r>
          </a:p>
        </p:txBody>
      </p:sp>
      <p:cxnSp>
        <p:nvCxnSpPr>
          <p:cNvPr id="65" name="Connector 48"/>
          <p:cNvCxnSpPr/>
          <p:nvPr/>
        </p:nvCxnSpPr>
        <p:spPr>
          <a:xfrm>
            <a:off x="4926783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캡션 띠"/>
          <p:cNvSpPr/>
          <p:nvPr/>
        </p:nvSpPr>
        <p:spPr>
          <a:xfrm>
            <a:off x="536869" y="41323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865565" y="41761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5"/>
          </p:nvPr>
        </p:nvSpPr>
        <p:spPr>
          <a:xfrm>
            <a:off x="865565" y="41761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9" name="캡션"/>
          <p:cNvSpPr>
            <a:spLocks noGrp="1"/>
          </p:cNvSpPr>
          <p:nvPr>
            <p:ph type="body" sz="quarter" idx="46"/>
          </p:nvPr>
        </p:nvSpPr>
        <p:spPr>
          <a:xfrm>
            <a:off x="1359219" y="41323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‘미래성장 리딩을 위한 전략적 대응’과 ‘실행 중심 민첩대응’의 양손잡이 조직 설계</a:t>
            </a:r>
          </a:p>
        </p:txBody>
      </p:sp>
      <p:sp>
        <p:nvSpPr>
          <p:cNvPr id="70" name="표 외곽"/>
          <p:cNvSpPr/>
          <p:nvPr/>
        </p:nvSpPr>
        <p:spPr>
          <a:xfrm>
            <a:off x="536870" y="4439113"/>
            <a:ext cx="6300000" cy="224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레일"/>
          <p:cNvSpPr/>
          <p:nvPr/>
        </p:nvSpPr>
        <p:spPr>
          <a:xfrm>
            <a:off x="547826" y="4455548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4455548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73" name="머리칸"/>
          <p:cNvSpPr/>
          <p:nvPr/>
        </p:nvSpPr>
        <p:spPr>
          <a:xfrm>
            <a:off x="1161391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48"/>
          </p:nvPr>
        </p:nvSpPr>
        <p:spPr>
          <a:xfrm>
            <a:off x="1161391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드라이브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49"/>
          </p:nvPr>
        </p:nvSpPr>
        <p:spPr>
          <a:xfrm>
            <a:off x="3044087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핵심기능 실행력 확보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0"/>
          </p:nvPr>
        </p:nvSpPr>
        <p:spPr>
          <a:xfrm>
            <a:off x="4926783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인력 운영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1"/>
          </p:nvPr>
        </p:nvSpPr>
        <p:spPr>
          <a:xfrm>
            <a:off x="1172348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총괄 컨트롤타워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조직 대폭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물수요 적기 대응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2"/>
          </p:nvPr>
        </p:nvSpPr>
        <p:spPr>
          <a:xfrm>
            <a:off x="3055043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실행체계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R&amp;R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 연계형 전담조직 운영</a:t>
            </a:r>
          </a:p>
        </p:txBody>
      </p:sp>
      <p:cxnSp>
        <p:nvCxnSpPr>
          <p:cNvPr id="81" name="Connector 59"/>
          <p:cNvCxnSpPr/>
          <p:nvPr/>
        </p:nvCxnSpPr>
        <p:spPr>
          <a:xfrm>
            <a:off x="3044087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3"/>
          </p:nvPr>
        </p:nvSpPr>
        <p:spPr>
          <a:xfrm>
            <a:off x="4937739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끊임없는 인력제도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인력자원 배분관리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기반 조직관리 정착</a:t>
            </a:r>
          </a:p>
        </p:txBody>
      </p:sp>
      <p:cxnSp>
        <p:nvCxnSpPr>
          <p:cNvPr id="83" name="Connector 61"/>
          <p:cNvCxnSpPr/>
          <p:nvPr/>
        </p:nvCxnSpPr>
        <p:spPr>
          <a:xfrm>
            <a:off x="4926783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레일"/>
          <p:cNvSpPr/>
          <p:nvPr/>
        </p:nvSpPr>
        <p:spPr>
          <a:xfrm>
            <a:off x="547826" y="5343026"/>
            <a:ext cx="580696" cy="132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5343026"/>
            <a:ext cx="580696" cy="13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86" name="레일 삼각형"/>
          <p:cNvSpPr/>
          <p:nvPr/>
        </p:nvSpPr>
        <p:spPr>
          <a:xfrm>
            <a:off x="547826" y="5343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배너"/>
          <p:cNvSpPr/>
          <p:nvPr/>
        </p:nvSpPr>
        <p:spPr>
          <a:xfrm>
            <a:off x="1161391" y="5364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8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5364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조직·인력 운영방향</a:t>
            </a:r>
          </a:p>
        </p:txBody>
      </p:sp>
      <p:sp>
        <p:nvSpPr>
          <p:cNvPr id="89" name="단계"/>
          <p:cNvSpPr/>
          <p:nvPr/>
        </p:nvSpPr>
        <p:spPr>
          <a:xfrm>
            <a:off x="1161391" y="56005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1161391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단기(’25~’27) ~’27 6,596명</a:t>
            </a:r>
          </a:p>
        </p:txBody>
      </p:sp>
      <p:sp>
        <p:nvSpPr>
          <p:cNvPr id="91" name="단계"/>
          <p:cNvSpPr/>
          <p:nvPr/>
        </p:nvSpPr>
        <p:spPr>
          <a:xfrm>
            <a:off x="3044087" y="56005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2" name="단계"/>
          <p:cNvSpPr>
            <a:spLocks noGrp="1"/>
          </p:cNvSpPr>
          <p:nvPr>
            <p:ph type="body" sz="quarter" idx="57"/>
          </p:nvPr>
        </p:nvSpPr>
        <p:spPr>
          <a:xfrm>
            <a:off x="3044087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중기(’28~’30) ~’30 6,747명</a:t>
            </a:r>
          </a:p>
        </p:txBody>
      </p:sp>
      <p:sp>
        <p:nvSpPr>
          <p:cNvPr id="93" name="단계"/>
          <p:cNvSpPr/>
          <p:nvPr/>
        </p:nvSpPr>
        <p:spPr>
          <a:xfrm>
            <a:off x="4926783" y="56005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4" name="단계"/>
          <p:cNvSpPr>
            <a:spLocks noGrp="1"/>
          </p:cNvSpPr>
          <p:nvPr>
            <p:ph type="body" sz="quarter" idx="58"/>
          </p:nvPr>
        </p:nvSpPr>
        <p:spPr>
          <a:xfrm>
            <a:off x="4926783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장기(’30~’33) ~’33 6,850명</a:t>
            </a:r>
          </a:p>
        </p:txBody>
      </p:sp>
      <p:sp>
        <p:nvSpPr>
          <p:cNvPr id="95" name="단계 삼각형"/>
          <p:cNvSpPr/>
          <p:nvPr/>
        </p:nvSpPr>
        <p:spPr>
          <a:xfrm>
            <a:off x="3044086" y="56005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단계 삼각형"/>
          <p:cNvSpPr/>
          <p:nvPr/>
        </p:nvSpPr>
        <p:spPr>
          <a:xfrm>
            <a:off x="4926782" y="56005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9"/>
          </p:nvPr>
        </p:nvSpPr>
        <p:spPr>
          <a:xfrm>
            <a:off x="1172348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초순수·첨단용수 지원기반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시장진출 기반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거점 건설전담조직 집중 / 효율화 수도 AX, DX전환 돌입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3055043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등 업무역량 결집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민관협력 글로벌시장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반도체용수 2단계 착공 / 효율화 AI 완전 자율화 3단계 달성</a:t>
            </a:r>
          </a:p>
        </p:txBody>
      </p:sp>
      <p:cxnSp>
        <p:nvCxnSpPr>
          <p:cNvPr id="99" name="Connector 72"/>
          <p:cNvCxnSpPr/>
          <p:nvPr/>
        </p:nvCxnSpPr>
        <p:spPr>
          <a:xfrm>
            <a:off x="3044087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61"/>
          </p:nvPr>
        </p:nvSpPr>
        <p:spPr>
          <a:xfrm>
            <a:off x="4937739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유역단위 시설 운영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글로벌사업 안착, 新사업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新사업분야 발굴, 운영 / 효율화 기존사업 통합 운영</a:t>
            </a:r>
          </a:p>
        </p:txBody>
      </p:sp>
      <p:cxnSp>
        <p:nvCxnSpPr>
          <p:cNvPr id="101" name="Connector 74"/>
          <p:cNvCxnSpPr/>
          <p:nvPr/>
        </p:nvCxnSpPr>
        <p:spPr>
          <a:xfrm>
            <a:off x="4926783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0 서사 · 미래성장 드라이브(3대 전사 TF 운영 → 과감한 조직 정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3대 전사 TF 기반 과감한 조직 정비를 통한 미래 준비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 영</a:t>
            </a:r>
          </a:p>
        </p:txBody>
      </p:sp>
      <p:sp>
        <p:nvSpPr>
          <p:cNvPr id="17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AX와 녹색전환을 핵심 성장동력으로 설정, 3대 미래분야 전사TF를 선제 운영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전략기획단(6월~) / AI+Water 글로벌 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AI 물관리 글로벌 1위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241304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Re:boot TF(3월~) / 국가 탄소중립과 기업 RE100 달성 기여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재생e 10GW 개발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230348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124000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활성화 TF(3월~) / 맞춤형 첨단용수 공급망 AtoZ 스피드업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일 87만㎥ 선제 공급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5113043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미래성장분야 2030 목표 달성 이행을 위해 실행조직 신속 정비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1 서사 · AI 물관리 성과 확산체계(정책 → 전략 → AI 전담 실행조직 → 유기적 AI 조직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68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2020년부터 선도적으로 준비한 ‘AI 물관리 성과’ 본격 확산체계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2229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2229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7341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7341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FIRST</a:t>
            </a:r>
          </a:p>
        </p:txBody>
      </p:sp>
      <p:sp>
        <p:nvSpPr>
          <p:cNvPr id="19" name="태그"/>
          <p:cNvSpPr/>
          <p:nvPr/>
        </p:nvSpPr>
        <p:spPr>
          <a:xfrm>
            <a:off x="1161391" y="111208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11208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1567189" y="110113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도약(AX 통한 新산업 창출) ➡ 전략 AI+Water 분야 선점(물순환 全과정 AX 본격화)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25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 실행조직 신설·강화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325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985435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유기적 AI 조직체계 구축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AI 본부 신설, 3처 7부(部)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1단계/기반구축 디지털전환추진단 → 2단계/성과확산 AI 추진단 → 3단계/핵심화 AI 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AI혁신처 기획·정책지원 / 디지털관리처 정보시스템 관리 / AI데이터센터 데이터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연구 AI연구센터(’21~)를 연구소(부서)로 격상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총괄(본부) - 연구 - 도메인(현장) 협업체계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총괄, 전사 전략화: AI 본부 ↔ AI 연구소(핵심기술 R&amp;D, 기술현안 검증)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보유기술 확산·사업화 ↔ 도메인조직(사업부문, 현장부서) ↔ 현장작동성·이슈 도출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610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핵심성과 박스"/>
          <p:cNvSpPr/>
          <p:nvPr/>
        </p:nvSpPr>
        <p:spPr>
          <a:xfrm>
            <a:off x="536870" y="272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핵심성과 라벨"/>
          <p:cNvSpPr/>
          <p:nvPr/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2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3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274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공공부문(환경분야) AX 선도기관 지정(10월) 및 AI정수장 국제인증 등 AI 대전환 가속화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2 서사 · 부단한 인력운영제도 혁신(추진배경 → 실행방향 → 최적의 인력자원 재배분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사각지대 없는 인력배분으로 정책·전략 실행기반 강화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부단한 인력운영제도 혁신으로 한정된 자원의 최적 활용 도모</a:t>
            </a:r>
          </a:p>
        </p:txBody>
      </p:sp>
      <p:sp>
        <p:nvSpPr>
          <p:cNvPr id="16" name="태그칩"/>
          <p:cNvSpPr/>
          <p:nvPr/>
        </p:nvSpPr>
        <p:spPr>
          <a:xfrm>
            <a:off x="43825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25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371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371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3880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용수공급, 초순수 및 AI·DT 등 물공급 안전망 확보 중심의 인력배분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 혁신방안 활용, 국정과제, 경영전략 변경 중심으로 인력자원 재배분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723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39217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39217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39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347652" y="2383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347652" y="2383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1972988" y="2372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정책·전략 이행에 방점을 둔 안정적 인력 확보 및 최적 자원 배분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740539"/>
            <a:ext cx="580696" cy="2613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40539"/>
            <a:ext cx="580696" cy="261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재배분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7405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7624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624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인력운영제도 중심 재배치 자원 145명 확보 (’24년 123명 대비 118%)</a:t>
            </a:r>
          </a:p>
        </p:txBody>
      </p:sp>
      <p:sp>
        <p:nvSpPr>
          <p:cNvPr id="37" name="단계"/>
          <p:cNvSpPr/>
          <p:nvPr/>
        </p:nvSpPr>
        <p:spPr>
          <a:xfrm>
            <a:off x="1347652" y="299801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 한시정원 +21명</a:t>
            </a:r>
          </a:p>
        </p:txBody>
      </p:sp>
      <p:sp>
        <p:nvSpPr>
          <p:cNvPr id="39" name="단계"/>
          <p:cNvSpPr/>
          <p:nvPr/>
        </p:nvSpPr>
        <p:spPr>
          <a:xfrm>
            <a:off x="2759674" y="299801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직렬정원탄력 +55명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99801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가변통합정원 +40명</a:t>
            </a:r>
          </a:p>
        </p:txBody>
      </p:sp>
      <p:sp>
        <p:nvSpPr>
          <p:cNvPr id="43" name="단계"/>
          <p:cNvSpPr/>
          <p:nvPr/>
        </p:nvSpPr>
        <p:spPr>
          <a:xfrm>
            <a:off x="5583717" y="299801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 효율화 +29명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759673" y="29980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171695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583717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기한설정 정원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00댐건설(’15~’25) 등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직무수요 변화 기반 정원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탄력적 직렬 조정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2759674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3~5급 가변정원 확대 1.0 → 1.5%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현안 시 수시 재배치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4171696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현장건설기능 통합 감독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동부 △7(43→36) / 금강 남부 △9(35→26) / 낙동강 북/남부 △13(54→41)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5583717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정책이행(28명): 자연성회복 추진(17명) * 취·양수장 시설개선 / 재생e 보급 확대(11명) * 녹색전환, RE100 달성기여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전략실행(60명): AI 전환동력 확보(13명) / 안전수행인력 보강(13명) / 반도체 용수 공급(34명) * 용인·고덕산단 전담조직 신설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3230348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현안대응(57명): 건설사업인력 최대 확보(37명) * 최적사업추진 동력 마련 / 노무관리, 정보보안 등(20명) * 현안대응 및 현장 실행력 보강</a:t>
            </a:r>
          </a:p>
        </p:txBody>
      </p:sp>
      <p:cxnSp>
        <p:nvCxnSpPr>
          <p:cNvPr id="59" name="Connector 42"/>
          <p:cNvCxnSpPr/>
          <p:nvPr/>
        </p:nvCxnSpPr>
        <p:spPr>
          <a:xfrm>
            <a:off x="5113043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54577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54906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756000" y="54906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501043" y="54796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 인력운영제도 혁신을 통한 역대 최대 재배치 달성으로 인력 소요 대응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내부혁신 성과를 인정받아 AI물관리, 첨단용수공급 등 정책드라이브 정부증원 39명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3 서사 · 조직업무시스템 데이터 경영 활용(조직업무시스템 → 시스템 로드맵 → 시스템 고도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9853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해가 갈수록 쌓이는 조직업무시스템 데이터와 신뢰도, 이제는 경영에 필수</a:t>
            </a:r>
          </a:p>
        </p:txBody>
      </p:sp>
      <p:sp>
        <p:nvSpPr>
          <p:cNvPr id="12" name="태그칩"/>
          <p:cNvSpPr/>
          <p:nvPr/>
        </p:nvSpPr>
        <p:spPr>
          <a:xfrm>
            <a:off x="513401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3401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53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46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全과정을 표준화하여 활용하는 K-water만의 혁신 시스템</a:t>
            </a:r>
          </a:p>
        </p:txBody>
      </p:sp>
      <p:sp>
        <p:nvSpPr>
          <p:cNvPr id="19" name="단계"/>
          <p:cNvSpPr/>
          <p:nvPr/>
        </p:nvSpPr>
        <p:spPr>
          <a:xfrm>
            <a:off x="1161391" y="1325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분석(사업·조직유형별 투입인력)</a:t>
            </a:r>
          </a:p>
        </p:txBody>
      </p:sp>
      <p:sp>
        <p:nvSpPr>
          <p:cNvPr id="21" name="단계"/>
          <p:cNvSpPr/>
          <p:nvPr/>
        </p:nvSpPr>
        <p:spPr>
          <a:xfrm>
            <a:off x="2573413" y="1325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조직개편 수요조사</a:t>
            </a:r>
          </a:p>
        </p:txBody>
      </p:sp>
      <p:sp>
        <p:nvSpPr>
          <p:cNvPr id="23" name="단계"/>
          <p:cNvSpPr/>
          <p:nvPr/>
        </p:nvSpPr>
        <p:spPr>
          <a:xfrm>
            <a:off x="3985435" y="1325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검토·환류</a:t>
            </a:r>
          </a:p>
        </p:txBody>
      </p:sp>
      <p:sp>
        <p:nvSpPr>
          <p:cNvPr id="25" name="단계"/>
          <p:cNvSpPr/>
          <p:nvPr/>
        </p:nvSpPr>
        <p:spPr>
          <a:xfrm>
            <a:off x="5397457" y="1325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조직개편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573413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397456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 txBox="1"/>
          <p:nvPr/>
        </p:nvSpPr>
        <p:spPr>
          <a:xfrm>
            <a:off x="1172348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1" name="칸 본문"/>
          <p:cNvSpPr txBox="1"/>
          <p:nvPr/>
        </p:nvSpPr>
        <p:spPr>
          <a:xfrm>
            <a:off x="2584370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2" name="Connector 21"/>
          <p:cNvCxnSpPr/>
          <p:nvPr/>
        </p:nvCxnSpPr>
        <p:spPr>
          <a:xfrm>
            <a:off x="2573413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 txBox="1"/>
          <p:nvPr/>
        </p:nvSpPr>
        <p:spPr>
          <a:xfrm>
            <a:off x="3996391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>
            <a:off x="3985435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5408413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>
            <a:off x="5397457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단계"/>
          <p:cNvSpPr/>
          <p:nvPr/>
        </p:nvSpPr>
        <p:spPr>
          <a:xfrm>
            <a:off x="1161391" y="17256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분석(489개 직위, 268개 직무)</a:t>
            </a:r>
          </a:p>
        </p:txBody>
      </p:sp>
      <p:sp>
        <p:nvSpPr>
          <p:cNvPr id="39" name="단계"/>
          <p:cNvSpPr/>
          <p:nvPr/>
        </p:nvSpPr>
        <p:spPr>
          <a:xfrm>
            <a:off x="2573413" y="17256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29"/>
          </p:nvPr>
        </p:nvSpPr>
        <p:spPr>
          <a:xfrm>
            <a:off x="2573413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직무분류</a:t>
            </a:r>
          </a:p>
        </p:txBody>
      </p:sp>
      <p:sp>
        <p:nvSpPr>
          <p:cNvPr id="41" name="단계"/>
          <p:cNvSpPr/>
          <p:nvPr/>
        </p:nvSpPr>
        <p:spPr>
          <a:xfrm>
            <a:off x="3985435" y="17256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직무기술서</a:t>
            </a:r>
          </a:p>
        </p:txBody>
      </p:sp>
      <p:sp>
        <p:nvSpPr>
          <p:cNvPr id="43" name="단계"/>
          <p:cNvSpPr/>
          <p:nvPr/>
        </p:nvSpPr>
        <p:spPr>
          <a:xfrm>
            <a:off x="5397457" y="17256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1"/>
          </p:nvPr>
        </p:nvSpPr>
        <p:spPr>
          <a:xfrm>
            <a:off x="5397457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직무평가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573413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3985434" y="1725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397456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 txBox="1"/>
          <p:nvPr/>
        </p:nvSpPr>
        <p:spPr>
          <a:xfrm>
            <a:off x="1172348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9" name="칸 본문"/>
          <p:cNvSpPr txBox="1"/>
          <p:nvPr/>
        </p:nvSpPr>
        <p:spPr>
          <a:xfrm>
            <a:off x="2584370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0" name="Connector 35"/>
          <p:cNvCxnSpPr/>
          <p:nvPr/>
        </p:nvCxnSpPr>
        <p:spPr>
          <a:xfrm>
            <a:off x="2573413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 txBox="1"/>
          <p:nvPr/>
        </p:nvSpPr>
        <p:spPr>
          <a:xfrm>
            <a:off x="3996391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2" name="Connector 37"/>
          <p:cNvCxnSpPr/>
          <p:nvPr/>
        </p:nvCxnSpPr>
        <p:spPr>
          <a:xfrm>
            <a:off x="3985435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 txBox="1"/>
          <p:nvPr/>
        </p:nvSpPr>
        <p:spPr>
          <a:xfrm>
            <a:off x="5408413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4" name="Connector 39"/>
          <p:cNvCxnSpPr/>
          <p:nvPr/>
        </p:nvCxnSpPr>
        <p:spPr>
          <a:xfrm>
            <a:off x="5397457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레일"/>
          <p:cNvSpPr/>
          <p:nvPr/>
        </p:nvSpPr>
        <p:spPr>
          <a:xfrm>
            <a:off x="547826" y="2131043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31043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213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"/>
          <p:cNvSpPr/>
          <p:nvPr/>
        </p:nvSpPr>
        <p:spPr>
          <a:xfrm>
            <a:off x="1161391" y="2152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조직시스템 구축·확산</a:t>
            </a:r>
          </a:p>
        </p:txBody>
      </p:sp>
      <p:sp>
        <p:nvSpPr>
          <p:cNvPr id="60" name="단계"/>
          <p:cNvSpPr/>
          <p:nvPr/>
        </p:nvSpPr>
        <p:spPr>
          <a:xfrm>
            <a:off x="3044087" y="215295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1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직무중심 경영관리 정착</a:t>
            </a:r>
          </a:p>
        </p:txBody>
      </p:sp>
      <p:sp>
        <p:nvSpPr>
          <p:cNvPr id="62" name="단계"/>
          <p:cNvSpPr/>
          <p:nvPr/>
        </p:nvSpPr>
        <p:spPr>
          <a:xfrm>
            <a:off x="4926783" y="215295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3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조직관리 AI 도입</a:t>
            </a:r>
          </a:p>
        </p:txBody>
      </p:sp>
      <p:sp>
        <p:nvSpPr>
          <p:cNvPr id="64" name="단계 삼각형"/>
          <p:cNvSpPr/>
          <p:nvPr/>
        </p:nvSpPr>
        <p:spPr>
          <a:xfrm>
            <a:off x="3044086" y="2152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단계 삼각형"/>
          <p:cNvSpPr/>
          <p:nvPr/>
        </p:nvSpPr>
        <p:spPr>
          <a:xfrm>
            <a:off x="4926782" y="2152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표준화·시스템화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경영(조직·인사·교육) 분야 연계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DX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경영전반 직무활용 제도화·확산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044087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기반 의사결정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직무평가·재분류 등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926783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2843217"/>
            <a:ext cx="580696" cy="788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2843217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65130"/>
            <a:ext cx="3743478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분장업무(조직, 개인) 통합관리체계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분장업무 데이터 개별 관리(조직수기, 개인-시스템)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조직~개인 분장업무 전면 DB화, 자동맵핑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865130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DB화 → 하부기구 모듈화 → 개인업무분장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4926783" y="289800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배너"/>
          <p:cNvSpPr/>
          <p:nvPr/>
        </p:nvSpPr>
        <p:spPr>
          <a:xfrm>
            <a:off x="1161391" y="340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40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중복·누락된 분장업무 실시간 모니터링으로 조직-직무 간 정합성 확보</a:t>
            </a:r>
          </a:p>
        </p:txBody>
      </p:sp>
      <p:sp>
        <p:nvSpPr>
          <p:cNvPr id="78" name="레일"/>
          <p:cNvSpPr/>
          <p:nvPr/>
        </p:nvSpPr>
        <p:spPr>
          <a:xfrm>
            <a:off x="547826" y="3648522"/>
            <a:ext cx="580696" cy="920348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648522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배너"/>
          <p:cNvSpPr/>
          <p:nvPr/>
        </p:nvSpPr>
        <p:spPr>
          <a:xfrm>
            <a:off x="1161391" y="367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67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활용, 직무 중심 경영활동 본격 가동</a:t>
            </a:r>
          </a:p>
        </p:txBody>
      </p:sp>
      <p:sp>
        <p:nvSpPr>
          <p:cNvPr id="82" name="머리칸"/>
          <p:cNvSpPr/>
          <p:nvPr/>
        </p:nvSpPr>
        <p:spPr>
          <a:xfrm>
            <a:off x="1161391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조직운영안 마련</a:t>
            </a:r>
          </a:p>
        </p:txBody>
      </p:sp>
      <p:sp>
        <p:nvSpPr>
          <p:cNvPr id="84" name="머리칸"/>
          <p:cNvSpPr/>
          <p:nvPr/>
        </p:nvSpPr>
        <p:spPr>
          <a:xfrm>
            <a:off x="3044087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46"/>
          </p:nvPr>
        </p:nvSpPr>
        <p:spPr>
          <a:xfrm>
            <a:off x="3044087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기반 인사관리</a:t>
            </a:r>
          </a:p>
        </p:txBody>
      </p:sp>
      <p:sp>
        <p:nvSpPr>
          <p:cNvPr id="86" name="머리칸"/>
          <p:cNvSpPr/>
          <p:nvPr/>
        </p:nvSpPr>
        <p:spPr>
          <a:xfrm>
            <a:off x="4926783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7" name="머리칸"/>
          <p:cNvSpPr>
            <a:spLocks noGrp="1"/>
          </p:cNvSpPr>
          <p:nvPr>
            <p:ph type="body" sz="quarter" idx="47"/>
          </p:nvPr>
        </p:nvSpPr>
        <p:spPr>
          <a:xfrm>
            <a:off x="4926783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연계 교육운영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기반 정원조정 시뮬레이션 및 조직설계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기반 배치·승진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단위 채용 확대</a:t>
            </a:r>
          </a:p>
        </p:txBody>
      </p:sp>
      <p:cxnSp>
        <p:nvCxnSpPr>
          <p:cNvPr id="90" name="Connector 64"/>
          <p:cNvCxnSpPr/>
          <p:nvPr/>
        </p:nvCxnSpPr>
        <p:spPr>
          <a:xfrm>
            <a:off x="3044087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교육모델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교육·성장경로 추천</a:t>
            </a:r>
          </a:p>
        </p:txBody>
      </p:sp>
      <p:cxnSp>
        <p:nvCxnSpPr>
          <p:cNvPr id="92" name="Connector 66"/>
          <p:cNvCxnSpPr/>
          <p:nvPr/>
        </p:nvCxnSpPr>
        <p:spPr>
          <a:xfrm>
            <a:off x="4926783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4 서사 · 성과평가시스템 구축·운영(지표설정 → 성과관리 → 결과활용·환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 및 능력·직무 중심 체계적 성과평가시스템 구축·운영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67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619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지표설정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 연계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▶ 과제 ▶ KPI ▶ 성과지표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안전경영 강화, AI 강국 도약 등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청렴도·장애인 고용률 등 상향 필요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80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80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8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조직평가 BSC 성과관리: 평가단위 부서평가 + 部평가 / 지표구성 전략과 연계한 BSC 관점 지표체계 운영(성격 공통 25 + 고유과제 75 · 유형 계량 50 + 비계량 50) / 평가방법 계량 달성도 평가(70) + 난이도 평가(30), 비계량 부문·본부평가(70) + 별도평가(30)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개인평가 MBO 성과관리 + 직무역량평가: 본부장·부서장 경영계약 본부 경영 및 부서 성과 책임 / 부장·직원 MBO 部 목표 및 과제실행 책임 / 직무역량평가(개선) 全직무 평가지표 정의, 지표별 ‘5단계 행동척도’ 제시 ➡ 평가자별 편차 완화로 정확한 직무역량평가 가능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4171696" y="1835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태그"/>
          <p:cNvSpPr/>
          <p:nvPr/>
        </p:nvSpPr>
        <p:spPr>
          <a:xfrm>
            <a:off x="1347652" y="2881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347652" y="2881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1863219" y="2870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K-Best 성과관리 ▶ 매월 CEO 경영진회의 + 분기 성과관리회의 + 반기 전사경영회의</a:t>
            </a:r>
          </a:p>
        </p:txBody>
      </p:sp>
      <p:sp>
        <p:nvSpPr>
          <p:cNvPr id="39" name="레일"/>
          <p:cNvSpPr/>
          <p:nvPr/>
        </p:nvSpPr>
        <p:spPr>
          <a:xfrm>
            <a:off x="734087" y="3100696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100696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10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 차등·인사 반영</a:t>
            </a:r>
          </a:p>
        </p:txBody>
      </p:sp>
      <p:sp>
        <p:nvSpPr>
          <p:cNvPr id="44" name="머리칸"/>
          <p:cNvSpPr/>
          <p:nvPr/>
        </p:nvSpPr>
        <p:spPr>
          <a:xfrm>
            <a:off x="3230348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3230348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평가제도 개선</a:t>
            </a:r>
          </a:p>
        </p:txBody>
      </p:sp>
      <p:sp>
        <p:nvSpPr>
          <p:cNvPr id="46" name="머리칸"/>
          <p:cNvSpPr/>
          <p:nvPr/>
        </p:nvSpPr>
        <p:spPr>
          <a:xfrm>
            <a:off x="5113043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5113043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성과확산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본사·현장 설명회(1~2월, 5회): 평가제도 설명 및 직원니즈 청취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공동 TF(10~11월): 개선사항 발굴 및 제도 반영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3230348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설문조사(12월): 평가제도 수용성 및 만족도 등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5113043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5 서사 · 전략적 지표 개선(성과관리 여건 → 지표 개선 → 추진성과: 청렴도 · 일가정 양립 · 장애인 채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 및 정부정책 방향을 감안한 전략적 지표 개선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기존지표 보완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673403" y="1347652"/>
            <a:ext cx="38447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673403" y="1194261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 개선 필요 지표 신속 분석·개선하여, 성과 창출 유인체계 보완</a:t>
            </a:r>
          </a:p>
        </p:txBody>
      </p:sp>
      <p:sp>
        <p:nvSpPr>
          <p:cNvPr id="20" name="태그칩"/>
          <p:cNvSpPr/>
          <p:nvPr/>
        </p:nvSpPr>
        <p:spPr>
          <a:xfrm>
            <a:off x="561677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1677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3423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75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75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 렴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 여건</a:t>
            </a:r>
          </a:p>
        </p:txBody>
      </p:sp>
      <p:sp>
        <p:nvSpPr>
          <p:cNvPr id="27" name="단계"/>
          <p:cNvSpPr/>
          <p:nvPr/>
        </p:nvSpPr>
        <p:spPr>
          <a:xfrm>
            <a:off x="3044087" y="1517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9" name="단계"/>
          <p:cNvSpPr/>
          <p:nvPr/>
        </p:nvSpPr>
        <p:spPr>
          <a:xfrm>
            <a:off x="4926783" y="1517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044086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926782" y="1517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 청렴 노력에도 불구 ’24년 종합청렴도 3등급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특히, 토지보상 업무 외부체감도 점수 향상 시급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청렴의식 확산을 위해 ‘청렴 프로모터(신설)’ 활동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수자원·수도 토지보상 주관부서를 청렴도 핵심부서에 추가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044087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 외부체감도 13.3점↑(79.1→92.4점)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926783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2887043"/>
            <a:ext cx="580696" cy="936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887043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일가정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립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288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제도 운영에도, 눈치 보이는 조직문화 잔존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문화 적극 참여 부서에 인센티브 부여로 일·가정양립 유도</a:t>
            </a:r>
          </a:p>
        </p:txBody>
      </p:sp>
      <p:cxnSp>
        <p:nvCxnSpPr>
          <p:cNvPr id="43" name="Connector 32"/>
          <p:cNvCxnSpPr/>
          <p:nvPr/>
        </p:nvCxnSpPr>
        <p:spPr>
          <a:xfrm>
            <a:off x="3044087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최고(91점) 달성</a:t>
            </a:r>
          </a:p>
        </p:txBody>
      </p:sp>
      <p:cxnSp>
        <p:nvCxnSpPr>
          <p:cNvPr id="45" name="Connector 34"/>
          <p:cNvCxnSpPr/>
          <p:nvPr/>
        </p:nvCxnSpPr>
        <p:spPr>
          <a:xfrm>
            <a:off x="4926783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547826" y="3840261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840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장애인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840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일자리 확대 정책 발맞추어 의무고용률(3.8%) 달성 독려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장애인 고용률 실적 3.48%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장애인 고용 TF 결과를 반영, 사실상 획득이 어려운 現 가점기준 현실화, 全부서 동참 여건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최소기준: (기존) 3.8% → (개선) 0.95%</a:t>
            </a:r>
          </a:p>
        </p:txBody>
      </p:sp>
      <p:cxnSp>
        <p:nvCxnSpPr>
          <p:cNvPr id="51" name="Connector 39"/>
          <p:cNvCxnSpPr/>
          <p:nvPr/>
        </p:nvCxnSpPr>
        <p:spPr>
          <a:xfrm>
            <a:off x="3044087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장애인 고용률 3.8% 달성(법정의무고용률 준수)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전년比 0.32%p 상승</a:t>
            </a:r>
          </a:p>
        </p:txBody>
      </p:sp>
      <p:cxnSp>
        <p:nvCxnSpPr>
          <p:cNvPr id="53" name="Connector 41"/>
          <p:cNvCxnSpPr/>
          <p:nvPr/>
        </p:nvCxnSpPr>
        <p:spPr>
          <a:xfrm>
            <a:off x="4926783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6 서사 · 2026년 지표 개선(안전강화 · AI 활용: 추진배경 → 全부서 안전성과책임 · 가점지표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182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新정부정책 안전강화 등 주요 정책의 발빠른 이행을 위한 ’26년 지표 개선</a:t>
            </a:r>
          </a:p>
        </p:txBody>
      </p:sp>
      <p:sp>
        <p:nvSpPr>
          <p:cNvPr id="11" name="태그칩"/>
          <p:cNvSpPr/>
          <p:nvPr/>
        </p:nvSpPr>
        <p:spPr>
          <a:xfrm>
            <a:off x="53399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399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8911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8911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407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안전 최우선 일터, AI 강국 도약을 국정과제로 설정, 공공기관 책임·역할 강조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‘안전경영’, ‘AI 전환’을 특화전략으로 반영, 실행력 제고 위한 ’26년 지표 개선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473652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73652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1473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머리칸"/>
          <p:cNvSpPr/>
          <p:nvPr/>
        </p:nvSpPr>
        <p:spPr>
          <a:xfrm>
            <a:off x="1347652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全부서 안전경영 성과책임 부여</a:t>
            </a:r>
          </a:p>
        </p:txBody>
      </p:sp>
      <p:sp>
        <p:nvSpPr>
          <p:cNvPr id="26" name="머리칸"/>
          <p:cNvSpPr/>
          <p:nvPr/>
        </p:nvSpPr>
        <p:spPr>
          <a:xfrm>
            <a:off x="4171696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활용 성과창출을 위한 가점지표 개선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시설관리와 공사를 실제 수행하는 현장부서만 ‘안전관리노력도’ 평가지표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안전조직·인력·예산 등 지원 강화를 위해 본사까지 포함한 全부서 안전 성과지표 부여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정부 주관 ‘혁신’ 분야 및 ‘국민협업’ 공모 참여 및 수상성과에 가점지표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기존 혁신뿐만 아니라 AI 혁신과제 수상실적까지 대상에 추가하여 AI 전환 유도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769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7 서사 · 소통 기반의 투명한 성과평가 운영(추진체계 → 정책·전략 연계강화 → 투명성·수용성 제고 → 추진성과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소통 기반의 투명한 성과평가 운영으로 수용도 제고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2306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평가 실무자 및 경영진 중심의 개선사항 발굴 및 제도개선 시행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노사공동 TF를 통해 개선사항 발굴부터 제도개선 적정성까지 직원 의견 적극 수렴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394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638000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38000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정책·전략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연계강화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주요업무 평가 가중치 확대: 新정부는 공공기관이 본연의 역할을 제대로 수행할 수 있도록 책임성 강화 요구 / 개선 주요업무 평가지표(고유지표) 배점확대 * (기존) 55점 → (개선) 65점으로 10점 확대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연계지표 난이도 정량점수 상향: 전략연계 지표와 자체지표 간 난이도 정량점수가 같아 자체지표 설정 선호 / 개선 전략지표와 자체지표 난이도 점수 차등 * (전략) 43점 부여 (자체) 최고 42점~최저 33점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6927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503565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503565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수용성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503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난이도 산정 시스템 제공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결과공개 시점 명확화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성과향상 지원 확대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복잡한 산식으로 피평가부서 확인 및 검증에 애로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자동산정·예측시스템 도입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7~8월 결과 공개하나, 구체적 시점은 유동적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8월 첫째주로 명문화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2년 연속 부진부서(D등급) 대상 성과향상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당해 부진부서까지 확대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511565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544435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544435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533478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 직원 관심 제고로 설문조사 응답률 및 만족·수용도 향상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응답률 33.8%(6.4%p↑), 만족도 81.3(1.2↑), 수용도 80.1(0.9↑) / ’24년 27.4%, 80.1, 79.2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8 서사 · 성과관리와 보수 및 인사관리 간 전략적 연계(보수 및 포상연계 → 인사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성과관리와 보수 및 인사관리 간 전략적 연계 및 활용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04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포상연계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기준급·성과급 차등 적용</a:t>
            </a:r>
          </a:p>
        </p:txBody>
      </p:sp>
      <p:sp>
        <p:nvSpPr>
          <p:cNvPr id="21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공감·수용성 높은 포상 제도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부서 및 개인 성과평가 기반, 성과급 5(+1)등급 차등 적용(최대 2배) * 중징계자·주요 비위행위자 성과급 미지급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기준급 직무역량 등 개인평가 결과 활용, 기준급 인상률 5단계 차등 적용(최대 2%)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우수부서 당해연도 성과달성 우수부서 및 성과향상 우수부서 포상금 지급 * (달성) S등급 부서 / (우수) 3등급 이상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유공직원 해당 부서 우수성과 창출 직원 및 위임지표 우수 직원 대상 사장표창 수여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4171696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06348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06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 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06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기반 승진 문화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적소적재 인력 배치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 인재 육성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 중심 승진자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연계 승진제도 운영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직무역량·성과 중심 주요 보직 직무 공모제 확대 적용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3230348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우수자 교육파견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후 관련 직무 우선 배치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113043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9 서사 · 직무·역량 중심 HRD 체계 도입(외부환경 · 내부여건 → 시사점 → 추진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1"/>
          </p:nvPr>
        </p:nvSpPr>
        <p:spPr>
          <a:xfrm>
            <a:off x="1172348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능력 중심의 인사를 기반으로 일 잘하는 공직사회 구현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2"/>
          </p:nvPr>
        </p:nvSpPr>
        <p:spPr>
          <a:xfrm>
            <a:off x="3996391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HRD 트렌드 첨단분야(AI, 디지털 등) 우수 인재 확보 및 전략적 육성에 사활</a:t>
            </a:r>
          </a:p>
        </p:txBody>
      </p:sp>
      <p:cxnSp>
        <p:nvCxnSpPr>
          <p:cNvPr id="15" name="Connector 10"/>
          <p:cNvCxnSpPr/>
          <p:nvPr/>
        </p:nvCxnSpPr>
        <p:spPr>
          <a:xfrm>
            <a:off x="3985435" y="838174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6" name="레일"/>
          <p:cNvSpPr/>
          <p:nvPr/>
        </p:nvSpPr>
        <p:spPr>
          <a:xfrm>
            <a:off x="547826" y="12080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2080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8" name="레일 삼각형"/>
          <p:cNvSpPr/>
          <p:nvPr/>
        </p:nvSpPr>
        <p:spPr>
          <a:xfrm>
            <a:off x="547826" y="12080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개인의 경력개발과 연계할 수 있는 성과환류 시스템 구축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역량강화·성장경로 비전 제시, 역량 기반의 공정한 인사 * 직원설문FGI</a:t>
            </a:r>
          </a:p>
        </p:txBody>
      </p:sp>
      <p:cxnSp>
        <p:nvCxnSpPr>
          <p:cNvPr id="21" name="Connector 15"/>
          <p:cNvCxnSpPr/>
          <p:nvPr/>
        </p:nvCxnSpPr>
        <p:spPr>
          <a:xfrm>
            <a:off x="3985435" y="1262817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536869" y="178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865565" y="1829896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1829896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7"/>
          </p:nvPr>
        </p:nvSpPr>
        <p:spPr>
          <a:xfrm>
            <a:off x="1359219" y="178607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직무를 기반으로 ‘교육 – 역량 – 성과 – 보상’의 체계적인 선순환을 통한 조직 경쟁력 제고</a:t>
            </a:r>
          </a:p>
        </p:txBody>
      </p:sp>
      <p:sp>
        <p:nvSpPr>
          <p:cNvPr id="26" name="표 외곽"/>
          <p:cNvSpPr/>
          <p:nvPr/>
        </p:nvSpPr>
        <p:spPr>
          <a:xfrm>
            <a:off x="536870" y="2092852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10928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28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9" name="머리칸"/>
          <p:cNvSpPr/>
          <p:nvPr/>
        </p:nvSpPr>
        <p:spPr>
          <a:xfrm>
            <a:off x="1161391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직무·역량 연계 강화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 물 전문가 양성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중시 문화 조성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맞춤형 역량개발 모델 기반의 인재육성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미래기술 역량 내재화를 위한 성장 로드맵 수립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3044087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직무·역량·성과 기반의 인사체계 고도화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926783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0 서사 · 직무역량 향상을 위한 체계적 경력개발 시스템(역량모델 → 맞춤형 교육·코칭 → 성장경로 안내 → 중장기 인재육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직무·역량 중심 경력개발 및 미래성장 전문 인재양성 HRD 체계 마련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29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직원의 직무역량 향상을 위한 체계적 경력개발 시스템 구축</a:t>
            </a:r>
          </a:p>
        </p:txBody>
      </p:sp>
      <p:sp>
        <p:nvSpPr>
          <p:cNvPr id="16" name="태그칩"/>
          <p:cNvSpPr/>
          <p:nvPr/>
        </p:nvSpPr>
        <p:spPr>
          <a:xfrm>
            <a:off x="425086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25086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02152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2152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모델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全직원의 직무 단위별 역량진단 모델 개발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4000"/>
            <a:ext cx="562617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세분화 全직무 분석으로 조직 성과 달성을 위한 핵심역량 추출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직무별 특성을 고려한 전문역량(490개), 다수 직무에서 요구되는 공통역량(22개) 정의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역량별 수준 Level 1(기초)~5(전문가) 설정, 객관적 측정을 위한 행동지표(BARS) 설정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직무: 수자원 운영관리 / 직무전문역량 수해대응 물관리(Lv1~5), 댐·보연계운영(Lv1~5) + 직무공통역량 위기대응(Lv1~5), 시설·설비관리(Lv1~5)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물관리역량 Lv3 행동지표 ‘댐방류로 인한 하류영향을 분석하고 위기대응업무를 수행한다’</a:t>
            </a:r>
          </a:p>
        </p:txBody>
      </p:sp>
      <p:sp>
        <p:nvSpPr>
          <p:cNvPr id="26" name="레일"/>
          <p:cNvSpPr/>
          <p:nvPr/>
        </p:nvSpPr>
        <p:spPr>
          <a:xfrm>
            <a:off x="734087" y="2826783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826783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교육·코칭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826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848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848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개인별 직무역량 진단 활용 맞춤형 교육·코칭 제시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개인별 직무역량 진단 결과 ➡ 직무 역량 수준을 고려한 교육과정 추천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 수해대응 물관리 역량 / 진단결과 Lv.2 / 추천 교육과정 수문기상과 유역물관리, 분석모델링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 역량별 상세 분석 결과 ➡ 필요역량 향상 ‘Action Plan’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역량명·등급 위기대응(Lv.2) / 역량 개발 지휘통제능력 향상 / Action Plan “표준지휘체계를 배워서 지휘통제 능력을 키워보세요”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4171696" y="3117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4147043"/>
            <a:ext cx="580696" cy="931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4147043"/>
            <a:ext cx="580696" cy="93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성장경로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내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416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416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직무별 전문가 성장 로드맵 제공 예시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4404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347652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1단계 건설운영</a:t>
            </a:r>
          </a:p>
        </p:txBody>
      </p:sp>
      <p:sp>
        <p:nvSpPr>
          <p:cNvPr id="40" name="단계"/>
          <p:cNvSpPr/>
          <p:nvPr/>
        </p:nvSpPr>
        <p:spPr>
          <a:xfrm>
            <a:off x="2759674" y="4404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2759674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2단계 품질안전</a:t>
            </a:r>
          </a:p>
        </p:txBody>
      </p:sp>
      <p:sp>
        <p:nvSpPr>
          <p:cNvPr id="42" name="단계"/>
          <p:cNvSpPr/>
          <p:nvPr/>
        </p:nvSpPr>
        <p:spPr>
          <a:xfrm>
            <a:off x="4171696" y="4404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재난대응</a:t>
            </a:r>
          </a:p>
        </p:txBody>
      </p:sp>
      <p:sp>
        <p:nvSpPr>
          <p:cNvPr id="44" name="단계"/>
          <p:cNvSpPr/>
          <p:nvPr/>
        </p:nvSpPr>
        <p:spPr>
          <a:xfrm>
            <a:off x="5583717" y="4404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5583717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4단계 통합운영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2759673" y="440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4171695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583717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수자원시설 유지관리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770630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수자원건설 품질관리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2759674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4171696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5594674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댐·보 연계운영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5583717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5094783"/>
            <a:ext cx="580696" cy="788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094783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5094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배너"/>
          <p:cNvSpPr/>
          <p:nvPr/>
        </p:nvSpPr>
        <p:spPr>
          <a:xfrm>
            <a:off x="1347652" y="5116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3"/>
          </p:nvPr>
        </p:nvSpPr>
        <p:spPr>
          <a:xfrm>
            <a:off x="1347652" y="5116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HRD체계 구축·인력자원 활용 확대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352261"/>
            <a:ext cx="23314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강점 역량·레벨별 인원 등 조직역량 분석 데이터 활용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711978" y="5352261"/>
            <a:ext cx="3272804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교육관리로 자발적 몰입 향상 제고 / 직무·직군 정보 + 직무역량 DB</a:t>
            </a:r>
          </a:p>
        </p:txBody>
      </p:sp>
      <p:cxnSp>
        <p:nvCxnSpPr>
          <p:cNvPr id="63" name="Connector 43"/>
          <p:cNvCxnSpPr/>
          <p:nvPr/>
        </p:nvCxnSpPr>
        <p:spPr>
          <a:xfrm>
            <a:off x="3701022" y="53851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핵심성과 박스"/>
          <p:cNvSpPr/>
          <p:nvPr/>
        </p:nvSpPr>
        <p:spPr>
          <a:xfrm>
            <a:off x="723130" y="5987739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핵심성과 라벨"/>
          <p:cNvSpPr/>
          <p:nvPr/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6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7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600417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‘교육·경력개발’ 신뢰경영지수(84 → 89 → 93점 ’25년), 교육만족도(95 → 96.1 → 96.3점 ’25년) 지속 상승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1 서사 · AI·데이터 기반 물 관리 인재 양성(기초 → 중급 → 고급 3단 → 확산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2759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AI·데이터 기반 물 관리 인재 양성으로 글로벌 경쟁력을 갖춘 인재 확보</a:t>
            </a:r>
          </a:p>
        </p:txBody>
      </p:sp>
      <p:sp>
        <p:nvSpPr>
          <p:cNvPr id="12" name="태그칩"/>
          <p:cNvSpPr/>
          <p:nvPr/>
        </p:nvSpPr>
        <p:spPr>
          <a:xfrm>
            <a:off x="496307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6307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1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88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88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기초 AI 리터러시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중급 AI 활용역량 강화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고급 전문역량 확산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AI-이해 직군별 특성을 고려, 실습 중심 생성형 AI 교육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전사 조직진단·FGI로 맞춤형 과정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기초역량 프롬프트 엔지니어링 + 직군별 스킬 도메인 데이터 활용 / 생성형 AI 실습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전통적 전문성 수자원·수도 분야 특화 AI 교육 개설·운영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 홍수모델, 스마트 AI 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융합 전문가 직무 – 디지털 융합전문가 과정 운영(6개 과정)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기후대응 수자원, 스마트관망관리 등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과정 대학 특화과정(기후테크) 신설 및 에너지·AI 과정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충남대 기후테크, KDI 기후에너지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생태계 전문기관 협업 AI 과정 신설(4개 과정), 공무원·물기업 재직자 AI 전문인재 양성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배너"/>
          <p:cNvSpPr/>
          <p:nvPr/>
        </p:nvSpPr>
        <p:spPr>
          <a:xfrm>
            <a:off x="1161391" y="272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72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물 디지털·AI 전환 선도 기술 국내·외 교류 파트너십(AI협회, 세계은행 등) 구축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3056870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307330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기후테크 등 전문과정 확대(5 → 11명), 물관리 분야 AI 전문인력(공무원·물 재직자) 102명 신규양성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2 서사 · 인사문화 내재화(직무중심 인사관리 강화 → 배치 강화 → 성과능력 중심 승진 → 低성과자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직무·성과 기반 전문성과 공정성이 축적되는 인사문화 내재화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4426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내부성장(CDP): 개인 보유역량–희망직무 요구역량 분석·피드백 / AI 활용 맞춤 솔루션 제공 – 장단점, 성장경로가이드 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241304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중심 인사관리: 평가 全직무 평가지표 정립 / 배치 직무·역량중심 배치 / 승진 성과·능력 기반 승진 / 성과 低성과 맞춤형 지원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3230348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5124000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외부개방(Open): 개방형 직위제 운영(5개) * 건강관리, 정책, 도시, 미디어 등 / 전문기관 인사교류 활성(38명) * OECD, 유네스코, 환경공단 등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5113043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0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 태그"/>
          <p:cNvSpPr/>
          <p:nvPr/>
        </p:nvSpPr>
        <p:spPr>
          <a:xfrm>
            <a:off x="675117" y="2284435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레일 태그"/>
          <p:cNvSpPr>
            <a:spLocks noGrp="1"/>
          </p:cNvSpPr>
          <p:nvPr>
            <p:ph type="body" sz="quarter" idx="28"/>
          </p:nvPr>
        </p:nvSpPr>
        <p:spPr>
          <a:xfrm>
            <a:off x="675117" y="2284435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수평적 이동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20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전보시스템 고도화: 관리자 직위정보 ↔ 직무역량 DB 연동, 직위별 ‘최적임 후보’ Pool 추천(1~3순위) / 직위 정보 · 관리자 역량 · 적임자 제시 / 추천–보임 정확도 1.3%p(73.5 → 74.8%) 향상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 주도적 성장 경로 확대: 전문직무 직무평가단(SME) 결과 기반 선정(42개) / 직무공모 전문직무(태양광·진단) 공모 확대(13 → 22개), 참여자 설문조사 만족 100%, 재참여 희망 95.4% / 복수보임 전문성 고려 직위·직급 분리 운영(11개)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171696" y="2174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32047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75117" y="324860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675117" y="324860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수직적 이동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3434870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성과능력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승 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초급관리자 직무역량 중심 승진 패러다임 정립: 승진시험 직무지식, 문제해결능력 심층 검증 / 시험평가(55) 직무심화(객관식) 20 + 문제해결능력(서술) 35 · 종합역량평가(45) 근무평가 20 + 근속평가 15 + 다면평가 10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대비 1~2년 조기 승진(26명, 20%)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특별승진 검증체계 강화를 통한 제도 내실화: 기존 담당부서 중심의 제한적 서면 검증 / 개선 全직원 설문, 공적평가 신설(K-water 人), 외부전문가 평가 확대(15 → 20%, 혁신챌린지) ➡ 공정하고 투명한 성과 검증으로 특별승진(5명), 수용성 제고·성과 창출 동기부여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171696" y="3259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734087" y="4289478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744637" y="4453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6"/>
          </p:nvPr>
        </p:nvSpPr>
        <p:spPr>
          <a:xfrm>
            <a:off x="744637" y="4453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7"/>
          </p:nvPr>
        </p:nvSpPr>
        <p:spPr>
          <a:xfrm>
            <a:off x="734087" y="4640087"/>
            <a:ext cx="580696" cy="876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低성과자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289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347652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1347652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사전 진단</a:t>
            </a:r>
          </a:p>
        </p:txBody>
      </p:sp>
      <p:sp>
        <p:nvSpPr>
          <p:cNvPr id="48" name="머리칸"/>
          <p:cNvSpPr/>
          <p:nvPr/>
        </p:nvSpPr>
        <p:spPr>
          <a:xfrm>
            <a:off x="3230348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3230348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 맞춤형 학습 지원</a:t>
            </a:r>
          </a:p>
        </p:txBody>
      </p:sp>
      <p:sp>
        <p:nvSpPr>
          <p:cNvPr id="50" name="머리칸"/>
          <p:cNvSpPr/>
          <p:nvPr/>
        </p:nvSpPr>
        <p:spPr>
          <a:xfrm>
            <a:off x="5113043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5113043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현업 적응 기회 제공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역량진단·성향검사·면담으로 성과부진 원인 분석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 맞춤형 학습과정 운영(독서+온라인+집합)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230348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현업근무 평가시 희망부서 배치로 동기부여 강화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5113043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배너"/>
          <p:cNvSpPr/>
          <p:nvPr/>
        </p:nvSpPr>
        <p:spPr>
          <a:xfrm>
            <a:off x="1347652" y="5313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8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313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低성과자 교육 전·후 근무평가 20.9점 대폭 상향(61.8 → 82.7점)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723130" y="564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501043" y="565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 평가 인사부문 16.8점 비약적 상승(73.1 → 89.9점, 역대 최고 득점)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3 서사 · 임금피크제 운영 내실화 도입(정책 선도 · 임금피크 인력운용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 전문성과 노하우를 활용한 임금피크제 운영 내실화</a:t>
            </a:r>
          </a:p>
        </p:txBody>
      </p:sp>
      <p:sp>
        <p:nvSpPr>
          <p:cNvPr id="15" name="핵심성과 박스"/>
          <p:cNvSpPr/>
          <p:nvPr/>
        </p:nvSpPr>
        <p:spPr>
          <a:xfrm>
            <a:off x="536870" y="253643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핵심성과 라벨"/>
          <p:cNvSpPr/>
          <p:nvPr/>
        </p:nvSpPr>
        <p:spPr>
          <a:xfrm>
            <a:off x="569739" y="257478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7" name="핵심성과 라벨"/>
          <p:cNvSpPr>
            <a:spLocks noGrp="1"/>
          </p:cNvSpPr>
          <p:nvPr>
            <p:ph type="body" sz="quarter" idx="22"/>
          </p:nvPr>
        </p:nvSpPr>
        <p:spPr>
          <a:xfrm>
            <a:off x="569739" y="257478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8" name="핵심성과 문구"/>
          <p:cNvSpPr>
            <a:spLocks noGrp="1"/>
          </p:cNvSpPr>
          <p:nvPr>
            <p:ph type="body" sz="quarter" idx="23"/>
          </p:nvPr>
        </p:nvSpPr>
        <p:spPr>
          <a:xfrm>
            <a:off x="1314783" y="255287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권고안 준수 총인건비 內 신규 채용 목표 100% 초과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4 서사 · 맞춤형 직무개발 · 직무 중심 관리체계(희망 직무 찾기 → 직무 수준 체계화 · 자율적 직무 지원 · 인사급여 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467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맞춤형 직무개발과 직무 중심 관리체계 강화로 ‘일’ 하고 싶은 동기 부여</a:t>
            </a:r>
          </a:p>
        </p:txBody>
      </p:sp>
      <p:sp>
        <p:nvSpPr>
          <p:cNvPr id="11" name="태그칩"/>
          <p:cNvSpPr/>
          <p:nvPr/>
        </p:nvSpPr>
        <p:spPr>
          <a:xfrm>
            <a:off x="516853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6853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4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44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44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6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희망하고 필요한 직무 찾기 / 직무 IN &amp; OUT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수요조사(’25.11)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적합성 분석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 IN &amp; OUT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부서의견 “인원이 부족한 분야에 업무를 지원해 주었으면 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“재취업에 도움이 되고 업무 경험을 활용 할 수 있는 일을 하고 싶어요”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직무적합성분석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직무중복여부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필요성·기여도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활용도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2156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신설(3개) AI, 수자원 운영, 대외협력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폐지(2개) 연구 지원, 하수도 운영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2156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541913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54191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541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347652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직무 수준 체계화</a:t>
            </a:r>
          </a:p>
        </p:txBody>
      </p:sp>
      <p:sp>
        <p:nvSpPr>
          <p:cNvPr id="36" name="머리칸"/>
          <p:cNvSpPr/>
          <p:nvPr/>
        </p:nvSpPr>
        <p:spPr>
          <a:xfrm>
            <a:off x="3230348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자율적 직무 지원</a:t>
            </a:r>
          </a:p>
        </p:txBody>
      </p:sp>
      <p:sp>
        <p:nvSpPr>
          <p:cNvPr id="38" name="머리칸"/>
          <p:cNvSpPr/>
          <p:nvPr/>
        </p:nvSpPr>
        <p:spPr>
          <a:xfrm>
            <a:off x="5113043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인사·급여 연계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직무난이도·필요역량 고려, 직무등급(A~D등급) 설정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직무공모 본인 희망직무 지원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직무공모 배치기준 ❶ 파견·현업 직위 수행자 ❷ 지원순위 先 순위자</a:t>
            </a:r>
          </a:p>
        </p:txBody>
      </p:sp>
      <p:cxnSp>
        <p:nvCxnSpPr>
          <p:cNvPr id="42" name="Connector 26"/>
          <p:cNvCxnSpPr/>
          <p:nvPr/>
        </p:nvCxnSpPr>
        <p:spPr>
          <a:xfrm>
            <a:off x="3230348" y="2837739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직무등급별 직무급 차등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인사관리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 근무 평점 85점 이하시 직무 변경 / 보수 직무급 차등 4등급 차등 적용(21,132천원~9,372천원/연)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5113043" y="2837739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5 서사 · 숙련된 전문성 활용과 맞춤형 미래 준비(내부 지원 · 민관 협력 → 직무관리체계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숙련된 전문성 활용과 맞춤형 미래 준비를 통한 직무몰입도 향상</a:t>
            </a:r>
          </a:p>
        </p:txBody>
      </p:sp>
      <p:sp>
        <p:nvSpPr>
          <p:cNvPr id="12" name="태그칩"/>
          <p:cNvSpPr/>
          <p:nvPr/>
        </p:nvSpPr>
        <p:spPr>
          <a:xfrm>
            <a:off x="456820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6820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11932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11932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593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399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39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지원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추가 활용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 감사·안전·대외협력: 예방감사관(5명) 사전컨설팅·적극행정 면책 / 안전패트롤(16명) 사고 취약분야 점검 / 대외협력관(3명) 물기술·거버넌스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3121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글로벌·R&amp;D: 전문역량·숙련경험 중심 분야 추가 활용 / 해외사업 PM 국제협력 업무 자문 / 연구 지원관 미래기술 개발·연구수행 코칭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64087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단계"/>
          <p:cNvSpPr/>
          <p:nvPr/>
        </p:nvSpPr>
        <p:spPr>
          <a:xfrm>
            <a:off x="1161391" y="2333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분석-직무 정교화 연계 기업매칭 강화</a:t>
            </a:r>
          </a:p>
        </p:txBody>
      </p:sp>
      <p:sp>
        <p:nvSpPr>
          <p:cNvPr id="28" name="단계"/>
          <p:cNvSpPr/>
          <p:nvPr/>
        </p:nvSpPr>
        <p:spPr>
          <a:xfrm>
            <a:off x="3044087" y="2333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세분화 매칭</a:t>
            </a:r>
          </a:p>
        </p:txBody>
      </p:sp>
      <p:sp>
        <p:nvSpPr>
          <p:cNvPr id="30" name="단계"/>
          <p:cNvSpPr/>
          <p:nvPr/>
        </p:nvSpPr>
        <p:spPr>
          <a:xfrm>
            <a:off x="4926783" y="2333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역대 최대 참여 달성(79명)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3044086" y="233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4926782" y="233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셰르파 만족도 분석(’24) 기업(22社) · 직원(36명)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만족도 분석 결과: 기업 조직·경영관리 경험자 조언 필요 / 직원 직무설계 필요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경영·사업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진단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2618609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공공부문 참여 1위 33명 → 55명 → 73명 → 79명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2618609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547826" y="3484174"/>
            <a:ext cx="580696" cy="114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3484174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48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임금피크 직원 설문조사</a:t>
            </a:r>
          </a:p>
        </p:txBody>
      </p:sp>
      <p:sp>
        <p:nvSpPr>
          <p:cNvPr id="44" name="머리칸"/>
          <p:cNvSpPr/>
          <p:nvPr/>
        </p:nvSpPr>
        <p:spPr>
          <a:xfrm>
            <a:off x="3044087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맞춤형 교육과정 확대</a:t>
            </a:r>
          </a:p>
        </p:txBody>
      </p:sp>
      <p:sp>
        <p:nvSpPr>
          <p:cNvPr id="46" name="머리칸"/>
          <p:cNvSpPr/>
          <p:nvPr/>
        </p:nvSpPr>
        <p:spPr>
          <a:xfrm>
            <a:off x="4926783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환류체계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재취업 지원제도 실효성 점검·의견수렴(’25년 상반기)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공통의견 취업에 도움되는 교육과정 운영 필요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미래설계 맞춤형 교육과정 도입으로 재취업 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교육과정 재취업·창업·재무설계, 디지털역량 등 11개 과정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3044087" y="378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개선으로 직원 만족도 98.6점 달성(전년比 1.2점↑)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퇴직자 재취업 실효성 평가 상·하반기 확대 운영(’26년)</a:t>
            </a:r>
          </a:p>
        </p:txBody>
      </p:sp>
      <p:cxnSp>
        <p:nvCxnSpPr>
          <p:cNvPr id="52" name="Connector 36"/>
          <p:cNvCxnSpPr/>
          <p:nvPr/>
        </p:nvCxnSpPr>
        <p:spPr>
          <a:xfrm>
            <a:off x="4926783" y="378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핵심성과 박스"/>
          <p:cNvSpPr/>
          <p:nvPr/>
        </p:nvSpPr>
        <p:spPr>
          <a:xfrm>
            <a:off x="536870" y="4733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핵심성과 라벨"/>
          <p:cNvSpPr/>
          <p:nvPr/>
        </p:nvSpPr>
        <p:spPr>
          <a:xfrm>
            <a:off x="569739" y="4771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5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771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749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임금피크제 절감 재원(422명, 61.9억원)을 활용하여 청년일자리(146명, 58.8억원)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6 서사 · 일·가정 양립(성과 점검 → 의견 → 추진방향 정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육아 걱정 없이·유연하게 일하는 방식 혁신으로 행복한 일터 조성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5533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점검하고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노사공동 가족친화경영 TF 운영: 인사·복지·휴가·문화 등 대규모 개선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아쉬운 점 가족친화제도 안정적 정착 및 구성원 인식변화 유도·조직문화 확산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569600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696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 아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569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915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평가위원 “제도 활용에 대한 인식개선 캠페인 등 문화적 수용성 강화 병행 필요”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915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“가족친화제도를 부담없이 사용하고 꼭 필요한 일만 하는 건강한 조직”</a:t>
            </a:r>
          </a:p>
        </p:txBody>
      </p:sp>
      <p:cxnSp>
        <p:nvCxnSpPr>
          <p:cNvPr id="25" name="Connector 17"/>
          <p:cNvCxnSpPr/>
          <p:nvPr/>
        </p:nvCxnSpPr>
        <p:spPr>
          <a:xfrm>
            <a:off x="4171696" y="16243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5722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5722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립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2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‘공공부문 최고 수준’ 가족친화 근무제도 정착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가족친화문화 확산과 근무만족도 제고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230348" y="2180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‘일하는 방식’ 개선 효율적인 근무문화 구축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5113043" y="2180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7 서사 · 제도 본격 도입 및 수용성 강화(全주기 가족친화제도 · 조직문화 개선 → 추진성과 4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157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제도 본격 도입 및 구성원 수용성 강화로 일·가정 양립 실현</a:t>
            </a:r>
          </a:p>
        </p:txBody>
      </p:sp>
      <p:sp>
        <p:nvSpPr>
          <p:cNvPr id="12" name="태그칩"/>
          <p:cNvSpPr/>
          <p:nvPr/>
        </p:nvSpPr>
        <p:spPr>
          <a:xfrm>
            <a:off x="425117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5117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802300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802300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572958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572958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125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全주기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21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임신·출산부터 복직, 복직 후 양육까지 全주기를 아우르는 가족친화제도 완성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25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임신·출산 One-Stop 육아휴직 시스템: 임신 중 육아휴직 + 출산휴가 육아휴직 통합시스템 구축 ➡ 직원 편의성 향상, 부담 경감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양육 일·가정 모두의 안정 달성: 격주 4일제, 육아기 재택근무 등 육아집중형 新근무제도 최초 도입 / 육아시간 사무외출 사용 활성화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25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경력단절 걱정없는 동등한 기회: 육아 휴직기간 100% 근속기간 인정 / 육아휴직자 승진대상자 최초포함 ➡ 육아휴직 중 초급관리자 최초 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복직 본인 의사를 보장하는 제도: 분기별 육아휴직 복직 신청제도 실시 / 복직 희망일에 100% 희망부서 배치 / 직장어린이집 야간보육 정식 도입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58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547826" y="2388522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38852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1043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인식개선 변화유도·수용성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양성평등주간 남성 육아휴직 인식 제고 캠페인 개최(’25.9)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 대상 조직문화 교육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1043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함께 만드는 가족친화문화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숏폼 공모전·사보 기획기사로 활용사례 공유·직원참여 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우수부서 내부평가 반영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2443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틀"/>
          <p:cNvSpPr/>
          <p:nvPr/>
        </p:nvSpPr>
        <p:spPr>
          <a:xfrm>
            <a:off x="536870" y="324313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성과 라벨"/>
          <p:cNvSpPr/>
          <p:nvPr/>
        </p:nvSpPr>
        <p:spPr>
          <a:xfrm>
            <a:off x="547826" y="325408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4" name="성과 라벨"/>
          <p:cNvSpPr>
            <a:spLocks noGrp="1"/>
          </p:cNvSpPr>
          <p:nvPr>
            <p:ph type="body" sz="quarter" idx="31"/>
          </p:nvPr>
        </p:nvSpPr>
        <p:spPr>
          <a:xfrm>
            <a:off x="547826" y="325408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성과 띠"/>
          <p:cNvSpPr/>
          <p:nvPr/>
        </p:nvSpPr>
        <p:spPr>
          <a:xfrm>
            <a:off x="1172348" y="327600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6" name="성과 띠"/>
          <p:cNvSpPr>
            <a:spLocks noGrp="1"/>
          </p:cNvSpPr>
          <p:nvPr>
            <p:ph type="body" sz="quarter" idx="32"/>
          </p:nvPr>
        </p:nvSpPr>
        <p:spPr>
          <a:xfrm>
            <a:off x="1172348" y="327600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가족친화제도 완벽 정착으로 일·가정 양립 선도기관 인증(가족친화기업 ’09~’25년)</a:t>
            </a:r>
          </a:p>
        </p:txBody>
      </p:sp>
      <p:sp>
        <p:nvSpPr>
          <p:cNvPr id="37" name="카드"/>
          <p:cNvSpPr/>
          <p:nvPr/>
        </p:nvSpPr>
        <p:spPr>
          <a:xfrm>
            <a:off x="1172348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카드 문구"/>
          <p:cNvSpPr>
            <a:spLocks noGrp="1"/>
          </p:cNvSpPr>
          <p:nvPr>
            <p:ph type="body" sz="quarter" idx="33"/>
          </p:nvPr>
        </p:nvSpPr>
        <p:spPr>
          <a:xfrm>
            <a:off x="1194261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 사용자수</a:t>
            </a:r>
          </a:p>
        </p:txBody>
      </p:sp>
      <p:sp>
        <p:nvSpPr>
          <p:cNvPr id="39" name="막대"/>
          <p:cNvSpPr/>
          <p:nvPr/>
        </p:nvSpPr>
        <p:spPr>
          <a:xfrm>
            <a:off x="1249043" y="396900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값"/>
          <p:cNvSpPr>
            <a:spLocks noGrp="1"/>
          </p:cNvSpPr>
          <p:nvPr>
            <p:ph type="body" sz="quarter" idx="34"/>
          </p:nvPr>
        </p:nvSpPr>
        <p:spPr>
          <a:xfrm>
            <a:off x="1161391" y="37936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243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35"/>
          </p:nvPr>
        </p:nvSpPr>
        <p:spPr>
          <a:xfrm>
            <a:off x="1161391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42" name="막대"/>
          <p:cNvSpPr/>
          <p:nvPr/>
        </p:nvSpPr>
        <p:spPr>
          <a:xfrm>
            <a:off x="1859870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값"/>
          <p:cNvSpPr>
            <a:spLocks noGrp="1"/>
          </p:cNvSpPr>
          <p:nvPr>
            <p:ph type="body" sz="quarter" idx="36"/>
          </p:nvPr>
        </p:nvSpPr>
        <p:spPr>
          <a:xfrm>
            <a:off x="177221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275</a:t>
            </a:r>
          </a:p>
        </p:txBody>
      </p:sp>
      <p:sp>
        <p:nvSpPr>
          <p:cNvPr id="44" name="연도"/>
          <p:cNvSpPr>
            <a:spLocks noGrp="1"/>
          </p:cNvSpPr>
          <p:nvPr>
            <p:ph type="body" sz="quarter" idx="37"/>
          </p:nvPr>
        </p:nvSpPr>
        <p:spPr>
          <a:xfrm>
            <a:off x="177221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5" name="카드"/>
          <p:cNvSpPr/>
          <p:nvPr/>
        </p:nvSpPr>
        <p:spPr>
          <a:xfrm>
            <a:off x="259121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카드 문구"/>
          <p:cNvSpPr>
            <a:spLocks noGrp="1"/>
          </p:cNvSpPr>
          <p:nvPr>
            <p:ph type="body" sz="quarter" idx="38"/>
          </p:nvPr>
        </p:nvSpPr>
        <p:spPr>
          <a:xfrm>
            <a:off x="261313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배우자 출산휴가</a:t>
            </a:r>
          </a:p>
        </p:txBody>
      </p:sp>
      <p:sp>
        <p:nvSpPr>
          <p:cNvPr id="47" name="막대"/>
          <p:cNvSpPr/>
          <p:nvPr/>
        </p:nvSpPr>
        <p:spPr>
          <a:xfrm>
            <a:off x="2667913" y="399365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값"/>
          <p:cNvSpPr>
            <a:spLocks noGrp="1"/>
          </p:cNvSpPr>
          <p:nvPr>
            <p:ph type="body" sz="quarter" idx="39"/>
          </p:nvPr>
        </p:nvSpPr>
        <p:spPr>
          <a:xfrm>
            <a:off x="2580261" y="3818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146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0"/>
          </p:nvPr>
        </p:nvSpPr>
        <p:spPr>
          <a:xfrm>
            <a:off x="2580261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0" name="막대"/>
          <p:cNvSpPr/>
          <p:nvPr/>
        </p:nvSpPr>
        <p:spPr>
          <a:xfrm>
            <a:off x="3278739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값"/>
          <p:cNvSpPr>
            <a:spLocks noGrp="1"/>
          </p:cNvSpPr>
          <p:nvPr>
            <p:ph type="body" sz="quarter" idx="41"/>
          </p:nvPr>
        </p:nvSpPr>
        <p:spPr>
          <a:xfrm>
            <a:off x="319108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210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2"/>
          </p:nvPr>
        </p:nvSpPr>
        <p:spPr>
          <a:xfrm>
            <a:off x="319108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3" name="카드"/>
          <p:cNvSpPr/>
          <p:nvPr/>
        </p:nvSpPr>
        <p:spPr>
          <a:xfrm>
            <a:off x="401008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카드 문구"/>
          <p:cNvSpPr>
            <a:spLocks noGrp="1"/>
          </p:cNvSpPr>
          <p:nvPr>
            <p:ph type="body" sz="quarter" idx="43"/>
          </p:nvPr>
        </p:nvSpPr>
        <p:spPr>
          <a:xfrm>
            <a:off x="403200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근무시간 단축제</a:t>
            </a:r>
          </a:p>
        </p:txBody>
      </p:sp>
      <p:sp>
        <p:nvSpPr>
          <p:cNvPr id="55" name="막대"/>
          <p:cNvSpPr/>
          <p:nvPr/>
        </p:nvSpPr>
        <p:spPr>
          <a:xfrm>
            <a:off x="4086783" y="4010087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값"/>
          <p:cNvSpPr>
            <a:spLocks noGrp="1"/>
          </p:cNvSpPr>
          <p:nvPr>
            <p:ph type="body" sz="quarter" idx="44"/>
          </p:nvPr>
        </p:nvSpPr>
        <p:spPr>
          <a:xfrm>
            <a:off x="3999130" y="3834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63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45"/>
          </p:nvPr>
        </p:nvSpPr>
        <p:spPr>
          <a:xfrm>
            <a:off x="3999130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8" name="막대"/>
          <p:cNvSpPr/>
          <p:nvPr/>
        </p:nvSpPr>
        <p:spPr>
          <a:xfrm>
            <a:off x="4697609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값"/>
          <p:cNvSpPr>
            <a:spLocks noGrp="1"/>
          </p:cNvSpPr>
          <p:nvPr>
            <p:ph type="body" sz="quarter" idx="46"/>
          </p:nvPr>
        </p:nvSpPr>
        <p:spPr>
          <a:xfrm>
            <a:off x="460995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102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47"/>
          </p:nvPr>
        </p:nvSpPr>
        <p:spPr>
          <a:xfrm>
            <a:off x="460995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61" name="카드"/>
          <p:cNvSpPr/>
          <p:nvPr/>
        </p:nvSpPr>
        <p:spPr>
          <a:xfrm>
            <a:off x="542895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카드 문구"/>
          <p:cNvSpPr>
            <a:spLocks noGrp="1"/>
          </p:cNvSpPr>
          <p:nvPr>
            <p:ph type="body" sz="quarter" idx="48"/>
          </p:nvPr>
        </p:nvSpPr>
        <p:spPr>
          <a:xfrm>
            <a:off x="545087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 유연근무제</a:t>
            </a:r>
          </a:p>
        </p:txBody>
      </p:sp>
      <p:sp>
        <p:nvSpPr>
          <p:cNvPr id="63" name="막대"/>
          <p:cNvSpPr/>
          <p:nvPr/>
        </p:nvSpPr>
        <p:spPr>
          <a:xfrm>
            <a:off x="5505652" y="403200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값"/>
          <p:cNvSpPr>
            <a:spLocks noGrp="1"/>
          </p:cNvSpPr>
          <p:nvPr>
            <p:ph type="body" sz="quarter" idx="49"/>
          </p:nvPr>
        </p:nvSpPr>
        <p:spPr>
          <a:xfrm>
            <a:off x="5418000" y="38566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50"/>
          </p:nvPr>
        </p:nvSpPr>
        <p:spPr>
          <a:xfrm>
            <a:off x="5418000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육아기</a:t>
            </a:r>
          </a:p>
        </p:txBody>
      </p:sp>
      <p:sp>
        <p:nvSpPr>
          <p:cNvPr id="66" name="막대"/>
          <p:cNvSpPr/>
          <p:nvPr/>
        </p:nvSpPr>
        <p:spPr>
          <a:xfrm>
            <a:off x="6116478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값"/>
          <p:cNvSpPr>
            <a:spLocks noGrp="1"/>
          </p:cNvSpPr>
          <p:nvPr>
            <p:ph type="body" sz="quarter" idx="51"/>
          </p:nvPr>
        </p:nvSpPr>
        <p:spPr>
          <a:xfrm>
            <a:off x="6028826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284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52"/>
          </p:nvPr>
        </p:nvSpPr>
        <p:spPr>
          <a:xfrm>
            <a:off x="6028826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격주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8 서사 · 소통·공감 기반 인사·복지제도 개선(新 승진제도 · 전보제도 → 가족 행복캠프 → 자회사 상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55333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소통·공감 기반의 인사·복지제도 개선을 통한 만족도 향상</a:t>
            </a:r>
          </a:p>
        </p:txBody>
      </p:sp>
      <p:sp>
        <p:nvSpPr>
          <p:cNvPr id="11" name="태그칩"/>
          <p:cNvSpPr/>
          <p:nvPr/>
        </p:nvSpPr>
        <p:spPr>
          <a:xfrm>
            <a:off x="437507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37507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492619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492619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태그칩"/>
          <p:cNvSpPr/>
          <p:nvPr/>
        </p:nvSpPr>
        <p:spPr>
          <a:xfrm>
            <a:off x="569685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69685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723130" y="1062783"/>
            <a:ext cx="6300000" cy="323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734087" y="1079217"/>
            <a:ext cx="580696" cy="232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32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20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 기반의 새로운 승진제도 정립</a:t>
            </a:r>
          </a:p>
        </p:txBody>
      </p:sp>
      <p:sp>
        <p:nvSpPr>
          <p:cNvPr id="22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참여·소통 기반의 高체감 인사혁신 지속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공정성을 강화한 新 승진제도: 신규 역량 중심 승진시험 최초 시행 * 근무성적·시험점수·다면평가 등 반영 / 효과 기존 승진 흐름 대비 1~2년 조기 승진자 배출(26명)로 조직 활력 제고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직원이 설계하는 K-water型 전보제도: 노사공동 TF(66명, 총 21회 회의) → 全 직원 의견수렴(설문조사 2회, 현장설명회 22회) → 평등한 제도 본부·현장 고려 촘촘한 제도설계, 직원 수용성 제고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347652" y="2235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235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가족愛 행복캠프 가족 구성원간 유대 강화·이해와 공감 중심 소통의 場 마련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부모님 가족 마음 연결: 예술 감상 음악 치유 기성세대 부모·자녀직원 가족 이해증진·유대감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부부 공감 소통: 부부 소통특강 심리진단 기반 부부간 대화법·소통 기술 학습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2503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자녀 가족 유대 강화: 실내 올림픽 부모·자녀 간 애착 형성, 긍정적 가족 정서 경험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2503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347652" y="3177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3177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캠프참여자(478명) 대상 만족도 조사 96.1점 달성</a:t>
            </a:r>
          </a:p>
        </p:txBody>
      </p:sp>
      <p:sp>
        <p:nvSpPr>
          <p:cNvPr id="36" name="레일"/>
          <p:cNvSpPr/>
          <p:nvPr/>
        </p:nvSpPr>
        <p:spPr>
          <a:xfrm>
            <a:off x="734087" y="3418435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799521" y="3582783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4"/>
          </p:nvPr>
        </p:nvSpPr>
        <p:spPr>
          <a:xfrm>
            <a:off x="799521" y="3582783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5"/>
          </p:nvPr>
        </p:nvSpPr>
        <p:spPr>
          <a:xfrm>
            <a:off x="734087" y="3769043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41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344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1347652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모·자회사 공동 협의회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344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7"/>
          </p:nvPr>
        </p:nvSpPr>
        <p:spPr>
          <a:xfrm>
            <a:off x="3230348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예산·인력 지원 확대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344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8"/>
          </p:nvPr>
        </p:nvSpPr>
        <p:spPr>
          <a:xfrm>
            <a:off x="5113043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344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344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복지·예산 등 근무환경 개선사항 논의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복지(중식·이전비)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안전인력(10명)·예산(0.9억원) 확대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3230348" y="3725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 실태평가 최고점수(A등급) 달성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113043" y="3725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438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442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442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439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체감형 인사·복지제도 개선으로 역대 최고 인사만족도(77.9점), 복지만족도(4.21점)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9 서사 · 근무 환경 · 일하는 방식 개선(조직활력 제고 → 자유롭고 유연하게 일하기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570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‘근무 환경’ &amp; ‘일하는 방식’ 개선으로 행복하고 효율적인 일터 조성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73118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118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282302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82302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68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근무환경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12928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조직활력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코칭 + </a:t>
            </a:r>
          </a:p>
        </p:txBody>
      </p:sp>
      <p:sp>
        <p:nvSpPr>
          <p:cNvPr id="23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융화 +</a:t>
            </a:r>
          </a:p>
        </p:txBody>
      </p:sp>
      <p:sp>
        <p:nvSpPr>
          <p:cNvPr id="25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조기 적응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조직문화 개선 코칭: 상향식 소통의 부서 코칭 확대(12 → 26개) 운영 / 부서선정 · 심층진단 · 맞춤코칭 · 확산활동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신뢰경영지수 평균 11점 상승(77 → 88점)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계층별 조직적응 지원: 저연차 → 취약계층 확대 / 맞춤형 모듈 기획·운영 / 전문직·실무직·고참 차장 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참여자 만족도 97.4점(전년比 1.9점↑) 달성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044087" y="13640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적응 교육: 업무 조기 적응향상을 위해 온라인 학습 지원 / 이러닝 · 온보딩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니즈를 반영 교육 콘텐츠 32개 추가 반영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4926783" y="13640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배너"/>
          <p:cNvSpPr/>
          <p:nvPr/>
        </p:nvSpPr>
        <p:spPr>
          <a:xfrm>
            <a:off x="1161391" y="2388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88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‘맞춤형 프로그램’을 통한 다양한 계층 튜아보기로 ‘일하고 싶은 문화’ 조성</a:t>
            </a:r>
          </a:p>
        </p:txBody>
      </p:sp>
      <p:sp>
        <p:nvSpPr>
          <p:cNvPr id="34" name="레일"/>
          <p:cNvSpPr/>
          <p:nvPr/>
        </p:nvSpPr>
        <p:spPr>
          <a:xfrm>
            <a:off x="547826" y="2629565"/>
            <a:ext cx="580696" cy="1090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488856" y="2793913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488856" y="2793913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일하는 방식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980174"/>
            <a:ext cx="580696" cy="717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자유롭고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유연하게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일하기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머리칸"/>
          <p:cNvSpPr/>
          <p:nvPr/>
        </p:nvSpPr>
        <p:spPr>
          <a:xfrm>
            <a:off x="1161391" y="2651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651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자유로운 일방식 구현</a:t>
            </a:r>
          </a:p>
        </p:txBody>
      </p:sp>
      <p:sp>
        <p:nvSpPr>
          <p:cNvPr id="41" name="머리칸"/>
          <p:cNvSpPr/>
          <p:nvPr/>
        </p:nvSpPr>
        <p:spPr>
          <a:xfrm>
            <a:off x="3985435" y="2651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651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일과 쉼의 조화 ‘워터케이션’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92522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집중근무·디지털 오피스 근무여건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탄력적 근무제도 도입(15분 단위 휴가사용)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근무시간 총량제 → 스마트 업무환경 → 근무시간 유연화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892522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일과 쉼의 조화 ‘워터케이션’: 동료型 이색장소 연계 새로운 인사이트 모색 / 가족型 집중근무 후 가족 여가·체험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동료 업무 몰입도↑ 가족 일·가정 양립 만족도↑</a:t>
            </a:r>
          </a:p>
        </p:txBody>
      </p:sp>
      <p:cxnSp>
        <p:nvCxnSpPr>
          <p:cNvPr id="45" name="Connector 31"/>
          <p:cNvCxnSpPr/>
          <p:nvPr/>
        </p:nvCxnSpPr>
        <p:spPr>
          <a:xfrm>
            <a:off x="3985435" y="2925391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823826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85669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85669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845739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직원만족 신뢰경영지수 역대 최고점수 91점 달성(응답률 역대최다 53.6%, 전년比 4점↑)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‘아시아에서 가장 일하기 좋은 200대 기업’ 포함(대기업 부문 22위, GPTW, ’25.9)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0 서사 · 노사관계 지표 표지(가중치 · 평가방법 · 지표정의 · 세부평가내용 · 지표관리부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주석"/>
          <p:cNvSpPr>
            <a:spLocks noGrp="1"/>
          </p:cNvSpPr>
          <p:nvPr>
            <p:ph type="body" sz="quarter" idx="20"/>
          </p:nvPr>
        </p:nvSpPr>
        <p:spPr>
          <a:xfrm>
            <a:off x="2366609" y="777913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가중치 2.5점  ·  평가방법 9등급 평가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723130" y="1029913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587826" y="1035391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1"/>
          </p:nvPr>
        </p:nvSpPr>
        <p:spPr>
          <a:xfrm>
            <a:off x="997043" y="1040870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노사관계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783" y="1133169"/>
            <a:ext cx="1161391" cy="215314"/>
          </a:xfrm>
          <a:prstGeom prst="rect">
            <a:avLst/>
          </a:prstGeom>
        </p:spPr>
      </p:pic>
      <p:sp>
        <p:nvSpPr>
          <p:cNvPr id="14" name="라벨 박스"/>
          <p:cNvSpPr/>
          <p:nvPr/>
        </p:nvSpPr>
        <p:spPr>
          <a:xfrm>
            <a:off x="723130" y="1506522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517478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517478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지표정의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358609" y="152295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노사관계를 위한 노력과 성과를 평가한다.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851652"/>
            <a:ext cx="6300000" cy="723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862609"/>
            <a:ext cx="591652" cy="7013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862609"/>
            <a:ext cx="591652" cy="7013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58609" y="1868087"/>
            <a:ext cx="5631652" cy="6904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노사 간 협력체계 구축과 실질적 운영 등이 상호 협력과 참여에 기반하여 합리적이고 적법하게 이루어지고 있는지 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노사 간의 공감대 형성을 위한 의사소통과 노사관계 관리 역량 강화를 위한 노력과 성과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노사협력을 통한 근로조건의 실질적 향상과 구체적 성과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1 서사 · 노사관계 목차(Contents: Ⅰ·Ⅱ·Ⅲ 장 + 평가내용별 항목 · 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Contents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2 서사 · 新노동 패러다임에 신속한 대응(정책기조 → 의견수렴 → 시사점 → 목표 · 4대 실행체계 · 9대 실행과제 → 대표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新노동 패러다임에 신속한 대응, 노사 全분야 펀더멘탈 확립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413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 태그"/>
          <p:cNvSpPr/>
          <p:nvPr/>
        </p:nvSpPr>
        <p:spPr>
          <a:xfrm>
            <a:off x="744637" y="118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8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</a:t>
            </a:r>
          </a:p>
        </p:txBody>
      </p:sp>
      <p:sp>
        <p:nvSpPr>
          <p:cNvPr id="18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75043"/>
            <a:ext cx="580696" cy="116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93 차별과 배제 없는 일터 · 94 노동존중, 노동기본권 보장 · 95 행복한 일터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노동존중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노동안전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일·생활 균형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개정, 노동기본권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노사교섭 환경 구축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예방·관리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권익 보호 중시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3230348" y="1676348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 노동시간 단축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지원 강화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13043" y="1676348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74783"/>
            <a:ext cx="580696" cy="1177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744637" y="27391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7391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대내환경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925391"/>
            <a:ext cx="580696" cy="805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574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347652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(使) K-water 소통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임직원 니즈 공정·미래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(勞) 노동조합 공정·협력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노사법치주의 토대 상생협력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노무리스크 관리 필요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요구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 필요성 인지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3230348" y="2870609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노동법 개정에 따른 역할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 근로조건 향상에 집중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5113043" y="2870609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캡션 띠"/>
          <p:cNvSpPr/>
          <p:nvPr/>
        </p:nvSpPr>
        <p:spPr>
          <a:xfrm>
            <a:off x="723130" y="3790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태그"/>
          <p:cNvSpPr/>
          <p:nvPr/>
        </p:nvSpPr>
        <p:spPr>
          <a:xfrm>
            <a:off x="1051826" y="383478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태그"/>
          <p:cNvSpPr>
            <a:spLocks noGrp="1"/>
          </p:cNvSpPr>
          <p:nvPr>
            <p:ph type="body" sz="quarter" idx="39"/>
          </p:nvPr>
        </p:nvSpPr>
        <p:spPr>
          <a:xfrm>
            <a:off x="1051826" y="383478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1" name="캡션"/>
          <p:cNvSpPr>
            <a:spLocks noGrp="1"/>
          </p:cNvSpPr>
          <p:nvPr>
            <p:ph type="body" sz="quarter" idx="40"/>
          </p:nvPr>
        </p:nvSpPr>
        <p:spPr>
          <a:xfrm>
            <a:off x="1545480" y="379095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중장기 노사 발전전략 미션 + 新정책환경 + 노사니즈의 정합 필요</a:t>
            </a:r>
          </a:p>
        </p:txBody>
      </p:sp>
      <p:sp>
        <p:nvSpPr>
          <p:cNvPr id="52" name="표 외곽"/>
          <p:cNvSpPr/>
          <p:nvPr/>
        </p:nvSpPr>
        <p:spPr>
          <a:xfrm>
            <a:off x="723130" y="4097739"/>
            <a:ext cx="6300000" cy="30582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레일"/>
          <p:cNvSpPr/>
          <p:nvPr/>
        </p:nvSpPr>
        <p:spPr>
          <a:xfrm>
            <a:off x="734087" y="4114174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114174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55" name="배너"/>
          <p:cNvSpPr/>
          <p:nvPr/>
        </p:nvSpPr>
        <p:spPr>
          <a:xfrm>
            <a:off x="1347652" y="41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41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법과 원칙을 기반으로 상생협력을 지향하는 ‘4대 노사협력 실행체계’ 혁신</a:t>
            </a:r>
          </a:p>
        </p:txBody>
      </p:sp>
      <p:sp>
        <p:nvSpPr>
          <p:cNvPr id="57" name="레일"/>
          <p:cNvSpPr/>
          <p:nvPr/>
        </p:nvSpPr>
        <p:spPr>
          <a:xfrm>
            <a:off x="734087" y="4384017"/>
            <a:ext cx="580696" cy="2755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384017"/>
            <a:ext cx="580696" cy="275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 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734086" y="4384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운영방향 재수립: 중장기 전략 Rolling, 9대 실행과제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등 노사전략에 부합하는 ’25년 방향수립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2770630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전담조직 신설: 노사담당 독립 부서격상, 법·제도 담당 부(部)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노사협력처 부서격상, 노무담당 인원 2배 증원(12명)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2759674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K-노무포털 신설: 데이터 기반 투명한 노사관계 확립 지원·관리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L-Guard, 노사협의회 관리, 노동정책·자료 공유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171696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5594674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단체협약 등 개정: 노동존중 등 정부정책 선도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건강한 노사관계, 근로자 안전, 일·가정 양립 등 21건 개정</a:t>
            </a:r>
          </a:p>
        </p:txBody>
      </p:sp>
      <p:cxnSp>
        <p:nvCxnSpPr>
          <p:cNvPr id="66" name="Connector 47"/>
          <p:cNvCxnSpPr/>
          <p:nvPr/>
        </p:nvCxnSpPr>
        <p:spPr>
          <a:xfrm>
            <a:off x="5583717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배너"/>
          <p:cNvSpPr/>
          <p:nvPr/>
        </p:nvSpPr>
        <p:spPr>
          <a:xfrm>
            <a:off x="1347652" y="56275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56275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Mission에 정합한 ’25년 노사관계 운영방향 9대 실행과제</a:t>
            </a:r>
          </a:p>
        </p:txBody>
      </p:sp>
      <p:sp>
        <p:nvSpPr>
          <p:cNvPr id="69" name="단계"/>
          <p:cNvSpPr/>
          <p:nvPr/>
        </p:nvSpPr>
        <p:spPr>
          <a:xfrm>
            <a:off x="1347652" y="58631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협력의 노사관계</a:t>
            </a:r>
          </a:p>
        </p:txBody>
      </p:sp>
      <p:sp>
        <p:nvSpPr>
          <p:cNvPr id="71" name="단계"/>
          <p:cNvSpPr/>
          <p:nvPr/>
        </p:nvSpPr>
        <p:spPr>
          <a:xfrm>
            <a:off x="3230348" y="58631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3230348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소통과 미래 역량 확보</a:t>
            </a:r>
          </a:p>
        </p:txBody>
      </p:sp>
      <p:sp>
        <p:nvSpPr>
          <p:cNvPr id="73" name="단계"/>
          <p:cNvSpPr/>
          <p:nvPr/>
        </p:nvSpPr>
        <p:spPr>
          <a:xfrm>
            <a:off x="5113043" y="58631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5113043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 중심 미래 근로조건 향상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3230347" y="58631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단계 삼각형"/>
          <p:cNvSpPr/>
          <p:nvPr/>
        </p:nvSpPr>
        <p:spPr>
          <a:xfrm>
            <a:off x="5113043" y="58631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1358609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노사기준 재정립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 관리체계 2.0 도입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3241304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교차식 노사소통 창구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新노동이사 진단체계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노무역량강화 모델 구조화</a:t>
            </a:r>
          </a:p>
        </p:txBody>
      </p:sp>
      <p:cxnSp>
        <p:nvCxnSpPr>
          <p:cNvPr id="79" name="Connector 56"/>
          <p:cNvCxnSpPr/>
          <p:nvPr/>
        </p:nvCxnSpPr>
        <p:spPr>
          <a:xfrm>
            <a:off x="3230348" y="6148017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5124000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갈등별 구체적 솔루션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無분규 제19차 단체협약 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가족·안전분야 근로조건 혁신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113043" y="6148017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틀"/>
          <p:cNvSpPr/>
          <p:nvPr/>
        </p:nvSpPr>
        <p:spPr>
          <a:xfrm>
            <a:off x="723130" y="7221757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성과 라벨"/>
          <p:cNvSpPr/>
          <p:nvPr/>
        </p:nvSpPr>
        <p:spPr>
          <a:xfrm>
            <a:off x="734087" y="723271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라벨"/>
          <p:cNvSpPr>
            <a:spLocks noGrp="1"/>
          </p:cNvSpPr>
          <p:nvPr>
            <p:ph type="body" sz="quarter" idx="55"/>
          </p:nvPr>
        </p:nvSpPr>
        <p:spPr>
          <a:xfrm>
            <a:off x="734087" y="723271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5" name="성과 띠"/>
          <p:cNvSpPr/>
          <p:nvPr/>
        </p:nvSpPr>
        <p:spPr>
          <a:xfrm>
            <a:off x="1358609" y="725462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6" name="성과 띠"/>
          <p:cNvSpPr>
            <a:spLocks noGrp="1"/>
          </p:cNvSpPr>
          <p:nvPr>
            <p:ph type="body" sz="quarter" idx="56"/>
          </p:nvPr>
        </p:nvSpPr>
        <p:spPr>
          <a:xfrm>
            <a:off x="1358609" y="725462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위반, 시정명령 ‘Zero’ · 신뢰경영지수 역대 최고 · 공공기관 종합청렴도 1등급</a:t>
            </a:r>
          </a:p>
        </p:txBody>
      </p:sp>
      <p:sp>
        <p:nvSpPr>
          <p:cNvPr id="87" name="카드"/>
          <p:cNvSpPr/>
          <p:nvPr/>
        </p:nvSpPr>
        <p:spPr>
          <a:xfrm>
            <a:off x="1358609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카드 문구"/>
          <p:cNvSpPr>
            <a:spLocks noGrp="1"/>
          </p:cNvSpPr>
          <p:nvPr>
            <p:ph type="body" sz="quarter" idx="57"/>
          </p:nvPr>
        </p:nvSpPr>
        <p:spPr>
          <a:xfrm>
            <a:off x="1380522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위반·시정명령 Zero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만족도 0.7점↑(91.6 → 92.3점)</a:t>
            </a:r>
          </a:p>
        </p:txBody>
      </p:sp>
      <p:sp>
        <p:nvSpPr>
          <p:cNvPr id="89" name="카드"/>
          <p:cNvSpPr/>
          <p:nvPr/>
        </p:nvSpPr>
        <p:spPr>
          <a:xfrm>
            <a:off x="3250435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카드 문구"/>
          <p:cNvSpPr>
            <a:spLocks noGrp="1"/>
          </p:cNvSpPr>
          <p:nvPr>
            <p:ph type="body" sz="quarter" idx="58"/>
          </p:nvPr>
        </p:nvSpPr>
        <p:spPr>
          <a:xfrm>
            <a:off x="3272348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아시아에서 일하기 좋은 기업 200대 선정, GPTW</a:t>
            </a:r>
          </a:p>
        </p:txBody>
      </p:sp>
      <p:sp>
        <p:nvSpPr>
          <p:cNvPr id="91" name="카드"/>
          <p:cNvSpPr/>
          <p:nvPr/>
        </p:nvSpPr>
        <p:spPr>
          <a:xfrm>
            <a:off x="5142261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59"/>
          </p:nvPr>
        </p:nvSpPr>
        <p:spPr>
          <a:xfrm>
            <a:off x="5164174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종합청렴도 ‘1등급’ 달성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31개 기관 中 1위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3 서사 · 노사기준 재정비 및 디지털 노무광장 오픈 도입(필수유지업무협정 개정 · 근로시간면제제도 재합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법과 원칙에 따른 노사기준 재정비 및 참여형 디지털 노무광장 오픈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30154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노와 사 한마음으로 차질 없는 국민 물공급 실현 및 적법한 노동권 보장</a:t>
            </a:r>
          </a:p>
        </p:txBody>
      </p:sp>
      <p:sp>
        <p:nvSpPr>
          <p:cNvPr id="17" name="태그칩"/>
          <p:cNvSpPr/>
          <p:nvPr/>
        </p:nvSpPr>
        <p:spPr>
          <a:xfrm>
            <a:off x="493702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93702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59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953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공익 실현 국민생활과 경제의 안정성 확보를 위해 노동권(쟁의행위) 제한 범위 합리적 조정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시설운영 강화 등 現 필수유지업무협정(’15년) 재검토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953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확보 근로시간면제제도 관행을 탈피, 실제 활동시간 기반 합법적 조합활동 보장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’19년 합의 후 소정근로시간에 대한 재계산 추진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887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2492609"/>
            <a:ext cx="580696" cy="1561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492609"/>
            <a:ext cx="580696" cy="156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2492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514522"/>
            <a:ext cx="2802130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필수유지업무협정 개정: 어떤 경우에도 24시간 안정적인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측의 개정 필요성 제안 * 운영안정성 제고 및 변화된 시설 운영여건 반영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상호공감(교섭 4회) 기반 타결 / 물공급 시설 운영 중심 필수유지업무 비율 재조정: 운영업무(24시간 교대근무) 63% → 100%, 지원업무(일반행정 등) 40% → 20%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2514522"/>
            <a:ext cx="2802130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근로시간면제제도 재합의: 노사법치 기반, 건전한 노조활동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측 재검토 요청 * 소정근로시간(2,000시간)을 실제 휴일(토·일, 대체 등)로 계산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他기관 사례, 법률자문 기반 합의 / 매년 실제 활동시간 및 근로시간면제자 재산정: 면제한도 26,400시간, 활동시간 2,000시간, 전임직원 13.2명(고정) → 매년 계산(변동)</a:t>
            </a:r>
          </a:p>
        </p:txBody>
      </p:sp>
      <p:cxnSp>
        <p:nvCxnSpPr>
          <p:cNvPr id="30" name="Connector 23"/>
          <p:cNvCxnSpPr/>
          <p:nvPr/>
        </p:nvCxnSpPr>
        <p:spPr>
          <a:xfrm>
            <a:off x="3985435" y="2547391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536870" y="41580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41963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41963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41744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부당노동행위 등을 포함한 노동관계 법령 위반 및 시정명령 건수 Zero 달성(2 → 0건)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4 서사 · K-노무포털(Portal) 런칭(성과환류 → 기존 L-Guard → 개선: 노사합의 관리시스템화 · 참여형 노무정보 HUB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196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체계적 노사합의 관리 및 정보공유의 場, ‘K-노무포털(Portal)’ 런칭</a:t>
            </a:r>
          </a:p>
        </p:txBody>
      </p:sp>
      <p:sp>
        <p:nvSpPr>
          <p:cNvPr id="11" name="태그칩"/>
          <p:cNvSpPr/>
          <p:nvPr/>
        </p:nvSpPr>
        <p:spPr>
          <a:xfrm>
            <a:off x="504142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4142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59255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59255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782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全사업장 준법경영 기반: 노동관계 법령 준수 및 리스크 해소를 위한 체계적 대응 시스템 L-Guard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사전예방 경각심 환기, 간부 자율점검 / 대응지원 시스템 등록, 전문가 대응 / 사후관리 위반사례 DB화, 상시 컨설팅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빈틈없는 합의관리 및 정보공유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‘명백한 단체협약(노사협의회) 위반 방지’를 목표로 근본적 관리방식 개선 필요 / 직원 변화된 노동기준에 대한 관심 증가, 노무정보에 대한 전사적 접근성 확대 필요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2163913"/>
            <a:ext cx="580696" cy="166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2163913"/>
            <a:ext cx="580696" cy="166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K-노무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 털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347652" y="2185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85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노동법 위반방지 + ’25년 노사합의사항 관리 체계화 + 정보전달</a:t>
            </a:r>
          </a:p>
        </p:txBody>
      </p:sp>
      <p:sp>
        <p:nvSpPr>
          <p:cNvPr id="26" name="단계"/>
          <p:cNvSpPr/>
          <p:nvPr/>
        </p:nvSpPr>
        <p:spPr>
          <a:xfrm>
            <a:off x="1347652" y="2421391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2421391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기존 L-Guard + 개선</a:t>
            </a:r>
          </a:p>
        </p:txBody>
      </p:sp>
      <p:sp>
        <p:nvSpPr>
          <p:cNvPr id="28" name="단계"/>
          <p:cNvSpPr/>
          <p:nvPr/>
        </p:nvSpPr>
        <p:spPr>
          <a:xfrm>
            <a:off x="2477270" y="2421391"/>
            <a:ext cx="2259235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2477270" y="2421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노사합의 관리시스템화</a:t>
            </a:r>
          </a:p>
        </p:txBody>
      </p:sp>
      <p:sp>
        <p:nvSpPr>
          <p:cNvPr id="30" name="단계"/>
          <p:cNvSpPr/>
          <p:nvPr/>
        </p:nvSpPr>
        <p:spPr>
          <a:xfrm>
            <a:off x="4736504" y="2421391"/>
            <a:ext cx="2259235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4736504" y="2421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참여형 노무정보 HUB 구현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2477269" y="2421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4736504" y="2421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673391"/>
            <a:ext cx="1107704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❶ 관리시스템 ❷ 정보 HUB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2488226" y="2673391"/>
            <a:ext cx="2237322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노사합의사항 全직원 공유 및 이행·관리체계로 누수 방지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全과정 시스템 등록·관리 / 미이행 건 자동 메일링 알림 / 안건별 진행사항 시각화 표시 / 안건 담당자 실명제 운영·관리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2477270" y="2706261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2673391"/>
            <a:ext cx="2237322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정책(법률), 제도, 노사동향 등 직원맞춤형 정보 원스톱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자주묻는 자문, 휴가 Q&amp;A 등 현안에 대한 최적답안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현장까지 노무관리 내재화 실현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4736504" y="2706261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723130" y="3933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756000" y="3971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971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949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노무자문 이용건수 100% 증가(’24년 32건 → ’25년 64건), 현장 노동법 위반 전면차단(0건)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5 서사 · 선제적 노사갈등 관리체계 2.0(그간의 갈등관리 → 새롭게 직면한 환경 → 시사점 → 갈등관리 대응역량 UP → 미래갈등 사전대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분쟁 발생 이전에 작동하는 선제적 노사갈등 관리체계 2.0 도입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319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173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 태그"/>
          <p:cNvSpPr/>
          <p:nvPr/>
        </p:nvSpPr>
        <p:spPr>
          <a:xfrm>
            <a:off x="626749" y="1177826"/>
            <a:ext cx="42285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레일 태그"/>
          <p:cNvSpPr>
            <a:spLocks noGrp="1"/>
          </p:cNvSpPr>
          <p:nvPr>
            <p:ph type="body" sz="quarter" idx="24"/>
          </p:nvPr>
        </p:nvSpPr>
        <p:spPr>
          <a:xfrm>
            <a:off x="626749" y="1177826"/>
            <a:ext cx="42285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364087"/>
            <a:ext cx="580696" cy="147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</p:txBody>
      </p:sp>
      <p:sp>
        <p:nvSpPr>
          <p:cNvPr id="24" name="단계"/>
          <p:cNvSpPr/>
          <p:nvPr/>
        </p:nvSpPr>
        <p:spPr>
          <a:xfrm>
            <a:off x="1161391" y="1155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 참여형 갈등관리 프로세스 1.0 도입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155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유형별 갈등수준 진단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155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결과분석 및 갈등대응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범주, 13개 갈등유형 정의: 노사간 이익갈등(근로조건·근무환경 2개), 노사간 규범갈등(조합활동·경영참여 2개), 직원간 이익갈등(승진전보 3개), 직원간 규범갈등(세대간 등 6개)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 등을 통한 유형별 갈등수준 진단 / 노사관계 영향도 분석 / 3단계(경계·주의·관심) 수준결정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440783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대응주체 설정, 시나리오 기반 표준화된 갈등해결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TF · 협의체 · 직원간 / 이익 공정배분 · 규범 대화협의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구체적 갈등대응 성과 ▶ p.106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440783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881565"/>
            <a:ext cx="580696" cy="1418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27710" y="3045913"/>
            <a:ext cx="420927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2"/>
          </p:nvPr>
        </p:nvSpPr>
        <p:spPr>
          <a:xfrm>
            <a:off x="627710" y="3045913"/>
            <a:ext cx="42092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3232174"/>
            <a:ext cx="580696" cy="1046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새롭게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직면한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881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배너"/>
          <p:cNvSpPr/>
          <p:nvPr/>
        </p:nvSpPr>
        <p:spPr>
          <a:xfrm>
            <a:off x="1161391" y="2903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4"/>
          </p:nvPr>
        </p:nvSpPr>
        <p:spPr>
          <a:xfrm>
            <a:off x="1161391" y="2903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개정(’26.3 시행)에 따라 폭넓은 대내외 노사·노노갈등이 예상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3139043"/>
            <a:ext cx="2802130" cy="115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쟁의대상 확대(예측가능 갈등): 직원 인사, 신규사업(근로조건) 결정 등 노조 교섭요구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단협개정 등을 통해 선제적 갈등 해소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3139043"/>
            <a:ext cx="2802130" cy="115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 범위 확대(예측불가능 갈등): 용역·의제별 교섭요구, 창구 단일화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 시나리오 구축, 대응역량 확충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71913"/>
            <a:ext cx="0" cy="109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캡션 띠"/>
          <p:cNvSpPr/>
          <p:nvPr/>
        </p:nvSpPr>
        <p:spPr>
          <a:xfrm>
            <a:off x="536869" y="43387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태그"/>
          <p:cNvSpPr/>
          <p:nvPr/>
        </p:nvSpPr>
        <p:spPr>
          <a:xfrm>
            <a:off x="865565" y="4382609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37"/>
          </p:nvPr>
        </p:nvSpPr>
        <p:spPr>
          <a:xfrm>
            <a:off x="865565" y="4382609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0" name="캡션"/>
          <p:cNvSpPr>
            <a:spLocks noGrp="1"/>
          </p:cNvSpPr>
          <p:nvPr>
            <p:ph type="body" sz="quarter" idx="38"/>
          </p:nvPr>
        </p:nvSpPr>
        <p:spPr>
          <a:xfrm>
            <a:off x="1359219" y="4338783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환경변화에 따라 발생할 수 있는 갈등의 양상을 고려, 단계별 관리 고도화 필요</a:t>
            </a:r>
          </a:p>
        </p:txBody>
      </p:sp>
      <p:sp>
        <p:nvSpPr>
          <p:cNvPr id="51" name="표 외곽"/>
          <p:cNvSpPr/>
          <p:nvPr/>
        </p:nvSpPr>
        <p:spPr>
          <a:xfrm>
            <a:off x="536870" y="4645565"/>
            <a:ext cx="6300000" cy="4711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547826" y="4662000"/>
            <a:ext cx="580696" cy="3292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레일 태그"/>
          <p:cNvSpPr/>
          <p:nvPr/>
        </p:nvSpPr>
        <p:spPr>
          <a:xfrm>
            <a:off x="558376" y="4705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4705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예측가능</a:t>
            </a:r>
          </a:p>
        </p:txBody>
      </p:sp>
      <p:sp>
        <p:nvSpPr>
          <p:cNvPr id="55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4892087"/>
            <a:ext cx="580696" cy="304043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UP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683913"/>
            <a:ext cx="1860783" cy="156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잠재된 갈등 진단: 旣 정의된 13개 갈등유형 中 노동환경 변화에 따른 잠재갈등 요인 진단(FGI, 노사전문가 20인) / 단협 실무교섭委 노 7인 사 7인, 사내 전문가 변호사 1인 노무사 1인, 노동이사 1인, 전문기관 3인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4683913"/>
            <a:ext cx="3743478" cy="156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기반, 맞춤형 노사갈등 관리 2.0 실현: 예측되는 4개 갈등유형 선정, 법 개정 전 쟁점 해소 / 조합활동 · 경영참여 · 근로조건 · 모·자회사간 / 근로시간면제 및 필수유지업무협정서 재검토, 체결 / 단체협약 선제적 개정으로 경영참여권 확대 / 노사합의 기반 휴가·복지제도 전방위적 개선 / 모-자회사 소통 강화를 통한 갈등 해소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4716783"/>
            <a:ext cx="0" cy="149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적용사례 표면화기 갈등진단: 경영참여 사업경영상 결정 선제적 단협개정 — 新사업(초순수 등) 추진시, 근로환경 변화 * 경영상 결정에 따른 근로조건 변경으로 쟁의 가능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고조기 갈등대응: 노사간 규범갈등 ➡ 단협 교섭에 따른 대화 협의 / 단체협약 실무위원 교섭(4회) * 초순수 등 신규사업 추진 필요성 * 직원·노조 의견수렴 절차 개선 필요</a:t>
            </a:r>
          </a:p>
        </p:txBody>
      </p:sp>
      <p:cxnSp>
        <p:nvCxnSpPr>
          <p:cNvPr id="61" name="Connector 47"/>
          <p:cNvCxnSpPr/>
          <p:nvPr/>
        </p:nvCxnSpPr>
        <p:spPr>
          <a:xfrm>
            <a:off x="3044087" y="6294522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모·자회사간 소통기반 안전격차 해소: 자회사 노조 민원발생, 집회예고 / 4자간(모·자회사 노사) 깊은 소통(2회) / 완화기 갈등해소: 사업개발委 도입, 집회철회·자회사 니즈 수용</a:t>
            </a:r>
          </a:p>
        </p:txBody>
      </p:sp>
      <p:cxnSp>
        <p:nvCxnSpPr>
          <p:cNvPr id="63" name="Connector 49"/>
          <p:cNvCxnSpPr/>
          <p:nvPr/>
        </p:nvCxnSpPr>
        <p:spPr>
          <a:xfrm>
            <a:off x="4926783" y="6294522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161391" y="7729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7729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갈등진단 결과, 13개 갈등 全유형 점수 하향(3.76 → 3.49점)</a:t>
            </a:r>
          </a:p>
        </p:txBody>
      </p:sp>
      <p:sp>
        <p:nvSpPr>
          <p:cNvPr id="66" name="레일"/>
          <p:cNvSpPr/>
          <p:nvPr/>
        </p:nvSpPr>
        <p:spPr>
          <a:xfrm>
            <a:off x="547826" y="7970870"/>
            <a:ext cx="580696" cy="136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레일 태그"/>
          <p:cNvSpPr/>
          <p:nvPr/>
        </p:nvSpPr>
        <p:spPr>
          <a:xfrm>
            <a:off x="503491" y="8135217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레일 태그"/>
          <p:cNvSpPr>
            <a:spLocks noGrp="1"/>
          </p:cNvSpPr>
          <p:nvPr>
            <p:ph type="body" sz="quarter" idx="47"/>
          </p:nvPr>
        </p:nvSpPr>
        <p:spPr>
          <a:xfrm>
            <a:off x="503491" y="8135217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예측불가능</a:t>
            </a:r>
          </a:p>
        </p:txBody>
      </p:sp>
      <p:sp>
        <p:nvSpPr>
          <p:cNvPr id="69" name="레일 라벨"/>
          <p:cNvSpPr>
            <a:spLocks noGrp="1"/>
          </p:cNvSpPr>
          <p:nvPr>
            <p:ph type="body" sz="quarter" idx="48"/>
          </p:nvPr>
        </p:nvSpPr>
        <p:spPr>
          <a:xfrm>
            <a:off x="547826" y="8321478"/>
            <a:ext cx="580696" cy="997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미래갈등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사전대비</a:t>
            </a:r>
          </a:p>
        </p:txBody>
      </p:sp>
      <p:sp>
        <p:nvSpPr>
          <p:cNvPr id="70" name="레일 삼각형"/>
          <p:cNvSpPr/>
          <p:nvPr/>
        </p:nvSpPr>
        <p:spPr>
          <a:xfrm>
            <a:off x="547826" y="7970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7992783"/>
            <a:ext cx="2802130" cy="134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사용자성 판단기준 진단: 노동조합법 개정 시행에 따른 갈등 예측(FGI, 이해관계자 14인) / 노무담당 6인 · 자회사 2인 · 전산유지 1인 · 노동조합 2인 · 점검정비 2인 · 수도검침 1인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3996391" y="7992783"/>
            <a:ext cx="2802130" cy="134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갈등대응 컨틴전시 플랜 수립: 전문가 판례기반 30개 항목 진단, 실질적 갈등요인 분석 * 원청 사업수행 필수(10개), 단체교섭 필요(3개), 실질·구체적 지배(17개) / 선제적/예방 관리체계 정립 · 과업관리감독 시스템 개선 · 단체교섭 창구 일원화 · 노무관리체계 재구축</a:t>
            </a:r>
          </a:p>
        </p:txBody>
      </p:sp>
      <p:cxnSp>
        <p:nvCxnSpPr>
          <p:cNvPr id="73" name="Connector 57"/>
          <p:cNvCxnSpPr/>
          <p:nvPr/>
        </p:nvCxnSpPr>
        <p:spPr>
          <a:xfrm>
            <a:off x="3985435" y="8025652"/>
            <a:ext cx="0" cy="127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536870" y="9444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569739" y="9482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9482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9460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선제적 갈등 예방·관리로 중대갈등 Zero 달성 및 협력적 노사갈등해소 모델 제시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6 서사 · 노사리더 소통과 노동이사(노사소통 현주소 → 시사점 → 양방향 소통 → 한 단계 도약하는 핫라인 → 노사협력 가교 노동이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한층 더 다가가는 노사리더, 직원 목소리로 다듬는 노동이사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59303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59303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노사소통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現 주 소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직원의 소통 인식: 공사·노조의 상·하향식 소통체계에 대한 직원 만족도 지속 상승 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그러나, 외부 전문가(평가단)의 제언: 공사·노조 CSR 점수 하락에 대한 개선방안 마련 / 노동이사 경영활동에 대한 직원 환류체계 필요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2174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2218696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2218696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217487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①노사리더 소통 중심 사회적 책임 향상과 ②노동이사-직원 간 긴밀한 소통체계 마련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2481652"/>
            <a:ext cx="6300000" cy="5598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2498087"/>
            <a:ext cx="580696" cy="1342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98087"/>
            <a:ext cx="580696" cy="134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방 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 소 통 ’</a:t>
            </a:r>
          </a:p>
        </p:txBody>
      </p:sp>
      <p:sp>
        <p:nvSpPr>
          <p:cNvPr id="31" name="머리칸"/>
          <p:cNvSpPr/>
          <p:nvPr/>
        </p:nvSpPr>
        <p:spPr>
          <a:xfrm>
            <a:off x="1347652" y="2520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520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↔ 직원</a:t>
            </a:r>
          </a:p>
        </p:txBody>
      </p:sp>
      <p:sp>
        <p:nvSpPr>
          <p:cNvPr id="33" name="머리칸"/>
          <p:cNvSpPr/>
          <p:nvPr/>
        </p:nvSpPr>
        <p:spPr>
          <a:xfrm>
            <a:off x="4171696" y="2520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520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↔ 위원장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61043"/>
            <a:ext cx="2802130" cy="1073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채널 현장 방문(14회), 톡톡水력 활성화(붐업 이벤트 등), 청렴 프로모터(24명)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新전략·비전 공유 등 직원 의견 수렴을 위한 전사 타운홀 미팅(120명)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직원이사회 20주년 기념행사 소통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761043"/>
            <a:ext cx="2802130" cy="1073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 채널 현장 직접 방문·조합원 소통(28회), 조합원의 목소리(322건) CEO 전달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차세대 노동리더 양성, 소통체계 구축을 위한 희망노동위원회(14명)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현안대응 대의원대회 확대(1~3회)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4171696" y="2793913"/>
            <a:ext cx="0" cy="1008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734087" y="3856696"/>
            <a:ext cx="580696" cy="175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856696"/>
            <a:ext cx="580696" cy="175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단계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도약하는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‘핫라인’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85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387860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87860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 * 이슈발생시 24시간 이내 소집</a:t>
            </a:r>
          </a:p>
        </p:txBody>
      </p:sp>
      <p:sp>
        <p:nvSpPr>
          <p:cNvPr id="43" name="단계"/>
          <p:cNvSpPr/>
          <p:nvPr/>
        </p:nvSpPr>
        <p:spPr>
          <a:xfrm>
            <a:off x="2759674" y="3878609"/>
            <a:ext cx="423606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878609"/>
            <a:ext cx="42360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노사리더 ‘핫라인 발동요건’ 합의: 사회 이슈(국가재난 등) · 업무 중 직원사고 · 全직원 영향 제도·문화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759673" y="3878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4130609"/>
            <a:ext cx="1390109" cy="147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4130609"/>
            <a:ext cx="4214152" cy="147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1회(국가재난) 경북 산불대응 노사공동 논의 → 피해구호 성금 지원 대규모 병물 지원 직원 건강검진 지원 / 2회(직원사고) 업무상 사고시 직원보호체계 마련 → 직원 밀착지원 안심케어센터 신설 / 3회(제도) 정부경영평가 직원 관심도 제고 → 경영평가 포털 신설, 노사TF 추진 / 4회(문화) 전사차원의 노사 소통·문화 활동 제안 → 노사 E-Sports 대회 Celebrate 58 등 컨텐츠 진행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2759674" y="4163478"/>
            <a:ext cx="0" cy="141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5631652"/>
            <a:ext cx="580696" cy="243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5631652"/>
            <a:ext cx="580696" cy="243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‘노동이사’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5631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5653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’23.6 취임 제도정비 · 기반마련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5653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역량강화 전문역량 확보 · 대외 네트워크 강화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5653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소통 활성화 대내 직원 소통강화 · 직원 환류체계 신설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5653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5653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제도정비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전문역량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 네트워크 강화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5938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 직원 소통강화 · 직원 환류체계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회의 참석·활동 공유(8회) / 현안·부서별 소통간담회(33회) / K-Study, 직원이사회 멘토링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5938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6798522"/>
            <a:ext cx="2331457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직원의견을 수렴하는 노동이사: 비상임이사 직무평가(재경부)에 직원입장에서 노동이사 활동의견을 청취하는 설문조사 신설 / 직무수행실적보고서(외부, 재경부) + 직원 만족도 조사(내부, 全직원) / 이사회 참여도/기여도 · 인식, 소통, 제도이해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3711978" y="6798522"/>
            <a:ext cx="3272804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결과, 환류 진단기반 노동이사 소통플랜: 진단결과(2,335명) 3개 문항 평균 95.2점 도출 / 인식도(경영참여 인식도) 95.9점 · 소통(직원 의사소통) 95.5점 · 제도(노동이사제도 이해) 94.2점 · 95.2점(노사관계 만족도 평균대비 2.9점↑) / 노동이사 직원소통계획 수립(노조회의, 부서소통 등)</a:t>
            </a:r>
          </a:p>
        </p:txBody>
      </p:sp>
      <p:cxnSp>
        <p:nvCxnSpPr>
          <p:cNvPr id="67" name="Connector 47"/>
          <p:cNvCxnSpPr/>
          <p:nvPr/>
        </p:nvCxnSpPr>
        <p:spPr>
          <a:xfrm>
            <a:off x="3701022" y="6831391"/>
            <a:ext cx="0" cy="119426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723130" y="816808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756000" y="820095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82009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819000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 달성(아시아에서 가장 일하기 좋은 기업 200대 선정, GPTW)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공사·노조 CSR 점수 각 1.6, 0.7점 상승(공사 92.7점 → 94.3점, 노조 95.5점 → 96.2점)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7 서사 · 계층별 노무역량강화 모델 최적화(필요역량 → 계층별 역량모델 → 추진과제 → 4계층 교육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노사전략과 환경변화를 연결하는 계층별 노무역량강화 모델 최적화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55646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필요역량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발전전략: 노무관리를 위한 대표 직무역량 3가지(소통 · 협상력 · 전문성)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403843"/>
            <a:ext cx="580696" cy="717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384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계층별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역량모델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"/>
          <p:cNvSpPr/>
          <p:nvPr/>
        </p:nvSpPr>
        <p:spPr>
          <a:xfrm>
            <a:off x="1161391" y="14257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 기초(全직원)</a:t>
            </a:r>
          </a:p>
        </p:txBody>
      </p:sp>
      <p:sp>
        <p:nvSpPr>
          <p:cNvPr id="27" name="단계"/>
          <p:cNvSpPr/>
          <p:nvPr/>
        </p:nvSpPr>
        <p:spPr>
          <a:xfrm>
            <a:off x="2573413" y="14257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7"/>
          </p:nvPr>
        </p:nvSpPr>
        <p:spPr>
          <a:xfrm>
            <a:off x="2573413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노사주니어(일반조합원)</a:t>
            </a:r>
          </a:p>
        </p:txBody>
      </p:sp>
      <p:sp>
        <p:nvSpPr>
          <p:cNvPr id="29" name="단계"/>
          <p:cNvSpPr/>
          <p:nvPr/>
        </p:nvSpPr>
        <p:spPr>
          <a:xfrm>
            <a:off x="3985435" y="14257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협상력 노사담당자(노조간부)</a:t>
            </a:r>
          </a:p>
        </p:txBody>
      </p:sp>
      <p:sp>
        <p:nvSpPr>
          <p:cNvPr id="31" name="단계"/>
          <p:cNvSpPr/>
          <p:nvPr/>
        </p:nvSpPr>
        <p:spPr>
          <a:xfrm>
            <a:off x="5397457" y="14257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5397457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 관리자, 경영진(노조집행부)</a:t>
            </a:r>
          </a:p>
        </p:txBody>
      </p:sp>
      <p:sp>
        <p:nvSpPr>
          <p:cNvPr id="33" name="단계 삼각형"/>
          <p:cNvSpPr/>
          <p:nvPr/>
        </p:nvSpPr>
        <p:spPr>
          <a:xfrm>
            <a:off x="2573413" y="14257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 삼각형"/>
          <p:cNvSpPr/>
          <p:nvPr/>
        </p:nvSpPr>
        <p:spPr>
          <a:xfrm>
            <a:off x="3985434" y="14257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5397456" y="14257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 txBox="1"/>
          <p:nvPr/>
        </p:nvSpPr>
        <p:spPr>
          <a:xfrm>
            <a:off x="1172348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7" name="칸 본문"/>
          <p:cNvSpPr txBox="1"/>
          <p:nvPr/>
        </p:nvSpPr>
        <p:spPr>
          <a:xfrm>
            <a:off x="2584370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8" name="Connector 26"/>
          <p:cNvCxnSpPr/>
          <p:nvPr/>
        </p:nvCxnSpPr>
        <p:spPr>
          <a:xfrm>
            <a:off x="2573413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 txBox="1"/>
          <p:nvPr/>
        </p:nvSpPr>
        <p:spPr>
          <a:xfrm>
            <a:off x="3996391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0" name="Connector 28"/>
          <p:cNvCxnSpPr/>
          <p:nvPr/>
        </p:nvCxnSpPr>
        <p:spPr>
          <a:xfrm>
            <a:off x="3985435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 txBox="1"/>
          <p:nvPr/>
        </p:nvSpPr>
        <p:spPr>
          <a:xfrm>
            <a:off x="5408413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2" name="Connector 30"/>
          <p:cNvCxnSpPr/>
          <p:nvPr/>
        </p:nvCxnSpPr>
        <p:spPr>
          <a:xfrm>
            <a:off x="5397457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13793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137930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출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조직문화교육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사이버교육 실효성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노무정보 HUB 구축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맞춤형 이음교육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노사신뢰UP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 교육 다변화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044087" y="219271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K-Study(CoP)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외부기관 전문가과정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노동이사 역량강화</a:t>
            </a:r>
          </a:p>
        </p:txBody>
      </p:sp>
      <p:cxnSp>
        <p:nvCxnSpPr>
          <p:cNvPr id="49" name="Connector 36"/>
          <p:cNvCxnSpPr/>
          <p:nvPr/>
        </p:nvCxnSpPr>
        <p:spPr>
          <a:xfrm>
            <a:off x="4926783" y="219271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292680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668144" y="29706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34"/>
          </p:nvPr>
        </p:nvSpPr>
        <p:spPr>
          <a:xfrm>
            <a:off x="668144" y="29706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3156887"/>
            <a:ext cx="580696" cy="52043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다지고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48713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조직문화: 참여 부서 2배 확대, 진단·코칭 Tool 다변화 / 부서단위 + 개인단위, 대상확대(운영·실무직 등), 계층별 모듈 교육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948713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ON-OFF 교육연계: 대면교육 前 사이버교육 수강으로 교육 실효성 제고 * “온라인 교육내용이 문제로 출제되어 더 집중해서 수강했어요”(’25년 만족도조사 결과)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3985435" y="298158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715670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503491" y="3759496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38"/>
          </p:nvPr>
        </p:nvSpPr>
        <p:spPr>
          <a:xfrm>
            <a:off x="503491" y="3759496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노사주니어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945757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시작으로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7375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입문교육(이음 120명): 직원의 니즈를 수렴 — 법령 해석(설명) 중심 설명 “법령 등 이해하기 너무 어려워요”(’24년 이음교육 피드백)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맞춤형 교육 추진: 노사관계 핵심 키워드(소통, 갈등)를 주제로 설정, 사례·체험 중심 맞춤형 강의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37375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신뢰UP(80명): 현안 발생시 개별적 시스템 자문 / 노무환경 변화에 직원관심 증가 “뉴스에 자주 나오는 노란봉투법 개정에 대해 알고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 內 주요 자문 사례(64개) 공유 / 新정부정책 등 변경사항 기초교육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3985435" y="3770452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4800365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503491" y="484419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2"/>
          </p:nvPr>
        </p:nvSpPr>
        <p:spPr>
          <a:xfrm>
            <a:off x="503491" y="484419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노사담당자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3"/>
          </p:nvPr>
        </p:nvSpPr>
        <p:spPr>
          <a:xfrm>
            <a:off x="547826" y="5030452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협상력을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배양하고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48222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소통촉진자(506명): 기존 단발성 교육 — 사업장 현장방문, 갈등상황 Role-Play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‘소통·갈등’에 ‘권익보호’를 더한 다각적 교육: 소통촉진자 과정(소통·갈등 해결 교육과정 정규화·체계화) + 찾아가는 권익보호(성희롱·괴롭힘 예방·대처 교육)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48222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학습연구회 K-Study(20명): 신설 학습과 업무가 연결된 CoP ‘K-Study(노사관계)’ 도입 — 노조법 개정, 정책변화 등 전문가 기초·심화교육 / 업무와 연관된 과제(제19차 단체협약 안건) 부여, 사내전문가 멘토링 및 수행결과 단체협약 반영</a:t>
            </a:r>
          </a:p>
        </p:txBody>
      </p:sp>
      <p:cxnSp>
        <p:nvCxnSpPr>
          <p:cNvPr id="70" name="Connector 54"/>
          <p:cNvCxnSpPr/>
          <p:nvPr/>
        </p:nvCxnSpPr>
        <p:spPr>
          <a:xfrm>
            <a:off x="3985435" y="4855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5885061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30684" y="6049409"/>
            <a:ext cx="81498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46"/>
          </p:nvPr>
        </p:nvSpPr>
        <p:spPr>
          <a:xfrm>
            <a:off x="430684" y="6049409"/>
            <a:ext cx="81498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관리자·경영진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47"/>
          </p:nvPr>
        </p:nvSpPr>
        <p:spPr>
          <a:xfrm>
            <a:off x="547826" y="623567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75" name="레일 삼각형"/>
          <p:cNvSpPr/>
          <p:nvPr/>
        </p:nvSpPr>
        <p:spPr>
          <a:xfrm>
            <a:off x="547826" y="58850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5906974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노사 전문가 과정: 관리자 전문 노무역량 및 노조이해 — 전문 위탁교육(선우재, 고려대 등 7명), 1~2급 승진자 노사관계 교육(위원장)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49"/>
          </p:nvPr>
        </p:nvSpPr>
        <p:spPr>
          <a:xfrm>
            <a:off x="3996391" y="5906974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내부경영, 외부전문교육 — 사내 직무교육(경영, 청렴 등) 수강, 석사학위 취득(고려대 노동법학)</a:t>
            </a:r>
          </a:p>
        </p:txBody>
      </p:sp>
      <p:cxnSp>
        <p:nvCxnSpPr>
          <p:cNvPr id="78" name="Connector 61"/>
          <p:cNvCxnSpPr/>
          <p:nvPr/>
        </p:nvCxnSpPr>
        <p:spPr>
          <a:xfrm>
            <a:off x="3985435" y="5939843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핵심성과 박스"/>
          <p:cNvSpPr/>
          <p:nvPr/>
        </p:nvSpPr>
        <p:spPr>
          <a:xfrm>
            <a:off x="536870" y="6769878"/>
            <a:ext cx="6300000" cy="88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핵심성과 라벨"/>
          <p:cNvSpPr/>
          <p:nvPr/>
        </p:nvSpPr>
        <p:spPr>
          <a:xfrm>
            <a:off x="569739" y="6802748"/>
            <a:ext cx="657391" cy="81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569739" y="6802748"/>
            <a:ext cx="657391" cy="8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2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314783" y="6791791"/>
            <a:ext cx="5456348" cy="84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교육관련 문항 역대 최고득점으로 3년 연속 노사관계 만족도 지속 상승 견인(91.1 → 91.6 → 92.3점)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역량강화 기여도 1.0점 상승(92.0 → 93.0점), 프로그램 효과성 1.1점 상승, 피드백 수용성 1.3점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8 서사 · 직원이 바라는 일터의 조건, 노사와 직원이 함께 솔루션 도출(’24년 환류 → 맞춤형 개선 적기 추진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직원 숙원을 해소하고, 더 나은 일터를 설계하는 노사 파트너십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5031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바라는 일터의 조건, 노사와 직원이 함께 솔루션 도출</a:t>
            </a:r>
          </a:p>
        </p:txBody>
      </p:sp>
      <p:sp>
        <p:nvSpPr>
          <p:cNvPr id="18" name="태그칩"/>
          <p:cNvSpPr/>
          <p:nvPr/>
        </p:nvSpPr>
        <p:spPr>
          <a:xfrm>
            <a:off x="43249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3249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0" name="태그칩"/>
          <p:cNvSpPr/>
          <p:nvPr/>
        </p:nvSpPr>
        <p:spPr>
          <a:xfrm>
            <a:off x="4876037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876037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289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117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117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갈등진단 직원이 느끼는 개선과제 3가지 ①승진·전보 ②직군간 격차 ③근로조건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’24년 갈등진단 결과에 대한 유형별 구체적 개선방안 마련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843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배너"/>
          <p:cNvSpPr/>
          <p:nvPr/>
        </p:nvSpPr>
        <p:spPr>
          <a:xfrm>
            <a:off x="1347652" y="245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5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등 운영 및 직원 참여 기반 맞춤형 개선 적기 추진</a:t>
            </a:r>
          </a:p>
        </p:txBody>
      </p:sp>
      <p:sp>
        <p:nvSpPr>
          <p:cNvPr id="30" name="레일"/>
          <p:cNvSpPr/>
          <p:nvPr/>
        </p:nvSpPr>
        <p:spPr>
          <a:xfrm>
            <a:off x="734087" y="2695304"/>
            <a:ext cx="580696" cy="167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695304"/>
            <a:ext cx="580696" cy="167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269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승진시험 최초시행, 육아휴직 승진차별 폐지: 승진시험 제도 최적화(노사공동 가족친화경영 TF 등) — 평가배점 상향 50점 → 55점, 승진비율 설정 심사 7 : 시험 3, 시험시간 확대 80분 → 90분, 육아휴직 응시 허용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시험승진 35명(25.7%) 배출(육아휴직 중 1명 포함)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친분과 인맥 등이 아닌 객관적 전보 기준 수립: 노사공동 본사-본부 TF 및 全직원 설문을 통한 전보 기준 수립 — 근무부서 여건(오지 등)을 고려한 마일리지 산정, 부서별 마일리지 비율 설정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전보마일리지 도입(’26년 시행)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230348" y="2750087"/>
            <a:ext cx="0" cy="157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직군격차 근무유형(교대-통상)에 따른 휴식권 제한 등 해소: 노사공동 교대근무 TF 및 설문, 전사 설명회 등을 통한 제도개선 — 교대근무자 중간휴가 신설, 공백 해소(운영지원반 운영)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교대근무자 휴식권 강화 및 초과근무 최소화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5113043" y="2750087"/>
            <a:ext cx="0" cy="157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723130" y="447026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756000" y="450860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450860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448669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갈등진단 결과 全유형 갈등점수 하향, 종합청렴도 內 청렴체감도 공기업 유일 1등급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9 서사 · 모두의 약속 ‘제19차 단체협약’ 체결(추진배경 → 교섭과정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67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노동존중 실현, 일-생활 균형을 위한 모두의 약속 ‘제19차 단체협약’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509218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218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17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51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5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624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국정94 노동존중 실현, 노동기본권 보장 / 국정95 일·쉼 공존하는 행복한 일터 조성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624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대내환경 안전우선, 신규사업(초순수) 등 경영환경변화 / 단체협약 직원 관심 증가, 근로조건 개선요구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558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736609"/>
            <a:ext cx="580696" cy="1265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736609"/>
            <a:ext cx="580696" cy="126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교섭과정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736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758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참여로 안건 도출</a:t>
            </a:r>
          </a:p>
        </p:txBody>
      </p:sp>
      <p:sp>
        <p:nvSpPr>
          <p:cNvPr id="25" name="단계"/>
          <p:cNvSpPr/>
          <p:nvPr/>
        </p:nvSpPr>
        <p:spPr>
          <a:xfrm>
            <a:off x="3044087" y="1758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교섭과 공감 형성</a:t>
            </a:r>
          </a:p>
        </p:txBody>
      </p:sp>
      <p:sp>
        <p:nvSpPr>
          <p:cNvPr id="27" name="단계"/>
          <p:cNvSpPr/>
          <p:nvPr/>
        </p:nvSpPr>
        <p:spPr>
          <a:xfrm>
            <a:off x="4926783" y="1758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다각적 검증으로 이행력 확보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044086" y="1758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4926782" y="1758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현장, 교육 등 의견 수렴(40건): K-water(16건) 찾아가는 유역간담회(8회), 톡톡수렴, K-Study(CoP) 과제 / 노동조합(24건) 현장지부 방문(70회), 조합원의 목소리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정례화 및 확대운영 * ’23년 2회 → ’25년 4회(월 1회)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실적, 사례 등 투명한 정보공유 * (使) 경영현황 등, (勞) 실제 현장사례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044087" y="2043391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실효성(내부), 적법성(외부) 차원의 교차검증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(실효성) 노동이사, 직원이사회 / (적법성) 대외 전문기관 활용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4926783" y="2043391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018522"/>
            <a:ext cx="580696" cy="1194261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3018522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8" name="배너"/>
          <p:cNvSpPr/>
          <p:nvPr/>
        </p:nvSpPr>
        <p:spPr>
          <a:xfrm>
            <a:off x="1161391" y="304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304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38년 연속 無분규, 정책이행과 조합원 복지증진이 조화로운 ‘제19차 단체협약’ 개정!</a:t>
            </a:r>
          </a:p>
        </p:txBody>
      </p:sp>
      <p:sp>
        <p:nvSpPr>
          <p:cNvPr id="40" name="머리칸"/>
          <p:cNvSpPr/>
          <p:nvPr/>
        </p:nvSpPr>
        <p:spPr>
          <a:xfrm>
            <a:off x="1161391" y="3276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276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42" name="머리칸"/>
          <p:cNvSpPr/>
          <p:nvPr/>
        </p:nvSpPr>
        <p:spPr>
          <a:xfrm>
            <a:off x="3985435" y="3276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276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51704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노동존중: 노조 전임직원 활동보장, 경영참여 인사위원회 등 조합참석 확대 / 국정94 노동존중 실현 및 경영참여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51704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일-생활 자유로운 휴가사용, 가족친화문화 조성, 권리보호 권익·개인정보 보호, 연결되지 않을 권리 / 국정95 일·생활 균형 및 갑질 없는 일터 실현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985435" y="3549913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0 서사 · 가족친화경영 혁신 후 ‘직원의 목소리’ 청취(변화·성과 → 중간점검 → 한 번 더 혁신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가족과 안전은 지속가능한 근로조건의 근간, 노사가 함께 지속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307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가족친화경영 혁신 후, ‘직원의 목소리’를 청취하여 ‘한 번 더 혁신’</a:t>
            </a:r>
          </a:p>
        </p:txBody>
      </p:sp>
      <p:sp>
        <p:nvSpPr>
          <p:cNvPr id="16" name="태그칩"/>
          <p:cNvSpPr/>
          <p:nvPr/>
        </p:nvSpPr>
        <p:spPr>
          <a:xfrm>
            <a:off x="4652509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52509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2272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519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변화 가족친화경영 TF를 통해 근로조건(14개) 개선(’24년)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주 4.5일제 이용자 284명 사용, 육아휴직자 13% 증가(243 → 275명), 출산장려금 수령 38% 확대(194 → 268명)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2042139"/>
            <a:ext cx="580696" cy="542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42139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중간점검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0421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2064052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경험자 “새로운 승진제도에 육아휴직자도 참여 가능하도록” “아이돌봄 3·3·6제도 사용을 더 활성화 하도록”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2064052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사각지대 “미혼자, 아이가 없는 직원들도 소외받지 않고 사용할 수 있는 제도를 만들어 주세요”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96922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600922"/>
            <a:ext cx="580696" cy="114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600922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번 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26009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승진제도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아이돌봄 3·3·6 활성화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보편적 복지제도 확대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승진시험제(’25년) 시행시, 육아휴직자 대상 포함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차별없는 승진시험제도 육아휴직자 승진자 배출(1명)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지표 신설(가점) / 캠페인(월 1회 관리자 독려메일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육아시간 사무외출 사용률 12.1%p 증가(54.0 → 66.1%)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0348" y="28967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문화예술행사 지원 / 가족愛 행복캠프(가족·직원간)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본부 문화행사 770명 이용, 직원간 행복캠프 194명 참여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8967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849965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88831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88831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86640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대한민국 일하기 좋은 기업 Top3 및 아시아에서 가장 일하기 좋은 기업 200대 선정(GPTW 주관)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1 서사 · 안전에 타협 없는 노사, 안전 First(추진배경 → 예방강화 → 사후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007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안전에 타협 없는 노사, 예방부터 사후관리까지 안전 First</a:t>
            </a:r>
          </a:p>
        </p:txBody>
      </p:sp>
      <p:sp>
        <p:nvSpPr>
          <p:cNvPr id="12" name="태그칩"/>
          <p:cNvSpPr/>
          <p:nvPr/>
        </p:nvSpPr>
        <p:spPr>
          <a:xfrm>
            <a:off x="423622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3622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4787342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787342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55800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55800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536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1227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근로자 안전사고 상존, 안전관리체계 전반에 대한 보완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1227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“더 이상의 안전사고는 없도록.. 제도정비” / 위원장 “안전문화확산, 세심한 피해직원 케어까지..”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123043"/>
            <a:ext cx="0" cy="1161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339217"/>
            <a:ext cx="580696" cy="1725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503565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503565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예방강화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89826"/>
            <a:ext cx="580696" cy="135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안전일터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339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61130"/>
            <a:ext cx="2802130" cy="169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使 정교한 제도, 시스템 개발: 안전경영委, 안전경영책임계획 / 안전 컨설팅, 스마트 안전관리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예방적 안전관리 ‘안전기동반’(전담 16인)을 통한 상시 점검 및 현장 안전관리 컨설팅, 현장 유해 요소 120건(안전통로 확보 등) 개선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안전관리 시스템 구축 및 스마트 장비 확대(스마트 안전모 등), 이동형 AI CCTV · 스마트 안전모 · 유해가스 측정기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361130"/>
            <a:ext cx="2802130" cy="169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勞 현장의 공감, 수용성을 결합: 상시 소통채널 등 현장 니즈 / 작업중지권, 안전보호구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활성화 ‘찾아가는 안전교육’, 안전모 QR 부착 등 제도 활용 증가(’24년 92건 → ’25년 132건, 43.5% 증가)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안전보호구 지급 ‘심쿵(CPR) 챌린지’ 노후 보호구 교체 간소, 적기지급 / 심쿵챌린지 420명, 全직원 안전보호구 개선 5.1억원 집행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2394000"/>
            <a:ext cx="0" cy="163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4081304"/>
            <a:ext cx="580696" cy="232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558376" y="4245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1"/>
          </p:nvPr>
        </p:nvSpPr>
        <p:spPr>
          <a:xfrm>
            <a:off x="558376" y="4245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사후대응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4431913"/>
            <a:ext cx="580696" cy="1950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더나아가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안전사고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직원케어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408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410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410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업무 중 사고에 든든한 비바람막이 ‘안심케어센터’ + ‘상호부조 모금제’ 신설</a:t>
            </a:r>
          </a:p>
        </p:txBody>
      </p:sp>
      <p:sp>
        <p:nvSpPr>
          <p:cNvPr id="39" name="단계"/>
          <p:cNvSpPr/>
          <p:nvPr/>
        </p:nvSpPr>
        <p:spPr>
          <a:xfrm>
            <a:off x="1161391" y="433878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담당부서를 찾기쉽고</a:t>
            </a:r>
          </a:p>
        </p:txBody>
      </p:sp>
      <p:sp>
        <p:nvSpPr>
          <p:cNvPr id="41" name="단계"/>
          <p:cNvSpPr/>
          <p:nvPr/>
        </p:nvSpPr>
        <p:spPr>
          <a:xfrm>
            <a:off x="2573413" y="433878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2573413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대응은 신속하게</a:t>
            </a:r>
          </a:p>
        </p:txBody>
      </p:sp>
      <p:sp>
        <p:nvSpPr>
          <p:cNvPr id="43" name="단계"/>
          <p:cNvSpPr/>
          <p:nvPr/>
        </p:nvSpPr>
        <p:spPr>
          <a:xfrm>
            <a:off x="3985435" y="433878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985435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감성 케어까지</a:t>
            </a:r>
          </a:p>
        </p:txBody>
      </p:sp>
      <p:sp>
        <p:nvSpPr>
          <p:cNvPr id="45" name="단계"/>
          <p:cNvSpPr/>
          <p:nvPr/>
        </p:nvSpPr>
        <p:spPr>
          <a:xfrm>
            <a:off x="5397457" y="433878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397457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슬픔은 함께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2573413" y="4338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3985434" y="4338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5397456" y="4338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분산된 기능 일원화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안전사고 연관 직원/부서 → (총괄) 안심케어센터 → 법무실 · 안전본부 · 인재경영실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2584370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신속·밀착지원 *안심케어 담당 사내변호사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재해발생 노동청, 경찰조사 초동대응(변호사) / 재해자(사망) 산재 행정지원 노사공동 유족케어 / 법적분쟁 수사·피의·피고시 법률 조력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2573413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감성적 직원 맞춤케어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부서상담 사고발생 부서 단위 집단상담 / 맞춤상담 ‘집중케어 대상’ PTSD 상담 안내 / 사후관리 호전여부 모니터링 고충상담 지원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985435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5408413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노사·全직원 합심, 상호부조 개인급여 모금제 * 직원 찬성률: 63%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중 사망(안전사고) → 全직원 모금(개인월봉의 0.6%) → 노사공동 모금액 유가족 지급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5397457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9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0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선정·국무총리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2 서사 · 노사협력·자율점검 기반 정부지침 체계 개선(목표 · 이행계획 → 혁신지침 관리비 100% 직원 부담 숙소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노사협력과 자율점검을 기반으로 정부지침에 발맞춘 체계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76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72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72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19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07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혁신지침 잔여과제(4건) 조속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합의(’24.12) 선결 개선과제 적기 달성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07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 준수 지속 유지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모니터링 통한 추가 개선사항 발굴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440783"/>
            <a:ext cx="0" cy="394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번호"/>
          <p:cNvSpPr>
            <a:spLocks noGrp="1"/>
          </p:cNvSpPr>
          <p:nvPr>
            <p:ph type="body" sz="quarter" idx="27"/>
          </p:nvPr>
        </p:nvSpPr>
        <p:spPr>
          <a:xfrm>
            <a:off x="723130" y="2010522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25" name="분야 박스"/>
          <p:cNvSpPr/>
          <p:nvPr/>
        </p:nvSpPr>
        <p:spPr>
          <a:xfrm>
            <a:off x="952651" y="2043391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분야 박스"/>
          <p:cNvSpPr>
            <a:spLocks noGrp="1"/>
          </p:cNvSpPr>
          <p:nvPr>
            <p:ph type="body" sz="quarter" idx="28"/>
          </p:nvPr>
        </p:nvSpPr>
        <p:spPr>
          <a:xfrm>
            <a:off x="952651" y="2043391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27" name="형광 밑줄"/>
          <p:cNvSpPr/>
          <p:nvPr/>
        </p:nvSpPr>
        <p:spPr>
          <a:xfrm>
            <a:off x="1610856" y="2163913"/>
            <a:ext cx="29260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소제목"/>
          <p:cNvSpPr>
            <a:spLocks noGrp="1"/>
          </p:cNvSpPr>
          <p:nvPr>
            <p:ph type="body" sz="quarter" idx="29"/>
          </p:nvPr>
        </p:nvSpPr>
        <p:spPr>
          <a:xfrm>
            <a:off x="1610856" y="2010522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관리비 100% 직원 부담 숙소 확대목표 초과 달성</a:t>
            </a:r>
          </a:p>
        </p:txBody>
      </p:sp>
      <p:sp>
        <p:nvSpPr>
          <p:cNvPr id="29" name="태그칩"/>
          <p:cNvSpPr/>
          <p:nvPr/>
        </p:nvSpPr>
        <p:spPr>
          <a:xfrm>
            <a:off x="4635516" y="2043391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칩"/>
          <p:cNvSpPr>
            <a:spLocks noGrp="1"/>
          </p:cNvSpPr>
          <p:nvPr>
            <p:ph type="body" sz="quarter" idx="30"/>
          </p:nvPr>
        </p:nvSpPr>
        <p:spPr>
          <a:xfrm>
            <a:off x="4635516" y="2043391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31" name="태그칩"/>
          <p:cNvSpPr/>
          <p:nvPr/>
        </p:nvSpPr>
        <p:spPr>
          <a:xfrm>
            <a:off x="5186637" y="2043391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칩"/>
          <p:cNvSpPr>
            <a:spLocks noGrp="1"/>
          </p:cNvSpPr>
          <p:nvPr>
            <p:ph type="body" sz="quarter" idx="31"/>
          </p:nvPr>
        </p:nvSpPr>
        <p:spPr>
          <a:xfrm>
            <a:off x="5186637" y="2043391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295391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311826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11826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노사합의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(’24.12)</a:t>
            </a:r>
          </a:p>
        </p:txBody>
      </p:sp>
      <p:sp>
        <p:nvSpPr>
          <p:cNvPr id="36" name="단계"/>
          <p:cNvSpPr/>
          <p:nvPr/>
        </p:nvSpPr>
        <p:spPr>
          <a:xfrm>
            <a:off x="1347652" y="2333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합숙소를 원룸형 개인숙소로 전환 * 니즈 일치 관리비 100% 직원 부담에도 휴식권 보장 위한 원룸형 숙소 확대 요구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333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770채(거주직원 25%) → ’25년 890채(29%)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333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 1,165채(38%) → ’30년 1,510채(50%)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33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33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 txBox="1"/>
          <p:nvPr/>
        </p:nvSpPr>
        <p:spPr>
          <a:xfrm>
            <a:off x="1358609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5" name="칸 본문"/>
          <p:cNvSpPr txBox="1"/>
          <p:nvPr/>
        </p:nvSpPr>
        <p:spPr>
          <a:xfrm>
            <a:off x="3241304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6" name="Connector 30"/>
          <p:cNvCxnSpPr/>
          <p:nvPr/>
        </p:nvCxnSpPr>
        <p:spPr>
          <a:xfrm>
            <a:off x="3230348" y="261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 txBox="1"/>
          <p:nvPr/>
        </p:nvSpPr>
        <p:spPr>
          <a:xfrm>
            <a:off x="5124000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8" name="Connector 32"/>
          <p:cNvCxnSpPr/>
          <p:nvPr/>
        </p:nvCxnSpPr>
        <p:spPr>
          <a:xfrm>
            <a:off x="5113043" y="261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045913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045913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045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067826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원룸형 숙소 확보 용이성 등 지역별 여건을 고려, 2-Track 방식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대도시 신속 전환: 現 아파트형 숙소(3인 거주) 임차계약 종료 즉시 대체(98채)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067826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 시·군 거점별 대안: 거점도시 다가구주택 활용, 인근 지사 공동 사용(2채, 35세대)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’25년 원룸형 숙소 전환 목표 101.5% 달성(목표 890채(전년比 120채 증) → 실적 903채)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4171696" y="3100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핵심성과 박스"/>
          <p:cNvSpPr/>
          <p:nvPr/>
        </p:nvSpPr>
        <p:spPr>
          <a:xfrm>
            <a:off x="723130" y="3889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핵심성과 라벨"/>
          <p:cNvSpPr/>
          <p:nvPr/>
        </p:nvSpPr>
        <p:spPr>
          <a:xfrm>
            <a:off x="756000" y="3922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3922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3911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합숙소 관리비 100% 부담 직원 증가(770 → 903명)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연간 관리비 98백만원 감축(개인부담금 ’24년 1,116백만원 → ’25년 1,214백만원)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3 서사 · 대내외 자율통제체제 강화(통제체제 · 자율점검 제도개선 → 추진성과 → 예산운용지침 5개 항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9060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대내외 자율통제체제 강화로 정부기준에 부합하는 제도개선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501380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01380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56492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56492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95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합동 교차점검: ’25년 참여기관 확대(5 → 7개)로 기능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내부통제(자체 감사): 국가공무원 기준 개정 등 선제적 발굴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627043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2704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자율점검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제도개선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62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4895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징계자 성과급 제한기준 정비: 음주측정 불응 관련 징계처분시 성과급 제한 / 他기관 벤치마킹으로 개선사항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‘미지급’ 규정화(’25.12) ➡ 경영평가성과급, 내부평가급 일체 지급 제외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64895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국외근무수당 산정기준 개선: 국외근무수당 산정 부양가족 범위 조정 / 국가공무원과 수당 지급기준 일치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부양가족에서 ‘직계존속’ 제외 규정화(’25.12) ➡ 배우자 및 19세 미만 자녀로 범위 한정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3985435" y="1681826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536870" y="2635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2673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673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651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체계적인 보수·복지 제도 모니터링 및 노사협력을 통해 정부지침 이행 동력 확보</a:t>
            </a:r>
          </a:p>
        </p:txBody>
      </p:sp>
      <p:sp>
        <p:nvSpPr>
          <p:cNvPr id="35" name="틀"/>
          <p:cNvSpPr/>
          <p:nvPr/>
        </p:nvSpPr>
        <p:spPr>
          <a:xfrm>
            <a:off x="536870" y="301226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성과 라벨"/>
          <p:cNvSpPr/>
          <p:nvPr/>
        </p:nvSpPr>
        <p:spPr>
          <a:xfrm>
            <a:off x="547826" y="302321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7" name="성과 라벨"/>
          <p:cNvSpPr>
            <a:spLocks noGrp="1"/>
          </p:cNvSpPr>
          <p:nvPr>
            <p:ph type="body" sz="quarter" idx="33"/>
          </p:nvPr>
        </p:nvSpPr>
        <p:spPr>
          <a:xfrm>
            <a:off x="547826" y="302321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지침</a:t>
            </a:r>
          </a:p>
        </p:txBody>
      </p:sp>
      <p:sp>
        <p:nvSpPr>
          <p:cNvPr id="38" name="성과 띠"/>
          <p:cNvSpPr/>
          <p:nvPr/>
        </p:nvSpPr>
        <p:spPr>
          <a:xfrm>
            <a:off x="1172348" y="304513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9" name="성과 띠"/>
          <p:cNvSpPr>
            <a:spLocks noGrp="1"/>
          </p:cNvSpPr>
          <p:nvPr>
            <p:ph type="body" sz="quarter" idx="34"/>
          </p:nvPr>
        </p:nvSpPr>
        <p:spPr>
          <a:xfrm>
            <a:off x="1172348" y="304513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 준수: 총인건비 · 복리비 · 복지 · 성과급 · 퇴직금</a:t>
            </a:r>
          </a:p>
        </p:txBody>
      </p:sp>
      <p:sp>
        <p:nvSpPr>
          <p:cNvPr id="40" name="카드"/>
          <p:cNvSpPr/>
          <p:nvPr/>
        </p:nvSpPr>
        <p:spPr>
          <a:xfrm>
            <a:off x="1172348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카드 문구"/>
          <p:cNvSpPr>
            <a:spLocks noGrp="1"/>
          </p:cNvSpPr>
          <p:nvPr>
            <p:ph type="body" sz="quarter" idx="35"/>
          </p:nvPr>
        </p:nvSpPr>
        <p:spPr>
          <a:xfrm>
            <a:off x="1194261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인상률(3%) 한도 준수</a:t>
            </a:r>
          </a:p>
        </p:txBody>
      </p:sp>
      <p:sp>
        <p:nvSpPr>
          <p:cNvPr id="42" name="카드"/>
          <p:cNvSpPr/>
          <p:nvPr/>
        </p:nvSpPr>
        <p:spPr>
          <a:xfrm>
            <a:off x="2307443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카드 문구"/>
          <p:cNvSpPr>
            <a:spLocks noGrp="1"/>
          </p:cNvSpPr>
          <p:nvPr>
            <p:ph type="body" sz="quarter" idx="36"/>
          </p:nvPr>
        </p:nvSpPr>
        <p:spPr>
          <a:xfrm>
            <a:off x="2329357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2,850천원/인(전년比 12천원↓)</a:t>
            </a:r>
          </a:p>
        </p:txBody>
      </p:sp>
      <p:sp>
        <p:nvSpPr>
          <p:cNvPr id="44" name="카드"/>
          <p:cNvSpPr/>
          <p:nvPr/>
        </p:nvSpPr>
        <p:spPr>
          <a:xfrm>
            <a:off x="3442539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카드 문구"/>
          <p:cNvSpPr>
            <a:spLocks noGrp="1"/>
          </p:cNvSpPr>
          <p:nvPr>
            <p:ph type="body" sz="quarter" idx="37"/>
          </p:nvPr>
        </p:nvSpPr>
        <p:spPr>
          <a:xfrm>
            <a:off x="3464452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신설항목 Zero</a:t>
            </a:r>
          </a:p>
        </p:txBody>
      </p:sp>
      <p:sp>
        <p:nvSpPr>
          <p:cNvPr id="46" name="카드"/>
          <p:cNvSpPr/>
          <p:nvPr/>
        </p:nvSpPr>
        <p:spPr>
          <a:xfrm>
            <a:off x="4577635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카드 문구"/>
          <p:cNvSpPr>
            <a:spLocks noGrp="1"/>
          </p:cNvSpPr>
          <p:nvPr>
            <p:ph type="body" sz="quarter" idx="38"/>
          </p:nvPr>
        </p:nvSpPr>
        <p:spPr>
          <a:xfrm>
            <a:off x="4599548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중징계, 음주불응자 미지급</a:t>
            </a:r>
          </a:p>
        </p:txBody>
      </p:sp>
      <p:sp>
        <p:nvSpPr>
          <p:cNvPr id="48" name="카드"/>
          <p:cNvSpPr/>
          <p:nvPr/>
        </p:nvSpPr>
        <p:spPr>
          <a:xfrm>
            <a:off x="5712730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카드 문구"/>
          <p:cNvSpPr>
            <a:spLocks noGrp="1"/>
          </p:cNvSpPr>
          <p:nvPr>
            <p:ph type="body" sz="quarter" idx="39"/>
          </p:nvPr>
        </p:nvSpPr>
        <p:spPr>
          <a:xfrm>
            <a:off x="5734643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퇴직금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누진제 및 산재 가산 미운영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0.xml"/><Relationship Id="rId49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2.xml"/><Relationship Id="rId51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4.xml"/><Relationship Id="rId53" Type="http://schemas.openxmlformats.org/officeDocument/2006/relationships/slideLayout" Target="../slideLayouts/slideLayout55.xml"/><Relationship Id="rId54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57.xml"/><Relationship Id="rId56" Type="http://schemas.openxmlformats.org/officeDocument/2006/relationships/slideLayout" Target="../slideLayouts/slideLayout58.xml"/><Relationship Id="rId57" Type="http://schemas.openxmlformats.org/officeDocument/2006/relationships/slideLayout" Target="../slideLayouts/slideLayout59.xml"/><Relationship Id="rId58" Type="http://schemas.openxmlformats.org/officeDocument/2006/relationships/slideLayout" Target="../slideLayouts/slideLayout60.xml"/><Relationship Id="rId59" Type="http://schemas.openxmlformats.org/officeDocument/2006/relationships/slideLayout" Target="../slideLayouts/slideLayout61.xml"/><Relationship Id="rId60" Type="http://schemas.openxmlformats.org/officeDocument/2006/relationships/slideLayout" Target="../slideLayouts/slideLayout62.xml"/><Relationship Id="rId61" Type="http://schemas.openxmlformats.org/officeDocument/2006/relationships/slideLayout" Target="../slideLayouts/slideLayout63.xml"/><Relationship Id="rId62" Type="http://schemas.openxmlformats.org/officeDocument/2006/relationships/slideLayout" Target="../slideLayouts/slideLayout64.xml"/><Relationship Id="rId63" Type="http://schemas.openxmlformats.org/officeDocument/2006/relationships/slideLayout" Target="../slideLayouts/slideLayout65.xml"/><Relationship Id="rId64" Type="http://schemas.openxmlformats.org/officeDocument/2006/relationships/slideLayout" Target="../slideLayouts/slideLayout66.xml"/><Relationship Id="rId65" Type="http://schemas.openxmlformats.org/officeDocument/2006/relationships/slideLayout" Target="../slideLayouts/slideLayout67.xml"/><Relationship Id="rId66" Type="http://schemas.openxmlformats.org/officeDocument/2006/relationships/slideLayout" Target="../slideLayouts/slideLayout68.xml"/><Relationship Id="rId67" Type="http://schemas.openxmlformats.org/officeDocument/2006/relationships/slideLayout" Target="../slideLayouts/slideLayout69.xml"/><Relationship Id="rId68" Type="http://schemas.openxmlformats.org/officeDocument/2006/relationships/slideLayout" Target="../slideLayouts/slideLayout70.xml"/><Relationship Id="rId69" Type="http://schemas.openxmlformats.org/officeDocument/2006/relationships/slideLayout" Target="../slideLayouts/slideLayout71.xml"/><Relationship Id="rId70" Type="http://schemas.openxmlformats.org/officeDocument/2006/relationships/slideLayout" Target="../slideLayouts/slideLayout72.xml"/><Relationship Id="rId71" Type="http://schemas.openxmlformats.org/officeDocument/2006/relationships/slideLayout" Target="../slideLayouts/slideLayout73.xml"/><Relationship Id="rId72" Type="http://schemas.openxmlformats.org/officeDocument/2006/relationships/slideLayout" Target="../slideLayouts/slideLayout74.xml"/><Relationship Id="rId73" Type="http://schemas.openxmlformats.org/officeDocument/2006/relationships/slideLayout" Target="../slideLayouts/slideLayout75.xml"/><Relationship Id="rId74" Type="http://schemas.openxmlformats.org/officeDocument/2006/relationships/slideLayout" Target="../slideLayouts/slideLayout76.xml"/><Relationship Id="rId75" Type="http://schemas.openxmlformats.org/officeDocument/2006/relationships/slideLayout" Target="../slideLayouts/slideLayout77.xml"/><Relationship Id="rId76" Type="http://schemas.openxmlformats.org/officeDocument/2006/relationships/slideLayout" Target="../slideLayouts/slideLayout78.xml"/><Relationship Id="rId77" Type="http://schemas.openxmlformats.org/officeDocument/2006/relationships/slideLayout" Target="../slideLayouts/slideLayout79.xml"/><Relationship Id="rId78" Type="http://schemas.openxmlformats.org/officeDocument/2006/relationships/slideLayout" Target="../slideLayouts/slideLayout80.xml"/><Relationship Id="rId79" Type="http://schemas.openxmlformats.org/officeDocument/2006/relationships/slideLayout" Target="../slideLayouts/slideLayout81.xml"/><Relationship Id="rId80" Type="http://schemas.openxmlformats.org/officeDocument/2006/relationships/slideLayout" Target="../slideLayouts/slideLayout82.xml"/><Relationship Id="rId81" Type="http://schemas.openxmlformats.org/officeDocument/2006/relationships/slideLayout" Target="../slideLayouts/slideLayout83.xml"/><Relationship Id="rId82" Type="http://schemas.openxmlformats.org/officeDocument/2006/relationships/slideLayout" Target="../slideLayouts/slideLayout84.xml"/><Relationship Id="rId83" Type="http://schemas.openxmlformats.org/officeDocument/2006/relationships/slideLayout" Target="../slideLayouts/slideLayout85.xml"/><Relationship Id="rId84" Type="http://schemas.openxmlformats.org/officeDocument/2006/relationships/slideLayout" Target="../slideLayouts/slideLayout86.xml"/><Relationship Id="rId85" Type="http://schemas.openxmlformats.org/officeDocument/2006/relationships/slideLayout" Target="../slideLayouts/slideLayout87.xml"/><Relationship Id="rId86" Type="http://schemas.openxmlformats.org/officeDocument/2006/relationships/slideLayout" Target="../slideLayouts/slideLayout88.xml"/><Relationship Id="rId87" Type="http://schemas.openxmlformats.org/officeDocument/2006/relationships/slideLayout" Target="../slideLayouts/slideLayout89.xml"/><Relationship Id="rId88" Type="http://schemas.openxmlformats.org/officeDocument/2006/relationships/slideLayout" Target="../slideLayouts/slideLayout90.xml"/><Relationship Id="rId89" Type="http://schemas.openxmlformats.org/officeDocument/2006/relationships/slideLayout" Target="../slideLayouts/slideLayout91.xml"/><Relationship Id="rId90" Type="http://schemas.openxmlformats.org/officeDocument/2006/relationships/slideLayout" Target="../slideLayouts/slideLayout92.xml"/><Relationship Id="rId91" Type="http://schemas.openxmlformats.org/officeDocument/2006/relationships/slideLayout" Target="../slideLayouts/slideLayout93.xml"/><Relationship Id="rId92" Type="http://schemas.openxmlformats.org/officeDocument/2006/relationships/slideLayout" Target="../slideLayouts/slideLayout94.xml"/><Relationship Id="rId93" Type="http://schemas.openxmlformats.org/officeDocument/2006/relationships/slideLayout" Target="../slideLayouts/slideLayout95.xml"/><Relationship Id="rId94" Type="http://schemas.openxmlformats.org/officeDocument/2006/relationships/slideLayout" Target="../slideLayouts/slideLayout96.xml"/><Relationship Id="rId95" Type="http://schemas.openxmlformats.org/officeDocument/2006/relationships/slideLayout" Target="../slideLayouts/slideLayout97.xml"/><Relationship Id="rId96" Type="http://schemas.openxmlformats.org/officeDocument/2006/relationships/slideLayout" Target="../slideLayouts/slideLayout98.xml"/><Relationship Id="rId97" Type="http://schemas.openxmlformats.org/officeDocument/2006/relationships/slideLayout" Target="../slideLayouts/slideLayout99.xml"/><Relationship Id="rId98" Type="http://schemas.openxmlformats.org/officeDocument/2006/relationships/slideLayout" Target="../slideLayouts/slideLayout100.xml"/><Relationship Id="rId99" Type="http://schemas.openxmlformats.org/officeDocument/2006/relationships/slideLayout" Target="../slideLayouts/slideLayout101.xml"/><Relationship Id="rId100" Type="http://schemas.openxmlformats.org/officeDocument/2006/relationships/slideLayout" Target="../slideLayouts/slideLayout102.xml"/><Relationship Id="rId101" Type="http://schemas.openxmlformats.org/officeDocument/2006/relationships/slideLayout" Target="../slideLayouts/slideLayout103.xml"/><Relationship Id="rId102" Type="http://schemas.openxmlformats.org/officeDocument/2006/relationships/slideLayout" Target="../slideLayouts/slideLayout104.xml"/><Relationship Id="rId103" Type="http://schemas.openxmlformats.org/officeDocument/2006/relationships/slideLayout" Target="../slideLayouts/slideLayout105.xml"/><Relationship Id="rId104" Type="http://schemas.openxmlformats.org/officeDocument/2006/relationships/slideLayout" Target="../slideLayouts/slideLayout106.xml"/><Relationship Id="rId105" Type="http://schemas.openxmlformats.org/officeDocument/2006/relationships/slideLayout" Target="../slideLayouts/slideLayout107.xml"/><Relationship Id="rId106" Type="http://schemas.openxmlformats.org/officeDocument/2006/relationships/slideLayout" Target="../slideLayouts/slideLayout108.xml"/><Relationship Id="rId107" Type="http://schemas.openxmlformats.org/officeDocument/2006/relationships/slideLayout" Target="../slideLayouts/slideLayout109.xml"/><Relationship Id="rId108" Type="http://schemas.openxmlformats.org/officeDocument/2006/relationships/slideLayout" Target="../slideLayouts/slideLayout110.xml"/><Relationship Id="rId109" Type="http://schemas.openxmlformats.org/officeDocument/2006/relationships/slideLayout" Target="../slideLayouts/slideLayout111.xml"/><Relationship Id="rId110" Type="http://schemas.openxmlformats.org/officeDocument/2006/relationships/slideLayout" Target="../slideLayouts/slideLayout112.xml"/><Relationship Id="rId111" Type="http://schemas.openxmlformats.org/officeDocument/2006/relationships/slideLayout" Target="../slideLayouts/slideLayout113.xml"/><Relationship Id="rId112" Type="http://schemas.openxmlformats.org/officeDocument/2006/relationships/slideLayout" Target="../slideLayouts/slideLayout114.xml"/><Relationship Id="rId113" Type="http://schemas.openxmlformats.org/officeDocument/2006/relationships/slideLayout" Target="../slideLayouts/slideLayout115.xml"/><Relationship Id="rId114" Type="http://schemas.openxmlformats.org/officeDocument/2006/relationships/slideLayout" Target="../slideLayouts/slideLayout116.xml"/><Relationship Id="rId115" Type="http://schemas.openxmlformats.org/officeDocument/2006/relationships/slideLayout" Target="../slideLayouts/slideLayout117.xml"/><Relationship Id="rId116" Type="http://schemas.openxmlformats.org/officeDocument/2006/relationships/slideLayout" Target="../slideLayouts/slideLayout118.xml"/><Relationship Id="rId117" Type="http://schemas.openxmlformats.org/officeDocument/2006/relationships/slideLayout" Target="../slideLayouts/slideLayout119.xml"/><Relationship Id="rId118" Type="http://schemas.openxmlformats.org/officeDocument/2006/relationships/slideLayout" Target="../slideLayouts/slideLayout120.xml"/><Relationship Id="rId119" Type="http://schemas.openxmlformats.org/officeDocument/2006/relationships/slideLayout" Target="../slideLayouts/slideLayout121.xml"/><Relationship Id="rId120" Type="http://schemas.openxmlformats.org/officeDocument/2006/relationships/slideLayout" Target="../slideLayouts/slideLayout122.xml"/><Relationship Id="rId121" Type="http://schemas.openxmlformats.org/officeDocument/2006/relationships/slideLayout" Target="../slideLayouts/slideLayout123.xml"/><Relationship Id="rId122" Type="http://schemas.openxmlformats.org/officeDocument/2006/relationships/slideLayout" Target="../slideLayouts/slideLayout124.xml"/><Relationship Id="rId123" Type="http://schemas.openxmlformats.org/officeDocument/2006/relationships/slideLayout" Target="../slideLayouts/slideLayout125.xml"/><Relationship Id="rId124" Type="http://schemas.openxmlformats.org/officeDocument/2006/relationships/slideLayout" Target="../slideLayouts/slideLayout126.xml"/><Relationship Id="rId125" Type="http://schemas.openxmlformats.org/officeDocument/2006/relationships/slideLayout" Target="../slideLayouts/slideLayout127.xml"/><Relationship Id="rId126" Type="http://schemas.openxmlformats.org/officeDocument/2006/relationships/slideLayout" Target="../slideLayouts/slideLayout128.xml"/><Relationship Id="rId127" Type="http://schemas.openxmlformats.org/officeDocument/2006/relationships/slideLayout" Target="../slideLayouts/slideLayout129.xml"/><Relationship Id="rId128" Type="http://schemas.openxmlformats.org/officeDocument/2006/relationships/slideLayout" Target="../slideLayouts/slideLayout130.xml"/><Relationship Id="rId129" Type="http://schemas.openxmlformats.org/officeDocument/2006/relationships/slideLayout" Target="../slideLayouts/slideLayout131.xml"/><Relationship Id="rId130" Type="http://schemas.openxmlformats.org/officeDocument/2006/relationships/slideLayout" Target="../slideLayouts/slideLayout132.xml"/><Relationship Id="rId131" Type="http://schemas.openxmlformats.org/officeDocument/2006/relationships/slideLayout" Target="../slideLayouts/slideLayout133.xml"/><Relationship Id="rId132" Type="http://schemas.openxmlformats.org/officeDocument/2006/relationships/slideLayout" Target="../slideLayouts/slideLayout134.xml"/><Relationship Id="rId133" Type="http://schemas.openxmlformats.org/officeDocument/2006/relationships/slideLayout" Target="../slideLayouts/slideLayout135.xml"/><Relationship Id="rId134" Type="http://schemas.openxmlformats.org/officeDocument/2006/relationships/slideLayout" Target="../slideLayouts/slideLayout136.xml"/><Relationship Id="rId135" Type="http://schemas.openxmlformats.org/officeDocument/2006/relationships/slideLayout" Target="../slideLayouts/slideLayout137.xml"/><Relationship Id="rId136" Type="http://schemas.openxmlformats.org/officeDocument/2006/relationships/slideLayout" Target="../slideLayouts/slideLayout138.xml"/><Relationship Id="rId137" Type="http://schemas.openxmlformats.org/officeDocument/2006/relationships/slideLayout" Target="../slideLayouts/slideLayout139.xml"/><Relationship Id="rId138" Type="http://schemas.openxmlformats.org/officeDocument/2006/relationships/slideLayout" Target="../slideLayouts/slideLayout140.xml"/><Relationship Id="rId139" Type="http://schemas.openxmlformats.org/officeDocument/2006/relationships/slideLayout" Target="../slideLayouts/slideLayout141.xml"/><Relationship Id="rId140" Type="http://schemas.openxmlformats.org/officeDocument/2006/relationships/slideLayout" Target="../slideLayouts/slideLayout142.xml"/><Relationship Id="rId141" Type="http://schemas.openxmlformats.org/officeDocument/2006/relationships/slideLayout" Target="../slideLayouts/slideLayout143.xml"/><Relationship Id="rId142" Type="http://schemas.openxmlformats.org/officeDocument/2006/relationships/slideLayout" Target="../slideLayouts/slideLayout144.xml"/><Relationship Id="rId143" Type="http://schemas.openxmlformats.org/officeDocument/2006/relationships/slideLayout" Target="../slideLayouts/slideLayout145.xml"/><Relationship Id="rId144" Type="http://schemas.openxmlformats.org/officeDocument/2006/relationships/slideLayout" Target="../slideLayouts/slideLayout146.xml"/><Relationship Id="rId145" Type="http://schemas.openxmlformats.org/officeDocument/2006/relationships/slideLayout" Target="../slideLayouts/slideLayout147.xml"/><Relationship Id="rId146" Type="http://schemas.openxmlformats.org/officeDocument/2006/relationships/slideLayout" Target="../slideLayouts/slideLayout148.xml"/><Relationship Id="rId147" Type="http://schemas.openxmlformats.org/officeDocument/2006/relationships/slideLayout" Target="../slideLayouts/slideLayout149.xml"/><Relationship Id="rId148" Type="http://schemas.openxmlformats.org/officeDocument/2006/relationships/slideLayout" Target="../slideLayouts/slideLayout150.xml"/><Relationship Id="rId149" Type="http://schemas.openxmlformats.org/officeDocument/2006/relationships/slideLayout" Target="../slideLayouts/slideLayout151.xml"/><Relationship Id="rId150" Type="http://schemas.openxmlformats.org/officeDocument/2006/relationships/slideLayout" Target="../slideLayouts/slideLayout152.xml"/><Relationship Id="rId151" Type="http://schemas.openxmlformats.org/officeDocument/2006/relationships/slideLayout" Target="../slideLayouts/slideLayout153.xml"/><Relationship Id="rId152" Type="http://schemas.openxmlformats.org/officeDocument/2006/relationships/slideLayout" Target="../slideLayouts/slideLayout154.xml"/><Relationship Id="rId153" Type="http://schemas.openxmlformats.org/officeDocument/2006/relationships/slideLayout" Target="../slideLayouts/slideLayout155.xml"/><Relationship Id="rId154" Type="http://schemas.openxmlformats.org/officeDocument/2006/relationships/slideLayout" Target="../slideLayouts/slideLayout156.xml"/><Relationship Id="rId155" Type="http://schemas.openxmlformats.org/officeDocument/2006/relationships/slideLayout" Target="../slideLayouts/slideLayout157.xml"/><Relationship Id="rId156" Type="http://schemas.openxmlformats.org/officeDocument/2006/relationships/slideLayout" Target="../slideLayouts/slideLayout158.xml"/><Relationship Id="rId157" Type="http://schemas.openxmlformats.org/officeDocument/2006/relationships/slideLayout" Target="../slideLayouts/slideLayout159.xml"/><Relationship Id="rId158" Type="http://schemas.openxmlformats.org/officeDocument/2006/relationships/slideLayout" Target="../slideLayouts/slideLayout160.xml"/><Relationship Id="rId159" Type="http://schemas.openxmlformats.org/officeDocument/2006/relationships/slideLayout" Target="../slideLayouts/slideLayout161.xml"/><Relationship Id="rId160" Type="http://schemas.openxmlformats.org/officeDocument/2006/relationships/slideLayout" Target="../slideLayouts/slideLayout162.xml"/><Relationship Id="rId161" Type="http://schemas.openxmlformats.org/officeDocument/2006/relationships/slideLayout" Target="../slideLayouts/slideLayout163.xml"/><Relationship Id="rId162" Type="http://schemas.openxmlformats.org/officeDocument/2006/relationships/slideLayout" Target="../slideLayouts/slideLayout164.xml"/><Relationship Id="rId163" Type="http://schemas.openxmlformats.org/officeDocument/2006/relationships/slideLayout" Target="../slideLayouts/slideLayout165.xml"/><Relationship Id="rId164" Type="http://schemas.openxmlformats.org/officeDocument/2006/relationships/slideLayout" Target="../slideLayouts/slideLayout166.xml"/><Relationship Id="rId165" Type="http://schemas.openxmlformats.org/officeDocument/2006/relationships/slideLayout" Target="../slideLayouts/slideLayout167.xml"/><Relationship Id="rId166" Type="http://schemas.openxmlformats.org/officeDocument/2006/relationships/slideLayout" Target="../slideLayouts/slideLayout168.xml"/><Relationship Id="rId167" Type="http://schemas.openxmlformats.org/officeDocument/2006/relationships/slideLayout" Target="../slideLayouts/slideLayout169.xml"/><Relationship Id="rId168" Type="http://schemas.openxmlformats.org/officeDocument/2006/relationships/slideLayout" Target="../slideLayouts/slideLayout170.xml"/><Relationship Id="rId169" Type="http://schemas.openxmlformats.org/officeDocument/2006/relationships/slideLayout" Target="../slideLayouts/slideLayout171.xml"/><Relationship Id="rId170" Type="http://schemas.openxmlformats.org/officeDocument/2006/relationships/slideLayout" Target="../slideLayouts/slideLayout172.xml"/><Relationship Id="rId171" Type="http://schemas.openxmlformats.org/officeDocument/2006/relationships/slideLayout" Target="../slideLayouts/slideLayout173.xml"/><Relationship Id="rId172" Type="http://schemas.openxmlformats.org/officeDocument/2006/relationships/slideLayout" Target="../slideLayouts/slideLayout174.xml"/><Relationship Id="rId173" Type="http://schemas.openxmlformats.org/officeDocument/2006/relationships/slideLayout" Target="../slideLayouts/slideLayout175.xml"/><Relationship Id="rId174" Type="http://schemas.openxmlformats.org/officeDocument/2006/relationships/slideLayout" Target="../slideLayouts/slideLayout176.xml"/><Relationship Id="rId175" Type="http://schemas.openxmlformats.org/officeDocument/2006/relationships/slideLayout" Target="../slideLayouts/slideLayout177.xml"/><Relationship Id="rId176" Type="http://schemas.openxmlformats.org/officeDocument/2006/relationships/slideLayout" Target="../slideLayouts/slideLayout178.xml"/><Relationship Id="rId177" Type="http://schemas.openxmlformats.org/officeDocument/2006/relationships/slideLayout" Target="../slideLayouts/slideLayout17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  <p:sldLayoutId id="2147483717" r:id="rId67"/>
    <p:sldLayoutId id="2147483718" r:id="rId68"/>
    <p:sldLayoutId id="2147483719" r:id="rId69"/>
    <p:sldLayoutId id="2147483720" r:id="rId70"/>
    <p:sldLayoutId id="2147483721" r:id="rId71"/>
    <p:sldLayoutId id="2147483722" r:id="rId72"/>
    <p:sldLayoutId id="2147483723" r:id="rId73"/>
    <p:sldLayoutId id="2147483724" r:id="rId74"/>
    <p:sldLayoutId id="2147483725" r:id="rId75"/>
    <p:sldLayoutId id="2147483726" r:id="rId76"/>
    <p:sldLayoutId id="2147483727" r:id="rId77"/>
    <p:sldLayoutId id="2147483728" r:id="rId78"/>
    <p:sldLayoutId id="2147483729" r:id="rId79"/>
    <p:sldLayoutId id="2147483730" r:id="rId80"/>
    <p:sldLayoutId id="2147483731" r:id="rId81"/>
    <p:sldLayoutId id="2147483732" r:id="rId82"/>
    <p:sldLayoutId id="2147483733" r:id="rId83"/>
    <p:sldLayoutId id="2147483734" r:id="rId84"/>
    <p:sldLayoutId id="2147483735" r:id="rId85"/>
    <p:sldLayoutId id="2147483736" r:id="rId86"/>
    <p:sldLayoutId id="2147483737" r:id="rId87"/>
    <p:sldLayoutId id="2147483738" r:id="rId88"/>
    <p:sldLayoutId id="2147483739" r:id="rId89"/>
    <p:sldLayoutId id="2147483740" r:id="rId90"/>
    <p:sldLayoutId id="2147483741" r:id="rId91"/>
    <p:sldLayoutId id="2147483742" r:id="rId92"/>
    <p:sldLayoutId id="2147483743" r:id="rId93"/>
    <p:sldLayoutId id="2147483744" r:id="rId94"/>
    <p:sldLayoutId id="2147483745" r:id="rId95"/>
    <p:sldLayoutId id="2147483746" r:id="rId96"/>
    <p:sldLayoutId id="2147483747" r:id="rId97"/>
    <p:sldLayoutId id="2147483748" r:id="rId98"/>
    <p:sldLayoutId id="2147483749" r:id="rId99"/>
    <p:sldLayoutId id="2147483750" r:id="rId100"/>
    <p:sldLayoutId id="2147483751" r:id="rId101"/>
    <p:sldLayoutId id="2147483752" r:id="rId102"/>
    <p:sldLayoutId id="2147483753" r:id="rId103"/>
    <p:sldLayoutId id="2147483754" r:id="rId104"/>
    <p:sldLayoutId id="2147483755" r:id="rId105"/>
    <p:sldLayoutId id="2147483756" r:id="rId106"/>
    <p:sldLayoutId id="2147483757" r:id="rId107"/>
    <p:sldLayoutId id="2147483758" r:id="rId108"/>
    <p:sldLayoutId id="2147483759" r:id="rId109"/>
    <p:sldLayoutId id="2147483760" r:id="rId110"/>
    <p:sldLayoutId id="2147483761" r:id="rId111"/>
    <p:sldLayoutId id="2147483762" r:id="rId112"/>
    <p:sldLayoutId id="2147483763" r:id="rId113"/>
    <p:sldLayoutId id="2147483764" r:id="rId114"/>
    <p:sldLayoutId id="2147483765" r:id="rId115"/>
    <p:sldLayoutId id="2147483766" r:id="rId116"/>
    <p:sldLayoutId id="2147483767" r:id="rId117"/>
    <p:sldLayoutId id="2147483768" r:id="rId118"/>
    <p:sldLayoutId id="2147483769" r:id="rId119"/>
    <p:sldLayoutId id="2147483770" r:id="rId120"/>
    <p:sldLayoutId id="2147483771" r:id="rId121"/>
    <p:sldLayoutId id="2147483772" r:id="rId122"/>
    <p:sldLayoutId id="2147483773" r:id="rId123"/>
    <p:sldLayoutId id="2147483774" r:id="rId124"/>
    <p:sldLayoutId id="2147483775" r:id="rId125"/>
    <p:sldLayoutId id="2147483776" r:id="rId126"/>
    <p:sldLayoutId id="2147483777" r:id="rId127"/>
    <p:sldLayoutId id="2147483778" r:id="rId128"/>
    <p:sldLayoutId id="2147483779" r:id="rId129"/>
    <p:sldLayoutId id="2147483780" r:id="rId130"/>
    <p:sldLayoutId id="2147483781" r:id="rId131"/>
    <p:sldLayoutId id="2147483782" r:id="rId132"/>
    <p:sldLayoutId id="2147483783" r:id="rId133"/>
    <p:sldLayoutId id="2147483784" r:id="rId134"/>
    <p:sldLayoutId id="2147483785" r:id="rId135"/>
    <p:sldLayoutId id="2147483786" r:id="rId136"/>
    <p:sldLayoutId id="2147483787" r:id="rId137"/>
    <p:sldLayoutId id="2147483788" r:id="rId138"/>
    <p:sldLayoutId id="2147483789" r:id="rId139"/>
    <p:sldLayoutId id="2147483790" r:id="rId140"/>
    <p:sldLayoutId id="2147483791" r:id="rId141"/>
    <p:sldLayoutId id="2147483792" r:id="rId142"/>
    <p:sldLayoutId id="2147483793" r:id="rId143"/>
    <p:sldLayoutId id="2147483794" r:id="rId144"/>
    <p:sldLayoutId id="2147483795" r:id="rId145"/>
    <p:sldLayoutId id="2147483796" r:id="rId146"/>
    <p:sldLayoutId id="2147483797" r:id="rId147"/>
    <p:sldLayoutId id="2147483798" r:id="rId148"/>
    <p:sldLayoutId id="2147483799" r:id="rId149"/>
    <p:sldLayoutId id="2147483800" r:id="rId150"/>
    <p:sldLayoutId id="2147483801" r:id="rId151"/>
    <p:sldLayoutId id="2147483802" r:id="rId152"/>
    <p:sldLayoutId id="2147483803" r:id="rId153"/>
    <p:sldLayoutId id="2147483804" r:id="rId154"/>
    <p:sldLayoutId id="2147483805" r:id="rId155"/>
    <p:sldLayoutId id="2147483806" r:id="rId156"/>
    <p:sldLayoutId id="2147483807" r:id="rId157"/>
    <p:sldLayoutId id="2147483808" r:id="rId158"/>
    <p:sldLayoutId id="2147483809" r:id="rId159"/>
    <p:sldLayoutId id="2147483810" r:id="rId160"/>
    <p:sldLayoutId id="2147483811" r:id="rId161"/>
    <p:sldLayoutId id="2147483812" r:id="rId162"/>
    <p:sldLayoutId id="2147483813" r:id="rId163"/>
    <p:sldLayoutId id="2147483814" r:id="rId164"/>
    <p:sldLayoutId id="2147483815" r:id="rId165"/>
    <p:sldLayoutId id="2147483816" r:id="rId166"/>
    <p:sldLayoutId id="2147483817" r:id="rId167"/>
    <p:sldLayoutId id="2147483818" r:id="rId168"/>
    <p:sldLayoutId id="2147483819" r:id="rId169"/>
    <p:sldLayoutId id="2147483820" r:id="rId170"/>
    <p:sldLayoutId id="2147483821" r:id="rId171"/>
    <p:sldLayoutId id="2147483822" r:id="rId172"/>
    <p:sldLayoutId id="2147483823" r:id="rId173"/>
    <p:sldLayoutId id="2147483824" r:id="rId174"/>
    <p:sldLayoutId id="2147483825" r:id="rId175"/>
    <p:sldLayoutId id="2147483826" r:id="rId176"/>
    <p:sldLayoutId id="2147483827" r:id="rId17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0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4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5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6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8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8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2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3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4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5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9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0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2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3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4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7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9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0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1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2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3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4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5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6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7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8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9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0.xml"/><Relationship Id="rId2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1.xml"/><Relationship Id="rId2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3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4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5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6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7.xml"/><Relationship Id="rId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8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9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0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1.xml"/><Relationship Id="rId2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2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3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4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5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6.xml"/><Relationship Id="rId2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7.xml"/><Relationship Id="rId2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8.xml"/><Relationship Id="rId2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9.xml"/><Relationship Id="rId2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0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1.xml"/><Relationship Id="rId2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2.xml"/><Relationship Id="rId2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3.xml"/><Relationship Id="rId2" Type="http://schemas.openxmlformats.org/officeDocument/2006/relationships/notesSlide" Target="../notesSlides/notesSlide11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4.xml"/><Relationship Id="rId2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5.xml"/><Relationship Id="rId2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6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7.xml"/><Relationship Id="rId2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8.xml"/><Relationship Id="rId2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9.xml"/><Relationship Id="rId2" Type="http://schemas.openxmlformats.org/officeDocument/2006/relationships/notesSlide" Target="../notesSlides/notesSlide123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0.xml"/><Relationship Id="rId2" Type="http://schemas.openxmlformats.org/officeDocument/2006/relationships/notesSlide" Target="../notesSlides/notesSlide124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1.xml"/><Relationship Id="rId2" Type="http://schemas.openxmlformats.org/officeDocument/2006/relationships/notesSlide" Target="../notesSlides/notesSlide125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2.xml"/><Relationship Id="rId2" Type="http://schemas.openxmlformats.org/officeDocument/2006/relationships/notesSlide" Target="../notesSlides/notesSlide12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3.xml"/><Relationship Id="rId2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4.xml"/><Relationship Id="rId2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5.xml"/><Relationship Id="rId2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6.xml"/><Relationship Id="rId2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7.xml"/><Relationship Id="rId2" Type="http://schemas.openxmlformats.org/officeDocument/2006/relationships/notesSlide" Target="../notesSlides/notesSlide131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8.xml"/><Relationship Id="rId2" Type="http://schemas.openxmlformats.org/officeDocument/2006/relationships/notesSlide" Target="../notesSlides/notesSlide13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9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0.xml"/><Relationship Id="rId2" Type="http://schemas.openxmlformats.org/officeDocument/2006/relationships/notesSlide" Target="../notesSlides/notesSlide134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1.xml"/><Relationship Id="rId2" Type="http://schemas.openxmlformats.org/officeDocument/2006/relationships/notesSlide" Target="../notesSlides/notesSlide135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2.xml"/><Relationship Id="rId2" Type="http://schemas.openxmlformats.org/officeDocument/2006/relationships/notesSlide" Target="../notesSlides/notesSlide136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3.xml"/><Relationship Id="rId2" Type="http://schemas.openxmlformats.org/officeDocument/2006/relationships/notesSlide" Target="../notesSlides/notesSlide13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4.xml"/><Relationship Id="rId2" Type="http://schemas.openxmlformats.org/officeDocument/2006/relationships/notesSlide" Target="../notesSlides/notesSlide138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5.xml"/><Relationship Id="rId2" Type="http://schemas.openxmlformats.org/officeDocument/2006/relationships/notesSlide" Target="../notesSlides/notesSlide139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6.xml"/><Relationship Id="rId2" Type="http://schemas.openxmlformats.org/officeDocument/2006/relationships/notesSlide" Target="../notesSlides/notesSlide140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7.xml"/><Relationship Id="rId2" Type="http://schemas.openxmlformats.org/officeDocument/2006/relationships/notesSlide" Target="../notesSlides/notesSlide141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8.xml"/><Relationship Id="rId2" Type="http://schemas.openxmlformats.org/officeDocument/2006/relationships/notesSlide" Target="../notesSlides/notesSlide142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9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0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1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2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3.xml"/><Relationship Id="rId2" Type="http://schemas.openxmlformats.org/officeDocument/2006/relationships/notesSlide" Target="../notesSlides/notesSlide14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4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5.xml"/><Relationship Id="rId2" Type="http://schemas.openxmlformats.org/officeDocument/2006/relationships/notesSlide" Target="../notesSlides/notesSlide149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6.xml"/><Relationship Id="rId2" Type="http://schemas.openxmlformats.org/officeDocument/2006/relationships/notesSlide" Target="../notesSlides/notesSlide150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7.xml"/><Relationship Id="rId2" Type="http://schemas.openxmlformats.org/officeDocument/2006/relationships/notesSlide" Target="../notesSlides/notesSlide151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8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9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0.xml"/><Relationship Id="rId2" Type="http://schemas.openxmlformats.org/officeDocument/2006/relationships/notesSlide" Target="../notesSlides/notesSlide154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1.xml"/><Relationship Id="rId2" Type="http://schemas.openxmlformats.org/officeDocument/2006/relationships/notesSlide" Target="../notesSlides/notesSlide155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2.xml"/><Relationship Id="rId2" Type="http://schemas.openxmlformats.org/officeDocument/2006/relationships/notesSlide" Target="../notesSlides/notesSlide156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3.xml"/><Relationship Id="rId2" Type="http://schemas.openxmlformats.org/officeDocument/2006/relationships/notesSlide" Target="../notesSlides/notesSlide15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4.xml"/><Relationship Id="rId2" Type="http://schemas.openxmlformats.org/officeDocument/2006/relationships/notesSlide" Target="../notesSlides/notesSlide158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5.xml"/><Relationship Id="rId2" Type="http://schemas.openxmlformats.org/officeDocument/2006/relationships/notesSlide" Target="../notesSlides/notesSlide159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6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1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7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1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8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9.xml"/><Relationship Id="rId2" Type="http://schemas.openxmlformats.org/officeDocument/2006/relationships/notesSlide" Target="../notesSlides/notesSlide163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0.xml"/><Relationship Id="rId2" Type="http://schemas.openxmlformats.org/officeDocument/2006/relationships/notesSlide" Target="../notesSlides/notesSlide164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1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2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3.xml"/><Relationship Id="rId2" Type="http://schemas.openxmlformats.org/officeDocument/2006/relationships/notesSlide" Target="../notesSlides/notesSlide16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4.xml"/><Relationship Id="rId2" Type="http://schemas.openxmlformats.org/officeDocument/2006/relationships/notesSlide" Target="../notesSlides/notesSlide168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5.xml"/><Relationship Id="rId2" Type="http://schemas.openxmlformats.org/officeDocument/2006/relationships/notesSlide" Target="../notesSlides/notesSlide169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6.xml"/><Relationship Id="rId2" Type="http://schemas.openxmlformats.org/officeDocument/2006/relationships/notesSlide" Target="../notesSlides/notesSlide170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7.xml"/><Relationship Id="rId2" Type="http://schemas.openxmlformats.org/officeDocument/2006/relationships/notesSlide" Target="../notesSlides/notesSlide171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8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9.xml"/><Relationship Id="rId2" Type="http://schemas.openxmlformats.org/officeDocument/2006/relationships/notesSlide" Target="../notesSlides/notesSlide17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장 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</a:t>
            </a:r>
          </a:p>
        </p:txBody>
      </p:sp>
      <p:sp>
        <p:nvSpPr>
          <p:cNvPr id="4" name="평가내용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6" name="평가내용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45" name="강조 바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47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48" name="가운데 글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49" name="가운데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sp>
        <p:nvSpPr>
          <p:cNvPr id="51" name="가운데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sp>
        <p:nvSpPr>
          <p:cNvPr id="75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8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0" name="패널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3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21" name="패널 머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32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sp>
        <p:nvSpPr>
          <p:cNvPr id="42" name="성과 패널 머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성과 패널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5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16" name="주석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14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30" name="패널 머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2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34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9" name="패널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sp>
        <p:nvSpPr>
          <p:cNvPr id="42" name="레일 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46" name="패널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50" name="패널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sp>
        <p:nvSpPr>
          <p:cNvPr id="53" name="레일 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sp>
        <p:nvSpPr>
          <p:cNvPr id="58" name="레일 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60" name="패널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27" name="사진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sp>
        <p:nvSpPr>
          <p:cNvPr id="42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sp>
        <p:nvSpPr>
          <p:cNvPr id="49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4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5" name="강조 바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graphicFrame>
        <p:nvGraphicFramePr>
          <p:cNvPr id="37" name="실적표"/>
          <p:cNvGraphicFramePr>
            <a:graphicFrameLocks noGrp="1"/>
          </p:cNvGraphicFramePr>
          <p:nvPr/>
        </p:nvGraphicFramePr>
        <p:xfrm>
          <a:off x="723130" y="3840417"/>
          <a:ext cx="6300001" cy="220226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추진내용 및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맞춤형 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관리자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최고지도위과정(3명)·발전방안(156명)·신규보직자 교육(41명)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 대상 노동관계법·노사관계 등 노사지식 함양 교육(178명)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노사실무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집단 노사갈등 해결·롤플레이(4명), 노무이슈·판례 학습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기본역량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 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노동교육원 MOU 양질의 노사관계 교육 콘텐츠 제공(549명)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공인노무사 초빙 단체협약 이해관계자 교육(경영진·노조집행부)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전문성 촉진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안전보건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위험성평가(154명)·재난안전체험(203명)·방재전문교육(22명)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보수예산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보수·예산·회계 담당자 전문화(145명), 승진자 내재화(285명)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 담당자 전문화 교육(47명), 제도 안내 가이드 배포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graphicFrame>
        <p:nvGraphicFramePr>
          <p:cNvPr id="48" name="인라인 표"/>
          <p:cNvGraphicFramePr>
            <a:graphicFrameLocks noGrp="1"/>
          </p:cNvGraphicFramePr>
          <p:nvPr/>
        </p:nvGraphicFramePr>
        <p:xfrm>
          <a:off x="1391478" y="4444591"/>
          <a:ext cx="2711739" cy="416348"/>
        </p:xfrm>
        <a:graphic>
          <a:graphicData uri="http://schemas.openxmlformats.org/drawingml/2006/table">
            <a:tbl>
              <a:tblPr/>
              <a:tblGrid>
                <a:gridCol w="394435"/>
                <a:gridCol w="504000"/>
                <a:gridCol w="361565"/>
                <a:gridCol w="153391"/>
                <a:gridCol w="416348"/>
                <a:gridCol w="438261"/>
                <a:gridCol w="443739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위원,1급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6,7급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교통직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실무직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인상률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1.0%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3.2%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42" name="사진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20" name="소행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3" name="소행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7" name="가운데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28" name="가운데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sp>
        <p:nvSpPr>
          <p:cNvPr id="30" name="가운데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27" name="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28" name="사진 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29" name="사진 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9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1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2" name="패널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3" name="요약 바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5" name="패널 머리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7" name="요약 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9" name="패널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0" name="패널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21" name="요약 바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23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24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sp>
        <p:nvSpPr>
          <p:cNvPr id="58" name="배너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64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sp>
        <p:nvSpPr>
          <p:cNvPr id="72" name="레일 태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73" name="레일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75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76" name="머리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77" name="머리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sp>
        <p:nvSpPr>
          <p:cNvPr id="84" name="레일 태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86" name="머리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87" name="머리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88" name="머리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sp>
        <p:nvSpPr>
          <p:cNvPr id="95" name="레일 태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96" name="레일 라벨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98" name="머리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99" name="머리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16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46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sp>
        <p:nvSpPr>
          <p:cNvPr id="57" name="캡션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60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61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62" name="레일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63" name="PI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66" name="KPI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67" name="KPI 결과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69" name="단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sp>
        <p:nvSpPr>
          <p:cNvPr id="75" name="값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78" name="값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81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2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84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87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90" name="레일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91" name="PI 글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93" name="태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94" name="KPI 글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95" name="KPI 결과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97" name="단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sp>
        <p:nvSpPr>
          <p:cNvPr id="103" name="값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4" name="연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06" name="값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9" name="값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12" name="값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15" name="값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16" name="연도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18" name="레일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19" name="PI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21" name="태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22" name="KPI 글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23" name="KPI 결과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25" name="단위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sp>
        <p:nvSpPr>
          <p:cNvPr id="131" name="값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34" name="값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7" name="값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40" name="값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41" name="연도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43" name="값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44" name="연도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46" name="레일"/>
          <p:cNvSpPr>
            <a:spLocks noGrp="1"/>
          </p:cNvSpPr>
          <p:nvPr>
            <p:ph type="body" sz="quarter" idx="10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47" name="PI 글"/>
          <p:cNvSpPr>
            <a:spLocks noGrp="1"/>
          </p:cNvSpPr>
          <p:nvPr>
            <p:ph type="body" sz="quarter" idx="10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49" name="태그"/>
          <p:cNvSpPr>
            <a:spLocks noGrp="1"/>
          </p:cNvSpPr>
          <p:nvPr>
            <p:ph type="body" sz="quarter" idx="10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50" name="KPI 글"/>
          <p:cNvSpPr>
            <a:spLocks noGrp="1"/>
          </p:cNvSpPr>
          <p:nvPr>
            <p:ph type="body" sz="quarter" idx="10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51" name="KPI 결과"/>
          <p:cNvSpPr>
            <a:spLocks noGrp="1"/>
          </p:cNvSpPr>
          <p:nvPr>
            <p:ph type="body" sz="quarter" idx="10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53" name="단위"/>
          <p:cNvSpPr>
            <a:spLocks noGrp="1"/>
          </p:cNvSpPr>
          <p:nvPr>
            <p:ph type="body" sz="quarter" idx="10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sp>
        <p:nvSpPr>
          <p:cNvPr id="159" name="값"/>
          <p:cNvSpPr>
            <a:spLocks noGrp="1"/>
          </p:cNvSpPr>
          <p:nvPr>
            <p:ph type="body" sz="quarter" idx="10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60" name="연도"/>
          <p:cNvSpPr>
            <a:spLocks noGrp="1"/>
          </p:cNvSpPr>
          <p:nvPr>
            <p:ph type="body" sz="quarter" idx="11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2" name="값"/>
          <p:cNvSpPr>
            <a:spLocks noGrp="1"/>
          </p:cNvSpPr>
          <p:nvPr>
            <p:ph type="body" sz="quarter" idx="11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63" name="연도"/>
          <p:cNvSpPr>
            <a:spLocks noGrp="1"/>
          </p:cNvSpPr>
          <p:nvPr>
            <p:ph type="body" sz="quarter" idx="11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5" name="값"/>
          <p:cNvSpPr>
            <a:spLocks noGrp="1"/>
          </p:cNvSpPr>
          <p:nvPr>
            <p:ph type="body" sz="quarter" idx="11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66" name="연도"/>
          <p:cNvSpPr>
            <a:spLocks noGrp="1"/>
          </p:cNvSpPr>
          <p:nvPr>
            <p:ph type="body" sz="quarter" idx="11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8" name="값"/>
          <p:cNvSpPr>
            <a:spLocks noGrp="1"/>
          </p:cNvSpPr>
          <p:nvPr>
            <p:ph type="body" sz="quarter" idx="11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69" name="연도"/>
          <p:cNvSpPr>
            <a:spLocks noGrp="1"/>
          </p:cNvSpPr>
          <p:nvPr>
            <p:ph type="body" sz="quarter" idx="11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71" name="값"/>
          <p:cNvSpPr>
            <a:spLocks noGrp="1"/>
          </p:cNvSpPr>
          <p:nvPr>
            <p:ph type="body" sz="quarter" idx="11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172" name="연도"/>
          <p:cNvSpPr>
            <a:spLocks noGrp="1"/>
          </p:cNvSpPr>
          <p:nvPr>
            <p:ph type="body" sz="quarter" idx="11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74" name="레일"/>
          <p:cNvSpPr>
            <a:spLocks noGrp="1"/>
          </p:cNvSpPr>
          <p:nvPr>
            <p:ph type="body" sz="quarter" idx="11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2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177" name="태그"/>
          <p:cNvSpPr>
            <a:spLocks noGrp="1"/>
          </p:cNvSpPr>
          <p:nvPr>
            <p:ph type="body" sz="quarter" idx="1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178" name="KPI 글"/>
          <p:cNvSpPr>
            <a:spLocks noGrp="1"/>
          </p:cNvSpPr>
          <p:nvPr>
            <p:ph type="body" sz="quarter" idx="1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179" name="KPI 결과"/>
          <p:cNvSpPr>
            <a:spLocks noGrp="1"/>
          </p:cNvSpPr>
          <p:nvPr>
            <p:ph type="body" sz="quarter" idx="1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181" name="단위"/>
          <p:cNvSpPr>
            <a:spLocks noGrp="1"/>
          </p:cNvSpPr>
          <p:nvPr>
            <p:ph type="body" sz="quarter" idx="1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sp>
        <p:nvSpPr>
          <p:cNvPr id="187" name="값"/>
          <p:cNvSpPr>
            <a:spLocks noGrp="1"/>
          </p:cNvSpPr>
          <p:nvPr>
            <p:ph type="body" sz="quarter" idx="1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8" name="연도"/>
          <p:cNvSpPr>
            <a:spLocks noGrp="1"/>
          </p:cNvSpPr>
          <p:nvPr>
            <p:ph type="body" sz="quarter" idx="1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0" name="값"/>
          <p:cNvSpPr>
            <a:spLocks noGrp="1"/>
          </p:cNvSpPr>
          <p:nvPr>
            <p:ph type="body" sz="quarter" idx="1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1" name="연도"/>
          <p:cNvSpPr>
            <a:spLocks noGrp="1"/>
          </p:cNvSpPr>
          <p:nvPr>
            <p:ph type="body" sz="quarter" idx="1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3" name="값"/>
          <p:cNvSpPr>
            <a:spLocks noGrp="1"/>
          </p:cNvSpPr>
          <p:nvPr>
            <p:ph type="body" sz="quarter" idx="1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4" name="연도"/>
          <p:cNvSpPr>
            <a:spLocks noGrp="1"/>
          </p:cNvSpPr>
          <p:nvPr>
            <p:ph type="body" sz="quarter" idx="1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6" name="값"/>
          <p:cNvSpPr>
            <a:spLocks noGrp="1"/>
          </p:cNvSpPr>
          <p:nvPr>
            <p:ph type="body" sz="quarter" idx="1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7" name="연도"/>
          <p:cNvSpPr>
            <a:spLocks noGrp="1"/>
          </p:cNvSpPr>
          <p:nvPr>
            <p:ph type="body" sz="quarter" idx="1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99" name="값"/>
          <p:cNvSpPr>
            <a:spLocks noGrp="1"/>
          </p:cNvSpPr>
          <p:nvPr>
            <p:ph type="body" sz="quarter" idx="1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00" name="연도"/>
          <p:cNvSpPr>
            <a:spLocks noGrp="1"/>
          </p:cNvSpPr>
          <p:nvPr>
            <p:ph type="body" sz="quarter" idx="1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40" name="사진 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44" name="사진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51" name="사진 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54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28" name="배너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사진 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7" name="카드 제목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58" name="카드 설명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59" name="사진 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0" name="카드 제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61" name="카드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62" name="사진 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64" name="카드 설명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65" name="사진 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카드 제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67" name="카드 설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68" name="사진 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9" name="카드 제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70" name="카드 설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sp>
        <p:nvSpPr>
          <p:cNvPr id="44" name="주요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5" name="주요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sp>
        <p:nvSpPr>
          <p:cNvPr id="18" name="레일 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sp>
        <p:nvSpPr>
          <p:cNvPr id="32" name="주요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33" name="주요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sp>
        <p:nvSpPr>
          <p:cNvPr id="49" name="주요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0" name="주요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15" name="띠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18" name="띠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2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4" name="사진 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sp>
        <p:nvSpPr>
          <p:cNvPr id="30" name="띠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33" name="띠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37" name="사진 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8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39" name="사진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0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43" name="배너 글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45" name="상단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46" name="상단 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47" name="더하기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51" name="카드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54" name="카드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57" name="카드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58" name="설명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59" name="설명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sp>
        <p:nvSpPr>
          <p:cNvPr id="61" name="설명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64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65" name="열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66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67" name="설명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68" name="설명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sp>
        <p:nvSpPr>
          <p:cNvPr id="70" name="설명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sp>
        <p:nvSpPr>
          <p:cNvPr id="72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75" name="카드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78" name="카드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81" name="카드 글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82" name="요약 바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0" name="아이콘 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21" name="구분 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2" name="칩 줄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23" name="구분 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24" name="칩 줄 글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25" name="카드 요약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27" name="아이콘 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28" name="구분 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9" name="칩 줄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30" name="구분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32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34" name="아이콘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35" name="구분 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37" name="구분 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8" name="칩 줄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39" name="카드 요약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41" name="아이콘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42" name="구분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3" name="칩 줄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44" name="구분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5" name="칩 줄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46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50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51" name="도입 글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52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53" name="열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54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55" name="열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56" name="열 머리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57" name="열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58" name="강조 띠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59" name="행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0" name="지표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61" name="수치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62" name="지표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63" name="수치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64" name="지표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65" name="수치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sp>
        <p:nvSpPr>
          <p:cNvPr id="67" name="행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8" name="지표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69" name="수치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70" name="지표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71" name="수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72" name="지표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73" name="수치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sp>
        <p:nvSpPr>
          <p:cNvPr id="75" name="판단 글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76" name="판단 글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78" name="캡션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81" name="단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82" name="단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86" name="큰 문구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87" name="요약 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88" name="불릿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90" name="큰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91" name="요약 줄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92" name="불릿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sp>
        <p:nvSpPr>
          <p:cNvPr id="95" name="큰 문구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96" name="요약 줄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97" name="불릿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0" name="분면 이름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1" name="분면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2" name="분면 이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13" name="분면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14" name="분면 이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15" name="분면 글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16" name="분면 이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18" name="세로축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19" name="가로축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0" name="분류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22" name="패널 머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23" name="패널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24" name="번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5" name="소통 이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26" name="소통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27" name="소통 이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28" name="소통 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소통 이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31" name="소통 칩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32" name="소통 이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33" name="소통 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34" name="번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5" name="소통 이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36" name="소통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38" name="소통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39" name="번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41" name="소통 칩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42" name="소통 이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43" name="소통 칩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44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6" name="확산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49" name="확산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50" name="사진 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52" name="확산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61" name="캡션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64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sp>
        <p:nvSpPr>
          <p:cNvPr id="79" name="레일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81" name="배너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82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83" name="머리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84" name="머리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sp>
        <p:nvSpPr>
          <p:cNvPr id="91" name="태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92" name="캡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94" name="레일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95" name="단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96" name="단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97" name="단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sp>
        <p:nvSpPr>
          <p:cNvPr id="105" name="레일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7" name="배너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08" name="태그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09" name="태그 설명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10" name="태그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11" name="태그 설명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2" name="배너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13" name="주체 박스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14" name="시작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16" name="위 마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18" name="날짜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0" name="위 마디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22" name="날짜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24" name="위 마디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26" name="날짜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28" name="위 마디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30" name="날짜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32" name="위 마디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34" name="날짜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37" name="날짜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38" name="아래 마디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40" name="날짜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41" name="아래 마디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43" name="날짜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44" name="아래 마디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46" name="날짜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47" name="아래 마디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49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50" name="배너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53" name="머리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54" name="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56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57" name="머리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58" name="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sp>
        <p:nvSpPr>
          <p:cNvPr id="61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62" name="머리 글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63" name="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69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70" name="번호 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71" name="과제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72" name="번호 칩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73" name="과제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74" name="번호 칩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75" name="과제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76" name="번호 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77" name="과제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sp>
        <p:nvSpPr>
          <p:cNvPr id="80" name="레일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81" name="번호 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82" name="과제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83" name="번호 칩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4" name="과제명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85" name="번호 칩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86" name="과제명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87" name="번호 칩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8" name="과제명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sp>
        <p:nvSpPr>
          <p:cNvPr id="91" name="레일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92" name="번호 칩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93" name="과제명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94" name="번호 칩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95" name="과제명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96" name="번호 칩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97" name="과제명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98" name="번호 칩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sp>
        <p:nvSpPr>
          <p:cNvPr id="102" name="태그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03" name="배너 글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05" name="태그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06" name="머리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08" name="알약 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sp>
        <p:nvSpPr>
          <p:cNvPr id="111" name="상자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12" name="알약 칸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15" name="상자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16" name="알약 칸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sp>
        <p:nvSpPr>
          <p:cNvPr id="119" name="상자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21" name="태그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22" name="머리 글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24" name="알약 칸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27" name="상자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28" name="알약 칸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sp>
        <p:nvSpPr>
          <p:cNvPr id="131" name="상자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32" name="알약 칸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sp>
        <p:nvSpPr>
          <p:cNvPr id="135" name="상자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sp>
        <p:nvSpPr>
          <p:cNvPr id="57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58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61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62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70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72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sp>
        <p:nvSpPr>
          <p:cNvPr id="79" name="주요성과 라벨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0" name="주요성과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16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sp>
        <p:nvSpPr>
          <p:cNvPr id="36" name="주요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37" name="주요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sp>
        <p:nvSpPr>
          <p:cNvPr id="57" name="주요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8" name="주요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63" name="태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64" name="태그 설명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66" name="태그 설명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68" name="단계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69" name="단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sp>
        <p:nvSpPr>
          <p:cNvPr id="78" name="주요성과 라벨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79" name="주요성과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칸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3" name="칸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25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sp>
        <p:nvSpPr>
          <p:cNvPr id="29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sp>
        <p:nvSpPr>
          <p:cNvPr id="34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35" name="배너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sp>
        <p:nvSpPr>
          <p:cNvPr id="61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캡션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64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76" name="사진 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7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79" name="단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81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sp>
        <p:nvSpPr>
          <p:cNvPr id="33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50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62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64" name="머리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sp>
        <p:nvSpPr>
          <p:cNvPr id="70" name="레일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72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73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74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sp>
        <p:nvSpPr>
          <p:cNvPr id="83" name="성과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4" name="성과 띠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86" name="카드 문구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88" name="값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91" name="값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4" name="값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7" name="카드 문구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99" name="값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02" name="값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5" name="값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43" name="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44" name="성과 띠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46" name="카드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48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1" name="값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4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59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sp>
        <p:nvSpPr>
          <p:cNvPr id="16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37" name="칸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39" name="사진 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46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47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48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12" name="그룹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16" name="카드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17" name="카드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18" name="도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0" name="값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21" name="연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23" name="값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24" name="연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28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29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30" name="요약 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35" name="도표 제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37" name="값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38" name="연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40" name="값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45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46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47" name="요약 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49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50" name="그룹 제목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53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54" name="카드 제목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55" name="카드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56" name="도표 제목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58" name="값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1" name="값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66" name="카드 제목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67" name="카드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68" name="도표 제목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0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71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sp>
        <p:nvSpPr>
          <p:cNvPr id="47" name="핵심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graphicFrame>
        <p:nvGraphicFramePr>
          <p:cNvPr id="19" name="인라인 표"/>
          <p:cNvGraphicFramePr>
            <a:graphicFrameLocks noGrp="1"/>
          </p:cNvGraphicFramePr>
          <p:nvPr/>
        </p:nvGraphicFramePr>
        <p:xfrm>
          <a:off x="1391478" y="1965443"/>
          <a:ext cx="3177392" cy="624522"/>
        </p:xfrm>
        <a:graphic>
          <a:graphicData uri="http://schemas.openxmlformats.org/drawingml/2006/table">
            <a:tbl>
              <a:tblPr/>
              <a:tblGrid>
                <a:gridCol w="766957"/>
                <a:gridCol w="1424348"/>
                <a:gridCol w="986087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효과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표본조사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데이터 기반 전수조사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리스크 누락 예방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사후적발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패턴분석, 이상 감지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객관성 확보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sp>
        <p:nvSpPr>
          <p:cNvPr id="34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sp>
        <p:nvSpPr>
          <p:cNvPr id="48" name="핵심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54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18" name="위 머리 글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1" name="위 머리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23" name="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24" name="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25" name="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27" name="아이콘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30" name="아래 머리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33" name="아래 머리 글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22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26" name="칸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sp>
        <p:nvSpPr>
          <p:cNvPr id="31" name="칸 제목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37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50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sp>
        <p:nvSpPr>
          <p:cNvPr id="59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70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72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73" name="태그 설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74" name="태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77" name="핵심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30" name="그룹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32" name="탭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35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37" name="탭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38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39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40" name="카드 요약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42" name="탭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45" name="카드 요약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47" name="탭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48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49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50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53" name="배너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56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57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68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69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sp>
        <p:nvSpPr>
          <p:cNvPr id="74" name="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75" name="성과 띠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85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86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0" name="배너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sp>
        <p:nvSpPr>
          <p:cNvPr id="48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17" name="니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18" name="실적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20" name="칩 줄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22" name="칩 줄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23" name="성과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24" name="성과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29" name="니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30" name="실적 머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32" name="칩 줄 글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33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35" name="성과 머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36" name="성과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41" name="니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42" name="실적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43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46" name="칩 줄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47" name="성과 머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48" name="성과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53" name="니즈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54" name="실적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55" name="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56" name="칩 줄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57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59" name="성과 머리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60" name="성과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sp>
        <p:nvSpPr>
          <p:cNvPr id="26" name="배너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52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28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49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sp>
        <p:nvSpPr>
          <p:cNvPr id="54" name="핵심성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7" name="캡션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49" name="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50" name="성과 띠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52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54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55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58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값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61" name="연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65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8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1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4" name="카드 문구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76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87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값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93" name="값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94" name="연도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6" name="카드 문구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98" name="값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1" name="값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4" name="값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05" name="연도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7" name="카드 문구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09" name="값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2" name="값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5" name="값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6" name="연도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1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61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64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66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71" name="핵심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2" name="핵심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9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21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22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38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sp>
        <p:nvSpPr>
          <p:cNvPr id="51" name="배너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53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sp>
        <p:nvSpPr>
          <p:cNvPr id="63" name="핵심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22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2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40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41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46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72" name="핵심성과 라벨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sp>
        <p:nvSpPr>
          <p:cNvPr id="44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45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sp>
        <p:nvSpPr>
          <p:cNvPr id="29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0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37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15" name="레일 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16" name="레일 라벨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61" name="태그 설명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64" name="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66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sp>
        <p:nvSpPr>
          <p:cNvPr id="35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47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sp>
        <p:nvSpPr>
          <p:cNvPr id="56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graphicFrame>
        <p:nvGraphicFramePr>
          <p:cNvPr id="23" name="인라인 표"/>
          <p:cNvGraphicFramePr>
            <a:graphicFrameLocks noGrp="1"/>
          </p:cNvGraphicFramePr>
          <p:nvPr/>
        </p:nvGraphicFramePr>
        <p:xfrm>
          <a:off x="5156870" y="1976400"/>
          <a:ext cx="2136521" cy="624522"/>
        </p:xfrm>
        <a:graphic>
          <a:graphicData uri="http://schemas.openxmlformats.org/drawingml/2006/table">
            <a:tbl>
              <a:tblPr/>
              <a:tblGrid>
                <a:gridCol w="821739"/>
                <a:gridCol w="657391"/>
                <a:gridCol w="657391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항목(예시)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유류(mg/kg)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아연(mg/kg)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법적기준(주택)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500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500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최종성과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133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115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sp>
        <p:nvSpPr>
          <p:cNvPr id="40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35" name="사진 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7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8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0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sp>
        <p:nvSpPr>
          <p:cNvPr id="47" name="레일 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50" name="배너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14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sp>
        <p:nvSpPr>
          <p:cNvPr id="25" name="핵심성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6" name="핵심성과 문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0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sp>
        <p:nvSpPr>
          <p:cNvPr id="50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14" name="그룹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18" name="카드 제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19" name="카드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23" name="카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24" name="카드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27" name="카드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28" name="카드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14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16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13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sp>
        <p:nvSpPr>
          <p:cNvPr id="24" name="소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25" name="태그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sp>
        <p:nvSpPr>
          <p:cNvPr id="52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3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sp>
        <p:nvSpPr>
          <p:cNvPr id="19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0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태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0" name="태그 설명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2" name="태그 설명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번호 띠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18" name="번호 띠 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sp>
        <p:nvSpPr>
          <p:cNvPr id="31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51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13" name="그룹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17" name="카드 제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18" name="카드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22" name="카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23" name="카드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sp>
        <p:nvSpPr>
          <p:cNvPr id="30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31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32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0" name="번호 띠 제목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31" name="번호 띠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32" name="번호 띠 칩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1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63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64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sp>
        <p:nvSpPr>
          <p:cNvPr id="70" name="레일 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71" name="레일 라벨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73" name="단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74" name="단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sp>
        <p:nvSpPr>
          <p:cNvPr id="80" name="핵심성과 라벨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1" name="핵심성과 문구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30" name="분야 박스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32" name="소제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33" name="태그칩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34" name="태그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39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50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sp>
        <p:nvSpPr>
          <p:cNvPr id="58" name="번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9" name="분야 박스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61" name="소제목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62" name="태그칩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64" name="레일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66" name="머리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sp>
        <p:nvSpPr>
          <p:cNvPr id="73" name="레일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75" name="머리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76" name="머리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sp>
        <p:nvSpPr>
          <p:cNvPr id="81" name="주요성과 라벨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84" name="주요성과 라벨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85" name="주요성과 문구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sp>
        <p:nvSpPr>
          <p:cNvPr id="30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39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52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53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56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sp>
        <p:nvSpPr>
          <p:cNvPr id="71" name="배너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73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sp>
        <p:nvSpPr>
          <p:cNvPr id="80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1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104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6" name="단계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7" name="단계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캡션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13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15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sp>
        <p:nvSpPr>
          <p:cNvPr id="29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0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sp>
        <p:nvSpPr>
          <p:cNvPr id="31" name="주요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주요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sp>
        <p:nvSpPr>
          <p:cNvPr id="39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45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46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50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1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sp>
        <p:nvSpPr>
          <p:cNvPr id="21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1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28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31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sp>
        <p:nvSpPr>
          <p:cNvPr id="43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sp>
        <p:nvSpPr>
          <p:cNvPr id="60" name="배너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배너 글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sp>
        <p:nvSpPr>
          <p:cNvPr id="56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57" name="배너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70" name="배너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72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73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56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57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66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sp>
        <p:nvSpPr>
          <p:cNvPr id="18" name="레일 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sp>
        <p:nvSpPr>
          <p:cNvPr id="27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sp>
        <p:nvSpPr>
          <p:cNvPr id="36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0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안정적 유동성 및 부채관리, 금융비용 절감으로 재무건전성 확보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안정성은 높이면서 적기에 필요한 만큼만! 효율적인 유동성 관리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자금계획 수립체계 개선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관리의 안전성·효율성 향상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불필요한 차입 최소화 등 선제적 유동성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‘사업별 자금 실적-예산’ 비교 분석(매월) → 예산 대비 불용자금 예측, 계획 오차 원인 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‘자금 유출입 규모 및 시기’ 예측력↑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과부족 최소화, 변동성↓: ’23년·’24년·’25년 월별 보유 현금 추이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규모 효율화: 유휴자금 305억원↓(금융비용 8억원 절감)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보유자금 최적 운용: 연기금투자풀 62% 예탁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관리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지표(보유현금/적정유동성) 모니터링 결과 매월 ‘정상’ 범위 내 운용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122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기관 특성과 중장기재무계획을 고려한 부채 만기관리로 안정성 향상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기관 특성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기관 특성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중장기재무관리계획(’25~’29년)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 투자 후 장기 회수(광역상수도 내용연수 20년)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 짧은 부채만기(7년), 3년 內 만기 집중(50%)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투자계획, 현금흐름 등 반영 차입규모·만기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금융부채↑, 3년 內 차환부담 증대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만기 집중도 완화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금리부담을 낮추며 부채만기 확대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만기집중 구간(향후 3년)을 피해 신규차입 만기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유동성, 차환 리스크 등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3년내 만기도래 규모 0.2조원↓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장단기 금리차 축소기(0.2%p), 자산 특성 고려 장기채 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 장기물(10y↑) ’24년 0.2조원 → ’25년 0.4조원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신규차입 3.8년 → 6.7년, 전체만기 6.9년 → 7.1년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관세로 인한 불확실성 극복! 맞춤형 전략으로 금융비용 절감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관세충격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4월 외화채권 발행 추진 중 美 관세 발표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미국채 0.5%p↑, 주요기관 발행보류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얼어붙은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시장 불확실성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인지도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투자 의무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변동성 큰 시장이라 투자하기 망설여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만에 공모나선 기관이라 낯설어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투자자의 일정 비중은 ESG 투자여야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 어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철저한 사전 준비, 시장 불확실성 뚫고 발행(3억 $) 결정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전략으로 수요 흡수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금리 등 시계열 분석, 과거 사례 등 →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구조적 시장위기 아닌 일시 충격 판단 → 냉철한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발행금리 상한 설정, 손실위험 통제 → 리스크 관리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기업설명회(33개 기관), 상시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물·재생e 등 주요사업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강점 홍보, 그린본드 발행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마중물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되 다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언론보도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“K-water 사전준비 빛났다.”, “공기업 복귀, 미·중 관세 합의 타이밍 포착”(연합뉴스 등, ’25.5)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수요 압도적 흥행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외화채권 마중물 역할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14배 수요로 투자자 선별, 대형우량기관 중심 발행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 가격 이하로 발행, 원화比 금융비용 22억원 절감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공기관 발행(9억$) 마중물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절감된 금리 가이드라인 제시</a:t>
            </a:r>
          </a:p>
        </p:txBody>
      </p:sp>
      <p:sp>
        <p:nvSpPr>
          <p:cNvPr id="48" name="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9" name="성과 띠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 · 금융수익 초과 달성 · 저금리 조달 · 금융비용 절감(42억원)</a:t>
            </a:r>
          </a:p>
        </p:txBody>
      </p:sp>
      <p:sp>
        <p:nvSpPr>
          <p:cNvPr id="51" name="카드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</a:t>
            </a:r>
          </a:p>
        </p:txBody>
      </p:sp>
      <p:sp>
        <p:nvSpPr>
          <p:cNvPr id="53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2373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2068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9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금융수익 초과 달성</a:t>
            </a:r>
          </a:p>
        </p:txBody>
      </p:sp>
      <p:sp>
        <p:nvSpPr>
          <p:cNvPr id="61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2.60%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기준</a:t>
            </a:r>
          </a:p>
        </p:txBody>
      </p:sp>
      <p:sp>
        <p:nvSpPr>
          <p:cNvPr id="64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2.69%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7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2.78%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70" name="카드 문구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저금리 조달</a:t>
            </a:r>
          </a:p>
        </p:txBody>
      </p:sp>
      <p:sp>
        <p:nvSpPr>
          <p:cNvPr id="72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2.83%</a:t>
            </a:r>
          </a:p>
        </p:txBody>
      </p:sp>
      <p:sp>
        <p:nvSpPr>
          <p:cNvPr id="73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시장</a:t>
            </a:r>
          </a:p>
        </p:txBody>
      </p:sp>
      <p:sp>
        <p:nvSpPr>
          <p:cNvPr id="75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2.77%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조달</a:t>
            </a:r>
          </a:p>
        </p:txBody>
      </p:sp>
      <p:sp>
        <p:nvSpPr>
          <p:cNvPr id="78" name="카드 문구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절감(42억원)</a:t>
            </a:r>
          </a:p>
        </p:txBody>
      </p:sp>
      <p:sp>
        <p:nvSpPr>
          <p:cNvPr id="80" name="값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8억</a:t>
            </a:r>
          </a:p>
        </p:txBody>
      </p:sp>
      <p:sp>
        <p:nvSpPr>
          <p:cNvPr id="81" name="연도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유휴</a:t>
            </a:r>
          </a:p>
        </p:txBody>
      </p:sp>
      <p:sp>
        <p:nvSpPr>
          <p:cNvPr id="83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3억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녹색</a:t>
            </a:r>
          </a:p>
        </p:txBody>
      </p:sp>
      <p:sp>
        <p:nvSpPr>
          <p:cNvPr id="86" name="값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31억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외화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자산운영 및 AI 자산관리로 재무 패러다임 전환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자산특성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사용권 등 무형자산(46%), 판매용 토지 등 재고자산(35%)이 대부분을 차지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보유자산 특성상 운영 및 활용에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선택·집중 원칙으로 운영성과 제고 필요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수익성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재고자산 토지 판매촉진 통한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조성-수납까지 긴 영업주기 따른 자금수지 일시 적자(~’26, 0.8조원) 해소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분양자 재무부담 완화 서비스 통한 토지 판매 확대로 조성비 조기 회수 ➡ 분양매출 1조 9백억원 달성(전년比 44.3%↑)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무형자산 항만시설관리권 경쟁입찰 매각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관리청의 관리권 매각물량 제한으로 아라뱃길 사업 투자비 회수 차질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신규 고객 유치 및 초과수요 유도, 경쟁률 제고 및 판매단가 상승 ➡ 항만관리권 매각 762억원(전년比 40억원↑)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 최적활용 제약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자산가치 회복방안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물그릇 1.3억톤 확대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안동댐 등 저수구역 내 장기간 불법가옥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댐 低수위 운영 불가피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추진반 운영(’25.3) 통해 전수조사, 유형별 해소방안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취약층 1:1 주거안내, 간접지원 등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47채 철거 ➡ 댐용수 연 매출액 19억원 견인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국유재산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관리전환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국유재산 관리 대전환 필요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AI기반 로드맵·시스템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 효과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광범위한 관리면적으로 무단점유 등 적시 적발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527㎢로 서울시 면적 87% 수준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토지변화 탐지시스템(시범)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캐코-LX 데이터 공유 협약(’25.9)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자산관리로드맵(’25.12)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불법행위 절감비용 △8억원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취득비 △0.2억원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AI자산관리 체계 마련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자산운영 효율화를 통한 총자산회전율 22.6% 달성(전년 대비 1.4%p 상승)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고도화로 공공분야 자회사 운영 내실화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해외SPC 영업손실 지속 등 해외사업 수익성 확대하기 위한 노력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 및 체계적 관리로 해외SPC 수익 확대 등 출자 성과 제고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걸음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 고도화(’24)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내실화(’25)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관리선도·확산(’26~)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 우선과제 실행·관리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포털 구축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관리 프로세스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재무성과 분석·관리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低성과 자회사 경영진단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경영개선·역량강화 지원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 안정화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체질개선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완 성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기본에 충실한 자회사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 핵심사업 역량집중, 안정적 경영관리 ➡ 지속적인 수익 발생, 리스크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안전진단 조직 신설 등 개선대책 마련(’25.10)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청렴인권 청렴·인권경영 제고 컨설팅(’25.12) ➡ 내부체감 단계별 개선, 감사조직(3명) 확대 등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국가리스크 극복하니 재무성과도 함께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자회사 분기별 재무분석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❶ 외환통제 등 파트린드HPP 사업 지연 ➡ 현지 외교망 활용, 대주단 협상으로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낮은 전력요금, 앙갓댐 발전 매출 정체 ➡ 시설개선·효율적 댐 운영으로 극복</a:t>
            </a:r>
          </a:p>
        </p:txBody>
      </p:sp>
      <p:sp>
        <p:nvSpPr>
          <p:cNvPr id="40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자회사 운영관리 실태평가 A등급(전년 B), 자회사 청렴도 평가 결과 평균 4.6점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파트린드HPP 해외사업 최초 133억원 배당, 앙갓 역대 최고 매출 668억원 달성(107억원↑)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시대, 새로운 성장을 견인할 예산편성 및 운용관리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재무여건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기후변화 등 물관리 투자 필요성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경제성장 둔화로 공공투자 확대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물관리, 정부정책 중점 투자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 지속, 수돗물 품질 투자 등 확대로 영업이익 2년 연속 하락 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수익성 개선 위한 세밀한 원가관리 필요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0" name="캡션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투자는 확대하되, 효율적 예산운용으로 지속가능한 재무구조 정착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정책연계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투자재원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충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1 정부정책 연계 사업의 재정·투자 기반 강화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K-물관리수출 활성화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위한 기후안전망 강화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 구현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국회·정부 대상 물산업 파급 공유, 정책 공감대 확산 노력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선도기관 선정(’25.10)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’26~’30 955억원 반영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기후 시대 새로운 물 인프라 확대, 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 118억원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46억원/연 증액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중대재해법 등 제도 강화, 수도 감리요율 상향 先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정부과제 선정 → 全기관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감리비 1,597억원(~’32년) 확충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재구조화</a:t>
            </a:r>
          </a:p>
        </p:txBody>
      </p:sp>
      <p:sp>
        <p:nvSpPr>
          <p:cNvPr id="34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2 국정과제 및 중장기 전략과 연계한 사업 포트폴리오 및 투자예산 리밸런싱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포트폴리오 선별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우선순위 설정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 투자 1,744억원 확대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참여 성장 아이템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적합성·매력도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사업적합성(설립목적 부합성, 기술 경쟁력 등) / 시장매력도(성장잠재력, 사회·환경 수요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육성·유지·축소 분류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연계성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한도 내 우선순위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예산부서 자체 결정 → 개선 사업계획심의위원회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태양광·양수발전 등 신규사업 9건 반영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 안전망 3,434 → 3,974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AI·첨단산업 480 → 1,090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559 → 1,109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물산업·글로벌 802 → 846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체계개선</a:t>
            </a:r>
          </a:p>
        </p:txBody>
      </p:sp>
      <p:sp>
        <p:nvSpPr>
          <p:cNvPr id="47" name="배너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3 체계적 경비 관리, 상시 원가점검으로 촘촘한 예산운용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경비예산 심의 강화 및 구조조정: 신규 예산편성 심의委(절감요소, 합·목적성 검토 / 집행증가율 높은 5개 항목 / 심의위원 5인 의결), 신규 부문예산 책임운영제(부문·과목별 한도부여 / 일상경비 전체 / 부서→‘부문’(추가)→총괄 심의)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5개 항목 146억원 절감 편성, 부문 책임운영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원가점검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사업-재무-예산협업체계(재무혁신TF)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핵심원가 성과목표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’26년 수도생산 원가 절감 265억원/연 목표 반영</a:t>
            </a:r>
          </a:p>
        </p:txBody>
      </p:sp>
      <p:sp>
        <p:nvSpPr>
          <p:cNvPr id="52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3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실행기반 조성, 중장기 재무목표 준수(부채비율 97.9% 대비 △6.1%p) 예산편성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투자사업 계획·심사 강화, 사후 모니터링 신설 등 관리체계 정립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기획단계 사업구상: 사전예비심사 → 예비투자심사 → 본투자심사 / 개선 각 단계별 7개 항목 사전검토(중장기 재무영향 추가)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건설·운영단계: 기존 사업비 관리 / 신규 사업성 점검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사후관리: 신규 손실사업 분석 / 신규 해외사업 관리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기존절차 보완 · 신규 全 생애주기 관리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사업선정~투자심사 실효성·전문성 강화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건설·운영단계에서도 사업성 유지·관리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현안사업(손실, 고위험) 분석과 솔루션 제시</a:t>
            </a:r>
          </a:p>
        </p:txBody>
      </p:sp>
      <p:sp>
        <p:nvSpPr>
          <p:cNvPr id="31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사업선정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 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재정사업 심사절차 개선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투자사업 기준수익률 개선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국고 반영 후 투자심사, 실효성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국고 신청 전 ‘적합성 심의’ 신설 → 기본구상 · 예·타 · 사업심의 · 국고신청 · 본심사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사업 다변화, 수주 경쟁사 트렌드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수익률 산정시 고려하는 리스크 세분화(4→13개) 및 가중치 차등 적용(0.25~3.0%)</a:t>
            </a:r>
          </a:p>
        </p:txBody>
      </p:sp>
      <p:sp>
        <p:nvSpPr>
          <p:cNvPr id="39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심사품질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도 화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전문성과 신뢰도 제고 ✔평가지적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재무검증 강화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후보 확대, 기술분야 세분화 * 후보(55→100명), 디지털·AI등 분야 추가(5→9개)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50% ‘초과’ 참여, 무작위 선정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중장기 재무영향 사전검토 의무화 * 재무관리준칙 관리지표(3개), 매출액 등 영향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해외PF분석팀(8명) 신설 역량 강화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지속관리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상시관리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 중간평가 강화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해외사업 분기별 성과분석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사업비조정시 사업성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사업비 30%, 60%, 준공시점 사업성 재분석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IRR 1%p 하락 등 사업성 하락시 보완대책 마련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손실사업의 재무구조를 진단하여 솔루션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재무전략 전담조직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수익성 관리 및 재무건전성 강화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해외 투자사업 재무성과 및 리스크 정기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해외사업리스크관리위원회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저수익·손실 우려 해외사업 조기 식별 및 대응</a:t>
            </a:r>
          </a:p>
        </p:txBody>
      </p:sp>
      <p:sp>
        <p:nvSpPr>
          <p:cNvPr id="60" name="핵심성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투자심사 全과정 고도화 및 강화된 심사 운영으로 요청 대비 566억원 절감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예산집행관리 강화로 투명·신속 집행 및 재정집행 성과 창출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투명한 집행 노력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노력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노력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리스크 선제적 관리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재원 효율적 배분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경기회복 위한 투자·집행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및 평가 강화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주요경비 심의위원회 운영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프로세스 혁신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교육 시행(9회)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 모니터링 부서평가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권익위 청렴도 결과 ‘예산 부당집행’ 92.3점(11.9점↑)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전문가(30인) 위원회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편성 합목적성, 절감요소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경비절감(’25년 30건 71.6억원) 예산변경 신뢰성 확보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 등 재정집행 체계적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집행목표 101.4% 달성으로 국민경제 활성화 기여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집행관리 고도화로 집행 투명·공정성 강화하여 ’25년 권익위 청렴도평가 1등급 달성 기여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공사 고유 재무특성을 반영한 재무목표 및 추진과제 선정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공적 역할·재무건전성 동시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공공기관 국정과제 선도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재무체력 자구노력으로 재무여력 확충 요구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투자는 늘고 내부조달 여건은 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 물관리 AI 전환, 안전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재무여건 요금동결, 원가상승 등 수익성↓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재무특징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사업 외부영향多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경기-수변 매출, 유가, 강우량-에너지 매출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변수 극복, 신사업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사업 포트폴리오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요금(물공급), 정책(지방수도 등), 수익(재생e) 등 多사업 병행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사업별 맞춤형 관리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자본투자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선투자·장기회수, 차입의존·4대강 우선상환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 현금흐름 창출 필요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 ‘투자 확대와 매출 성장 연계’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 ‘사업별 수익 구조 영향 반영’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부채비율, 순차입금/조정EBITDA ‘재무구조 안정성, 상환능력 반영’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목표설정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변화된 사업 여건 및 주요 재무지표 장기 추세분석으로 ‘적정 목표 수준’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순차입금/조정EBITDA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 47,929억원: 기존·신규사업 조화 성장 반영 도전적 목표 설정 (’24년 4.5조원 → ’25년 4.8조원)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부채비율 98.1%: 고강도 자구노력 반영 100% 이하 유지 목표 (98.4% → 98.1%)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 1,869억원: 수익성 악화 재무 여건 반영 목표 재설정 (3,662억원 → 1,869억원)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순차입금/조정EBITDA 6.6 이하: 투자 확대 대응 위한 현금 기반 차입 한도 준수 (5.8 → 6.6)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매출 확대 및 다각화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사업별 손익 개선·효율화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현금흐름 안정성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수변·재생e 매출 조기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물관리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용수공급 업역 확대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요금사업 생산원가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정책사업 국고 확보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리스크관리 강화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영향 검토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투자연계 차입 만기 개선</a:t>
            </a:r>
          </a:p>
        </p:txBody>
      </p:sp>
      <p:sp>
        <p:nvSpPr>
          <p:cNvPr id="53" name="레일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재무목표 수립</a:t>
            </a:r>
          </a:p>
        </p:txBody>
      </p:sp>
      <p:sp>
        <p:nvSpPr>
          <p:cNvPr id="56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목표달성 이행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이행평가·환류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사업·본부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이사회, 전사경영회의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 및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부문장회의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 이행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부서장회의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재무 목표 달성을 위한 맞춤형 개선과제 이행으로 초과 성과 창출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매출확대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혁신적 돌파구 마련으로 매출 확대 및 하이테크 수처리 사업 선도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중심으로 지속 성장한 매출액 2년 연속 하락, 매출 정체 고착화 우려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현안진단·개선 통한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高부가가치 미래형 매출 기반 발굴</a:t>
            </a:r>
          </a:p>
        </p:txBody>
      </p:sp>
      <p:sp>
        <p:nvSpPr>
          <p:cNvPr id="20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기존사업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고객 니즈 우선 대응으로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맞춤 토지 이용계획 변경으로 사용 촉진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조기 토지 사용시 고객 부담 경감방안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역대 두 번째 최고 매출 1조원 달성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송전망 문제해결로 매출 조기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 수상태양광 국내 최초 교차발전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주간 수상태양광-야간 수력 송전, 발전개시 5년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 490억원(5년) 확보, 타사업 확장기능 모델 마련</a:t>
            </a:r>
          </a:p>
        </p:txBody>
      </p:sp>
      <p:sp>
        <p:nvSpPr>
          <p:cNvPr id="27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신규사업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新 비즈니스모델 활용 매출 다각화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디지털 물관리 기술 수출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日 나가이, 美 실리콘밸리 시범사업 개시, 보츠와나 통합물관리 사업 227억원 수주 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고품질 물 시장 新 업역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 기반 물 공급 시장 선점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 초순수 운영 개시(SK하이닉스), 국내 최대 해수담수화 준공(대산임해산업단지)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손익개선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맞춤형 개선으로 지속적 손익 개선 기반 구축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요금 광역상수도사업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대행 및 수탁사업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수익 해외사업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동결, 원가급등으로 수익개선 구조적 한계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필수 공공사업 수행 불구 낮은 대가 현실화율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해외 주요 투자회사 일상적 재무리스크 노출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운영혁신·원가절감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 재정 확대 반영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리스크 맞춤형 관리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AI물관리 확대(정수장~관망)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도입 원가 절감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현대화사업 수수료율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적정 대가 반영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사업 대상 분기별 재무성과 및 리스크 분석</a:t>
            </a:r>
          </a:p>
        </p:txBody>
      </p:sp>
      <p:sp>
        <p:nvSpPr>
          <p:cNvPr id="34" name="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성과 띠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단위당 전력사용 절감 · 생산원가 절감 · 수수료율 · 유지관리비 · 앙갓 흑자 · 파트린드 배당</a:t>
            </a:r>
          </a:p>
        </p:txBody>
      </p:sp>
      <p:sp>
        <p:nvSpPr>
          <p:cNvPr id="37" name="카드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전력사용</a:t>
            </a:r>
          </a:p>
        </p:txBody>
      </p:sp>
      <p:sp>
        <p:nvSpPr>
          <p:cNvPr id="39" name="값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26</a:t>
            </a:r>
          </a:p>
        </p:txBody>
      </p:sp>
      <p:sp>
        <p:nvSpPr>
          <p:cNvPr id="40" name="연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42" name="값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43" name="연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45" name="카드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생산원가</a:t>
            </a:r>
          </a:p>
        </p:txBody>
      </p:sp>
      <p:sp>
        <p:nvSpPr>
          <p:cNvPr id="47" name="값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</a:t>
            </a:r>
          </a:p>
        </p:txBody>
      </p:sp>
      <p:sp>
        <p:nvSpPr>
          <p:cNvPr id="48" name="연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0" name="값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182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3" name="카드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수수료율</a:t>
            </a:r>
          </a:p>
        </p:txBody>
      </p:sp>
      <p:sp>
        <p:nvSpPr>
          <p:cNvPr id="55" name="값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8%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8" name="값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12%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유지관리비</a:t>
            </a:r>
          </a:p>
        </p:txBody>
      </p:sp>
      <p:sp>
        <p:nvSpPr>
          <p:cNvPr id="63" name="값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601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6" name="값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647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앙갓</a:t>
            </a:r>
          </a:p>
        </p:txBody>
      </p:sp>
      <p:sp>
        <p:nvSpPr>
          <p:cNvPr id="71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139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4" name="값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207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파트린드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538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이익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133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배당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132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현금흐름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현금흐름 안정성 제고로 중장기 재무리스크 선제적 관리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자본 투자·장기 회수로 초기 투자 의사결정 및 자금조달·상환 관리 중요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총사업비 최적화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투자-현금흐름 연계 관리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차입 만기 조정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 강화를 위해 계획단계부터 사업비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조정심사 566억원 절감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조정 시 중장기 투자계획 연계 현금흐름 영향 분석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 사전 검토항목 제도화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투자~회수 장기간 소요 고려 수공채 장기물 발행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평균만기 3.8년(’24) → 6.9년(’25)</a:t>
            </a:r>
          </a:p>
        </p:txBody>
      </p:sp>
      <p:sp>
        <p:nvSpPr>
          <p:cNvPr id="23" name="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재무성과</a:t>
            </a:r>
          </a:p>
        </p:txBody>
      </p:sp>
      <p:sp>
        <p:nvSpPr>
          <p:cNvPr id="24" name="성과 띠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전사적 재무개선 노력을 통해 4개 핵심성과 全 재무지표 목표 초과 달성!</a:t>
            </a:r>
          </a:p>
        </p:txBody>
      </p:sp>
      <p:sp>
        <p:nvSpPr>
          <p:cNvPr id="26" name="카드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28" name="값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4.8</a:t>
            </a:r>
          </a:p>
        </p:txBody>
      </p:sp>
      <p:sp>
        <p:nvSpPr>
          <p:cNvPr id="29" name="연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31" name="값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4.9</a:t>
            </a:r>
          </a:p>
        </p:txBody>
      </p:sp>
      <p:sp>
        <p:nvSpPr>
          <p:cNvPr id="32" name="연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34" name="카드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36" name="값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1869</a:t>
            </a:r>
          </a:p>
        </p:txBody>
      </p:sp>
      <p:sp>
        <p:nvSpPr>
          <p:cNvPr id="37" name="연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39" name="값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2239</a:t>
            </a:r>
          </a:p>
        </p:txBody>
      </p:sp>
      <p:sp>
        <p:nvSpPr>
          <p:cNvPr id="40" name="연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42" name="카드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44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98.1%</a:t>
            </a:r>
          </a:p>
        </p:txBody>
      </p:sp>
      <p:sp>
        <p:nvSpPr>
          <p:cNvPr id="45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47" name="값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92.7%</a:t>
            </a:r>
          </a:p>
        </p:txBody>
      </p:sp>
      <p:sp>
        <p:nvSpPr>
          <p:cNvPr id="48" name="연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50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순차입금/EBITDA</a:t>
            </a:r>
          </a:p>
        </p:txBody>
      </p:sp>
      <p:sp>
        <p:nvSpPr>
          <p:cNvPr id="52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6.6</a:t>
            </a:r>
          </a:p>
        </p:txBody>
      </p:sp>
      <p:sp>
        <p:nvSpPr>
          <p:cNvPr id="53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55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5.8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전략목표·국정과제 실현을 위한 중장기(’25~’29년) 재무계획 수립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 연계 투자, 일정 수준 수익성 및 안정성 구현으로 공기업 책임 실현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기후위기를 극복하는 AI 물관리 세계1위 기업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 · O (강점·기회)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 · T (약점·위기)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강점 물관리 역량, AI 물관리 원천 기술 / AI정수장, DT 해외진출 등 글로벌 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기회 정책 투자 마중물 역할 수행 필요 / 첨단산단지원, 재생e, AI 투자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약점 시설 노후화로 투자 수요 증가 및 유지 부담 / 장기 요금동결로 광역(상)사업 손실 전환(’23년~)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 공공부문 재무건전성 확보 요구 / 국민부담 완화를 위한 공공요금 동결 기조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新성장 사업 투자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필수사업 수익성 개선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유지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‘미래성장 투자 확대’ + ‘투자재원 확보를 위한 수익성 강화’ 노력 병행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선도적 투자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자구노력 신규과제 반영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부채관리·재무건전성 유지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전략 연계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첨단산단, AI 등 우선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국정과제·전사전략 연계 5개년 17.7조원 투자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고정단가계약 등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低전력설비 등 원가절감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원가상승 압력 불구 연평균 영업이익 2,214억원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4대강 부채분담 의무이행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한도 내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재무관리계획 5년 全기간 순차입금/조정EBITDA 10 이하</a:t>
            </a:r>
          </a:p>
        </p:txBody>
      </p:sp>
      <p:sp>
        <p:nvSpPr>
          <p:cNvPr id="47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장 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매출액(조원): ’25년 4.8 → ’29년 6.3 (연평균증가율 6.9%)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영업이익(억원): 1,869 → 3,432 (16.4%)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순차입금/조정EBITDA: 6.6 → 8.1 (全기간 10이하 유지)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투자 순차적 매출 실현, 투자 확대로 인한 민간투자매출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디지털설비 도입 원가절감, 재생e 시장가比 높은 고정단가계약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총부채 증가에도 자구노력 관리 강화 * ’25년말 12.5조원 → ’29년말 18.0조원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이행점검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예산집행 점검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구분회계 월결산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중장기 위험 점검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기반 연도별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국정과제이행 TF 운영(’26~)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집행점검회의(’25년, 120회)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재무목표 대비 실적점검 * 중장기재무계획 ’25년 전망 기준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부진시 개선과제 이행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중장기 위험지표 설정 * 수도투자, 유가, 금리, 분양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 단위 점검·조치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 국정과제를 충실히 반영한 확장적 투자계획 수립·확정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반영체계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전략 활동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전략과제 확정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중장기재무관리계획 반영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전략기획단, 에너지 Reboot TF, 산업용수 활성화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제안·전략 반영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국정과제-전략과제 매칭: 39 에너지 / 44 반도체 / 72 노후관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· 산단물공급 · 시설안정화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전략과제별 투자액 부여: 태양광 0.8조원 / 산단물공급 1.0조원 / 시설안정화 3.7조원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반영과정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최초안 19.0조원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안정성 관점 보완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최종안 17.7조원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최우선 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사업 전년도 규모 유지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최종연도 부채비율(’28년 108.8%) 수준 조정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중심 투자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 고려 사업조정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반영결과</a:t>
            </a:r>
          </a:p>
        </p:txBody>
      </p:sp>
      <p:sp>
        <p:nvSpPr>
          <p:cNvPr id="34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계획(16.7조원) 대비 1.0조원 증가된 선택과 집중의 투자계획 수립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물공급·안전 등 9.3조원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2.0조원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수변·해외사업 6.4조원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활용 물관리, 첨단산단 물 공급, 노후 인프라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+0.2조원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댐수면 활용 수상태양광, 지역개발 신규조력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+1.3조원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기술수출 중심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연차별 투자계획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△0.5조원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전년도 대비 변동사항 반영 및 시나리오 분석을 통한 적정 재무목표 수립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변동사항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대비 거시환경 변화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’24년도 계획 대비 실적 차이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 하락 반영 발전판매단가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기준금리 인하 반영 발행금리 조정(0.25%p↓)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차입금 등 총부채 0.3조원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수변매출계획·실적차이 반영 조정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시나리오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“거시환경에 따라 재무영향이 큰 핵심 변동지표 도출 및 복합 시나리오 분석”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물가: 전력요금 인상 ➡ 수도생산원가 상승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전력비(원/kW) 낙관 동결 / 현실 동결 / 비관 10%↑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공공요금: 물요금 동결 지속 ➡ 물공급 매출 정체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수도요금(원/㎥) 낙관 10%↑ / 현실 동결 / 비관 동결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유가: 발전판매가 하락 ➡ 에너지 수익 감소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국제유가(’26년 $/배럴) 낙관 82 / 현실 64 / 비관 58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경기: 미분양, 연체 증가 ➡ 수변 수납 부진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분양수납액(5년) 낙관 10%↑ / 현실 사업계획 / 비관 10%↓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 출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낙관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현실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매출액(조원) ’25 4.8 → ’29 6.6 / 영업이익(억원) 1,869 → 5,824 / 순차입금/조정EBITDA 6.6 → 6.5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현실(재무목표) 4.8 → 6.3 / 1,869 → 3,432 / 6.6 → 8.1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비관 4.8 → 6.2 / 1,869 → 1,658 / 6.6 → 9.6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 등</a:t>
            </a:r>
          </a:p>
        </p:txBody>
      </p:sp>
      <p:sp>
        <p:nvSpPr>
          <p:cNvPr id="38" name="배너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‘고물가 등 악조건에서도 공기업 책임 실현 위한 확장적 투자·매출계획 수립’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계획대비 상향된 재무목표 수립: 매출액(연평균) 5.1조 → 5.6조원, 영업이익(연평균) 1,989 → 2,214억원, 투자금액(5년) 16.7 → 17.7조원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 적정성 증대, 전방위 활용: 성과관리 중장기재무관리계획 수립연도 재무목표 → 관리 목표로 활용 / 계획활용 관리·투자예산, 자금·자산계획 수립 및 요금 원가전망 등 활용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자구 노력 발굴 확대·중점 이행으로 중장기 재무 목표 실현 촉진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실효성 높은 개선 과제 중심 자구계획 수립 및 추가 개선방안 마련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사업조정에 집행예정액 이연과 자체 절감 구분, 이연 시 장기부채 관리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자구계획에 예정액 이연과 자체 절감 분리, 투자재원 확보 위한 추가 노력 필요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중장기(’25~’29) 재무관리계획 반영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수익성 추가 개선 노력 + α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매출증대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판매량 증대·고단가 판매 노력 0.2조원: 신규 재생e 고정단가계약(PPA) 체결로 시장거래比 초과 매출 증대 0.1조원↑ / 신규고객 발굴 등 수도매출 728억원↑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매출 확대 노력: 대수력 PPA 최초 체결(1개소), 확대 예정 / 수변 토지계획 변경(원가성 → 수익성)으로 미래 매출 1.3조원 증가(송산GC 등)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이익개선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생산원가·경상경비 저감 노력 0.1조원: 신규 고효율설비, AI 도입 물원가 △0.1조원 / 목표부여·점검 통한 경상경비 △497억원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원가보전 위한 수탁 대가 증액 노력: 현대화사업 수수료 추가 반영(’24~, 516억원↑) / 댐유지관리비 정부예산 46억원/연 증액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자산수익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SOC 투자비 회수 위한 판매 등 0.4조원: 아라뱃길 투자비 보전 위한 항만시설 관리권(666억원/연), 배후부지 분양 회수액 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투자 회수 노력: 분기별 재무분석, 국가위험 대응 강화로 파트린드 배당 실현(133억원), 지속 회수 기반 마련</a:t>
            </a:r>
          </a:p>
        </p:txBody>
      </p:sp>
      <p:sp>
        <p:nvSpPr>
          <p:cNvPr id="35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사업조정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조정심사 통한 사업비 감액 0.6조원: 신규 수변지구(송산) 총사업비 조정심사 감축 반영(요청 11.7조원 → 조정결과 11.1조원)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투자기간·금액 현실화: 수변사업 등 연차별 투자계획 조정(1.3조원) * 순차입금/조정EBITDA 한도 기준 부채관리 중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자구노력 1.3조원 당기 재무계획 반영, 전략과제 이행 투자 재원으로 활용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차기 중장기 재무계획 수익성·안정성 지표 개선으로 투자 확대 가능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어려운 대내·외 여건에도 강도 높은 자구노력으로 ’25년 목표 초과 달성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계획대비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실적차이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지표명 · ’25(목표)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과제 이행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’25(실적) · 차이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매출액(억원) 47,929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 1,869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 6.6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수익성 용지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강우량 활용 24시간 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관리비 예산 통제 통한 집행관리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49,152 (차이 1,223, 2.6%)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2,239 (차이 370, 19.8%)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5.8 (차이 △0.8, △12.1%)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계획-실적 차이 분석으로 차년도 중장기재무관리계획 피드백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차이 원인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피드백 사항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차기 재무계획 롤링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재무성과: 수변 매출확대 노력 등으로 1,412억원↑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재무상태: 솔로몬SPC 건설 집행·차입 지연 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필지 조기 인식 → 차기 매출 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댐개발 일부 공정 이연 * 계획-결산 부채 차이 527억원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매출 목표 및 관련 영업부채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공정지연 → 연결기준 차입금 감액 반영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성과관리 만족도조사의 대표성 제고 및 종합적 피드백 확보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등을 통해 직원 관심도 제고 및 제도 개선 직원 의견수렴 강화 ▶ p.94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응답률 및 만족도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응답률 27.4 → 33.8%(6.4%p↑)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만족도 80.1 → 81.3점(1.2점↑)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정량적 교육성과 측정 기반 경력개발 연계형 성과환류시스템 구축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역량과 수준 진단, 결과에 기반한 맞춤형 경력개발 교육과정 추천체계 마련 ▶ p.95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‘교육 경력개발’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89점 → ’25년 93점, 4점↑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정체된 인사·복지 만족도 개선방안 마련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공정성을 강화한 新승진제도(시험) 도입, 노사공동 전보제도 설계, 가족愛 행복캠프 실시 등 체감형 인사·복지제도 개선 ▶ p.99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역대최고 인사만족도(77.9점), 복지만족도(4.21점)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신뢰경영지수(인사·복지) 상승 * 승진 공정성 7점↑, 인프라 4점↑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 강점 기반, 국정목표 달성 리딩을 위한 조직 재정렬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구현(2030년 AI 물관리 세계 1위 기업)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 안전 최우선 경영 + AI First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국민·자연을 위한 기후안전망 강화 / 하이테크 기반의 물서비스 확대 / 재생에너지 확대 녹색도시 조성 / 물관리 해외수출 기후테크 육성 / 세계 최고 수준의 ESG 혁신경영 구현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【국정과제 중심의 전략체계 재정립을 토대로 조직진단 성과·분석 결과를 반영하여 조직 재설계】 】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조직진단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공동으로 건전한 토론과 협의를 통해 최적 조직개편방안 모색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 숲부서 방문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조직발전TF 운영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계획수립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방문 진단(87개)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AI·안전·에너지·건설 등 직무 전문가 인터뷰, 심층토론(7회)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설문(2회)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설명회(5회)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 조직·인력운용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조직개편(안)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주요의견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발굴·신속 대응(컨트롤타워 구축·역량 집중)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이행 전담조직 권한·역할·책임 명확화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이행·현장작동성 중심 효율적 인력배분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2" name="캡션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‘미래성장 리딩을 위한 전략적 대응’과 ‘실행 중심 민첩대응’의 양손잡이 조직 설계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드라이브</a:t>
            </a:r>
          </a:p>
        </p:txBody>
      </p:sp>
      <p:sp>
        <p:nvSpPr>
          <p:cNvPr id="56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핵심기능 실행력 확보</a:t>
            </a:r>
          </a:p>
        </p:txBody>
      </p:sp>
      <p:sp>
        <p:nvSpPr>
          <p:cNvPr id="57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인력 운영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총괄 컨트롤타워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조직 대폭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물수요 적기 대응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실행체계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R&amp;R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 연계형 전담조직 운영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끊임없는 인력제도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인력자원 배분관리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기반 조직관리 정착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65" name="배너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조직·인력 운영방향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단기(’25~’27) ~’27 6,596명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중기(’28~’30) ~’30 6,747명</a:t>
            </a:r>
          </a:p>
        </p:txBody>
      </p:sp>
      <p:sp>
        <p:nvSpPr>
          <p:cNvPr id="68" name="단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장기(’30~’33) ~’33 6,850명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초순수·첨단용수 지원기반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시장진출 기반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거점 건설전담조직 집중 / 효율화 수도 AX, DX전환 돌입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등 업무역량 결집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민관협력 글로벌시장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반도체용수 2단계 착공 / 효율화 AI 완전 자율화 3단계 달성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유역단위 시설 운영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글로벌사업 안착, 新사업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新사업분야 발굴, 운영 / 효율화 기존사업 통합 운영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3대 전사 TF 기반 과감한 조직 정비를 통한 미래 준비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 영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AX와 녹색전환을 핵심 성장동력으로 설정, 3대 미래분야 전사TF를 선제 운영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전략기획단(6월~) / AI+Water 글로벌 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AI 물관리 글로벌 1위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Re:boot TF(3월~) / 국가 탄소중립과 기업 RE100 달성 기여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재생e 10GW 개발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활성화 TF(3월~) / 맞춤형 첨단용수 공급망 AtoZ 스피드업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일 87만㎥ 선제 공급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미래성장분야 2030 목표 달성 이행을 위해 실행조직 신속 정비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2020년부터 선도적으로 준비한 ‘AI 물관리 성과’ 본격 확산체계 마련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FIRST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4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도약(AX 통한 新산업 창출) ➡ 전략 AI+Water 분야 선점(물순환 全과정 AX 본격화)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 실행조직 신설·강화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유기적 AI 조직체계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AI 본부 신설, 3처 7부(部)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1단계/기반구축 디지털전환추진단 → 2단계/성과확산 AI 추진단 → 3단계/핵심화 AI 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AI혁신처 기획·정책지원 / 디지털관리처 정보시스템 관리 / AI데이터센터 데이터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연구 AI연구센터(’21~)를 연구소(부서)로 격상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총괄(본부) - 연구 - 도메인(현장) 협업체계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총괄, 전사 전략화: AI 본부 ↔ AI 연구소(핵심기술 R&amp;D, 기술현안 검증)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보유기술 확산·사업화 ↔ 도메인조직(사업부문, 현장부서) ↔ 현장작동성·이슈 도출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공공부문(환경분야) AX 선도기관 지정(10월) 및 AI정수장 국제인증 등 AI 대전환 가속화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사각지대 없는 인력배분으로 정책·전략 실행기반 강화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부단한 인력운영제도 혁신으로 한정된 자원의 최적 활용 도모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용수공급, 초순수 및 AI·DT 등 물공급 안전망 확보 중심의 인력배분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 혁신방안 활용, 국정과제, 경영전략 변경 중심으로 인력자원 재배분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정책·전략 이행에 방점을 둔 안정적 인력 확보 및 최적 자원 배분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재배분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인력운영제도 중심 재배치 자원 145명 확보 (’24년 123명 대비 118%)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 한시정원 +21명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직렬정원탄력 +55명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가변통합정원 +40명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 효율화 +29명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기한설정 정원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00댐건설(’15~’25) 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직무수요 변화 기반 정원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탄력적 직렬 조정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3~5급 가변정원 확대 1.0 → 1.5%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현안 시 수시 재배치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현장건설기능 통합 감독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동부 △7(43→36) / 금강 남부 △9(35→26) / 낙동강 북/남부 △13(54→41)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정책이행(28명): 자연성회복 추진(17명) * 취·양수장 시설개선 / 재생e 보급 확대(11명) * 녹색전환, RE100 달성기여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전략실행(60명): AI 전환동력 확보(13명) / 안전수행인력 보강(13명) / 반도체 용수 공급(34명) * 용인·고덕산단 전담조직 신설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현안대응(57명): 건설사업인력 최대 확보(37명) * 최적사업추진 동력 마련 / 노무관리, 정보보안 등(20명) * 현안대응 및 현장 실행력 보강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 인력운영제도 혁신을 통한 역대 최대 재배치 달성으로 인력 소요 대응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내부혁신 성과를 인정받아 AI물관리, 첨단용수공급 등 정책드라이브 정부증원 39명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해가 갈수록 쌓이는 조직업무시스템 데이터와 신뢰도, 이제는 경영에 필수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全과정을 표준화하여 활용하는 K-water만의 혁신 시스템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분석(사업·조직유형별 투입인력)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조직개편 수요조사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검토·환류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조직개편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분석(489개 직위, 268개 직무)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직무분류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직무기술서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직무평가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조직시스템 구축·확산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직무중심 경영관리 정착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조직관리 AI 도입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표준화·시스템화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경영(조직·인사·교육) 분야 연계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DX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경영전반 직무활용 제도화·확산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기반 의사결정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직무평가·재분류 등</a:t>
            </a:r>
          </a:p>
        </p:txBody>
      </p:sp>
      <p:sp>
        <p:nvSpPr>
          <p:cNvPr id="53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분장업무(조직, 개인) 통합관리체계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분장업무 데이터 개별 관리(조직수기, 개인-시스템)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조직~개인 분장업무 전면 DB화, 자동맵핑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DB화 → 하부기구 모듈화 → 개인업무분장</a:t>
            </a:r>
          </a:p>
        </p:txBody>
      </p:sp>
      <p:sp>
        <p:nvSpPr>
          <p:cNvPr id="57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중복·누락된 분장업무 실시간 모니터링으로 조직-직무 간 정합성 확보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활용, 직무 중심 경영활동 본격 가동</a:t>
            </a:r>
          </a:p>
        </p:txBody>
      </p:sp>
      <p:sp>
        <p:nvSpPr>
          <p:cNvPr id="60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조직운영안 마련</a:t>
            </a:r>
          </a:p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기반 인사관리</a:t>
            </a:r>
          </a:p>
        </p:txBody>
      </p:sp>
      <p:sp>
        <p:nvSpPr>
          <p:cNvPr id="62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연계 교육운영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기반 정원조정 시뮬레이션 및 조직설계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기반 배치·승진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단위 채용 확대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교육모델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교육·성장경로 추천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 및 능력·직무 중심 체계적 성과평가시스템 구축·운영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지표설정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 연계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▶ 과제 ▶ KPI ▶ 성과지표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안전경영 강화, AI 강국 도약 등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청렴도·장애인 고용률 등 상향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조직평가 BSC 성과관리: 평가단위 부서평가 + 部평가 / 지표구성 전략과 연계한 BSC 관점 지표체계 운영(성격 공통 25 + 고유과제 75 · 유형 계량 50 + 비계량 50) / 평가방법 계량 달성도 평가(70) + 난이도 평가(30), 비계량 부문·본부평가(70) + 별도평가(30)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개인평가 MBO 성과관리 + 직무역량평가: 본부장·부서장 경영계약 본부 경영 및 부서 성과 책임 / 부장·직원 MBO 部 목표 및 과제실행 책임 / 직무역량평가(개선) 全직무 평가지표 정의, 지표별 ‘5단계 행동척도’ 제시 ➡ 평가자별 편차 완화로 정확한 직무역량평가 가능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K-Best 성과관리 ▶ 매월 CEO 경영진회의 + 분기 성과관리회의 + 반기 전사경영회의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 차등·인사 반영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평가제도 개선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성과확산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본사·현장 설명회(1~2월, 5회): 평가제도 설명 및 직원니즈 청취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공동 TF(10~11월): 개선사항 발굴 및 제도 반영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설문조사(12월): 평가제도 수용성 및 만족도 등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 및 정부정책 방향을 감안한 전략적 지표 개선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기존지표 보완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 개선 필요 지표 신속 분석·개선하여, 성과 창출 유인체계 보완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 렴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 여건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 청렴 노력에도 불구 ’24년 종합청렴도 3등급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특히, 토지보상 업무 외부체감도 점수 향상 시급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청렴의식 확산을 위해 ‘청렴 프로모터(신설)’ 활동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수자원·수도 토지보상 주관부서를 청렴도 핵심부서에 추가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 외부체감도 13.3점↑(79.1→92.4점)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일가정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립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제도 운영에도, 눈치 보이는 조직문화 잔존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문화 적극 참여 부서에 인센티브 부여로 일·가정양립 유도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최고(91점) 달성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장애인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일자리 확대 정책 발맞추어 의무고용률(3.8%) 달성 독려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장애인 고용률 실적 3.48%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장애인 고용 TF 결과를 반영, 사실상 획득이 어려운 現 가점기준 현실화, 全부서 동참 여건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최소기준: (기존) 3.8% → (개선) 0.95%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장애인 고용률 3.8% 달성(법정의무고용률 준수)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전년比 0.32%p 상승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新정부정책 안전강화 등 주요 정책의 발빠른 이행을 위한 ’26년 지표 개선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안전 최우선 일터, AI 강국 도약을 국정과제로 설정, 공공기관 책임·역할 강조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‘안전경영’, ‘AI 전환’을 특화전략으로 반영, 실행력 제고 위한 ’26년 지표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全부서 안전경영 성과책임 부여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활용 성과창출을 위한 가점지표 개선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시설관리와 공사를 실제 수행하는 현장부서만 ‘안전관리노력도’ 평가지표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안전조직·인력·예산 등 지원 강화를 위해 본사까지 포함한 全부서 안전 성과지표 부여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정부 주관 ‘혁신’ 분야 및 ‘국민협업’ 공모 참여 및 수상성과에 가점지표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기존 혁신뿐만 아니라 AI 혁신과제 수상실적까지 대상에 추가하여 AI 전환 유도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소통 기반의 투명한 성과평가 운영으로 수용도 제고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평가 실무자 및 경영진 중심의 개선사항 발굴 및 제도개선 시행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노사공동 TF를 통해 개선사항 발굴부터 제도개선 적정성까지 직원 의견 적극 수렴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정책·전략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주요업무 평가 가중치 확대: 新정부는 공공기관이 본연의 역할을 제대로 수행할 수 있도록 책임성 강화 요구 / 개선 주요업무 평가지표(고유지표) 배점확대 * (기존) 55점 → (개선) 65점으로 10점 확대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연계지표 난이도 정량점수 상향: 전략연계 지표와 자체지표 간 난이도 정량점수가 같아 자체지표 설정 선호 / 개선 전략지표와 자체지표 난이도 점수 차등 * (전략) 43점 부여 (자체) 최고 42점~최저 33점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수용성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난이도 산정 시스템 제공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결과공개 시점 명확화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성과향상 지원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복잡한 산식으로 피평가부서 확인 및 검증에 애로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자동산정·예측시스템 도입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7~8월 결과 공개하나, 구체적 시점은 유동적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8월 첫째주로 명문화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2년 연속 부진부서(D등급) 대상 성과향상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당해 부진부서까지 확대</a:t>
            </a:r>
          </a:p>
        </p:txBody>
      </p:sp>
      <p:sp>
        <p:nvSpPr>
          <p:cNvPr id="36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 직원 관심 제고로 설문조사 응답률 및 만족·수용도 향상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응답률 33.8%(6.4%p↑), 만족도 81.3(1.2↑), 수용도 80.1(0.9↑) / ’24년 27.4%, 80.1, 79.2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성과관리와 보수 및 인사관리 간 전략적 연계 및 활용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포상연계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기준급·성과급 차등 적용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공감·수용성 높은 포상 제도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부서 및 개인 성과평가 기반, 성과급 5(+1)등급 차등 적용(최대 2배) * 중징계자·주요 비위행위자 성과급 미지급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기준급 직무역량 등 개인평가 결과 활용, 기준급 인상률 5단계 차등 적용(최대 2%)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우수부서 당해연도 성과달성 우수부서 및 성과향상 우수부서 포상금 지급 * (달성) S등급 부서 / (우수) 3등급 이상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유공직원 해당 부서 우수성과 창출 직원 및 위임지표 우수 직원 대상 사장표창 수여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 계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기반 승진 문화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적소적재 인력 배치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 인재 육성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 중심 승진자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연계 승진제도 운영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직무역량·성과 중심 주요 보직 직무 공모제 확대 적용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우수자 교육파견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후 관련 직무 우선 배치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능력 중심의 인사를 기반으로 일 잘하는 공직사회 구현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HRD 트렌드 첨단분야(AI, 디지털 등) 우수 인재 확보 및 전략적 육성에 사활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개인의 경력개발과 연계할 수 있는 성과환류 시스템 구축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역량강화·성장경로 비전 제시, 역량 기반의 공정한 인사 * 직원설문FGI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직무를 기반으로 ‘교육 – 역량 – 성과 – 보상’의 체계적인 선순환을 통한 조직 경쟁력 제고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직무·역량 연계 강화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 물 전문가 양성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중시 문화 조성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맞춤형 역량개발 모델 기반의 인재육성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미래기술 역량 내재화를 위한 성장 로드맵 수립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직무·역량·성과 기반의 인사체계 고도화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직무·역량 중심 경력개발 및 미래성장 전문 인재양성 HRD 체계 마련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직원의 직무역량 향상을 위한 체계적 경력개발 시스템 구축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모델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全직원의 직무 단위별 역량진단 모델 개발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세분화 全직무 분석으로 조직 성과 달성을 위한 핵심역량 추출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직무별 특성을 고려한 전문역량(490개), 다수 직무에서 요구되는 공통역량(22개) 정의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역량별 수준 Level 1(기초)~5(전문가) 설정, 객관적 측정을 위한 행동지표(BARS) 설정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직무: 수자원 운영관리 / 직무전문역량 수해대응 물관리(Lv1~5), 댐·보연계운영(Lv1~5) + 직무공통역량 위기대응(Lv1~5), 시설·설비관리(Lv1~5)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물관리역량 Lv3 행동지표 ‘댐방류로 인한 하류영향을 분석하고 위기대응업무를 수행한다’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교육·코칭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개인별 직무역량 진단 활용 맞춤형 교육·코칭 제시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개인별 직무역량 진단 결과 ➡ 직무 역량 수준을 고려한 교육과정 추천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 수해대응 물관리 역량 / 진단결과 Lv.2 / 추천 교육과정 수문기상과 유역물관리, 분석모델링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 역량별 상세 분석 결과 ➡ 필요역량 향상 ‘Action Plan’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역량명·등급 위기대응(Lv.2) / 역량 개발 지휘통제능력 향상 / Action Plan “표준지휘체계를 배워서 지휘통제 능력을 키워보세요”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성장경로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내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직무별 전문가 성장 로드맵 제공 예시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1단계 건설운영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2단계 품질안전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재난대응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4단계 통합운영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수자원시설 유지관리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수자원건설 품질관리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댐·보 연계운영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HRD체계 구축·인력자원 활용 확대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강점 역량·레벨별 인원 등 조직역량 분석 데이터 활용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교육관리로 자발적 몰입 향상 제고 / 직무·직군 정보 + 직무역량 DB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‘교육·경력개발’ 신뢰경영지수(84 → 89 → 93점 ’25년), 교육만족도(95 → 96.1 → 96.3점 ’25년) 지속 상승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AI·데이터 기반 물 관리 인재 양성으로 글로벌 경쟁력을 갖춘 인재 확보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기초 AI 리터러시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중급 AI 활용역량 강화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고급 전문역량 확산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AI-이해 직군별 특성을 고려, 실습 중심 생성형 AI 교육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전사 조직진단·FGI로 맞춤형 과정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기초역량 프롬프트 엔지니어링 + 직군별 스킬 도메인 데이터 활용 / 생성형 AI 실습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전통적 전문성 수자원·수도 분야 특화 AI 교육 개설·운영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 홍수모델, 스마트 AI 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융합 전문가 직무 – 디지털 융합전문가 과정 운영(6개 과정)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기후대응 수자원, 스마트관망관리 등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과정 대학 특화과정(기후테크) 신설 및 에너지·AI 과정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충남대 기후테크, KDI 기후에너지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생태계 전문기관 협업 AI 과정 신설(4개 과정), 공무원·물기업 재직자 AI 전문인재 양성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물 디지털·AI 전환 선도 기술 국내·외 교류 파트너십(AI협회, 세계은행 등) 구축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기후테크 등 전문과정 확대(5 → 11명), 물관리 분야 AI 전문인력(공무원·물 재직자) 102명 신규양성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직무·성과 기반 전문성과 공정성이 축적되는 인사문화 내재화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내부성장(CDP): 개인 보유역량–희망직무 요구역량 분석·피드백 / AI 활용 맞춤 솔루션 제공 – 장단점, 성장경로가이드 등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중심 인사관리: 평가 全직무 평가지표 정립 / 배치 직무·역량중심 배치 / 승진 성과·능력 기반 승진 / 성과 低성과 맞춤형 지원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외부개방(Open): 개방형 직위제 운영(5개) * 건강관리, 정책, 도시, 미디어 등 / 전문기관 인사교류 활성(38명) * OECD, 유네스코, 환경공단 등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수평적 이동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전보시스템 고도화: 관리자 직위정보 ↔ 직무역량 DB 연동, 직위별 ‘최적임 후보’ Pool 추천(1~3순위) / 직위 정보 · 관리자 역량 · 적임자 제시 / 추천–보임 정확도 1.3%p(73.5 → 74.8%) 향상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 주도적 성장 경로 확대: 전문직무 직무평가단(SME) 결과 기반 선정(42개) / 직무공모 전문직무(태양광·진단) 공모 확대(13 → 22개), 참여자 설문조사 만족 100%, 재참여 희망 95.4% / 복수보임 전문성 고려 직위·직급 분리 운영(11개)</a:t>
            </a:r>
          </a:p>
        </p:txBody>
      </p:sp>
      <p:sp>
        <p:nvSpPr>
          <p:cNvPr id="26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수직적 이동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성과능력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승 진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초급관리자 직무역량 중심 승진 패러다임 정립: 승진시험 직무지식, 문제해결능력 심층 검증 / 시험평가(55) 직무심화(객관식) 20 + 문제해결능력(서술) 35 · 종합역량평가(45) 근무평가 20 + 근속평가 15 + 다면평가 10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대비 1~2년 조기 승진(26명, 20%)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특별승진 검증체계 강화를 통한 제도 내실화: 기존 담당부서 중심의 제한적 서면 검증 / 개선 全직원 설문, 공적평가 신설(K-water 人), 외부전문가 평가 확대(15 → 20%, 혁신챌린지) ➡ 공정하고 투명한 성과 검증으로 특별승진(5명), 수용성 제고·성과 창출 동기부여</a:t>
            </a:r>
          </a:p>
        </p:txBody>
      </p:sp>
      <p:sp>
        <p:nvSpPr>
          <p:cNvPr id="32" name="레일 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低성과자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사전 진단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 맞춤형 학습 지원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현업 적응 기회 제공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역량진단·성향검사·면담으로 성과부진 원인 분석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 맞춤형 학습과정 운영(독서+온라인+집합)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현업근무 평가시 희망부서 배치로 동기부여 강화</a:t>
            </a:r>
          </a:p>
        </p:txBody>
      </p:sp>
      <p:sp>
        <p:nvSpPr>
          <p:cNvPr id="43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低성과자 교육 전·후 근무평가 20.9점 대폭 상향(61.8 → 82.7점)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 평가 인사부문 16.8점 비약적 상승(73.1 → 89.9점, 역대 최고 득점)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 전문성과 노하우를 활용한 임금피크제 운영 내실화</a:t>
            </a:r>
          </a:p>
        </p:txBody>
      </p:sp>
      <p:graphicFrame>
        <p:nvGraphicFramePr>
          <p:cNvPr id="12" name="실적표"/>
          <p:cNvGraphicFramePr>
            <a:graphicFrameLocks noGrp="1"/>
          </p:cNvGraphicFramePr>
          <p:nvPr/>
        </p:nvGraphicFramePr>
        <p:xfrm>
          <a:off x="536870" y="1161391"/>
          <a:ext cx="6300001" cy="723131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유형 · 기간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연차별 임금감소 비율 · 누적 절감률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 이상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정년연장형 3.5년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6개월 5% → 1년차 10% → 2년차 20% → 3년차 30% (누적 65%)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3급 이하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정년연장형 2.0년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1년차 20% → 2년차 30% (누적 50%)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실적표"/>
          <p:cNvGraphicFramePr>
            <a:graphicFrameLocks noGrp="1"/>
          </p:cNvGraphicFramePr>
          <p:nvPr/>
        </p:nvGraphicFramePr>
        <p:xfrm>
          <a:off x="536870" y="1972174"/>
          <a:ext cx="6300001" cy="476609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임금피크 인원 · 충당률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절감재원 · 신규채용보수(백만원)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’25년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422명 · 105%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6,192 · 5,876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핵심성과 라벨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6" name="핵심성과 문구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권고안 준수 총인건비 內 신규 채용 목표 100% 초과 달성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맞춤형 직무개발과 직무 중심 관리체계 강화로 ‘일’ 하고 싶은 동기 부여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9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희망하고 필요한 직무 찾기 / 직무 IN &amp; OUT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수요조사(’25.11)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적합성 분석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 IN &amp; OUT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부서의견 “인원이 부족한 분야에 업무를 지원해 주었으면 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“재취업에 도움이 되고 업무 경험을 활용 할 수 있는 일을 하고 싶어요”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직무적합성분석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직무중복여부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필요성·기여도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활용도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신설(3개) AI, 수자원 운영, 대외협력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폐지(2개) 연구 지원, 하수도 운영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직무 수준 체계화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자율적 직무 지원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인사·급여 연계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직무난이도·필요역량 고려, 직무등급(A~D등급) 설정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직무공모 본인 희망직무 지원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직무공모 배치기준 ❶ 파견·현업 직위 수행자 ❷ 지원순위 先 순위자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직무등급별 직무급 차등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인사관리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 근무 평점 85점 이하시 직무 변경 / 보수 직무급 차등 4등급 차등 적용(21,132천원~9,372천원/연)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숙련된 전문성 활용과 맞춤형 미래 준비를 통한 직무몰입도 향상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지원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추가 활용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 감사·안전·대외협력: 예방감사관(5명) 사전컨설팅·적극행정 면책 / 안전패트롤(16명) 사고 취약분야 점검 / 대외협력관(3명) 물기술·거버넌스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글로벌·R&amp;D: 전문역량·숙련경험 중심 분야 추가 활용 / 해외사업 PM 국제협력 업무 자문 / 연구 지원관 미래기술 개발·연구수행 코칭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분석-직무 정교화 연계 기업매칭 강화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세분화 매칭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역대 최대 참여 달성(79명)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셰르파 만족도 분석(’24) 기업(22社) · 직원(36명)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만족도 분석 결과: 기업 조직·경영관리 경험자 조언 필요 / 직원 직무설계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경영·사업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진단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공공부문 참여 1위 33명 → 55명 → 73명 → 79명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임금피크 직원 설문조사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맞춤형 교육과정 확대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환류체계 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재취업 지원제도 실효성 점검·의견수렴(’25년 상반기)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공통의견 취업에 도움되는 교육과정 운영 필요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미래설계 맞춤형 교육과정 도입으로 재취업 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교육과정 재취업·창업·재무설계, 디지털역량 등 11개 과정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개선으로 직원 만족도 98.6점 달성(전년比 1.2점↑)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퇴직자 재취업 실효성 평가 상·하반기 확대 운영(’26년)</a:t>
            </a:r>
          </a:p>
        </p:txBody>
      </p:sp>
      <p:sp>
        <p:nvSpPr>
          <p:cNvPr id="39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임금피크제 절감 재원(422명, 61.9억원)을 활용하여 청년일자리(146명, 58.8억원) 창출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육아 걱정 없이·유연하게 일하는 방식 혁신으로 행복한 일터 조성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점검하고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노사공동 가족친화경영 TF 운영: 인사·복지·휴가·문화 등 대규모 개선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아쉬운 점 가족친화제도 안정적 정착 및 구성원 인식변화 유도·조직문화 확산 필요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 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평가위원 “제도 활용에 대한 인식개선 캠페인 등 문화적 수용성 강화 병행 필요”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“가족친화제도를 부담없이 사용하고 꼭 필요한 일만 하는 건강한 조직”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‘공공부문 최고 수준’ 가족친화 근무제도 정착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가족친화문화 확산과 근무만족도 제고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‘일하는 방식’ 개선 효율적인 근무문화 구축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제도 본격 도입 및 구성원 수용성 강화로 일·가정 양립 실현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全주기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14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임신·출산부터 복직, 복직 후 양육까지 全주기를 아우르는 가족친화제도 완성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임신·출산 One-Stop 육아휴직 시스템: 임신 중 육아휴직 + 출산휴가 육아휴직 통합시스템 구축 ➡ 직원 편의성 향상, 부담 경감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양육 일·가정 모두의 안정 달성: 격주 4일제, 육아기 재택근무 등 육아집중형 新근무제도 최초 도입 / 육아시간 사무외출 사용 활성화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경력단절 걱정없는 동등한 기회: 육아 휴직기간 100% 근속기간 인정 / 육아휴직자 승진대상자 최초포함 ➡ 육아휴직 중 초급관리자 최초 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복직 본인 의사를 보장하는 제도: 분기별 육아휴직 복직 신청제도 실시 / 복직 희망일에 100% 희망부서 배치 / 직장어린이집 야간보육 정식 도입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인식개선 변화유도·수용성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양성평등주간 남성 육아휴직 인식 제고 캠페인 개최(’25.9)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 대상 조직문화 교육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함께 만드는 가족친화문화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숏폼 공모전·사보 기획기사로 활용사례 공유·직원참여 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우수부서 내부평가 반영</a:t>
            </a:r>
          </a:p>
        </p:txBody>
      </p:sp>
      <p:sp>
        <p:nvSpPr>
          <p:cNvPr id="24" name="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성과 띠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가족친화제도 완벽 정착으로 일·가정 양립 선도기관 인증(가족친화기업 ’09~’25년)</a:t>
            </a:r>
          </a:p>
        </p:txBody>
      </p:sp>
      <p:sp>
        <p:nvSpPr>
          <p:cNvPr id="27" name="카드 문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 사용자수</a:t>
            </a:r>
          </a:p>
        </p:txBody>
      </p:sp>
      <p:sp>
        <p:nvSpPr>
          <p:cNvPr id="29" name="값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243</a:t>
            </a:r>
          </a:p>
        </p:txBody>
      </p:sp>
      <p:sp>
        <p:nvSpPr>
          <p:cNvPr id="30" name="연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32" name="값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275</a:t>
            </a:r>
          </a:p>
        </p:txBody>
      </p:sp>
      <p:sp>
        <p:nvSpPr>
          <p:cNvPr id="33" name="연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35" name="카드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배우자 출산휴가</a:t>
            </a:r>
          </a:p>
        </p:txBody>
      </p:sp>
      <p:sp>
        <p:nvSpPr>
          <p:cNvPr id="37" name="값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146</a:t>
            </a:r>
          </a:p>
        </p:txBody>
      </p:sp>
      <p:sp>
        <p:nvSpPr>
          <p:cNvPr id="38" name="연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40" name="값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210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3" name="카드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근무시간 단축제</a:t>
            </a:r>
          </a:p>
        </p:txBody>
      </p:sp>
      <p:sp>
        <p:nvSpPr>
          <p:cNvPr id="45" name="값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63</a:t>
            </a:r>
          </a:p>
        </p:txBody>
      </p:sp>
      <p:sp>
        <p:nvSpPr>
          <p:cNvPr id="46" name="연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48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102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1" name="카드 문구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 유연근무제</a:t>
            </a:r>
          </a:p>
        </p:txBody>
      </p:sp>
      <p:sp>
        <p:nvSpPr>
          <p:cNvPr id="53" name="값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육아기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284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격주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소통·공감 기반의 인사·복지제도 개선을 통한 만족도 향상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 기반의 새로운 승진제도 정립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참여·소통 기반의 高체감 인사혁신 지속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공정성을 강화한 新 승진제도: 신규 역량 중심 승진시험 최초 시행 * 근무성적·시험점수·다면평가 등 반영 / 효과 기존 승진 흐름 대비 1~2년 조기 승진자 배출(26명)로 조직 활력 제고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직원이 설계하는 K-water型 전보제도: 노사공동 TF(66명, 총 21회 회의) → 全 직원 의견수렴(설문조사 2회, 현장설명회 22회) → 평등한 제도 본부·현장 고려 촘촘한 제도설계, 직원 수용성 제고</a:t>
            </a:r>
          </a:p>
        </p:txBody>
      </p:sp>
      <p:sp>
        <p:nvSpPr>
          <p:cNvPr id="16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가족愛 행복캠프 가족 구성원간 유대 강화·이해와 공감 중심 소통의 場 마련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부모님 가족 마음 연결: 예술 감상 음악 치유 기성세대 부모·자녀직원 가족 이해증진·유대감 강화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부부 공감 소통: 부부 소통특강 심리진단 기반 부부간 대화법·소통 기술 학습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자녀 가족 유대 강화: 실내 올림픽 부모·자녀 간 애착 형성, 긍정적 가족 정서 경험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캠프참여자(478명) 대상 만족도 조사 96.1점 달성</a:t>
            </a:r>
          </a:p>
        </p:txBody>
      </p:sp>
      <p:sp>
        <p:nvSpPr>
          <p:cNvPr id="24" name="레일 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5" name="레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모·자회사 공동 협의회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예산·인력 지원 확대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복지·예산 등 근무환경 개선사항 논의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복지(중식·이전비)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안전인력(10명)·예산(0.9억원)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 실태평가 최고점수(A등급) 달성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체감형 인사·복지제도 개선으로 역대 최고 인사만족도(77.9점), 복지만족도(4.21점) 달성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‘근무 환경’ &amp; ‘일하는 방식’ 개선으로 행복하고 효율적인 일터 조성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근무환경</a:t>
            </a:r>
          </a:p>
        </p:txBody>
      </p:sp>
      <p:sp>
        <p:nvSpPr>
          <p:cNvPr id="14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조직활력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코칭 + 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융화 +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조기 적응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조직문화 개선 코칭: 상향식 소통의 부서 코칭 확대(12 → 26개) 운영 / 부서선정 · 심층진단 · 맞춤코칭 · 확산활동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신뢰경영지수 평균 11점 상승(77 → 88점)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계층별 조직적응 지원: 저연차 → 취약계층 확대 / 맞춤형 모듈 기획·운영 / 전문직·실무직·고참 차장 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참여자 만족도 97.4점(전년比 1.9점↑) 달성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적응 교육: 업무 조기 적응향상을 위해 온라인 학습 지원 / 이러닝 · 온보딩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니즈를 반영 교육 콘텐츠 32개 추가 반영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‘맞춤형 프로그램’을 통한 다양한 계층 튜아보기로 ‘일하고 싶은 문화’ 조성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일하는 방식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자유롭고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유연하게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일하기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자유로운 일방식 구현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일과 쉼의 조화 ‘워터케이션’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집중근무·디지털 오피스 근무여건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탄력적 근무제도 도입(15분 단위 휴가사용)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근무시간 총량제 → 스마트 업무환경 → 근무시간 유연화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일과 쉼의 조화 ‘워터케이션’: 동료型 이색장소 연계 새로운 인사이트 모색 / 가족型 집중근무 후 가족 여가·체험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동료 업무 몰입도↑ 가족 일·가정 양립 만족도↑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직원만족 신뢰경영지수 역대 최고점수 91점 달성(응답률 역대최다 53.6%, 전년比 4점↑)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‘아시아에서 가장 일하기 좋은 200대 기업’ 포함(대기업 부문 22위, GPTW, ’25.9)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160</a:t>
            </a:r>
          </a:p>
        </p:txBody>
      </p:sp>
      <p:sp>
        <p:nvSpPr>
          <p:cNvPr id="4" name="주석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가중치 2.5점  ·  평가방법 9등급 평가</a:t>
            </a:r>
          </a:p>
        </p:txBody>
      </p:sp>
      <p:sp>
        <p:nvSpPr>
          <p:cNvPr id="7" name="장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노사관계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지표정의</a:t>
            </a:r>
          </a:p>
        </p:txBody>
      </p:sp>
      <p:sp>
        <p:nvSpPr>
          <p:cNvPr id="11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노사관계를 위한 노력과 성과를 평가한다.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14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노사 간 협력체계 구축과 실질적 운영 등이 상호 협력과 참여에 기반하여 합리적이고 적법하게 이루어지고 있는지 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노사 간의 공감대 형성을 위한 의사소통과 노사관계 관리 역량 강화를 위한 노력과 성과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노사협력을 통한 근로조건의 실질적 향상과 구체적 성과</a:t>
            </a:r>
          </a:p>
        </p:txBody>
      </p:sp>
      <p:graphicFrame>
        <p:nvGraphicFramePr>
          <p:cNvPr id="15" name="실적표"/>
          <p:cNvGraphicFramePr>
            <a:graphicFrameLocks noGrp="1"/>
          </p:cNvGraphicFramePr>
          <p:nvPr/>
        </p:nvGraphicFramePr>
        <p:xfrm>
          <a:off x="723130" y="2662591"/>
          <a:ext cx="6300001" cy="96965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직위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성명 · 연락처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E-mail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경영부문장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남영현 · 042-629-2203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nyh@kwater.or.kr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노사협력처장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박혜원 · 042-629-2650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hyewon@kwater.or.kr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노사협력부장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이석원 · 042-629-2651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leesw@kwater.or.kr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장 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Contents</a:t>
            </a:r>
          </a:p>
        </p:txBody>
      </p:sp>
      <p:graphicFrame>
        <p:nvGraphicFramePr>
          <p:cNvPr id="11" name="실적표"/>
          <p:cNvGraphicFramePr>
            <a:graphicFrameLocks noGrp="1"/>
          </p:cNvGraphicFramePr>
          <p:nvPr/>
        </p:nvGraphicFramePr>
        <p:xfrm>
          <a:off x="536870" y="1276435"/>
          <a:ext cx="6300001" cy="2695307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장 · 평가내용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항목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Ⅰ. 2024년 지적사항 조치실적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Ⅱ. 2025년 주요 추진실적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Ⅲ. 2025년 세부평가내용별 추진실적 및 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평가내용 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 新노동 패러다임에 신속한 대응, 노사 全분야 펀더멘탈 확립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2. 법과 원칙에 따른 노사기준 재정비 및 참여형 디지털 노무광장 오픈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 분쟁 발생 이전에 작동하는 선제적 노사갈등 관리체계 도입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평가내용 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 한층 더 다가가는 노사리더, 직원 목소리로 다듬는 노동이사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2. 노사전략과 환경변화를 연결하는 계층별 노무역량강화 모델 최적화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평가내용 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 직원 숙원을 해소하고, 더 나은 일터를 설계하는 노사 파트너십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106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2. 가족과 안전은 지속가능한 근로조건의 근간, 노사가 함께 지속 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107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新노동 패러다임에 신속한 대응, 노사 全분야 펀더멘탈 확립</a:t>
            </a:r>
          </a:p>
        </p:txBody>
      </p:sp>
      <p:sp>
        <p:nvSpPr>
          <p:cNvPr id="11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</a:t>
            </a:r>
          </a:p>
        </p:txBody>
      </p:sp>
      <p:sp>
        <p:nvSpPr>
          <p:cNvPr id="12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93 차별과 배제 없는 일터 · 94 노동존중, 노동기본권 보장 · 95 행복한 일터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노동존중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노동안전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일·생활 균형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개정, 노동기본권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노사교섭 환경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예방·관리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권익 보호 중시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 노동시간 단축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지원 강화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대내환경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(使) K-water 소통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임직원 니즈 공정·미래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(勞) 노동조합 공정·협력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노사법치주의 토대 상생협력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노무리스크 관리 필요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요구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 필요성 인지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노동법 개정에 따른 역할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 근로조건 향상에 집중</a:t>
            </a:r>
          </a:p>
        </p:txBody>
      </p:sp>
      <p:sp>
        <p:nvSpPr>
          <p:cNvPr id="35" name="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중장기 노사 발전전략 미션 + 新정책환경 + 노사니즈의 정합 필요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9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법과 원칙을 기반으로 상생협력을 지향하는 ‘4대 노사협력 실행체계’ 혁신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 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운영방향 재수립: 중장기 전략 Rolling, 9대 실행과제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등 노사전략에 부합하는 ’25년 방향수립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전담조직 신설: 노사담당 독립 부서격상, 법·제도 담당 부(部)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노사협력처 부서격상, 노무담당 인원 2배 증원(12명)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K-노무포털 신설: 데이터 기반 투명한 노사관계 확립 지원·관리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L-Guard, 노사협의회 관리, 노동정책·자료 공유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단체협약 등 개정: 노동존중 등 정부정책 선도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건강한 노사관계, 근로자 안전, 일·가정 양립 등 21건 개정</a:t>
            </a:r>
          </a:p>
        </p:txBody>
      </p:sp>
      <p:sp>
        <p:nvSpPr>
          <p:cNvPr id="49" name="배너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Mission에 정합한 ’25년 노사관계 운영방향 9대 실행과제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협력의 노사관계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소통과 미래 역량 확보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 중심 미래 근로조건 향상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노사기준 재정립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 관리체계 2.0 도입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교차식 노사소통 창구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新노동이사 진단체계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노무역량강화 모델 구조화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갈등별 구체적 솔루션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無분규 제19차 단체협약 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가족·안전분야 근로조건 혁신</a:t>
            </a:r>
          </a:p>
        </p:txBody>
      </p:sp>
      <p:sp>
        <p:nvSpPr>
          <p:cNvPr id="61" name="성과 라벨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2" name="성과 띠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위반, 시정명령 ‘Zero’ · 신뢰경영지수 역대 최고 · 공공기관 종합청렴도 1등급</a:t>
            </a:r>
          </a:p>
        </p:txBody>
      </p:sp>
      <p:sp>
        <p:nvSpPr>
          <p:cNvPr id="64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위반·시정명령 Zero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만족도 0.7점↑(91.6 → 92.3점)</a:t>
            </a:r>
          </a:p>
        </p:txBody>
      </p:sp>
      <p:sp>
        <p:nvSpPr>
          <p:cNvPr id="66" name="카드 문구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아시아에서 일하기 좋은 기업 200대 선정, GPTW</a:t>
            </a:r>
          </a:p>
        </p:txBody>
      </p:sp>
      <p:sp>
        <p:nvSpPr>
          <p:cNvPr id="68" name="카드 문구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종합청렴도 ‘1등급’ 달성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31개 기관 中 1위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법과 원칙에 따른 노사기준 재정비 및 참여형 디지털 노무광장 오픈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노와 사 한마음으로 차질 없는 국민 물공급 실현 및 적법한 노동권 보장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공익 실현 국민생활과 경제의 안정성 확보를 위해 노동권(쟁의행위) 제한 범위 합리적 조정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시설운영 강화 등 現 필수유지업무협정(’15년) 재검토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확보 근로시간면제제도 관행을 탈피, 실제 활동시간 기반 합법적 조합활동 보장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’19년 합의 후 소정근로시간에 대한 재계산 추진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필수유지업무협정 개정: 어떤 경우에도 24시간 안정적인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측의 개정 필요성 제안 * 운영안정성 제고 및 변화된 시설 운영여건 반영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상호공감(교섭 4회) 기반 타결 / 물공급 시설 운영 중심 필수유지업무 비율 재조정: 운영업무(24시간 교대근무) 63% → 100%, 지원업무(일반행정 등) 40% → 20%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근로시간면제제도 재합의: 노사법치 기반, 건전한 노조활동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측 재검토 요청 * 소정근로시간(2,000시간)을 실제 휴일(토·일, 대체 등)로 계산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他기관 사례, 법률자문 기반 합의 / 매년 실제 활동시간 및 근로시간면제자 재산정: 면제한도 26,400시간, 활동시간 2,000시간, 전임직원 13.2명(고정) → 매년 계산(변동)</a:t>
            </a:r>
          </a:p>
        </p:txBody>
      </p:sp>
      <p:sp>
        <p:nvSpPr>
          <p:cNvPr id="26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7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부당노동행위 등을 포함한 노동관계 법령 위반 및 시정명령 건수 Zero 달성(2 → 0건)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체계적 노사합의 관리 및 정보공유의 場, ‘K-노무포털(Portal)’ 런칭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全사업장 준법경영 기반: 노동관계 법령 준수 및 리스크 해소를 위한 체계적 대응 시스템 L-Guard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사전예방 경각심 환기, 간부 자율점검 / 대응지원 시스템 등록, 전문가 대응 / 사후관리 위반사례 DB화, 상시 컨설팅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빈틈없는 합의관리 및 정보공유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‘명백한 단체협약(노사협의회) 위반 방지’를 목표로 근본적 관리방식 개선 필요 / 직원 변화된 노동기준에 대한 관심 증가, 노무정보에 대한 전사적 접근성 확대 필요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K-노무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 털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노동법 위반방지 + ’25년 노사합의사항 관리 체계화 + 정보전달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기존 L-Guard + 개선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노사합의 관리시스템화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참여형 노무정보 HUB 구현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❶ 관리시스템 ❷ 정보 HUB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노사합의사항 全직원 공유 및 이행·관리체계로 누수 방지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全과정 시스템 등록·관리 / 미이행 건 자동 메일링 알림 / 안건별 진행사항 시각화 표시 / 안건 담당자 실명제 운영·관리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정책(법률), 제도, 노사동향 등 직원맞춤형 정보 원스톱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자주묻는 자문, 휴가 Q&amp;A 등 현안에 대한 최적답안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현장까지 노무관리 내재화 실현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노무자문 이용건수 100% 증가(’24년 32건 → ’25년 64건), 현장 노동법 위반 전면차단(0건)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분쟁 발생 이전에 작동하는 선제적 노사갈등 관리체계 2.0 도입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레일 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 참여형 갈등관리 프로세스 1.0 도입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유형별 갈등수준 진단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결과분석 및 갈등대응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범주, 13개 갈등유형 정의: 노사간 이익갈등(근로조건·근무환경 2개), 노사간 규범갈등(조합활동·경영참여 2개), 직원간 이익갈등(승진전보 3개), 직원간 규범갈등(세대간 등 6개)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 등을 통한 유형별 갈등수준 진단 / 노사관계 영향도 분석 / 3단계(경계·주의·관심) 수준결정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대응주체 설정, 시나리오 기반 표준화된 갈등해결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TF · 협의체 · 직원간 / 이익 공정배분 · 규범 대화협의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구체적 갈등대응 성과 ▶ p.106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새롭게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직면한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개정(’26.3 시행)에 따라 폭넓은 대내외 노사·노노갈등이 예상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쟁의대상 확대(예측가능 갈등): 직원 인사, 신규사업(근로조건) 결정 등 노조 교섭요구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단협개정 등을 통해 선제적 갈등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 범위 확대(예측불가능 갈등): 용역·의제별 교섭요구, 창구 단일화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 시나리오 구축, 대응역량 확충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환경변화에 따라 발생할 수 있는 갈등의 양상을 고려, 단계별 관리 고도화 필요</a:t>
            </a:r>
          </a:p>
        </p:txBody>
      </p:sp>
      <p:sp>
        <p:nvSpPr>
          <p:cNvPr id="41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예측가능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UP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잠재된 갈등 진단: 旣 정의된 13개 갈등유형 中 노동환경 변화에 따른 잠재갈등 요인 진단(FGI, 노사전문가 20인) / 단협 실무교섭委 노 7인 사 7인, 사내 전문가 변호사 1인 노무사 1인, 노동이사 1인, 전문기관 3인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기반, 맞춤형 노사갈등 관리 2.0 실현: 예측되는 4개 갈등유형 선정, 법 개정 전 쟁점 해소 / 조합활동 · 경영참여 · 근로조건 · 모·자회사간 / 근로시간면제 및 필수유지업무협정서 재검토, 체결 / 단체협약 선제적 개정으로 경영참여권 확대 / 노사합의 기반 휴가·복지제도 전방위적 개선 / 모-자회사 소통 강화를 통한 갈등 해소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적용사례 표면화기 갈등진단: 경영참여 사업경영상 결정 선제적 단협개정 — 新사업(초순수 등) 추진시, 근로환경 변화 * 경영상 결정에 따른 근로조건 변경으로 쟁의 가능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고조기 갈등대응: 노사간 규범갈등 ➡ 단협 교섭에 따른 대화 협의 / 단체협약 실무위원 교섭(4회) * 초순수 등 신규사업 추진 필요성 * 직원·노조 의견수렴 절차 개선 필요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모·자회사간 소통기반 안전격차 해소: 자회사 노조 민원발생, 집회예고 / 4자간(모·자회사 노사) 깊은 소통(2회) / 완화기 갈등해소: 사업개발委 도입, 집회철회·자회사 니즈 수용</a:t>
            </a:r>
          </a:p>
        </p:txBody>
      </p:sp>
      <p:sp>
        <p:nvSpPr>
          <p:cNvPr id="51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갈등진단 결과, 13개 갈등 全유형 점수 하향(3.76 → 3.49점)</a:t>
            </a:r>
          </a:p>
        </p:txBody>
      </p:sp>
      <p:sp>
        <p:nvSpPr>
          <p:cNvPr id="53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예측불가능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미래갈등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사전대비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사용자성 판단기준 진단: 노동조합법 개정 시행에 따른 갈등 예측(FGI, 이해관계자 14인) / 노무담당 6인 · 자회사 2인 · 전산유지 1인 · 노동조합 2인 · 점검정비 2인 · 수도검침 1인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갈등대응 컨틴전시 플랜 수립: 전문가 판례기반 30개 항목 진단, 실질적 갈등요인 분석 * 원청 사업수행 필수(10개), 단체교섭 필요(3개), 실질·구체적 지배(17개) / 선제적/예방 관리체계 정립 · 과업관리감독 시스템 개선 · 단체교섭 창구 일원화 · 노무관리체계 재구축</a:t>
            </a:r>
          </a:p>
        </p:txBody>
      </p:sp>
      <p:sp>
        <p:nvSpPr>
          <p:cNvPr id="60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선제적 갈등 예방·관리로 중대갈등 Zero 달성 및 협력적 노사갈등해소 모델 제시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한층 더 다가가는 노사리더, 직원 목소리로 다듬는 노동이사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노사소통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現 주 소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직원의 소통 인식: 공사·노조의 상·하향식 소통체계에 대한 직원 만족도 지속 상승 中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그러나, 외부 전문가(평가단)의 제언: 공사·노조 CSR 점수 하락에 대한 개선방안 마련 / 노동이사 경영활동에 대한 직원 환류체계 필요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8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①노사리더 소통 중심 사회적 책임 향상과 ②노동이사-직원 간 긴밀한 소통체계 마련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방 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 소 통 ’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↔ 직원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↔ 위원장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채널 현장 방문(14회), 톡톡水력 활성화(붐업 이벤트 등), 청렴 프로모터(24명)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新전략·비전 공유 등 직원 의견 수렴을 위한 전사 타운홀 미팅(120명)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직원이사회 20주년 기념행사 소통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 채널 현장 직접 방문·조합원 소통(28회), 조합원의 목소리(322건) CEO 전달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차세대 노동리더 양성, 소통체계 구축을 위한 희망노동위원회(14명)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현안대응 대의원대회 확대(1~3회)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단계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도약하는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‘핫라인’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 * 이슈발생시 24시간 이내 소집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노사리더 ‘핫라인 발동요건’ 합의: 사회 이슈(국가재난 등) · 업무 중 직원사고 · 全직원 영향 제도·문화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1회(국가재난) 경북 산불대응 노사공동 논의 → 피해구호 성금 지원 대규모 병물 지원 직원 건강검진 지원 / 2회(직원사고) 업무상 사고시 직원보호체계 마련 → 직원 밀착지원 안심케어센터 신설 / 3회(제도) 정부경영평가 직원 관심도 제고 → 경영평가 포털 신설, 노사TF 추진 / 4회(문화) 전사차원의 노사 소통·문화 활동 제안 → 노사 E-Sports 대회 Celebrate 58 등 컨텐츠 진행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‘노동이사’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’23.6 취임 제도정비 · 기반마련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역량강화 전문역량 확보 · 대외 네트워크 강화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소통 활성화 대내 직원 소통강화 · 직원 환류체계 신설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제도정비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전문역량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 네트워크 강화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 직원 소통강화 · 직원 환류체계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회의 참석·활동 공유(8회) / 현안·부서별 소통간담회(33회) / K-Study, 직원이사회 멘토링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직원의견을 수렴하는 노동이사: 비상임이사 직무평가(재경부)에 직원입장에서 노동이사 활동의견을 청취하는 설문조사 신설 / 직무수행실적보고서(외부, 재경부) + 직원 만족도 조사(내부, 全직원) / 이사회 참여도/기여도 · 인식, 소통, 제도이해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결과, 환류 진단기반 노동이사 소통플랜: 진단결과(2,335명) 3개 문항 평균 95.2점 도출 / 인식도(경영참여 인식도) 95.9점 · 소통(직원 의사소통) 95.5점 · 제도(노동이사제도 이해) 94.2점 · 95.2점(노사관계 만족도 평균대비 2.9점↑) / 노동이사 직원소통계획 수립(노조회의, 부서소통 등)</a:t>
            </a:r>
          </a:p>
        </p:txBody>
      </p:sp>
      <p:sp>
        <p:nvSpPr>
          <p:cNvPr id="50" name="핵심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 달성(아시아에서 가장 일하기 좋은 기업 200대 선정, GPTW)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공사·노조 CSR 점수 각 1.6, 0.7점 상승(공사 92.7점 → 94.3점, 노조 95.5점 → 96.2점)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노사전략과 환경변화를 연결하는 계층별 노무역량강화 모델 최적화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필요역량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발전전략: 노무관리를 위한 대표 직무역량 3가지(소통 · 협상력 · 전문성)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계층별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역량모델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 기초(全직원)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노사주니어(일반조합원)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협상력 노사담당자(노조간부)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 관리자, 경영진(노조집행부)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출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조직문화교육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사이버교육 실효성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노무정보 HUB 구축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맞춤형 이음교육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노사신뢰UP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 교육 다변화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K-Study(CoP)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외부기관 전문가과정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노동이사 역량강화</a:t>
            </a:r>
          </a:p>
        </p:txBody>
      </p:sp>
      <p:sp>
        <p:nvSpPr>
          <p:cNvPr id="39" name="레일 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다지고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조직문화: 참여 부서 2배 확대, 진단·코칭 Tool 다변화 / 부서단위 + 개인단위, 대상확대(운영·실무직 등), 계층별 모듈 교육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ON-OFF 교육연계: 대면교육 前 사이버교육 수강으로 교육 실효성 제고 * “온라인 교육내용이 문제로 출제되어 더 집중해서 수강했어요”(’25년 만족도조사 결과)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노사주니어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시작으로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입문교육(이음 120명): 직원의 니즈를 수렴 — 법령 해석(설명) 중심 설명 “법령 등 이해하기 너무 어려워요”(’24년 이음교육 피드백)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맞춤형 교육 추진: 노사관계 핵심 키워드(소통, 갈등)를 주제로 설정, 사례·체험 중심 맞춤형 강의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신뢰UP(80명): 현안 발생시 개별적 시스템 자문 / 노무환경 변화에 직원관심 증가 “뉴스에 자주 나오는 노란봉투법 개정에 대해 알고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 內 주요 자문 사례(64개) 공유 / 新정부정책 등 변경사항 기초교육</a:t>
            </a:r>
          </a:p>
        </p:txBody>
      </p:sp>
      <p:sp>
        <p:nvSpPr>
          <p:cNvPr id="51" name="레일 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노사담당자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협상력을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배양하고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소통촉진자(506명): 기존 단발성 교육 — 사업장 현장방문, 갈등상황 Role-Play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‘소통·갈등’에 ‘권익보호’를 더한 다각적 교육: 소통촉진자 과정(소통·갈등 해결 교육과정 정규화·체계화) + 찾아가는 권익보호(성희롱·괴롭힘 예방·대처 교육)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학습연구회 K-Study(20명): 신설 학습과 업무가 연결된 CoP ‘K-Study(노사관계)’ 도입 — 노조법 개정, 정책변화 등 전문가 기초·심화교육 / 업무와 연관된 과제(제19차 단체협약 안건) 부여, 사내전문가 멘토링 및 수행결과 단체협약 반영</a:t>
            </a:r>
          </a:p>
        </p:txBody>
      </p:sp>
      <p:sp>
        <p:nvSpPr>
          <p:cNvPr id="57" name="레일 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관리자·경영진</a:t>
            </a:r>
          </a:p>
        </p:txBody>
      </p:sp>
      <p:sp>
        <p:nvSpPr>
          <p:cNvPr id="58" name="레일 라벨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노사 전문가 과정: 관리자 전문 노무역량 및 노조이해 — 전문 위탁교육(선우재, 고려대 등 7명), 1~2급 승진자 노사관계 교육(위원장)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내부경영, 외부전문교육 — 사내 직무교육(경영, 청렴 등) 수강, 석사학위 취득(고려대 노동법학)</a:t>
            </a:r>
          </a:p>
        </p:txBody>
      </p:sp>
      <p:sp>
        <p:nvSpPr>
          <p:cNvPr id="64" name="핵심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5" name="핵심성과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교육관련 문항 역대 최고득점으로 3년 연속 노사관계 만족도 지속 상승 견인(91.1 → 91.6 → 92.3점)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역량강화 기여도 1.0점 상승(92.0 → 93.0점), 프로그램 효과성 1.1점 상승, 피드백 수용성 1.3점 상승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직원 숙원을 해소하고, 더 나은 일터를 설계하는 노사 파트너십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바라는 일터의 조건, 노사와 직원이 함께 솔루션 도출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갈등진단 직원이 느끼는 개선과제 3가지 ①승진·전보 ②직군간 격차 ③근로조건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’24년 갈등진단 결과에 대한 유형별 구체적 개선방안 마련 필요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등 운영 및 직원 참여 기반 맞춤형 개선 적기 추진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승진시험 최초시행, 육아휴직 승진차별 폐지: 승진시험 제도 최적화(노사공동 가족친화경영 TF 등) — 평가배점 상향 50점 → 55점, 승진비율 설정 심사 7 : 시험 3, 시험시간 확대 80분 → 90분, 육아휴직 응시 허용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시험승진 35명(25.7%) 배출(육아휴직 중 1명 포함)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친분과 인맥 등이 아닌 객관적 전보 기준 수립: 노사공동 본사-본부 TF 및 全직원 설문을 통한 전보 기준 수립 — 근무부서 여건(오지 등)을 고려한 마일리지 산정, 부서별 마일리지 비율 설정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전보마일리지 도입(’26년 시행)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직군격차 근무유형(교대-통상)에 따른 휴식권 제한 등 해소: 노사공동 교대근무 TF 및 설문, 전사 설명회 등을 통한 제도개선 — 교대근무자 중간휴가 신설, 공백 해소(운영지원반 운영)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교대근무자 휴식권 강화 및 초과근무 최소화</a:t>
            </a:r>
          </a:p>
        </p:txBody>
      </p:sp>
      <p:sp>
        <p:nvSpPr>
          <p:cNvPr id="28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9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갈등진단 결과 全유형 갈등점수 하향, 종합청렴도 內 청렴체감도 공기업 유일 1등급 달성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노동존중 실현, 일-생활 균형을 위한 모두의 약속 ‘제19차 단체협약’ 체결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국정94 노동존중 실현, 노동기본권 보장 / 국정95 일·쉼 공존하는 행복한 일터 조성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대내환경 안전우선, 신규사업(초순수) 등 경영환경변화 / 단체협약 직원 관심 증가, 근로조건 개선요구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교섭과정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참여로 안건 도출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교섭과 공감 형성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다각적 검증으로 이행력 확보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현장, 교육 등 의견 수렴(40건): K-water(16건) 찾아가는 유역간담회(8회), 톡톡수렴, K-Study(CoP) 과제 / 노동조합(24건) 현장지부 방문(70회), 조합원의 목소리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정례화 및 확대운영 * ’23년 2회 → ’25년 4회(월 1회)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실적, 사례 등 투명한 정보공유 * (使) 경영현황 등, (勞) 실제 현장사례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실효성(내부), 적법성(외부) 차원의 교차검증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(실효성) 노동이사, 직원이사회 / (적법성) 대외 전문기관 활용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38년 연속 無분규, 정책이행과 조합원 복지증진이 조화로운 ‘제19차 단체협약’ 개정!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노동존중: 노조 전임직원 활동보장, 경영참여 인사위원회 등 조합참석 확대 / 국정94 노동존중 실현 및 경영참여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일-생활 자유로운 휴가사용, 가족친화문화 조성, 권리보호 권익·개인정보 보호, 연결되지 않을 권리 / 국정95 일·생활 균형 및 갑질 없는 일터 실현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170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가족과 안전은 지속가능한 근로조건의 근간, 노사가 함께 지속 혁신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가족친화경영 혁신 후, ‘직원의 목소리’를 청취하여 ‘한 번 더 혁신’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변화 가족친화경영 TF를 통해 근로조건(14개) 개선(’24년)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주 4.5일제 이용자 284명 사용, 육아휴직자 13% 증가(243 → 275명), 출산장려금 수령 38% 확대(194 → 268명)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중간점검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경험자 “새로운 승진제도에 육아휴직자도 참여 가능하도록” “아이돌봄 3·3·6제도 사용을 더 활성화 하도록”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사각지대 “미혼자, 아이가 없는 직원들도 소외받지 않고 사용할 수 있는 제도를 만들어 주세요”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번 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승진제도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아이돌봄 3·3·6 활성화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보편적 복지제도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승진시험제(’25년) 시행시, 육아휴직자 대상 포함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차별없는 승진시험제도 육아휴직자 승진자 배출(1명)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지표 신설(가점) / 캠페인(월 1회 관리자 독려메일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육아시간 사무외출 사용률 12.1%p 증가(54.0 → 66.1%)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문화예술행사 지원 / 가족愛 행복캠프(가족·직원간)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본부 문화행사 770명 이용, 직원간 행복캠프 194명 참여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대한민국 일하기 좋은 기업 Top3 및 아시아에서 가장 일하기 좋은 기업 200대 선정(GPTW 주관)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안전에 타협 없는 노사, 예방부터 사후관리까지 안전 First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근로자 안전사고 상존, 안전관리체계 전반에 대한 보완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“더 이상의 안전사고는 없도록.. 제도정비” / 위원장 “안전문화확산, 세심한 피해직원 케어까지..”</a:t>
            </a:r>
          </a:p>
        </p:txBody>
      </p:sp>
      <p:sp>
        <p:nvSpPr>
          <p:cNvPr id="18" name="레일 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예방강화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안전일터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使 정교한 제도, 시스템 개발: 안전경영委, 안전경영책임계획 / 안전 컨설팅, 스마트 안전관리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예방적 안전관리 ‘안전기동반’(전담 16인)을 통한 상시 점검 및 현장 안전관리 컨설팅, 현장 유해 요소 120건(안전통로 확보 등) 개선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안전관리 시스템 구축 및 스마트 장비 확대(스마트 안전모 등), 이동형 AI CCTV · 스마트 안전모 · 유해가스 측정기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勞 현장의 공감, 수용성을 결합: 상시 소통채널 등 현장 니즈 / 작업중지권, 안전보호구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활성화 ‘찾아가는 안전교육’, 안전모 QR 부착 등 제도 활용 증가(’24년 92건 → ’25년 132건, 43.5% 증가)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안전보호구 지급 ‘심쿵(CPR) 챌린지’ 노후 보호구 교체 간소, 적기지급 / 심쿵챌린지 420명, 全직원 안전보호구 개선 5.1억원 집행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사후대응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더나아가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안전사고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직원케어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업무 중 사고에 든든한 비바람막이 ‘안심케어센터’ + ‘상호부조 모금제’ 신설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담당부서를 찾기쉽고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대응은 신속하게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감성 케어까지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슬픔은 함께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분산된 기능 일원화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안전사고 연관 직원/부서 → (총괄) 안심케어센터 → 법무실 · 안전본부 · 인재경영실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신속·밀착지원 *안심케어 담당 사내변호사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재해발생 노동청, 경찰조사 초동대응(변호사) / 재해자(사망) 산재 행정지원 노사공동 유족케어 / 법적분쟁 수사·피의·피고시 법률 조력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감성적 직원 맞춤케어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부서상담 사고발생 부서 단위 집단상담 / 맞춤상담 ‘집중케어 대상’ PTSD 상담 안내 / 사후관리 호전여부 모니터링 고충상담 지원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노사·全직원 합심, 상호부조 개인급여 모금제 * 직원 찬성률: 63%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중 사망(안전사고) → 全직원 모금(개인월봉의 0.6%) → 노사공동 모금액 유가족 지급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선정·국무총리 표창 수상(’25년)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172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노사협력과 자율점검을 기반으로 정부지침에 발맞춘 체계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혁신지침 잔여과제(4건) 조속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합의(’24.12) 선결 개선과제 적기 달성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 준수 지속 유지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모니터링 통한 추가 개선사항 발굴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7" name="분야 박스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19" name="소제목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관리비 100% 직원 부담 숙소 확대목표 초과 달성</a:t>
            </a:r>
          </a:p>
        </p:txBody>
      </p:sp>
      <p:sp>
        <p:nvSpPr>
          <p:cNvPr id="20" name="태그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노사합의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(’24.12)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합숙소를 원룸형 개인숙소로 전환 * 니즈 일치 관리비 100% 직원 부담에도 휴식권 보장 위한 원룸형 숙소 확대 요구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770채(거주직원 25%) → ’25년 890채(29%)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 1,165채(38%) → ’30년 1,510채(50%)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원룸형 숙소 확보 용이성 등 지역별 여건을 고려, 2-Track 방식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대도시 신속 전환: 現 아파트형 숙소(3인 거주) 임차계약 종료 즉시 대체(98채)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 시·군 거점별 대안: 거점도시 다가구주택 활용, 인근 지사 공동 사용(2채, 35세대)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’25년 원룸형 숙소 전환 목표 101.5% 달성(목표 890채(전년比 120채 증) → 실적 903채)</a:t>
            </a:r>
          </a:p>
        </p:txBody>
      </p:sp>
      <p:sp>
        <p:nvSpPr>
          <p:cNvPr id="40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합숙소 관리비 100% 부담 직원 증가(770 → 903명)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연간 관리비 98백만원 감축(개인부담금 ’24년 1,116백만원 → ’25년 1,214백만원)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대내외 자율통제체제 강화로 정부기준에 부합하는 제도개선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제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합동 교차점검: ’25년 참여기관 확대(5 → 7개)로 기능 강화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내부통제(자체 감사): 국가공무원 기준 개정 등 선제적 발굴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자율점검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제도개선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징계자 성과급 제한기준 정비: 음주측정 불응 관련 징계처분시 성과급 제한 / 他기관 벤치마킹으로 개선사항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‘미지급’ 규정화(’25.12) ➡ 경영평가성과급, 내부평가급 일체 지급 제외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국외근무수당 산정기준 개선: 국외근무수당 산정 부양가족 범위 조정 / 국가공무원과 수당 지급기준 일치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부양가족에서 ‘직계존속’ 제외 규정화(’25.12) ➡ 배우자 및 19세 미만 자녀로 범위 한정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체계적인 보수·복지 제도 모니터링 및 노사협력을 통해 정부지침 이행 동력 확보</a:t>
            </a:r>
          </a:p>
        </p:txBody>
      </p:sp>
      <p:sp>
        <p:nvSpPr>
          <p:cNvPr id="27" name="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지침</a:t>
            </a:r>
          </a:p>
        </p:txBody>
      </p:sp>
      <p:sp>
        <p:nvSpPr>
          <p:cNvPr id="28" name="성과 띠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 준수: 총인건비 · 복리비 · 복지 · 성과급 · 퇴직금</a:t>
            </a:r>
          </a:p>
        </p:txBody>
      </p:sp>
      <p:sp>
        <p:nvSpPr>
          <p:cNvPr id="30" name="카드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인상률(3%) 한도 준수</a:t>
            </a:r>
          </a:p>
        </p:txBody>
      </p:sp>
      <p:sp>
        <p:nvSpPr>
          <p:cNvPr id="32" name="카드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2,850천원/인(전년比 12천원↓)</a:t>
            </a:r>
          </a:p>
        </p:txBody>
      </p:sp>
      <p:sp>
        <p:nvSpPr>
          <p:cNvPr id="34" name="카드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신설항목 Zero</a:t>
            </a:r>
          </a:p>
        </p:txBody>
      </p:sp>
      <p:sp>
        <p:nvSpPr>
          <p:cNvPr id="36" name="카드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중징계, 음주불응자 미지급</a:t>
            </a:r>
          </a:p>
        </p:txBody>
      </p:sp>
      <p:sp>
        <p:nvSpPr>
          <p:cNvPr id="38" name="카드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퇴직금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누진제 및 산재 가산 미운영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