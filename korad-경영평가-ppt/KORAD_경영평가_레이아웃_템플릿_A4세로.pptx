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1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3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4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5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0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2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4.xml"/><Relationship Id="rId2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5.xml"/><Relationship Id="rId2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6.xml"/><Relationship Id="rId2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7.xml"/><Relationship Id="rId2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8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0.xml"/><Relationship Id="rId2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notesSlide" Target="../notesSlides/notesSlide17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2.xml"/><Relationship Id="rId2" Type="http://schemas.openxmlformats.org/officeDocument/2006/relationships/notesSlide" Target="../notesSlides/notesSlide17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3.xml"/><Relationship Id="rId2" Type="http://schemas.openxmlformats.org/officeDocument/2006/relationships/notesSlide" Target="../notesSlides/notesSlide17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4.xml"/><Relationship Id="rId2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5.xml"/><Relationship Id="rId2" Type="http://schemas.openxmlformats.org/officeDocument/2006/relationships/notesSlide" Target="../notesSlides/notesSlide17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6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7.xml"/><Relationship Id="rId2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8.xml"/><Relationship Id="rId2" Type="http://schemas.openxmlformats.org/officeDocument/2006/relationships/notesSlide" Target="../notesSlides/notesSlide18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9.xml"/><Relationship Id="rId2" Type="http://schemas.openxmlformats.org/officeDocument/2006/relationships/notesSlide" Target="../notesSlides/notesSlide18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0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1.xml"/><Relationship Id="rId2" Type="http://schemas.openxmlformats.org/officeDocument/2006/relationships/notesSlide" Target="../notesSlides/notesSlide185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2.xml"/><Relationship Id="rId2" Type="http://schemas.openxmlformats.org/officeDocument/2006/relationships/notesSlide" Target="../notesSlides/notesSlide18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3.xml"/><Relationship Id="rId2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4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5.xml"/><Relationship Id="rId2" Type="http://schemas.openxmlformats.org/officeDocument/2006/relationships/notesSlide" Target="../notesSlides/notesSlide18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6.xml"/><Relationship Id="rId2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7.xml"/><Relationship Id="rId2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8.xml"/><Relationship Id="rId2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9.xml"/><Relationship Id="rId2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0.xml"/><Relationship Id="rId2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1.xml"/><Relationship Id="rId2" Type="http://schemas.openxmlformats.org/officeDocument/2006/relationships/notesSlide" Target="../notesSlides/notesSlide19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2.xml"/><Relationship Id="rId2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3.xml"/><Relationship Id="rId2" Type="http://schemas.openxmlformats.org/officeDocument/2006/relationships/notesSlide" Target="../notesSlides/notesSlide19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4.xml"/><Relationship Id="rId2" Type="http://schemas.openxmlformats.org/officeDocument/2006/relationships/notesSlide" Target="../notesSlides/notesSlide19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536870" y="1161391"/>
          <a:ext cx="6300001" cy="723131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· 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연차별 임금감소 비율 · 누적 절감률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 이상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3.5년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6개월 5% → 1년차 10% → 2년차 20% → 3년차 30% (누적 65%)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3급 이하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2.0년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1년차 20% → 2년차 30% (누적 50%)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실적표"/>
          <p:cNvGraphicFramePr>
            <a:graphicFrameLocks noGrp="1"/>
          </p:cNvGraphicFramePr>
          <p:nvPr/>
        </p:nvGraphicFramePr>
        <p:xfrm>
          <a:off x="536870" y="1972174"/>
          <a:ext cx="6300001" cy="476609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임금피크 인원 · 충당률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절감재원 · 신규채용보수(백만원)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422명 · 105%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6,192 · 5,876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sp>
        <p:nvSpPr>
          <p:cNvPr id="24" name="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성과 띠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27" name="카드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5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24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160</a:t>
            </a:r>
          </a:p>
        </p:txBody>
      </p:sp>
      <p:sp>
        <p:nvSpPr>
          <p:cNvPr id="4" name="주석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7" name="장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662591"/>
          <a:ext cx="6300001" cy="96965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성명 · 연락처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경영부문장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남영현 · 042-629-2203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nyh@kwater.or.kr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노사협력처장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박혜원 · 042-629-2650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hyewon@kwater.or.kr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노사협력부장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이석원 · 042-629-2651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leesw@kwater.or.kr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536870" y="1276435"/>
          <a:ext cx="6300001" cy="269530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· 평가내용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Ⅰ. 2024년 지적사항 조치실적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Ⅱ. 2025년 주요 추진실적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Ⅲ. 2025년 세부평가내용별 추진실적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新노동 패러다임에 신속한 대응, 노사 全분야 펀더멘탈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법과 원칙에 따른 노사기준 재정비 및 참여형 디지털 노무광장 오픈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 분쟁 발생 이전에 작동하는 선제적 노사갈등 관리체계 도입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한층 더 다가가는 노사리더, 직원 목소리로 다듬는 노동이사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노사전략과 환경변화를 연결하는 계층별 노무역량강화 모델 최적화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직원 숙원을 해소하고, 더 나은 일터를 설계하는 노사 파트너십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가족과 안전은 지속가능한 근로조건의 근간, 노사가 함께 지속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1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2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sp>
        <p:nvSpPr>
          <p:cNvPr id="49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sp>
        <p:nvSpPr>
          <p:cNvPr id="61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2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66" name="카드 문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68" name="카드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41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8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sp>
        <p:nvSpPr>
          <p:cNvPr id="28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소제목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0" name="태그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27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28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30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32" name="카드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36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4" name="그룹 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42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43" name="카드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46" name="그룹 제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48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51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53" name="탭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56" name="카드 요약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58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41" name="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2" name="성과 띠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44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2" name="사진 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4" name="패널 머리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16" name="요약 바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18" name="패널 머리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0" name="요약 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125565"/>
          <a:ext cx="6300001" cy="1216175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사업범위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주요 미션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광역상수도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전국 113개 지자체와 산단에 수돗물 안정 공급(50개 수도시설 · 1,942만㎥/일)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 물복지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운영 선진화 지원(23개 지자체 운영관리 · 116개 노후 정비)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및 기업니즈 대응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 눈높이를 충족하는 맞춤형 물 토탈서비스(물문제 해결 · 고객정보 · 산업 맞춤)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추진 과정의 근로자 및 시민 안전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7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sp>
        <p:nvSpPr>
          <p:cNvPr id="99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sp>
        <p:nvSpPr>
          <p:cNvPr id="107" name="레일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  <p:graphicFrame>
        <p:nvGraphicFramePr>
          <p:cNvPr id="11" name="다열 표"/>
          <p:cNvGraphicFramePr>
            <a:graphicFrameLocks noGrp="1"/>
          </p:cNvGraphicFramePr>
          <p:nvPr/>
        </p:nvGraphicFramePr>
        <p:xfrm>
          <a:off x="723130" y="1522957"/>
          <a:ext cx="6300000" cy="2394471"/>
        </p:xfrm>
        <a:graphic>
          <a:graphicData uri="http://schemas.openxmlformats.org/drawingml/2006/table">
            <a:tbl>
              <a:tblPr/>
              <a:tblGrid>
                <a:gridCol w="882000"/>
                <a:gridCol w="1764000"/>
                <a:gridCol w="1764000"/>
                <a:gridCol w="189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’24년도 평가환류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경영환경 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성과목표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이상기후, 노후화 대비 첨단기술 기반 물공급 전환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재난피해 최소화, PFAS 규제 예고 등 수돗물 안전요구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기후위기에 강한 안정적인 고품질 수돗물 생산·공급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 물문제에 대응할 수 있도록 지자체 역량 육성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국가 재난, 지자체 재정 악화 등 공공기관의 공적역할 강조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지역간 차별 없는 국민 물 복지 혜택 확산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요금동결 속 서비스 유지와 첨단산업 물공급 노력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 정보서비스 확대와 지방 첨단산단 물수요 증가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대국민 서비스 향상 및 첨단산업 경쟁력 제고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 특성에 맞는 실효적 산재예방 및 시민안전 대책 필요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서울시 싱크홀 사고 등 국민 불안 증가, 수도사업 지속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근로자와 국민 모두 안전한 수도사업장 조성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graphicFrame>
        <p:nvGraphicFramePr>
          <p:cNvPr id="27" name="다열 표"/>
          <p:cNvGraphicFramePr>
            <a:graphicFrameLocks noGrp="1"/>
          </p:cNvGraphicFramePr>
          <p:nvPr/>
        </p:nvGraphicFramePr>
        <p:xfrm>
          <a:off x="536870" y="2843217"/>
          <a:ext cx="6300000" cy="4016351"/>
        </p:xfrm>
        <a:graphic>
          <a:graphicData uri="http://schemas.openxmlformats.org/drawingml/2006/table">
            <a:tbl>
              <a:tblPr/>
              <a:tblGrid>
                <a:gridCol w="819000"/>
                <a:gridCol w="1827000"/>
                <a:gridCol w="504000"/>
                <a:gridCol w="504000"/>
                <a:gridCol w="504000"/>
                <a:gridCol w="441000"/>
                <a:gridCol w="170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Pool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전략연계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정책부합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SMART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판정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적합성 평가결과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안전한 물 공급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첨단기술 기반 물공급 전환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대비 국가 인프라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(국정43) 기후위기 시대 물 안보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9.1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(국정15) 지역 간 물복지 편차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달성도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8.9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(국정72) 노후상수관 정비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10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국민친화 요금제도 운영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7.6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정책환경변화에 따른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(국정14) 국민 맞춤 공공서비스 제공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8.1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(국정72·75) 모든 사람이 안전한 나라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다열 표"/>
          <p:cNvGraphicFramePr>
            <a:graphicFrameLocks noGrp="1"/>
          </p:cNvGraphicFramePr>
          <p:nvPr/>
        </p:nvGraphicFramePr>
        <p:xfrm>
          <a:off x="536870" y="6936261"/>
          <a:ext cx="6300000" cy="1543775"/>
        </p:xfrm>
        <a:graphic>
          <a:graphicData uri="http://schemas.openxmlformats.org/drawingml/2006/table">
            <a:tbl>
              <a:tblPr/>
              <a:tblGrid>
                <a:gridCol w="1008000"/>
                <a:gridCol w="2016000"/>
                <a:gridCol w="3276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변경사유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5410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 선정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이용만족도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 평가 실사시 제시된 의견에 따라 사용자 중심의 서비스 개선과 질적 향상을 위해 만족도 비중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환류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신규(1개)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 특화 안전관리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연중 발표된 평가단 지적 및 新정부 안전강화 정책을 반영해 근로자안전 및 시민재해 예방을 위한 지표 신설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新정부 AI 정책을 반영해 기존 첨단기술과 함께 全과정 AI 전환을 통한 기후위기 대응력 강화로 성과관리 확장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3576680"/>
        </p:xfrm>
        <a:graphic>
          <a:graphicData uri="http://schemas.openxmlformats.org/drawingml/2006/table">
            <a:tbl>
              <a:tblPr/>
              <a:tblGrid>
                <a:gridCol w="882000"/>
                <a:gridCol w="378000"/>
                <a:gridCol w="1701000"/>
                <a:gridCol w="1701000"/>
                <a:gridCol w="1638000"/>
              </a:tblGrid>
              <a:tr h="328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전략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과제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~’27년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~’29년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❶❸❺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고도화 및 AX 기반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운영고도화(원가 172억원/연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기후대응 인프라 개선 계획 수립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AI(정) 국제표준 및 AX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잠재e 발굴(원가 370억원/연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안정화, 고도 등 사업시행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 자율운영 및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고도화(원가 467억원/연 저감)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글로벌 수준 고도도입 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6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❶❻❼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표준모델 구축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취약지역 맞춤형 지원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 선도사업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지방(상) 신규사업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취약점 선제적 발굴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SWNM 국내외 사업화 확대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AI 활용, 지방(상) 운영고도화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사각지대 해소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54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❷❹❽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최적공급방안 마련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운영관리 사업 진출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물이용개선방안 제안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첨단용수 공급망 조성 시행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기반 사업모델 다각화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물이용체계 개선 수립·실행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첨단 용수공급 인프라 준공 등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사업확대 및 민간 동반성장 추진</a:t>
                      </a:r>
                    </a:p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워터믹스 등 물이용체계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수도서비스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안전관리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수도특화 안전설계기준 마련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 인프라 구축 및 AI기술 확대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 제로 안전 관리체계 완성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sp>
        <p:nvSpPr>
          <p:cNvPr id="41" name="소제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graphicFrame>
        <p:nvGraphicFramePr>
          <p:cNvPr id="42" name="다열 표"/>
          <p:cNvGraphicFramePr>
            <a:graphicFrameLocks noGrp="1"/>
          </p:cNvGraphicFramePr>
          <p:nvPr/>
        </p:nvGraphicFramePr>
        <p:xfrm>
          <a:off x="536870" y="4218417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19,391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17,628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17,365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사업 등 건설 완료에 따라 예산이 소폭 감소하였으며, 노후시설 개선 등에 집중투자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7,010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7,520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7,915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안전·혁신기술 예산 전략적 확대와 취약 지자체 정비사업 재원 집중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141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463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390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등 성장분야 및 대국민 서비스 투자는 확대하되, 기술기반 원가저감으로 한정된 재원 활용 효율 극대화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  <p:graphicFrame>
        <p:nvGraphicFramePr>
          <p:cNvPr id="45" name="다열 표"/>
          <p:cNvGraphicFramePr>
            <a:graphicFrameLocks noGrp="1"/>
          </p:cNvGraphicFramePr>
          <p:nvPr/>
        </p:nvGraphicFramePr>
        <p:xfrm>
          <a:off x="536870" y="6045652"/>
          <a:ext cx="6300000" cy="1388975"/>
        </p:xfrm>
        <a:graphic>
          <a:graphicData uri="http://schemas.openxmlformats.org/drawingml/2006/table">
            <a:tbl>
              <a:tblPr/>
              <a:tblGrid>
                <a:gridCol w="1008000"/>
                <a:gridCol w="567000"/>
                <a:gridCol w="567000"/>
                <a:gridCol w="567000"/>
                <a:gridCol w="3591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대상사업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’23년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’24년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운영방향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수돗물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공급혁신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1,985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2,034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물공급 안전망 투자 확대에 맞춰 운영·건설 병행조직에서 건설 전담조직을 분리·확대(4→8개소)하는 등 조직·인력 조정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포용적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물복지 강화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712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684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노후상수도 정비사업 통합 운영, 정비사업 완료(12개) 및 신규협약(24개)에 따른 인력 조정배치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국민체감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서비스 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331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365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초순수 운영 전담조직 신설 및 운영관리 인력 증원(37명) 등 산업용수 인력 재배치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graphicFrame>
        <p:nvGraphicFramePr>
          <p:cNvPr id="6" name="다열 표"/>
          <p:cNvGraphicFramePr>
            <a:graphicFrameLocks noGrp="1"/>
          </p:cNvGraphicFramePr>
          <p:nvPr/>
        </p:nvGraphicFramePr>
        <p:xfrm>
          <a:off x="723130" y="1095652"/>
          <a:ext cx="6300000" cy="2544727"/>
        </p:xfrm>
        <a:graphic>
          <a:graphicData uri="http://schemas.openxmlformats.org/drawingml/2006/table">
            <a:tbl>
              <a:tblPr/>
              <a:tblGrid>
                <a:gridCol w="2520000"/>
                <a:gridCol w="630000"/>
                <a:gridCol w="3150000"/>
              </a:tblGrid>
              <a:tr h="23008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성과지표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주기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모니터링 방법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3862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고도정수처리 도입률(%)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측정시스템: 운영통합(WRO), 시설통합(WFM), 수질통합(WQE)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유수율(%)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월간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성과관리시스템, 국가상수도정보시스템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단수시 비상공급률(%)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국민소통센터(BP발굴)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국민기대수질 달성률(%)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수시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전사경영회의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노후(상) 정비사업 달성도(%)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점검: 성과관리회의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급수 취약지역 인구 해소(누계, 천명)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지방상수도 고객만족도(점)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상수도정보서비스 만족도(점)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10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AX기반 기후대응력 강화 등 5개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분기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sp>
        <p:nvSpPr>
          <p:cNvPr id="20" name="번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21" name="분야 박스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3" name="소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25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27" name="요약 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29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31" name="요약 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35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6" name="분야 박스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38" name="소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sp>
        <p:nvSpPr>
          <p:cNvPr id="60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61" name="분야 박스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63" name="소제목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69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75" name="카드 제목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76" name="카드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7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79" name="카드 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80" name="카드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sp>
        <p:nvSpPr>
          <p:cNvPr id="83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87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8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94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198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sp>
        <p:nvSpPr>
          <p:cNvPr id="18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9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