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장 제목"/>
          <p:cNvSpPr txBox="1"/>
          <p:nvPr/>
        </p:nvSpPr>
        <p:spPr>
          <a:xfrm>
            <a:off x="810783" y="777913"/>
            <a:ext cx="4590783" cy="399913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0" name="KORAD CI" descr="korad-c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  <p:sp>
        <p:nvSpPr>
          <p:cNvPr id="11" name="평가내용 라벨"/>
          <p:cNvSpPr/>
          <p:nvPr/>
        </p:nvSpPr>
        <p:spPr>
          <a:xfrm>
            <a:off x="536870" y="1342174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2" name="평가내용 제목 박스"/>
          <p:cNvSpPr/>
          <p:nvPr/>
        </p:nvSpPr>
        <p:spPr>
          <a:xfrm>
            <a:off x="1522957" y="135313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평가내용 제목"/>
          <p:cNvSpPr txBox="1"/>
          <p:nvPr/>
        </p:nvSpPr>
        <p:spPr>
          <a:xfrm>
            <a:off x="1632522" y="1364087"/>
            <a:ext cx="5127652" cy="5533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 등이 상호 협력과 참여에 기반하여 합리적이고 적법하게 이루어지고 있는지 여부</a:t>
            </a:r>
          </a:p>
        </p:txBody>
      </p:sp>
      <p:sp>
        <p:nvSpPr>
          <p:cNvPr id="14" name="점"/>
          <p:cNvSpPr/>
          <p:nvPr/>
        </p:nvSpPr>
        <p:spPr>
          <a:xfrm>
            <a:off x="871043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947739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024435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101130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점"/>
          <p:cNvSpPr/>
          <p:nvPr/>
        </p:nvSpPr>
        <p:spPr>
          <a:xfrm>
            <a:off x="1177826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띠"/>
          <p:cNvSpPr/>
          <p:nvPr/>
        </p:nvSpPr>
        <p:spPr>
          <a:xfrm>
            <a:off x="536870" y="2081739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2103652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2103652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 txBox="1"/>
          <p:nvPr/>
        </p:nvSpPr>
        <p:spPr>
          <a:xfrm>
            <a:off x="558783" y="2081739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 txBox="1"/>
          <p:nvPr/>
        </p:nvSpPr>
        <p:spPr>
          <a:xfrm>
            <a:off x="1183304" y="2103652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24" name="형광 밑줄"/>
          <p:cNvSpPr/>
          <p:nvPr/>
        </p:nvSpPr>
        <p:spPr>
          <a:xfrm>
            <a:off x="536870" y="2662435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소제목"/>
          <p:cNvSpPr txBox="1"/>
          <p:nvPr/>
        </p:nvSpPr>
        <p:spPr>
          <a:xfrm>
            <a:off x="536870" y="2509043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793913"/>
            <a:ext cx="6300000" cy="22634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810348"/>
            <a:ext cx="580696" cy="85188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8" name="머리칸"/>
          <p:cNvSpPr/>
          <p:nvPr/>
        </p:nvSpPr>
        <p:spPr>
          <a:xfrm>
            <a:off x="1161391" y="2832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2832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30" name="칸 본문"/>
          <p:cNvSpPr txBox="1"/>
          <p:nvPr/>
        </p:nvSpPr>
        <p:spPr>
          <a:xfrm>
            <a:off x="1172348" y="3073304"/>
            <a:ext cx="2802130" cy="56701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노동기본권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노사협력·역량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개정 등 저출산 해결 노력</a:t>
            </a:r>
          </a:p>
        </p:txBody>
      </p:sp>
      <p:sp>
        <p:nvSpPr>
          <p:cNvPr id="31" name="칸 본문"/>
          <p:cNvSpPr txBox="1"/>
          <p:nvPr/>
        </p:nvSpPr>
        <p:spPr>
          <a:xfrm>
            <a:off x="3996391" y="3073304"/>
            <a:ext cx="2802130" cy="56701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노력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985435" y="3106174"/>
            <a:ext cx="0" cy="50127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678668"/>
            <a:ext cx="580696" cy="657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367866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161391" y="3722494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6" name="태그 설명"/>
          <p:cNvSpPr txBox="1"/>
          <p:nvPr/>
        </p:nvSpPr>
        <p:spPr>
          <a:xfrm>
            <a:off x="2145304" y="3711537"/>
            <a:ext cx="4664174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7" name="태그"/>
          <p:cNvSpPr/>
          <p:nvPr/>
        </p:nvSpPr>
        <p:spPr>
          <a:xfrm>
            <a:off x="1161391" y="391971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8" name="태그 설명"/>
          <p:cNvSpPr txBox="1"/>
          <p:nvPr/>
        </p:nvSpPr>
        <p:spPr>
          <a:xfrm>
            <a:off x="2145304" y="3908755"/>
            <a:ext cx="4664174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목표를 수행하는 동반자로서 긍정의 노사관계 강화</a:t>
            </a:r>
          </a:p>
        </p:txBody>
      </p:sp>
      <p:sp>
        <p:nvSpPr>
          <p:cNvPr id="39" name="태그"/>
          <p:cNvSpPr/>
          <p:nvPr/>
        </p:nvSpPr>
        <p:spPr>
          <a:xfrm>
            <a:off x="1161391" y="411692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40" name="태그 설명"/>
          <p:cNvSpPr txBox="1"/>
          <p:nvPr/>
        </p:nvSpPr>
        <p:spPr>
          <a:xfrm>
            <a:off x="2145304" y="4105972"/>
            <a:ext cx="4664174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근로자의 노동 존중 실현과 복리후생제도 개선 등 근로환경 개선 추진</a:t>
            </a:r>
          </a:p>
        </p:txBody>
      </p:sp>
      <p:sp>
        <p:nvSpPr>
          <p:cNvPr id="41" name="레일"/>
          <p:cNvSpPr/>
          <p:nvPr/>
        </p:nvSpPr>
        <p:spPr>
          <a:xfrm>
            <a:off x="547826" y="4352494"/>
            <a:ext cx="580696" cy="68844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435249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161391" y="437440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437440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5" name="단계"/>
          <p:cNvSpPr/>
          <p:nvPr/>
        </p:nvSpPr>
        <p:spPr>
          <a:xfrm>
            <a:off x="4926783" y="437440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3044086" y="437440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4926782" y="437440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172348" y="4626407"/>
            <a:ext cx="1860783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49" name="칸 본문"/>
          <p:cNvSpPr txBox="1"/>
          <p:nvPr/>
        </p:nvSpPr>
        <p:spPr>
          <a:xfrm>
            <a:off x="3055043" y="4626407"/>
            <a:ext cx="1860783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044087" y="465927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4937739" y="4626407"/>
            <a:ext cx="1860783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926783" y="465927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삼각 화살표"/>
          <p:cNvSpPr/>
          <p:nvPr/>
        </p:nvSpPr>
        <p:spPr>
          <a:xfrm>
            <a:off x="3823826" y="5101200"/>
            <a:ext cx="350608" cy="142434"/>
          </a:xfrm>
          <a:custGeom>
            <a:avLst/>
            <a:gdLst/>
            <a:ahLst/>
            <a:cxnLst/>
            <a:rect l="l" t="t" r="r" b="b"/>
            <a:pathLst>
              <a:path w="350608" h="142434">
                <a:moveTo>
                  <a:pt x="0" y="0"/>
                </a:moveTo>
                <a:lnTo>
                  <a:pt x="350608" y="0"/>
                </a:lnTo>
                <a:lnTo>
                  <a:pt x="175304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라벨 박스"/>
          <p:cNvSpPr/>
          <p:nvPr/>
        </p:nvSpPr>
        <p:spPr>
          <a:xfrm>
            <a:off x="536870" y="5325809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레일"/>
          <p:cNvSpPr/>
          <p:nvPr/>
        </p:nvSpPr>
        <p:spPr>
          <a:xfrm>
            <a:off x="547826" y="5336765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6" name="강조 바"/>
          <p:cNvSpPr/>
          <p:nvPr/>
        </p:nvSpPr>
        <p:spPr>
          <a:xfrm>
            <a:off x="1172348" y="5358678"/>
            <a:ext cx="5631652" cy="22917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강조 바 글"/>
          <p:cNvSpPr txBox="1"/>
          <p:nvPr/>
        </p:nvSpPr>
        <p:spPr>
          <a:xfrm>
            <a:off x="1172348" y="5358678"/>
            <a:ext cx="5631652" cy="22917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58" name="라벨 박스"/>
          <p:cNvSpPr/>
          <p:nvPr/>
        </p:nvSpPr>
        <p:spPr>
          <a:xfrm>
            <a:off x="536870" y="5675510"/>
            <a:ext cx="6300000" cy="44740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5686466"/>
            <a:ext cx="591652" cy="42548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0" name="가운데 글"/>
          <p:cNvSpPr txBox="1"/>
          <p:nvPr/>
        </p:nvSpPr>
        <p:spPr>
          <a:xfrm>
            <a:off x="1172348" y="5691944"/>
            <a:ext cx="1877217" cy="414532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운영으로 리스크 해결</a:t>
            </a:r>
          </a:p>
        </p:txBody>
      </p:sp>
      <p:sp>
        <p:nvSpPr>
          <p:cNvPr id="61" name="가운데 글"/>
          <p:cNvSpPr txBox="1"/>
          <p:nvPr/>
        </p:nvSpPr>
        <p:spPr>
          <a:xfrm>
            <a:off x="3049565" y="5691944"/>
            <a:ext cx="1877217" cy="414532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3049565" y="5730292"/>
            <a:ext cx="0" cy="337837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3" name="가운데 글"/>
          <p:cNvSpPr txBox="1"/>
          <p:nvPr/>
        </p:nvSpPr>
        <p:spPr>
          <a:xfrm>
            <a:off x="4926783" y="5691944"/>
            <a:ext cx="1877217" cy="414532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926783" y="5730292"/>
            <a:ext cx="0" cy="337837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5" name="라벨 박스"/>
          <p:cNvSpPr/>
          <p:nvPr/>
        </p:nvSpPr>
        <p:spPr>
          <a:xfrm>
            <a:off x="536870" y="6177694"/>
            <a:ext cx="6300000" cy="64371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"/>
          <p:cNvSpPr/>
          <p:nvPr/>
        </p:nvSpPr>
        <p:spPr>
          <a:xfrm>
            <a:off x="547826" y="6188650"/>
            <a:ext cx="591652" cy="62179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7" name="칸 본문"/>
          <p:cNvSpPr txBox="1"/>
          <p:nvPr/>
        </p:nvSpPr>
        <p:spPr>
          <a:xfrm>
            <a:off x="1183304" y="6194129"/>
            <a:ext cx="1855304" cy="61084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노사협의체(정기·상시)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선임·현안문제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 실시</a:t>
            </a:r>
          </a:p>
        </p:txBody>
      </p:sp>
      <p:sp>
        <p:nvSpPr>
          <p:cNvPr id="68" name="칸 본문"/>
          <p:cNvSpPr txBox="1"/>
          <p:nvPr/>
        </p:nvSpPr>
        <p:spPr>
          <a:xfrm>
            <a:off x="3060522" y="6194129"/>
            <a:ext cx="1855304" cy="61084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구축·정착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교육·학습협의체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3049565" y="6226998"/>
            <a:ext cx="0" cy="54510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 txBox="1"/>
          <p:nvPr/>
        </p:nvSpPr>
        <p:spPr>
          <a:xfrm>
            <a:off x="4937739" y="6194129"/>
            <a:ext cx="1855304" cy="61084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개정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교통직·실무직 처우개선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 등 근로환경 개선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4926783" y="6226998"/>
            <a:ext cx="0" cy="54510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라벨 박스"/>
          <p:cNvSpPr/>
          <p:nvPr/>
        </p:nvSpPr>
        <p:spPr>
          <a:xfrm>
            <a:off x="536870" y="6876188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547826" y="6887144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74" name="칸 본문"/>
          <p:cNvSpPr txBox="1"/>
          <p:nvPr/>
        </p:nvSpPr>
        <p:spPr>
          <a:xfrm>
            <a:off x="1183304" y="6892623"/>
            <a:ext cx="1855304" cy="43644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 등</a:t>
            </a:r>
          </a:p>
        </p:txBody>
      </p:sp>
      <p:sp>
        <p:nvSpPr>
          <p:cNvPr id="75" name="칸 본문"/>
          <p:cNvSpPr txBox="1"/>
          <p:nvPr/>
        </p:nvSpPr>
        <p:spPr>
          <a:xfrm>
            <a:off x="3060522" y="6892623"/>
            <a:ext cx="1855304" cy="43644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 등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3049565" y="6925492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 txBox="1"/>
          <p:nvPr/>
        </p:nvSpPr>
        <p:spPr>
          <a:xfrm>
            <a:off x="4937739" y="6892623"/>
            <a:ext cx="1855304" cy="43644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TF·안전위원회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4926783" y="6925492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라벨 박스"/>
          <p:cNvSpPr/>
          <p:nvPr/>
        </p:nvSpPr>
        <p:spPr>
          <a:xfrm>
            <a:off x="536870" y="7400285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레일"/>
          <p:cNvSpPr/>
          <p:nvPr/>
        </p:nvSpPr>
        <p:spPr>
          <a:xfrm>
            <a:off x="547826" y="7411242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1" name="칸 본문"/>
          <p:cNvSpPr txBox="1"/>
          <p:nvPr/>
        </p:nvSpPr>
        <p:spPr>
          <a:xfrm>
            <a:off x="1183304" y="7416720"/>
            <a:ext cx="1855304" cy="43644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안건 일치율</a:t>
            </a:r>
          </a:p>
        </p:txBody>
      </p:sp>
      <p:sp>
        <p:nvSpPr>
          <p:cNvPr id="82" name="칸 본문"/>
          <p:cNvSpPr txBox="1"/>
          <p:nvPr/>
        </p:nvSpPr>
        <p:spPr>
          <a:xfrm>
            <a:off x="3060522" y="7416720"/>
            <a:ext cx="1855304" cy="43644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노사역량지수 설문조사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3049565" y="7449590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 txBox="1"/>
          <p:nvPr/>
        </p:nvSpPr>
        <p:spPr>
          <a:xfrm>
            <a:off x="4937739" y="7416720"/>
            <a:ext cx="1855304" cy="43644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설문조사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4926783" y="7449590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형광 밑줄"/>
          <p:cNvSpPr/>
          <p:nvPr/>
        </p:nvSpPr>
        <p:spPr>
          <a:xfrm>
            <a:off x="536870" y="8143513"/>
            <a:ext cx="407233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소제목"/>
          <p:cNvSpPr txBox="1"/>
          <p:nvPr/>
        </p:nvSpPr>
        <p:spPr>
          <a:xfrm>
            <a:off x="536870" y="7990122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소통·공동 대응으로 분야별 리스크 관리</a:t>
            </a:r>
          </a:p>
        </p:txBody>
      </p:sp>
      <p:sp>
        <p:nvSpPr>
          <p:cNvPr id="88" name="태그칩"/>
          <p:cNvSpPr/>
          <p:nvPr/>
        </p:nvSpPr>
        <p:spPr>
          <a:xfrm>
            <a:off x="4707817" y="8022991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9" name="패널 외곽"/>
          <p:cNvSpPr/>
          <p:nvPr/>
        </p:nvSpPr>
        <p:spPr>
          <a:xfrm>
            <a:off x="536870" y="8285948"/>
            <a:ext cx="3125348" cy="1594205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패널 머리"/>
          <p:cNvSpPr/>
          <p:nvPr/>
        </p:nvSpPr>
        <p:spPr>
          <a:xfrm>
            <a:off x="536870" y="8285948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1" name="레일"/>
          <p:cNvSpPr/>
          <p:nvPr/>
        </p:nvSpPr>
        <p:spPr>
          <a:xfrm>
            <a:off x="569739" y="8559861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92" name="패널 본문"/>
          <p:cNvSpPr txBox="1"/>
          <p:nvPr/>
        </p:nvSpPr>
        <p:spPr>
          <a:xfrm>
            <a:off x="1243565" y="8548904"/>
            <a:ext cx="2385783" cy="43644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1243565" y="898535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69739" y="8996306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95" name="패널 본문"/>
          <p:cNvSpPr txBox="1"/>
          <p:nvPr/>
        </p:nvSpPr>
        <p:spPr>
          <a:xfrm>
            <a:off x="1243565" y="8985350"/>
            <a:ext cx="2385783" cy="43644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1243565" y="9421795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레일"/>
          <p:cNvSpPr/>
          <p:nvPr/>
        </p:nvSpPr>
        <p:spPr>
          <a:xfrm>
            <a:off x="569739" y="9432751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98" name="패널 본문"/>
          <p:cNvSpPr txBox="1"/>
          <p:nvPr/>
        </p:nvSpPr>
        <p:spPr>
          <a:xfrm>
            <a:off x="1243565" y="9421795"/>
            <a:ext cx="2385783" cy="43644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99" name="패널 외곽"/>
          <p:cNvSpPr/>
          <p:nvPr/>
        </p:nvSpPr>
        <p:spPr>
          <a:xfrm>
            <a:off x="3711522" y="8285948"/>
            <a:ext cx="3125348" cy="1594205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패널 머리"/>
          <p:cNvSpPr/>
          <p:nvPr/>
        </p:nvSpPr>
        <p:spPr>
          <a:xfrm>
            <a:off x="3711522" y="8285948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101" name="레일"/>
          <p:cNvSpPr/>
          <p:nvPr/>
        </p:nvSpPr>
        <p:spPr>
          <a:xfrm>
            <a:off x="3744391" y="8559861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102" name="패널 본문"/>
          <p:cNvSpPr txBox="1"/>
          <p:nvPr/>
        </p:nvSpPr>
        <p:spPr>
          <a:xfrm>
            <a:off x="4599000" y="8548904"/>
            <a:ext cx="2205000" cy="43644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4599000" y="898535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4" name="레일"/>
          <p:cNvSpPr/>
          <p:nvPr/>
        </p:nvSpPr>
        <p:spPr>
          <a:xfrm>
            <a:off x="3744391" y="8996306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105" name="패널 본문"/>
          <p:cNvSpPr txBox="1"/>
          <p:nvPr/>
        </p:nvSpPr>
        <p:spPr>
          <a:xfrm>
            <a:off x="4599000" y="8985350"/>
            <a:ext cx="2205000" cy="43644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4599000" y="9421795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레일"/>
          <p:cNvSpPr/>
          <p:nvPr/>
        </p:nvSpPr>
        <p:spPr>
          <a:xfrm>
            <a:off x="3744391" y="9432751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108" name="패널 본문"/>
          <p:cNvSpPr txBox="1"/>
          <p:nvPr/>
        </p:nvSpPr>
        <p:spPr>
          <a:xfrm>
            <a:off x="4599000" y="9421795"/>
            <a:ext cx="2205000" cy="43644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94</a:t>
            </a:r>
          </a:p>
        </p:txBody>
      </p:sp>
      <p:sp>
        <p:nvSpPr>
          <p:cNvPr id="4" name="패널 외곽"/>
          <p:cNvSpPr/>
          <p:nvPr/>
        </p:nvSpPr>
        <p:spPr>
          <a:xfrm>
            <a:off x="723130" y="777913"/>
            <a:ext cx="3125348" cy="721315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패널 머리"/>
          <p:cNvSpPr/>
          <p:nvPr/>
        </p:nvSpPr>
        <p:spPr>
          <a:xfrm>
            <a:off x="723130" y="777913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6" name="레일"/>
          <p:cNvSpPr/>
          <p:nvPr/>
        </p:nvSpPr>
        <p:spPr>
          <a:xfrm>
            <a:off x="756000" y="1051826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7" name="패널 본문"/>
          <p:cNvSpPr txBox="1"/>
          <p:nvPr/>
        </p:nvSpPr>
        <p:spPr>
          <a:xfrm>
            <a:off x="1429826" y="1040870"/>
            <a:ext cx="2385783" cy="43644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8" name="패널 외곽"/>
          <p:cNvSpPr/>
          <p:nvPr/>
        </p:nvSpPr>
        <p:spPr>
          <a:xfrm>
            <a:off x="3897783" y="777913"/>
            <a:ext cx="3125348" cy="721315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패널 머리"/>
          <p:cNvSpPr/>
          <p:nvPr/>
        </p:nvSpPr>
        <p:spPr>
          <a:xfrm>
            <a:off x="3897783" y="777913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10" name="레일"/>
          <p:cNvSpPr/>
          <p:nvPr/>
        </p:nvSpPr>
        <p:spPr>
          <a:xfrm>
            <a:off x="3930652" y="1051826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11" name="패널 본문"/>
          <p:cNvSpPr txBox="1"/>
          <p:nvPr/>
        </p:nvSpPr>
        <p:spPr>
          <a:xfrm>
            <a:off x="4785261" y="1040870"/>
            <a:ext cx="2205000" cy="43644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12" name="핵심성과 박스"/>
          <p:cNvSpPr/>
          <p:nvPr/>
        </p:nvSpPr>
        <p:spPr>
          <a:xfrm>
            <a:off x="723130" y="158688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핵심성과 라벨"/>
          <p:cNvSpPr/>
          <p:nvPr/>
        </p:nvSpPr>
        <p:spPr>
          <a:xfrm>
            <a:off x="756000" y="162522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4" name="핵심성과 문구"/>
          <p:cNvSpPr txBox="1"/>
          <p:nvPr/>
        </p:nvSpPr>
        <p:spPr>
          <a:xfrm>
            <a:off x="1501043" y="1603315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  <p:sp>
        <p:nvSpPr>
          <p:cNvPr id="15" name="번호 띠"/>
          <p:cNvSpPr/>
          <p:nvPr/>
        </p:nvSpPr>
        <p:spPr>
          <a:xfrm>
            <a:off x="723130" y="204079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번호 탭"/>
          <p:cNvSpPr/>
          <p:nvPr/>
        </p:nvSpPr>
        <p:spPr>
          <a:xfrm>
            <a:off x="745043" y="206270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탭 빗면"/>
          <p:cNvSpPr/>
          <p:nvPr/>
        </p:nvSpPr>
        <p:spPr>
          <a:xfrm>
            <a:off x="1139478" y="206270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번호"/>
          <p:cNvSpPr txBox="1"/>
          <p:nvPr/>
        </p:nvSpPr>
        <p:spPr>
          <a:xfrm>
            <a:off x="745043" y="2040793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9" name="번호 띠 제목"/>
          <p:cNvSpPr txBox="1"/>
          <p:nvPr/>
        </p:nvSpPr>
        <p:spPr>
          <a:xfrm>
            <a:off x="1369565" y="2062706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20" name="형광 밑줄"/>
          <p:cNvSpPr/>
          <p:nvPr/>
        </p:nvSpPr>
        <p:spPr>
          <a:xfrm>
            <a:off x="723130" y="2621489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소제목"/>
          <p:cNvSpPr txBox="1"/>
          <p:nvPr/>
        </p:nvSpPr>
        <p:spPr>
          <a:xfrm>
            <a:off x="723130" y="2468097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22" name="태그칩"/>
          <p:cNvSpPr/>
          <p:nvPr/>
        </p:nvSpPr>
        <p:spPr>
          <a:xfrm>
            <a:off x="3955351" y="2500967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2752967"/>
            <a:ext cx="4716783" cy="218404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2769402"/>
            <a:ext cx="580696" cy="43644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5" name="본문"/>
          <p:cNvSpPr txBox="1"/>
          <p:nvPr/>
        </p:nvSpPr>
        <p:spPr>
          <a:xfrm>
            <a:off x="1347652" y="2791315"/>
            <a:ext cx="4064870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6" name="레일"/>
          <p:cNvSpPr/>
          <p:nvPr/>
        </p:nvSpPr>
        <p:spPr>
          <a:xfrm>
            <a:off x="734087" y="3222282"/>
            <a:ext cx="580696" cy="84092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3244195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380087" y="3244195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9" name="칸 본문"/>
          <p:cNvSpPr txBox="1"/>
          <p:nvPr/>
        </p:nvSpPr>
        <p:spPr>
          <a:xfrm>
            <a:off x="1358609" y="3485238"/>
            <a:ext cx="2010522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0" name="칸 본문"/>
          <p:cNvSpPr txBox="1"/>
          <p:nvPr/>
        </p:nvSpPr>
        <p:spPr>
          <a:xfrm>
            <a:off x="3391043" y="3485238"/>
            <a:ext cx="2010522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380087" y="3518108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4079645"/>
            <a:ext cx="580696" cy="84092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3" name="단계"/>
          <p:cNvSpPr/>
          <p:nvPr/>
        </p:nvSpPr>
        <p:spPr>
          <a:xfrm>
            <a:off x="1347652" y="4101558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4" name="단계"/>
          <p:cNvSpPr/>
          <p:nvPr/>
        </p:nvSpPr>
        <p:spPr>
          <a:xfrm>
            <a:off x="2363870" y="4101558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35" name="단계"/>
          <p:cNvSpPr/>
          <p:nvPr/>
        </p:nvSpPr>
        <p:spPr>
          <a:xfrm>
            <a:off x="3380087" y="4101558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6" name="단계"/>
          <p:cNvSpPr/>
          <p:nvPr/>
        </p:nvSpPr>
        <p:spPr>
          <a:xfrm>
            <a:off x="4396304" y="4101558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363869" y="410155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3380086" y="410155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396304" y="410155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 txBox="1"/>
          <p:nvPr/>
        </p:nvSpPr>
        <p:spPr>
          <a:xfrm>
            <a:off x="1358609" y="4353558"/>
            <a:ext cx="994304" cy="54510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1" name="칸 본문"/>
          <p:cNvSpPr txBox="1"/>
          <p:nvPr/>
        </p:nvSpPr>
        <p:spPr>
          <a:xfrm>
            <a:off x="2374826" y="4353558"/>
            <a:ext cx="994304" cy="54510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363870" y="4386428"/>
            <a:ext cx="0" cy="47936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 txBox="1"/>
          <p:nvPr/>
        </p:nvSpPr>
        <p:spPr>
          <a:xfrm>
            <a:off x="3391043" y="4353558"/>
            <a:ext cx="994304" cy="54510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380087" y="4386428"/>
            <a:ext cx="0" cy="47936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 txBox="1"/>
          <p:nvPr/>
        </p:nvSpPr>
        <p:spPr>
          <a:xfrm>
            <a:off x="4407261" y="4353558"/>
            <a:ext cx="994304" cy="54510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396304" y="4386428"/>
            <a:ext cx="0" cy="47936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성과 화살표"/>
          <p:cNvSpPr/>
          <p:nvPr/>
        </p:nvSpPr>
        <p:spPr>
          <a:xfrm>
            <a:off x="5467304" y="3702553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성과 패널 머리"/>
          <p:cNvSpPr/>
          <p:nvPr/>
        </p:nvSpPr>
        <p:spPr>
          <a:xfrm>
            <a:off x="5637130" y="2752967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성과 패널"/>
          <p:cNvSpPr/>
          <p:nvPr/>
        </p:nvSpPr>
        <p:spPr>
          <a:xfrm>
            <a:off x="5637130" y="3004967"/>
            <a:ext cx="1386000" cy="1932042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성과 패널 본문"/>
          <p:cNvSpPr txBox="1"/>
          <p:nvPr/>
        </p:nvSpPr>
        <p:spPr>
          <a:xfrm>
            <a:off x="5659043" y="3026880"/>
            <a:ext cx="1342174" cy="1888216"/>
          </a:xfrm>
          <a:prstGeom prst="rect">
            <a:avLst/>
          </a:prstGeom>
          <a:noFill/>
        </p:spPr>
        <p:txBody>
          <a:bodyPr wrap="square" lIns="54000" tIns="18000" rIns="36000" bIns="180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1" name="형광 밑줄"/>
          <p:cNvSpPr/>
          <p:nvPr/>
        </p:nvSpPr>
        <p:spPr>
          <a:xfrm>
            <a:off x="723130" y="5210922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소제목"/>
          <p:cNvSpPr txBox="1"/>
          <p:nvPr/>
        </p:nvSpPr>
        <p:spPr>
          <a:xfrm>
            <a:off x="723130" y="5057530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53" name="태그칩"/>
          <p:cNvSpPr/>
          <p:nvPr/>
        </p:nvSpPr>
        <p:spPr>
          <a:xfrm>
            <a:off x="3932802" y="5090400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54" name="표 외곽"/>
          <p:cNvSpPr/>
          <p:nvPr/>
        </p:nvSpPr>
        <p:spPr>
          <a:xfrm>
            <a:off x="723130" y="5342400"/>
            <a:ext cx="6300000" cy="223973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레일"/>
          <p:cNvSpPr/>
          <p:nvPr/>
        </p:nvSpPr>
        <p:spPr>
          <a:xfrm>
            <a:off x="734087" y="5358835"/>
            <a:ext cx="580696" cy="666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53807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53807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58" name="칸 본문"/>
          <p:cNvSpPr txBox="1"/>
          <p:nvPr/>
        </p:nvSpPr>
        <p:spPr>
          <a:xfrm>
            <a:off x="1358609" y="5621791"/>
            <a:ext cx="2802130" cy="38166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노사 협력 강화 공감대 형성</a:t>
            </a:r>
          </a:p>
        </p:txBody>
      </p:sp>
      <p:sp>
        <p:nvSpPr>
          <p:cNvPr id="59" name="칸 본문"/>
          <p:cNvSpPr txBox="1"/>
          <p:nvPr/>
        </p:nvSpPr>
        <p:spPr>
          <a:xfrm>
            <a:off x="4182652" y="5621791"/>
            <a:ext cx="2802130" cy="38166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동의를 받은 1명을 비상임이사로 포함'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171696" y="5654661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6041802"/>
            <a:ext cx="580696" cy="666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62" name="머리칸"/>
          <p:cNvSpPr/>
          <p:nvPr/>
        </p:nvSpPr>
        <p:spPr>
          <a:xfrm>
            <a:off x="1347652" y="606371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명문화(단체협약 제60조)</a:t>
            </a:r>
          </a:p>
        </p:txBody>
      </p:sp>
      <p:sp>
        <p:nvSpPr>
          <p:cNvPr id="63" name="머리칸"/>
          <p:cNvSpPr/>
          <p:nvPr/>
        </p:nvSpPr>
        <p:spPr>
          <a:xfrm>
            <a:off x="4171696" y="606371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64" name="칸 본문"/>
          <p:cNvSpPr txBox="1"/>
          <p:nvPr/>
        </p:nvSpPr>
        <p:spPr>
          <a:xfrm>
            <a:off x="1358609" y="6304758"/>
            <a:ext cx="2802130" cy="38166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노동이사제의 적극 시행과 직무 수행 지원, 불이익 처분 및 대우 금지 등 조항 마련</a:t>
            </a:r>
          </a:p>
        </p:txBody>
      </p:sp>
      <p:sp>
        <p:nvSpPr>
          <p:cNvPr id="65" name="칸 본문"/>
          <p:cNvSpPr txBox="1"/>
          <p:nvPr/>
        </p:nvSpPr>
        <p:spPr>
          <a:xfrm>
            <a:off x="4182652" y="6304758"/>
            <a:ext cx="2802130" cy="38166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 시 업무수행·역량강화를 위한 교육과정 지원 및 소통채널 운영 협의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4171696" y="6337628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734087" y="6724769"/>
            <a:ext cx="580696" cy="84092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68" name="단계"/>
          <p:cNvSpPr/>
          <p:nvPr/>
        </p:nvSpPr>
        <p:spPr>
          <a:xfrm>
            <a:off x="1347652" y="674668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69" name="단계"/>
          <p:cNvSpPr/>
          <p:nvPr/>
        </p:nvSpPr>
        <p:spPr>
          <a:xfrm>
            <a:off x="2759674" y="674668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70" name="단계"/>
          <p:cNvSpPr/>
          <p:nvPr/>
        </p:nvSpPr>
        <p:spPr>
          <a:xfrm>
            <a:off x="4171696" y="674668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71" name="단계"/>
          <p:cNvSpPr/>
          <p:nvPr/>
        </p:nvSpPr>
        <p:spPr>
          <a:xfrm>
            <a:off x="5583717" y="674668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2759673" y="674668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4171695" y="674668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 삼각형"/>
          <p:cNvSpPr/>
          <p:nvPr/>
        </p:nvSpPr>
        <p:spPr>
          <a:xfrm>
            <a:off x="5583717" y="674668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칸 본문"/>
          <p:cNvSpPr txBox="1"/>
          <p:nvPr/>
        </p:nvSpPr>
        <p:spPr>
          <a:xfrm>
            <a:off x="1358609" y="6998682"/>
            <a:ext cx="1390109" cy="54510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76" name="칸 본문"/>
          <p:cNvSpPr txBox="1"/>
          <p:nvPr/>
        </p:nvSpPr>
        <p:spPr>
          <a:xfrm>
            <a:off x="2770630" y="6998682"/>
            <a:ext cx="1390109" cy="54510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2759674" y="7031551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칸 본문"/>
          <p:cNvSpPr txBox="1"/>
          <p:nvPr/>
        </p:nvSpPr>
        <p:spPr>
          <a:xfrm>
            <a:off x="4182652" y="6998682"/>
            <a:ext cx="1390109" cy="54510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후보자 추천위원회 심사 실시('26.1.13.)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4171696" y="7031551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 txBox="1"/>
          <p:nvPr/>
        </p:nvSpPr>
        <p:spPr>
          <a:xfrm>
            <a:off x="5594674" y="6998682"/>
            <a:ext cx="1390109" cy="54510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583717" y="7031551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핵심성과 박스"/>
          <p:cNvSpPr/>
          <p:nvPr/>
        </p:nvSpPr>
        <p:spPr>
          <a:xfrm>
            <a:off x="723130" y="766978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핵심성과 라벨"/>
          <p:cNvSpPr/>
          <p:nvPr/>
        </p:nvSpPr>
        <p:spPr>
          <a:xfrm>
            <a:off x="756000" y="770813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4" name="핵심성과 문구"/>
          <p:cNvSpPr txBox="1"/>
          <p:nvPr/>
        </p:nvSpPr>
        <p:spPr>
          <a:xfrm>
            <a:off x="1501043" y="7686219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  <p:sp>
        <p:nvSpPr>
          <p:cNvPr id="85" name="형광 밑줄"/>
          <p:cNvSpPr/>
          <p:nvPr/>
        </p:nvSpPr>
        <p:spPr>
          <a:xfrm>
            <a:off x="723130" y="8255176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소제목"/>
          <p:cNvSpPr txBox="1"/>
          <p:nvPr/>
        </p:nvSpPr>
        <p:spPr>
          <a:xfrm>
            <a:off x="723130" y="8101784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87" name="태그칩"/>
          <p:cNvSpPr/>
          <p:nvPr/>
        </p:nvSpPr>
        <p:spPr>
          <a:xfrm>
            <a:off x="4224152" y="8134654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88" name="라벨 박스"/>
          <p:cNvSpPr/>
          <p:nvPr/>
        </p:nvSpPr>
        <p:spPr>
          <a:xfrm>
            <a:off x="723130" y="8397610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레일"/>
          <p:cNvSpPr/>
          <p:nvPr/>
        </p:nvSpPr>
        <p:spPr>
          <a:xfrm>
            <a:off x="734087" y="8408567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0" name="본문"/>
          <p:cNvSpPr txBox="1"/>
          <p:nvPr/>
        </p:nvSpPr>
        <p:spPr>
          <a:xfrm>
            <a:off x="1358609" y="8414045"/>
            <a:ext cx="5631652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91" name="라벨 박스"/>
          <p:cNvSpPr/>
          <p:nvPr/>
        </p:nvSpPr>
        <p:spPr>
          <a:xfrm>
            <a:off x="723130" y="8742741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8753697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93" name="가운데 글"/>
          <p:cNvSpPr txBox="1"/>
          <p:nvPr/>
        </p:nvSpPr>
        <p:spPr>
          <a:xfrm>
            <a:off x="1358609" y="8759176"/>
            <a:ext cx="5631652" cy="26204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94" name="주석"/>
          <p:cNvSpPr txBox="1"/>
          <p:nvPr/>
        </p:nvSpPr>
        <p:spPr>
          <a:xfrm>
            <a:off x="2366609" y="9070529"/>
            <a:ext cx="4656522" cy="1753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라벨 박스"/>
          <p:cNvSpPr/>
          <p:nvPr/>
        </p:nvSpPr>
        <p:spPr>
          <a:xfrm>
            <a:off x="536870" y="766957"/>
            <a:ext cx="6300000" cy="69940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레일"/>
          <p:cNvSpPr/>
          <p:nvPr/>
        </p:nvSpPr>
        <p:spPr>
          <a:xfrm>
            <a:off x="547826" y="777913"/>
            <a:ext cx="591652" cy="67748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9" name="머리칸"/>
          <p:cNvSpPr/>
          <p:nvPr/>
        </p:nvSpPr>
        <p:spPr>
          <a:xfrm>
            <a:off x="1172348" y="794348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10" name="머리칸"/>
          <p:cNvSpPr/>
          <p:nvPr/>
        </p:nvSpPr>
        <p:spPr>
          <a:xfrm>
            <a:off x="3049565" y="794348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11" name="머리칸"/>
          <p:cNvSpPr/>
          <p:nvPr/>
        </p:nvSpPr>
        <p:spPr>
          <a:xfrm>
            <a:off x="4926783" y="794348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12" name="칸 본문"/>
          <p:cNvSpPr txBox="1"/>
          <p:nvPr/>
        </p:nvSpPr>
        <p:spPr>
          <a:xfrm>
            <a:off x="1183304" y="1035391"/>
            <a:ext cx="1855304" cy="41453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13" name="칸 본문"/>
          <p:cNvSpPr txBox="1"/>
          <p:nvPr/>
        </p:nvSpPr>
        <p:spPr>
          <a:xfrm>
            <a:off x="3060522" y="1035391"/>
            <a:ext cx="1855304" cy="41453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49565" y="1068261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5" name="칸 본문"/>
          <p:cNvSpPr txBox="1"/>
          <p:nvPr/>
        </p:nvSpPr>
        <p:spPr>
          <a:xfrm>
            <a:off x="4937739" y="1035391"/>
            <a:ext cx="1855304" cy="41453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26783" y="1068261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7" name="라벨 박스"/>
          <p:cNvSpPr/>
          <p:nvPr/>
        </p:nvSpPr>
        <p:spPr>
          <a:xfrm>
            <a:off x="536870" y="1521141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532097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19" name="칸 본문"/>
          <p:cNvSpPr txBox="1"/>
          <p:nvPr/>
        </p:nvSpPr>
        <p:spPr>
          <a:xfrm>
            <a:off x="1183304" y="1537576"/>
            <a:ext cx="1855304" cy="43644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20" name="칸 본문"/>
          <p:cNvSpPr txBox="1"/>
          <p:nvPr/>
        </p:nvSpPr>
        <p:spPr>
          <a:xfrm>
            <a:off x="3060522" y="1537576"/>
            <a:ext cx="1855304" cy="43644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049565" y="1570445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 txBox="1"/>
          <p:nvPr/>
        </p:nvSpPr>
        <p:spPr>
          <a:xfrm>
            <a:off x="4937739" y="1537576"/>
            <a:ext cx="1855304" cy="43644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926783" y="1570445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핵심성과 박스"/>
          <p:cNvSpPr/>
          <p:nvPr/>
        </p:nvSpPr>
        <p:spPr>
          <a:xfrm>
            <a:off x="536870" y="207810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핵심성과 라벨"/>
          <p:cNvSpPr/>
          <p:nvPr/>
        </p:nvSpPr>
        <p:spPr>
          <a:xfrm>
            <a:off x="569739" y="211097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6" name="핵심성과 문구"/>
          <p:cNvSpPr txBox="1"/>
          <p:nvPr/>
        </p:nvSpPr>
        <p:spPr>
          <a:xfrm>
            <a:off x="1314783" y="2100021"/>
            <a:ext cx="5456348" cy="480522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  <p:sp>
        <p:nvSpPr>
          <p:cNvPr id="27" name="평가내용 라벨"/>
          <p:cNvSpPr/>
          <p:nvPr/>
        </p:nvSpPr>
        <p:spPr>
          <a:xfrm>
            <a:off x="536870" y="2755847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8" name="평가내용 제목 박스"/>
          <p:cNvSpPr/>
          <p:nvPr/>
        </p:nvSpPr>
        <p:spPr>
          <a:xfrm>
            <a:off x="1522957" y="2766803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평가내용 제목"/>
          <p:cNvSpPr txBox="1"/>
          <p:nvPr/>
        </p:nvSpPr>
        <p:spPr>
          <a:xfrm>
            <a:off x="1632522" y="2777760"/>
            <a:ext cx="5127652" cy="5533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안전보건 관리체계가 법령에 맞게 구축되고 중대재해 예방에 실질적으로 작동하는지 여부</a:t>
            </a:r>
          </a:p>
        </p:txBody>
      </p:sp>
      <p:sp>
        <p:nvSpPr>
          <p:cNvPr id="30" name="점"/>
          <p:cNvSpPr/>
          <p:nvPr/>
        </p:nvSpPr>
        <p:spPr>
          <a:xfrm>
            <a:off x="871043" y="3292717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점"/>
          <p:cNvSpPr/>
          <p:nvPr/>
        </p:nvSpPr>
        <p:spPr>
          <a:xfrm>
            <a:off x="947739" y="3292717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점"/>
          <p:cNvSpPr/>
          <p:nvPr/>
        </p:nvSpPr>
        <p:spPr>
          <a:xfrm>
            <a:off x="1024435" y="3292717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점"/>
          <p:cNvSpPr/>
          <p:nvPr/>
        </p:nvSpPr>
        <p:spPr>
          <a:xfrm>
            <a:off x="1101130" y="3292717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점"/>
          <p:cNvSpPr/>
          <p:nvPr/>
        </p:nvSpPr>
        <p:spPr>
          <a:xfrm>
            <a:off x="1177826" y="3292717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번호 띠"/>
          <p:cNvSpPr/>
          <p:nvPr/>
        </p:nvSpPr>
        <p:spPr>
          <a:xfrm>
            <a:off x="536870" y="349541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번호 탭"/>
          <p:cNvSpPr/>
          <p:nvPr/>
        </p:nvSpPr>
        <p:spPr>
          <a:xfrm>
            <a:off x="558782" y="3517325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번호 탭 빗면"/>
          <p:cNvSpPr/>
          <p:nvPr/>
        </p:nvSpPr>
        <p:spPr>
          <a:xfrm>
            <a:off x="953217" y="3517325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번호"/>
          <p:cNvSpPr txBox="1"/>
          <p:nvPr/>
        </p:nvSpPr>
        <p:spPr>
          <a:xfrm>
            <a:off x="558783" y="3495412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9" name="번호 띠 제목"/>
          <p:cNvSpPr txBox="1"/>
          <p:nvPr/>
        </p:nvSpPr>
        <p:spPr>
          <a:xfrm>
            <a:off x="1183304" y="3517325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 중심 안전보건 관리체계 고도화</a:t>
            </a:r>
          </a:p>
        </p:txBody>
      </p:sp>
      <p:sp>
        <p:nvSpPr>
          <p:cNvPr id="40" name="형광 밑줄"/>
          <p:cNvSpPr/>
          <p:nvPr/>
        </p:nvSpPr>
        <p:spPr>
          <a:xfrm>
            <a:off x="536870" y="4076108"/>
            <a:ext cx="25101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소제목"/>
          <p:cNvSpPr txBox="1"/>
          <p:nvPr/>
        </p:nvSpPr>
        <p:spPr>
          <a:xfrm>
            <a:off x="536870" y="3922717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사고 원인분석에 기반한 예방 대책 수립</a:t>
            </a:r>
          </a:p>
        </p:txBody>
      </p:sp>
      <p:sp>
        <p:nvSpPr>
          <p:cNvPr id="42" name="태그칩"/>
          <p:cNvSpPr/>
          <p:nvPr/>
        </p:nvSpPr>
        <p:spPr>
          <a:xfrm>
            <a:off x="3145604" y="395558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43" name="표 외곽"/>
          <p:cNvSpPr/>
          <p:nvPr/>
        </p:nvSpPr>
        <p:spPr>
          <a:xfrm>
            <a:off x="536870" y="4207586"/>
            <a:ext cx="6300000" cy="185716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"/>
          <p:cNvSpPr/>
          <p:nvPr/>
        </p:nvSpPr>
        <p:spPr>
          <a:xfrm>
            <a:off x="547826" y="4224021"/>
            <a:ext cx="580696" cy="43644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45" name="본문"/>
          <p:cNvSpPr txBox="1"/>
          <p:nvPr/>
        </p:nvSpPr>
        <p:spPr>
          <a:xfrm>
            <a:off x="1161391" y="4245934"/>
            <a:ext cx="5648087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최근 3년 현장 작업 중 협착·추락 사고 12건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외주 근로자 비중 높은 사업장에서 위험요인 점검 사각 확인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4676901"/>
            <a:ext cx="580696" cy="67748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467690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머리칸"/>
          <p:cNvSpPr/>
          <p:nvPr/>
        </p:nvSpPr>
        <p:spPr>
          <a:xfrm>
            <a:off x="1161391" y="469881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작업환경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469881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0" name="머리칸"/>
          <p:cNvSpPr/>
          <p:nvPr/>
        </p:nvSpPr>
        <p:spPr>
          <a:xfrm>
            <a:off x="4926783" y="469881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1" name="칸 본문"/>
          <p:cNvSpPr txBox="1"/>
          <p:nvPr/>
        </p:nvSpPr>
        <p:spPr>
          <a:xfrm>
            <a:off x="1172348" y="4939857"/>
            <a:ext cx="1860783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설비 12종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야간·단독 작업</a:t>
            </a:r>
          </a:p>
        </p:txBody>
      </p:sp>
      <p:sp>
        <p:nvSpPr>
          <p:cNvPr id="52" name="칸 본문"/>
          <p:cNvSpPr txBox="1"/>
          <p:nvPr/>
        </p:nvSpPr>
        <p:spPr>
          <a:xfrm>
            <a:off x="3055043" y="4939857"/>
            <a:ext cx="1860783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점검표 항목 중복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책임부서 분산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3044087" y="497272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 txBox="1"/>
          <p:nvPr/>
        </p:nvSpPr>
        <p:spPr>
          <a:xfrm>
            <a:off x="4937739" y="4939857"/>
            <a:ext cx="1860783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투입 인력 교육 미흡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926783" y="497272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70824"/>
            <a:ext cx="580696" cy="67748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책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537082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"/>
          <p:cNvSpPr/>
          <p:nvPr/>
        </p:nvSpPr>
        <p:spPr>
          <a:xfrm>
            <a:off x="1161391" y="5392737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</a:t>
            </a:r>
          </a:p>
        </p:txBody>
      </p:sp>
      <p:sp>
        <p:nvSpPr>
          <p:cNvPr id="59" name="단계"/>
          <p:cNvSpPr/>
          <p:nvPr/>
        </p:nvSpPr>
        <p:spPr>
          <a:xfrm>
            <a:off x="2291009" y="5392737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설비 개선</a:t>
            </a:r>
          </a:p>
        </p:txBody>
      </p:sp>
      <p:sp>
        <p:nvSpPr>
          <p:cNvPr id="60" name="단계"/>
          <p:cNvSpPr/>
          <p:nvPr/>
        </p:nvSpPr>
        <p:spPr>
          <a:xfrm>
            <a:off x="3420626" y="5392737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강화</a:t>
            </a:r>
          </a:p>
        </p:txBody>
      </p:sp>
      <p:sp>
        <p:nvSpPr>
          <p:cNvPr id="61" name="단계"/>
          <p:cNvSpPr/>
          <p:nvPr/>
        </p:nvSpPr>
        <p:spPr>
          <a:xfrm>
            <a:off x="4550243" y="5392737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점검·환류</a:t>
            </a:r>
          </a:p>
        </p:txBody>
      </p:sp>
      <p:sp>
        <p:nvSpPr>
          <p:cNvPr id="62" name="단계"/>
          <p:cNvSpPr/>
          <p:nvPr/>
        </p:nvSpPr>
        <p:spPr>
          <a:xfrm>
            <a:off x="5679861" y="5392737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공유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2291008" y="539273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3420626" y="539273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550243" y="539273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5679860" y="539273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 txBox="1"/>
          <p:nvPr/>
        </p:nvSpPr>
        <p:spPr>
          <a:xfrm>
            <a:off x="1172348" y="5644737"/>
            <a:ext cx="1107704" cy="38166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평가 실시</a:t>
            </a:r>
          </a:p>
        </p:txBody>
      </p:sp>
      <p:sp>
        <p:nvSpPr>
          <p:cNvPr id="68" name="칸 본문"/>
          <p:cNvSpPr txBox="1"/>
          <p:nvPr/>
        </p:nvSpPr>
        <p:spPr>
          <a:xfrm>
            <a:off x="2301965" y="5644737"/>
            <a:ext cx="1107704" cy="38166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설비 교체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291009" y="5677607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 txBox="1"/>
          <p:nvPr/>
        </p:nvSpPr>
        <p:spPr>
          <a:xfrm>
            <a:off x="3431583" y="5644737"/>
            <a:ext cx="1107704" cy="38166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인력 사전교육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3420626" y="5677607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 txBox="1"/>
          <p:nvPr/>
        </p:nvSpPr>
        <p:spPr>
          <a:xfrm>
            <a:off x="4561200" y="5644737"/>
            <a:ext cx="1107704" cy="38166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1회 합동점검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4550243" y="5677607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칸 본문"/>
          <p:cNvSpPr txBox="1"/>
          <p:nvPr/>
        </p:nvSpPr>
        <p:spPr>
          <a:xfrm>
            <a:off x="5690817" y="5644737"/>
            <a:ext cx="1107704" cy="38166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우수사례 확산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679861" y="5677607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삼각 화살표"/>
          <p:cNvSpPr/>
          <p:nvPr/>
        </p:nvSpPr>
        <p:spPr>
          <a:xfrm>
            <a:off x="3823826" y="6108573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라벨 박스"/>
          <p:cNvSpPr/>
          <p:nvPr/>
        </p:nvSpPr>
        <p:spPr>
          <a:xfrm>
            <a:off x="536870" y="6333183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6344139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79" name="강조 바"/>
          <p:cNvSpPr/>
          <p:nvPr/>
        </p:nvSpPr>
        <p:spPr>
          <a:xfrm>
            <a:off x="1172348" y="6366052"/>
            <a:ext cx="5631652" cy="22917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강조 바 글"/>
          <p:cNvSpPr txBox="1"/>
          <p:nvPr/>
        </p:nvSpPr>
        <p:spPr>
          <a:xfrm>
            <a:off x="1172348" y="6366052"/>
            <a:ext cx="5631652" cy="22917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중대재해 제로, 작업 전 위험요인 100% 사전 점검</a:t>
            </a:r>
          </a:p>
        </p:txBody>
      </p:sp>
      <p:sp>
        <p:nvSpPr>
          <p:cNvPr id="81" name="라벨 박스"/>
          <p:cNvSpPr/>
          <p:nvPr/>
        </p:nvSpPr>
        <p:spPr>
          <a:xfrm>
            <a:off x="536870" y="6682883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6693840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83" name="칸 본문"/>
          <p:cNvSpPr txBox="1"/>
          <p:nvPr/>
        </p:nvSpPr>
        <p:spPr>
          <a:xfrm>
            <a:off x="1183304" y="6699318"/>
            <a:ext cx="1855304" cy="43644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설비 안전장치 확충</a:t>
            </a:r>
          </a:p>
        </p:txBody>
      </p:sp>
      <p:sp>
        <p:nvSpPr>
          <p:cNvPr id="84" name="칸 본문"/>
          <p:cNvSpPr txBox="1"/>
          <p:nvPr/>
        </p:nvSpPr>
        <p:spPr>
          <a:xfrm>
            <a:off x="3060522" y="6699318"/>
            <a:ext cx="1855304" cy="43644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인력 사전교육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외주 근로자 안전교육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3049565" y="6732188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4937739" y="6699318"/>
            <a:ext cx="1855304" cy="43644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합동점검 정례화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사례 공유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4926783" y="6732188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핵심성과 박스"/>
          <p:cNvSpPr/>
          <p:nvPr/>
        </p:nvSpPr>
        <p:spPr>
          <a:xfrm>
            <a:off x="536870" y="723985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핵심성과 라벨"/>
          <p:cNvSpPr/>
          <p:nvPr/>
        </p:nvSpPr>
        <p:spPr>
          <a:xfrm>
            <a:off x="569739" y="727819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0" name="핵심성과 문구"/>
          <p:cNvSpPr txBox="1"/>
          <p:nvPr/>
        </p:nvSpPr>
        <p:spPr>
          <a:xfrm>
            <a:off x="1314783" y="7256285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중대재해 0건 유지, 위험요인 개선 완료율 전년대비 18%p 상승</a:t>
            </a:r>
          </a:p>
        </p:txBody>
      </p:sp>
      <p:sp>
        <p:nvSpPr>
          <p:cNvPr id="91" name="평가내용 라벨"/>
          <p:cNvSpPr/>
          <p:nvPr/>
        </p:nvSpPr>
        <p:spPr>
          <a:xfrm>
            <a:off x="536870" y="7704720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2" name="평가내용 제목 박스"/>
          <p:cNvSpPr/>
          <p:nvPr/>
        </p:nvSpPr>
        <p:spPr>
          <a:xfrm>
            <a:off x="1522957" y="7715677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평가내용 제목"/>
          <p:cNvSpPr txBox="1"/>
          <p:nvPr/>
        </p:nvSpPr>
        <p:spPr>
          <a:xfrm>
            <a:off x="1632522" y="7726633"/>
            <a:ext cx="5127652" cy="5533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역량 강화를 위한 교육 프로그램이 현안별 전문성을 높이는 방향으로 운영되는지 여부</a:t>
            </a:r>
          </a:p>
        </p:txBody>
      </p:sp>
      <p:sp>
        <p:nvSpPr>
          <p:cNvPr id="94" name="점"/>
          <p:cNvSpPr/>
          <p:nvPr/>
        </p:nvSpPr>
        <p:spPr>
          <a:xfrm>
            <a:off x="871043" y="8241590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점"/>
          <p:cNvSpPr/>
          <p:nvPr/>
        </p:nvSpPr>
        <p:spPr>
          <a:xfrm>
            <a:off x="947739" y="8241590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점"/>
          <p:cNvSpPr/>
          <p:nvPr/>
        </p:nvSpPr>
        <p:spPr>
          <a:xfrm>
            <a:off x="1024435" y="8241590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점"/>
          <p:cNvSpPr/>
          <p:nvPr/>
        </p:nvSpPr>
        <p:spPr>
          <a:xfrm>
            <a:off x="1101130" y="8241590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점"/>
          <p:cNvSpPr/>
          <p:nvPr/>
        </p:nvSpPr>
        <p:spPr>
          <a:xfrm>
            <a:off x="1177826" y="8241590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번호 띠"/>
          <p:cNvSpPr/>
          <p:nvPr/>
        </p:nvSpPr>
        <p:spPr>
          <a:xfrm>
            <a:off x="536870" y="8444285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번호 탭"/>
          <p:cNvSpPr/>
          <p:nvPr/>
        </p:nvSpPr>
        <p:spPr>
          <a:xfrm>
            <a:off x="558782" y="8466198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번호 탭 빗면"/>
          <p:cNvSpPr/>
          <p:nvPr/>
        </p:nvSpPr>
        <p:spPr>
          <a:xfrm>
            <a:off x="953217" y="8466198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번호"/>
          <p:cNvSpPr txBox="1"/>
          <p:nvPr/>
        </p:nvSpPr>
        <p:spPr>
          <a:xfrm>
            <a:off x="558783" y="8444285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03" name="번호 띠 제목"/>
          <p:cNvSpPr txBox="1"/>
          <p:nvPr/>
        </p:nvSpPr>
        <p:spPr>
          <a:xfrm>
            <a:off x="1183304" y="8466198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4" name="형광 밑줄"/>
          <p:cNvSpPr/>
          <p:nvPr/>
        </p:nvSpPr>
        <p:spPr>
          <a:xfrm>
            <a:off x="536870" y="9024981"/>
            <a:ext cx="23432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소제목"/>
          <p:cNvSpPr txBox="1"/>
          <p:nvPr/>
        </p:nvSpPr>
        <p:spPr>
          <a:xfrm>
            <a:off x="536870" y="8871590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대상별 맞춤형 교육체계 수립과 운영</a:t>
            </a:r>
          </a:p>
        </p:txBody>
      </p:sp>
      <p:sp>
        <p:nvSpPr>
          <p:cNvPr id="106" name="태그칩"/>
          <p:cNvSpPr/>
          <p:nvPr/>
        </p:nvSpPr>
        <p:spPr>
          <a:xfrm>
            <a:off x="2978756" y="8904459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07" name="라벨 박스"/>
          <p:cNvSpPr/>
          <p:nvPr/>
        </p:nvSpPr>
        <p:spPr>
          <a:xfrm>
            <a:off x="536870" y="9167416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547826" y="9178372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09" name="가운데 글"/>
          <p:cNvSpPr txBox="1"/>
          <p:nvPr/>
        </p:nvSpPr>
        <p:spPr>
          <a:xfrm>
            <a:off x="1172348" y="9183850"/>
            <a:ext cx="5631652" cy="26204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96</a:t>
            </a:r>
          </a:p>
        </p:txBody>
      </p:sp>
      <p:sp>
        <p:nvSpPr>
          <p:cNvPr id="4" name="라벨 박스"/>
          <p:cNvSpPr/>
          <p:nvPr/>
        </p:nvSpPr>
        <p:spPr>
          <a:xfrm>
            <a:off x="723130" y="777913"/>
            <a:ext cx="6300000" cy="69940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레일"/>
          <p:cNvSpPr/>
          <p:nvPr/>
        </p:nvSpPr>
        <p:spPr>
          <a:xfrm>
            <a:off x="734087" y="788870"/>
            <a:ext cx="591652" cy="67748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6" name="머리칸"/>
          <p:cNvSpPr/>
          <p:nvPr/>
        </p:nvSpPr>
        <p:spPr>
          <a:xfrm>
            <a:off x="1358609" y="805304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7" name="머리칸"/>
          <p:cNvSpPr/>
          <p:nvPr/>
        </p:nvSpPr>
        <p:spPr>
          <a:xfrm>
            <a:off x="4174435" y="805304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8" name="칸 본문"/>
          <p:cNvSpPr txBox="1"/>
          <p:nvPr/>
        </p:nvSpPr>
        <p:spPr>
          <a:xfrm>
            <a:off x="1369565" y="1046348"/>
            <a:ext cx="2793913" cy="41453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9" name="칸 본문"/>
          <p:cNvSpPr txBox="1"/>
          <p:nvPr/>
        </p:nvSpPr>
        <p:spPr>
          <a:xfrm>
            <a:off x="4185391" y="1046348"/>
            <a:ext cx="2793913" cy="41453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74435" y="1079217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" name="삼각 화살표"/>
          <p:cNvSpPr/>
          <p:nvPr/>
        </p:nvSpPr>
        <p:spPr>
          <a:xfrm>
            <a:off x="4010086" y="1521140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2" name="실적표"/>
          <p:cNvGraphicFramePr>
            <a:graphicFrameLocks noGrp="1"/>
          </p:cNvGraphicFramePr>
          <p:nvPr/>
        </p:nvGraphicFramePr>
        <p:xfrm>
          <a:off x="723130" y="1778619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형광 밑줄"/>
          <p:cNvSpPr/>
          <p:nvPr/>
        </p:nvSpPr>
        <p:spPr>
          <a:xfrm>
            <a:off x="723130" y="4254793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 txBox="1"/>
          <p:nvPr/>
        </p:nvSpPr>
        <p:spPr>
          <a:xfrm>
            <a:off x="723130" y="4101402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5" name="태그칩"/>
          <p:cNvSpPr/>
          <p:nvPr/>
        </p:nvSpPr>
        <p:spPr>
          <a:xfrm>
            <a:off x="3595310" y="4134271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4386271"/>
            <a:ext cx="6300000" cy="20498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4402706"/>
            <a:ext cx="580696" cy="114861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442461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466018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466018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1" name="머리칸"/>
          <p:cNvSpPr/>
          <p:nvPr/>
        </p:nvSpPr>
        <p:spPr>
          <a:xfrm>
            <a:off x="5113043" y="466018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2" name="칸 본문"/>
          <p:cNvSpPr txBox="1"/>
          <p:nvPr/>
        </p:nvSpPr>
        <p:spPr>
          <a:xfrm>
            <a:off x="1358609" y="4901228"/>
            <a:ext cx="1860783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3" name="칸 본문"/>
          <p:cNvSpPr txBox="1"/>
          <p:nvPr/>
        </p:nvSpPr>
        <p:spPr>
          <a:xfrm>
            <a:off x="3241304" y="4901228"/>
            <a:ext cx="1860783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230348" y="493409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 txBox="1"/>
          <p:nvPr/>
        </p:nvSpPr>
        <p:spPr>
          <a:xfrm>
            <a:off x="5124000" y="4901228"/>
            <a:ext cx="1860783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113043" y="493409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태그"/>
          <p:cNvSpPr/>
          <p:nvPr/>
        </p:nvSpPr>
        <p:spPr>
          <a:xfrm>
            <a:off x="1347652" y="5332195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8" name="태그 설명"/>
          <p:cNvSpPr txBox="1"/>
          <p:nvPr/>
        </p:nvSpPr>
        <p:spPr>
          <a:xfrm>
            <a:off x="1972988" y="5321238"/>
            <a:ext cx="5022751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9" name="레일"/>
          <p:cNvSpPr/>
          <p:nvPr/>
        </p:nvSpPr>
        <p:spPr>
          <a:xfrm>
            <a:off x="734087" y="5567760"/>
            <a:ext cx="580696" cy="85188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556776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347652" y="5589673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2" name="칸 본문"/>
          <p:cNvSpPr txBox="1"/>
          <p:nvPr/>
        </p:nvSpPr>
        <p:spPr>
          <a:xfrm>
            <a:off x="1358609" y="5830717"/>
            <a:ext cx="4514087" cy="56701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3" name="사진 칸"/>
          <p:cNvSpPr/>
          <p:nvPr/>
        </p:nvSpPr>
        <p:spPr>
          <a:xfrm>
            <a:off x="5916522" y="5595151"/>
            <a:ext cx="1079217" cy="79710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6479906"/>
            <a:ext cx="6300000" cy="710358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6496341"/>
            <a:ext cx="580696" cy="677489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머리칸"/>
          <p:cNvSpPr/>
          <p:nvPr/>
        </p:nvSpPr>
        <p:spPr>
          <a:xfrm>
            <a:off x="1347652" y="651825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651825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명예 조합원 위촉</a:t>
            </a:r>
          </a:p>
        </p:txBody>
      </p:sp>
      <p:sp>
        <p:nvSpPr>
          <p:cNvPr id="38" name="칸 본문"/>
          <p:cNvSpPr txBox="1"/>
          <p:nvPr/>
        </p:nvSpPr>
        <p:spPr>
          <a:xfrm>
            <a:off x="1358609" y="6759297"/>
            <a:ext cx="2802130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선정('25.8월)</a:t>
            </a:r>
          </a:p>
        </p:txBody>
      </p:sp>
      <p:sp>
        <p:nvSpPr>
          <p:cNvPr id="39" name="칸 본문"/>
          <p:cNvSpPr txBox="1"/>
          <p:nvPr/>
        </p:nvSpPr>
        <p:spPr>
          <a:xfrm>
            <a:off x="4182652" y="6759297"/>
            <a:ext cx="2802130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171696" y="679216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핵심성과 박스"/>
          <p:cNvSpPr/>
          <p:nvPr/>
        </p:nvSpPr>
        <p:spPr>
          <a:xfrm>
            <a:off x="723130" y="72779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핵심성과 라벨"/>
          <p:cNvSpPr/>
          <p:nvPr/>
        </p:nvSpPr>
        <p:spPr>
          <a:xfrm>
            <a:off x="756000" y="731626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3" name="핵심성과 문구"/>
          <p:cNvSpPr txBox="1"/>
          <p:nvPr/>
        </p:nvSpPr>
        <p:spPr>
          <a:xfrm>
            <a:off x="1501043" y="7294351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