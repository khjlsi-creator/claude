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3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4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9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2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3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5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6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9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2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3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4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5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6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8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0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2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3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6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8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9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0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1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2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3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4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5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6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7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8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9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0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2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3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4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5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6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8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9.xml"/><Relationship Id="rId2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0.xml"/><Relationship Id="rId2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1.xml"/><Relationship Id="rId2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2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3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4.xml"/><Relationship Id="rId2" Type="http://schemas.openxmlformats.org/officeDocument/2006/relationships/notesSlide" Target="../notesSlides/notesSlide17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1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sp>
        <p:nvSpPr>
          <p:cNvPr id="6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sp>
        <p:nvSpPr>
          <p:cNvPr id="48" name="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9" name="성과 띠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9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72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78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sp>
        <p:nvSpPr>
          <p:cNvPr id="20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sp>
        <p:nvSpPr>
          <p:cNvPr id="34" name="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37" name="카드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2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0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sp>
        <p:nvSpPr>
          <p:cNvPr id="23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24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26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28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29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1" name="값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6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2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44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45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0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52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53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sp>
        <p:nvSpPr>
          <p:cNvPr id="35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2" name="캡션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65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graphicFrame>
        <p:nvGraphicFramePr>
          <p:cNvPr id="12" name="실적표"/>
          <p:cNvGraphicFramePr>
            <a:graphicFrameLocks noGrp="1"/>
          </p:cNvGraphicFramePr>
          <p:nvPr/>
        </p:nvGraphicFramePr>
        <p:xfrm>
          <a:off x="536870" y="1161391"/>
          <a:ext cx="6300001" cy="723131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유형 · 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연차별 임금감소 비율 · 누적 절감률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 이상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3.5년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6개월 5% → 1년차 10% → 2년차 20% → 3년차 30% (누적 65%)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3급 이하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2.0년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1년차 20% → 2년차 30% (누적 50%)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실적표"/>
          <p:cNvGraphicFramePr>
            <a:graphicFrameLocks noGrp="1"/>
          </p:cNvGraphicFramePr>
          <p:nvPr/>
        </p:nvGraphicFramePr>
        <p:xfrm>
          <a:off x="536870" y="1972174"/>
          <a:ext cx="6300001" cy="476609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임금피크 인원 · 충당률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절감재원 · 신규채용보수(백만원)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422명 · 105%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6,192 · 5,876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sp>
        <p:nvSpPr>
          <p:cNvPr id="24" name="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성과 띠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27" name="카드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5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45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24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5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160</a:t>
            </a:r>
          </a:p>
        </p:txBody>
      </p:sp>
      <p:sp>
        <p:nvSpPr>
          <p:cNvPr id="4" name="주석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7" name="장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662591"/>
          <a:ext cx="6300001" cy="96965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성명 · 연락처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E-mail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경영부문장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남영현 · 042-629-2203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nyh@kwater.or.kr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노사협력처장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박혜원 · 042-629-2650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hyewon@kwater.or.kr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노사협력부장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이석원 · 042-629-2651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leesw@kwater.or.kr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graphicFrame>
        <p:nvGraphicFramePr>
          <p:cNvPr id="11" name="실적표"/>
          <p:cNvGraphicFramePr>
            <a:graphicFrameLocks noGrp="1"/>
          </p:cNvGraphicFramePr>
          <p:nvPr/>
        </p:nvGraphicFramePr>
        <p:xfrm>
          <a:off x="536870" y="1276435"/>
          <a:ext cx="6300001" cy="2695307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 · 평가내용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Ⅰ. 2024년 지적사항 조치실적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Ⅱ. 2025년 주요 추진실적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Ⅲ. 2025년 세부평가내용별 추진실적 및 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新노동 패러다임에 신속한 대응, 노사 全분야 펀더멘탈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법과 원칙에 따른 노사기준 재정비 및 참여형 디지털 노무광장 오픈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 분쟁 발생 이전에 작동하는 선제적 노사갈등 관리체계 도입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한층 더 다가가는 노사리더, 직원 목소리로 다듬는 노동이사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노사전략과 환경변화를 연결하는 계층별 노무역량강화 모델 최적화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직원 숙원을 해소하고, 더 나은 일터를 설계하는 노사 파트너십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가족과 안전은 지속가능한 근로조건의 근간, 노사가 함께 지속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1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2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sp>
        <p:nvSpPr>
          <p:cNvPr id="49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sp>
        <p:nvSpPr>
          <p:cNvPr id="61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2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66" name="카드 문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68" name="카드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sp>
        <p:nvSpPr>
          <p:cNvPr id="26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7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41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8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sp>
        <p:nvSpPr>
          <p:cNvPr id="64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소제목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0" name="태그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27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28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30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32" name="카드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36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4" name="그룹 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36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42" name="카드 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43" name="카드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46" name="그룹 제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48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51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53" name="탭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56" name="카드 요약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58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9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41" name="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2" name="성과 띠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44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46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9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2" name="사진 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4" name="패널 머리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16" name="요약 바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18" name="패널 머리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0" name="요약 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4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125565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사업범위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 미션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광역상수도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전국 113개 지자체와 산단에 수돗물 안정 공급(50개 수도시설 · 1,942만㎥/일)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 물복지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운영 선진화 지원(23개 지자체 운영관리 · 116개 노후 정비)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및 기업니즈 대응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눈높이를 충족하는 맞춤형 물 토탈서비스(물문제 해결 · 고객정보 · 산업 맞춤)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 추진 과정의 근로자 및 시민 안전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