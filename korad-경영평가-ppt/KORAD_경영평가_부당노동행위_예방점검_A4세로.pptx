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초안입니다. 추진성과의 점검 결과 수치는 실적 확정 후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장 제목 띠"/>
          <p:cNvSpPr/>
          <p:nvPr/>
        </p:nvSpPr>
        <p:spPr>
          <a:xfrm>
            <a:off x="536870" y="766957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I 칸"/>
          <p:cNvSpPr/>
          <p:nvPr/>
        </p:nvSpPr>
        <p:spPr>
          <a:xfrm>
            <a:off x="5401565" y="772435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장 제목"/>
          <p:cNvSpPr txBox="1"/>
          <p:nvPr/>
        </p:nvSpPr>
        <p:spPr>
          <a:xfrm>
            <a:off x="810783" y="777913"/>
            <a:ext cx="4590783" cy="399913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0" name="KORAD CI" descr="korad-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2" y="870213"/>
            <a:ext cx="1161391" cy="215314"/>
          </a:xfrm>
          <a:prstGeom prst="rect">
            <a:avLst/>
          </a:prstGeom>
        </p:spPr>
      </p:pic>
      <p:sp>
        <p:nvSpPr>
          <p:cNvPr id="11" name="평가내용 라벨"/>
          <p:cNvSpPr/>
          <p:nvPr/>
        </p:nvSpPr>
        <p:spPr>
          <a:xfrm>
            <a:off x="536870" y="1342174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1353130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 txBox="1"/>
          <p:nvPr/>
        </p:nvSpPr>
        <p:spPr>
          <a:xfrm>
            <a:off x="1632522" y="1364087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2081739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2103652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2103652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 txBox="1"/>
          <p:nvPr/>
        </p:nvSpPr>
        <p:spPr>
          <a:xfrm>
            <a:off x="558783" y="2081739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 txBox="1"/>
          <p:nvPr/>
        </p:nvSpPr>
        <p:spPr>
          <a:xfrm>
            <a:off x="1183304" y="2103652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판례 DB 기반 부당노동행위 정밀 예방점검 체계 구축</a:t>
            </a:r>
          </a:p>
        </p:txBody>
      </p:sp>
      <p:sp>
        <p:nvSpPr>
          <p:cNvPr id="24" name="번호 띠 칩"/>
          <p:cNvSpPr/>
          <p:nvPr/>
        </p:nvSpPr>
        <p:spPr>
          <a:xfrm>
            <a:off x="6241922" y="2147478"/>
            <a:ext cx="529208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25" name="형광 밑줄"/>
          <p:cNvSpPr/>
          <p:nvPr/>
        </p:nvSpPr>
        <p:spPr>
          <a:xfrm>
            <a:off x="536870" y="2662435"/>
            <a:ext cx="456469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소제목"/>
          <p:cNvSpPr txBox="1"/>
          <p:nvPr/>
        </p:nvSpPr>
        <p:spPr>
          <a:xfrm>
            <a:off x="536870" y="250904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체크리스트 20여개 → 250여개 고도화, 노사 공동점검으로 예방·학습 동시에</a:t>
            </a:r>
          </a:p>
        </p:txBody>
      </p:sp>
      <p:sp>
        <p:nvSpPr>
          <p:cNvPr id="27" name="태그칩"/>
          <p:cNvSpPr/>
          <p:nvPr/>
        </p:nvSpPr>
        <p:spPr>
          <a:xfrm>
            <a:off x="5200171" y="2541913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28" name="태그칩"/>
          <p:cNvSpPr/>
          <p:nvPr/>
        </p:nvSpPr>
        <p:spPr>
          <a:xfrm>
            <a:off x="5751292" y="2541913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개선</a:t>
            </a:r>
          </a:p>
        </p:txBody>
      </p:sp>
      <p:sp>
        <p:nvSpPr>
          <p:cNvPr id="29" name="표 외곽"/>
          <p:cNvSpPr/>
          <p:nvPr/>
        </p:nvSpPr>
        <p:spPr>
          <a:xfrm>
            <a:off x="536870" y="2793913"/>
            <a:ext cx="6300000" cy="361847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레일"/>
          <p:cNvSpPr/>
          <p:nvPr/>
        </p:nvSpPr>
        <p:spPr>
          <a:xfrm>
            <a:off x="547826" y="2810348"/>
            <a:ext cx="580696" cy="71765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1172348" y="2832261"/>
            <a:ext cx="2802130" cy="690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복수노조 상황에서 교섭·차별·지배개입 등 다양한 쟁점이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 조항 유형 중심 기본 체크리스트(20여개)만으로는 대응에 한계</a:t>
            </a:r>
          </a:p>
        </p:txBody>
      </p:sp>
      <p:sp>
        <p:nvSpPr>
          <p:cNvPr id="32" name="칸 본문"/>
          <p:cNvSpPr txBox="1"/>
          <p:nvPr/>
        </p:nvSpPr>
        <p:spPr>
          <a:xfrm>
            <a:off x="3996391" y="2832261"/>
            <a:ext cx="2802130" cy="690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노무 담당자가 판단기준을 몰라 점검만으로는 역량 확보 곤란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사후 확인형 질문 위주 → 사전 예방형 점검으로 전환 필요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85435" y="2865130"/>
            <a:ext cx="0" cy="624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레일"/>
          <p:cNvSpPr/>
          <p:nvPr/>
        </p:nvSpPr>
        <p:spPr>
          <a:xfrm>
            <a:off x="547826" y="3544435"/>
            <a:ext cx="580696" cy="53968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고도화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방향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547826" y="3544434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배너"/>
          <p:cNvSpPr/>
          <p:nvPr/>
        </p:nvSpPr>
        <p:spPr>
          <a:xfrm>
            <a:off x="1161391" y="3566348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노동위·법원 판례 DB → 실제 사례와 연계한 정밀 체크리스트 → 점검·학습 겸용 예방도구</a:t>
            </a:r>
          </a:p>
        </p:txBody>
      </p:sp>
      <p:sp>
        <p:nvSpPr>
          <p:cNvPr id="37" name="레일"/>
          <p:cNvSpPr/>
          <p:nvPr/>
        </p:nvSpPr>
        <p:spPr>
          <a:xfrm>
            <a:off x="547826" y="4100557"/>
            <a:ext cx="580696" cy="57521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① DB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구 축</a:t>
            </a:r>
          </a:p>
        </p:txBody>
      </p:sp>
      <p:sp>
        <p:nvSpPr>
          <p:cNvPr id="38" name="칸 본문"/>
          <p:cNvSpPr txBox="1"/>
          <p:nvPr/>
        </p:nvSpPr>
        <p:spPr>
          <a:xfrm>
            <a:off x="1172348" y="4122470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노동위 결정요지 1,346건 · 법원 판례 304건(관련성 A·B등급) 수집·검증</a:t>
            </a:r>
          </a:p>
        </p:txBody>
      </p:sp>
      <p:sp>
        <p:nvSpPr>
          <p:cNvPr id="39" name="칸 본문"/>
          <p:cNvSpPr txBox="1"/>
          <p:nvPr/>
        </p:nvSpPr>
        <p:spPr>
          <a:xfrm>
            <a:off x="3996391" y="4122470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노조법 제81조 각호(1~5호)·제29조의4 기준 세부유형 214개로 법리 유사 분류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85435" y="4155339"/>
            <a:ext cx="0" cy="482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레일"/>
          <p:cNvSpPr/>
          <p:nvPr/>
        </p:nvSpPr>
        <p:spPr>
          <a:xfrm>
            <a:off x="547826" y="4692209"/>
            <a:ext cx="580696" cy="520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② 체크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리스트</a:t>
            </a:r>
          </a:p>
        </p:txBody>
      </p:sp>
      <p:sp>
        <p:nvSpPr>
          <p:cNvPr id="42" name="칸 본문"/>
          <p:cNvSpPr txBox="1"/>
          <p:nvPr/>
        </p:nvSpPr>
        <p:spPr>
          <a:xfrm>
            <a:off x="1172348" y="4714122"/>
            <a:ext cx="2802130" cy="49304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20여개 → 250여개(세부유형 214개 + 8대 위험유형 예방점검 36문항)</a:t>
            </a:r>
          </a:p>
        </p:txBody>
      </p:sp>
      <p:sp>
        <p:nvSpPr>
          <p:cNvPr id="43" name="칸 본문"/>
          <p:cNvSpPr txBox="1"/>
          <p:nvPr/>
        </p:nvSpPr>
        <p:spPr>
          <a:xfrm>
            <a:off x="3996391" y="4714122"/>
            <a:ext cx="2802130" cy="49304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문항마다 법령근거 · 판단기준 · 판례 근거 · 우선순위 병기 → 신규 담당자의 학습 자료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85435" y="4746991"/>
            <a:ext cx="0" cy="42730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레일"/>
          <p:cNvSpPr/>
          <p:nvPr/>
        </p:nvSpPr>
        <p:spPr>
          <a:xfrm>
            <a:off x="547826" y="5229078"/>
            <a:ext cx="580696" cy="575217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③ 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 검</a:t>
            </a:r>
          </a:p>
        </p:txBody>
      </p:sp>
      <p:sp>
        <p:nvSpPr>
          <p:cNvPr id="46" name="칸 본문"/>
          <p:cNvSpPr txBox="1"/>
          <p:nvPr/>
        </p:nvSpPr>
        <p:spPr>
          <a:xfrm>
            <a:off x="1172348" y="5250991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 간부와 노무담당이 함께 점검(노측 확인 · 이견 기록란 운영)</a:t>
            </a:r>
          </a:p>
        </p:txBody>
      </p:sp>
      <p:sp>
        <p:nvSpPr>
          <p:cNvPr id="47" name="칸 본문"/>
          <p:cNvSpPr txBox="1"/>
          <p:nvPr/>
        </p:nvSpPr>
        <p:spPr>
          <a:xfrm>
            <a:off x="3996391" y="5250991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자문을 거쳐 활용 / 미점검은 ‘양호’로 보지 않는 원칙 적용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85435" y="5283861"/>
            <a:ext cx="0" cy="482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레일"/>
          <p:cNvSpPr/>
          <p:nvPr/>
        </p:nvSpPr>
        <p:spPr>
          <a:xfrm>
            <a:off x="547826" y="5820730"/>
            <a:ext cx="580696" cy="57521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④ 집중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 리</a:t>
            </a:r>
          </a:p>
        </p:txBody>
      </p:sp>
      <p:sp>
        <p:nvSpPr>
          <p:cNvPr id="50" name="레일 삼각형"/>
          <p:cNvSpPr/>
          <p:nvPr/>
        </p:nvSpPr>
        <p:spPr>
          <a:xfrm>
            <a:off x="547826" y="582073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칸 본문"/>
          <p:cNvSpPr txBox="1"/>
          <p:nvPr/>
        </p:nvSpPr>
        <p:spPr>
          <a:xfrm>
            <a:off x="1172348" y="5842643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DB 통계로 쟁점 빈발 분야를 도출하고 우선순위(1~3등급) 부여</a:t>
            </a:r>
          </a:p>
        </p:txBody>
      </p:sp>
      <p:sp>
        <p:nvSpPr>
          <p:cNvPr id="52" name="칸 본문"/>
          <p:cNvSpPr txBox="1"/>
          <p:nvPr/>
        </p:nvSpPr>
        <p:spPr>
          <a:xfrm>
            <a:off x="3996391" y="5842643"/>
            <a:ext cx="2802130" cy="547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최우선 분야는 점검 주기 단축 · 사전 검수 강화로 예방 활동 촘촘히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985435" y="5875513"/>
            <a:ext cx="0" cy="482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핵심성과 박스"/>
          <p:cNvSpPr/>
          <p:nvPr/>
        </p:nvSpPr>
        <p:spPr>
          <a:xfrm>
            <a:off x="536870" y="6500035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핵심성과 라벨"/>
          <p:cNvSpPr/>
          <p:nvPr/>
        </p:nvSpPr>
        <p:spPr>
          <a:xfrm>
            <a:off x="569739" y="6532904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56" name="핵심성과 문구"/>
          <p:cNvSpPr txBox="1"/>
          <p:nvPr/>
        </p:nvSpPr>
        <p:spPr>
          <a:xfrm>
            <a:off x="1314783" y="6521948"/>
            <a:ext cx="5456348" cy="48052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체크리스트 20여개 → 250여개 확대, 판례 근거가 있는 사전 예방형 점검 체계 완성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공동점검 · 전문가 자문 절차 정립으로 복수노조 환경의 부당노동행위 리스크 선제 관리</a:t>
            </a:r>
          </a:p>
        </p:txBody>
      </p:sp>
      <p:sp>
        <p:nvSpPr>
          <p:cNvPr id="57" name="형광 밑줄"/>
          <p:cNvSpPr/>
          <p:nvPr/>
        </p:nvSpPr>
        <p:spPr>
          <a:xfrm>
            <a:off x="536870" y="7298296"/>
            <a:ext cx="3703288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소제목"/>
          <p:cNvSpPr txBox="1"/>
          <p:nvPr/>
        </p:nvSpPr>
        <p:spPr>
          <a:xfrm>
            <a:off x="536870" y="7144904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DB 통계로 부당노동행위 쟁점 빈발 분야를 찾아 예방 활동 집중</a:t>
            </a:r>
          </a:p>
        </p:txBody>
      </p:sp>
      <p:sp>
        <p:nvSpPr>
          <p:cNvPr id="59" name="태그칩"/>
          <p:cNvSpPr/>
          <p:nvPr/>
        </p:nvSpPr>
        <p:spPr>
          <a:xfrm>
            <a:off x="4338767" y="7177774"/>
            <a:ext cx="50729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✔ 신규</a:t>
            </a:r>
          </a:p>
        </p:txBody>
      </p:sp>
      <p:sp>
        <p:nvSpPr>
          <p:cNvPr id="60" name="표 외곽"/>
          <p:cNvSpPr/>
          <p:nvPr/>
        </p:nvSpPr>
        <p:spPr>
          <a:xfrm>
            <a:off x="536870" y="7429774"/>
            <a:ext cx="6300000" cy="107655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레일"/>
          <p:cNvSpPr/>
          <p:nvPr/>
        </p:nvSpPr>
        <p:spPr>
          <a:xfrm>
            <a:off x="547826" y="7446209"/>
            <a:ext cx="580696" cy="48756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통계 분석</a:t>
            </a:r>
          </a:p>
        </p:txBody>
      </p:sp>
      <p:sp>
        <p:nvSpPr>
          <p:cNvPr id="62" name="칸 본문"/>
          <p:cNvSpPr txBox="1"/>
          <p:nvPr/>
        </p:nvSpPr>
        <p:spPr>
          <a:xfrm>
            <a:off x="1172348" y="7468122"/>
            <a:ext cx="2802130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노동위 결정요지 · 법원 판례를 8대 위험유형별로 집계(문서 건수 기준)</a:t>
            </a:r>
          </a:p>
        </p:txBody>
      </p:sp>
      <p:sp>
        <p:nvSpPr>
          <p:cNvPr id="63" name="칸 본문"/>
          <p:cNvSpPr txBox="1"/>
          <p:nvPr/>
        </p:nvSpPr>
        <p:spPr>
          <a:xfrm>
            <a:off x="3996391" y="7468122"/>
            <a:ext cx="2802130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지배·개입, 불이익취급 · 신고보복 분야에 근거 건수가 집중됨을 확인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985435" y="7500991"/>
            <a:ext cx="0" cy="394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5" name="레일"/>
          <p:cNvSpPr/>
          <p:nvPr/>
        </p:nvSpPr>
        <p:spPr>
          <a:xfrm>
            <a:off x="547826" y="7950209"/>
            <a:ext cx="580696" cy="53968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집중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관리</a:t>
            </a:r>
          </a:p>
        </p:txBody>
      </p:sp>
      <p:sp>
        <p:nvSpPr>
          <p:cNvPr id="66" name="레일 삼각형"/>
          <p:cNvSpPr/>
          <p:nvPr/>
        </p:nvSpPr>
        <p:spPr>
          <a:xfrm>
            <a:off x="547826" y="795020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칸 본문"/>
          <p:cNvSpPr txBox="1"/>
          <p:nvPr/>
        </p:nvSpPr>
        <p:spPr>
          <a:xfrm>
            <a:off x="1172348" y="7972122"/>
            <a:ext cx="2802130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빈발 분야 문항은 우선순위 1(최우선)로 분류해 분기마다 노사 공동점검</a:t>
            </a:r>
          </a:p>
        </p:txBody>
      </p:sp>
      <p:sp>
        <p:nvSpPr>
          <p:cNvPr id="68" name="칸 본문"/>
          <p:cNvSpPr txBox="1"/>
          <p:nvPr/>
        </p:nvSpPr>
        <p:spPr>
          <a:xfrm>
            <a:off x="3996391" y="7972122"/>
            <a:ext cx="2802130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노무 담당자 교육 시 빈발 분야 판례를 우선 학습 · 사례 공유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985435" y="8004991"/>
            <a:ext cx="0" cy="394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틀"/>
          <p:cNvSpPr/>
          <p:nvPr/>
        </p:nvSpPr>
        <p:spPr>
          <a:xfrm>
            <a:off x="536870" y="8572070"/>
            <a:ext cx="6300000" cy="1051826"/>
          </a:xfrm>
          <a:prstGeom prst="rect">
            <a:avLst/>
          </a:prstGeom>
          <a:solidFill>
            <a:srgbClr val="FFFFFF"/>
          </a:solidFill>
          <a:ln w="12700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성과 라벨"/>
          <p:cNvSpPr/>
          <p:nvPr/>
        </p:nvSpPr>
        <p:spPr>
          <a:xfrm>
            <a:off x="547826" y="8583026"/>
            <a:ext cx="580696" cy="102991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4400" rIns="14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DB 근거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건수</a:t>
            </a:r>
          </a:p>
        </p:txBody>
      </p:sp>
      <p:sp>
        <p:nvSpPr>
          <p:cNvPr id="72" name="성과 띠"/>
          <p:cNvSpPr/>
          <p:nvPr/>
        </p:nvSpPr>
        <p:spPr>
          <a:xfrm>
            <a:off x="1172348" y="8604939"/>
            <a:ext cx="5631652" cy="20817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위험유형별 근거 문서 건수(사건 수 · 발생률 아님)</a:t>
            </a:r>
          </a:p>
        </p:txBody>
      </p:sp>
      <p:sp>
        <p:nvSpPr>
          <p:cNvPr id="73" name="카드"/>
          <p:cNvSpPr/>
          <p:nvPr/>
        </p:nvSpPr>
        <p:spPr>
          <a:xfrm>
            <a:off x="1172348" y="8845983"/>
            <a:ext cx="109127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카드 문구"/>
          <p:cNvSpPr txBox="1"/>
          <p:nvPr/>
        </p:nvSpPr>
        <p:spPr>
          <a:xfrm>
            <a:off x="1194261" y="8856939"/>
            <a:ext cx="1069357" cy="723130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지배·개입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649건</a:t>
            </a:r>
          </a:p>
        </p:txBody>
      </p:sp>
      <p:sp>
        <p:nvSpPr>
          <p:cNvPr id="75" name="카드"/>
          <p:cNvSpPr/>
          <p:nvPr/>
        </p:nvSpPr>
        <p:spPr>
          <a:xfrm>
            <a:off x="2307443" y="8845983"/>
            <a:ext cx="109127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카드 문구"/>
          <p:cNvSpPr txBox="1"/>
          <p:nvPr/>
        </p:nvSpPr>
        <p:spPr>
          <a:xfrm>
            <a:off x="2329357" y="8856939"/>
            <a:ext cx="1069357" cy="723130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불이익취급·신고보복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609건</a:t>
            </a:r>
          </a:p>
        </p:txBody>
      </p:sp>
      <p:sp>
        <p:nvSpPr>
          <p:cNvPr id="77" name="카드"/>
          <p:cNvSpPr/>
          <p:nvPr/>
        </p:nvSpPr>
        <p:spPr>
          <a:xfrm>
            <a:off x="3442539" y="8845983"/>
            <a:ext cx="109127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카드 문구"/>
          <p:cNvSpPr txBox="1"/>
          <p:nvPr/>
        </p:nvSpPr>
        <p:spPr>
          <a:xfrm>
            <a:off x="3464452" y="8856939"/>
            <a:ext cx="1069357" cy="723130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교섭거부·해태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271건</a:t>
            </a:r>
          </a:p>
        </p:txBody>
      </p:sp>
      <p:sp>
        <p:nvSpPr>
          <p:cNvPr id="79" name="카드"/>
          <p:cNvSpPr/>
          <p:nvPr/>
        </p:nvSpPr>
        <p:spPr>
          <a:xfrm>
            <a:off x="4577635" y="8845983"/>
            <a:ext cx="109127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카드 문구"/>
          <p:cNvSpPr txBox="1"/>
          <p:nvPr/>
        </p:nvSpPr>
        <p:spPr>
          <a:xfrm>
            <a:off x="4599548" y="8856939"/>
            <a:ext cx="1069357" cy="723130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200건</a:t>
            </a:r>
          </a:p>
        </p:txBody>
      </p:sp>
      <p:sp>
        <p:nvSpPr>
          <p:cNvPr id="81" name="카드"/>
          <p:cNvSpPr/>
          <p:nvPr/>
        </p:nvSpPr>
        <p:spPr>
          <a:xfrm>
            <a:off x="5712730" y="8845983"/>
            <a:ext cx="1091270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30C2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카드 문구"/>
          <p:cNvSpPr txBox="1"/>
          <p:nvPr/>
        </p:nvSpPr>
        <p:spPr>
          <a:xfrm>
            <a:off x="5734643" y="8856939"/>
            <a:ext cx="1069357" cy="723130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복수노조 차별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149건</a:t>
            </a:r>
          </a:p>
        </p:txBody>
      </p:sp>
      <p:sp>
        <p:nvSpPr>
          <p:cNvPr id="83" name="핵심성과 박스"/>
          <p:cNvSpPr/>
          <p:nvPr/>
        </p:nvSpPr>
        <p:spPr>
          <a:xfrm>
            <a:off x="536870" y="9711548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핵심성과 라벨"/>
          <p:cNvSpPr/>
          <p:nvPr/>
        </p:nvSpPr>
        <p:spPr>
          <a:xfrm>
            <a:off x="569739" y="9749896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85" name="핵심성과 문구"/>
          <p:cNvSpPr txBox="1"/>
          <p:nvPr/>
        </p:nvSpPr>
        <p:spPr>
          <a:xfrm>
            <a:off x="1314783" y="9727983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빈발 분야 중심의 우선순위 점검 체계로 한정된 노무 역량을 고위험 분야에 집중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