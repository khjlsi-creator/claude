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9 서사 · Restart 추진전략 재정립(4대 분야 전략 → 그간의 성과 → 환경변화 → 로드맵 재정립 → 4대 실행과제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7016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20" name="머리칸"/>
          <p:cNvSpPr/>
          <p:nvPr/>
        </p:nvSpPr>
        <p:spPr>
          <a:xfrm>
            <a:off x="2573413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5397457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257341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39745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4478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9447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985435" y="1999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2500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0904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044087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4926783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3311687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31168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4" name="배너"/>
          <p:cNvSpPr/>
          <p:nvPr/>
        </p:nvSpPr>
        <p:spPr>
          <a:xfrm>
            <a:off x="1161391" y="3333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333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56" name="레일"/>
          <p:cNvSpPr/>
          <p:nvPr/>
        </p:nvSpPr>
        <p:spPr>
          <a:xfrm>
            <a:off x="547826" y="3581530"/>
            <a:ext cx="580696" cy="827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58153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58" name="단계"/>
          <p:cNvSpPr/>
          <p:nvPr/>
        </p:nvSpPr>
        <p:spPr>
          <a:xfrm>
            <a:off x="1161391" y="36034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6034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6034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6034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6034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cxnSp>
        <p:nvCxnSpPr>
          <p:cNvPr id="68" name="Connector 48"/>
          <p:cNvCxnSpPr/>
          <p:nvPr/>
        </p:nvCxnSpPr>
        <p:spPr>
          <a:xfrm>
            <a:off x="3044087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926783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4425183"/>
            <a:ext cx="580696" cy="162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425183"/>
            <a:ext cx="580696" cy="162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985435" y="47210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칸"/>
          <p:cNvSpPr/>
          <p:nvPr/>
        </p:nvSpPr>
        <p:spPr>
          <a:xfrm>
            <a:off x="1161391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82" name="머리칸"/>
          <p:cNvSpPr/>
          <p:nvPr/>
        </p:nvSpPr>
        <p:spPr>
          <a:xfrm>
            <a:off x="3985435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985435" y="5526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60631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0631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606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2573413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985435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397457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0 서사 · 스마트 기술 기반 운영관리 혁신(운영관리 혁신 2칸 → 시사점 → AI 전환 로드맵 → AI 기술 개발·실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954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11" name="태그칩"/>
          <p:cNvSpPr/>
          <p:nvPr/>
        </p:nvSpPr>
        <p:spPr>
          <a:xfrm>
            <a:off x="51171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171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458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477583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7583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4994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4994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4994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4994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4994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cxnSp>
        <p:nvCxnSpPr>
          <p:cNvPr id="40" name="Connector 24"/>
          <p:cNvCxnSpPr/>
          <p:nvPr/>
        </p:nvCxnSpPr>
        <p:spPr>
          <a:xfrm>
            <a:off x="3230348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5113043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452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452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452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배너"/>
          <p:cNvSpPr/>
          <p:nvPr/>
        </p:nvSpPr>
        <p:spPr>
          <a:xfrm>
            <a:off x="1347652" y="3474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474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1 서사 · 글로벌 수질기준을 충족하는 수돗물 품질관리(실태조사 → VOC · 수질이슈 두 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863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50217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217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7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핵심성과 박스"/>
          <p:cNvSpPr/>
          <p:nvPr/>
        </p:nvSpPr>
        <p:spPr>
          <a:xfrm>
            <a:off x="536870" y="2717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핵심성과 라벨"/>
          <p:cNvSpPr/>
          <p:nvPr/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8" name="핵심성과 라벨"/>
          <p:cNvSpPr>
            <a:spLocks noGrp="1"/>
          </p:cNvSpPr>
          <p:nvPr>
            <p:ph type="body" sz="quarter" idx="28"/>
          </p:nvPr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29"/>
          </p:nvPr>
        </p:nvSpPr>
        <p:spPr>
          <a:xfrm>
            <a:off x="1314783" y="2733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2 서사 · 규모는 키우고 효율성은 높여 서비스 격차 해소(신규협약 지자체 맞춤형 모델 → 수행체계 효율성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92205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2205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47317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7317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0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6405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6405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264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cxnSp>
        <p:nvCxnSpPr>
          <p:cNvPr id="36" name="Connector 21"/>
          <p:cNvCxnSpPr/>
          <p:nvPr/>
        </p:nvCxnSpPr>
        <p:spPr>
          <a:xfrm>
            <a:off x="4171696" y="29363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405391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408678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08678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07582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3 서사 · SWNM 기술 표준화 및 Biz모델 개발을 통한 글로벌 진출(SWNM 정의 → 기술 표준화 · 맞춤형 Biz모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1348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4896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4896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80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7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325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83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35130"/>
            <a:ext cx="451408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9" name="사진 칸"/>
          <p:cNvSpPr/>
          <p:nvPr/>
        </p:nvSpPr>
        <p:spPr>
          <a:xfrm>
            <a:off x="5730261" y="2240609"/>
            <a:ext cx="1079217" cy="591652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30"/>
          </p:nvPr>
        </p:nvSpPr>
        <p:spPr>
          <a:xfrm>
            <a:off x="5730261" y="2240609"/>
            <a:ext cx="1079217" cy="591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536870" y="2947304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963739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4 서사 · 국가적 재난 속 지원군(경북산불 · 강릉가뭄 지원: 위기 상황 → 비상 대응 → 대응 성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470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11" name="태그칩"/>
          <p:cNvSpPr/>
          <p:nvPr/>
        </p:nvSpPr>
        <p:spPr>
          <a:xfrm>
            <a:off x="484644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4644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56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56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6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35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54261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54261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54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2476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476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2711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2711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2711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271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271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3230348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cxnSp>
        <p:nvCxnSpPr>
          <p:cNvPr id="50" name="Connector 32"/>
          <p:cNvCxnSpPr/>
          <p:nvPr/>
        </p:nvCxnSpPr>
        <p:spPr>
          <a:xfrm>
            <a:off x="5113043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723130" y="3916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33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5 서사 · 전국 수도사업자 기술지원 시스템 개선(위기대응 강화 · 선제적 기술지원 각 두 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419633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19633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747451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47451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68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9009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9009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00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96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6 서사 · 국민체감서비스 정의 → 환경변화 → 발굴과정 → 니즈 도출 → 실행과제 → 추진성과(5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974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915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915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19709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709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26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606400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064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cxnSp>
        <p:nvCxnSpPr>
          <p:cNvPr id="43" name="Connector 26"/>
          <p:cNvCxnSpPr/>
          <p:nvPr/>
        </p:nvCxnSpPr>
        <p:spPr>
          <a:xfrm>
            <a:off x="3230348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5113043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076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076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4008835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400883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6"/>
          </p:nvPr>
        </p:nvSpPr>
        <p:spPr>
          <a:xfrm>
            <a:off x="1347652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3230348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5113043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cxnSp>
        <p:nvCxnSpPr>
          <p:cNvPr id="69" name="Connector 44"/>
          <p:cNvCxnSpPr/>
          <p:nvPr/>
        </p:nvCxnSpPr>
        <p:spPr>
          <a:xfrm>
            <a:off x="3230348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cxnSp>
        <p:nvCxnSpPr>
          <p:cNvPr id="71" name="Connector 46"/>
          <p:cNvCxnSpPr/>
          <p:nvPr/>
        </p:nvCxnSpPr>
        <p:spPr>
          <a:xfrm>
            <a:off x="5113043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67617"/>
            <a:ext cx="580696" cy="5191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567617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2488226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cxnSp>
        <p:nvCxnSpPr>
          <p:cNvPr id="76" name="Connector 50"/>
          <p:cNvCxnSpPr/>
          <p:nvPr/>
        </p:nvCxnSpPr>
        <p:spPr>
          <a:xfrm>
            <a:off x="2477270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3617843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cxnSp>
        <p:nvCxnSpPr>
          <p:cNvPr id="78" name="Connector 52"/>
          <p:cNvCxnSpPr/>
          <p:nvPr/>
        </p:nvCxnSpPr>
        <p:spPr>
          <a:xfrm>
            <a:off x="3606887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6"/>
          </p:nvPr>
        </p:nvSpPr>
        <p:spPr>
          <a:xfrm>
            <a:off x="4747461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4736504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5877078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866122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7 서사 · 실질적 도움이 되는 정보와 요금부담 완화(요금부담 경감 3칸 → 대화형 수도정보서비스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94478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44783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985435" y="2240609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536870" y="3040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569739" y="3073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3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2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8 서사 · 지자체가 해결하기 어려운 물 문제(대응 방향 3칸 → 사례 4건: 배경 · 해결 · 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00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11" name="태그칩"/>
          <p:cNvSpPr/>
          <p:nvPr/>
        </p:nvSpPr>
        <p:spPr>
          <a:xfrm>
            <a:off x="503175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3175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15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8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20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230348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5113043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1665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665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1906435"/>
            <a:ext cx="580696" cy="1638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06435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90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머리칸"/>
          <p:cNvSpPr/>
          <p:nvPr/>
        </p:nvSpPr>
        <p:spPr>
          <a:xfrm>
            <a:off x="1347652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cxnSp>
        <p:nvCxnSpPr>
          <p:cNvPr id="38" name="Connector 23"/>
          <p:cNvCxnSpPr/>
          <p:nvPr/>
        </p:nvCxnSpPr>
        <p:spPr>
          <a:xfrm>
            <a:off x="4171696" y="2202261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560870"/>
            <a:ext cx="580696" cy="163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560870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5608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4171696" y="3856696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9 서사 · 근본적 지역 물 문제 해결을 위한 물 이용 개선방안(관리체계 혁신 · 극한가뭄 대응 · 워터믹스 3칸 → 기후부 방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5306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12" name="태그칩"/>
          <p:cNvSpPr/>
          <p:nvPr/>
        </p:nvSpPr>
        <p:spPr>
          <a:xfrm>
            <a:off x="468853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8853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3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0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0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161391" y="2344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344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0 서사 · 기업니즈 → K-water 역할(번호 띠 바로 아래 한 줄 + 역할 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8" name="배너"/>
          <p:cNvSpPr/>
          <p:nvPr/>
        </p:nvSpPr>
        <p:spPr>
          <a:xfrm>
            <a:off x="723130" y="16134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태그"/>
          <p:cNvSpPr/>
          <p:nvPr/>
        </p:nvSpPr>
        <p:spPr>
          <a:xfrm>
            <a:off x="942261" y="1668209"/>
            <a:ext cx="837635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668209"/>
            <a:ext cx="837635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21" name="배너 글"/>
          <p:cNvSpPr>
            <a:spLocks noGrp="1"/>
          </p:cNvSpPr>
          <p:nvPr>
            <p:ph type="body" sz="quarter" idx="25"/>
          </p:nvPr>
        </p:nvSpPr>
        <p:spPr>
          <a:xfrm>
            <a:off x="1834678" y="1613426"/>
            <a:ext cx="5024105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1 서사 · 첨단산단 최적 용수공급방안(그간의 성과 → 확대 배너 → 지방권 첨단산단 4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379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12" name="태그칩"/>
          <p:cNvSpPr/>
          <p:nvPr/>
        </p:nvSpPr>
        <p:spPr>
          <a:xfrm>
            <a:off x="467343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7343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43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06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161391" y="195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5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191304"/>
            <a:ext cx="580696" cy="227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91304"/>
            <a:ext cx="580696" cy="227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19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487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머리칸"/>
          <p:cNvSpPr/>
          <p:nvPr/>
        </p:nvSpPr>
        <p:spPr>
          <a:xfrm>
            <a:off x="1161391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985435" y="3621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2 서사 · 산업단지 물공급 인프라 사전 검토 가이드라인(현황 분석 → 제도개선 +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주요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주요성과 라벨"/>
          <p:cNvSpPr/>
          <p:nvPr/>
        </p:nvSpPr>
        <p:spPr>
          <a:xfrm>
            <a:off x="756000" y="285699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주요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5699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34" name="주요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3 서사 · 니즈의 일치 → 신정부 정책 → 로드맵(초순수 3자 협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02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725652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25652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725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17475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7475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36" name="레일"/>
          <p:cNvSpPr/>
          <p:nvPr/>
        </p:nvSpPr>
        <p:spPr>
          <a:xfrm>
            <a:off x="547826" y="21269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269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1269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1488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41" name="단계"/>
          <p:cNvSpPr/>
          <p:nvPr/>
        </p:nvSpPr>
        <p:spPr>
          <a:xfrm>
            <a:off x="3044087" y="21488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43" name="단계"/>
          <p:cNvSpPr/>
          <p:nvPr/>
        </p:nvSpPr>
        <p:spPr>
          <a:xfrm>
            <a:off x="4926783" y="21488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3044086" y="21488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926782" y="21488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4 서사 · 1차 국산화 R&amp;D 성공 → 새로운 도전(기술자립 주도: 마무리 → 참여기업 성과 → 2차 기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73035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11" name="태그칩"/>
          <p:cNvSpPr/>
          <p:nvPr/>
        </p:nvSpPr>
        <p:spPr>
          <a:xfrm>
            <a:off x="55520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5520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배너"/>
          <p:cNvSpPr/>
          <p:nvPr/>
        </p:nvSpPr>
        <p:spPr>
          <a:xfrm>
            <a:off x="1347652" y="218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5 서사 · 국가 초순수 생태계 육성 로드맵(정책선도: 국가전략 → 실행체계 → 전략-실행 연계 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637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9992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992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58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257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257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19995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28" name="단계"/>
          <p:cNvSpPr/>
          <p:nvPr/>
        </p:nvSpPr>
        <p:spPr>
          <a:xfrm>
            <a:off x="2573413" y="19995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9995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32" name="단계"/>
          <p:cNvSpPr/>
          <p:nvPr/>
        </p:nvSpPr>
        <p:spPr>
          <a:xfrm>
            <a:off x="5397457" y="19995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57341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985434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397456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584370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2573413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985435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408413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397457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6 서사 · 국내기업 최초 초순수 운영관리 사업 진출(12년 연구 → 반도체 플랜트 → 추진성과 3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0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476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47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20" name="단계"/>
          <p:cNvSpPr/>
          <p:nvPr/>
        </p:nvSpPr>
        <p:spPr>
          <a:xfrm>
            <a:off x="2759674" y="13366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2759674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22" name="단계"/>
          <p:cNvSpPr/>
          <p:nvPr/>
        </p:nvSpPr>
        <p:spPr>
          <a:xfrm>
            <a:off x="4171696" y="13366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24" name="단계"/>
          <p:cNvSpPr/>
          <p:nvPr/>
        </p:nvSpPr>
        <p:spPr>
          <a:xfrm>
            <a:off x="5583717" y="13366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583717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2759673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583717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2770630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2759674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594674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583717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3173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2730991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2747426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7 서사 · 수도서비스 사업특성 · 주요위험(번호 띠 없는 두 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30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30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562617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429826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429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9" name="머리칸"/>
          <p:cNvSpPr/>
          <p:nvPr/>
        </p:nvSpPr>
        <p:spPr>
          <a:xfrm>
            <a:off x="2573413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23" name="머리칸"/>
          <p:cNvSpPr/>
          <p:nvPr/>
        </p:nvSpPr>
        <p:spPr>
          <a:xfrm>
            <a:off x="5397457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2573413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5397457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8 서사 · 수도 특화 안전설계기준과 맞춤형 대책(기준제정 3칸 → 위험요소 맞춤형 대책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11" name="태그칩"/>
          <p:cNvSpPr/>
          <p:nvPr/>
        </p:nvSpPr>
        <p:spPr>
          <a:xfrm>
            <a:off x="438259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8259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3371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3371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88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21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07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07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11826"/>
            <a:ext cx="580696" cy="1123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311826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11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366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9 서사 · 노후관로 선제 정비와 실시간 누수 감지(시민밀접시설 안전확보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931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82859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2859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849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주요성과 박스"/>
          <p:cNvSpPr/>
          <p:nvPr/>
        </p:nvSpPr>
        <p:spPr>
          <a:xfrm>
            <a:off x="536870" y="197765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주요성과 라벨"/>
          <p:cNvSpPr/>
          <p:nvPr/>
        </p:nvSpPr>
        <p:spPr>
          <a:xfrm>
            <a:off x="569739" y="2010522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주요성과 라벨"/>
          <p:cNvSpPr>
            <a:spLocks noGrp="1"/>
          </p:cNvSpPr>
          <p:nvPr>
            <p:ph type="body" sz="quarter" idx="29"/>
          </p:nvPr>
        </p:nvSpPr>
        <p:spPr>
          <a:xfrm>
            <a:off x="569739" y="2010522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1" name="주요성과 문구"/>
          <p:cNvSpPr>
            <a:spLocks noGrp="1"/>
          </p:cNvSpPr>
          <p:nvPr>
            <p:ph type="body" sz="quarter" idx="30"/>
          </p:nvPr>
        </p:nvSpPr>
        <p:spPr>
          <a:xfrm>
            <a:off x="1314783" y="1994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0 서사 · 조직·인력·예산 운용 등의 효율성 제고노력(4열 표: 대상사업 · 구분 · 주요내용 ·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1 서사 · 대국민 서비스 질 제고 및 공공성 강화 노력(3열 표 2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16113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3013043"/>
            <a:ext cx="10142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2859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Relationship Id="rId203" Type="http://schemas.openxmlformats.org/officeDocument/2006/relationships/slideLayout" Target="../slideLayouts/slideLayout205.xml"/><Relationship Id="rId204" Type="http://schemas.openxmlformats.org/officeDocument/2006/relationships/slideLayout" Target="../slideLayouts/slideLayout206.xml"/><Relationship Id="rId205" Type="http://schemas.openxmlformats.org/officeDocument/2006/relationships/slideLayout" Target="../slideLayouts/slideLayout207.xml"/><Relationship Id="rId206" Type="http://schemas.openxmlformats.org/officeDocument/2006/relationships/slideLayout" Target="../slideLayouts/slideLayout208.xml"/><Relationship Id="rId207" Type="http://schemas.openxmlformats.org/officeDocument/2006/relationships/slideLayout" Target="../slideLayouts/slideLayout209.xml"/><Relationship Id="rId208" Type="http://schemas.openxmlformats.org/officeDocument/2006/relationships/slideLayout" Target="../slideLayouts/slideLayout210.xml"/><Relationship Id="rId209" Type="http://schemas.openxmlformats.org/officeDocument/2006/relationships/slideLayout" Target="../slideLayouts/slideLayout211.xml"/><Relationship Id="rId210" Type="http://schemas.openxmlformats.org/officeDocument/2006/relationships/slideLayout" Target="../slideLayouts/slideLayout212.xml"/><Relationship Id="rId211" Type="http://schemas.openxmlformats.org/officeDocument/2006/relationships/slideLayout" Target="../slideLayouts/slideLayout213.xml"/><Relationship Id="rId212" Type="http://schemas.openxmlformats.org/officeDocument/2006/relationships/slideLayout" Target="../slideLayouts/slideLayout214.xml"/><Relationship Id="rId213" Type="http://schemas.openxmlformats.org/officeDocument/2006/relationships/slideLayout" Target="../slideLayouts/slideLayout215.xml"/><Relationship Id="rId214" Type="http://schemas.openxmlformats.org/officeDocument/2006/relationships/slideLayout" Target="../slideLayouts/slideLayout216.xml"/><Relationship Id="rId215" Type="http://schemas.openxmlformats.org/officeDocument/2006/relationships/slideLayout" Target="../slideLayouts/slideLayout217.xml"/><Relationship Id="rId216" Type="http://schemas.openxmlformats.org/officeDocument/2006/relationships/slideLayout" Target="../slideLayouts/slideLayout218.xml"/><Relationship Id="rId217" Type="http://schemas.openxmlformats.org/officeDocument/2006/relationships/slideLayout" Target="../slideLayouts/slideLayout219.xml"/><Relationship Id="rId218" Type="http://schemas.openxmlformats.org/officeDocument/2006/relationships/slideLayout" Target="../slideLayouts/slideLayout220.xml"/><Relationship Id="rId219" Type="http://schemas.openxmlformats.org/officeDocument/2006/relationships/slideLayout" Target="../slideLayouts/slideLayout221.xml"/><Relationship Id="rId220" Type="http://schemas.openxmlformats.org/officeDocument/2006/relationships/slideLayout" Target="../slideLayouts/slideLayout222.xml"/><Relationship Id="rId221" Type="http://schemas.openxmlformats.org/officeDocument/2006/relationships/slideLayout" Target="../slideLayouts/slideLayout223.xml"/><Relationship Id="rId222" Type="http://schemas.openxmlformats.org/officeDocument/2006/relationships/slideLayout" Target="../slideLayouts/slideLayout224.xml"/><Relationship Id="rId223" Type="http://schemas.openxmlformats.org/officeDocument/2006/relationships/slideLayout" Target="../slideLayouts/slideLayout225.xml"/><Relationship Id="rId224" Type="http://schemas.openxmlformats.org/officeDocument/2006/relationships/slideLayout" Target="../slideLayouts/slideLayout226.xml"/><Relationship Id="rId225" Type="http://schemas.openxmlformats.org/officeDocument/2006/relationships/slideLayout" Target="../slideLayouts/slideLayout2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  <p:sldLayoutId id="2147483853" r:id="rId203"/>
    <p:sldLayoutId id="2147483854" r:id="rId204"/>
    <p:sldLayoutId id="2147483855" r:id="rId205"/>
    <p:sldLayoutId id="2147483856" r:id="rId206"/>
    <p:sldLayoutId id="2147483857" r:id="rId207"/>
    <p:sldLayoutId id="2147483858" r:id="rId208"/>
    <p:sldLayoutId id="2147483859" r:id="rId209"/>
    <p:sldLayoutId id="2147483860" r:id="rId210"/>
    <p:sldLayoutId id="2147483861" r:id="rId211"/>
    <p:sldLayoutId id="2147483862" r:id="rId212"/>
    <p:sldLayoutId id="2147483863" r:id="rId213"/>
    <p:sldLayoutId id="2147483864" r:id="rId214"/>
    <p:sldLayoutId id="2147483865" r:id="rId215"/>
    <p:sldLayoutId id="2147483866" r:id="rId216"/>
    <p:sldLayoutId id="2147483867" r:id="rId217"/>
    <p:sldLayoutId id="2147483868" r:id="rId218"/>
    <p:sldLayoutId id="2147483869" r:id="rId219"/>
    <p:sldLayoutId id="2147483870" r:id="rId220"/>
    <p:sldLayoutId id="2147483871" r:id="rId221"/>
    <p:sldLayoutId id="2147483872" r:id="rId222"/>
    <p:sldLayoutId id="2147483873" r:id="rId223"/>
    <p:sldLayoutId id="2147483874" r:id="rId224"/>
    <p:sldLayoutId id="2147483875" r:id="rId22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