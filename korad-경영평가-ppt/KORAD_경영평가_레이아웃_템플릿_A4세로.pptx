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2182386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2007082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213652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961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673391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3232174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305687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3288522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3113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487130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706261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706261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692348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692348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692348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670435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911478"/>
            <a:ext cx="6300000" cy="1172348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729883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455457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966261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713988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45386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7 서사 · 여건 → 매뉴얼 최적화 → 시스템 고도화 → 인프라 강화 → 교육훈련 내실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702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692783"/>
            <a:ext cx="580696" cy="1079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2783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692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714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1714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171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1999565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788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88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6" name="배너"/>
          <p:cNvSpPr/>
          <p:nvPr/>
        </p:nvSpPr>
        <p:spPr>
          <a:xfrm>
            <a:off x="1161391" y="281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1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045913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937375" y="3045913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2926418" y="3078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4108696"/>
            <a:ext cx="580696" cy="1079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108696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41086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4130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4130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4130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4130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4130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5204348"/>
            <a:ext cx="580696" cy="291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5204348"/>
            <a:ext cx="580696" cy="291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522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522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522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522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522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6480783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2937375" y="6480783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2926418" y="6513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단계"/>
          <p:cNvSpPr/>
          <p:nvPr/>
        </p:nvSpPr>
        <p:spPr>
          <a:xfrm>
            <a:off x="1161391" y="737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77" name="단계"/>
          <p:cNvSpPr/>
          <p:nvPr/>
        </p:nvSpPr>
        <p:spPr>
          <a:xfrm>
            <a:off x="2573413" y="737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79" name="단계"/>
          <p:cNvSpPr/>
          <p:nvPr/>
        </p:nvSpPr>
        <p:spPr>
          <a:xfrm>
            <a:off x="3985435" y="737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81" name="단계"/>
          <p:cNvSpPr/>
          <p:nvPr/>
        </p:nvSpPr>
        <p:spPr>
          <a:xfrm>
            <a:off x="5397457" y="737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2573413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3985434" y="737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397456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 txBox="1"/>
          <p:nvPr/>
        </p:nvSpPr>
        <p:spPr>
          <a:xfrm>
            <a:off x="1172348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7" name="칸 본문"/>
          <p:cNvSpPr txBox="1"/>
          <p:nvPr/>
        </p:nvSpPr>
        <p:spPr>
          <a:xfrm>
            <a:off x="2584370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8" name="Connector 65"/>
          <p:cNvCxnSpPr/>
          <p:nvPr/>
        </p:nvCxnSpPr>
        <p:spPr>
          <a:xfrm>
            <a:off x="2573413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 txBox="1"/>
          <p:nvPr/>
        </p:nvSpPr>
        <p:spPr>
          <a:xfrm>
            <a:off x="3996391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0" name="Connector 67"/>
          <p:cNvCxnSpPr/>
          <p:nvPr/>
        </p:nvCxnSpPr>
        <p:spPr>
          <a:xfrm>
            <a:off x="3985435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 txBox="1"/>
          <p:nvPr/>
        </p:nvSpPr>
        <p:spPr>
          <a:xfrm>
            <a:off x="5408413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2" name="Connector 69"/>
          <p:cNvCxnSpPr/>
          <p:nvPr/>
        </p:nvCxnSpPr>
        <p:spPr>
          <a:xfrm>
            <a:off x="5397457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8228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55"/>
          </p:nvPr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56"/>
          </p:nvPr>
        </p:nvSpPr>
        <p:spPr>
          <a:xfrm>
            <a:off x="1314783" y="8244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8 서사 · 관리여건 → 과학적 댐 운영 → 스마트 댐 안전 → 수도시설 안전강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185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185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36933" y="1358609"/>
            <a:ext cx="33856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36933" y="1205217"/>
            <a:ext cx="548619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9" name="태그칩"/>
          <p:cNvSpPr/>
          <p:nvPr/>
        </p:nvSpPr>
        <p:spPr>
          <a:xfrm>
            <a:off x="502121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02121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57233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7233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4127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55034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55034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863219" y="153939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747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747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863219" y="1736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1966696"/>
            <a:ext cx="580696" cy="13942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909290" y="2131043"/>
            <a:ext cx="23029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909290" y="2131043"/>
            <a:ext cx="23029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317304"/>
            <a:ext cx="580696" cy="102177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196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19886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19886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09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30513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377426"/>
            <a:ext cx="580696" cy="122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3774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52" name="배너"/>
          <p:cNvSpPr/>
          <p:nvPr/>
        </p:nvSpPr>
        <p:spPr>
          <a:xfrm>
            <a:off x="1347652" y="33993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3993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6349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6349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4171696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63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4171696" y="39197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62099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7853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7853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971600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620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  <p:cxnSp>
        <p:nvCxnSpPr>
          <p:cNvPr id="73" name="Connector 50"/>
          <p:cNvCxnSpPr/>
          <p:nvPr/>
        </p:nvCxnSpPr>
        <p:spPr>
          <a:xfrm>
            <a:off x="4171696" y="491681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9 서사 · 관리여건 → 국민 안전서비스(시설개선 · 시민 참여 · 방류 경보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299883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5" name="태그칩"/>
          <p:cNvSpPr/>
          <p:nvPr/>
        </p:nvSpPr>
        <p:spPr>
          <a:xfrm>
            <a:off x="474157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4157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292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292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57226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72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30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32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265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268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68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67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0 서사 · 선제적 용수지원 → 중단없는 수도공급 → 일상 회복지원(위기·대응·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482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6" name="태그칩"/>
          <p:cNvSpPr/>
          <p:nvPr/>
        </p:nvSpPr>
        <p:spPr>
          <a:xfrm>
            <a:off x="47700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7700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태그칩"/>
          <p:cNvSpPr/>
          <p:nvPr/>
        </p:nvSpPr>
        <p:spPr>
          <a:xfrm>
            <a:off x="532113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2113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36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25" name="단계"/>
          <p:cNvSpPr/>
          <p:nvPr/>
        </p:nvSpPr>
        <p:spPr>
          <a:xfrm>
            <a:off x="1347652" y="1764000"/>
            <a:ext cx="2017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764000"/>
            <a:ext cx="2017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7" name="단계"/>
          <p:cNvSpPr/>
          <p:nvPr/>
        </p:nvSpPr>
        <p:spPr>
          <a:xfrm>
            <a:off x="3364826" y="1764000"/>
            <a:ext cx="363091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364826" y="1764000"/>
            <a:ext cx="3630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364826" y="1764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6000"/>
            <a:ext cx="1995261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375783" y="2016000"/>
            <a:ext cx="360900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364826" y="2048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3078783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8783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3078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3100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100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333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333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333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333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333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cxnSp>
        <p:nvCxnSpPr>
          <p:cNvPr id="48" name="Connector 31"/>
          <p:cNvCxnSpPr/>
          <p:nvPr/>
        </p:nvCxnSpPr>
        <p:spPr>
          <a:xfrm>
            <a:off x="3230348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5113043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34087" y="4651043"/>
            <a:ext cx="580696" cy="1183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651043"/>
            <a:ext cx="580696" cy="118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65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배너"/>
          <p:cNvSpPr/>
          <p:nvPr/>
        </p:nvSpPr>
        <p:spPr>
          <a:xfrm>
            <a:off x="1347652" y="467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67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56" name="머리칸"/>
          <p:cNvSpPr/>
          <p:nvPr/>
        </p:nvSpPr>
        <p:spPr>
          <a:xfrm>
            <a:off x="1347652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58" name="머리칸"/>
          <p:cNvSpPr/>
          <p:nvPr/>
        </p:nvSpPr>
        <p:spPr>
          <a:xfrm>
            <a:off x="3230348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60" name="머리칸"/>
          <p:cNvSpPr/>
          <p:nvPr/>
        </p:nvSpPr>
        <p:spPr>
          <a:xfrm>
            <a:off x="5113043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cxnSp>
        <p:nvCxnSpPr>
          <p:cNvPr id="64" name="Connector 42"/>
          <p:cNvCxnSpPr/>
          <p:nvPr/>
        </p:nvCxnSpPr>
        <p:spPr>
          <a:xfrm>
            <a:off x="3230348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  <p:cxnSp>
        <p:nvCxnSpPr>
          <p:cNvPr id="66" name="Connector 44"/>
          <p:cNvCxnSpPr/>
          <p:nvPr/>
        </p:nvCxnSpPr>
        <p:spPr>
          <a:xfrm>
            <a:off x="5113043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1 서사 · 협력 거버넌스(소방용수 지원강화 · 산불정보 공유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23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12" name="태그칩"/>
          <p:cNvSpPr/>
          <p:nvPr/>
        </p:nvSpPr>
        <p:spPr>
          <a:xfrm>
            <a:off x="453784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784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508896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896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92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381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613260" y="1502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5"/>
          </p:nvPr>
        </p:nvSpPr>
        <p:spPr>
          <a:xfrm>
            <a:off x="613260" y="1502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688713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338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360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60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28" name="단계"/>
          <p:cNvSpPr/>
          <p:nvPr/>
        </p:nvSpPr>
        <p:spPr>
          <a:xfrm>
            <a:off x="2926418" y="1360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2926418" y="1360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926418" y="1360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12017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2937375" y="1612017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26418" y="16448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46104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13260" y="2510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1"/>
          </p:nvPr>
        </p:nvSpPr>
        <p:spPr>
          <a:xfrm>
            <a:off x="613260" y="2510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2696713"/>
            <a:ext cx="580696" cy="509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346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368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368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41" name="단계"/>
          <p:cNvSpPr/>
          <p:nvPr/>
        </p:nvSpPr>
        <p:spPr>
          <a:xfrm>
            <a:off x="2926418" y="2368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926418" y="2368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926418" y="236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620017"/>
            <a:ext cx="174311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937375" y="2620017"/>
            <a:ext cx="386114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2926418" y="26528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3321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3650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36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3541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2 서사 · 환경변화 → 기본책무 → 역할확장 → 3대 방향 · 실행과제 ·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24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49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49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51478"/>
            <a:ext cx="580696" cy="13849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51478"/>
            <a:ext cx="580696" cy="1384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5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2770630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2759674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594674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5583717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723130" y="4074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캡션"/>
          <p:cNvSpPr>
            <a:spLocks noGrp="1"/>
          </p:cNvSpPr>
          <p:nvPr>
            <p:ph type="body" sz="quarter" idx="37"/>
          </p:nvPr>
        </p:nvSpPr>
        <p:spPr>
          <a:xfrm>
            <a:off x="942261" y="407473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46" name="표 외곽"/>
          <p:cNvSpPr/>
          <p:nvPr/>
        </p:nvSpPr>
        <p:spPr>
          <a:xfrm>
            <a:off x="723130" y="4381513"/>
            <a:ext cx="6300000" cy="382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4397948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9794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9" name="단계"/>
          <p:cNvSpPr/>
          <p:nvPr/>
        </p:nvSpPr>
        <p:spPr>
          <a:xfrm>
            <a:off x="1347652" y="4419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4419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4419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4419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4419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 txBox="1"/>
          <p:nvPr/>
        </p:nvSpPr>
        <p:spPr>
          <a:xfrm>
            <a:off x="1358609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8" name="칸 본문"/>
          <p:cNvSpPr txBox="1"/>
          <p:nvPr/>
        </p:nvSpPr>
        <p:spPr>
          <a:xfrm>
            <a:off x="3241304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1"/>
          <p:cNvCxnSpPr/>
          <p:nvPr/>
        </p:nvCxnSpPr>
        <p:spPr>
          <a:xfrm>
            <a:off x="3230348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124000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3"/>
          <p:cNvCxnSpPr/>
          <p:nvPr/>
        </p:nvCxnSpPr>
        <p:spPr>
          <a:xfrm>
            <a:off x="5113043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52963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296383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52963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6381078"/>
            <a:ext cx="580696" cy="761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6381078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230348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cxnSp>
        <p:nvCxnSpPr>
          <p:cNvPr id="76" name="Connector 56"/>
          <p:cNvCxnSpPr/>
          <p:nvPr/>
        </p:nvCxnSpPr>
        <p:spPr>
          <a:xfrm>
            <a:off x="5113043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7158991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0"/>
          </p:nvPr>
        </p:nvSpPr>
        <p:spPr>
          <a:xfrm>
            <a:off x="734087" y="7158991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715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태그"/>
          <p:cNvSpPr/>
          <p:nvPr/>
        </p:nvSpPr>
        <p:spPr>
          <a:xfrm>
            <a:off x="1347652" y="72028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1"/>
          </p:nvPr>
        </p:nvSpPr>
        <p:spPr>
          <a:xfrm>
            <a:off x="1347652" y="72028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2"/>
          </p:nvPr>
        </p:nvSpPr>
        <p:spPr>
          <a:xfrm>
            <a:off x="1972988" y="71918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74000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3"/>
          </p:nvPr>
        </p:nvSpPr>
        <p:spPr>
          <a:xfrm>
            <a:off x="1347652" y="74000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4"/>
          </p:nvPr>
        </p:nvSpPr>
        <p:spPr>
          <a:xfrm>
            <a:off x="1972988" y="73890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75972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5"/>
          </p:nvPr>
        </p:nvSpPr>
        <p:spPr>
          <a:xfrm>
            <a:off x="1347652" y="75972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6"/>
          </p:nvPr>
        </p:nvSpPr>
        <p:spPr>
          <a:xfrm>
            <a:off x="1972988" y="75862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89" name="태그"/>
          <p:cNvSpPr/>
          <p:nvPr/>
        </p:nvSpPr>
        <p:spPr>
          <a:xfrm>
            <a:off x="1347652" y="77944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77944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58"/>
          </p:nvPr>
        </p:nvSpPr>
        <p:spPr>
          <a:xfrm>
            <a:off x="1972988" y="77835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92" name="태그"/>
          <p:cNvSpPr/>
          <p:nvPr/>
        </p:nvSpPr>
        <p:spPr>
          <a:xfrm>
            <a:off x="1347652" y="79916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7991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0"/>
          </p:nvPr>
        </p:nvSpPr>
        <p:spPr>
          <a:xfrm>
            <a:off x="1972988" y="7980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3 서사 · 추진배경 → 확산 제약 → 국내도입 주도 → 최초 성공사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55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7" name="태그칩"/>
          <p:cNvSpPr/>
          <p:nvPr/>
        </p:nvSpPr>
        <p:spPr>
          <a:xfrm>
            <a:off x="379134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9134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4342463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342463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태그칩"/>
          <p:cNvSpPr/>
          <p:nvPr/>
        </p:nvSpPr>
        <p:spPr>
          <a:xfrm>
            <a:off x="5113122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>
          <a:xfrm>
            <a:off x="5113122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479130"/>
            <a:ext cx="6300000" cy="218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95565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55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태그"/>
          <p:cNvSpPr/>
          <p:nvPr/>
        </p:nvSpPr>
        <p:spPr>
          <a:xfrm>
            <a:off x="1161391" y="2410435"/>
            <a:ext cx="89866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410435"/>
            <a:ext cx="89866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03878" y="2399478"/>
            <a:ext cx="470560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629565"/>
            <a:ext cx="580696" cy="1013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29565"/>
            <a:ext cx="580696" cy="101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캡션 띠"/>
          <p:cNvSpPr/>
          <p:nvPr/>
        </p:nvSpPr>
        <p:spPr>
          <a:xfrm>
            <a:off x="536869" y="368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태그"/>
          <p:cNvSpPr/>
          <p:nvPr/>
        </p:nvSpPr>
        <p:spPr>
          <a:xfrm>
            <a:off x="865565" y="3725217"/>
            <a:ext cx="58882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8"/>
          </p:nvPr>
        </p:nvSpPr>
        <p:spPr>
          <a:xfrm>
            <a:off x="865565" y="3725217"/>
            <a:ext cx="58882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9" name="캡션"/>
          <p:cNvSpPr>
            <a:spLocks noGrp="1"/>
          </p:cNvSpPr>
          <p:nvPr>
            <p:ph type="body" sz="quarter" idx="39"/>
          </p:nvPr>
        </p:nvSpPr>
        <p:spPr>
          <a:xfrm>
            <a:off x="1509174" y="3681391"/>
            <a:ext cx="5108565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50" name="표 외곽"/>
          <p:cNvSpPr/>
          <p:nvPr/>
        </p:nvSpPr>
        <p:spPr>
          <a:xfrm>
            <a:off x="536870" y="3988174"/>
            <a:ext cx="6300000" cy="261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004609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004609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53" name="단계"/>
          <p:cNvSpPr/>
          <p:nvPr/>
        </p:nvSpPr>
        <p:spPr>
          <a:xfrm>
            <a:off x="1161391" y="402652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402652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985434" y="402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985435" y="4311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341304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341304"/>
            <a:ext cx="580696" cy="124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534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161391" y="536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536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598783"/>
            <a:ext cx="1591826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86087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2775130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30870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119913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475652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cxnSp>
        <p:nvCxnSpPr>
          <p:cNvPr id="72" name="Connector 53"/>
          <p:cNvCxnSpPr/>
          <p:nvPr/>
        </p:nvCxnSpPr>
        <p:spPr>
          <a:xfrm>
            <a:off x="5464696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핵심성과 박스"/>
          <p:cNvSpPr/>
          <p:nvPr/>
        </p:nvSpPr>
        <p:spPr>
          <a:xfrm>
            <a:off x="536870" y="6694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핵심성과 라벨"/>
          <p:cNvSpPr/>
          <p:nvPr/>
        </p:nvSpPr>
        <p:spPr>
          <a:xfrm>
            <a:off x="569739" y="6727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6727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6716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4 서사 · 추진배경 → 추진내용 3단(공동 역량 · 정화 인프라 · 최고 정화기준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424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46420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46420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77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320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525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24" name="단계"/>
          <p:cNvSpPr/>
          <p:nvPr/>
        </p:nvSpPr>
        <p:spPr>
          <a:xfrm>
            <a:off x="3230348" y="1525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26" name="단계"/>
          <p:cNvSpPr/>
          <p:nvPr/>
        </p:nvSpPr>
        <p:spPr>
          <a:xfrm>
            <a:off x="5113043" y="1525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230347" y="1525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113043" y="1525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230348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77774"/>
            <a:ext cx="1860783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622835"/>
            <a:ext cx="1860783" cy="1958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723130" y="292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94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5 서사 · 댐 홍수터 OECM(추진배경 → 시사점 → 목표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706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12" name="태그칩"/>
          <p:cNvSpPr/>
          <p:nvPr/>
        </p:nvSpPr>
        <p:spPr>
          <a:xfrm>
            <a:off x="460615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0615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557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524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536869" y="16312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캡션"/>
          <p:cNvSpPr>
            <a:spLocks noGrp="1"/>
          </p:cNvSpPr>
          <p:nvPr>
            <p:ph type="body" sz="quarter" idx="25"/>
          </p:nvPr>
        </p:nvSpPr>
        <p:spPr>
          <a:xfrm>
            <a:off x="756000" y="16312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938052"/>
            <a:ext cx="6300000" cy="24858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95448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544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5" name="배너"/>
          <p:cNvSpPr/>
          <p:nvPr/>
        </p:nvSpPr>
        <p:spPr>
          <a:xfrm>
            <a:off x="1161391" y="19764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764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2233878"/>
            <a:ext cx="58523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2233878"/>
            <a:ext cx="58523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790448" y="2222922"/>
            <a:ext cx="501903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47530"/>
            <a:ext cx="5626174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666661"/>
            <a:ext cx="580696" cy="17408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6661"/>
            <a:ext cx="580696" cy="174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6666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161391" y="26885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6885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6885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6885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6885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161391" y="3669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669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3937617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5115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5280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6 서사 · 꿀벌 식당(추진배경 → 협업체계 → 상생모델 구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799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11" name="태그칩"/>
          <p:cNvSpPr/>
          <p:nvPr/>
        </p:nvSpPr>
        <p:spPr>
          <a:xfrm>
            <a:off x="500168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0168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2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60035"/>
            <a:ext cx="580696" cy="59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6003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600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73600"/>
            <a:ext cx="580696" cy="177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073600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0955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0955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0955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0955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0955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185687"/>
            <a:ext cx="4514087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50" name="사진 칸"/>
          <p:cNvSpPr/>
          <p:nvPr/>
        </p:nvSpPr>
        <p:spPr>
          <a:xfrm>
            <a:off x="5916522" y="3191165"/>
            <a:ext cx="1079217" cy="646435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사진 칸"/>
          <p:cNvSpPr>
            <a:spLocks noGrp="1"/>
          </p:cNvSpPr>
          <p:nvPr>
            <p:ph type="body" sz="quarter" idx="40"/>
          </p:nvPr>
        </p:nvSpPr>
        <p:spPr>
          <a:xfrm>
            <a:off x="5916522" y="3191165"/>
            <a:ext cx="1079217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952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985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985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974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7 서사 · 신정부 에너지 정책 → 공존가치 실현(Re:boot 로드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4040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7" name="태그칩"/>
          <p:cNvSpPr/>
          <p:nvPr/>
        </p:nvSpPr>
        <p:spPr>
          <a:xfrm>
            <a:off x="503957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503957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14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161391" y="19721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9721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8"/>
          </p:nvPr>
        </p:nvSpPr>
        <p:spPr>
          <a:xfrm>
            <a:off x="1567189" y="19612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8" name="태그"/>
          <p:cNvSpPr/>
          <p:nvPr/>
        </p:nvSpPr>
        <p:spPr>
          <a:xfrm>
            <a:off x="1161391" y="2169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169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0"/>
          </p:nvPr>
        </p:nvSpPr>
        <p:spPr>
          <a:xfrm>
            <a:off x="1567189" y="2158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388522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88522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8 서사 · 수열 · 수상태양광 · 그린수소 · 국제감축(분야별 단계 전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7258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11" name="태그칩"/>
          <p:cNvSpPr/>
          <p:nvPr/>
        </p:nvSpPr>
        <p:spPr>
          <a:xfrm>
            <a:off x="539432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9432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93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5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903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0348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251565"/>
            <a:ext cx="580696" cy="1155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 태그"/>
          <p:cNvSpPr/>
          <p:nvPr/>
        </p:nvSpPr>
        <p:spPr>
          <a:xfrm>
            <a:off x="744637" y="2415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레일 태그"/>
          <p:cNvSpPr>
            <a:spLocks noGrp="1"/>
          </p:cNvSpPr>
          <p:nvPr>
            <p:ph type="body" sz="quarter" idx="30"/>
          </p:nvPr>
        </p:nvSpPr>
        <p:spPr>
          <a:xfrm>
            <a:off x="744637" y="2415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02174"/>
            <a:ext cx="580696" cy="78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251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273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273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273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273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230348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5113043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423913"/>
            <a:ext cx="580696" cy="1144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675117" y="3467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8"/>
          </p:nvPr>
        </p:nvSpPr>
        <p:spPr>
          <a:xfrm>
            <a:off x="675117" y="3467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54000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53" name="머리칸"/>
          <p:cNvSpPr/>
          <p:nvPr/>
        </p:nvSpPr>
        <p:spPr>
          <a:xfrm>
            <a:off x="1347652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55" name="머리칸"/>
          <p:cNvSpPr/>
          <p:nvPr/>
        </p:nvSpPr>
        <p:spPr>
          <a:xfrm>
            <a:off x="3230348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57" name="머리칸"/>
          <p:cNvSpPr/>
          <p:nvPr/>
        </p:nvSpPr>
        <p:spPr>
          <a:xfrm>
            <a:off x="5113043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3230348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5113043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734087" y="4585304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744637" y="474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6"/>
          </p:nvPr>
        </p:nvSpPr>
        <p:spPr>
          <a:xfrm>
            <a:off x="744637" y="474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7"/>
          </p:nvPr>
        </p:nvSpPr>
        <p:spPr>
          <a:xfrm>
            <a:off x="734087" y="4935913"/>
            <a:ext cx="580696" cy="1018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58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4607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4607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71" name="단계"/>
          <p:cNvSpPr/>
          <p:nvPr/>
        </p:nvSpPr>
        <p:spPr>
          <a:xfrm>
            <a:off x="1347652" y="48427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73" name="단계"/>
          <p:cNvSpPr/>
          <p:nvPr/>
        </p:nvSpPr>
        <p:spPr>
          <a:xfrm>
            <a:off x="4171696" y="48427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4171696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4171695" y="4842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  <p:cxnSp>
        <p:nvCxnSpPr>
          <p:cNvPr id="78" name="Connector 55"/>
          <p:cNvCxnSpPr/>
          <p:nvPr/>
        </p:nvCxnSpPr>
        <p:spPr>
          <a:xfrm>
            <a:off x="4171696" y="5127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9 서사 · 수력 RE100 인증기준(추진배경 → 용어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49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50904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04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9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23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5626174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588696"/>
            <a:ext cx="1358634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88696"/>
            <a:ext cx="135863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2563851" y="1577739"/>
            <a:ext cx="4245627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807826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078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807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26" name="단계"/>
          <p:cNvSpPr/>
          <p:nvPr/>
        </p:nvSpPr>
        <p:spPr>
          <a:xfrm>
            <a:off x="1161391" y="20653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20653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985435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20653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985435" y="23501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313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6" name="핵심성과 라벨"/>
          <p:cNvSpPr>
            <a:spLocks noGrp="1"/>
          </p:cNvSpPr>
          <p:nvPr>
            <p:ph type="body" sz="quarter" idx="32"/>
          </p:nvPr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3"/>
          </p:nvPr>
        </p:nvSpPr>
        <p:spPr>
          <a:xfrm>
            <a:off x="1314783" y="315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0 서사 · 환경경영 취약지점(환경법규 → 인재양성 → 녹색건축물 → 정보공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3434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16521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16521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716336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716336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541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08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31043"/>
            <a:ext cx="580696" cy="1139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31043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3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15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5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230348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286957"/>
            <a:ext cx="580696" cy="1062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286957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38" name="배너"/>
          <p:cNvSpPr/>
          <p:nvPr/>
        </p:nvSpPr>
        <p:spPr>
          <a:xfrm>
            <a:off x="1347652" y="330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330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230348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5113043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66174"/>
            <a:ext cx="580696" cy="144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66174"/>
            <a:ext cx="580696" cy="144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734086" y="436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347652" y="4388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347652" y="4388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171696" y="4656522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5330348"/>
            <a:ext cx="5626174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54" name="레일"/>
          <p:cNvSpPr/>
          <p:nvPr/>
        </p:nvSpPr>
        <p:spPr>
          <a:xfrm>
            <a:off x="734087" y="5823391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823391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56" name="배너"/>
          <p:cNvSpPr/>
          <p:nvPr/>
        </p:nvSpPr>
        <p:spPr>
          <a:xfrm>
            <a:off x="1347652" y="584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84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171696" y="6113739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1 서사 · 해외진출 로드맵(추진배경 → 환경분석 → 시사점 → 목표 · 로드맵 · 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94174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캡션 띠"/>
          <p:cNvSpPr/>
          <p:nvPr/>
        </p:nvSpPr>
        <p:spPr>
          <a:xfrm>
            <a:off x="536869" y="2613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2656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2656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2613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2919913"/>
            <a:ext cx="6300000" cy="1857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2936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36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4" name="배너"/>
          <p:cNvSpPr/>
          <p:nvPr/>
        </p:nvSpPr>
        <p:spPr>
          <a:xfrm>
            <a:off x="1161391" y="295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95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3206191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20619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2061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161391" y="322810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51" name="단계"/>
          <p:cNvSpPr/>
          <p:nvPr/>
        </p:nvSpPr>
        <p:spPr>
          <a:xfrm>
            <a:off x="2573413" y="322810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2573413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53" name="단계"/>
          <p:cNvSpPr/>
          <p:nvPr/>
        </p:nvSpPr>
        <p:spPr>
          <a:xfrm>
            <a:off x="3985435" y="322810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55" name="단계"/>
          <p:cNvSpPr/>
          <p:nvPr/>
        </p:nvSpPr>
        <p:spPr>
          <a:xfrm>
            <a:off x="5397457" y="322810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397457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573413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985434" y="32281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397456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2584370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cxnSp>
        <p:nvCxnSpPr>
          <p:cNvPr id="62" name="Connector 44"/>
          <p:cNvCxnSpPr/>
          <p:nvPr/>
        </p:nvCxnSpPr>
        <p:spPr>
          <a:xfrm>
            <a:off x="2573413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5408413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cxnSp>
        <p:nvCxnSpPr>
          <p:cNvPr id="66" name="Connector 48"/>
          <p:cNvCxnSpPr/>
          <p:nvPr/>
        </p:nvCxnSpPr>
        <p:spPr>
          <a:xfrm>
            <a:off x="5397457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3999287"/>
            <a:ext cx="580696" cy="76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3999287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3999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머리칸"/>
          <p:cNvSpPr/>
          <p:nvPr/>
        </p:nvSpPr>
        <p:spPr>
          <a:xfrm>
            <a:off x="1161391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72" name="머리칸"/>
          <p:cNvSpPr/>
          <p:nvPr/>
        </p:nvSpPr>
        <p:spPr>
          <a:xfrm>
            <a:off x="3044087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74" name="머리칸"/>
          <p:cNvSpPr/>
          <p:nvPr/>
        </p:nvSpPr>
        <p:spPr>
          <a:xfrm>
            <a:off x="4926783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cxnSp>
        <p:nvCxnSpPr>
          <p:cNvPr id="78" name="Connector 56"/>
          <p:cNvCxnSpPr/>
          <p:nvPr/>
        </p:nvCxnSpPr>
        <p:spPr>
          <a:xfrm>
            <a:off x="3044087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4926783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2 서사 · 수출금융지원(지역혁신펀드 · 프로젝트 지원자금 · 녹색인프라 · PIS 펀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3436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6" name="태그칩"/>
          <p:cNvSpPr/>
          <p:nvPr/>
        </p:nvSpPr>
        <p:spPr>
          <a:xfrm>
            <a:off x="5165412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65412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5448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5448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5448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522957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7640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807826"/>
            <a:ext cx="76817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807826"/>
            <a:ext cx="76817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600873" y="1785913"/>
            <a:ext cx="222843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862174" y="18187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807826"/>
            <a:ext cx="10169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807826"/>
            <a:ext cx="10169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966812" y="1785913"/>
            <a:ext cx="1979623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903478"/>
            <a:ext cx="159510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903478"/>
            <a:ext cx="159510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2427796" y="2881565"/>
            <a:ext cx="140150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862174" y="29144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903478"/>
            <a:ext cx="87757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903478"/>
            <a:ext cx="87757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827399" y="2881565"/>
            <a:ext cx="211903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9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3 서사 · 해외진출 컨설팅 · 글로벌 마케팅 · 판로확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89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12" name="태그칩"/>
          <p:cNvSpPr/>
          <p:nvPr/>
        </p:nvSpPr>
        <p:spPr>
          <a:xfrm>
            <a:off x="48044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44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553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553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01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194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379087" y="1112087"/>
            <a:ext cx="91817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379087" y="1112087"/>
            <a:ext cx="91817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942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11208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2145304" y="110113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985435" y="1599652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278957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278957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27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36" name="머리칸"/>
          <p:cNvSpPr/>
          <p:nvPr/>
        </p:nvSpPr>
        <p:spPr>
          <a:xfrm>
            <a:off x="3044087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38" name="머리칸"/>
          <p:cNvSpPr/>
          <p:nvPr/>
        </p:nvSpPr>
        <p:spPr>
          <a:xfrm>
            <a:off x="4926783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044087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4926783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330783"/>
            <a:ext cx="580696" cy="71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3078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330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985435" y="3385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536870" y="415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16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4 서사 · 해외시장개척단 내실화(성과분석 → 개선방향 → 선발·성과관리 → 맞춤형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7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43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43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9" name="태그"/>
          <p:cNvSpPr/>
          <p:nvPr/>
        </p:nvSpPr>
        <p:spPr>
          <a:xfrm>
            <a:off x="1347652" y="1188783"/>
            <a:ext cx="910815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88783"/>
            <a:ext cx="9108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2302294" y="1177826"/>
            <a:ext cx="4693446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435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캡션 띠"/>
          <p:cNvSpPr/>
          <p:nvPr/>
        </p:nvSpPr>
        <p:spPr>
          <a:xfrm>
            <a:off x="723130" y="2026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051826" y="2070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2070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29"/>
          </p:nvPr>
        </p:nvSpPr>
        <p:spPr>
          <a:xfrm>
            <a:off x="1655249" y="2026957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333739"/>
            <a:ext cx="6300000" cy="255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350174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0174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64600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621130"/>
            <a:ext cx="580696" cy="1254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21130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62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4171696" y="3916957"/>
            <a:ext cx="0" cy="92034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723130" y="497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499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5 서사 · 해외실증 동반진출(추진배경 → 방향 → 정부지원 → 글로벌 테스트베드 → 초격차 기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035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177826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177826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4"/>
          </p:nvPr>
        </p:nvSpPr>
        <p:spPr>
          <a:xfrm>
            <a:off x="1826913" y="116687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37504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37504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1826913" y="136408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594174"/>
            <a:ext cx="580696" cy="54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594174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cxnSp>
        <p:nvCxnSpPr>
          <p:cNvPr id="29" name="Connector 21"/>
          <p:cNvCxnSpPr/>
          <p:nvPr/>
        </p:nvCxnSpPr>
        <p:spPr>
          <a:xfrm>
            <a:off x="3985435" y="1648957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형광 밑줄"/>
          <p:cNvSpPr/>
          <p:nvPr/>
        </p:nvSpPr>
        <p:spPr>
          <a:xfrm>
            <a:off x="536870" y="2426870"/>
            <a:ext cx="39847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소제목"/>
          <p:cNvSpPr>
            <a:spLocks noGrp="1"/>
          </p:cNvSpPr>
          <p:nvPr>
            <p:ph type="body" sz="quarter" idx="30"/>
          </p:nvPr>
        </p:nvSpPr>
        <p:spPr>
          <a:xfrm>
            <a:off x="536870" y="22734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32" name="태그칩"/>
          <p:cNvSpPr/>
          <p:nvPr/>
        </p:nvSpPr>
        <p:spPr>
          <a:xfrm>
            <a:off x="4620224" y="2306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칩"/>
          <p:cNvSpPr>
            <a:spLocks noGrp="1"/>
          </p:cNvSpPr>
          <p:nvPr>
            <p:ph type="body" sz="quarter" idx="31"/>
          </p:nvPr>
        </p:nvSpPr>
        <p:spPr>
          <a:xfrm>
            <a:off x="4620224" y="2306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558348"/>
            <a:ext cx="6300000" cy="386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574783"/>
            <a:ext cx="580696" cy="903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7478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596696"/>
            <a:ext cx="254539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739660" y="2596696"/>
            <a:ext cx="305886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728704" y="2629565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495130"/>
            <a:ext cx="580696" cy="184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95130"/>
            <a:ext cx="580696" cy="184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3495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161391" y="3517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517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752609"/>
            <a:ext cx="396497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59233" y="3752609"/>
            <a:ext cx="1639289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5148276" y="3785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단계"/>
          <p:cNvSpPr/>
          <p:nvPr/>
        </p:nvSpPr>
        <p:spPr>
          <a:xfrm>
            <a:off x="1161391" y="470034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50" name="단계"/>
          <p:cNvSpPr/>
          <p:nvPr/>
        </p:nvSpPr>
        <p:spPr>
          <a:xfrm>
            <a:off x="3985435" y="470034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985434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 txBox="1"/>
          <p:nvPr/>
        </p:nvSpPr>
        <p:spPr>
          <a:xfrm>
            <a:off x="1172348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4" name="칸 본문"/>
          <p:cNvSpPr txBox="1"/>
          <p:nvPr/>
        </p:nvSpPr>
        <p:spPr>
          <a:xfrm>
            <a:off x="3996391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5" name="Connector 41"/>
          <p:cNvCxnSpPr/>
          <p:nvPr/>
        </p:nvCxnSpPr>
        <p:spPr>
          <a:xfrm>
            <a:off x="3985435" y="4985217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5357739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5357739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547826" y="535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"/>
          <p:cNvSpPr/>
          <p:nvPr/>
        </p:nvSpPr>
        <p:spPr>
          <a:xfrm>
            <a:off x="1161391" y="5379652"/>
            <a:ext cx="355620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5379652"/>
            <a:ext cx="355620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61" name="단계"/>
          <p:cNvSpPr/>
          <p:nvPr/>
        </p:nvSpPr>
        <p:spPr>
          <a:xfrm>
            <a:off x="4717594" y="5379652"/>
            <a:ext cx="209188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3"/>
          </p:nvPr>
        </p:nvSpPr>
        <p:spPr>
          <a:xfrm>
            <a:off x="4717594" y="5379652"/>
            <a:ext cx="209188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4717594" y="5379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5631652"/>
            <a:ext cx="353429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4728551" y="5631652"/>
            <a:ext cx="2069971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4717594" y="5664522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9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0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6 서사 · 동반진출(투자사업 · 수주사업 · ODA사업 3갈래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7897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60071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0071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5183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5183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80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80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2985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002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7 서사 · 수요 중심 데이터 개방 → 데이터 정비 → 활용도 편의성 개선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태그"/>
          <p:cNvSpPr/>
          <p:nvPr/>
        </p:nvSpPr>
        <p:spPr>
          <a:xfrm>
            <a:off x="1161391" y="827217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"/>
          <p:cNvSpPr>
            <a:spLocks noGrp="1"/>
          </p:cNvSpPr>
          <p:nvPr>
            <p:ph type="body" sz="quarter" idx="21"/>
          </p:nvPr>
        </p:nvSpPr>
        <p:spPr>
          <a:xfrm>
            <a:off x="1161391" y="827217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2"/>
          </p:nvPr>
        </p:nvSpPr>
        <p:spPr>
          <a:xfrm>
            <a:off x="1676958" y="81626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6" name="태그"/>
          <p:cNvSpPr/>
          <p:nvPr/>
        </p:nvSpPr>
        <p:spPr>
          <a:xfrm>
            <a:off x="1161391" y="102443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02443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4"/>
          </p:nvPr>
        </p:nvSpPr>
        <p:spPr>
          <a:xfrm>
            <a:off x="1676958" y="1013478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9" name="번호 띠"/>
          <p:cNvSpPr/>
          <p:nvPr/>
        </p:nvSpPr>
        <p:spPr>
          <a:xfrm>
            <a:off x="536870" y="1386000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407913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407913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5"/>
          </p:nvPr>
        </p:nvSpPr>
        <p:spPr>
          <a:xfrm>
            <a:off x="558783" y="1386000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6"/>
          </p:nvPr>
        </p:nvSpPr>
        <p:spPr>
          <a:xfrm>
            <a:off x="1183304" y="1407913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24" name="번호 띠 칩"/>
          <p:cNvSpPr/>
          <p:nvPr/>
        </p:nvSpPr>
        <p:spPr>
          <a:xfrm>
            <a:off x="6022385" y="1451739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번호 띠 칩"/>
          <p:cNvSpPr>
            <a:spLocks noGrp="1"/>
          </p:cNvSpPr>
          <p:nvPr>
            <p:ph type="body" sz="quarter" idx="27"/>
          </p:nvPr>
        </p:nvSpPr>
        <p:spPr>
          <a:xfrm>
            <a:off x="6022385" y="1451739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6" name="번호 띠 칩"/>
          <p:cNvSpPr/>
          <p:nvPr/>
        </p:nvSpPr>
        <p:spPr>
          <a:xfrm>
            <a:off x="5449351" y="1451739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번호 띠 칩"/>
          <p:cNvSpPr>
            <a:spLocks noGrp="1"/>
          </p:cNvSpPr>
          <p:nvPr>
            <p:ph type="body" sz="quarter" idx="28"/>
          </p:nvPr>
        </p:nvSpPr>
        <p:spPr>
          <a:xfrm>
            <a:off x="5449351" y="1451739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736609"/>
            <a:ext cx="6300000" cy="3582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753043"/>
            <a:ext cx="580696" cy="110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543740" y="1796870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29"/>
          </p:nvPr>
        </p:nvSpPr>
        <p:spPr>
          <a:xfrm>
            <a:off x="543740" y="1796870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1983130"/>
            <a:ext cx="580696" cy="84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1774957"/>
            <a:ext cx="3765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74957"/>
            <a:ext cx="3765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1774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774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4926782" y="1774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26957"/>
            <a:ext cx="3743478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0269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926783" y="205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870609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613260" y="3034957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5"/>
          </p:nvPr>
        </p:nvSpPr>
        <p:spPr>
          <a:xfrm>
            <a:off x="613260" y="3034957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21217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87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161391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48" name="머리칸"/>
          <p:cNvSpPr/>
          <p:nvPr/>
        </p:nvSpPr>
        <p:spPr>
          <a:xfrm>
            <a:off x="3985435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985435" y="3166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레일"/>
          <p:cNvSpPr/>
          <p:nvPr/>
        </p:nvSpPr>
        <p:spPr>
          <a:xfrm>
            <a:off x="547826" y="3867652"/>
            <a:ext cx="580696" cy="1435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 태그"/>
          <p:cNvSpPr/>
          <p:nvPr/>
        </p:nvSpPr>
        <p:spPr>
          <a:xfrm>
            <a:off x="613260" y="4032000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레일 태그"/>
          <p:cNvSpPr>
            <a:spLocks noGrp="1"/>
          </p:cNvSpPr>
          <p:nvPr>
            <p:ph type="body" sz="quarter" idx="41"/>
          </p:nvPr>
        </p:nvSpPr>
        <p:spPr>
          <a:xfrm>
            <a:off x="613260" y="4032000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56" name="레일 라벨"/>
          <p:cNvSpPr>
            <a:spLocks noGrp="1"/>
          </p:cNvSpPr>
          <p:nvPr>
            <p:ph type="body" sz="quarter" idx="42"/>
          </p:nvPr>
        </p:nvSpPr>
        <p:spPr>
          <a:xfrm>
            <a:off x="547826" y="4218261"/>
            <a:ext cx="580696" cy="106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386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머리칸"/>
          <p:cNvSpPr/>
          <p:nvPr/>
        </p:nvSpPr>
        <p:spPr>
          <a:xfrm>
            <a:off x="1161391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60" name="머리칸"/>
          <p:cNvSpPr/>
          <p:nvPr/>
        </p:nvSpPr>
        <p:spPr>
          <a:xfrm>
            <a:off x="3985435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4163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태그"/>
          <p:cNvSpPr/>
          <p:nvPr/>
        </p:nvSpPr>
        <p:spPr>
          <a:xfrm>
            <a:off x="1161391" y="510026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7"/>
          </p:nvPr>
        </p:nvSpPr>
        <p:spPr>
          <a:xfrm>
            <a:off x="1161391" y="510026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48"/>
          </p:nvPr>
        </p:nvSpPr>
        <p:spPr>
          <a:xfrm>
            <a:off x="2145304" y="5089304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68" name="핵심성과 박스"/>
          <p:cNvSpPr/>
          <p:nvPr/>
        </p:nvSpPr>
        <p:spPr>
          <a:xfrm>
            <a:off x="536870" y="5407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5439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5439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5428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8 서사 · 데이터 활용 공공·민간 협업(4개 협업과제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833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8330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8330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16139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402435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446261"/>
            <a:ext cx="9072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446261"/>
            <a:ext cx="9072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739913" y="1424348"/>
            <a:ext cx="208939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3862174" y="1457217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44626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44626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498466" y="1424348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54191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54191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1381335" y="2520000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3862174" y="2552870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541913"/>
            <a:ext cx="7413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541913"/>
            <a:ext cx="7413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691212" y="2520000"/>
            <a:ext cx="225522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9 서사 · AI 기술마켓(환경분석 → 시사점 → 추진과제 → 추진체계 → 3단 지원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827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5" name="머리칸"/>
          <p:cNvSpPr/>
          <p:nvPr/>
        </p:nvSpPr>
        <p:spPr>
          <a:xfrm>
            <a:off x="3044087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044087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7" name="머리칸"/>
          <p:cNvSpPr/>
          <p:nvPr/>
        </p:nvSpPr>
        <p:spPr>
          <a:xfrm>
            <a:off x="4926783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4926783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044087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926783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536869" y="161608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865565" y="165991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65991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61608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22870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31" name="태그"/>
          <p:cNvSpPr/>
          <p:nvPr/>
        </p:nvSpPr>
        <p:spPr>
          <a:xfrm>
            <a:off x="1161391" y="198313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8313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1567189" y="1972174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34" name="태그"/>
          <p:cNvSpPr/>
          <p:nvPr/>
        </p:nvSpPr>
        <p:spPr>
          <a:xfrm>
            <a:off x="1161391" y="2180348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80348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1567189" y="216939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37" name="번호 띠"/>
          <p:cNvSpPr/>
          <p:nvPr/>
        </p:nvSpPr>
        <p:spPr>
          <a:xfrm>
            <a:off x="536870" y="2541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번호 탭"/>
          <p:cNvSpPr/>
          <p:nvPr/>
        </p:nvSpPr>
        <p:spPr>
          <a:xfrm>
            <a:off x="558782" y="2563826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번호 탭 빗면"/>
          <p:cNvSpPr/>
          <p:nvPr/>
        </p:nvSpPr>
        <p:spPr>
          <a:xfrm>
            <a:off x="953217" y="2563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번호"/>
          <p:cNvSpPr>
            <a:spLocks noGrp="1"/>
          </p:cNvSpPr>
          <p:nvPr>
            <p:ph type="body" sz="quarter" idx="34"/>
          </p:nvPr>
        </p:nvSpPr>
        <p:spPr>
          <a:xfrm>
            <a:off x="558783" y="2541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41" name="번호 띠 제목"/>
          <p:cNvSpPr>
            <a:spLocks noGrp="1"/>
          </p:cNvSpPr>
          <p:nvPr>
            <p:ph type="body" sz="quarter" idx="35"/>
          </p:nvPr>
        </p:nvSpPr>
        <p:spPr>
          <a:xfrm>
            <a:off x="1183304" y="2563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42" name="번호 띠 칩"/>
          <p:cNvSpPr/>
          <p:nvPr/>
        </p:nvSpPr>
        <p:spPr>
          <a:xfrm>
            <a:off x="6265613" y="2607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번호 띠 칩"/>
          <p:cNvSpPr>
            <a:spLocks noGrp="1"/>
          </p:cNvSpPr>
          <p:nvPr>
            <p:ph type="body" sz="quarter" idx="36"/>
          </p:nvPr>
        </p:nvSpPr>
        <p:spPr>
          <a:xfrm>
            <a:off x="6265613" y="2607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44" name="번호 띠 칩"/>
          <p:cNvSpPr/>
          <p:nvPr/>
        </p:nvSpPr>
        <p:spPr>
          <a:xfrm>
            <a:off x="5692579" y="2607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번호 띠 칩"/>
          <p:cNvSpPr>
            <a:spLocks noGrp="1"/>
          </p:cNvSpPr>
          <p:nvPr>
            <p:ph type="body" sz="quarter" idx="37"/>
          </p:nvPr>
        </p:nvSpPr>
        <p:spPr>
          <a:xfrm>
            <a:off x="5692579" y="2607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46" name="표 외곽"/>
          <p:cNvSpPr/>
          <p:nvPr/>
        </p:nvSpPr>
        <p:spPr>
          <a:xfrm>
            <a:off x="536870" y="2892522"/>
            <a:ext cx="6300000" cy="3681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2908957"/>
            <a:ext cx="580696" cy="62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908957"/>
            <a:ext cx="580696" cy="62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293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93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31664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1161391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53" name="단계"/>
          <p:cNvSpPr/>
          <p:nvPr/>
        </p:nvSpPr>
        <p:spPr>
          <a:xfrm>
            <a:off x="2573413" y="31664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2573413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31664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57" name="단계"/>
          <p:cNvSpPr/>
          <p:nvPr/>
        </p:nvSpPr>
        <p:spPr>
          <a:xfrm>
            <a:off x="5397457" y="31664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397457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2573413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3985434" y="3166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5397456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 txBox="1"/>
          <p:nvPr/>
        </p:nvSpPr>
        <p:spPr>
          <a:xfrm>
            <a:off x="1172348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3" name="칸 본문"/>
          <p:cNvSpPr txBox="1"/>
          <p:nvPr/>
        </p:nvSpPr>
        <p:spPr>
          <a:xfrm>
            <a:off x="2584370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4"/>
          <p:cNvCxnSpPr/>
          <p:nvPr/>
        </p:nvCxnSpPr>
        <p:spPr>
          <a:xfrm>
            <a:off x="2573413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 txBox="1"/>
          <p:nvPr/>
        </p:nvSpPr>
        <p:spPr>
          <a:xfrm>
            <a:off x="3996391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6" name="Connector 46"/>
          <p:cNvCxnSpPr/>
          <p:nvPr/>
        </p:nvCxnSpPr>
        <p:spPr>
          <a:xfrm>
            <a:off x="3985435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칸 본문"/>
          <p:cNvSpPr txBox="1"/>
          <p:nvPr/>
        </p:nvSpPr>
        <p:spPr>
          <a:xfrm>
            <a:off x="5408413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8" name="Connector 48"/>
          <p:cNvCxnSpPr/>
          <p:nvPr/>
        </p:nvCxnSpPr>
        <p:spPr>
          <a:xfrm>
            <a:off x="5397457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레일"/>
          <p:cNvSpPr/>
          <p:nvPr/>
        </p:nvSpPr>
        <p:spPr>
          <a:xfrm>
            <a:off x="547826" y="3549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 태그"/>
          <p:cNvSpPr/>
          <p:nvPr/>
        </p:nvSpPr>
        <p:spPr>
          <a:xfrm>
            <a:off x="503491" y="371426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레일 태그"/>
          <p:cNvSpPr>
            <a:spLocks noGrp="1"/>
          </p:cNvSpPr>
          <p:nvPr>
            <p:ph type="body" sz="quarter" idx="44"/>
          </p:nvPr>
        </p:nvSpPr>
        <p:spPr>
          <a:xfrm>
            <a:off x="503491" y="371426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72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3900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547826" y="3549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"/>
          <p:cNvSpPr/>
          <p:nvPr/>
        </p:nvSpPr>
        <p:spPr>
          <a:xfrm>
            <a:off x="1161391" y="3571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571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76" name="단계"/>
          <p:cNvSpPr/>
          <p:nvPr/>
        </p:nvSpPr>
        <p:spPr>
          <a:xfrm>
            <a:off x="5044451" y="3571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7"/>
          </p:nvPr>
        </p:nvSpPr>
        <p:spPr>
          <a:xfrm>
            <a:off x="5044451" y="3571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5044451" y="3571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23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49"/>
          </p:nvPr>
        </p:nvSpPr>
        <p:spPr>
          <a:xfrm>
            <a:off x="5055408" y="3823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044451" y="3856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547826" y="4557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 태그"/>
          <p:cNvSpPr/>
          <p:nvPr/>
        </p:nvSpPr>
        <p:spPr>
          <a:xfrm>
            <a:off x="488856" y="4601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레일 태그"/>
          <p:cNvSpPr>
            <a:spLocks noGrp="1"/>
          </p:cNvSpPr>
          <p:nvPr>
            <p:ph type="body" sz="quarter" idx="50"/>
          </p:nvPr>
        </p:nvSpPr>
        <p:spPr>
          <a:xfrm>
            <a:off x="488856" y="4601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51"/>
          </p:nvPr>
        </p:nvSpPr>
        <p:spPr>
          <a:xfrm>
            <a:off x="547826" y="4788000"/>
            <a:ext cx="580696" cy="739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86" name="단계"/>
          <p:cNvSpPr/>
          <p:nvPr/>
        </p:nvSpPr>
        <p:spPr>
          <a:xfrm>
            <a:off x="1161391" y="4579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579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88" name="단계"/>
          <p:cNvSpPr/>
          <p:nvPr/>
        </p:nvSpPr>
        <p:spPr>
          <a:xfrm>
            <a:off x="5044451" y="4579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3"/>
          </p:nvPr>
        </p:nvSpPr>
        <p:spPr>
          <a:xfrm>
            <a:off x="5044451" y="4579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5044451" y="457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4831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5055408" y="4831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cxnSp>
        <p:nvCxnSpPr>
          <p:cNvPr id="93" name="Connector 67"/>
          <p:cNvCxnSpPr/>
          <p:nvPr/>
        </p:nvCxnSpPr>
        <p:spPr>
          <a:xfrm>
            <a:off x="5044451" y="4864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547826" y="556591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 태그"/>
          <p:cNvSpPr/>
          <p:nvPr/>
        </p:nvSpPr>
        <p:spPr>
          <a:xfrm>
            <a:off x="488856" y="573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6" name="레일 태그"/>
          <p:cNvSpPr>
            <a:spLocks noGrp="1"/>
          </p:cNvSpPr>
          <p:nvPr>
            <p:ph type="body" sz="quarter" idx="56"/>
          </p:nvPr>
        </p:nvSpPr>
        <p:spPr>
          <a:xfrm>
            <a:off x="488856" y="573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97" name="레일 라벨"/>
          <p:cNvSpPr>
            <a:spLocks noGrp="1"/>
          </p:cNvSpPr>
          <p:nvPr>
            <p:ph type="body" sz="quarter" idx="57"/>
          </p:nvPr>
        </p:nvSpPr>
        <p:spPr>
          <a:xfrm>
            <a:off x="547826" y="5916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547826" y="556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161391" y="5587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58"/>
          </p:nvPr>
        </p:nvSpPr>
        <p:spPr>
          <a:xfrm>
            <a:off x="1161391" y="5587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101" name="단계"/>
          <p:cNvSpPr/>
          <p:nvPr/>
        </p:nvSpPr>
        <p:spPr>
          <a:xfrm>
            <a:off x="5044451" y="5587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59"/>
          </p:nvPr>
        </p:nvSpPr>
        <p:spPr>
          <a:xfrm>
            <a:off x="5044451" y="5587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103" name="단계 삼각형"/>
          <p:cNvSpPr/>
          <p:nvPr/>
        </p:nvSpPr>
        <p:spPr>
          <a:xfrm>
            <a:off x="5044451" y="558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839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1"/>
          </p:nvPr>
        </p:nvSpPr>
        <p:spPr>
          <a:xfrm>
            <a:off x="5055408" y="5839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5044451" y="5872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핵심성과 박스"/>
          <p:cNvSpPr/>
          <p:nvPr/>
        </p:nvSpPr>
        <p:spPr>
          <a:xfrm>
            <a:off x="536870" y="66615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핵심성과 라벨"/>
          <p:cNvSpPr/>
          <p:nvPr/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9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0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66780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0 서사 · 전담조직 확대(추진배경 → 추진내용) · 기술개발 · 사업기반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/>
          <p:nvPr/>
        </p:nvSpPr>
        <p:spPr>
          <a:xfrm>
            <a:off x="952651" y="1238087"/>
            <a:ext cx="84784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238087"/>
            <a:ext cx="8478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1866239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5"/>
          </p:nvPr>
        </p:nvSpPr>
        <p:spPr>
          <a:xfrm>
            <a:off x="1866239" y="1205217"/>
            <a:ext cx="515689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21" name="태그칩"/>
          <p:cNvSpPr/>
          <p:nvPr/>
        </p:nvSpPr>
        <p:spPr>
          <a:xfrm>
            <a:off x="552570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2570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4171696" y="1561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021478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21478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2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043391"/>
            <a:ext cx="33888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043391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34" name="단계"/>
          <p:cNvSpPr/>
          <p:nvPr/>
        </p:nvSpPr>
        <p:spPr>
          <a:xfrm>
            <a:off x="4736504" y="2043391"/>
            <a:ext cx="225923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4736504" y="2043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736504" y="20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95391"/>
            <a:ext cx="336693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747461" y="2295391"/>
            <a:ext cx="223732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736504" y="2328261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3188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3188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42" name="번호"/>
          <p:cNvSpPr>
            <a:spLocks noGrp="1"/>
          </p:cNvSpPr>
          <p:nvPr>
            <p:ph type="body" sz="quarter" idx="36"/>
          </p:nvPr>
        </p:nvSpPr>
        <p:spPr>
          <a:xfrm>
            <a:off x="723130" y="3549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43" name="분야 박스"/>
          <p:cNvSpPr/>
          <p:nvPr/>
        </p:nvSpPr>
        <p:spPr>
          <a:xfrm>
            <a:off x="952651" y="3582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분야 박스"/>
          <p:cNvSpPr>
            <a:spLocks noGrp="1"/>
          </p:cNvSpPr>
          <p:nvPr>
            <p:ph type="body" sz="quarter" idx="37"/>
          </p:nvPr>
        </p:nvSpPr>
        <p:spPr>
          <a:xfrm>
            <a:off x="952651" y="3582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45" name="형광 밑줄"/>
          <p:cNvSpPr/>
          <p:nvPr/>
        </p:nvSpPr>
        <p:spPr>
          <a:xfrm>
            <a:off x="1610856" y="3703304"/>
            <a:ext cx="32657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소제목"/>
          <p:cNvSpPr>
            <a:spLocks noGrp="1"/>
          </p:cNvSpPr>
          <p:nvPr>
            <p:ph type="body" sz="quarter" idx="38"/>
          </p:nvPr>
        </p:nvSpPr>
        <p:spPr>
          <a:xfrm>
            <a:off x="1610856" y="3549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47" name="태그칩"/>
          <p:cNvSpPr/>
          <p:nvPr/>
        </p:nvSpPr>
        <p:spPr>
          <a:xfrm>
            <a:off x="4975168" y="3582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태그칩"/>
          <p:cNvSpPr>
            <a:spLocks noGrp="1"/>
          </p:cNvSpPr>
          <p:nvPr>
            <p:ph type="body" sz="quarter" idx="39"/>
          </p:nvPr>
        </p:nvSpPr>
        <p:spPr>
          <a:xfrm>
            <a:off x="4975168" y="3582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49" name="태그칩"/>
          <p:cNvSpPr/>
          <p:nvPr/>
        </p:nvSpPr>
        <p:spPr>
          <a:xfrm>
            <a:off x="5526289" y="3582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태그칩"/>
          <p:cNvSpPr>
            <a:spLocks noGrp="1"/>
          </p:cNvSpPr>
          <p:nvPr>
            <p:ph type="body" sz="quarter" idx="40"/>
          </p:nvPr>
        </p:nvSpPr>
        <p:spPr>
          <a:xfrm>
            <a:off x="5526289" y="3582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51" name="표 외곽"/>
          <p:cNvSpPr/>
          <p:nvPr/>
        </p:nvSpPr>
        <p:spPr>
          <a:xfrm>
            <a:off x="723130" y="3834783"/>
            <a:ext cx="6300000" cy="220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734087" y="3851217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85121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895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895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1972988" y="3884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40922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0922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1972988" y="40813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60" name="레일"/>
          <p:cNvSpPr/>
          <p:nvPr/>
        </p:nvSpPr>
        <p:spPr>
          <a:xfrm>
            <a:off x="734087" y="4311391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311391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431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1347652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4171696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cxnSp>
        <p:nvCxnSpPr>
          <p:cNvPr id="69" name="Connector 46"/>
          <p:cNvCxnSpPr/>
          <p:nvPr/>
        </p:nvCxnSpPr>
        <p:spPr>
          <a:xfrm>
            <a:off x="4171696" y="4607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5176957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176957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17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347652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cxnSp>
        <p:nvCxnSpPr>
          <p:cNvPr id="81" name="Connector 54"/>
          <p:cNvCxnSpPr/>
          <p:nvPr/>
        </p:nvCxnSpPr>
        <p:spPr>
          <a:xfrm>
            <a:off x="3230348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cxnSp>
        <p:nvCxnSpPr>
          <p:cNvPr id="83" name="Connector 56"/>
          <p:cNvCxnSpPr/>
          <p:nvPr/>
        </p:nvCxnSpPr>
        <p:spPr>
          <a:xfrm>
            <a:off x="5113043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번호"/>
          <p:cNvSpPr>
            <a:spLocks noGrp="1"/>
          </p:cNvSpPr>
          <p:nvPr>
            <p:ph type="body" sz="quarter" idx="58"/>
          </p:nvPr>
        </p:nvSpPr>
        <p:spPr>
          <a:xfrm>
            <a:off x="723130" y="616304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5" name="분야 박스"/>
          <p:cNvSpPr/>
          <p:nvPr/>
        </p:nvSpPr>
        <p:spPr>
          <a:xfrm>
            <a:off x="952651" y="619591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분야 박스"/>
          <p:cNvSpPr>
            <a:spLocks noGrp="1"/>
          </p:cNvSpPr>
          <p:nvPr>
            <p:ph type="body" sz="quarter" idx="59"/>
          </p:nvPr>
        </p:nvSpPr>
        <p:spPr>
          <a:xfrm>
            <a:off x="952651" y="619591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87" name="형광 밑줄"/>
          <p:cNvSpPr/>
          <p:nvPr/>
        </p:nvSpPr>
        <p:spPr>
          <a:xfrm>
            <a:off x="1610856" y="6316435"/>
            <a:ext cx="37265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소제목"/>
          <p:cNvSpPr>
            <a:spLocks noGrp="1"/>
          </p:cNvSpPr>
          <p:nvPr>
            <p:ph type="body" sz="quarter" idx="60"/>
          </p:nvPr>
        </p:nvSpPr>
        <p:spPr>
          <a:xfrm>
            <a:off x="1610856" y="616304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89" name="태그칩"/>
          <p:cNvSpPr/>
          <p:nvPr/>
        </p:nvSpPr>
        <p:spPr>
          <a:xfrm>
            <a:off x="5435974" y="61959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칩"/>
          <p:cNvSpPr>
            <a:spLocks noGrp="1"/>
          </p:cNvSpPr>
          <p:nvPr>
            <p:ph type="body" sz="quarter" idx="61"/>
          </p:nvPr>
        </p:nvSpPr>
        <p:spPr>
          <a:xfrm>
            <a:off x="5435974" y="61959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1" name="표 외곽"/>
          <p:cNvSpPr/>
          <p:nvPr/>
        </p:nvSpPr>
        <p:spPr>
          <a:xfrm>
            <a:off x="723130" y="6447913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6464348"/>
            <a:ext cx="580696" cy="849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6464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94" name="머리칸"/>
          <p:cNvSpPr/>
          <p:nvPr/>
        </p:nvSpPr>
        <p:spPr>
          <a:xfrm>
            <a:off x="1347652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3"/>
          </p:nvPr>
        </p:nvSpPr>
        <p:spPr>
          <a:xfrm>
            <a:off x="1347652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96" name="머리칸"/>
          <p:cNvSpPr/>
          <p:nvPr/>
        </p:nvSpPr>
        <p:spPr>
          <a:xfrm>
            <a:off x="3230348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4"/>
          </p:nvPr>
        </p:nvSpPr>
        <p:spPr>
          <a:xfrm>
            <a:off x="3230348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98" name="머리칸"/>
          <p:cNvSpPr/>
          <p:nvPr/>
        </p:nvSpPr>
        <p:spPr>
          <a:xfrm>
            <a:off x="5113043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5"/>
          </p:nvPr>
        </p:nvSpPr>
        <p:spPr>
          <a:xfrm>
            <a:off x="5113043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6"/>
          </p:nvPr>
        </p:nvSpPr>
        <p:spPr>
          <a:xfrm>
            <a:off x="1358609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7"/>
          </p:nvPr>
        </p:nvSpPr>
        <p:spPr>
          <a:xfrm>
            <a:off x="3241304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cxnSp>
        <p:nvCxnSpPr>
          <p:cNvPr id="102" name="Connector 69"/>
          <p:cNvCxnSpPr/>
          <p:nvPr/>
        </p:nvCxnSpPr>
        <p:spPr>
          <a:xfrm>
            <a:off x="3230348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5124000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cxnSp>
        <p:nvCxnSpPr>
          <p:cNvPr id="104" name="Connector 71"/>
          <p:cNvCxnSpPr/>
          <p:nvPr/>
        </p:nvCxnSpPr>
        <p:spPr>
          <a:xfrm>
            <a:off x="5113043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레일"/>
          <p:cNvSpPr/>
          <p:nvPr/>
        </p:nvSpPr>
        <p:spPr>
          <a:xfrm>
            <a:off x="734087" y="7329913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6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7329913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107" name="레일 삼각형"/>
          <p:cNvSpPr/>
          <p:nvPr/>
        </p:nvSpPr>
        <p:spPr>
          <a:xfrm>
            <a:off x="734086" y="7329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머리칸"/>
          <p:cNvSpPr/>
          <p:nvPr/>
        </p:nvSpPr>
        <p:spPr>
          <a:xfrm>
            <a:off x="1347652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110" name="머리칸"/>
          <p:cNvSpPr/>
          <p:nvPr/>
        </p:nvSpPr>
        <p:spPr>
          <a:xfrm>
            <a:off x="4171696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71"/>
          </p:nvPr>
        </p:nvSpPr>
        <p:spPr>
          <a:xfrm>
            <a:off x="4171696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2"/>
          </p:nvPr>
        </p:nvSpPr>
        <p:spPr>
          <a:xfrm>
            <a:off x="1358609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73"/>
          </p:nvPr>
        </p:nvSpPr>
        <p:spPr>
          <a:xfrm>
            <a:off x="4182652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cxnSp>
        <p:nvCxnSpPr>
          <p:cNvPr id="114" name="Connector 78"/>
          <p:cNvCxnSpPr/>
          <p:nvPr/>
        </p:nvCxnSpPr>
        <p:spPr>
          <a:xfrm>
            <a:off x="4171696" y="7625739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5" name="주요성과 박스"/>
          <p:cNvSpPr/>
          <p:nvPr/>
        </p:nvSpPr>
        <p:spPr>
          <a:xfrm>
            <a:off x="723130" y="8272174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주요성과 라벨"/>
          <p:cNvSpPr/>
          <p:nvPr/>
        </p:nvSpPr>
        <p:spPr>
          <a:xfrm>
            <a:off x="756000" y="8305043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7" name="주요성과 라벨"/>
          <p:cNvSpPr>
            <a:spLocks noGrp="1"/>
          </p:cNvSpPr>
          <p:nvPr>
            <p:ph type="body" sz="quarter" idx="74"/>
          </p:nvPr>
        </p:nvSpPr>
        <p:spPr>
          <a:xfrm>
            <a:off x="756000" y="8305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118" name="주요성과 문구"/>
          <p:cNvSpPr>
            <a:spLocks noGrp="1"/>
          </p:cNvSpPr>
          <p:nvPr>
            <p:ph type="body" sz="quarter" idx="75"/>
          </p:nvPr>
        </p:nvSpPr>
        <p:spPr>
          <a:xfrm>
            <a:off x="1501043" y="8288609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119" name="주요성과 박스"/>
          <p:cNvSpPr/>
          <p:nvPr/>
        </p:nvSpPr>
        <p:spPr>
          <a:xfrm>
            <a:off x="723130" y="8873217"/>
            <a:ext cx="6300000" cy="70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주요성과 라벨"/>
          <p:cNvSpPr/>
          <p:nvPr/>
        </p:nvSpPr>
        <p:spPr>
          <a:xfrm>
            <a:off x="756000" y="8906087"/>
            <a:ext cx="657391" cy="63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1" name="주요성과 라벨"/>
          <p:cNvSpPr>
            <a:spLocks noGrp="1"/>
          </p:cNvSpPr>
          <p:nvPr>
            <p:ph type="body" sz="quarter" idx="76"/>
          </p:nvPr>
        </p:nvSpPr>
        <p:spPr>
          <a:xfrm>
            <a:off x="756000" y="8906087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122" name="주요성과 문구"/>
          <p:cNvSpPr>
            <a:spLocks noGrp="1"/>
          </p:cNvSpPr>
          <p:nvPr>
            <p:ph type="body" sz="quarter" idx="77"/>
          </p:nvPr>
        </p:nvSpPr>
        <p:spPr>
          <a:xfrm>
            <a:off x="1501043" y="8889652"/>
            <a:ext cx="5456348" cy="67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1 서사 · 보유기술 민간이전(관리체계 → 수요발굴 → 기술이전 → 기술지도 → IP Bridge → 우수사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15591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22" name="단계"/>
          <p:cNvSpPr/>
          <p:nvPr/>
        </p:nvSpPr>
        <p:spPr>
          <a:xfrm>
            <a:off x="2573413" y="115591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15591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26" name="단계"/>
          <p:cNvSpPr/>
          <p:nvPr/>
        </p:nvSpPr>
        <p:spPr>
          <a:xfrm>
            <a:off x="5397457" y="115591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57341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985434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39745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2573413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985435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5408413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397457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2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1" name="캡션"/>
          <p:cNvSpPr>
            <a:spLocks noGrp="1"/>
          </p:cNvSpPr>
          <p:nvPr>
            <p:ph type="body" sz="quarter" idx="33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42" name="표 외곽"/>
          <p:cNvSpPr/>
          <p:nvPr/>
        </p:nvSpPr>
        <p:spPr>
          <a:xfrm>
            <a:off x="536870" y="2437826"/>
            <a:ext cx="6300000" cy="452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"/>
          <p:cNvSpPr/>
          <p:nvPr/>
        </p:nvSpPr>
        <p:spPr>
          <a:xfrm>
            <a:off x="547826" y="2454261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5426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3985435" y="25090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538957"/>
            <a:ext cx="580696" cy="1194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538957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53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161391" y="356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56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985435" y="3829304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4749652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474965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4804435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538522"/>
            <a:ext cx="580696" cy="1407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668144" y="57028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4"/>
          </p:nvPr>
        </p:nvSpPr>
        <p:spPr>
          <a:xfrm>
            <a:off x="668144" y="57028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5889130"/>
            <a:ext cx="580696" cy="1035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553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5582348"/>
            <a:ext cx="85351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82348"/>
            <a:ext cx="8535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7"/>
          </p:nvPr>
        </p:nvSpPr>
        <p:spPr>
          <a:xfrm>
            <a:off x="2058728" y="5571391"/>
            <a:ext cx="475075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69" name="단계"/>
          <p:cNvSpPr/>
          <p:nvPr/>
        </p:nvSpPr>
        <p:spPr>
          <a:xfrm>
            <a:off x="1161391" y="5796000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8"/>
          </p:nvPr>
        </p:nvSpPr>
        <p:spPr>
          <a:xfrm>
            <a:off x="116139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71" name="단계"/>
          <p:cNvSpPr/>
          <p:nvPr/>
        </p:nvSpPr>
        <p:spPr>
          <a:xfrm>
            <a:off x="2291009" y="5796000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2291009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73" name="단계"/>
          <p:cNvSpPr/>
          <p:nvPr/>
        </p:nvSpPr>
        <p:spPr>
          <a:xfrm>
            <a:off x="3420626" y="5796000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3420626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75" name="단계"/>
          <p:cNvSpPr/>
          <p:nvPr/>
        </p:nvSpPr>
        <p:spPr>
          <a:xfrm>
            <a:off x="4550243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4550243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77" name="단계"/>
          <p:cNvSpPr/>
          <p:nvPr/>
        </p:nvSpPr>
        <p:spPr>
          <a:xfrm>
            <a:off x="5679861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567986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79" name="단계 삼각형"/>
          <p:cNvSpPr/>
          <p:nvPr/>
        </p:nvSpPr>
        <p:spPr>
          <a:xfrm>
            <a:off x="2291008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3420626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550243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단계 삼각형"/>
          <p:cNvSpPr/>
          <p:nvPr/>
        </p:nvSpPr>
        <p:spPr>
          <a:xfrm>
            <a:off x="5679860" y="579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칸 본문"/>
          <p:cNvSpPr txBox="1"/>
          <p:nvPr/>
        </p:nvSpPr>
        <p:spPr>
          <a:xfrm>
            <a:off x="1172348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2301965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2291009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 txBox="1"/>
          <p:nvPr/>
        </p:nvSpPr>
        <p:spPr>
          <a:xfrm>
            <a:off x="3431583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7" name="Connector 65"/>
          <p:cNvCxnSpPr/>
          <p:nvPr/>
        </p:nvCxnSpPr>
        <p:spPr>
          <a:xfrm>
            <a:off x="3420626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 txBox="1"/>
          <p:nvPr/>
        </p:nvSpPr>
        <p:spPr>
          <a:xfrm>
            <a:off x="4561200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9" name="Connector 67"/>
          <p:cNvCxnSpPr/>
          <p:nvPr/>
        </p:nvCxnSpPr>
        <p:spPr>
          <a:xfrm>
            <a:off x="4550243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4"/>
          </p:nvPr>
        </p:nvSpPr>
        <p:spPr>
          <a:xfrm>
            <a:off x="5690817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679861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배너"/>
          <p:cNvSpPr/>
          <p:nvPr/>
        </p:nvSpPr>
        <p:spPr>
          <a:xfrm>
            <a:off x="1161391" y="6721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3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6721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94" name="표 외곽"/>
          <p:cNvSpPr/>
          <p:nvPr/>
        </p:nvSpPr>
        <p:spPr>
          <a:xfrm>
            <a:off x="536870" y="7006696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702313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702313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cxnSp>
        <p:nvCxnSpPr>
          <p:cNvPr id="99" name="Connector 75"/>
          <p:cNvCxnSpPr/>
          <p:nvPr/>
        </p:nvCxnSpPr>
        <p:spPr>
          <a:xfrm>
            <a:off x="3044087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cxnSp>
        <p:nvCxnSpPr>
          <p:cNvPr id="101" name="Connector 77"/>
          <p:cNvCxnSpPr/>
          <p:nvPr/>
        </p:nvCxnSpPr>
        <p:spPr>
          <a:xfrm>
            <a:off x="4926783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80859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81187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81187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81078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2 서사 · 2024년 지적사항 조치실적(지적사항 | 조치 및 개선실적 |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28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142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142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42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163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898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898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2919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961391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5382000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654000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654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2972348" y="3675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2961391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392957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5382000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3 서사 · 맞춤형 성장 지원과 상생 성공모델 확산(’24년까지 실적 → ’25년 추진실적 →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4 서사 · 주민과 함께하는 터전·소득·사람 솔루션(표형 실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주민과 함께하는 터전·소득·사람 솔루션으로 지역 가치 재조명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농산물 판로확대 등 지역소멸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재난피해·취약계층가구 노후 물이용공간 개선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‘이음장날’ 전국 판로확대 및 온라인몰 입점 지원, 마케팅 코칭·크라우드펀딩 연계 ▶ p.67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지자체·주민 협업 기반 소멸위험마을의 빈집을 지역거점공간으로 재생 ▶ p.66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농가 소득 3.6억원 창출, 코칭 만족도(성장체감) 97%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복지서비스 참여자 500명, 이용만족도 97% 달성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5 서사 · 문턱은 낮추고 체감 가치는 높인 공간 개방(표형 실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문화관 시설개선·지역연계 프로그램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강변 자전거길을 이용한 대국민 러닝코스 및 인증제 개발·운영(RiverRun) ▶ p.68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체감형 서비스 개선과제 선정(’25.9, 재경부)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6 서사 · 전년도 성과 환류 → 패러다임 전환 → Pain Point · 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12" name="단계"/>
          <p:cNvSpPr/>
          <p:nvPr/>
        </p:nvSpPr>
        <p:spPr>
          <a:xfrm>
            <a:off x="1347652" y="81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" name="단계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14" name="단계"/>
          <p:cNvSpPr/>
          <p:nvPr/>
        </p:nvSpPr>
        <p:spPr>
          <a:xfrm>
            <a:off x="4171696" y="81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16" name="단계 삼각형"/>
          <p:cNvSpPr/>
          <p:nvPr/>
        </p:nvSpPr>
        <p:spPr>
          <a:xfrm>
            <a:off x="4171695" y="81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4171696" y="110113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824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868087"/>
            <a:ext cx="48538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868087"/>
            <a:ext cx="48538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91991" y="1824261"/>
            <a:ext cx="521200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31043"/>
            <a:ext cx="6300000" cy="1435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47478"/>
            <a:ext cx="580696" cy="739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147478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27" name="머리칸"/>
          <p:cNvSpPr/>
          <p:nvPr/>
        </p:nvSpPr>
        <p:spPr>
          <a:xfrm>
            <a:off x="1347652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29" name="머리칸"/>
          <p:cNvSpPr/>
          <p:nvPr/>
        </p:nvSpPr>
        <p:spPr>
          <a:xfrm>
            <a:off x="2759674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2759674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31" name="머리칸"/>
          <p:cNvSpPr/>
          <p:nvPr/>
        </p:nvSpPr>
        <p:spPr>
          <a:xfrm>
            <a:off x="4171696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33" name="머리칸"/>
          <p:cNvSpPr/>
          <p:nvPr/>
        </p:nvSpPr>
        <p:spPr>
          <a:xfrm>
            <a:off x="5583717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583717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770630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2759674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cxnSp>
        <p:nvCxnSpPr>
          <p:cNvPr id="39" name="Connector 24"/>
          <p:cNvCxnSpPr/>
          <p:nvPr/>
        </p:nvCxnSpPr>
        <p:spPr>
          <a:xfrm>
            <a:off x="4171696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594674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5583717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903478"/>
            <a:ext cx="580696" cy="646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03478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903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cxnSp>
        <p:nvCxnSpPr>
          <p:cNvPr id="47" name="Connector 31"/>
          <p:cNvCxnSpPr/>
          <p:nvPr/>
        </p:nvCxnSpPr>
        <p:spPr>
          <a:xfrm>
            <a:off x="2759674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5583717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태그"/>
          <p:cNvSpPr/>
          <p:nvPr/>
        </p:nvSpPr>
        <p:spPr>
          <a:xfrm>
            <a:off x="1347652" y="334721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태그"/>
          <p:cNvSpPr>
            <a:spLocks noGrp="1"/>
          </p:cNvSpPr>
          <p:nvPr>
            <p:ph type="body" sz="quarter" idx="41"/>
          </p:nvPr>
        </p:nvSpPr>
        <p:spPr>
          <a:xfrm>
            <a:off x="1347652" y="334721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4" name="태그 설명"/>
          <p:cNvSpPr>
            <a:spLocks noGrp="1"/>
          </p:cNvSpPr>
          <p:nvPr>
            <p:ph type="body" sz="quarter" idx="42"/>
          </p:nvPr>
        </p:nvSpPr>
        <p:spPr>
          <a:xfrm>
            <a:off x="1753450" y="333626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7 서사 · ESG 맞춤형 지원체계 개편(추진배경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8018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7" name="태그칩"/>
          <p:cNvSpPr/>
          <p:nvPr/>
        </p:nvSpPr>
        <p:spPr>
          <a:xfrm>
            <a:off x="451566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1566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066785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066785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2357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9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09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51045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51045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510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9238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9567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9567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9457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8 서사 · 컴퍼니빌더(추진현황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583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8008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8008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7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태그"/>
          <p:cNvSpPr/>
          <p:nvPr/>
        </p:nvSpPr>
        <p:spPr>
          <a:xfrm>
            <a:off x="1347652" y="155582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1347652" y="155582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6"/>
          </p:nvPr>
        </p:nvSpPr>
        <p:spPr>
          <a:xfrm>
            <a:off x="1972988" y="154487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22" name="캡션 띠"/>
          <p:cNvSpPr/>
          <p:nvPr/>
        </p:nvSpPr>
        <p:spPr>
          <a:xfrm>
            <a:off x="723130" y="1796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캡션"/>
          <p:cNvSpPr>
            <a:spLocks noGrp="1"/>
          </p:cNvSpPr>
          <p:nvPr>
            <p:ph type="body" sz="quarter" idx="27"/>
          </p:nvPr>
        </p:nvSpPr>
        <p:spPr>
          <a:xfrm>
            <a:off x="942261" y="17968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03652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20087"/>
            <a:ext cx="580696" cy="48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0087"/>
            <a:ext cx="580696" cy="48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7" name="배너"/>
          <p:cNvSpPr/>
          <p:nvPr/>
        </p:nvSpPr>
        <p:spPr>
          <a:xfrm>
            <a:off x="1347652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2399478"/>
            <a:ext cx="75962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399478"/>
            <a:ext cx="75962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151098" y="2388522"/>
            <a:ext cx="484464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618609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18609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18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40522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640522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37" name="단계"/>
          <p:cNvSpPr/>
          <p:nvPr/>
        </p:nvSpPr>
        <p:spPr>
          <a:xfrm>
            <a:off x="3112679" y="2640522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112679" y="2640522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112679" y="2640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2522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123636" y="2892522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112679" y="2925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배너"/>
          <p:cNvSpPr/>
          <p:nvPr/>
        </p:nvSpPr>
        <p:spPr>
          <a:xfrm>
            <a:off x="1347652" y="3785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785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41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470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47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9 서사 · 공정거래 · 상생협력 계약제도 혁신(추진배경 → 4개 혁신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13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12" name="태그칩"/>
          <p:cNvSpPr/>
          <p:nvPr/>
        </p:nvSpPr>
        <p:spPr>
          <a:xfrm>
            <a:off x="453687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687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99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799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21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38000"/>
            <a:ext cx="580696" cy="260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38000"/>
            <a:ext cx="580696" cy="260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338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머리칸"/>
          <p:cNvSpPr/>
          <p:nvPr/>
        </p:nvSpPr>
        <p:spPr>
          <a:xfrm>
            <a:off x="1161391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34" name="머리칸"/>
          <p:cNvSpPr/>
          <p:nvPr/>
        </p:nvSpPr>
        <p:spPr>
          <a:xfrm>
            <a:off x="3985435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3985435" y="3232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434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436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0 서사 · 댐잇 프로젝트 진화(추진배경 → 목표 → 연천·포천 / 부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2513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6" name="태그칩"/>
          <p:cNvSpPr/>
          <p:nvPr/>
        </p:nvSpPr>
        <p:spPr>
          <a:xfrm>
            <a:off x="434687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4687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897991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897991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태그칩"/>
          <p:cNvSpPr/>
          <p:nvPr/>
        </p:nvSpPr>
        <p:spPr>
          <a:xfrm>
            <a:off x="5668650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68650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3025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3940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39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39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347652" y="241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41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33" name="레일"/>
          <p:cNvSpPr/>
          <p:nvPr/>
        </p:nvSpPr>
        <p:spPr>
          <a:xfrm>
            <a:off x="734087" y="2795322"/>
            <a:ext cx="580696" cy="170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95322"/>
            <a:ext cx="580696" cy="170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795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8172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38" name="단계"/>
          <p:cNvSpPr/>
          <p:nvPr/>
        </p:nvSpPr>
        <p:spPr>
          <a:xfrm>
            <a:off x="4171696" y="28172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4171696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4171695" y="2817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3102104"/>
            <a:ext cx="0" cy="1358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주요성과 박스"/>
          <p:cNvSpPr/>
          <p:nvPr/>
        </p:nvSpPr>
        <p:spPr>
          <a:xfrm>
            <a:off x="723130" y="4592191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주요성과 라벨"/>
          <p:cNvSpPr/>
          <p:nvPr/>
        </p:nvSpPr>
        <p:spPr>
          <a:xfrm>
            <a:off x="756000" y="462506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주요성과 라벨"/>
          <p:cNvSpPr>
            <a:spLocks noGrp="1"/>
          </p:cNvSpPr>
          <p:nvPr>
            <p:ph type="body" sz="quarter" idx="36"/>
          </p:nvPr>
        </p:nvSpPr>
        <p:spPr>
          <a:xfrm>
            <a:off x="756000" y="462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주요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4608626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1 서사 · 청년기업 성장 절벽 해소(Pain Point → K-water Solution 3영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95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12" name="태그칩"/>
          <p:cNvSpPr/>
          <p:nvPr/>
        </p:nvSpPr>
        <p:spPr>
          <a:xfrm>
            <a:off x="473505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505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3116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49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49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49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470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70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/>
          <p:nvPr/>
        </p:nvSpPr>
        <p:spPr>
          <a:xfrm>
            <a:off x="2822593" y="1470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822593" y="1470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822593" y="147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722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2833550" y="1722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822593" y="1755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457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457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2478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2478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5" name="단계"/>
          <p:cNvSpPr/>
          <p:nvPr/>
        </p:nvSpPr>
        <p:spPr>
          <a:xfrm>
            <a:off x="2822593" y="2478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2822593" y="2478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822593" y="2478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730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833550" y="2730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822593" y="2763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65078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6507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65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3486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486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46" name="단계"/>
          <p:cNvSpPr/>
          <p:nvPr/>
        </p:nvSpPr>
        <p:spPr>
          <a:xfrm>
            <a:off x="2822593" y="3486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822593" y="3486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822593" y="3486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38991"/>
            <a:ext cx="1639289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833550" y="3738991"/>
            <a:ext cx="3964972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2822593" y="3771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4511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44676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2 서사 · 상생가치 재정립(사회공헌 Overview → 사회변화 대응 → 브랜드 rootit 런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6367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23" name="머리칸"/>
          <p:cNvSpPr/>
          <p:nvPr/>
        </p:nvSpPr>
        <p:spPr>
          <a:xfrm>
            <a:off x="2477270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2477270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25" name="머리칸"/>
          <p:cNvSpPr/>
          <p:nvPr/>
        </p:nvSpPr>
        <p:spPr>
          <a:xfrm>
            <a:off x="3606887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606887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27" name="머리칸"/>
          <p:cNvSpPr/>
          <p:nvPr/>
        </p:nvSpPr>
        <p:spPr>
          <a:xfrm>
            <a:off x="4736504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736504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86612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86612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488226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cxnSp>
        <p:nvCxnSpPr>
          <p:cNvPr id="33" name="Connector 19"/>
          <p:cNvCxnSpPr/>
          <p:nvPr/>
        </p:nvCxnSpPr>
        <p:spPr>
          <a:xfrm>
            <a:off x="2477270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617843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cxnSp>
        <p:nvCxnSpPr>
          <p:cNvPr id="35" name="Connector 21"/>
          <p:cNvCxnSpPr/>
          <p:nvPr/>
        </p:nvCxnSpPr>
        <p:spPr>
          <a:xfrm>
            <a:off x="3606887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36504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877078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866122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173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173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42" name="레일"/>
          <p:cNvSpPr/>
          <p:nvPr/>
        </p:nvSpPr>
        <p:spPr>
          <a:xfrm>
            <a:off x="734087" y="19721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19721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1972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347652" y="19940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47" name="단계"/>
          <p:cNvSpPr/>
          <p:nvPr/>
        </p:nvSpPr>
        <p:spPr>
          <a:xfrm>
            <a:off x="4171696" y="19940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4171696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4171695" y="1994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4171696" y="22789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캡션 띠"/>
          <p:cNvSpPr/>
          <p:nvPr/>
        </p:nvSpPr>
        <p:spPr>
          <a:xfrm>
            <a:off x="723130" y="27871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캡션"/>
          <p:cNvSpPr>
            <a:spLocks noGrp="1"/>
          </p:cNvSpPr>
          <p:nvPr>
            <p:ph type="body" sz="quarter" idx="41"/>
          </p:nvPr>
        </p:nvSpPr>
        <p:spPr>
          <a:xfrm>
            <a:off x="942261" y="2787183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093965"/>
            <a:ext cx="6300000" cy="14559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1104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31104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4182652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4171696" y="3165183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734087" y="338024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3802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734086" y="3380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347652" y="34021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4021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3659635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7"/>
          </p:nvPr>
        </p:nvSpPr>
        <p:spPr>
          <a:xfrm>
            <a:off x="1347652" y="3659635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8"/>
          </p:nvPr>
        </p:nvSpPr>
        <p:spPr>
          <a:xfrm>
            <a:off x="1753450" y="3648678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936365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39363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9363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1"/>
          </p:nvPr>
        </p:nvSpPr>
        <p:spPr>
          <a:xfrm>
            <a:off x="3230348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2"/>
          </p:nvPr>
        </p:nvSpPr>
        <p:spPr>
          <a:xfrm>
            <a:off x="5113043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3230348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113043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3 서사 · 터전(인구소멸지역 빈집 재생: 추진배경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231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57130"/>
            <a:ext cx="580696" cy="155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5713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879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879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30" name="단계"/>
          <p:cNvSpPr/>
          <p:nvPr/>
        </p:nvSpPr>
        <p:spPr>
          <a:xfrm>
            <a:off x="1161391" y="2114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32" name="단계"/>
          <p:cNvSpPr/>
          <p:nvPr/>
        </p:nvSpPr>
        <p:spPr>
          <a:xfrm>
            <a:off x="3044087" y="2114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34" name="단계"/>
          <p:cNvSpPr/>
          <p:nvPr/>
        </p:nvSpPr>
        <p:spPr>
          <a:xfrm>
            <a:off x="4926783" y="2114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044086" y="2114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926782" y="2114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517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533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Relationship Id="rId81" Type="http://schemas.openxmlformats.org/officeDocument/2006/relationships/slideLayout" Target="../slideLayouts/slideLayout83.xml"/><Relationship Id="rId82" Type="http://schemas.openxmlformats.org/officeDocument/2006/relationships/slideLayout" Target="../slideLayouts/slideLayout84.xml"/><Relationship Id="rId83" Type="http://schemas.openxmlformats.org/officeDocument/2006/relationships/slideLayout" Target="../slideLayouts/slideLayout85.xml"/><Relationship Id="rId84" Type="http://schemas.openxmlformats.org/officeDocument/2006/relationships/slideLayout" Target="../slideLayouts/slideLayout86.xml"/><Relationship Id="rId85" Type="http://schemas.openxmlformats.org/officeDocument/2006/relationships/slideLayout" Target="../slideLayouts/slideLayout87.xml"/><Relationship Id="rId86" Type="http://schemas.openxmlformats.org/officeDocument/2006/relationships/slideLayout" Target="../slideLayouts/slideLayout88.xml"/><Relationship Id="rId87" Type="http://schemas.openxmlformats.org/officeDocument/2006/relationships/slideLayout" Target="../slideLayouts/slideLayout89.xml"/><Relationship Id="rId88" Type="http://schemas.openxmlformats.org/officeDocument/2006/relationships/slideLayout" Target="../slideLayouts/slideLayout90.xml"/><Relationship Id="rId89" Type="http://schemas.openxmlformats.org/officeDocument/2006/relationships/slideLayout" Target="../slideLayouts/slideLayout91.xml"/><Relationship Id="rId90" Type="http://schemas.openxmlformats.org/officeDocument/2006/relationships/slideLayout" Target="../slideLayouts/slideLayout92.xml"/><Relationship Id="rId91" Type="http://schemas.openxmlformats.org/officeDocument/2006/relationships/slideLayout" Target="../slideLayouts/slideLayout93.xml"/><Relationship Id="rId92" Type="http://schemas.openxmlformats.org/officeDocument/2006/relationships/slideLayout" Target="../slideLayouts/slideLayout94.xml"/><Relationship Id="rId93" Type="http://schemas.openxmlformats.org/officeDocument/2006/relationships/slideLayout" Target="../slideLayouts/slideLayout95.xml"/><Relationship Id="rId94" Type="http://schemas.openxmlformats.org/officeDocument/2006/relationships/slideLayout" Target="../slideLayouts/slideLayout96.xml"/><Relationship Id="rId95" Type="http://schemas.openxmlformats.org/officeDocument/2006/relationships/slideLayout" Target="../slideLayouts/slideLayout97.xml"/><Relationship Id="rId96" Type="http://schemas.openxmlformats.org/officeDocument/2006/relationships/slideLayout" Target="../slideLayouts/slideLayout98.xml"/><Relationship Id="rId97" Type="http://schemas.openxmlformats.org/officeDocument/2006/relationships/slideLayout" Target="../slideLayouts/slideLayout99.xml"/><Relationship Id="rId98" Type="http://schemas.openxmlformats.org/officeDocument/2006/relationships/slideLayout" Target="../slideLayouts/slideLayout100.xml"/><Relationship Id="rId99" Type="http://schemas.openxmlformats.org/officeDocument/2006/relationships/slideLayout" Target="../slideLayouts/slideLayout101.xml"/><Relationship Id="rId100" Type="http://schemas.openxmlformats.org/officeDocument/2006/relationships/slideLayout" Target="../slideLayouts/slideLayout102.xml"/><Relationship Id="rId101" Type="http://schemas.openxmlformats.org/officeDocument/2006/relationships/slideLayout" Target="../slideLayouts/slideLayout103.xml"/><Relationship Id="rId102" Type="http://schemas.openxmlformats.org/officeDocument/2006/relationships/slideLayout" Target="../slideLayouts/slideLayout104.xml"/><Relationship Id="rId103" Type="http://schemas.openxmlformats.org/officeDocument/2006/relationships/slideLayout" Target="../slideLayouts/slideLayout105.xml"/><Relationship Id="rId104" Type="http://schemas.openxmlformats.org/officeDocument/2006/relationships/slideLayout" Target="../slideLayouts/slideLayout106.xml"/><Relationship Id="rId105" Type="http://schemas.openxmlformats.org/officeDocument/2006/relationships/slideLayout" Target="../slideLayouts/slideLayout107.xml"/><Relationship Id="rId106" Type="http://schemas.openxmlformats.org/officeDocument/2006/relationships/slideLayout" Target="../slideLayouts/slideLayout108.xml"/><Relationship Id="rId107" Type="http://schemas.openxmlformats.org/officeDocument/2006/relationships/slideLayout" Target="../slideLayouts/slideLayout109.xml"/><Relationship Id="rId108" Type="http://schemas.openxmlformats.org/officeDocument/2006/relationships/slideLayout" Target="../slideLayouts/slideLayout110.xml"/><Relationship Id="rId109" Type="http://schemas.openxmlformats.org/officeDocument/2006/relationships/slideLayout" Target="../slideLayouts/slideLayout111.xml"/><Relationship Id="rId110" Type="http://schemas.openxmlformats.org/officeDocument/2006/relationships/slideLayout" Target="../slideLayouts/slideLayout112.xml"/><Relationship Id="rId111" Type="http://schemas.openxmlformats.org/officeDocument/2006/relationships/slideLayout" Target="../slideLayouts/slideLayout113.xml"/><Relationship Id="rId112" Type="http://schemas.openxmlformats.org/officeDocument/2006/relationships/slideLayout" Target="../slideLayouts/slideLayout114.xml"/><Relationship Id="rId113" Type="http://schemas.openxmlformats.org/officeDocument/2006/relationships/slideLayout" Target="../slideLayouts/slideLayout115.xml"/><Relationship Id="rId114" Type="http://schemas.openxmlformats.org/officeDocument/2006/relationships/slideLayout" Target="../slideLayouts/slideLayout116.xml"/><Relationship Id="rId115" Type="http://schemas.openxmlformats.org/officeDocument/2006/relationships/slideLayout" Target="../slideLayouts/slideLayout117.xml"/><Relationship Id="rId116" Type="http://schemas.openxmlformats.org/officeDocument/2006/relationships/slideLayout" Target="../slideLayouts/slideLayout118.xml"/><Relationship Id="rId117" Type="http://schemas.openxmlformats.org/officeDocument/2006/relationships/slideLayout" Target="../slideLayouts/slideLayout1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  <p:sldLayoutId id="2147483739" r:id="rId89"/>
    <p:sldLayoutId id="2147483740" r:id="rId90"/>
    <p:sldLayoutId id="2147483741" r:id="rId91"/>
    <p:sldLayoutId id="2147483742" r:id="rId92"/>
    <p:sldLayoutId id="2147483743" r:id="rId93"/>
    <p:sldLayoutId id="2147483744" r:id="rId94"/>
    <p:sldLayoutId id="2147483745" r:id="rId95"/>
    <p:sldLayoutId id="2147483746" r:id="rId96"/>
    <p:sldLayoutId id="2147483747" r:id="rId97"/>
    <p:sldLayoutId id="2147483748" r:id="rId98"/>
    <p:sldLayoutId id="2147483749" r:id="rId99"/>
    <p:sldLayoutId id="2147483750" r:id="rId100"/>
    <p:sldLayoutId id="2147483751" r:id="rId101"/>
    <p:sldLayoutId id="2147483752" r:id="rId102"/>
    <p:sldLayoutId id="2147483753" r:id="rId103"/>
    <p:sldLayoutId id="2147483754" r:id="rId104"/>
    <p:sldLayoutId id="2147483755" r:id="rId105"/>
    <p:sldLayoutId id="2147483756" r:id="rId106"/>
    <p:sldLayoutId id="2147483757" r:id="rId107"/>
    <p:sldLayoutId id="2147483758" r:id="rId108"/>
    <p:sldLayoutId id="2147483759" r:id="rId109"/>
    <p:sldLayoutId id="2147483760" r:id="rId110"/>
    <p:sldLayoutId id="2147483761" r:id="rId111"/>
    <p:sldLayoutId id="2147483762" r:id="rId112"/>
    <p:sldLayoutId id="2147483763" r:id="rId113"/>
    <p:sldLayoutId id="2147483764" r:id="rId114"/>
    <p:sldLayoutId id="2147483765" r:id="rId115"/>
    <p:sldLayoutId id="2147483766" r:id="rId116"/>
    <p:sldLayoutId id="2147483767" r:id="rId1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0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8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8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2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3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4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0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2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3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4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7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9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0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1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2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3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4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5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6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7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8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9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0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1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3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4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5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6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7.xml"/><Relationship Id="rId2" Type="http://schemas.openxmlformats.org/officeDocument/2006/relationships/notesSlide" Target="../notesSlides/notesSlide101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8.xml"/><Relationship Id="rId2" Type="http://schemas.openxmlformats.org/officeDocument/2006/relationships/notesSlide" Target="../notesSlides/notesSlide102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9.xml"/><Relationship Id="rId2" Type="http://schemas.openxmlformats.org/officeDocument/2006/relationships/notesSlide" Target="../notesSlides/notesSlide103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0.xml"/><Relationship Id="rId2" Type="http://schemas.openxmlformats.org/officeDocument/2006/relationships/notesSlide" Target="../notesSlides/notesSlide104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1.xml"/><Relationship Id="rId2" Type="http://schemas.openxmlformats.org/officeDocument/2006/relationships/notesSlide" Target="../notesSlides/notesSlide10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2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3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4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5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6.xml"/><Relationship Id="rId2" Type="http://schemas.openxmlformats.org/officeDocument/2006/relationships/notesSlide" Target="../notesSlides/notesSlide11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7.xml"/><Relationship Id="rId2" Type="http://schemas.openxmlformats.org/officeDocument/2006/relationships/notesSlide" Target="../notesSlides/notesSlide11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8.xml"/><Relationship Id="rId2" Type="http://schemas.openxmlformats.org/officeDocument/2006/relationships/notesSlide" Target="../notesSlides/notesSlide11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9.xml"/><Relationship Id="rId2" Type="http://schemas.openxmlformats.org/officeDocument/2006/relationships/notesSlide" Target="../notesSlides/notesSlide1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4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6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29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45" name="강조 바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47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48" name="가운데 글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49" name="가운데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sp>
        <p:nvSpPr>
          <p:cNvPr id="51" name="가운데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sp>
        <p:nvSpPr>
          <p:cNvPr id="54" name="레일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68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sp>
        <p:nvSpPr>
          <p:cNvPr id="75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8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0" name="패널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3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1" name="패널 머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32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sp>
        <p:nvSpPr>
          <p:cNvPr id="42" name="성과 패널 머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성과 패널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5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6" name="주석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14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30" name="패널 머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2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34" name="패널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39" name="패널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sp>
        <p:nvSpPr>
          <p:cNvPr id="42" name="레일 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46" name="패널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50" name="패널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sp>
        <p:nvSpPr>
          <p:cNvPr id="53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sp>
        <p:nvSpPr>
          <p:cNvPr id="58" name="레일 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60" name="패널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27" name="사진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32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sp>
        <p:nvSpPr>
          <p:cNvPr id="42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sp>
        <p:nvSpPr>
          <p:cNvPr id="49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4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5" name="강조 바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graphicFrame>
        <p:nvGraphicFramePr>
          <p:cNvPr id="37" name="실적표"/>
          <p:cNvGraphicFramePr>
            <a:graphicFrameLocks noGrp="1"/>
          </p:cNvGraphicFramePr>
          <p:nvPr/>
        </p:nvGraphicFramePr>
        <p:xfrm>
          <a:off x="723130" y="3840417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34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graphicFrame>
        <p:nvGraphicFramePr>
          <p:cNvPr id="48" name="인라인 표"/>
          <p:cNvGraphicFramePr>
            <a:graphicFrameLocks noGrp="1"/>
          </p:cNvGraphicFramePr>
          <p:nvPr/>
        </p:nvGraphicFramePr>
        <p:xfrm>
          <a:off x="1391478" y="4444591"/>
          <a:ext cx="2711739" cy="416348"/>
        </p:xfrm>
        <a:graphic>
          <a:graphicData uri="http://schemas.openxmlformats.org/drawingml/2006/table">
            <a:tbl>
              <a:tblPr/>
              <a:tblGrid>
                <a:gridCol w="394435"/>
                <a:gridCol w="504000"/>
                <a:gridCol w="361565"/>
                <a:gridCol w="153391"/>
                <a:gridCol w="416348"/>
                <a:gridCol w="438261"/>
                <a:gridCol w="443739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위원,1급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6,7급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교통직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실무직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인상률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1.0%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3.2%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42" name="사진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44" name="핵심성과 라벨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0" name="소행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7" name="가운데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28" name="가운데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sp>
        <p:nvSpPr>
          <p:cNvPr id="30" name="가운데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27" name="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28" name="사진 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29" name="사진 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1" name="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sp>
        <p:nvSpPr>
          <p:cNvPr id="22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3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패널 머리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" name="패널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3" name="요약 바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5" name="패널 머리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7" name="요약 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9" name="패널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0" name="패널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21" name="요약 바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23" name="핵심성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24" name="핵심성과 문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sp>
        <p:nvSpPr>
          <p:cNvPr id="45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sp>
        <p:nvSpPr>
          <p:cNvPr id="58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sp>
        <p:nvSpPr>
          <p:cNvPr id="72" name="레일 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73" name="레일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75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76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77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sp>
        <p:nvSpPr>
          <p:cNvPr id="84" name="레일 태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86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87" name="머리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88" name="머리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sp>
        <p:nvSpPr>
          <p:cNvPr id="95" name="레일 태그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96" name="레일 라벨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98" name="머리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99" name="머리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46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sp>
        <p:nvSpPr>
          <p:cNvPr id="57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60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61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62" name="레일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63" name="PI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66" name="KPI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67" name="KPI 결과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69" name="단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sp>
        <p:nvSpPr>
          <p:cNvPr id="75" name="값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78" name="값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81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2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84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90" name="레일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91" name="PI 글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93" name="태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94" name="KPI 글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95" name="KPI 결과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97" name="단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sp>
        <p:nvSpPr>
          <p:cNvPr id="103" name="값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4" name="연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06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18" name="레일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19" name="PI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22" name="KPI 글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23" name="KPI 결과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25" name="단위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sp>
        <p:nvSpPr>
          <p:cNvPr id="131" name="값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34" name="값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7" name="값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40" name="값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41" name="연도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43" name="값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44" name="연도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46" name="레일"/>
          <p:cNvSpPr>
            <a:spLocks noGrp="1"/>
          </p:cNvSpPr>
          <p:nvPr>
            <p:ph type="body" sz="quarter" idx="10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47" name="PI 글"/>
          <p:cNvSpPr>
            <a:spLocks noGrp="1"/>
          </p:cNvSpPr>
          <p:nvPr>
            <p:ph type="body" sz="quarter" idx="10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49" name="태그"/>
          <p:cNvSpPr>
            <a:spLocks noGrp="1"/>
          </p:cNvSpPr>
          <p:nvPr>
            <p:ph type="body" sz="quarter" idx="10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50" name="KPI 글"/>
          <p:cNvSpPr>
            <a:spLocks noGrp="1"/>
          </p:cNvSpPr>
          <p:nvPr>
            <p:ph type="body" sz="quarter" idx="10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51" name="KPI 결과"/>
          <p:cNvSpPr>
            <a:spLocks noGrp="1"/>
          </p:cNvSpPr>
          <p:nvPr>
            <p:ph type="body" sz="quarter" idx="10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53" name="단위"/>
          <p:cNvSpPr>
            <a:spLocks noGrp="1"/>
          </p:cNvSpPr>
          <p:nvPr>
            <p:ph type="body" sz="quarter" idx="10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sp>
        <p:nvSpPr>
          <p:cNvPr id="159" name="값"/>
          <p:cNvSpPr>
            <a:spLocks noGrp="1"/>
          </p:cNvSpPr>
          <p:nvPr>
            <p:ph type="body" sz="quarter" idx="10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60" name="연도"/>
          <p:cNvSpPr>
            <a:spLocks noGrp="1"/>
          </p:cNvSpPr>
          <p:nvPr>
            <p:ph type="body" sz="quarter" idx="11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2" name="값"/>
          <p:cNvSpPr>
            <a:spLocks noGrp="1"/>
          </p:cNvSpPr>
          <p:nvPr>
            <p:ph type="body" sz="quarter" idx="11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63" name="연도"/>
          <p:cNvSpPr>
            <a:spLocks noGrp="1"/>
          </p:cNvSpPr>
          <p:nvPr>
            <p:ph type="body" sz="quarter" idx="11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5" name="값"/>
          <p:cNvSpPr>
            <a:spLocks noGrp="1"/>
          </p:cNvSpPr>
          <p:nvPr>
            <p:ph type="body" sz="quarter" idx="11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66" name="연도"/>
          <p:cNvSpPr>
            <a:spLocks noGrp="1"/>
          </p:cNvSpPr>
          <p:nvPr>
            <p:ph type="body" sz="quarter" idx="11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8" name="값"/>
          <p:cNvSpPr>
            <a:spLocks noGrp="1"/>
          </p:cNvSpPr>
          <p:nvPr>
            <p:ph type="body" sz="quarter" idx="11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69" name="연도"/>
          <p:cNvSpPr>
            <a:spLocks noGrp="1"/>
          </p:cNvSpPr>
          <p:nvPr>
            <p:ph type="body" sz="quarter" idx="11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71" name="값"/>
          <p:cNvSpPr>
            <a:spLocks noGrp="1"/>
          </p:cNvSpPr>
          <p:nvPr>
            <p:ph type="body" sz="quarter" idx="11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172" name="연도"/>
          <p:cNvSpPr>
            <a:spLocks noGrp="1"/>
          </p:cNvSpPr>
          <p:nvPr>
            <p:ph type="body" sz="quarter" idx="11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sp>
        <p:nvSpPr>
          <p:cNvPr id="174" name="레일"/>
          <p:cNvSpPr>
            <a:spLocks noGrp="1"/>
          </p:cNvSpPr>
          <p:nvPr>
            <p:ph type="body" sz="quarter" idx="11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2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177" name="태그"/>
          <p:cNvSpPr>
            <a:spLocks noGrp="1"/>
          </p:cNvSpPr>
          <p:nvPr>
            <p:ph type="body" sz="quarter" idx="1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178" name="KPI 글"/>
          <p:cNvSpPr>
            <a:spLocks noGrp="1"/>
          </p:cNvSpPr>
          <p:nvPr>
            <p:ph type="body" sz="quarter" idx="1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179" name="KPI 결과"/>
          <p:cNvSpPr>
            <a:spLocks noGrp="1"/>
          </p:cNvSpPr>
          <p:nvPr>
            <p:ph type="body" sz="quarter" idx="1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181" name="단위"/>
          <p:cNvSpPr>
            <a:spLocks noGrp="1"/>
          </p:cNvSpPr>
          <p:nvPr>
            <p:ph type="body" sz="quarter" idx="1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sp>
        <p:nvSpPr>
          <p:cNvPr id="187" name="값"/>
          <p:cNvSpPr>
            <a:spLocks noGrp="1"/>
          </p:cNvSpPr>
          <p:nvPr>
            <p:ph type="body" sz="quarter" idx="1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8" name="연도"/>
          <p:cNvSpPr>
            <a:spLocks noGrp="1"/>
          </p:cNvSpPr>
          <p:nvPr>
            <p:ph type="body" sz="quarter" idx="1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0" name="값"/>
          <p:cNvSpPr>
            <a:spLocks noGrp="1"/>
          </p:cNvSpPr>
          <p:nvPr>
            <p:ph type="body" sz="quarter" idx="1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1" name="연도"/>
          <p:cNvSpPr>
            <a:spLocks noGrp="1"/>
          </p:cNvSpPr>
          <p:nvPr>
            <p:ph type="body" sz="quarter" idx="1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3" name="값"/>
          <p:cNvSpPr>
            <a:spLocks noGrp="1"/>
          </p:cNvSpPr>
          <p:nvPr>
            <p:ph type="body" sz="quarter" idx="1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4" name="연도"/>
          <p:cNvSpPr>
            <a:spLocks noGrp="1"/>
          </p:cNvSpPr>
          <p:nvPr>
            <p:ph type="body" sz="quarter" idx="1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6" name="값"/>
          <p:cNvSpPr>
            <a:spLocks noGrp="1"/>
          </p:cNvSpPr>
          <p:nvPr>
            <p:ph type="body" sz="quarter" idx="1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97" name="연도"/>
          <p:cNvSpPr>
            <a:spLocks noGrp="1"/>
          </p:cNvSpPr>
          <p:nvPr>
            <p:ph type="body" sz="quarter" idx="1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99" name="값"/>
          <p:cNvSpPr>
            <a:spLocks noGrp="1"/>
          </p:cNvSpPr>
          <p:nvPr>
            <p:ph type="body" sz="quarter" idx="1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00" name="연도"/>
          <p:cNvSpPr>
            <a:spLocks noGrp="1"/>
          </p:cNvSpPr>
          <p:nvPr>
            <p:ph type="body" sz="quarter" idx="1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40" name="사진 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51" name="사진 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5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28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41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42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사진 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7" name="카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58" name="카드 설명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59" name="사진 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0" name="카드 제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61" name="카드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62" name="사진 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64" name="카드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65" name="사진 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67" name="카드 설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68" name="사진 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9" name="카드 제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70" name="카드 설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sp>
        <p:nvSpPr>
          <p:cNvPr id="44" name="주요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5" name="주요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sp>
        <p:nvSpPr>
          <p:cNvPr id="18" name="레일 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sp>
        <p:nvSpPr>
          <p:cNvPr id="32" name="주요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3" name="주요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sp>
        <p:nvSpPr>
          <p:cNvPr id="49" name="주요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0" name="주요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소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15" name="띠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18" name="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2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4" name="사진 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sp>
        <p:nvSpPr>
          <p:cNvPr id="30" name="띠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33" name="띠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37" name="사진 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8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43" name="배너 글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45" name="상단 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46" name="상단 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47" name="더하기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51" name="카드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54" name="카드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57" name="카드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58" name="설명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59" name="설명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sp>
        <p:nvSpPr>
          <p:cNvPr id="61" name="설명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64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65" name="열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66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67" name="설명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68" name="설명 글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sp>
        <p:nvSpPr>
          <p:cNvPr id="70" name="설명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sp>
        <p:nvSpPr>
          <p:cNvPr id="72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75" name="카드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78" name="카드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81" name="카드 글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82" name="요약 바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1" name="배너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0" name="아이콘 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21" name="구분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23" name="구분 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24" name="칩 줄 글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25" name="카드 요약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28" name="구분 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9" name="칩 줄 글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30" name="구분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32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34" name="아이콘 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35" name="구분 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37" name="구분 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8" name="칩 줄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39" name="카드 요약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41" name="아이콘 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42" name="구분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3" name="칩 줄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44" name="구분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5" name="칩 줄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46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51" name="도입 글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52" name="열 머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53" name="열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54" name="열 머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55" name="열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56" name="열 머리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57" name="열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58" name="강조 띠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59" name="행 라벨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0" name="지표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61" name="수치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62" name="지표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63" name="수치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64" name="지표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65" name="수치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sp>
        <p:nvSpPr>
          <p:cNvPr id="67" name="행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68" name="지표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69" name="수치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70" name="지표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71" name="수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72" name="지표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73" name="수치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sp>
        <p:nvSpPr>
          <p:cNvPr id="75" name="판단 글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76" name="판단 글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78" name="캡션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82" name="단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86" name="큰 문구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87" name="요약 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88" name="불릿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90" name="큰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91" name="요약 줄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92" name="불릿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sp>
        <p:nvSpPr>
          <p:cNvPr id="95" name="큰 문구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96" name="요약 줄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97" name="불릿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0" name="분면 이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1" name="분면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2" name="분면 이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13" name="분면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14" name="분면 이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15" name="분면 글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16" name="분면 이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18" name="세로축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19" name="가로축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0" name="분류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22" name="패널 머리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23" name="패널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24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5" name="소통 이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26" name="소통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27" name="소통 이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28" name="소통 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소통 이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31" name="소통 칩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32" name="소통 이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33" name="소통 칩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34" name="번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5" name="소통 이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36" name="소통 칩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38" name="소통 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39" name="번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41" name="소통 칩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42" name="소통 이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43" name="소통 칩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44" name="사진 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6" name="확산 글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47" name="사진 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49" name="확산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50" name="사진 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52" name="확산 글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sp>
        <p:nvSpPr>
          <p:cNvPr id="46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61" name="캡션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63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sp>
        <p:nvSpPr>
          <p:cNvPr id="79" name="레일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81" name="배너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82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83" name="머리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84" name="머리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sp>
        <p:nvSpPr>
          <p:cNvPr id="91" name="태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92" name="캡션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94" name="레일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95" name="단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96" name="단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97" name="단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sp>
        <p:nvSpPr>
          <p:cNvPr id="105" name="레일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7" name="배너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08" name="태그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09" name="태그 설명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10" name="태그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11" name="태그 설명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2" name="배너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13" name="주체 박스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14" name="시작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16" name="위 마디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18" name="날짜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0" name="위 마디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22" name="날짜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24" name="위 마디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26" name="날짜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28" name="위 마디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30" name="날짜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32" name="위 마디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34" name="날짜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37" name="날짜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38" name="아래 마디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40" name="날짜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41" name="아래 마디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43" name="날짜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44" name="아래 마디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46" name="날짜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47" name="아래 마디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50" name="배너 글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53" name="머리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54" name="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56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57" name="머리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58" name="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62" name="머리 글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63" name="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69" name="레일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70" name="번호 칩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71" name="과제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72" name="번호 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73" name="과제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74" name="번호 칩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75" name="과제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76" name="번호 칩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77" name="과제명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sp>
        <p:nvSpPr>
          <p:cNvPr id="80" name="레일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81" name="번호 칩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82" name="과제명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83" name="번호 칩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4" name="과제명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85" name="번호 칩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86" name="과제명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87" name="번호 칩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88" name="과제명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sp>
        <p:nvSpPr>
          <p:cNvPr id="91" name="레일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92" name="번호 칩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93" name="과제명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94" name="번호 칩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95" name="과제명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96" name="번호 칩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97" name="과제명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98" name="번호 칩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sp>
        <p:nvSpPr>
          <p:cNvPr id="102" name="태그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03" name="배너 글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05" name="태그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6" name="머리 글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08" name="알약 칸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sp>
        <p:nvSpPr>
          <p:cNvPr id="111" name="상자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12" name="알약 칸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15" name="상자"/>
          <p:cNvSpPr>
            <a:spLocks noGrp="1"/>
          </p:cNvSpPr>
          <p:nvPr>
            <p:ph type="body" sz="quarter" idx="9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16" name="알약 칸"/>
          <p:cNvSpPr>
            <a:spLocks noGrp="1"/>
          </p:cNvSpPr>
          <p:nvPr>
            <p:ph type="body" sz="quarter" idx="9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sp>
        <p:nvSpPr>
          <p:cNvPr id="119" name="상자"/>
          <p:cNvSpPr>
            <a:spLocks noGrp="1"/>
          </p:cNvSpPr>
          <p:nvPr>
            <p:ph type="body" sz="quarter" idx="9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21" name="태그"/>
          <p:cNvSpPr>
            <a:spLocks noGrp="1"/>
          </p:cNvSpPr>
          <p:nvPr>
            <p:ph type="body" sz="quarter" idx="9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22" name="머리 글"/>
          <p:cNvSpPr>
            <a:spLocks noGrp="1"/>
          </p:cNvSpPr>
          <p:nvPr>
            <p:ph type="body" sz="quarter" idx="9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24" name="알약 칸"/>
          <p:cNvSpPr>
            <a:spLocks noGrp="1"/>
          </p:cNvSpPr>
          <p:nvPr>
            <p:ph type="body" sz="quarter" idx="9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sp>
        <p:nvSpPr>
          <p:cNvPr id="127" name="상자"/>
          <p:cNvSpPr>
            <a:spLocks noGrp="1"/>
          </p:cNvSpPr>
          <p:nvPr>
            <p:ph type="body" sz="quarter" idx="9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28" name="알약 칸"/>
          <p:cNvSpPr>
            <a:spLocks noGrp="1"/>
          </p:cNvSpPr>
          <p:nvPr>
            <p:ph type="body" sz="quarter" idx="9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sp>
        <p:nvSpPr>
          <p:cNvPr id="131" name="상자"/>
          <p:cNvSpPr>
            <a:spLocks noGrp="1"/>
          </p:cNvSpPr>
          <p:nvPr>
            <p:ph type="body" sz="quarter" idx="10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32" name="알약 칸"/>
          <p:cNvSpPr>
            <a:spLocks noGrp="1"/>
          </p:cNvSpPr>
          <p:nvPr>
            <p:ph type="body" sz="quarter" idx="10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sp>
        <p:nvSpPr>
          <p:cNvPr id="135" name="상자"/>
          <p:cNvSpPr>
            <a:spLocks noGrp="1"/>
          </p:cNvSpPr>
          <p:nvPr>
            <p:ph type="body" sz="quarter" idx="10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sp>
        <p:nvSpPr>
          <p:cNvPr id="57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58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61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62" name="단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70" name="머리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71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72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sp>
        <p:nvSpPr>
          <p:cNvPr id="79" name="주요성과 라벨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0" name="주요성과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sp>
        <p:nvSpPr>
          <p:cNvPr id="36" name="주요성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37" name="주요성과 문구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48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sp>
        <p:nvSpPr>
          <p:cNvPr id="57" name="주요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8" name="주요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63" name="태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64" name="태그 설명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6" name="태그 설명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68" name="단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69" name="단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sp>
        <p:nvSpPr>
          <p:cNvPr id="78" name="주요성과 라벨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79" name="주요성과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칸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3" name="칸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25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sp>
        <p:nvSpPr>
          <p:cNvPr id="29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sp>
        <p:nvSpPr>
          <p:cNvPr id="3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35" name="배너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sp>
        <p:nvSpPr>
          <p:cNvPr id="61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캡션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65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66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67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76" name="사진 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7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79" name="단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80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81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0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51" name="레일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55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sp>
        <p:nvSpPr>
          <p:cNvPr id="61" name="레일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62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63" name="머리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64" name="머리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sp>
        <p:nvSpPr>
          <p:cNvPr id="70" name="레일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2" name="단계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73" name="단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74" name="단계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sp>
        <p:nvSpPr>
          <p:cNvPr id="83" name="성과 라벨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4" name="성과 띠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86" name="카드 문구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88" name="값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91" name="값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4" name="값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7" name="카드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99" name="값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02" name="값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5" name="값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43" name="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44" name="성과 띠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48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1" name="값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59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sp>
        <p:nvSpPr>
          <p:cNvPr id="16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37" name="칸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39" name="사진 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46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47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48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12" name="그룹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16" name="카드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17" name="카드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18" name="도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0" name="값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21" name="연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23" name="값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24" name="연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27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28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29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30" name="요약 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35" name="도표 제목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37" name="값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38" name="연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40" name="값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45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46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47" name="요약 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49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50" name="그룹 제목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53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54" name="카드 제목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55" name="카드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56" name="도표 제목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58" name="값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1" name="값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5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66" name="카드 제목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67" name="카드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68" name="도표 제목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0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71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3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5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sp>
        <p:nvSpPr>
          <p:cNvPr id="47" name="핵심성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graphicFrame>
        <p:nvGraphicFramePr>
          <p:cNvPr id="19" name="인라인 표"/>
          <p:cNvGraphicFramePr>
            <a:graphicFrameLocks noGrp="1"/>
          </p:cNvGraphicFramePr>
          <p:nvPr/>
        </p:nvGraphicFramePr>
        <p:xfrm>
          <a:off x="1391478" y="1965443"/>
          <a:ext cx="3177392" cy="624522"/>
        </p:xfrm>
        <a:graphic>
          <a:graphicData uri="http://schemas.openxmlformats.org/drawingml/2006/table">
            <a:tbl>
              <a:tblPr/>
              <a:tblGrid>
                <a:gridCol w="766957"/>
                <a:gridCol w="1424348"/>
                <a:gridCol w="986087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개선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효과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표본조사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데이터 기반 전수조사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리스크 누락 예방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사후적발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패턴분석, 이상 감지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객관성 확보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sp>
        <p:nvSpPr>
          <p:cNvPr id="23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sp>
        <p:nvSpPr>
          <p:cNvPr id="34" name="레일 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52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53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54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18" name="위 머리 글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1" name="위 머리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23" name="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24" name="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25" name="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27" name="아이콘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30" name="아래 머리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33" name="아래 머리 글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22" name="칸 제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26" name="칸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sp>
        <p:nvSpPr>
          <p:cNvPr id="31" name="칸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sp>
        <p:nvSpPr>
          <p:cNvPr id="48" name="배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50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4" name="배너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49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50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sp>
        <p:nvSpPr>
          <p:cNvPr id="59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70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72" name="태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73" name="태그 설명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74" name="태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77" name="핵심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4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43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36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sp>
        <p:nvSpPr>
          <p:cNvPr id="45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30" name="그룹 제목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32" name="탭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33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34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35" name="카드 요약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37" name="탭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38" name="카드 제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39" name="카드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40" name="카드 요약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42" name="탭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45" name="카드 요약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47" name="탭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48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49" name="카드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50" name="카드 요약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53" name="배너 글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56" name="레일 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57" name="레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58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59" name="머리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sp>
        <p:nvSpPr>
          <p:cNvPr id="66" name="레일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68" name="머리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69" name="머리칸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sp>
        <p:nvSpPr>
          <p:cNvPr id="74" name="성과 라벨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75" name="성과 띠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85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86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49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sp>
        <p:nvSpPr>
          <p:cNvPr id="29" name="레일 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sp>
        <p:nvSpPr>
          <p:cNvPr id="37" name="레일 태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0" name="배너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41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42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sp>
        <p:nvSpPr>
          <p:cNvPr id="48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17" name="니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18" name="실적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20" name="칩 줄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22" name="칩 줄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23" name="성과 머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24" name="성과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29" name="니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30" name="실적 머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32" name="칩 줄 글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33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35" name="성과 머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36" name="성과 글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41" name="니즈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42" name="실적 머리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43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45" name="태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46" name="칩 줄 글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47" name="성과 머리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48" name="성과 글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53" name="니즈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54" name="실적 머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55" name="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56" name="칩 줄 글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57" name="태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59" name="성과 머리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60" name="성과 글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sp>
        <p:nvSpPr>
          <p:cNvPr id="26" name="배너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2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52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sp>
        <p:nvSpPr>
          <p:cNvPr id="43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54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28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31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sp>
        <p:nvSpPr>
          <p:cNvPr id="45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49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sp>
        <p:nvSpPr>
          <p:cNvPr id="54" name="핵심성과 라벨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58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7" name="캡션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sp>
        <p:nvSpPr>
          <p:cNvPr id="30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sp>
        <p:nvSpPr>
          <p:cNvPr id="33" name="레일 태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37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sp>
        <p:nvSpPr>
          <p:cNvPr id="46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49" name="성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50" name="성과 띠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52" name="카드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54" name="값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55" name="연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값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58" name="연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값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61" name="연도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65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8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4" name="카드 문구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76" name="값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9" name="값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2" name="값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87" name="값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값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93" name="값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94" name="연도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6" name="카드 문구"/>
          <p:cNvSpPr>
            <a:spLocks noGrp="1"/>
          </p:cNvSpPr>
          <p:nvPr>
            <p:ph type="body" sz="quarter" idx="7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98" name="값"/>
          <p:cNvSpPr>
            <a:spLocks noGrp="1"/>
          </p:cNvSpPr>
          <p:nvPr>
            <p:ph type="body" sz="quarter" idx="7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8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1" name="값"/>
          <p:cNvSpPr>
            <a:spLocks noGrp="1"/>
          </p:cNvSpPr>
          <p:nvPr>
            <p:ph type="body" sz="quarter" idx="8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8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4" name="값"/>
          <p:cNvSpPr>
            <a:spLocks noGrp="1"/>
          </p:cNvSpPr>
          <p:nvPr>
            <p:ph type="body" sz="quarter" idx="8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05" name="연도"/>
          <p:cNvSpPr>
            <a:spLocks noGrp="1"/>
          </p:cNvSpPr>
          <p:nvPr>
            <p:ph type="body" sz="quarter" idx="8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7" name="카드 문구"/>
          <p:cNvSpPr>
            <a:spLocks noGrp="1"/>
          </p:cNvSpPr>
          <p:nvPr>
            <p:ph type="body" sz="quarter" idx="8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09" name="값"/>
          <p:cNvSpPr>
            <a:spLocks noGrp="1"/>
          </p:cNvSpPr>
          <p:nvPr>
            <p:ph type="body" sz="quarter" idx="8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8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2" name="값"/>
          <p:cNvSpPr>
            <a:spLocks noGrp="1"/>
          </p:cNvSpPr>
          <p:nvPr>
            <p:ph type="body" sz="quarter" idx="8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8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5" name="값"/>
          <p:cNvSpPr>
            <a:spLocks noGrp="1"/>
          </p:cNvSpPr>
          <p:nvPr>
            <p:ph type="body" sz="quarter" idx="9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16" name="연도"/>
          <p:cNvSpPr>
            <a:spLocks noGrp="1"/>
          </p:cNvSpPr>
          <p:nvPr>
            <p:ph type="body" sz="quarter" idx="9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33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24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5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1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49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71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2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 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15" name="레일 라벨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66</a:t>
            </a:r>
          </a:p>
        </p:txBody>
      </p:sp>
      <p:sp>
        <p:nvSpPr>
          <p:cNvPr id="4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5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7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8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sp>
        <p:nvSpPr>
          <p:cNvPr id="19" name="레일 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sp>
        <p:nvSpPr>
          <p:cNvPr id="30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69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70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72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9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0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21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22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번호 띠 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sp>
        <p:nvSpPr>
          <p:cNvPr id="32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38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46" name="머리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sp>
        <p:nvSpPr>
          <p:cNvPr id="51" name="배너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53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sp>
        <p:nvSpPr>
          <p:cNvPr id="63" name="핵심성과 라벨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sp>
        <p:nvSpPr>
          <p:cNvPr id="44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47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sp>
        <p:nvSpPr>
          <p:cNvPr id="55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76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2" name="캡션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40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41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42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44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46" name="태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50" name="태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53" name="핵심성과 라벨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0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1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34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44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58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59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60" name="단계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72" name="핵심성과 라벨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78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2" name="소제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36" name="배너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sp>
        <p:nvSpPr>
          <p:cNvPr id="44" name="레일 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45" name="레일 라벨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47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48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8" name="분야 박스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15" name="배너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24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37" name="배너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3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sp>
        <p:nvSpPr>
          <p:cNvPr id="25" name="레일 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28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29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2" name="배너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5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sp>
        <p:nvSpPr>
          <p:cNvPr id="52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sp>
        <p:nvSpPr>
          <p:cNvPr id="58" name="레일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60" name="태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61" name="태그 설명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63" name="태그 설명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64" name="태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66" name="태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68" name="태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sp>
        <p:nvSpPr>
          <p:cNvPr id="35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36" name="캡션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38" name="레일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40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sp>
        <p:nvSpPr>
          <p:cNvPr id="45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47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sp>
        <p:nvSpPr>
          <p:cNvPr id="56" name="핵심성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graphicFrame>
        <p:nvGraphicFramePr>
          <p:cNvPr id="23" name="인라인 표"/>
          <p:cNvGraphicFramePr>
            <a:graphicFrameLocks noGrp="1"/>
          </p:cNvGraphicFramePr>
          <p:nvPr/>
        </p:nvGraphicFramePr>
        <p:xfrm>
          <a:off x="5156870" y="1976400"/>
          <a:ext cx="2136521" cy="624522"/>
        </p:xfrm>
        <a:graphic>
          <a:graphicData uri="http://schemas.openxmlformats.org/drawingml/2006/table">
            <a:tbl>
              <a:tblPr/>
              <a:tblGrid>
                <a:gridCol w="821739"/>
                <a:gridCol w="657391"/>
                <a:gridCol w="657391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항목(예시)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유류(mg/kg)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아연(mg/kg)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법적기준(주택)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500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500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최종성과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133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115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sp>
        <p:nvSpPr>
          <p:cNvPr id="27" name="핵심성과 라벨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핵심성과 문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sp>
        <p:nvSpPr>
          <p:cNvPr id="16" name="캡션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9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sp>
        <p:nvSpPr>
          <p:cNvPr id="40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35" name="사진 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7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8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26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" name="레일 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0" name="레일 라벨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1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12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27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sp>
        <p:nvSpPr>
          <p:cNvPr id="36" name="레일 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38" name="머리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39" name="머리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40" name="머리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sp>
        <p:nvSpPr>
          <p:cNvPr id="47" name="레일 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50" name="배너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51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52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89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14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7" name="배너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sp>
        <p:nvSpPr>
          <p:cNvPr id="25" name="핵심성과 라벨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6" name="핵심성과 문구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0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40" name="레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41" name="배너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1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sp>
        <p:nvSpPr>
          <p:cNvPr id="29" name="태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0" name="캡션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sp>
        <p:nvSpPr>
          <p:cNvPr id="50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53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54" name="머리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14" name="그룹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17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18" name="카드 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19" name="카드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23" name="카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24" name="카드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26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27" name="카드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28" name="카드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sp>
        <p:nvSpPr>
          <p:cNvPr id="31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레일 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14" name="레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15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16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sp>
        <p:nvSpPr>
          <p:cNvPr id="38" name="핵심성과 라벨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13" name="태그 설명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22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sp>
        <p:nvSpPr>
          <p:cNvPr id="24" name="소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25" name="태그칩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33" name="배너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45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46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sp>
        <p:nvSpPr>
          <p:cNvPr id="52" name="핵심성과 라벨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3" name="핵심성과 문구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96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7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sp>
        <p:nvSpPr>
          <p:cNvPr id="19" name="핵심성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0" name="핵심성과 문구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9" name="태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0" name="태그 설명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1" name="태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2" name="태그 설명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번호 띠 제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18" name="번호 띠 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sp>
        <p:nvSpPr>
          <p:cNvPr id="31" name="레일 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34" name="머리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35" name="머리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sp>
        <p:nvSpPr>
          <p:cNvPr id="40" name="레일 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49" name="태그 설명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51" name="핵심성과 라벨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98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13" name="그룹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17" name="카드 제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18" name="카드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sp>
        <p:nvSpPr>
          <p:cNvPr id="21" name="태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22" name="카드 제목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23" name="카드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25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31" name="카드 제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32" name="카드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캡션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2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24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0" name="번호 띠 제목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31" name="번호 띠 칩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32" name="번호 띠 칩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35" name="배너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36" name="단계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37" name="단계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38" name="단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39" name="단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1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sp>
        <p:nvSpPr>
          <p:cNvPr id="61" name="레일 태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62" name="레일 라벨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63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64" name="단계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sp>
        <p:nvSpPr>
          <p:cNvPr id="70" name="레일 태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71" name="레일 라벨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73" name="단계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74" name="단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sp>
        <p:nvSpPr>
          <p:cNvPr id="80" name="핵심성과 라벨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sp>
        <p:nvSpPr>
          <p:cNvPr id="28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29" name="번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30" name="분야 박스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32" name="소제목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33" name="태그칩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34" name="태그칩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36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39" name="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41" name="레일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43" name="머리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44" name="머리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50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sp>
        <p:nvSpPr>
          <p:cNvPr id="58" name="번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59" name="분야 박스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61" name="소제목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62" name="태그칩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64" name="레일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5" name="머리칸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66" name="머리칸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67" name="머리칸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6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6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6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6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75" name="머리칸"/>
          <p:cNvSpPr>
            <a:spLocks noGrp="1"/>
          </p:cNvSpPr>
          <p:nvPr>
            <p:ph type="body" sz="quarter" idx="7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76" name="머리칸"/>
          <p:cNvSpPr>
            <a:spLocks noGrp="1"/>
          </p:cNvSpPr>
          <p:nvPr>
            <p:ph type="body" sz="quarter" idx="7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7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7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sp>
        <p:nvSpPr>
          <p:cNvPr id="81" name="주요성과 라벨"/>
          <p:cNvSpPr>
            <a:spLocks noGrp="1"/>
          </p:cNvSpPr>
          <p:nvPr>
            <p:ph type="body" sz="quarter" idx="7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7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84" name="주요성과 라벨"/>
          <p:cNvSpPr>
            <a:spLocks noGrp="1"/>
          </p:cNvSpPr>
          <p:nvPr>
            <p:ph type="body" sz="quarter" idx="7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85" name="주요성과 문구"/>
          <p:cNvSpPr>
            <a:spLocks noGrp="1"/>
          </p:cNvSpPr>
          <p:nvPr>
            <p:ph type="body" sz="quarter" idx="7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sp>
        <p:nvSpPr>
          <p:cNvPr id="30" name="태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sp>
        <p:nvSpPr>
          <p:cNvPr id="37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39" name="배너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sp>
        <p:nvSpPr>
          <p:cNvPr id="48" name="레일 태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51" name="태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52" name="태그 설명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53" name="단계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54" name="단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55" name="단계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56" name="단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7" name="단계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sp>
        <p:nvSpPr>
          <p:cNvPr id="71" name="배너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73" name="레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sp>
        <p:nvSpPr>
          <p:cNvPr id="80" name="핵심성과 라벨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1" name="핵심성과 문구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sp>
        <p:nvSpPr>
          <p:cNvPr id="32" name="레일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104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주민과 함께하는 터전·소득·사람 솔루션으로 지역 가치 재조명</a:t>
            </a:r>
          </a:p>
        </p:txBody>
      </p:sp>
      <p:sp>
        <p:nvSpPr>
          <p:cNvPr id="10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농산물 판로확대 등 지역소멸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재난피해·취약계층가구 노후 물이용공간 개선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‘이음장날’ 전국 판로확대 및 온라인몰 입점 지원, 마케팅 코칭·크라우드펀딩 연계 ▶ p.67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지자체·주민 협업 기반 소멸위험마을의 빈집을 지역거점공간으로 재생 ▶ p.66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농가 소득 3.6억원 창출, 코칭 만족도(성장체감) 97%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복지서비스 참여자 500명, 이용만족도 97% 달성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추진실적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문화관 시설개선·지역연계 프로그램 확대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강변 자전거길을 이용한 대국민 러닝코스 및 인증제 개발·운영(RiverRun) ▶ p.68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체감형 서비스 개선과제 선정(’25.9, 재경부)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106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6" name="단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7" name="단계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sp>
        <p:nvSpPr>
          <p:cNvPr id="13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캡션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20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sp>
        <p:nvSpPr>
          <p:cNvPr id="37" name="태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4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5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24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sp>
        <p:nvSpPr>
          <p:cNvPr id="35" name="핵심성과 라벨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108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6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sp>
        <p:nvSpPr>
          <p:cNvPr id="12" name="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13" name="태그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15" name="캡션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17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18" name="배너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19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sp>
        <p:nvSpPr>
          <p:cNvPr id="29" name="배너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31" name="핵심성과 라벨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109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0" name="태그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sp>
        <p:nvSpPr>
          <p:cNvPr id="16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19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sp>
        <p:nvSpPr>
          <p:cNvPr id="29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0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110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0" name="소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1" name="태그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2" name="태그칩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3" name="태그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sp>
        <p:nvSpPr>
          <p:cNvPr id="31" name="주요성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주요성과 문구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9" name="태그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sp>
        <p:nvSpPr>
          <p:cNvPr id="23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sp>
        <p:nvSpPr>
          <p:cNvPr id="30" name="레일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32" name="단계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3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sp>
        <p:nvSpPr>
          <p:cNvPr id="39" name="핵심성과 라벨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112</a:t>
            </a:r>
          </a:p>
        </p:txBody>
      </p:sp>
      <p:sp>
        <p:nvSpPr>
          <p:cNvPr id="7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8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9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0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sp>
        <p:nvSpPr>
          <p:cNvPr id="27" name="배너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30" name="단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31" name="단계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39" name="레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sp>
        <p:nvSpPr>
          <p:cNvPr id="43" name="레일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45" name="배너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46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48" name="레일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50" name="머리칸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51" name="머리칸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52" name="머리칸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 띠 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1" name="배너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22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sp>
        <p:nvSpPr>
          <p:cNvPr id="33" name="핵심성과 라벨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