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문구: 참조 지면의 구성을 요약한 것이며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문구: 참조 지면의 구성을 요약한 것이며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문구: 참조 지면의 구성을 요약한 것이며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문구: 참조 지면의 구성을 요약한 것이며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문구: 참조 지면의 구성을 요약한 것이며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장 제목 띠"/>
          <p:cNvSpPr/>
          <p:nvPr/>
        </p:nvSpPr>
        <p:spPr>
          <a:xfrm>
            <a:off x="553304" y="758739"/>
            <a:ext cx="6256174" cy="419635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I 칸"/>
          <p:cNvSpPr/>
          <p:nvPr/>
        </p:nvSpPr>
        <p:spPr>
          <a:xfrm>
            <a:off x="5405478" y="758739"/>
            <a:ext cx="1404000" cy="41963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장 제목"/>
          <p:cNvSpPr txBox="1"/>
          <p:nvPr/>
        </p:nvSpPr>
        <p:spPr>
          <a:xfrm>
            <a:off x="810783" y="772435"/>
            <a:ext cx="4590783" cy="399913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0" name="KORAD CI" descr="korad-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522" y="864734"/>
            <a:ext cx="1161391" cy="215314"/>
          </a:xfrm>
          <a:prstGeom prst="rect">
            <a:avLst/>
          </a:prstGeom>
        </p:spPr>
      </p:pic>
      <p:sp>
        <p:nvSpPr>
          <p:cNvPr id="11" name="평가내용 라벨"/>
          <p:cNvSpPr/>
          <p:nvPr/>
        </p:nvSpPr>
        <p:spPr>
          <a:xfrm>
            <a:off x="553304" y="1331217"/>
            <a:ext cx="971526" cy="608087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4831" y="1358609"/>
            <a:ext cx="5284648" cy="5533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 txBox="1"/>
          <p:nvPr/>
        </p:nvSpPr>
        <p:spPr>
          <a:xfrm>
            <a:off x="1632522" y="1358609"/>
            <a:ext cx="5127652" cy="553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 등이 상호 협력과 참여에 기반하여 합리적이고 적법하게 이루어지고 있는지 여부</a:t>
            </a:r>
          </a:p>
        </p:txBody>
      </p:sp>
      <p:sp>
        <p:nvSpPr>
          <p:cNvPr id="14" name="점"/>
          <p:cNvSpPr/>
          <p:nvPr/>
        </p:nvSpPr>
        <p:spPr>
          <a:xfrm>
            <a:off x="857348" y="1911913"/>
            <a:ext cx="0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54245" y="1911913"/>
            <a:ext cx="0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44704" y="1911913"/>
            <a:ext cx="0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087435" y="1911913"/>
            <a:ext cx="69163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56598" y="1911913"/>
            <a:ext cx="95185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53304" y="2084478"/>
            <a:ext cx="6256174" cy="310435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2103652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2103652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 txBox="1"/>
          <p:nvPr/>
        </p:nvSpPr>
        <p:spPr>
          <a:xfrm>
            <a:off x="558783" y="2081739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 txBox="1"/>
          <p:nvPr/>
        </p:nvSpPr>
        <p:spPr>
          <a:xfrm>
            <a:off x="1183304" y="2103652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4" name="소제목"/>
          <p:cNvSpPr txBox="1"/>
          <p:nvPr/>
        </p:nvSpPr>
        <p:spPr>
          <a:xfrm>
            <a:off x="536870" y="2459739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5" name="레일"/>
          <p:cNvSpPr/>
          <p:nvPr/>
        </p:nvSpPr>
        <p:spPr>
          <a:xfrm>
            <a:off x="553304" y="2738217"/>
            <a:ext cx="534130" cy="83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6" name="레일"/>
          <p:cNvSpPr/>
          <p:nvPr/>
        </p:nvSpPr>
        <p:spPr>
          <a:xfrm>
            <a:off x="553304" y="3569087"/>
            <a:ext cx="534130" cy="6423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레일 쐐기"/>
          <p:cNvSpPr/>
          <p:nvPr/>
        </p:nvSpPr>
        <p:spPr>
          <a:xfrm>
            <a:off x="536869" y="3571826"/>
            <a:ext cx="580696" cy="142434"/>
          </a:xfrm>
          <a:custGeom>
            <a:avLst/>
            <a:gdLst/>
            <a:ahLst/>
            <a:cxnLst/>
            <a:rect l="l" t="t" r="r" b="b"/>
            <a:pathLst>
              <a:path w="580696" h="142434">
                <a:moveTo>
                  <a:pt x="0" y="0"/>
                </a:moveTo>
                <a:lnTo>
                  <a:pt x="580696" y="0"/>
                </a:lnTo>
                <a:lnTo>
                  <a:pt x="290348" y="142434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53304" y="4211413"/>
            <a:ext cx="534130" cy="66971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29" name="레일 쐐기"/>
          <p:cNvSpPr/>
          <p:nvPr/>
        </p:nvSpPr>
        <p:spPr>
          <a:xfrm>
            <a:off x="536869" y="4201826"/>
            <a:ext cx="580696" cy="142434"/>
          </a:xfrm>
          <a:custGeom>
            <a:avLst/>
            <a:gdLst/>
            <a:ahLst/>
            <a:cxnLst/>
            <a:rect l="l" t="t" r="r" b="b"/>
            <a:pathLst>
              <a:path w="580696" h="142434">
                <a:moveTo>
                  <a:pt x="0" y="0"/>
                </a:moveTo>
                <a:lnTo>
                  <a:pt x="580696" y="0"/>
                </a:lnTo>
                <a:lnTo>
                  <a:pt x="290348" y="14243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56598" y="2738217"/>
            <a:ext cx="2788663" cy="228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1" name="머리칸"/>
          <p:cNvSpPr/>
          <p:nvPr/>
        </p:nvSpPr>
        <p:spPr>
          <a:xfrm>
            <a:off x="4004609" y="2738217"/>
            <a:ext cx="2804870" cy="228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2" name="칸 본문"/>
          <p:cNvSpPr txBox="1"/>
          <p:nvPr/>
        </p:nvSpPr>
        <p:spPr>
          <a:xfrm>
            <a:off x="1161391" y="2980174"/>
            <a:ext cx="2821304" cy="59165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노동기본권 보장 이행(국정과제 94)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개정에 따른 노사협력·역량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개정 등 저출산 해결 노력 요구</a:t>
            </a:r>
          </a:p>
        </p:txBody>
      </p:sp>
      <p:sp>
        <p:nvSpPr>
          <p:cNvPr id="33" name="칸 본문"/>
          <p:cNvSpPr txBox="1"/>
          <p:nvPr/>
        </p:nvSpPr>
        <p:spPr>
          <a:xfrm>
            <a:off x="4004609" y="2980174"/>
            <a:ext cx="2821304" cy="59165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취약직종의 처우개선 노력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현안해결을 위한 노사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성과 요구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993652" y="3013043"/>
            <a:ext cx="0" cy="525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태그"/>
          <p:cNvSpPr/>
          <p:nvPr/>
        </p:nvSpPr>
        <p:spPr>
          <a:xfrm>
            <a:off x="1156598" y="3607435"/>
            <a:ext cx="1060728" cy="169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6" name="태그 설명"/>
          <p:cNvSpPr txBox="1"/>
          <p:nvPr/>
        </p:nvSpPr>
        <p:spPr>
          <a:xfrm>
            <a:off x="2273478" y="3593739"/>
            <a:ext cx="4541478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7" name="태그"/>
          <p:cNvSpPr/>
          <p:nvPr/>
        </p:nvSpPr>
        <p:spPr>
          <a:xfrm>
            <a:off x="1156598" y="3804652"/>
            <a:ext cx="1060728" cy="169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8" name="태그 설명"/>
          <p:cNvSpPr txBox="1"/>
          <p:nvPr/>
        </p:nvSpPr>
        <p:spPr>
          <a:xfrm>
            <a:off x="2273478" y="3790957"/>
            <a:ext cx="4541478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목표를 수행하는 동반자로서 긍정의 노사관계 강화</a:t>
            </a:r>
          </a:p>
        </p:txBody>
      </p:sp>
      <p:sp>
        <p:nvSpPr>
          <p:cNvPr id="39" name="태그"/>
          <p:cNvSpPr/>
          <p:nvPr/>
        </p:nvSpPr>
        <p:spPr>
          <a:xfrm>
            <a:off x="1156598" y="3996391"/>
            <a:ext cx="1060728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40" name="태그 설명"/>
          <p:cNvSpPr txBox="1"/>
          <p:nvPr/>
        </p:nvSpPr>
        <p:spPr>
          <a:xfrm>
            <a:off x="2273478" y="3988174"/>
            <a:ext cx="4541478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근로자의 노동 존중 실현과 위한 복리후생제도 개선 등 근로환경 개선 추진</a:t>
            </a:r>
          </a:p>
        </p:txBody>
      </p:sp>
      <p:sp>
        <p:nvSpPr>
          <p:cNvPr id="41" name="단계"/>
          <p:cNvSpPr/>
          <p:nvPr/>
        </p:nvSpPr>
        <p:spPr>
          <a:xfrm>
            <a:off x="1156598" y="4211413"/>
            <a:ext cx="1905750" cy="23145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1080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2" name="단계"/>
          <p:cNvSpPr/>
          <p:nvPr/>
        </p:nvSpPr>
        <p:spPr>
          <a:xfrm>
            <a:off x="3062348" y="4211413"/>
            <a:ext cx="1931087" cy="231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21600" rIns="1080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3" name="단계"/>
          <p:cNvSpPr/>
          <p:nvPr/>
        </p:nvSpPr>
        <p:spPr>
          <a:xfrm>
            <a:off x="4993435" y="4211413"/>
            <a:ext cx="1816043" cy="23145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1600" rIns="1080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4" name="단계 화살표"/>
          <p:cNvSpPr/>
          <p:nvPr/>
        </p:nvSpPr>
        <p:spPr>
          <a:xfrm>
            <a:off x="2942458" y="4211413"/>
            <a:ext cx="214074" cy="23145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51BC"/>
                </a:solidFill>
                <a:latin typeface="Pretendard"/>
                <a:ea typeface="Pretendard"/>
              </a:rPr>
              <a:t>→</a:t>
            </a:r>
          </a:p>
        </p:txBody>
      </p:sp>
      <p:sp>
        <p:nvSpPr>
          <p:cNvPr id="45" name="단계 화살표"/>
          <p:cNvSpPr/>
          <p:nvPr/>
        </p:nvSpPr>
        <p:spPr>
          <a:xfrm>
            <a:off x="4814759" y="4211413"/>
            <a:ext cx="221817" cy="23145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51BC"/>
                </a:solidFill>
                <a:latin typeface="Pretendard"/>
                <a:ea typeface="Pretendard"/>
              </a:rPr>
              <a:t>→</a:t>
            </a:r>
          </a:p>
        </p:txBody>
      </p:sp>
      <p:sp>
        <p:nvSpPr>
          <p:cNvPr id="46" name="칸 본문"/>
          <p:cNvSpPr txBox="1"/>
          <p:nvPr/>
        </p:nvSpPr>
        <p:spPr>
          <a:xfrm>
            <a:off x="1161391" y="4470261"/>
            <a:ext cx="1873565" cy="405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7" name="칸 본문"/>
          <p:cNvSpPr txBox="1"/>
          <p:nvPr/>
        </p:nvSpPr>
        <p:spPr>
          <a:xfrm>
            <a:off x="3056870" y="4470261"/>
            <a:ext cx="1906435" cy="405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045913" y="4503130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 txBox="1"/>
          <p:nvPr/>
        </p:nvSpPr>
        <p:spPr>
          <a:xfrm>
            <a:off x="4985217" y="4470261"/>
            <a:ext cx="1840696" cy="405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974261" y="4503130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브래킷"/>
          <p:cNvSpPr/>
          <p:nvPr/>
        </p:nvSpPr>
        <p:spPr>
          <a:xfrm>
            <a:off x="1653439" y="4881130"/>
            <a:ext cx="4601187" cy="210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브래킷 안"/>
          <p:cNvSpPr/>
          <p:nvPr/>
        </p:nvSpPr>
        <p:spPr>
          <a:xfrm>
            <a:off x="1742087" y="4881130"/>
            <a:ext cx="4512539" cy="13421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브래킷 막대"/>
          <p:cNvSpPr/>
          <p:nvPr/>
        </p:nvSpPr>
        <p:spPr>
          <a:xfrm>
            <a:off x="3657930" y="5015348"/>
            <a:ext cx="715366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브래킷 끝"/>
          <p:cNvSpPr/>
          <p:nvPr/>
        </p:nvSpPr>
        <p:spPr>
          <a:xfrm rot="10800000">
            <a:off x="3945261" y="5092043"/>
            <a:ext cx="138783" cy="32870"/>
          </a:xfrm>
          <a:prstGeom prst="triangle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라벨 박스"/>
          <p:cNvSpPr/>
          <p:nvPr/>
        </p:nvSpPr>
        <p:spPr>
          <a:xfrm>
            <a:off x="553304" y="5092043"/>
            <a:ext cx="6256174" cy="28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553304" y="5092043"/>
            <a:ext cx="603293" cy="28487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7" name="추진 목표 바"/>
          <p:cNvSpPr/>
          <p:nvPr/>
        </p:nvSpPr>
        <p:spPr>
          <a:xfrm>
            <a:off x="1156598" y="5124913"/>
            <a:ext cx="5652880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추진 목표"/>
          <p:cNvSpPr txBox="1"/>
          <p:nvPr/>
        </p:nvSpPr>
        <p:spPr>
          <a:xfrm>
            <a:off x="1188783" y="5127652"/>
            <a:ext cx="5609739" cy="21913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59" name="라벨 박스"/>
          <p:cNvSpPr/>
          <p:nvPr/>
        </p:nvSpPr>
        <p:spPr>
          <a:xfrm>
            <a:off x="553304" y="5434435"/>
            <a:ext cx="6256174" cy="287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레일"/>
          <p:cNvSpPr/>
          <p:nvPr/>
        </p:nvSpPr>
        <p:spPr>
          <a:xfrm>
            <a:off x="553304" y="5434435"/>
            <a:ext cx="603293" cy="287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1" name="칸 본문"/>
          <p:cNvSpPr txBox="1"/>
          <p:nvPr/>
        </p:nvSpPr>
        <p:spPr>
          <a:xfrm>
            <a:off x="1161391" y="5450870"/>
            <a:ext cx="1884522" cy="25200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운영으로 리스크 해결</a:t>
            </a:r>
          </a:p>
        </p:txBody>
      </p:sp>
      <p:sp>
        <p:nvSpPr>
          <p:cNvPr id="62" name="칸 본문"/>
          <p:cNvSpPr txBox="1"/>
          <p:nvPr/>
        </p:nvSpPr>
        <p:spPr>
          <a:xfrm>
            <a:off x="3067826" y="5450870"/>
            <a:ext cx="1851652" cy="25200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3056870" y="5483739"/>
            <a:ext cx="0" cy="186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 txBox="1"/>
          <p:nvPr/>
        </p:nvSpPr>
        <p:spPr>
          <a:xfrm>
            <a:off x="4941391" y="5450870"/>
            <a:ext cx="1879043" cy="25200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930435" y="5483739"/>
            <a:ext cx="0" cy="186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라벨 박스"/>
          <p:cNvSpPr/>
          <p:nvPr/>
        </p:nvSpPr>
        <p:spPr>
          <a:xfrm>
            <a:off x="553304" y="5782304"/>
            <a:ext cx="6256174" cy="632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"/>
          <p:cNvSpPr/>
          <p:nvPr/>
        </p:nvSpPr>
        <p:spPr>
          <a:xfrm>
            <a:off x="553304" y="5782304"/>
            <a:ext cx="603293" cy="63273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8" name="칸 본문"/>
          <p:cNvSpPr txBox="1"/>
          <p:nvPr/>
        </p:nvSpPr>
        <p:spPr>
          <a:xfrm>
            <a:off x="1161391" y="5796000"/>
            <a:ext cx="1884522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노사협의체(정기·상시)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선임·현안문제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 실시</a:t>
            </a:r>
          </a:p>
        </p:txBody>
      </p:sp>
      <p:sp>
        <p:nvSpPr>
          <p:cNvPr id="69" name="칸 본문"/>
          <p:cNvSpPr txBox="1"/>
          <p:nvPr/>
        </p:nvSpPr>
        <p:spPr>
          <a:xfrm>
            <a:off x="3067826" y="5796000"/>
            <a:ext cx="1851652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구축·정착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교육·학습협의체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056870" y="58288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 txBox="1"/>
          <p:nvPr/>
        </p:nvSpPr>
        <p:spPr>
          <a:xfrm>
            <a:off x="4941391" y="5796000"/>
            <a:ext cx="187904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개정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교통직·실무직 처우개선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 등 근로환경 개선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4930435" y="58288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라벨 박스"/>
          <p:cNvSpPr/>
          <p:nvPr/>
        </p:nvSpPr>
        <p:spPr>
          <a:xfrm>
            <a:off x="553304" y="6478043"/>
            <a:ext cx="6256174" cy="44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"/>
          <p:cNvSpPr/>
          <p:nvPr/>
        </p:nvSpPr>
        <p:spPr>
          <a:xfrm>
            <a:off x="553304" y="6478043"/>
            <a:ext cx="603293" cy="44373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75" name="칸 본문"/>
          <p:cNvSpPr txBox="1"/>
          <p:nvPr/>
        </p:nvSpPr>
        <p:spPr>
          <a:xfrm>
            <a:off x="1161391" y="6491739"/>
            <a:ext cx="1884522" cy="410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 등</a:t>
            </a:r>
          </a:p>
        </p:txBody>
      </p:sp>
      <p:sp>
        <p:nvSpPr>
          <p:cNvPr id="76" name="칸 본문"/>
          <p:cNvSpPr txBox="1"/>
          <p:nvPr/>
        </p:nvSpPr>
        <p:spPr>
          <a:xfrm>
            <a:off x="3067826" y="6491739"/>
            <a:ext cx="1851652" cy="410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 등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3056870" y="6524609"/>
            <a:ext cx="0" cy="34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칸 본문"/>
          <p:cNvSpPr txBox="1"/>
          <p:nvPr/>
        </p:nvSpPr>
        <p:spPr>
          <a:xfrm>
            <a:off x="4941391" y="6491739"/>
            <a:ext cx="1879043" cy="410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TF·안전위원회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4930435" y="6524609"/>
            <a:ext cx="0" cy="34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라벨 박스"/>
          <p:cNvSpPr/>
          <p:nvPr/>
        </p:nvSpPr>
        <p:spPr>
          <a:xfrm>
            <a:off x="553304" y="6979304"/>
            <a:ext cx="6256174" cy="44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레일"/>
          <p:cNvSpPr/>
          <p:nvPr/>
        </p:nvSpPr>
        <p:spPr>
          <a:xfrm>
            <a:off x="553304" y="6979304"/>
            <a:ext cx="603293" cy="44373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2" name="칸 본문"/>
          <p:cNvSpPr txBox="1"/>
          <p:nvPr/>
        </p:nvSpPr>
        <p:spPr>
          <a:xfrm>
            <a:off x="1161391" y="6995739"/>
            <a:ext cx="1884522" cy="410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안건 일치율</a:t>
            </a:r>
          </a:p>
        </p:txBody>
      </p:sp>
      <p:sp>
        <p:nvSpPr>
          <p:cNvPr id="83" name="칸 본문"/>
          <p:cNvSpPr txBox="1"/>
          <p:nvPr/>
        </p:nvSpPr>
        <p:spPr>
          <a:xfrm>
            <a:off x="3067826" y="6995739"/>
            <a:ext cx="1851652" cy="410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노사역량지수 설문조사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3056870" y="7028609"/>
            <a:ext cx="0" cy="34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 txBox="1"/>
          <p:nvPr/>
        </p:nvSpPr>
        <p:spPr>
          <a:xfrm>
            <a:off x="4941391" y="6995739"/>
            <a:ext cx="1879043" cy="410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설문조사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4930435" y="7028609"/>
            <a:ext cx="0" cy="34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소제목"/>
          <p:cNvSpPr txBox="1"/>
          <p:nvPr/>
        </p:nvSpPr>
        <p:spPr>
          <a:xfrm>
            <a:off x="536870" y="757095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소통·공동 대응으로 분야별 리스크 관리</a:t>
            </a:r>
          </a:p>
        </p:txBody>
      </p:sp>
      <p:sp>
        <p:nvSpPr>
          <p:cNvPr id="88" name="태그칩"/>
          <p:cNvSpPr/>
          <p:nvPr/>
        </p:nvSpPr>
        <p:spPr>
          <a:xfrm>
            <a:off x="4730478" y="7603826"/>
            <a:ext cx="567483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9" name="패널 외곽"/>
          <p:cNvSpPr/>
          <p:nvPr/>
        </p:nvSpPr>
        <p:spPr>
          <a:xfrm>
            <a:off x="553304" y="7844870"/>
            <a:ext cx="3104626" cy="18489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패널 머리"/>
          <p:cNvSpPr/>
          <p:nvPr/>
        </p:nvSpPr>
        <p:spPr>
          <a:xfrm>
            <a:off x="553304" y="7844870"/>
            <a:ext cx="3104626" cy="232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1" name="레일"/>
          <p:cNvSpPr/>
          <p:nvPr/>
        </p:nvSpPr>
        <p:spPr>
          <a:xfrm>
            <a:off x="553304" y="8094130"/>
            <a:ext cx="603293" cy="39443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92" name="패널 본문"/>
          <p:cNvSpPr txBox="1"/>
          <p:nvPr/>
        </p:nvSpPr>
        <p:spPr>
          <a:xfrm>
            <a:off x="1243565" y="8102348"/>
            <a:ext cx="2383043" cy="383478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243565" y="8485826"/>
            <a:ext cx="236113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53304" y="8488565"/>
            <a:ext cx="603293" cy="39169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95" name="패널 본문"/>
          <p:cNvSpPr txBox="1"/>
          <p:nvPr/>
        </p:nvSpPr>
        <p:spPr>
          <a:xfrm>
            <a:off x="1243565" y="8485826"/>
            <a:ext cx="2383043" cy="39443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1243565" y="8880261"/>
            <a:ext cx="236113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53304" y="8880261"/>
            <a:ext cx="603293" cy="39169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98" name="패널 본문"/>
          <p:cNvSpPr txBox="1"/>
          <p:nvPr/>
        </p:nvSpPr>
        <p:spPr>
          <a:xfrm>
            <a:off x="1243565" y="8880261"/>
            <a:ext cx="2383043" cy="388957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243565" y="9269217"/>
            <a:ext cx="236113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레일"/>
          <p:cNvSpPr/>
          <p:nvPr/>
        </p:nvSpPr>
        <p:spPr>
          <a:xfrm>
            <a:off x="553304" y="9271957"/>
            <a:ext cx="603293" cy="388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01" name="패널 본문"/>
          <p:cNvSpPr txBox="1"/>
          <p:nvPr/>
        </p:nvSpPr>
        <p:spPr>
          <a:xfrm>
            <a:off x="1243565" y="9269217"/>
            <a:ext cx="2383043" cy="39443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102" name="패널 외곽"/>
          <p:cNvSpPr/>
          <p:nvPr/>
        </p:nvSpPr>
        <p:spPr>
          <a:xfrm>
            <a:off x="3708783" y="7844870"/>
            <a:ext cx="3100696" cy="18489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패널 머리"/>
          <p:cNvSpPr/>
          <p:nvPr/>
        </p:nvSpPr>
        <p:spPr>
          <a:xfrm>
            <a:off x="3708783" y="7844870"/>
            <a:ext cx="3100696" cy="232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104" name="레일"/>
          <p:cNvSpPr/>
          <p:nvPr/>
        </p:nvSpPr>
        <p:spPr>
          <a:xfrm>
            <a:off x="3741652" y="8094130"/>
            <a:ext cx="846049" cy="39443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105" name="패널 본문"/>
          <p:cNvSpPr txBox="1"/>
          <p:nvPr/>
        </p:nvSpPr>
        <p:spPr>
          <a:xfrm>
            <a:off x="4596261" y="8102348"/>
            <a:ext cx="2207739" cy="383478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4596261" y="8485826"/>
            <a:ext cx="218582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레일"/>
          <p:cNvSpPr/>
          <p:nvPr/>
        </p:nvSpPr>
        <p:spPr>
          <a:xfrm>
            <a:off x="3741652" y="8488565"/>
            <a:ext cx="846049" cy="39169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108" name="패널 본문"/>
          <p:cNvSpPr txBox="1"/>
          <p:nvPr/>
        </p:nvSpPr>
        <p:spPr>
          <a:xfrm>
            <a:off x="4596261" y="8485826"/>
            <a:ext cx="2207739" cy="39443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4596261" y="8880261"/>
            <a:ext cx="218582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레일"/>
          <p:cNvSpPr/>
          <p:nvPr/>
        </p:nvSpPr>
        <p:spPr>
          <a:xfrm>
            <a:off x="3741652" y="8880261"/>
            <a:ext cx="846049" cy="39169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111" name="패널 본문"/>
          <p:cNvSpPr txBox="1"/>
          <p:nvPr/>
        </p:nvSpPr>
        <p:spPr>
          <a:xfrm>
            <a:off x="4596261" y="8880261"/>
            <a:ext cx="2207739" cy="388957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4596261" y="9269217"/>
            <a:ext cx="218582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3" name="레일"/>
          <p:cNvSpPr/>
          <p:nvPr/>
        </p:nvSpPr>
        <p:spPr>
          <a:xfrm>
            <a:off x="3741652" y="9271957"/>
            <a:ext cx="846049" cy="388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114" name="패널 본문"/>
          <p:cNvSpPr txBox="1"/>
          <p:nvPr/>
        </p:nvSpPr>
        <p:spPr>
          <a:xfrm>
            <a:off x="4596261" y="9269217"/>
            <a:ext cx="2207739" cy="39443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115" name="핵심성과 박스"/>
          <p:cNvSpPr/>
          <p:nvPr/>
        </p:nvSpPr>
        <p:spPr>
          <a:xfrm>
            <a:off x="553304" y="9786913"/>
            <a:ext cx="6256174" cy="287609"/>
          </a:xfrm>
          <a:prstGeom prst="rect">
            <a:avLst/>
          </a:prstGeom>
          <a:solidFill>
            <a:srgbClr val="FFFFFF"/>
          </a:solidFill>
          <a:ln w="285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핵심성과 라벨"/>
          <p:cNvSpPr/>
          <p:nvPr/>
        </p:nvSpPr>
        <p:spPr>
          <a:xfrm>
            <a:off x="553304" y="9786913"/>
            <a:ext cx="698478" cy="257478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17" name="핵심성과 문구"/>
          <p:cNvSpPr txBox="1"/>
          <p:nvPr/>
        </p:nvSpPr>
        <p:spPr>
          <a:xfrm>
            <a:off x="1314783" y="9789652"/>
            <a:ext cx="5456348" cy="268435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4" name="번호 띠"/>
          <p:cNvSpPr/>
          <p:nvPr/>
        </p:nvSpPr>
        <p:spPr>
          <a:xfrm>
            <a:off x="723130" y="766957"/>
            <a:ext cx="6286304" cy="288522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번호"/>
          <p:cNvSpPr txBox="1"/>
          <p:nvPr/>
        </p:nvSpPr>
        <p:spPr>
          <a:xfrm>
            <a:off x="745043" y="777913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 txBox="1"/>
          <p:nvPr/>
        </p:nvSpPr>
        <p:spPr>
          <a:xfrm>
            <a:off x="1369565" y="799826"/>
            <a:ext cx="5582348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9" name="소제목"/>
          <p:cNvSpPr txBox="1"/>
          <p:nvPr/>
        </p:nvSpPr>
        <p:spPr>
          <a:xfrm>
            <a:off x="723130" y="1188783"/>
            <a:ext cx="6294522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0" name="태그칩"/>
          <p:cNvSpPr/>
          <p:nvPr/>
        </p:nvSpPr>
        <p:spPr>
          <a:xfrm>
            <a:off x="3968658" y="1205217"/>
            <a:ext cx="31401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표 외곽"/>
          <p:cNvSpPr/>
          <p:nvPr/>
        </p:nvSpPr>
        <p:spPr>
          <a:xfrm>
            <a:off x="723130" y="1445713"/>
            <a:ext cx="4744174" cy="21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23130" y="1445713"/>
            <a:ext cx="581609" cy="482635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3" name="레일"/>
          <p:cNvSpPr/>
          <p:nvPr/>
        </p:nvSpPr>
        <p:spPr>
          <a:xfrm>
            <a:off x="723130" y="1928348"/>
            <a:ext cx="581609" cy="742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4" name="레일"/>
          <p:cNvSpPr/>
          <p:nvPr/>
        </p:nvSpPr>
        <p:spPr>
          <a:xfrm>
            <a:off x="723130" y="2695304"/>
            <a:ext cx="581609" cy="917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5" name="현황"/>
          <p:cNvSpPr txBox="1"/>
          <p:nvPr/>
        </p:nvSpPr>
        <p:spPr>
          <a:xfrm>
            <a:off x="1331217" y="1468174"/>
            <a:ext cx="4108696" cy="43826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불가피한 초과근무 등 민원담당 직원 근로환경 저하</a:t>
            </a:r>
          </a:p>
        </p:txBody>
      </p:sp>
      <p:sp>
        <p:nvSpPr>
          <p:cNvPr id="16" name="머리칸"/>
          <p:cNvSpPr/>
          <p:nvPr/>
        </p:nvSpPr>
        <p:spPr>
          <a:xfrm>
            <a:off x="1339435" y="1928348"/>
            <a:ext cx="2029696" cy="257478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7" name="머리칸"/>
          <p:cNvSpPr/>
          <p:nvPr/>
        </p:nvSpPr>
        <p:spPr>
          <a:xfrm>
            <a:off x="3440348" y="1928348"/>
            <a:ext cx="1959652" cy="257478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8" name="칸 본문"/>
          <p:cNvSpPr txBox="1"/>
          <p:nvPr/>
        </p:nvSpPr>
        <p:spPr>
          <a:xfrm>
            <a:off x="1342174" y="2207739"/>
            <a:ext cx="2032435" cy="44373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19" name="칸 본문"/>
          <p:cNvSpPr txBox="1"/>
          <p:nvPr/>
        </p:nvSpPr>
        <p:spPr>
          <a:xfrm>
            <a:off x="3396522" y="2207739"/>
            <a:ext cx="2032435" cy="44373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385565" y="2240609"/>
            <a:ext cx="0" cy="37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단계"/>
          <p:cNvSpPr/>
          <p:nvPr/>
        </p:nvSpPr>
        <p:spPr>
          <a:xfrm>
            <a:off x="1339435" y="2695304"/>
            <a:ext cx="1121569" cy="232826"/>
          </a:xfrm>
          <a:prstGeom prst="homePlate">
            <a:avLst>
              <a:gd name="adj" fmla="val 32000"/>
            </a:avLst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792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2" name="단계"/>
          <p:cNvSpPr/>
          <p:nvPr/>
        </p:nvSpPr>
        <p:spPr>
          <a:xfrm>
            <a:off x="2311826" y="2695304"/>
            <a:ext cx="1128522" cy="232826"/>
          </a:xfrm>
          <a:prstGeom prst="chevron">
            <a:avLst>
              <a:gd name="adj" fmla="val 32000"/>
            </a:avLst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792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3" name="단계"/>
          <p:cNvSpPr/>
          <p:nvPr/>
        </p:nvSpPr>
        <p:spPr>
          <a:xfrm>
            <a:off x="3352696" y="2695304"/>
            <a:ext cx="1120304" cy="232826"/>
          </a:xfrm>
          <a:prstGeom prst="chevron">
            <a:avLst>
              <a:gd name="adj" fmla="val 32000"/>
            </a:avLst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792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381696" y="2695304"/>
            <a:ext cx="1085609" cy="232826"/>
          </a:xfrm>
          <a:prstGeom prst="chevron">
            <a:avLst>
              <a:gd name="adj" fmla="val 32000"/>
            </a:avLst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92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25" name="칸 본문"/>
          <p:cNvSpPr txBox="1"/>
          <p:nvPr/>
        </p:nvSpPr>
        <p:spPr>
          <a:xfrm>
            <a:off x="1342174" y="2958261"/>
            <a:ext cx="1057304" cy="59713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26" name="칸 본문"/>
          <p:cNvSpPr txBox="1"/>
          <p:nvPr/>
        </p:nvSpPr>
        <p:spPr>
          <a:xfrm>
            <a:off x="2421391" y="2958261"/>
            <a:ext cx="975130" cy="59713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410435" y="2991130"/>
            <a:ext cx="0" cy="53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 txBox="1"/>
          <p:nvPr/>
        </p:nvSpPr>
        <p:spPr>
          <a:xfrm>
            <a:off x="3418435" y="2958261"/>
            <a:ext cx="969652" cy="59713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407478" y="2991130"/>
            <a:ext cx="0" cy="53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 txBox="1"/>
          <p:nvPr/>
        </p:nvSpPr>
        <p:spPr>
          <a:xfrm>
            <a:off x="4410000" y="2958261"/>
            <a:ext cx="1018957" cy="59713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399043" y="2991130"/>
            <a:ext cx="0" cy="53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브레이스"/>
          <p:cNvSpPr/>
          <p:nvPr/>
        </p:nvSpPr>
        <p:spPr>
          <a:xfrm>
            <a:off x="5467304" y="1572261"/>
            <a:ext cx="175304" cy="1944783"/>
          </a:xfrm>
          <a:prstGeom prst="rightBrace">
            <a:avLst/>
          </a:prstGeom>
          <a:noFill/>
          <a:ln w="317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패널 머리"/>
          <p:cNvSpPr/>
          <p:nvPr/>
        </p:nvSpPr>
        <p:spPr>
          <a:xfrm>
            <a:off x="5653565" y="1445713"/>
            <a:ext cx="1355870" cy="2361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성과 패널"/>
          <p:cNvSpPr/>
          <p:nvPr/>
        </p:nvSpPr>
        <p:spPr>
          <a:xfrm>
            <a:off x="5653565" y="1681826"/>
            <a:ext cx="1355870" cy="1931087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패널 본문"/>
          <p:cNvSpPr txBox="1"/>
          <p:nvPr/>
        </p:nvSpPr>
        <p:spPr>
          <a:xfrm>
            <a:off x="5675478" y="1709217"/>
            <a:ext cx="1320261" cy="1884522"/>
          </a:xfrm>
          <a:prstGeom prst="rect">
            <a:avLst/>
          </a:prstGeom>
          <a:noFill/>
        </p:spPr>
        <p:txBody>
          <a:bodyPr wrap="square" lIns="54000" tIns="18000" rIns="36000" bIns="180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2600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36" name="소제목"/>
          <p:cNvSpPr txBox="1"/>
          <p:nvPr/>
        </p:nvSpPr>
        <p:spPr>
          <a:xfrm>
            <a:off x="723130" y="3747130"/>
            <a:ext cx="6294522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37" name="태그칩"/>
          <p:cNvSpPr/>
          <p:nvPr/>
        </p:nvSpPr>
        <p:spPr>
          <a:xfrm>
            <a:off x="3968658" y="3785478"/>
            <a:ext cx="575560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4031087"/>
            <a:ext cx="6286304" cy="246887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23130" y="4031087"/>
            <a:ext cx="581609" cy="765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0" name="레일"/>
          <p:cNvSpPr/>
          <p:nvPr/>
        </p:nvSpPr>
        <p:spPr>
          <a:xfrm>
            <a:off x="723130" y="4818130"/>
            <a:ext cx="581609" cy="728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41" name="레일"/>
          <p:cNvSpPr/>
          <p:nvPr/>
        </p:nvSpPr>
        <p:spPr>
          <a:xfrm>
            <a:off x="723130" y="5571391"/>
            <a:ext cx="581609" cy="928565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42" name="머리칸"/>
          <p:cNvSpPr/>
          <p:nvPr/>
        </p:nvSpPr>
        <p:spPr>
          <a:xfrm>
            <a:off x="1339435" y="4031087"/>
            <a:ext cx="2848984" cy="269348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43" name="머리칸"/>
          <p:cNvSpPr/>
          <p:nvPr/>
        </p:nvSpPr>
        <p:spPr>
          <a:xfrm>
            <a:off x="4188419" y="4031087"/>
            <a:ext cx="2788146" cy="269348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44" name="칸 본문"/>
          <p:cNvSpPr txBox="1"/>
          <p:nvPr/>
        </p:nvSpPr>
        <p:spPr>
          <a:xfrm>
            <a:off x="1342174" y="4316870"/>
            <a:ext cx="2804870" cy="47113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노사 협력 강화 공감대 형성</a:t>
            </a:r>
          </a:p>
        </p:txBody>
      </p:sp>
      <p:sp>
        <p:nvSpPr>
          <p:cNvPr id="45" name="칸 본문"/>
          <p:cNvSpPr txBox="1"/>
          <p:nvPr/>
        </p:nvSpPr>
        <p:spPr>
          <a:xfrm>
            <a:off x="4168957" y="4316870"/>
            <a:ext cx="2799391" cy="47113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동의를 받은 1명을 비상임이사로 포함'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158000" y="4349739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머리칸"/>
          <p:cNvSpPr/>
          <p:nvPr/>
        </p:nvSpPr>
        <p:spPr>
          <a:xfrm>
            <a:off x="1339435" y="4818130"/>
            <a:ext cx="2848984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명문화(단체협약 제60조)</a:t>
            </a:r>
          </a:p>
        </p:txBody>
      </p:sp>
      <p:sp>
        <p:nvSpPr>
          <p:cNvPr id="48" name="머리칸"/>
          <p:cNvSpPr/>
          <p:nvPr/>
        </p:nvSpPr>
        <p:spPr>
          <a:xfrm>
            <a:off x="4188419" y="4818130"/>
            <a:ext cx="2788146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49" name="칸 본문"/>
          <p:cNvSpPr txBox="1"/>
          <p:nvPr/>
        </p:nvSpPr>
        <p:spPr>
          <a:xfrm>
            <a:off x="1342174" y="5067391"/>
            <a:ext cx="2804870" cy="46565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노동이사제의 적극 시행과 직무 수행 지원, 불이익 처분 및 대우 금지 등 조항 마련</a:t>
            </a:r>
          </a:p>
        </p:txBody>
      </p:sp>
      <p:sp>
        <p:nvSpPr>
          <p:cNvPr id="50" name="칸 본문"/>
          <p:cNvSpPr txBox="1"/>
          <p:nvPr/>
        </p:nvSpPr>
        <p:spPr>
          <a:xfrm>
            <a:off x="4168957" y="5067391"/>
            <a:ext cx="2799391" cy="46565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 시 업무수행·역량강화를 위한 교육과정 지원 및 소통채널 운영 협의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158000" y="5100261"/>
            <a:ext cx="0" cy="39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단계"/>
          <p:cNvSpPr/>
          <p:nvPr/>
        </p:nvSpPr>
        <p:spPr>
          <a:xfrm>
            <a:off x="1339435" y="5571391"/>
            <a:ext cx="1406087" cy="232826"/>
          </a:xfrm>
          <a:prstGeom prst="homePlate">
            <a:avLst>
              <a:gd name="adj" fmla="val 32000"/>
            </a:avLst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792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53" name="단계"/>
          <p:cNvSpPr/>
          <p:nvPr/>
        </p:nvSpPr>
        <p:spPr>
          <a:xfrm>
            <a:off x="2646000" y="5571391"/>
            <a:ext cx="1490087" cy="232826"/>
          </a:xfrm>
          <a:prstGeom prst="chevron">
            <a:avLst>
              <a:gd name="adj" fmla="val 32000"/>
            </a:avLst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792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54" name="단계"/>
          <p:cNvSpPr/>
          <p:nvPr/>
        </p:nvSpPr>
        <p:spPr>
          <a:xfrm>
            <a:off x="4040217" y="5571391"/>
            <a:ext cx="1547194" cy="232826"/>
          </a:xfrm>
          <a:prstGeom prst="chevron">
            <a:avLst>
              <a:gd name="adj" fmla="val 32000"/>
            </a:avLst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792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55" name="단계"/>
          <p:cNvSpPr/>
          <p:nvPr/>
        </p:nvSpPr>
        <p:spPr>
          <a:xfrm>
            <a:off x="5467304" y="5571391"/>
            <a:ext cx="1509261" cy="232826"/>
          </a:xfrm>
          <a:prstGeom prst="chevron">
            <a:avLst>
              <a:gd name="adj" fmla="val 32000"/>
            </a:avLst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92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56" name="칸 본문"/>
          <p:cNvSpPr txBox="1"/>
          <p:nvPr/>
        </p:nvSpPr>
        <p:spPr>
          <a:xfrm>
            <a:off x="1342174" y="5828870"/>
            <a:ext cx="1287391" cy="662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공모를 위한 추진위원회 구성('25.11.25.)</a:t>
            </a:r>
          </a:p>
        </p:txBody>
      </p:sp>
      <p:sp>
        <p:nvSpPr>
          <p:cNvPr id="57" name="칸 본문"/>
          <p:cNvSpPr txBox="1"/>
          <p:nvPr/>
        </p:nvSpPr>
        <p:spPr>
          <a:xfrm>
            <a:off x="2651478" y="5828870"/>
            <a:ext cx="1418870" cy="662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2640522" y="5861739"/>
            <a:ext cx="0" cy="597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 txBox="1"/>
          <p:nvPr/>
        </p:nvSpPr>
        <p:spPr>
          <a:xfrm>
            <a:off x="4092261" y="5828870"/>
            <a:ext cx="1429826" cy="662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후보자에 대한 추진위원회 심사 실시('26.1.13.)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081304" y="5861739"/>
            <a:ext cx="0" cy="597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 txBox="1"/>
          <p:nvPr/>
        </p:nvSpPr>
        <p:spPr>
          <a:xfrm>
            <a:off x="5544000" y="5828870"/>
            <a:ext cx="1424348" cy="662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후보자에 대한 경찰청장 임명('26. 상반기)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5533043" y="5861739"/>
            <a:ext cx="0" cy="597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추진성과 라벨"/>
          <p:cNvSpPr/>
          <p:nvPr/>
        </p:nvSpPr>
        <p:spPr>
          <a:xfrm>
            <a:off x="723130" y="6582130"/>
            <a:ext cx="581609" cy="250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추진성과 박스"/>
          <p:cNvSpPr/>
          <p:nvPr/>
        </p:nvSpPr>
        <p:spPr>
          <a:xfrm>
            <a:off x="1304739" y="6582130"/>
            <a:ext cx="5704696" cy="250174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추진성과 문구"/>
          <p:cNvSpPr txBox="1"/>
          <p:nvPr/>
        </p:nvSpPr>
        <p:spPr>
          <a:xfrm>
            <a:off x="1380522" y="6584870"/>
            <a:ext cx="5604261" cy="235565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상호 협력·소통으로 3여 년 만에 노동이사 추천 완료('26. 상반기 선임 예정)</a:t>
            </a:r>
          </a:p>
        </p:txBody>
      </p:sp>
      <p:sp>
        <p:nvSpPr>
          <p:cNvPr id="66" name="소제목"/>
          <p:cNvSpPr txBox="1"/>
          <p:nvPr/>
        </p:nvSpPr>
        <p:spPr>
          <a:xfrm>
            <a:off x="723130" y="6979304"/>
            <a:ext cx="6294522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67" name="태그칩"/>
          <p:cNvSpPr/>
          <p:nvPr/>
        </p:nvSpPr>
        <p:spPr>
          <a:xfrm>
            <a:off x="4188419" y="7014913"/>
            <a:ext cx="355799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68" name="라벨 박스"/>
          <p:cNvSpPr/>
          <p:nvPr/>
        </p:nvSpPr>
        <p:spPr>
          <a:xfrm>
            <a:off x="723130" y="7258696"/>
            <a:ext cx="6286304" cy="30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레일"/>
          <p:cNvSpPr/>
          <p:nvPr/>
        </p:nvSpPr>
        <p:spPr>
          <a:xfrm>
            <a:off x="723130" y="7258696"/>
            <a:ext cx="616304" cy="271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70" name="추진배경"/>
          <p:cNvSpPr txBox="1"/>
          <p:nvPr/>
        </p:nvSpPr>
        <p:spPr>
          <a:xfrm>
            <a:off x="1413391" y="7264174"/>
            <a:ext cx="5571391" cy="27939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71" name="라벨 박스"/>
          <p:cNvSpPr/>
          <p:nvPr/>
        </p:nvSpPr>
        <p:spPr>
          <a:xfrm>
            <a:off x="723130" y="7633957"/>
            <a:ext cx="6286304" cy="29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"/>
          <p:cNvSpPr/>
          <p:nvPr/>
        </p:nvSpPr>
        <p:spPr>
          <a:xfrm>
            <a:off x="723130" y="7633957"/>
            <a:ext cx="616304" cy="295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73" name="점검방법"/>
          <p:cNvSpPr txBox="1"/>
          <p:nvPr/>
        </p:nvSpPr>
        <p:spPr>
          <a:xfrm>
            <a:off x="1347652" y="7642174"/>
            <a:ext cx="5637130" cy="28487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74" name="주석"/>
          <p:cNvSpPr txBox="1"/>
          <p:nvPr/>
        </p:nvSpPr>
        <p:spPr>
          <a:xfrm>
            <a:off x="2081739" y="7954435"/>
            <a:ext cx="4903043" cy="19173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75" name="라벨 박스"/>
          <p:cNvSpPr/>
          <p:nvPr/>
        </p:nvSpPr>
        <p:spPr>
          <a:xfrm>
            <a:off x="723130" y="8173565"/>
            <a:ext cx="6286304" cy="73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레일"/>
          <p:cNvSpPr/>
          <p:nvPr/>
        </p:nvSpPr>
        <p:spPr>
          <a:xfrm>
            <a:off x="723130" y="8173565"/>
            <a:ext cx="616304" cy="739565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77" name="머리칸"/>
          <p:cNvSpPr/>
          <p:nvPr/>
        </p:nvSpPr>
        <p:spPr>
          <a:xfrm>
            <a:off x="1394217" y="8203696"/>
            <a:ext cx="1832478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78" name="머리칸"/>
          <p:cNvSpPr/>
          <p:nvPr/>
        </p:nvSpPr>
        <p:spPr>
          <a:xfrm>
            <a:off x="3299891" y="8203696"/>
            <a:ext cx="1761026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79" name="머리칸"/>
          <p:cNvSpPr/>
          <p:nvPr/>
        </p:nvSpPr>
        <p:spPr>
          <a:xfrm>
            <a:off x="5163261" y="8203696"/>
            <a:ext cx="1813304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80" name="칸 본문"/>
          <p:cNvSpPr txBox="1"/>
          <p:nvPr/>
        </p:nvSpPr>
        <p:spPr>
          <a:xfrm>
            <a:off x="1380522" y="8469391"/>
            <a:ext cx="1851652" cy="4273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81" name="칸 본문"/>
          <p:cNvSpPr txBox="1"/>
          <p:nvPr/>
        </p:nvSpPr>
        <p:spPr>
          <a:xfrm>
            <a:off x="3254087" y="8469391"/>
            <a:ext cx="1857130" cy="4273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243130" y="8502261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 txBox="1"/>
          <p:nvPr/>
        </p:nvSpPr>
        <p:spPr>
          <a:xfrm>
            <a:off x="5133130" y="8469391"/>
            <a:ext cx="1840696" cy="4273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122174" y="8502261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723130" y="8992565"/>
            <a:ext cx="6286304" cy="498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723130" y="8992565"/>
            <a:ext cx="616304" cy="498522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87" name="칸 본문"/>
          <p:cNvSpPr txBox="1"/>
          <p:nvPr/>
        </p:nvSpPr>
        <p:spPr>
          <a:xfrm>
            <a:off x="1380522" y="9011739"/>
            <a:ext cx="1851652" cy="46565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88" name="칸 본문"/>
          <p:cNvSpPr txBox="1"/>
          <p:nvPr/>
        </p:nvSpPr>
        <p:spPr>
          <a:xfrm>
            <a:off x="3254087" y="9011739"/>
            <a:ext cx="1857130" cy="46565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3243130" y="9044609"/>
            <a:ext cx="0" cy="39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 txBox="1"/>
          <p:nvPr/>
        </p:nvSpPr>
        <p:spPr>
          <a:xfrm>
            <a:off x="5133130" y="9011739"/>
            <a:ext cx="1840696" cy="46565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122174" y="9044609"/>
            <a:ext cx="0" cy="39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핵심성과 박스"/>
          <p:cNvSpPr/>
          <p:nvPr/>
        </p:nvSpPr>
        <p:spPr>
          <a:xfrm>
            <a:off x="723130" y="9567783"/>
            <a:ext cx="6286304" cy="478957"/>
          </a:xfrm>
          <a:prstGeom prst="rect">
            <a:avLst/>
          </a:prstGeom>
          <a:solidFill>
            <a:srgbClr val="FFFFFF"/>
          </a:solidFill>
          <a:ln w="285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핵심성과 라벨"/>
          <p:cNvSpPr/>
          <p:nvPr/>
        </p:nvSpPr>
        <p:spPr>
          <a:xfrm>
            <a:off x="753261" y="9595174"/>
            <a:ext cx="640957" cy="451565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4" name="핵심성과 문구"/>
          <p:cNvSpPr txBox="1"/>
          <p:nvPr/>
        </p:nvSpPr>
        <p:spPr>
          <a:xfrm>
            <a:off x="1501043" y="9603391"/>
            <a:ext cx="5450870" cy="43826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간 적극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/>
          <p:nvPr/>
        </p:nvSpPr>
        <p:spPr>
          <a:xfrm>
            <a:off x="546913" y="761478"/>
            <a:ext cx="940435" cy="350609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평가내용 제목 박스"/>
          <p:cNvSpPr/>
          <p:nvPr/>
        </p:nvSpPr>
        <p:spPr>
          <a:xfrm>
            <a:off x="1551522" y="788870"/>
            <a:ext cx="5251565" cy="3013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평가내용 제목"/>
          <p:cNvSpPr txBox="1"/>
          <p:nvPr/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노사관계 관리 역량 강화 노력과 성과</a:t>
            </a:r>
          </a:p>
        </p:txBody>
      </p:sp>
      <p:sp>
        <p:nvSpPr>
          <p:cNvPr id="10" name="점"/>
          <p:cNvSpPr/>
          <p:nvPr/>
        </p:nvSpPr>
        <p:spPr>
          <a:xfrm>
            <a:off x="854609" y="1090174"/>
            <a:ext cx="38348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점"/>
          <p:cNvSpPr/>
          <p:nvPr/>
        </p:nvSpPr>
        <p:spPr>
          <a:xfrm>
            <a:off x="932674" y="1090174"/>
            <a:ext cx="84717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점"/>
          <p:cNvSpPr/>
          <p:nvPr/>
        </p:nvSpPr>
        <p:spPr>
          <a:xfrm>
            <a:off x="1017391" y="1090174"/>
            <a:ext cx="0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점"/>
          <p:cNvSpPr/>
          <p:nvPr/>
        </p:nvSpPr>
        <p:spPr>
          <a:xfrm>
            <a:off x="1106609" y="1090174"/>
            <a:ext cx="41087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47696" y="1090174"/>
            <a:ext cx="62609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번호 띠"/>
          <p:cNvSpPr/>
          <p:nvPr/>
        </p:nvSpPr>
        <p:spPr>
          <a:xfrm>
            <a:off x="546913" y="1262739"/>
            <a:ext cx="6256174" cy="30404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번호 탭"/>
          <p:cNvSpPr/>
          <p:nvPr/>
        </p:nvSpPr>
        <p:spPr>
          <a:xfrm>
            <a:off x="558782" y="1281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탭 빗면"/>
          <p:cNvSpPr/>
          <p:nvPr/>
        </p:nvSpPr>
        <p:spPr>
          <a:xfrm>
            <a:off x="953217" y="1281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번호"/>
          <p:cNvSpPr txBox="1"/>
          <p:nvPr/>
        </p:nvSpPr>
        <p:spPr>
          <a:xfrm>
            <a:off x="558783" y="1260000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 txBox="1"/>
          <p:nvPr/>
        </p:nvSpPr>
        <p:spPr>
          <a:xfrm>
            <a:off x="1183304" y="1281913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0" name="소제목"/>
          <p:cNvSpPr txBox="1"/>
          <p:nvPr/>
        </p:nvSpPr>
        <p:spPr>
          <a:xfrm>
            <a:off x="536870" y="1627043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1" name="태그칩"/>
          <p:cNvSpPr/>
          <p:nvPr/>
        </p:nvSpPr>
        <p:spPr>
          <a:xfrm>
            <a:off x="4221000" y="1698261"/>
            <a:ext cx="547826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2" name="표 윗선"/>
          <p:cNvSpPr/>
          <p:nvPr/>
        </p:nvSpPr>
        <p:spPr>
          <a:xfrm>
            <a:off x="546913" y="1939304"/>
            <a:ext cx="6256174" cy="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6913" y="1939304"/>
            <a:ext cx="559696" cy="482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4" name="레일"/>
          <p:cNvSpPr/>
          <p:nvPr/>
        </p:nvSpPr>
        <p:spPr>
          <a:xfrm>
            <a:off x="546913" y="2421391"/>
            <a:ext cx="559696" cy="62178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5" name="레일 쐐기"/>
          <p:cNvSpPr/>
          <p:nvPr/>
        </p:nvSpPr>
        <p:spPr>
          <a:xfrm>
            <a:off x="536869" y="2421391"/>
            <a:ext cx="580696" cy="142435"/>
          </a:xfrm>
          <a:custGeom>
            <a:avLst/>
            <a:gdLst/>
            <a:ahLst/>
            <a:cxnLst/>
            <a:rect l="l" t="t" r="r" b="b"/>
            <a:pathLst>
              <a:path w="580696" h="142435">
                <a:moveTo>
                  <a:pt x="0" y="0"/>
                </a:moveTo>
                <a:lnTo>
                  <a:pt x="580696" y="0"/>
                </a:lnTo>
                <a:lnTo>
                  <a:pt x="290348" y="142435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레일"/>
          <p:cNvSpPr/>
          <p:nvPr/>
        </p:nvSpPr>
        <p:spPr>
          <a:xfrm>
            <a:off x="546913" y="3043174"/>
            <a:ext cx="559696" cy="40721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레일 쐐기"/>
          <p:cNvSpPr/>
          <p:nvPr/>
        </p:nvSpPr>
        <p:spPr>
          <a:xfrm>
            <a:off x="536869" y="3024000"/>
            <a:ext cx="580696" cy="142434"/>
          </a:xfrm>
          <a:custGeom>
            <a:avLst/>
            <a:gdLst/>
            <a:ahLst/>
            <a:cxnLst/>
            <a:rect l="l" t="t" r="r" b="b"/>
            <a:pathLst>
              <a:path w="580696" h="142434">
                <a:moveTo>
                  <a:pt x="0" y="0"/>
                </a:moveTo>
                <a:lnTo>
                  <a:pt x="580696" y="0"/>
                </a:lnTo>
                <a:lnTo>
                  <a:pt x="290348" y="14243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수준진단"/>
          <p:cNvSpPr txBox="1"/>
          <p:nvPr/>
        </p:nvSpPr>
        <p:spPr>
          <a:xfrm>
            <a:off x="1161391" y="1961217"/>
            <a:ext cx="5653565" cy="41634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 및 소통 활성화 추진 한계</a:t>
            </a:r>
          </a:p>
          <a:p>
            <a:pPr marL="12600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소통지수 87.3 ↔ 기타지수 88.7점)</a:t>
            </a:r>
          </a:p>
        </p:txBody>
      </p:sp>
      <p:sp>
        <p:nvSpPr>
          <p:cNvPr id="29" name="머리칸"/>
          <p:cNvSpPr/>
          <p:nvPr/>
        </p:nvSpPr>
        <p:spPr>
          <a:xfrm>
            <a:off x="1147696" y="2361130"/>
            <a:ext cx="2829704" cy="216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30" name="머리칸"/>
          <p:cNvSpPr/>
          <p:nvPr/>
        </p:nvSpPr>
        <p:spPr>
          <a:xfrm>
            <a:off x="3977400" y="2361130"/>
            <a:ext cx="2825687" cy="216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1" name="칸 본문"/>
          <p:cNvSpPr txBox="1"/>
          <p:nvPr/>
        </p:nvSpPr>
        <p:spPr>
          <a:xfrm>
            <a:off x="1161391" y="2596696"/>
            <a:ext cx="2821304" cy="410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노사가 수시로 소통해 해결하고 서로 존중·협력하겠다.”(대의원대회)</a:t>
            </a:r>
          </a:p>
        </p:txBody>
      </p:sp>
      <p:sp>
        <p:nvSpPr>
          <p:cNvPr id="32" name="칸 본문"/>
          <p:cNvSpPr txBox="1"/>
          <p:nvPr/>
        </p:nvSpPr>
        <p:spPr>
          <a:xfrm>
            <a:off x="4004609" y="2596696"/>
            <a:ext cx="2821304" cy="4108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풀어가겠다.”(노사협의회·대의원대회)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993652" y="2629565"/>
            <a:ext cx="0" cy="34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태그"/>
          <p:cNvSpPr/>
          <p:nvPr/>
        </p:nvSpPr>
        <p:spPr>
          <a:xfrm>
            <a:off x="1210304" y="3043174"/>
            <a:ext cx="1156304" cy="20269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5" name="태그 설명"/>
          <p:cNvSpPr txBox="1"/>
          <p:nvPr/>
        </p:nvSpPr>
        <p:spPr>
          <a:xfrm>
            <a:off x="2410435" y="3040435"/>
            <a:ext cx="4404522" cy="202696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6" name="태그"/>
          <p:cNvSpPr/>
          <p:nvPr/>
        </p:nvSpPr>
        <p:spPr>
          <a:xfrm>
            <a:off x="1210304" y="3245870"/>
            <a:ext cx="1156304" cy="204522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7" name="태그 설명"/>
          <p:cNvSpPr txBox="1"/>
          <p:nvPr/>
        </p:nvSpPr>
        <p:spPr>
          <a:xfrm>
            <a:off x="2410435" y="3254087"/>
            <a:ext cx="4404522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8" name="브래킷"/>
          <p:cNvSpPr/>
          <p:nvPr/>
        </p:nvSpPr>
        <p:spPr>
          <a:xfrm>
            <a:off x="1380913" y="3450391"/>
            <a:ext cx="4635130" cy="211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브래킷 안"/>
          <p:cNvSpPr/>
          <p:nvPr/>
        </p:nvSpPr>
        <p:spPr>
          <a:xfrm>
            <a:off x="1487348" y="3450391"/>
            <a:ext cx="4464783" cy="11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브래킷 막대"/>
          <p:cNvSpPr/>
          <p:nvPr/>
        </p:nvSpPr>
        <p:spPr>
          <a:xfrm>
            <a:off x="3352878" y="3569087"/>
            <a:ext cx="731165" cy="93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브래킷 끝"/>
          <p:cNvSpPr/>
          <p:nvPr/>
        </p:nvSpPr>
        <p:spPr>
          <a:xfrm rot="10800000">
            <a:off x="3601500" y="3662217"/>
            <a:ext cx="203152" cy="63000"/>
          </a:xfrm>
          <a:prstGeom prst="triangle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546913" y="3662217"/>
            <a:ext cx="3112565" cy="20379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546913" y="3662217"/>
            <a:ext cx="3112565" cy="249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4" name="레일"/>
          <p:cNvSpPr/>
          <p:nvPr/>
        </p:nvSpPr>
        <p:spPr>
          <a:xfrm>
            <a:off x="546913" y="3930652"/>
            <a:ext cx="765130" cy="575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 태그"/>
          <p:cNvSpPr/>
          <p:nvPr/>
        </p:nvSpPr>
        <p:spPr>
          <a:xfrm>
            <a:off x="676565" y="3974478"/>
            <a:ext cx="533739" cy="1698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6" name="레일 라벨"/>
          <p:cNvSpPr txBox="1"/>
          <p:nvPr/>
        </p:nvSpPr>
        <p:spPr>
          <a:xfrm>
            <a:off x="569739" y="4168957"/>
            <a:ext cx="739565" cy="30678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7" name="패널 본문"/>
          <p:cNvSpPr txBox="1"/>
          <p:nvPr/>
        </p:nvSpPr>
        <p:spPr>
          <a:xfrm>
            <a:off x="1353130" y="3927913"/>
            <a:ext cx="2273478" cy="580696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353130" y="4508609"/>
            <a:ext cx="225156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6913" y="4505870"/>
            <a:ext cx="765130" cy="575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6565" y="4563391"/>
            <a:ext cx="533739" cy="1561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1" name="레일 라벨"/>
          <p:cNvSpPr txBox="1"/>
          <p:nvPr/>
        </p:nvSpPr>
        <p:spPr>
          <a:xfrm>
            <a:off x="569739" y="4749652"/>
            <a:ext cx="739565" cy="30678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2" name="패널 본문"/>
          <p:cNvSpPr txBox="1"/>
          <p:nvPr/>
        </p:nvSpPr>
        <p:spPr>
          <a:xfrm>
            <a:off x="1353130" y="4508609"/>
            <a:ext cx="2273478" cy="580696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353130" y="5089304"/>
            <a:ext cx="225156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6913" y="5081087"/>
            <a:ext cx="765130" cy="602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레일 태그"/>
          <p:cNvSpPr/>
          <p:nvPr/>
        </p:nvSpPr>
        <p:spPr>
          <a:xfrm>
            <a:off x="676565" y="5124913"/>
            <a:ext cx="533739" cy="20543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56" name="레일 라벨"/>
          <p:cNvSpPr txBox="1"/>
          <p:nvPr/>
        </p:nvSpPr>
        <p:spPr>
          <a:xfrm>
            <a:off x="569739" y="5330348"/>
            <a:ext cx="739565" cy="317739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57" name="패널 본문"/>
          <p:cNvSpPr txBox="1"/>
          <p:nvPr/>
        </p:nvSpPr>
        <p:spPr>
          <a:xfrm>
            <a:off x="1353130" y="5089304"/>
            <a:ext cx="2273478" cy="591652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58" name="패널 외곽"/>
          <p:cNvSpPr/>
          <p:nvPr/>
        </p:nvSpPr>
        <p:spPr>
          <a:xfrm>
            <a:off x="3713870" y="3662217"/>
            <a:ext cx="3089217" cy="20379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패널 머리"/>
          <p:cNvSpPr/>
          <p:nvPr/>
        </p:nvSpPr>
        <p:spPr>
          <a:xfrm>
            <a:off x="3713870" y="3662217"/>
            <a:ext cx="3089217" cy="249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0" name="레일"/>
          <p:cNvSpPr/>
          <p:nvPr/>
        </p:nvSpPr>
        <p:spPr>
          <a:xfrm>
            <a:off x="3713870" y="3930652"/>
            <a:ext cx="758035" cy="575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레일 태그"/>
          <p:cNvSpPr/>
          <p:nvPr/>
        </p:nvSpPr>
        <p:spPr>
          <a:xfrm>
            <a:off x="3804652" y="3974478"/>
            <a:ext cx="592748" cy="1698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2" name="레일 라벨"/>
          <p:cNvSpPr txBox="1"/>
          <p:nvPr/>
        </p:nvSpPr>
        <p:spPr>
          <a:xfrm>
            <a:off x="3741652" y="4168957"/>
            <a:ext cx="734087" cy="30678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3" name="패널 본문"/>
          <p:cNvSpPr txBox="1"/>
          <p:nvPr/>
        </p:nvSpPr>
        <p:spPr>
          <a:xfrm>
            <a:off x="4519565" y="3927913"/>
            <a:ext cx="2284435" cy="580696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519565" y="4508609"/>
            <a:ext cx="2262522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3713870" y="4505870"/>
            <a:ext cx="758035" cy="575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3804652" y="4563391"/>
            <a:ext cx="592748" cy="1561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67" name="레일 라벨"/>
          <p:cNvSpPr txBox="1"/>
          <p:nvPr/>
        </p:nvSpPr>
        <p:spPr>
          <a:xfrm>
            <a:off x="3741652" y="4749652"/>
            <a:ext cx="734087" cy="30678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68" name="패널 본문"/>
          <p:cNvSpPr txBox="1"/>
          <p:nvPr/>
        </p:nvSpPr>
        <p:spPr>
          <a:xfrm>
            <a:off x="4519565" y="4508609"/>
            <a:ext cx="2284435" cy="580696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4519565" y="5089304"/>
            <a:ext cx="2262522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3713870" y="5081087"/>
            <a:ext cx="758035" cy="602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 태그"/>
          <p:cNvSpPr/>
          <p:nvPr/>
        </p:nvSpPr>
        <p:spPr>
          <a:xfrm>
            <a:off x="3804652" y="5124913"/>
            <a:ext cx="592748" cy="20543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72" name="레일 라벨"/>
          <p:cNvSpPr txBox="1"/>
          <p:nvPr/>
        </p:nvSpPr>
        <p:spPr>
          <a:xfrm>
            <a:off x="3741652" y="5330348"/>
            <a:ext cx="734087" cy="317739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73" name="패널 본문"/>
          <p:cNvSpPr txBox="1"/>
          <p:nvPr/>
        </p:nvSpPr>
        <p:spPr>
          <a:xfrm>
            <a:off x="4519565" y="5089304"/>
            <a:ext cx="2284435" cy="591652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74" name="소제목"/>
          <p:cNvSpPr txBox="1"/>
          <p:nvPr/>
        </p:nvSpPr>
        <p:spPr>
          <a:xfrm>
            <a:off x="536870" y="5817913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75" name="태그칩"/>
          <p:cNvSpPr/>
          <p:nvPr/>
        </p:nvSpPr>
        <p:spPr>
          <a:xfrm>
            <a:off x="3352878" y="5861739"/>
            <a:ext cx="360991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76" name="태그칩"/>
          <p:cNvSpPr/>
          <p:nvPr/>
        </p:nvSpPr>
        <p:spPr>
          <a:xfrm>
            <a:off x="3713870" y="5861739"/>
            <a:ext cx="370174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77" name="라벨 박스"/>
          <p:cNvSpPr/>
          <p:nvPr/>
        </p:nvSpPr>
        <p:spPr>
          <a:xfrm>
            <a:off x="546913" y="6089087"/>
            <a:ext cx="6256174" cy="298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6913" y="6119217"/>
            <a:ext cx="600783" cy="24378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79" name="추진배경"/>
          <p:cNvSpPr txBox="1"/>
          <p:nvPr/>
        </p:nvSpPr>
        <p:spPr>
          <a:xfrm>
            <a:off x="1249043" y="6113739"/>
            <a:ext cx="5565913" cy="252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80" name="레일"/>
          <p:cNvSpPr/>
          <p:nvPr/>
        </p:nvSpPr>
        <p:spPr>
          <a:xfrm>
            <a:off x="546913" y="6458870"/>
            <a:ext cx="559696" cy="638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81" name="레일"/>
          <p:cNvSpPr/>
          <p:nvPr/>
        </p:nvSpPr>
        <p:spPr>
          <a:xfrm>
            <a:off x="546913" y="7124478"/>
            <a:ext cx="559696" cy="799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 태그"/>
          <p:cNvSpPr/>
          <p:nvPr/>
        </p:nvSpPr>
        <p:spPr>
          <a:xfrm>
            <a:off x="641870" y="7308913"/>
            <a:ext cx="375522" cy="160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83" name="레일 라벨"/>
          <p:cNvSpPr txBox="1"/>
          <p:nvPr/>
        </p:nvSpPr>
        <p:spPr>
          <a:xfrm>
            <a:off x="536870" y="7466870"/>
            <a:ext cx="580696" cy="438261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84" name="레일 쐐기"/>
          <p:cNvSpPr/>
          <p:nvPr/>
        </p:nvSpPr>
        <p:spPr>
          <a:xfrm>
            <a:off x="536869" y="7116260"/>
            <a:ext cx="580696" cy="142435"/>
          </a:xfrm>
          <a:custGeom>
            <a:avLst/>
            <a:gdLst/>
            <a:ahLst/>
            <a:cxnLst/>
            <a:rect l="l" t="t" r="r" b="b"/>
            <a:pathLst>
              <a:path w="580696" h="142435">
                <a:moveTo>
                  <a:pt x="0" y="0"/>
                </a:moveTo>
                <a:lnTo>
                  <a:pt x="580696" y="0"/>
                </a:lnTo>
                <a:lnTo>
                  <a:pt x="290348" y="142435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레일"/>
          <p:cNvSpPr/>
          <p:nvPr/>
        </p:nvSpPr>
        <p:spPr>
          <a:xfrm>
            <a:off x="546913" y="7924304"/>
            <a:ext cx="559696" cy="10655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 태그"/>
          <p:cNvSpPr/>
          <p:nvPr/>
        </p:nvSpPr>
        <p:spPr>
          <a:xfrm>
            <a:off x="641870" y="8102348"/>
            <a:ext cx="375522" cy="14243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87" name="레일 라벨"/>
          <p:cNvSpPr txBox="1"/>
          <p:nvPr/>
        </p:nvSpPr>
        <p:spPr>
          <a:xfrm>
            <a:off x="536870" y="8288609"/>
            <a:ext cx="580696" cy="68478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88" name="레일 쐐기"/>
          <p:cNvSpPr/>
          <p:nvPr/>
        </p:nvSpPr>
        <p:spPr>
          <a:xfrm>
            <a:off x="536869" y="7938000"/>
            <a:ext cx="580696" cy="142434"/>
          </a:xfrm>
          <a:custGeom>
            <a:avLst/>
            <a:gdLst/>
            <a:ahLst/>
            <a:cxnLst/>
            <a:rect l="l" t="t" r="r" b="b"/>
            <a:pathLst>
              <a:path w="580696" h="142434">
                <a:moveTo>
                  <a:pt x="0" y="0"/>
                </a:moveTo>
                <a:lnTo>
                  <a:pt x="580696" y="0"/>
                </a:lnTo>
                <a:lnTo>
                  <a:pt x="290348" y="14243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머리칸"/>
          <p:cNvSpPr/>
          <p:nvPr/>
        </p:nvSpPr>
        <p:spPr>
          <a:xfrm>
            <a:off x="1147696" y="6458870"/>
            <a:ext cx="2829704" cy="216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90" name="머리칸"/>
          <p:cNvSpPr/>
          <p:nvPr/>
        </p:nvSpPr>
        <p:spPr>
          <a:xfrm>
            <a:off x="3977400" y="6458870"/>
            <a:ext cx="2825687" cy="216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91" name="칸 본문"/>
          <p:cNvSpPr txBox="1"/>
          <p:nvPr/>
        </p:nvSpPr>
        <p:spPr>
          <a:xfrm>
            <a:off x="1161391" y="6667043"/>
            <a:ext cx="2821304" cy="4273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사업수행과 장기지속적 발전을 위해서는 노동조합을 동반자로 인식하고 협력 증대 필수적</a:t>
            </a:r>
          </a:p>
        </p:txBody>
      </p:sp>
      <p:sp>
        <p:nvSpPr>
          <p:cNvPr id="92" name="칸 본문"/>
          <p:cNvSpPr txBox="1"/>
          <p:nvPr/>
        </p:nvSpPr>
        <p:spPr>
          <a:xfrm>
            <a:off x="4004609" y="6667043"/>
            <a:ext cx="2821304" cy="4273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복리후생 향상과 안전보건 강화 등 근로조건 개선을 위해서는 공단과의 파트너십 강화 필요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3993652" y="6699913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머리칸"/>
          <p:cNvSpPr/>
          <p:nvPr/>
        </p:nvSpPr>
        <p:spPr>
          <a:xfrm>
            <a:off x="1147696" y="7124478"/>
            <a:ext cx="4538739" cy="24378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95" name="선언문"/>
          <p:cNvSpPr txBox="1"/>
          <p:nvPr/>
        </p:nvSpPr>
        <p:spPr>
          <a:xfrm>
            <a:off x="1172348" y="7384696"/>
            <a:ext cx="4536000" cy="53139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실시(제71주년 창립기념일)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등 경영진, 노조위원장 등 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정착, 소통·파트너십 강화 추진 등 노사 합의·선언</a:t>
            </a:r>
          </a:p>
        </p:txBody>
      </p:sp>
      <p:sp>
        <p:nvSpPr>
          <p:cNvPr id="96" name="사진 칸"/>
          <p:cNvSpPr/>
          <p:nvPr/>
        </p:nvSpPr>
        <p:spPr>
          <a:xfrm>
            <a:off x="5749435" y="7124478"/>
            <a:ext cx="1053652" cy="799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97" name="배너"/>
          <p:cNvSpPr/>
          <p:nvPr/>
        </p:nvSpPr>
        <p:spPr>
          <a:xfrm>
            <a:off x="1147696" y="7924304"/>
            <a:ext cx="5655391" cy="235565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98" name="머리칸"/>
          <p:cNvSpPr/>
          <p:nvPr/>
        </p:nvSpPr>
        <p:spPr>
          <a:xfrm>
            <a:off x="1147696" y="8159870"/>
            <a:ext cx="1865839" cy="213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99" name="머리칸"/>
          <p:cNvSpPr/>
          <p:nvPr/>
        </p:nvSpPr>
        <p:spPr>
          <a:xfrm>
            <a:off x="3013535" y="8159870"/>
            <a:ext cx="1948376" cy="213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100" name="머리칸"/>
          <p:cNvSpPr/>
          <p:nvPr/>
        </p:nvSpPr>
        <p:spPr>
          <a:xfrm>
            <a:off x="4961911" y="8159870"/>
            <a:ext cx="1841176" cy="213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101" name="칸 본문"/>
          <p:cNvSpPr txBox="1"/>
          <p:nvPr/>
        </p:nvSpPr>
        <p:spPr>
          <a:xfrm>
            <a:off x="1161391" y="8409130"/>
            <a:ext cx="1873565" cy="575217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102" name="칸 본문"/>
          <p:cNvSpPr txBox="1"/>
          <p:nvPr/>
        </p:nvSpPr>
        <p:spPr>
          <a:xfrm>
            <a:off x="3056870" y="8409130"/>
            <a:ext cx="1873565" cy="575217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045913" y="8442000"/>
            <a:ext cx="0" cy="50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4" name="칸 본문"/>
          <p:cNvSpPr txBox="1"/>
          <p:nvPr/>
        </p:nvSpPr>
        <p:spPr>
          <a:xfrm>
            <a:off x="4952348" y="8409130"/>
            <a:ext cx="1873565" cy="575217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941391" y="8442000"/>
            <a:ext cx="0" cy="50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성과 표 외곽"/>
          <p:cNvSpPr/>
          <p:nvPr/>
        </p:nvSpPr>
        <p:spPr>
          <a:xfrm>
            <a:off x="546913" y="9055017"/>
            <a:ext cx="6256174" cy="638765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레일"/>
          <p:cNvSpPr/>
          <p:nvPr/>
        </p:nvSpPr>
        <p:spPr>
          <a:xfrm>
            <a:off x="546913" y="9055017"/>
            <a:ext cx="600783" cy="638765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8" name="머리칸"/>
          <p:cNvSpPr/>
          <p:nvPr/>
        </p:nvSpPr>
        <p:spPr>
          <a:xfrm>
            <a:off x="1147696" y="9055017"/>
            <a:ext cx="2829704" cy="26898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09" name="머리칸"/>
          <p:cNvSpPr/>
          <p:nvPr/>
        </p:nvSpPr>
        <p:spPr>
          <a:xfrm>
            <a:off x="3977400" y="9055017"/>
            <a:ext cx="2825687" cy="26898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10" name="칸 본문"/>
          <p:cNvSpPr txBox="1"/>
          <p:nvPr/>
        </p:nvSpPr>
        <p:spPr>
          <a:xfrm>
            <a:off x="1172348" y="9334957"/>
            <a:ext cx="2799391" cy="350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11" name="칸 본문"/>
          <p:cNvSpPr txBox="1"/>
          <p:nvPr/>
        </p:nvSpPr>
        <p:spPr>
          <a:xfrm>
            <a:off x="3993652" y="9334957"/>
            <a:ext cx="2810348" cy="350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982696" y="93678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3" name="핵심성과 박스"/>
          <p:cNvSpPr/>
          <p:nvPr/>
        </p:nvSpPr>
        <p:spPr>
          <a:xfrm>
            <a:off x="546913" y="9795130"/>
            <a:ext cx="6256174" cy="273913"/>
          </a:xfrm>
          <a:prstGeom prst="rect">
            <a:avLst/>
          </a:prstGeom>
          <a:solidFill>
            <a:srgbClr val="FFFFFF"/>
          </a:solidFill>
          <a:ln w="285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핵심성과 라벨"/>
          <p:cNvSpPr/>
          <p:nvPr/>
        </p:nvSpPr>
        <p:spPr>
          <a:xfrm>
            <a:off x="546913" y="9795130"/>
            <a:ext cx="663391" cy="243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15" name="핵심성과 문구"/>
          <p:cNvSpPr txBox="1"/>
          <p:nvPr/>
        </p:nvSpPr>
        <p:spPr>
          <a:xfrm>
            <a:off x="1314783" y="9806087"/>
            <a:ext cx="5456348" cy="268435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4" name="번호 띠"/>
          <p:cNvSpPr/>
          <p:nvPr/>
        </p:nvSpPr>
        <p:spPr>
          <a:xfrm>
            <a:off x="723130" y="766957"/>
            <a:ext cx="6283565" cy="288522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번호"/>
          <p:cNvSpPr txBox="1"/>
          <p:nvPr/>
        </p:nvSpPr>
        <p:spPr>
          <a:xfrm>
            <a:off x="745043" y="777913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 txBox="1"/>
          <p:nvPr/>
        </p:nvSpPr>
        <p:spPr>
          <a:xfrm>
            <a:off x="1369565" y="799826"/>
            <a:ext cx="5582348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 역량 강화를 위한 교육 프로그램 운영과 내·외부 역량 활용</a:t>
            </a:r>
          </a:p>
        </p:txBody>
      </p:sp>
      <p:sp>
        <p:nvSpPr>
          <p:cNvPr id="9" name="소제목"/>
          <p:cNvSpPr txBox="1"/>
          <p:nvPr/>
        </p:nvSpPr>
        <p:spPr>
          <a:xfrm>
            <a:off x="723130" y="1188783"/>
            <a:ext cx="6294522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0" name="태그칩"/>
          <p:cNvSpPr/>
          <p:nvPr/>
        </p:nvSpPr>
        <p:spPr>
          <a:xfrm>
            <a:off x="3985435" y="1210696"/>
            <a:ext cx="391183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라벨 박스"/>
          <p:cNvSpPr/>
          <p:nvPr/>
        </p:nvSpPr>
        <p:spPr>
          <a:xfrm>
            <a:off x="723130" y="1449000"/>
            <a:ext cx="6283565" cy="31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23130" y="1449000"/>
            <a:ext cx="608087" cy="31773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3" name="HRD 비전"/>
          <p:cNvSpPr txBox="1"/>
          <p:nvPr/>
        </p:nvSpPr>
        <p:spPr>
          <a:xfrm>
            <a:off x="1369565" y="1468174"/>
            <a:ext cx="5615217" cy="28487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723130" y="1843435"/>
            <a:ext cx="6283565" cy="75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23130" y="1843435"/>
            <a:ext cx="608087" cy="756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/>
          <p:nvPr/>
        </p:nvSpPr>
        <p:spPr>
          <a:xfrm>
            <a:off x="1378878" y="1843435"/>
            <a:ext cx="2779122" cy="26843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/>
          <p:nvPr/>
        </p:nvSpPr>
        <p:spPr>
          <a:xfrm>
            <a:off x="4185391" y="1843435"/>
            <a:ext cx="2791174" cy="26843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8" name="칸 본문"/>
          <p:cNvSpPr txBox="1"/>
          <p:nvPr/>
        </p:nvSpPr>
        <p:spPr>
          <a:xfrm>
            <a:off x="1380522" y="2131043"/>
            <a:ext cx="2788435" cy="46017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 및 노동관계조정법」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요구(정부 국정과제 75)</a:t>
            </a:r>
          </a:p>
        </p:txBody>
      </p:sp>
      <p:sp>
        <p:nvSpPr>
          <p:cNvPr id="19" name="칸 본문"/>
          <p:cNvSpPr txBox="1"/>
          <p:nvPr/>
        </p:nvSpPr>
        <p:spPr>
          <a:xfrm>
            <a:off x="4190870" y="2131043"/>
            <a:ext cx="2782957" cy="46017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현안별 전문 인력 양성과 역량 제고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이해관계 교육 확대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79913" y="216391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라벨 박스"/>
          <p:cNvSpPr/>
          <p:nvPr/>
        </p:nvSpPr>
        <p:spPr>
          <a:xfrm>
            <a:off x="723130" y="2678870"/>
            <a:ext cx="6283565" cy="320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23130" y="2678870"/>
            <a:ext cx="608087" cy="320478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3" name="추진 목표 바"/>
          <p:cNvSpPr/>
          <p:nvPr/>
        </p:nvSpPr>
        <p:spPr>
          <a:xfrm>
            <a:off x="1378878" y="2714478"/>
            <a:ext cx="5597687" cy="246522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추진 목표"/>
          <p:cNvSpPr txBox="1"/>
          <p:nvPr/>
        </p:nvSpPr>
        <p:spPr>
          <a:xfrm>
            <a:off x="1369565" y="2711739"/>
            <a:ext cx="5615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관련 제도에 유연하게 대응할 수 있는 역량 구비·강화</a:t>
            </a:r>
          </a:p>
        </p:txBody>
      </p:sp>
      <p:sp>
        <p:nvSpPr>
          <p:cNvPr id="25" name="라벨 박스"/>
          <p:cNvSpPr/>
          <p:nvPr/>
        </p:nvSpPr>
        <p:spPr>
          <a:xfrm>
            <a:off x="723130" y="3076043"/>
            <a:ext cx="6283565" cy="758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"/>
          <p:cNvSpPr/>
          <p:nvPr/>
        </p:nvSpPr>
        <p:spPr>
          <a:xfrm>
            <a:off x="723130" y="3076043"/>
            <a:ext cx="608087" cy="75873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7" name="머리칸"/>
          <p:cNvSpPr/>
          <p:nvPr/>
        </p:nvSpPr>
        <p:spPr>
          <a:xfrm>
            <a:off x="1378878" y="3108913"/>
            <a:ext cx="1835491" cy="232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8" name="머리칸"/>
          <p:cNvSpPr/>
          <p:nvPr/>
        </p:nvSpPr>
        <p:spPr>
          <a:xfrm>
            <a:off x="3214370" y="3108913"/>
            <a:ext cx="1911386" cy="232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29" name="머리칸"/>
          <p:cNvSpPr/>
          <p:nvPr/>
        </p:nvSpPr>
        <p:spPr>
          <a:xfrm>
            <a:off x="5125756" y="3108913"/>
            <a:ext cx="1850809" cy="232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0" name="칸 본문"/>
          <p:cNvSpPr txBox="1"/>
          <p:nvPr/>
        </p:nvSpPr>
        <p:spPr>
          <a:xfrm>
            <a:off x="1380522" y="3352696"/>
            <a:ext cx="1851652" cy="476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1" name="칸 본문"/>
          <p:cNvSpPr txBox="1"/>
          <p:nvPr/>
        </p:nvSpPr>
        <p:spPr>
          <a:xfrm>
            <a:off x="3254087" y="3352696"/>
            <a:ext cx="1857130" cy="476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243130" y="3385565"/>
            <a:ext cx="0" cy="410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5133130" y="3352696"/>
            <a:ext cx="1840696" cy="476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122174" y="3385565"/>
            <a:ext cx="0" cy="410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브래킷"/>
          <p:cNvSpPr/>
          <p:nvPr/>
        </p:nvSpPr>
        <p:spPr>
          <a:xfrm>
            <a:off x="1898217" y="3834783"/>
            <a:ext cx="454316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브래킷 안"/>
          <p:cNvSpPr/>
          <p:nvPr/>
        </p:nvSpPr>
        <p:spPr>
          <a:xfrm>
            <a:off x="1898217" y="3834783"/>
            <a:ext cx="4543164" cy="1040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브래킷 막대"/>
          <p:cNvSpPr/>
          <p:nvPr/>
        </p:nvSpPr>
        <p:spPr>
          <a:xfrm>
            <a:off x="3845130" y="3938870"/>
            <a:ext cx="659334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브래킷 끝"/>
          <p:cNvSpPr/>
          <p:nvPr/>
        </p:nvSpPr>
        <p:spPr>
          <a:xfrm rot="10800000">
            <a:off x="4108223" y="4015565"/>
            <a:ext cx="142907" cy="71217"/>
          </a:xfrm>
          <a:prstGeom prst="triangle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39" name="실적표"/>
          <p:cNvGraphicFramePr>
            <a:graphicFrameLocks noGrp="1"/>
          </p:cNvGraphicFramePr>
          <p:nvPr/>
        </p:nvGraphicFramePr>
        <p:xfrm>
          <a:off x="723130" y="4092261"/>
          <a:ext cx="6294522" cy="2463572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07130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8165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 리 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8165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8165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8165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8165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8165">
                <a:tc rowSpan="4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8165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8165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8165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복무제도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복무제도 담당자 집체 교육(47명)·설명회(7개 조직)·매뉴얼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소제목"/>
          <p:cNvSpPr txBox="1"/>
          <p:nvPr/>
        </p:nvSpPr>
        <p:spPr>
          <a:xfrm>
            <a:off x="723130" y="6683478"/>
            <a:ext cx="6294522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자기주도형 학습 협의체 참여와 외부역량 활용으로 현안 대응</a:t>
            </a:r>
          </a:p>
        </p:txBody>
      </p:sp>
      <p:sp>
        <p:nvSpPr>
          <p:cNvPr id="41" name="태그칩"/>
          <p:cNvSpPr/>
          <p:nvPr/>
        </p:nvSpPr>
        <p:spPr>
          <a:xfrm>
            <a:off x="4587618" y="6727304"/>
            <a:ext cx="606399" cy="145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42" name="표 외곽"/>
          <p:cNvSpPr/>
          <p:nvPr/>
        </p:nvSpPr>
        <p:spPr>
          <a:xfrm>
            <a:off x="723130" y="6976565"/>
            <a:ext cx="6283565" cy="2706261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723130" y="6976565"/>
            <a:ext cx="608087" cy="146269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44" name="레일"/>
          <p:cNvSpPr/>
          <p:nvPr/>
        </p:nvSpPr>
        <p:spPr>
          <a:xfrm>
            <a:off x="723130" y="8461174"/>
            <a:ext cx="608087" cy="1221652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45" name="운영목표 배너"/>
          <p:cNvSpPr/>
          <p:nvPr/>
        </p:nvSpPr>
        <p:spPr>
          <a:xfrm>
            <a:off x="1378878" y="7006696"/>
            <a:ext cx="5597687" cy="232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배너 태그"/>
          <p:cNvSpPr/>
          <p:nvPr/>
        </p:nvSpPr>
        <p:spPr>
          <a:xfrm>
            <a:off x="1580478" y="7036826"/>
            <a:ext cx="591104" cy="1725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운영목표</a:t>
            </a:r>
          </a:p>
        </p:txBody>
      </p:sp>
      <p:sp>
        <p:nvSpPr>
          <p:cNvPr id="47" name="배너 문구"/>
          <p:cNvSpPr txBox="1"/>
          <p:nvPr/>
        </p:nvSpPr>
        <p:spPr>
          <a:xfrm>
            <a:off x="2235130" y="7012174"/>
            <a:ext cx="4749652" cy="23008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48" name="머리칸"/>
          <p:cNvSpPr/>
          <p:nvPr/>
        </p:nvSpPr>
        <p:spPr>
          <a:xfrm>
            <a:off x="1378878" y="7239522"/>
            <a:ext cx="1835491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49" name="머리칸"/>
          <p:cNvSpPr/>
          <p:nvPr/>
        </p:nvSpPr>
        <p:spPr>
          <a:xfrm>
            <a:off x="3214370" y="7239522"/>
            <a:ext cx="1911386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50" name="머리칸"/>
          <p:cNvSpPr/>
          <p:nvPr/>
        </p:nvSpPr>
        <p:spPr>
          <a:xfrm>
            <a:off x="5125756" y="7239522"/>
            <a:ext cx="1850809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51" name="칸 본문"/>
          <p:cNvSpPr txBox="1"/>
          <p:nvPr/>
        </p:nvSpPr>
        <p:spPr>
          <a:xfrm>
            <a:off x="1380522" y="7505217"/>
            <a:ext cx="1851652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52" name="칸 본문"/>
          <p:cNvSpPr txBox="1"/>
          <p:nvPr/>
        </p:nvSpPr>
        <p:spPr>
          <a:xfrm>
            <a:off x="3254087" y="7505217"/>
            <a:ext cx="1857130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243130" y="753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 txBox="1"/>
          <p:nvPr/>
        </p:nvSpPr>
        <p:spPr>
          <a:xfrm>
            <a:off x="5133130" y="7505217"/>
            <a:ext cx="1840696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122174" y="753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태그"/>
          <p:cNvSpPr/>
          <p:nvPr/>
        </p:nvSpPr>
        <p:spPr>
          <a:xfrm>
            <a:off x="1424348" y="7984565"/>
            <a:ext cx="473870" cy="14243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57" name="주요내용"/>
          <p:cNvSpPr txBox="1"/>
          <p:nvPr/>
        </p:nvSpPr>
        <p:spPr>
          <a:xfrm>
            <a:off x="1939304" y="7954435"/>
            <a:ext cx="1281913" cy="471130"/>
          </a:xfrm>
          <a:prstGeom prst="rect">
            <a:avLst/>
          </a:prstGeom>
          <a:noFill/>
        </p:spPr>
        <p:txBody>
          <a:bodyPr wrap="square" lIns="36000" tIns="10800" rIns="36000" bIns="10800" anchor="t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매뉴얼 공유</a:t>
            </a:r>
          </a:p>
        </p:txBody>
      </p:sp>
      <p:sp>
        <p:nvSpPr>
          <p:cNvPr id="58" name="태그"/>
          <p:cNvSpPr/>
          <p:nvPr/>
        </p:nvSpPr>
        <p:spPr>
          <a:xfrm>
            <a:off x="3286957" y="7984565"/>
            <a:ext cx="558174" cy="14243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59" name="주요내용"/>
          <p:cNvSpPr txBox="1"/>
          <p:nvPr/>
        </p:nvSpPr>
        <p:spPr>
          <a:xfrm>
            <a:off x="3823826" y="7954435"/>
            <a:ext cx="1276435" cy="471130"/>
          </a:xfrm>
          <a:prstGeom prst="rect">
            <a:avLst/>
          </a:prstGeom>
          <a:noFill/>
        </p:spPr>
        <p:txBody>
          <a:bodyPr wrap="square" lIns="36000" tIns="10800" rIns="36000" bIns="10800" anchor="t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교차점검, 복지 우수사례 공유</a:t>
            </a:r>
          </a:p>
        </p:txBody>
      </p:sp>
      <p:sp>
        <p:nvSpPr>
          <p:cNvPr id="60" name="태그"/>
          <p:cNvSpPr/>
          <p:nvPr/>
        </p:nvSpPr>
        <p:spPr>
          <a:xfrm>
            <a:off x="5125756" y="7984565"/>
            <a:ext cx="575986" cy="14243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61" name="주요내용"/>
          <p:cNvSpPr txBox="1"/>
          <p:nvPr/>
        </p:nvSpPr>
        <p:spPr>
          <a:xfrm>
            <a:off x="5702870" y="7954435"/>
            <a:ext cx="1260000" cy="471130"/>
          </a:xfrm>
          <a:prstGeom prst="rect">
            <a:avLst/>
          </a:prstGeom>
          <a:noFill/>
        </p:spPr>
        <p:txBody>
          <a:bodyPr wrap="square" lIns="36000" tIns="10800" rIns="36000" bIns="10800" anchor="t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기준 논의·사례 공유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369565" y="7954435"/>
            <a:ext cx="5615218" cy="0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3" name="운영목표 배너"/>
          <p:cNvSpPr/>
          <p:nvPr/>
        </p:nvSpPr>
        <p:spPr>
          <a:xfrm>
            <a:off x="1378878" y="8461174"/>
            <a:ext cx="5597687" cy="232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배너 태그"/>
          <p:cNvSpPr/>
          <p:nvPr/>
        </p:nvSpPr>
        <p:spPr>
          <a:xfrm>
            <a:off x="1843435" y="8494043"/>
            <a:ext cx="580696" cy="1698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운영목표</a:t>
            </a:r>
          </a:p>
        </p:txBody>
      </p:sp>
      <p:sp>
        <p:nvSpPr>
          <p:cNvPr id="65" name="배너 문구"/>
          <p:cNvSpPr txBox="1"/>
          <p:nvPr/>
        </p:nvSpPr>
        <p:spPr>
          <a:xfrm>
            <a:off x="2487130" y="8458435"/>
            <a:ext cx="4497652" cy="224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66" name="머리칸"/>
          <p:cNvSpPr/>
          <p:nvPr/>
        </p:nvSpPr>
        <p:spPr>
          <a:xfrm>
            <a:off x="1378878" y="8694000"/>
            <a:ext cx="2729345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67" name="머리칸"/>
          <p:cNvSpPr/>
          <p:nvPr/>
        </p:nvSpPr>
        <p:spPr>
          <a:xfrm>
            <a:off x="4168957" y="8694000"/>
            <a:ext cx="2807609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68" name="칸 본문"/>
          <p:cNvSpPr txBox="1"/>
          <p:nvPr/>
        </p:nvSpPr>
        <p:spPr>
          <a:xfrm>
            <a:off x="1380522" y="8946000"/>
            <a:ext cx="2772000" cy="432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관련 주요 이슈 대응 및 제도의 적법성 등 자문</a:t>
            </a:r>
          </a:p>
        </p:txBody>
      </p:sp>
      <p:sp>
        <p:nvSpPr>
          <p:cNvPr id="69" name="칸 본문"/>
          <p:cNvSpPr txBox="1"/>
          <p:nvPr/>
        </p:nvSpPr>
        <p:spPr>
          <a:xfrm>
            <a:off x="4174435" y="8946000"/>
            <a:ext cx="2799391" cy="432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관련 공단 현안 신속 대응과 정보 획득·수집을 위한 온라인 노무포털(E-Labor) 적극 활용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4163478" y="8978870"/>
            <a:ext cx="0" cy="367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70"/>
          <p:cNvCxnSpPr/>
          <p:nvPr/>
        </p:nvCxnSpPr>
        <p:spPr>
          <a:xfrm>
            <a:off x="1369565" y="9389739"/>
            <a:ext cx="5615218" cy="0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72" name="태그"/>
          <p:cNvSpPr/>
          <p:nvPr/>
        </p:nvSpPr>
        <p:spPr>
          <a:xfrm>
            <a:off x="1424348" y="9397957"/>
            <a:ext cx="473870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73" name="태그 설명"/>
          <p:cNvSpPr txBox="1"/>
          <p:nvPr/>
        </p:nvSpPr>
        <p:spPr>
          <a:xfrm>
            <a:off x="1972174" y="9411652"/>
            <a:ext cx="2163913" cy="219130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등</a:t>
            </a:r>
          </a:p>
        </p:txBody>
      </p:sp>
      <p:sp>
        <p:nvSpPr>
          <p:cNvPr id="74" name="태그"/>
          <p:cNvSpPr/>
          <p:nvPr/>
        </p:nvSpPr>
        <p:spPr>
          <a:xfrm>
            <a:off x="4201826" y="9397957"/>
            <a:ext cx="534130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75" name="태그 설명"/>
          <p:cNvSpPr txBox="1"/>
          <p:nvPr/>
        </p:nvSpPr>
        <p:spPr>
          <a:xfrm>
            <a:off x="4771565" y="9411652"/>
            <a:ext cx="2191304" cy="219130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근무 해제, 육아지원 3법 등</a:t>
            </a:r>
          </a:p>
        </p:txBody>
      </p:sp>
      <p:sp>
        <p:nvSpPr>
          <p:cNvPr id="76" name="핵심성과 박스"/>
          <p:cNvSpPr/>
          <p:nvPr/>
        </p:nvSpPr>
        <p:spPr>
          <a:xfrm>
            <a:off x="723130" y="9759522"/>
            <a:ext cx="6283565" cy="298565"/>
          </a:xfrm>
          <a:prstGeom prst="rect">
            <a:avLst/>
          </a:prstGeom>
          <a:solidFill>
            <a:srgbClr val="FFFFFF"/>
          </a:solidFill>
          <a:ln w="285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핵심성과 라벨"/>
          <p:cNvSpPr/>
          <p:nvPr/>
        </p:nvSpPr>
        <p:spPr>
          <a:xfrm>
            <a:off x="753261" y="9789652"/>
            <a:ext cx="671087" cy="24104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8" name="핵심성과 문구"/>
          <p:cNvSpPr txBox="1"/>
          <p:nvPr/>
        </p:nvSpPr>
        <p:spPr>
          <a:xfrm>
            <a:off x="1501043" y="9778696"/>
            <a:ext cx="5450870" cy="268435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/>
          <p:nvPr/>
        </p:nvSpPr>
        <p:spPr>
          <a:xfrm>
            <a:off x="552913" y="761478"/>
            <a:ext cx="978261" cy="350609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평가내용 제목 박스"/>
          <p:cNvSpPr/>
          <p:nvPr/>
        </p:nvSpPr>
        <p:spPr>
          <a:xfrm>
            <a:off x="1531174" y="788870"/>
            <a:ext cx="5295196" cy="3013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평가내용 제목"/>
          <p:cNvSpPr txBox="1"/>
          <p:nvPr/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노사협력을 통한 근로조건의 실질적 향상과 구체적 성과</a:t>
            </a:r>
          </a:p>
        </p:txBody>
      </p:sp>
      <p:sp>
        <p:nvSpPr>
          <p:cNvPr id="10" name="점"/>
          <p:cNvSpPr/>
          <p:nvPr/>
        </p:nvSpPr>
        <p:spPr>
          <a:xfrm>
            <a:off x="857348" y="1090174"/>
            <a:ext cx="0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점"/>
          <p:cNvSpPr/>
          <p:nvPr/>
        </p:nvSpPr>
        <p:spPr>
          <a:xfrm>
            <a:off x="991565" y="1090174"/>
            <a:ext cx="0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점"/>
          <p:cNvSpPr/>
          <p:nvPr/>
        </p:nvSpPr>
        <p:spPr>
          <a:xfrm>
            <a:off x="991565" y="1090174"/>
            <a:ext cx="95870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점"/>
          <p:cNvSpPr/>
          <p:nvPr/>
        </p:nvSpPr>
        <p:spPr>
          <a:xfrm>
            <a:off x="1087435" y="1090174"/>
            <a:ext cx="63000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85130" y="1090174"/>
            <a:ext cx="0" cy="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번호 띠"/>
          <p:cNvSpPr/>
          <p:nvPr/>
        </p:nvSpPr>
        <p:spPr>
          <a:xfrm>
            <a:off x="552913" y="1235348"/>
            <a:ext cx="6273457" cy="30404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번호 탭"/>
          <p:cNvSpPr/>
          <p:nvPr/>
        </p:nvSpPr>
        <p:spPr>
          <a:xfrm>
            <a:off x="558782" y="1265478"/>
            <a:ext cx="471131" cy="257478"/>
          </a:xfrm>
          <a:custGeom>
            <a:avLst/>
            <a:gdLst/>
            <a:ahLst/>
            <a:cxnLst/>
            <a:rect l="l" t="t" r="r" b="b"/>
            <a:pathLst>
              <a:path w="471131" h="257478">
                <a:moveTo>
                  <a:pt x="0" y="0"/>
                </a:moveTo>
                <a:lnTo>
                  <a:pt x="394435" y="0"/>
                </a:lnTo>
                <a:lnTo>
                  <a:pt x="471131" y="257478"/>
                </a:lnTo>
                <a:lnTo>
                  <a:pt x="0" y="257478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탭 빗면"/>
          <p:cNvSpPr/>
          <p:nvPr/>
        </p:nvSpPr>
        <p:spPr>
          <a:xfrm>
            <a:off x="953217" y="1265478"/>
            <a:ext cx="142435" cy="257478"/>
          </a:xfrm>
          <a:custGeom>
            <a:avLst/>
            <a:gdLst/>
            <a:ahLst/>
            <a:cxnLst/>
            <a:rect l="l" t="t" r="r" b="b"/>
            <a:pathLst>
              <a:path w="142435" h="257478">
                <a:moveTo>
                  <a:pt x="0" y="0"/>
                </a:moveTo>
                <a:lnTo>
                  <a:pt x="65739" y="0"/>
                </a:lnTo>
                <a:lnTo>
                  <a:pt x="142435" y="257478"/>
                </a:lnTo>
                <a:lnTo>
                  <a:pt x="76696" y="257478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번호"/>
          <p:cNvSpPr txBox="1"/>
          <p:nvPr/>
        </p:nvSpPr>
        <p:spPr>
          <a:xfrm>
            <a:off x="558783" y="1243565"/>
            <a:ext cx="383478" cy="301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 txBox="1"/>
          <p:nvPr/>
        </p:nvSpPr>
        <p:spPr>
          <a:xfrm>
            <a:off x="1183304" y="1265478"/>
            <a:ext cx="5587826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20" name="소제목"/>
          <p:cNvSpPr txBox="1"/>
          <p:nvPr/>
        </p:nvSpPr>
        <p:spPr>
          <a:xfrm>
            <a:off x="536870" y="161608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노사 양보와 배려로 15년 연속 무분규</a:t>
            </a:r>
          </a:p>
        </p:txBody>
      </p:sp>
      <p:sp>
        <p:nvSpPr>
          <p:cNvPr id="21" name="태그칩"/>
          <p:cNvSpPr/>
          <p:nvPr/>
        </p:nvSpPr>
        <p:spPr>
          <a:xfrm>
            <a:off x="4399043" y="1681826"/>
            <a:ext cx="336391" cy="13421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2" name="표 외곽"/>
          <p:cNvSpPr/>
          <p:nvPr/>
        </p:nvSpPr>
        <p:spPr>
          <a:xfrm>
            <a:off x="552913" y="1920130"/>
            <a:ext cx="6273457" cy="753261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52913" y="1920130"/>
            <a:ext cx="597522" cy="753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4" name="머리칸"/>
          <p:cNvSpPr/>
          <p:nvPr/>
        </p:nvSpPr>
        <p:spPr>
          <a:xfrm>
            <a:off x="1185130" y="1920130"/>
            <a:ext cx="2808522" cy="262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5" name="머리칸"/>
          <p:cNvSpPr/>
          <p:nvPr/>
        </p:nvSpPr>
        <p:spPr>
          <a:xfrm>
            <a:off x="3993652" y="1920130"/>
            <a:ext cx="2777478" cy="262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6" name="칸 본문"/>
          <p:cNvSpPr txBox="1"/>
          <p:nvPr/>
        </p:nvSpPr>
        <p:spPr>
          <a:xfrm>
            <a:off x="1199739" y="2202261"/>
            <a:ext cx="2799391" cy="46017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상대적 저임금자 임금 인상 기조(예산운용지침)</a:t>
            </a:r>
          </a:p>
        </p:txBody>
      </p:sp>
      <p:sp>
        <p:nvSpPr>
          <p:cNvPr id="27" name="칸 본문"/>
          <p:cNvSpPr txBox="1"/>
          <p:nvPr/>
        </p:nvSpPr>
        <p:spPr>
          <a:xfrm>
            <a:off x="4021043" y="2202261"/>
            <a:ext cx="2782957" cy="46017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인상률에 대한 불만 지속적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인한 하위직·교통직·실무직 불만 팽배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10087" y="2235130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브래킷"/>
          <p:cNvSpPr/>
          <p:nvPr/>
        </p:nvSpPr>
        <p:spPr>
          <a:xfrm>
            <a:off x="1720174" y="2673391"/>
            <a:ext cx="4590783" cy="22369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브래킷 안"/>
          <p:cNvSpPr/>
          <p:nvPr/>
        </p:nvSpPr>
        <p:spPr>
          <a:xfrm>
            <a:off x="1720174" y="2673391"/>
            <a:ext cx="4519565" cy="123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브래킷 막대"/>
          <p:cNvSpPr/>
          <p:nvPr/>
        </p:nvSpPr>
        <p:spPr>
          <a:xfrm>
            <a:off x="3618391" y="2796652"/>
            <a:ext cx="720391" cy="100435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브래킷 끝"/>
          <p:cNvSpPr/>
          <p:nvPr/>
        </p:nvSpPr>
        <p:spPr>
          <a:xfrm rot="10800000">
            <a:off x="3919696" y="2897087"/>
            <a:ext cx="142435" cy="31043"/>
          </a:xfrm>
          <a:prstGeom prst="triangle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표 외곽"/>
          <p:cNvSpPr/>
          <p:nvPr/>
        </p:nvSpPr>
        <p:spPr>
          <a:xfrm>
            <a:off x="552913" y="2897087"/>
            <a:ext cx="6273457" cy="172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552913" y="2928130"/>
            <a:ext cx="597522" cy="717652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5" name="레일"/>
          <p:cNvSpPr/>
          <p:nvPr/>
        </p:nvSpPr>
        <p:spPr>
          <a:xfrm>
            <a:off x="552913" y="3645783"/>
            <a:ext cx="597522" cy="973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6" name="머리칸"/>
          <p:cNvSpPr/>
          <p:nvPr/>
        </p:nvSpPr>
        <p:spPr>
          <a:xfrm>
            <a:off x="1185130" y="2928130"/>
            <a:ext cx="2808522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7" name="머리칸"/>
          <p:cNvSpPr/>
          <p:nvPr/>
        </p:nvSpPr>
        <p:spPr>
          <a:xfrm>
            <a:off x="3993652" y="2928130"/>
            <a:ext cx="2777478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8" name="칸 본문"/>
          <p:cNvSpPr txBox="1"/>
          <p:nvPr/>
        </p:nvSpPr>
        <p:spPr>
          <a:xfrm>
            <a:off x="1199739" y="3177391"/>
            <a:ext cx="2799391" cy="44373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상대적 저임금자에 대한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임금 인상과 직무급 확대 요구</a:t>
            </a:r>
          </a:p>
        </p:txBody>
      </p:sp>
      <p:sp>
        <p:nvSpPr>
          <p:cNvPr id="39" name="칸 본문"/>
          <p:cNvSpPr txBox="1"/>
          <p:nvPr/>
        </p:nvSpPr>
        <p:spPr>
          <a:xfrm>
            <a:off x="4021043" y="3177391"/>
            <a:ext cx="2782957" cy="44373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상대적 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 확대, 직무급 확대 강력 반대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010087" y="3210261"/>
            <a:ext cx="0" cy="37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단계"/>
          <p:cNvSpPr/>
          <p:nvPr/>
        </p:nvSpPr>
        <p:spPr>
          <a:xfrm>
            <a:off x="1185130" y="3670435"/>
            <a:ext cx="1428000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1080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2" name="단계"/>
          <p:cNvSpPr/>
          <p:nvPr/>
        </p:nvSpPr>
        <p:spPr>
          <a:xfrm>
            <a:off x="2613130" y="3670435"/>
            <a:ext cx="1449000" cy="235565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1080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3" name="단계"/>
          <p:cNvSpPr/>
          <p:nvPr/>
        </p:nvSpPr>
        <p:spPr>
          <a:xfrm>
            <a:off x="4062130" y="3670435"/>
            <a:ext cx="1504878" cy="235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21600" rIns="1080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4" name="단계"/>
          <p:cNvSpPr/>
          <p:nvPr/>
        </p:nvSpPr>
        <p:spPr>
          <a:xfrm>
            <a:off x="5567009" y="3670435"/>
            <a:ext cx="1259361" cy="235565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1600" rIns="1080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45" name="단계 화살표"/>
          <p:cNvSpPr/>
          <p:nvPr/>
        </p:nvSpPr>
        <p:spPr>
          <a:xfrm>
            <a:off x="2524930" y="3670435"/>
            <a:ext cx="197765" cy="235565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51BC"/>
                </a:solidFill>
                <a:latin typeface="Pretendard"/>
                <a:ea typeface="Pretendard"/>
              </a:rPr>
              <a:t>→</a:t>
            </a:r>
          </a:p>
        </p:txBody>
      </p:sp>
      <p:sp>
        <p:nvSpPr>
          <p:cNvPr id="46" name="단계 화살표"/>
          <p:cNvSpPr/>
          <p:nvPr/>
        </p:nvSpPr>
        <p:spPr>
          <a:xfrm>
            <a:off x="3919696" y="3670435"/>
            <a:ext cx="252000" cy="235565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51BC"/>
                </a:solidFill>
                <a:latin typeface="Pretendard"/>
                <a:ea typeface="Pretendard"/>
              </a:rPr>
              <a:t>→</a:t>
            </a:r>
          </a:p>
        </p:txBody>
      </p:sp>
      <p:sp>
        <p:nvSpPr>
          <p:cNvPr id="47" name="단계 화살표"/>
          <p:cNvSpPr/>
          <p:nvPr/>
        </p:nvSpPr>
        <p:spPr>
          <a:xfrm>
            <a:off x="5389696" y="3670435"/>
            <a:ext cx="243600" cy="235565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51BC"/>
                </a:solidFill>
                <a:latin typeface="Pretendard"/>
                <a:ea typeface="Pretendard"/>
              </a:rPr>
              <a:t>→</a:t>
            </a:r>
          </a:p>
        </p:txBody>
      </p:sp>
      <p:sp>
        <p:nvSpPr>
          <p:cNvPr id="48" name="칸 본문"/>
          <p:cNvSpPr txBox="1"/>
          <p:nvPr/>
        </p:nvSpPr>
        <p:spPr>
          <a:xfrm>
            <a:off x="1199739" y="3933391"/>
            <a:ext cx="1265478" cy="67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49" name="칸 본문"/>
          <p:cNvSpPr txBox="1"/>
          <p:nvPr/>
        </p:nvSpPr>
        <p:spPr>
          <a:xfrm>
            <a:off x="2487130" y="3933391"/>
            <a:ext cx="1380522" cy="67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 발생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2476174" y="3966261"/>
            <a:ext cx="0" cy="608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889565" y="3933391"/>
            <a:ext cx="1446261" cy="67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3878609" y="3966261"/>
            <a:ext cx="0" cy="608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357739" y="3933391"/>
            <a:ext cx="1446261" cy="67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346783" y="3966261"/>
            <a:ext cx="0" cy="608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협약체결 외곽"/>
          <p:cNvSpPr/>
          <p:nvPr/>
        </p:nvSpPr>
        <p:spPr>
          <a:xfrm>
            <a:off x="552913" y="4697609"/>
            <a:ext cx="6273457" cy="1144957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552913" y="4697609"/>
            <a:ext cx="597522" cy="114495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7" name="머리칸"/>
          <p:cNvSpPr/>
          <p:nvPr/>
        </p:nvSpPr>
        <p:spPr>
          <a:xfrm>
            <a:off x="1185130" y="4730478"/>
            <a:ext cx="2808522" cy="232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58" name="머리칸"/>
          <p:cNvSpPr/>
          <p:nvPr/>
        </p:nvSpPr>
        <p:spPr>
          <a:xfrm>
            <a:off x="3993652" y="4730478"/>
            <a:ext cx="2777478" cy="232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59" name="1차 협약"/>
          <p:cNvSpPr txBox="1"/>
          <p:nvPr/>
        </p:nvSpPr>
        <p:spPr>
          <a:xfrm>
            <a:off x="1188783" y="4957826"/>
            <a:ext cx="2815826" cy="175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60" name="인상률표"/>
          <p:cNvGraphicFramePr>
            <a:graphicFrameLocks noGrp="1"/>
          </p:cNvGraphicFramePr>
          <p:nvPr/>
        </p:nvGraphicFramePr>
        <p:xfrm>
          <a:off x="1249043" y="5160522"/>
          <a:ext cx="2711740" cy="405392"/>
        </p:xfrm>
        <a:graphic>
          <a:graphicData uri="http://schemas.openxmlformats.org/drawingml/2006/table">
            <a:tbl>
              <a:tblPr/>
              <a:tblGrid>
                <a:gridCol w="339652"/>
                <a:gridCol w="536870"/>
                <a:gridCol w="372522"/>
                <a:gridCol w="164348"/>
                <a:gridCol w="416348"/>
                <a:gridCol w="438261"/>
                <a:gridCol w="443739"/>
              </a:tblGrid>
              <a:tr h="2026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26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1" name="격차 완화"/>
          <p:cNvSpPr txBox="1"/>
          <p:nvPr/>
        </p:nvSpPr>
        <p:spPr>
          <a:xfrm>
            <a:off x="1188783" y="5576870"/>
            <a:ext cx="2815826" cy="252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2" name="칸 본문"/>
          <p:cNvSpPr txBox="1"/>
          <p:nvPr/>
        </p:nvSpPr>
        <p:spPr>
          <a:xfrm>
            <a:off x="4026522" y="4957826"/>
            <a:ext cx="2777478" cy="871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63" name="소제목"/>
          <p:cNvSpPr txBox="1"/>
          <p:nvPr/>
        </p:nvSpPr>
        <p:spPr>
          <a:xfrm>
            <a:off x="536870" y="599321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64" name="표 외곽"/>
          <p:cNvSpPr/>
          <p:nvPr/>
        </p:nvSpPr>
        <p:spPr>
          <a:xfrm>
            <a:off x="552913" y="6264391"/>
            <a:ext cx="6273457" cy="225978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552913" y="6264391"/>
            <a:ext cx="597522" cy="750522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66" name="레일"/>
          <p:cNvSpPr/>
          <p:nvPr/>
        </p:nvSpPr>
        <p:spPr>
          <a:xfrm>
            <a:off x="552913" y="7014913"/>
            <a:ext cx="597522" cy="742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67" name="레일"/>
          <p:cNvSpPr/>
          <p:nvPr/>
        </p:nvSpPr>
        <p:spPr>
          <a:xfrm>
            <a:off x="552913" y="7757217"/>
            <a:ext cx="597522" cy="734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68" name="머리칸"/>
          <p:cNvSpPr/>
          <p:nvPr/>
        </p:nvSpPr>
        <p:spPr>
          <a:xfrm>
            <a:off x="1185130" y="6264391"/>
            <a:ext cx="2808522" cy="26843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69" name="머리칸"/>
          <p:cNvSpPr/>
          <p:nvPr/>
        </p:nvSpPr>
        <p:spPr>
          <a:xfrm>
            <a:off x="3993652" y="6264391"/>
            <a:ext cx="2777478" cy="26843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70" name="칸 본문"/>
          <p:cNvSpPr txBox="1"/>
          <p:nvPr/>
        </p:nvSpPr>
        <p:spPr>
          <a:xfrm>
            <a:off x="1199739" y="6552000"/>
            <a:ext cx="2799391" cy="449217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공단의 발전이라는 공동 목표 우선적 지향</a:t>
            </a:r>
          </a:p>
        </p:txBody>
      </p:sp>
      <p:sp>
        <p:nvSpPr>
          <p:cNvPr id="71" name="칸 본문"/>
          <p:cNvSpPr txBox="1"/>
          <p:nvPr/>
        </p:nvSpPr>
        <p:spPr>
          <a:xfrm>
            <a:off x="4021043" y="6552000"/>
            <a:ext cx="2782957" cy="449217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4010087" y="6584870"/>
            <a:ext cx="0" cy="383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185130" y="7014913"/>
            <a:ext cx="2808522" cy="260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74" name="머리칸"/>
          <p:cNvSpPr/>
          <p:nvPr/>
        </p:nvSpPr>
        <p:spPr>
          <a:xfrm>
            <a:off x="3993652" y="7014913"/>
            <a:ext cx="2777478" cy="260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75" name="칸 본문"/>
          <p:cNvSpPr txBox="1"/>
          <p:nvPr/>
        </p:nvSpPr>
        <p:spPr>
          <a:xfrm>
            <a:off x="1199739" y="7291565"/>
            <a:ext cx="2799391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76" name="칸 본문"/>
          <p:cNvSpPr txBox="1"/>
          <p:nvPr/>
        </p:nvSpPr>
        <p:spPr>
          <a:xfrm>
            <a:off x="4021043" y="7291565"/>
            <a:ext cx="2782957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4010087" y="7324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단계"/>
          <p:cNvSpPr/>
          <p:nvPr/>
        </p:nvSpPr>
        <p:spPr>
          <a:xfrm>
            <a:off x="1185130" y="7779130"/>
            <a:ext cx="1428000" cy="238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1080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79" name="단계"/>
          <p:cNvSpPr/>
          <p:nvPr/>
        </p:nvSpPr>
        <p:spPr>
          <a:xfrm>
            <a:off x="2613130" y="7779130"/>
            <a:ext cx="1449000" cy="238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1080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80" name="단계"/>
          <p:cNvSpPr/>
          <p:nvPr/>
        </p:nvSpPr>
        <p:spPr>
          <a:xfrm>
            <a:off x="4062130" y="7779130"/>
            <a:ext cx="1504878" cy="2383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21600" rIns="1080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81" name="단계"/>
          <p:cNvSpPr/>
          <p:nvPr/>
        </p:nvSpPr>
        <p:spPr>
          <a:xfrm>
            <a:off x="5567009" y="7779130"/>
            <a:ext cx="1259361" cy="238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1600" rIns="1080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82" name="단계 화살표"/>
          <p:cNvSpPr/>
          <p:nvPr/>
        </p:nvSpPr>
        <p:spPr>
          <a:xfrm>
            <a:off x="2524930" y="7779130"/>
            <a:ext cx="197765" cy="238304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51BC"/>
                </a:solidFill>
                <a:latin typeface="Pretendard"/>
                <a:ea typeface="Pretendard"/>
              </a:rPr>
              <a:t>→</a:t>
            </a:r>
          </a:p>
        </p:txBody>
      </p:sp>
      <p:sp>
        <p:nvSpPr>
          <p:cNvPr id="83" name="단계 화살표"/>
          <p:cNvSpPr/>
          <p:nvPr/>
        </p:nvSpPr>
        <p:spPr>
          <a:xfrm>
            <a:off x="3919696" y="7779130"/>
            <a:ext cx="252000" cy="238304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51BC"/>
                </a:solidFill>
                <a:latin typeface="Pretendard"/>
                <a:ea typeface="Pretendard"/>
              </a:rPr>
              <a:t>→</a:t>
            </a:r>
          </a:p>
        </p:txBody>
      </p:sp>
      <p:sp>
        <p:nvSpPr>
          <p:cNvPr id="84" name="단계 화살표"/>
          <p:cNvSpPr/>
          <p:nvPr/>
        </p:nvSpPr>
        <p:spPr>
          <a:xfrm>
            <a:off x="5389696" y="7779130"/>
            <a:ext cx="243600" cy="238304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51BC"/>
                </a:solidFill>
                <a:latin typeface="Pretendard"/>
                <a:ea typeface="Pretendard"/>
              </a:rPr>
              <a:t>→</a:t>
            </a:r>
          </a:p>
        </p:txBody>
      </p:sp>
      <p:sp>
        <p:nvSpPr>
          <p:cNvPr id="85" name="칸 본문"/>
          <p:cNvSpPr txBox="1"/>
          <p:nvPr/>
        </p:nvSpPr>
        <p:spPr>
          <a:xfrm>
            <a:off x="1199739" y="8042087"/>
            <a:ext cx="1265478" cy="45469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86" name="칸 본문"/>
          <p:cNvSpPr txBox="1"/>
          <p:nvPr/>
        </p:nvSpPr>
        <p:spPr>
          <a:xfrm>
            <a:off x="2487130" y="8042087"/>
            <a:ext cx="1380522" cy="45469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2476174" y="8074957"/>
            <a:ext cx="0" cy="38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3889565" y="8042087"/>
            <a:ext cx="1446261" cy="45469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3878609" y="8074957"/>
            <a:ext cx="0" cy="38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 txBox="1"/>
          <p:nvPr/>
        </p:nvSpPr>
        <p:spPr>
          <a:xfrm>
            <a:off x="5357739" y="8042087"/>
            <a:ext cx="1446261" cy="45469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346783" y="8074957"/>
            <a:ext cx="0" cy="38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협약체결 외곽"/>
          <p:cNvSpPr/>
          <p:nvPr/>
        </p:nvSpPr>
        <p:spPr>
          <a:xfrm>
            <a:off x="552913" y="8607261"/>
            <a:ext cx="6273457" cy="109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"/>
          <p:cNvSpPr/>
          <p:nvPr/>
        </p:nvSpPr>
        <p:spPr>
          <a:xfrm>
            <a:off x="552913" y="8636478"/>
            <a:ext cx="597522" cy="106278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94" name="머리칸"/>
          <p:cNvSpPr/>
          <p:nvPr/>
        </p:nvSpPr>
        <p:spPr>
          <a:xfrm>
            <a:off x="1185130" y="8636478"/>
            <a:ext cx="4204565" cy="23556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상호 신뢰와 공감을 바탕으로 본교섭 없는 단체협약 체결('25.12월)</a:t>
            </a:r>
          </a:p>
        </p:txBody>
      </p:sp>
      <p:sp>
        <p:nvSpPr>
          <p:cNvPr id="95" name="협약 요지"/>
          <p:cNvSpPr txBox="1"/>
          <p:nvPr/>
        </p:nvSpPr>
        <p:spPr>
          <a:xfrm>
            <a:off x="1188783" y="8907652"/>
            <a:ext cx="4190870" cy="19721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체결!</a:t>
            </a:r>
          </a:p>
        </p:txBody>
      </p:sp>
      <p:sp>
        <p:nvSpPr>
          <p:cNvPr id="96" name="태그"/>
          <p:cNvSpPr/>
          <p:nvPr/>
        </p:nvSpPr>
        <p:spPr>
          <a:xfrm>
            <a:off x="1287391" y="9137739"/>
            <a:ext cx="538656" cy="205435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근로조건</a:t>
            </a:r>
          </a:p>
        </p:txBody>
      </p:sp>
      <p:sp>
        <p:nvSpPr>
          <p:cNvPr id="97" name="태그 설명"/>
          <p:cNvSpPr txBox="1"/>
          <p:nvPr/>
        </p:nvSpPr>
        <p:spPr>
          <a:xfrm>
            <a:off x="1857130" y="9137739"/>
            <a:ext cx="3522522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</p:txBody>
      </p:sp>
      <p:sp>
        <p:nvSpPr>
          <p:cNvPr id="98" name="태그"/>
          <p:cNvSpPr/>
          <p:nvPr/>
        </p:nvSpPr>
        <p:spPr>
          <a:xfrm>
            <a:off x="1287391" y="9397957"/>
            <a:ext cx="538656" cy="167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공단발전</a:t>
            </a:r>
          </a:p>
        </p:txBody>
      </p:sp>
      <p:sp>
        <p:nvSpPr>
          <p:cNvPr id="99" name="태그 설명"/>
          <p:cNvSpPr txBox="1"/>
          <p:nvPr/>
        </p:nvSpPr>
        <p:spPr>
          <a:xfrm>
            <a:off x="1857130" y="9367826"/>
            <a:ext cx="3522522" cy="208174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11장. 미래 지속가능한 성장 신설, 해외사업 확대·지원 강화 등</a:t>
            </a:r>
          </a:p>
        </p:txBody>
      </p:sp>
      <p:sp>
        <p:nvSpPr>
          <p:cNvPr id="100" name="사진 칸"/>
          <p:cNvSpPr/>
          <p:nvPr/>
        </p:nvSpPr>
        <p:spPr>
          <a:xfrm>
            <a:off x="5389696" y="8607261"/>
            <a:ext cx="1381435" cy="1031739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(협약 체결식)</a:t>
            </a:r>
          </a:p>
        </p:txBody>
      </p:sp>
      <p:sp>
        <p:nvSpPr>
          <p:cNvPr id="101" name="핵심성과 박스"/>
          <p:cNvSpPr/>
          <p:nvPr/>
        </p:nvSpPr>
        <p:spPr>
          <a:xfrm>
            <a:off x="552913" y="9803348"/>
            <a:ext cx="6273457" cy="271174"/>
          </a:xfrm>
          <a:prstGeom prst="rect">
            <a:avLst/>
          </a:prstGeom>
          <a:solidFill>
            <a:srgbClr val="FFFFFF"/>
          </a:solidFill>
          <a:ln w="285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핵심성과 라벨"/>
          <p:cNvSpPr/>
          <p:nvPr/>
        </p:nvSpPr>
        <p:spPr>
          <a:xfrm>
            <a:off x="552913" y="9803348"/>
            <a:ext cx="632217" cy="24104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3" name="핵심성과 문구"/>
          <p:cNvSpPr txBox="1"/>
          <p:nvPr/>
        </p:nvSpPr>
        <p:spPr>
          <a:xfrm>
            <a:off x="1314783" y="9806087"/>
            <a:ext cx="5456348" cy="268435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상호 신뢰와 존중을 바탕으로 한 무분규 임금협약과 본교섭을 생략한 단체협약 체결 완료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